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1be919e-d423-27ee-3e02-7f9559e2638f}">
          <p14:sldIdLst>
            <p14:sldId id="256"/>
            <p14:sldId id="257"/>
          </p14:sldIdLst>
        </p14:section>
        <p14:section name="DS 31 Baumbegriffe" id="{c10d535d-5394-7b17-210b-aa39c0abb8ae}">
          <p14:sldIdLst>
            <p14:sldId id="258"/>
            <p14:sldId id="259"/>
            <p14:sldId id="260"/>
            <p14:sldId id="261"/>
            <p14:sldId id="262"/>
            <p14:sldId id="263"/>
            <p14:sldId id="264"/>
            <p14:sldId id="265"/>
            <p14:sldId id="266"/>
            <p14:sldId id="267"/>
          </p14:sldIdLst>
        </p14:section>
        <p14:section name="DS 32 Rekursive Baumalgorithmen" id="{0a00232b-ff3a-2eb1-a97d-b85f196776a6}">
          <p14:sldIdLst>
            <p14:sldId id="268"/>
            <p14:sldId id="269"/>
            <p14:sldId id="270"/>
            <p14:sldId id="271"/>
            <p14:sldId id="272"/>
            <p14:sldId id="273"/>
            <p14:sldId id="274"/>
          </p14:sldIdLst>
        </p14:section>
        <p14:section name="DS 33 Akinator (Kür)" id="{a0eda56c-2af1-331e-f3b4-ddec5e3a183d}">
          <p14:sldIdLst>
            <p14:sldId id="275"/>
            <p14:sldId id="276"/>
            <p14:sldId id="277"/>
            <p14:sldId id="278"/>
            <p14:sldId id="279"/>
          </p14:sldIdLst>
        </p14:section>
        <p14:section name="DS 34 Binärer Suchbaum" id="{5abf5d7b-3a5d-2854-ad50-e404a69b4afc}">
          <p14:sldIdLst>
            <p14:sldId id="280"/>
            <p14:sldId id="281"/>
            <p14:sldId id="282"/>
            <p14:sldId id="283"/>
            <p14:sldId id="284"/>
            <p14:sldId id="285"/>
            <p14:sldId id="286"/>
            <p14:sldId id="287"/>
            <p14:sldId id="288"/>
          </p14:sldIdLst>
        </p14:section>
        <p14:section name="DS 35 Ausgeglichen und entartet" id="{74f8420d-ff04-5179-c592-d0455410bba3}">
          <p14:sldIdLst>
            <p14:sldId id="289"/>
            <p14:sldId id="290"/>
            <p14:sldId id="291"/>
            <p14:sldId id="292"/>
            <p14:sldId id="293"/>
          </p14:sldIdLst>
        </p14:section>
        <p14:section name="DS 36 Boss 5" id="{de8ec74a-79c4-193e-3647-89aa2d9fa2e0}">
          <p14:sldIdLst>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Welt 5 (ca. 1 min, Beginn DS 31): Das Studio betritt den Wald. Hier wachsen die ersten NICHT-linearen Strukturen: Binärbäume. Zwei Spielmodule entstehen: das Akinator-Monsterquiz (ein Entscheidungsbaum, der dazulernt) und die Item-Datenbank (ein binärer Suchbaum nach Item-Nummer). Die Präsentation begleitet DS 31 bis 36; je Stunde nur die passenden Folien zeigen (DS-Angabe unten rechts). Gold markiert die Kür-Stunde DS 33; L5.4+ steht für den Expertenteil von Level 5.4 in DS 35. Alle Bäume und Werte auf den Folien sind die verbindlichen Testbäume der Klasse Baumschule (Gerüst AQ_W5_L5_Wald_Geruest.txt) und wurden mit javac und einem Nachbau des BinTree der Bibliothek „Niedersachsen“ nachgerechnet.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Weltkarte (ca. 3 min): Sechs Stationen, vier IDE-Level in EINER Gerüstdatei AQ_W5_L5_Wald_Geruest.txt (Testklassen L51BaumTest, L52RekursivTest, L53AkinatorTest, L54SuchbaumTest; Stufen basis_/erweiterung_/experte_; dazu im Algo Quest Lab die Level 5.1–5.6 mit automatisch geprüften Aufgaben – Punkte vergibt nur das Lab, automatisch). Level 5.4 läuft über zwei Stunden: Basis/Erweiterung in DS 34, Experte (L5.4+) in DS 35. DS 33 ist Kür (Akinator). Dazu das Grafik-Gerüst „Baumzeichner“ (AQ_W5_Baumzeichner_Geruest.txt) zur Sichtprüfung: Bäume zeichnen, Traversierungen und Suchwege animieren. Boss 5 in DS 36: drei Stationen zu unbekannten Baumarten, die Prüflinge wählen zwei (24 BE, 60 min). Zusätzlich im Lab: Online-Boss „Die drei Baumhüter – Online-Duell“ (25 min, bester Versuch zählt); Abzeichen wie „Der Wald gemeistert“ vergibt das Lab automatisch. Roter Faden der Welt: Jeder Baum ist entweder leer oder eine Wurzel mit zwei Teilbäumen – deshalb beginnt jede Baummethode mit der Frage isEmpty().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Papier-Warm-up zum Start von DS 31 (10 min, ohne Gerät, Handschrift): Warm-up-Karte W5-01 „Der Setzling“, nur a) und b) (c und d folgen auf der Folie „Code ↔ Bild“). Lösung (mit javac und dem BinTree-Nachbau ausgeführt): a) Es entsteht genau beispielBST() der Baumschule – Kontrolle über die preorder 8 3 1 6 4 7 10 14 13. b) Wurzel 8; Blätter 1, 4, 7, 13; innere Knoten 8, 3, 6, 10, 14; Höhe 4; der Knoten 7 liegt auf Ebene 3 (Weg 8 → 3 → 6 → 7). Im Lab dazu Level 5.1 „Wegweiser im Wald – Binärbäume und Traversierungen“ (Hausaufgabe). Danach die drei Alltagsbeispiele rechts (2 min): Ordnerstruktur, Turnierbaum, Entscheidungsbaum – gemeinsam sind ein Startpunkt oben (Wurzel), Verzweigungen und Enden ohne Fortsetzung. Optionale Brücke zu Welt 3: Auch der Aufrufbaum von fibonacci(4) ist ein Binärbaum (9 Aufrufe, 5 Basisfälle als Blätter).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Baumbegriffe, DS 31 (ca. 6 min): Der Testbaum beispielBST() der Baumschule (entsteht durch Einfügen von 8, 3, 10, 1, 6, 14, 4, 7, 13 – das kommt in DS 34). Begriffe überall gleich verwenden (AB, Warm-up, Boss): Wurzel, Knoten, Blatt (grün), innerer Knoten, Teilbaum, Ebene (Wurzel = Ebene 0), Höhe (leerer Baum 0, Blatt 1, sonst 1 + Maximum der Teilbaum-Höhen = Anzahl der Ebenen). Mit javac geprüft: 9 Knoten, 4 Blätter (1 4 7 13), Höhe 4. Rückbezug zum Warm-up: Die Basisfälle des Aufrufbaums sind die Blätter, die vier Stockwerke sind die Höhe. Abi-Hinweis: In Abi 2024 A heißt die Anzahl abgefragter Merkmale „Tiefe“ – das entspricht dieser Höhe; in Aufgaben immer die Definition im Material lesen. Ein Binärbaum: jeder Knoten hat höchstens zwei Kinder, links und rechts sind unterschieden (10 hat nur ein RECHTES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Schnittstelle, DS 31 (ca. 5 min): Wortlaut und Signaturen nach den Ergänzenden Hinweisen (EH §4, Neufassung 2025, Abschnitt Binärbaum) – so liegt sie auch im Boss als Hilfsmittel bei. In der Online-IDE (Bibliothek „Niedersachsen“ aktivieren, wie in Welt 4) heißt die Klasse BinTree, nicht generisch: getItem liefert Object → Cast (Integer) bzw. (String). Verhalten im Nachbau (gemäß API-Doku, Stand 10/2026): Zugriff auf Inhalt oder Teilbäume eines leeren Baums → IllegalStateException; setItem(null)/setLeft(null) → IllegalArgumentException; setItem auf einem leeren Baum macht ihn zum Blatt – das nutzt später das Einfügen im Suchbaum. ACHTUNG alte Schnittstelle: In Abi-Aufgaben bis 2025 (z. B. 2024) kommen noch hasLeft()/hasRight() vor – die gibt es in der neuen Schnittstelle und in der IDE NICHT; dort fragt man b.getLeft().isEmpty(). In Signaturen heißt der Typ „Binärbaum vom Inhaltstyp Ganzzahl“ (so in Abi 2026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 Bild, DS 31 (ca. 6 min): Besprechung der Warm-up-Karte W5-01 inklusive c) und d). Die goldenen Nummern verweisen auf die Codezeile, in der der Knoten entsteht (die 14 ist gold: Zeile 6). Mit javac und dem BinTree-Nachbau ausgeführt: Der Baum ist identisch mit beispielBST(). c) Zeile 6: b.getRight() ist das Blatt 10; sein rechter Teilbaum ist ein LEERER Baum (nie null) – setItem auf einem leeren Baum macht ihn zum Blatt mit zwei leeren Teilbäumen. Zeilen 7–9: t = b.getLeft().getRight() ist eine zweite Referenz auf denselben Teilbaum (Knoten 6), keine Kopie – setLeft/setRight über t verändern den Baum, den auch b erreicht. d) b.getLeft().getLeft().getLeft() ist der leere linke Teilbaum unter dem Blatt 1 → getItem() wirft eine IllegalStateException. Unplugged-Variante laut Lehrerhinweisen: Die Lehrkraft liest den Code zeilenweise vor, Schüler stellen die Knoten dar; bei Zeile 6 tritt eine neue Person an eine „leere Hand“. Abi-Bezug: Bäume aus Code bzw. Beschreibungen zeichnen (z. B. 22N-A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Traversierungen 1/3, DS 31 (ca. 3 min): Die drei Folien gehören zusammen und werden nacheinander durchgeklickt – alle drei Reihenfolgen laufen parallel am selben Baum beispielBST(). Gold = gerade besucht, grün mit Nummer = schon ausgegeben. Merksatz: Der Name sagt, WANN die Wurzel drankommt: pre = vorher, in = dazwischen, post = danach; links kommt immer vor rechts. Frage vor dem Weiterklicken: Welcher Knoten kommt jeweils als Nächstes?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Traversierungen 2/3, DS 31 (ca. 2 min): Nach sechs Knoten. Preorder hat den linken Teilbaum der Wurzel komplett abgearbeitet und ist zurück bei 10; Inorder gibt die 8 erst aus, nachdem der ganze linke Teilbaum fertig ist; Postorder gibt die 3 erst aus, wenn 1, 4, 7, 6 erledigt sind – und die Wurzel kommt ganz zum Schluss.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Traversierungen 3/3, DS 31 (ca. 3 min): Ergebnisse (Testwerte der Baumschule, mit javac geprüft): preorder „8 3 1 6 4 7 10 14 13 “, inorder „1 3 4 6 7 8 10 13 14 “, postorder „1 4 7 6 3 13 14 10 8 “. Ausgabeformat für alle Materialien: jedes Element gefolgt von EINEM Leerzeichen, leerer Baum → "". Die Formeln unten sind schon fast die rekursive Lösung für Level 5.1 (Basis): Basisfall leerer Baum → "". Beobachtung für später: Inorder liefert hier eine sortierte Folge – das ist kein Zufall (binärer Suchbaum, DS 34). Abi-Bezug: Traversierung angeben 22N-A a, 25N-A g, 26H-A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Termbaum, DS 31 (ca. 6 min): Testbaum termbaum() der Baumschule – Inhaltstyp Zeichenkette, innere Knoten "+", "-", "*", "/" (ganzzahlig), Blätter Ganzzahl-Zeichenketten. Mit javac geprüft: preorder „* + 3 4 - 5 2 “, inorder „3 + 4 * 5 - 2 “, postorder „3 4 + 5 2 - * “, Wert 21. Die Inorder ohne Klammern ist ein ANDERER Term: 3 + 4 * 5 − 2 ergibt wegen Punkt vor Strich zufällig ebenfalls 21 (3 + 20 − 2) – an (3 + 4) * (5 − 3) = 14 gegenüber 3 + 4 * 5 − 3 = 20 sieht man den Unterschied. Beim Ausgeben als Infix muss man also Klammern ergänzen. Die Postorder ist genau die Postfix-Schreibweise aus dem Postfix-Rechner von Welt 4 (Stapel). Experte von Level 5.1: berechne(t) rekursiv; die Umwandlung der Zahl-Zeichenkette per Hilfsmethode zahl(s) mit charAt und (int) c − (int) '0', weil Integer.parseInt nicht zu den erlaubten Zeichenketten-Operationen (EH §1) gehört. Abi-Bezug: 22N-A a (Termbaum/Traversierung).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IDE-Phase DS 31 (ca. 45 min): Level 5.1 in AQ_W5_L5_Wald_Geruest.txt, Testklasse L51BaumTest (Testrunner, grüne Dreiecke). Die Klasse Baumschule ist vorgegeben und liefert die verbindlichen Testbäume (beispielBST, zahlenbaum, entartet, termbaum, monsterquiz, leer, blatt) – sie sind im Kopf der Gerüstdatei als ASCII-Bild dokumentiert. Alle Methoden rekursiv, Basisfall immer if (b.isEmpty()). Typische Fehler: Cast vergessen bei summe (Object + int kompiliert nicht); Leerzeichen-Format bei den Traversierungen (jedes Element gefolgt von EINEM Leerzeichen); hoehe mit Blatt = 0 statt 1. Zur Sichtprüfung das Grafik-Gerüst „Baumzeichner“: zeichnet den Baum in der World und animiert die Traversierungen (setSpeed). Schnelle: Experte berechne (Hilfsmethode zahl ohne parseInt) und spiegeln (setLeft/setRight tauschen – vorher beide Teilbäume in Variablen merken!).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Exit-Ticket DS 31 (5 min, Handschrift, einsammeln oder Partnerkontrolle). Lösung (Baumschule, mit javac geprüft): 1) preorder „5 9 2 7 4 9 1 “, inorder „2 9 7 5 4 1 9 “, postorder „2 7 9 1 9 4 5 “. 2) Blätter 2, 7, 1 (3 Blätter), Höhe 4, der Knoten 1 liegt auf Ebene 3. 3) b.getRight().getRight().setLeft(new BinTree(1)); – Häufiger Fehler: die beiden 9en verwechseln oder bei der Inorder die 4 vor die 5 setzen (4 hat nur ein RECHTES Kind, steht also direkt nach der 5). Auswertung: Wer 1) fehlerfrei hat, beginnt DS 32 direkt mit dem Rekursionsmuster.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Papier-Warm-up zum Start von DS 32 (10 min, Handschrift): Warm-up-Karte W5-05 „Wie hoch ist der Baum?“, Teile a) und b) (c als Zusatz für Schnelle). Lösung (mit javac protokolliert): Tiefe 0 hoehe(4) → 3; Tiefe 1 hoehe(leer) → 0; Tiefe 1 hoehe(9) → 2; Tiefe 2 hoehe(1) → 1; Tiefe 3 hoehe(leer) → 0; Tiefe 3 hoehe(leer) → 0; Tiefe 2 hoehe(leer) → 0. Also 7 Aufrufe, Ergebnis 3. b) Jeder der n Knoten löst einen Aufruf aus, dazu kommen die n + 1 leeren Teilbäume → 2n + 1 Aufrufe; zahlenbaum: 2 · 7 + 1 = 15 (die nächsten Folien zeigen genau diese Tabelle für den ganzen zahlenbaum). c) Blätter: Basisfall leer → 0, Blatt → 1, sonst Summe der Teilbäume (C: 1, zahlenbaum: 3). Hinweis: Die Karte schreibt l, r und „l + 1“, die Musterlösung der IDE links, rechts und „1 + links“ – beides ist dieselbe Methode.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Rekursionsmuster, DS 32 (ca. 8 min): Fast jede Baummethode folgt diesem Schema: 1. Basisfall leerer Baum mit dem „neutralen“ Ergebnis (0, −1, "", falsch …), 2. beide Teilbäume rekursiv lösen, 3. mit dem Wert der Wurzel kombinieren. Alle Tabellenwerte mit javac an den Baumschule-Bäumen geprüft (anzahlGroesser(beispielBST, 4) = 6: 6, 7, 8, 10, 13, 14; zahlenbaum: 5, 9, 7, 9). Bei anzahlBlaetter braucht man zusätzlich den Fall Blatt (isLeaf), ABER erst nach der Leer-Abfrage. Die Falle rechts unten: Wer nur if (b.isLeaf()) return 1; schreibt, ruft bei Knoten mit nur einem Kind die Methode für einen leeren Baum auf; isLeaf() auf einem leeren Baum ist ein Zugriff → IllegalStateException (im Nachbau geprüft, bei beispielBST passiert das an der 10). Ganz ohne Basisfall: getLeft() auf einem leeren Baum → ebenfalls IllegalStateException (kein Stack Overflow, weil der leere Baum keine Teilbäume hat). Abi-Bezug: 23N-A b, 24H-A h/i, 26H-A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hoehe und anzahlKnoten, DS 32 (ca. 6 min): Lösungen der Erweiterung bzw. Basis von Level 5.1 – nach der IDE-Stunde von DS 31 zum Vergleichen. Das Struktogramm hält die EH-§5-Notation ein: Kopf mit Signatur „hoehe(b: Binärbaum vom Inhaltstyp Ganzzahl): Ganzzahl“, Verzweigung als Dreieck, leerer Falsch-Zweig zulässig, Rückgabe mit „gib … zurück“, Rekursion als Zuweisung „l ← hoehe(b.getLeft())“ (wie in Welt 3 vereinbart). Code und Struktogramm wie in der Musterlösung (Variablen links, rechts). Warm-up W5-07 übt die Übersetzung Java → Struktogramm an anzahlAufEbene. Statt der zweiten Verzweigung wäre auch „gib 1 + max(l, r) zurück“ möglich, wenn im Material eine Maximumfunktion erlaubt ist – im Zweifel ausschreiben. Ziel: drei Struktogramme ohne Notationsfehler. Papier-Compiler-Kandidat: hoehe handschriftlich, dann abtippen und L51BaumTest laufen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Rekursionstabelle, DS 32 (ca. 8 min): Abi-Format aus Welt 3 – eine Zeile je Aufruf in der Reihenfolge ihres Beginns, Spalte Rekursionstiefe, Erstaufruf = Tiefe 0. „hoehe(9)“ meint den Aufruf für den Teilbaum mit Wurzel 9 (die erste 9 ist die linke, die zweite die rechte). Die Spalten links und rechts (Rückgaben der beiden Teilaufrufe) werden erst beim Aufstieg ausgefüllt. Warm-up W5-05 übt dasselbe am rechten Teilbaum. Mit javac protokolliert: 15 Aufrufe – bei n Knoten immer 2n + 1, weil jeder der 7 Knoten zwei Aufrufe auslöst und jeder leere Teilbaum (8 Stück) einmal aufgerufen wird; größte Tiefe 4 (die leeren Teilbäume unter der 1). Ergebnis hoehe(zahlenbaum) = 4. Der Aufrufbaum links ist genau der Baum selbst plus die leeren Teilbäume – deshalb ist der Aufwand linear in der Knotenzahl. Vorgehen an der Tafel: erst die Spalten Tiefe und Aufruf (Abstieg), dann Rückgaben von unten nach oben (Aufstieg).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Sammeln in einer dynamischen Reihung, DS 32 (ca. 6 min): Abi-typisch (23N-A d: „fuelleReihung“ als rekursives Struktogramm; 24H-A h). Muster wie in der Musterlösung: sammleInorder(b) erzeugt EINE DynArray und übergibt sie an die überladene rekursive Hilfsmethode sammleInorder(b, d) (ebenso blaetter(b) / blaetter(b, d)); jeder Aufruf hängt seinen Wert an (append, kein Cast nötig, da Object hineingeht). Mit javac geprüft: sammleInorder(zahlenbaum) = 2 9 7 5 4 1 9; sammleInorder(beispielBST) = 1 3 4 6 7 8 10 13 14 (sortiert); blaetter(zahlenbaum) = 2 7 1. Fehlerbild: Wer in jedem Aufruf eine neue DynArray anlegt und die Ergebnisse nicht zusammenführt, erhält nur den Wert der Wurzel. Alternative ohne Hilfsmethode (Teilergebnisse zusammenhängen) ist möglich, aber umständlicher. Erweiterung von Level 5.2: sammleInorder, blaetter, anzahlAufEbene.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IDE-Phase DS 32 (ca. 45 min): Level 5.2, Testklasse L52RekursivTest, Testbäume aus der Baumschule (vor allem zahlenbaum, weil er kein Suchbaum ist und die 9 doppelt enthält). Werte zum Nachsehen (mit javac geprüft): maximum(zahlenbaum) = 9, maximum(leer) = −1; anzahlGroesser(zahlenbaum, 4) = 4; anzahlAufEbene für Ebene 0 bis 4: 1, 2, 3, 1, 0; pfadZu: 5 → "", 9 → "L" (erstes Vorkommen in preorder), 7 → "LR", 1 → "RRL", 8 → "-". Typische Fehler: getItem() == x ohne Cast vergleicht Objekte; bei pfadZu wird der rechte Teilbaum durchsucht, obwohl links schon gefunden; istGleich vergisst den Fall „genau einer leer“. Papier-Compiler: maximum oder anzahlAufEbene erst handschriftlich, dann unverändert abtippen (erster Lauf zählt für die Ehre, ohne Punkte). Im Lab: Level 5.2 „Rekursion im Geäst – rekursive Baumalgorithmen“ als Hausaufgabe.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Exit-Ticket DS 32 (8 min, Handschrift). Lösung (mit javac geprüft): 1) anzahlAufEbene(b, 2) = 3 (2, 7 und die rechte 9); pfadZu(b, 7) = "LR"; pfadZu(b, 1) = "RRL". 2) Musterlösung (wie IDE-LSG): if (b.isEmpty()) return −1; int max = (Integer) b.getItem(); int links = maximum(b.getLeft()); int rechts = maximum(b.getRight()); if (links &gt; max) max = links; if (rechts &gt; max) max = rechts; return max; – Ergebnis 9. Bewertungsschwerpunkte: Leer-Abfrage zuerst, Cast, beide Teilbäume, Rückgabe in jedem Pfad. 3) 15 Aufrufe (7 Knoten + 8 leere Teilbäume = 2 · 7 + 1). Wer 2) später in der IDE unverändert zum Laufen bringt, hat den Papier-Compiler bestanden.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Kür-Stunde DS 33 – Papier-Warm-up (10 min, Handschrift): Warm-up-Karte W5-06 „Der Ast bricht“ als Wiederholung von DS 32 (wer sie schon kennt: W5-02 c). Lösung laut Karte, Werte mit javac geprüft: a) Zeilen 3 und 5 – getItem() liefert Object, es fehlt der Cast (Integer). b) summe(5) → summe(9) → summe(2) → summe(7) → summe(4) → summe(linker Teilbaum von 4) = leerer Baum: isLeaf() auf dem leeren Baum → IllegalStateException. Ursache: Basisfall „Blatt“ deckt Knoten mit nur einem Kind nicht ab. c) Basisfall if (b.isEmpty()) return 0; dann (Integer) b.getItem() + summe(links) + summe(rechts); summe(zahlenbaum) = 37. Danach Unplugged-Einstieg Akinator (5 min) mit monsterquiz() der Baumschule: raten("jn") = "Greif", raten("nn") = "Troll", raten("j") = "?" (zu wenige Antworten), raten("nnj") = "Troll" (überzählige Antworten werden ignoriert). Abi-Bezug Entscheidungsbäume 23N-A d, 24H-A g/j, 25N-A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raten, DS 33 (ca. 6 min): Gold = Weg für die Antworten „nj“, grün = erreichtes Blatt. Die Methode läuft von der Wurzel je Zeichen einen Schritt (j → links, n → rechts), bis ein Blatt erreicht ist. Alle sechs Ergebnisse unten mit javac an monsterquiz() geprüft. Code 1:1 aus der IDE-Musterlösung: Die öffentliche Methode ruft eine private static Hilfsmethode mit dem Baum als Parameter auf (so geht Rekursion in einer Objekt-Klasse); die erste Antwort steuert den Schritt, der Rest antworten.substring(1, antworten.length()) gehört zum Teilbaum – nur erlaubte Zeichenketten-Operationen. Reihenfolge der Abfragen wie immer: zuerst isEmpty(), dann isLeaf() (Monster gefunden), dann „keine Antwort mehr“ → "?". Zeichenvergleich mit == ist bei char erlaubt (kein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lernen, DS 33 (ca. 7 min): Vorher/Nachher-Bild mit javac nachgebaut: Der Akinator hat bei „nn“ falsch „Troll“ geraten (rot); gedacht war „Golem“. lernen("nn", "Golem", "Ist es aus Stein?", true) macht aus dem Blatt Troll den Frageknoten „Ist es aus Stein?“ (gold) mit den Kindern Golem (ja, links, grün) und Troll (nein, rechts). Der Code ist der Blatt-Fall der rekursiven Hilfsmethode lernen(b, antworten, neu, frage, jaFuerNeu) der IDE-Musterlösung (der Weg dorthin läuft wie bei raten mit substring). Trick: Das Blatt selbst wird umgebaut (setItem, setLeft, setRight) – man braucht keinen Elternknoten. Werte geprüft: anzahlMonster 4 → 5, anzahlFragen 3 → 4; raten("nnj") Troll → Golem; raten("nn") liefert jetzt "?" (eine Antwort zu wenig). Jedes Lernen macht aus einem Blatt einen inneren Knoten plus zwei Blätter: Monster = Fragen + 1 bleibt immer erhalten (voller Binärbaum). Spielidee: Teams trainieren ihren Akinator gegenseitig – wer findet ein Monster, das der Baum des anderen Teams nicht kennt?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Level-Order, DS 33 (ca. 8 min): Ebenenweise von oben nach unten, je Ebene von links nach rechts – mit einer Schlange (Welt 4!), nicht rekursiv. Trace-Tabelle mit javac protokolliert (Schlangeninhalt als Wurzelwerte der gespeicherten Teilbäume, vorne zuerst): Ergebnis „8 3 10 1 6 14 4 7 13 “. Erst die Spalte „Schlange danach“ von den Teams auf Papier füllen lassen, dann vergleichen. Wichtig: Es werden nur NICHT-leere Teilbäume eingereiht (sonst getItem auf leerem Baum). Ersetzt man die Schlange durch einen Stapel und reiht erst rechts, dann links ein, erhält man die preorder – Verbindung zum Flood-Fill aus DS 29 (Schlange = Wellen, Stapel = Tiefe zuerst). Abi-Bezug 24H-A g/j, 25N-A e. Experte von Level 5.3: static levelorder(b) – Code 1:1 aus der Musterlösung. Sicherung: Warm-up W5-09 „Die Wanderschlange“ (Trace mit Schlange, (BinTree)-Cast, Stapel statt Schlange).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IDE-Phase DS 33 (Kür, ca. 45 min): Level 5.3, Testklasse L53AkinatorTest. Der Konstruktor Akinator(start) erzeugt einen Baum mit einem Blatt; der zweite Konstruktor Akinator(b) ist im Gerüst vorgegeben (Tests mit monsterquiz()). Stufen wie in L53AkinatorTest: basis_konstruktor, basis_raten, basis_raten_randfaelle; erweiterung_lernen, erweiterung_lernen_tief, erweiterung_anzahlMonsterFragen; experte_levelorder, experte_levelorder_monsterquiz (im Lab dazu Level 5.3 „Kür: Der Akinator lernt – Entscheidungsbaum und Level-Order“). Spielmodul: Hauptprogramm als Konsolen-Spiel (raten, bei Fehlschlag lernen). Exit-Ticket (Lösung, mit javac protokolliert): 1) „5 9 4 2 7 9 1 “. 2) Schlange nach jedem dequeue: 5 → [9 4]; 9 → [4 2 7]; 4 → [2 7 9]; 2 → [7 9]; 7 → [9]; 9 → [1]; 1 → [–]. 3) 8 Monster (jedes Lernen fügt genau eine Frage und ein Monster hinzu: Monster = Fragen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Papier-Warm-up DS 34 (10 min, Handschrift): Warm-up-Karte W5-10 „Die Item-Datenbank wächst“. Lösung (mit javac geprüft): a) Es entsteht genau beispielBST() (Wiedererkennen aus DS 31!). b) 5: Suchweg 8 3 6 4→ rechter Teilbaum von 4 leer → 5 wird rechtes Kind von 4; 12: Suchweg 8 10 14 13→ 12 wird linkes Kind von 13; jeweils 4 Vergleiche. c) Inorder 1 3 4 5 6 7 8 10 12 13 14 – zuerst der ganze linke Teilbaum (alle kleiner), dann die Wurzel, dann der rechte (alle größer), rekursiv für jeden Teilbaum. Einfügen von 6: Duplikat, nichts passiert. Leitfrage rechts: Ohne Ordnung (enthaelt im zahlenbaum) muss man im schlimmsten Fall alle Knoten ansehen, im BST nur einen Weg. Überleitung: Die Ordnung „links kleiner, rechts größer“ heißt binärer Suchbaum (BST). Abi-Bezug: 22H-A a, 23H-A a, 24N-A g–i (Einfügen in einen BST, Löschen grafisch).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BST-Ordnung, DS 34 (ca. 6 min): Die Definition gilt für JEDEN Knoten und für ALLE Werte in seinen Teilbäumen – nicht nur für die direkten Kinder (darauf baut die isBST-Falle in DS 35 auf). Folgerungen, mit javac an beispielBST geprüft: inorder „1 3 4 6 7 8 10 13 14 “ ist sortiert; das Minimum (1) findet man, indem man immer nach links läuft, bis der linke Teilbaum leer ist; das Maximum (14) entsprechend rechts. In der Item-Datenbank sind die Item-Nummern die Schlüssel; in Abi-Aufgaben oft Zeichenketten mit lexikographischem Vergleich (compareTo) – z. B. 24N-A g mit Schlüssel-Wert-Paaren. Duplikate: In unserer Klasse Suchbaum werden doppelte Werte ignoriert (Definition im Material lesen – manche Aufgaben erlauben ≤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Suchen, DS 34 (ca. 6 min): Gold = Suchweg, grün = gefunden, rot = letzter Knoten vor dem leeren Teilbaum. Mit javac geprüft (Testwerte der Baumschule): vergleiche(beispielBST, 7) = 4 (8, 3, 6, 7); vergleiche(beispielBST, 5) = 4 (8, 3, 6, 4 → leer); gezählt werden die untersuchten NICHT-leeren Knoten. Der Unterschied zu enthaelt aus DS 32: Dort werden beide Teilbäume durchsucht (bis zu allen n Knoten), hier wegen der Ordnung nur ein Weg (höchstens Höhe viele Knoten). Achtung: Cast (Integer) vor dem Vergleichen. Iterative Fassung (Erweiterung sucheIterativ): while (!b.isEmpty()) { … b = b.getLeft(); … } – die Variable b wandert nach unten; der Baum selbst wird nicht verändert. Abi-Bezug: 24N-A i (get rekursiv implementieren). Warm-up W5-11 „Suchen mit Zählwerk“ liest vergleiche als Struktogramm.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Einfügen, DS 34 (ca. 7 min): Oben der Suchweg für 5 (8 → 3 → 6 → 4) bis zum leeren RECHTEN Teilbaum von 4 (goldenes Kästchen), unten das Ergebnis. Mit javac geprüft: inorder danach „1 3 4 5 6 7 8 10 13 14 “ (weiter sortiert), Höhe 5; einfuegen(beispielBST, 8) lässt den Baum unverändert. Die Besonderheit der Niedersachsen-Schnittstelle: setItem auf einem leeren Baum setzt zusätzlich zwei leere Teilbäume – der bisher leere Teilbaum wird so selbst zum Blatt. Deshalb braucht die rekursive Lösung keinen Elternknoten. Häufiger Fehler: new BinTree(x) einer lokalen Variable zuweisen (b = new BinTree(x)) – das ändert den Baum nicht. baueAus(r) fügt die Werte einer Reihung in dieser Reihenfolge ein (Erweiterung). Abi-Bezug: 24N-A g (Einfügeposition begründen).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Löschen 1/3, DS 34 (ca. 3 min): Löschen wird im Abitur GRAFISCH verlangt (24N-A h: „Geben Sie einen entsprechend veränderten Binärbaum an“), nicht als Implementierung. Jeder der drei Fälle startet wieder bei beispielBST(). Fall 1: Die 4 ist ein Blatt → einfach weg. Mit dem Nachbau geprüft: inorder danach „1 3 6 7 8 10 13 14 “, weiterhin ein BST, Höhe 4. In der Niedersachsen-Schnittstelle macht setEmpty() den Teilbaum zum leeren Baum – der Elternknoten muss nicht angefasst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Löschen 2/3, DS 34 (ca. 3 min): Die 10 hat nur ein (rechtes) Kind. Der Teilbaum mit Wurzel 14 (gold) rückt eine Ebene nach oben und wird rechtes Kind der 8 (grün). Geprüft: inorder danach „1 3 4 6 7 8 13 14 “, BST bleibt erhalten, Höhe 4. Warum das immer klappt: Alle Werte im Teilbaum von 14 sind größer als 8 – sie stehen also auch nach dem Hochrücken richtig. Typischer Fehler: nur die 14 hochziehen und die 13 „vergessen“.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Löschen 3/3, DS 34 (ca. 5 min): Die Wurzel 8 hat zwei Kinder. Nachfolger (gold) = kleinster Wert im rechten Teilbaum: einmal nach rechts (10), dann so weit links wie möglich – 10 hat kein linkes Kind, also ist 10 selbst der Nachfolger (nachfolger(beispielBST, 8) = 10, Testwert der Baumschule). Die 10 wird in die Wurzel kopiert, dann wird die alte 10 gelöscht – sie hat ein Kind, also Fall 2: der Teilbaum 14/13 rückt hoch. Geprüft: inorder danach „1 3 4 6 7 10 13 14 “, BST, Höhe 4. Alternative mit Vorgänger (größter Wert im linken Teilbaum = 7, ein Blatt): Wurzel 7, die alte 7 verschwindet – ebenfalls korrekt. Im Abitur ist jede Variante richtig, die die Ordnung erhält; Vorgehen kurz begründen. Warm-up W5-12 „Ein Item verschwindet“ übt vier Löschungen am beispielBST mit Inorder-Probe (Sicherung DS 34). Experte von Level 5.4: nachfolger(b, x) als Vorbereitung.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IDE-Phase DS 34 (ca. 40 min): Level 5.4, Testklasse L54SuchbaumTest, Basis und Erweiterung; der Experte-Teil (istBST, ausgeglichenAus, nachfolger) folgt in DS 35. Alle Testwerte rechts mit javac an beispielBST() geprüft. vergleiche zählt die untersuchten nicht-leeren Knoten bis gefunden bzw. bis leer. baueAus(r) erzeugt einen NEUEN BST und fügt die Werte in Reihenfolge ein – baueAus({8, 3, 10, 1, 6, 14, 4, 7, 13}) liefert beispielBST. Mit dem Baumzeichner lässt sich die Einfüge-Animation (Suchweg einfärben) zeigen; Item-Datenbank-Demo im Grafik-Gerüst. Löschen gibt es bewusst NICHT als IDE-Methode – im Abitur wird es grafisch verlangt.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Exit-Ticket DS 34 (6 min, Handschrift). Lösung (mit javac geprüft): 1) Weg 8, 10, 14, 13 – 4 Vergleiche. 2) 9 &gt; 8 → rechts; 9 &lt; 10 → links; der linke Teilbaum von 10 ist leer → 9 wird linkes Kind von 10 (Bild: (8 (3 (1) (6 (4) (7))) (10 (9) (14 (13) ())))). 3) 6 hat zwei Kinder; Nachfolger = kleinster im rechten Teilbaum = 7 (nachfolger(b, 6) = 7); 7 ersetzt 6, die 4 bleibt linkes Kind der 7 → 3 hat die Kinder 1 und 7, 7 hat das linke Kind 4; inorder „1 3 4 7 8 10 13 14 “. Alternative mit Vorgänger 4: 3 hat die Kinder 1 und 4, 4 hat das rechte Kind 7 – ebenfalls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Papier-Warm-up DS 35 (10 min, Handschrift): Warm-up-Karte W5-13 „Krumm oder buschig?“, Teile a) und b) (c als Zusatz). Lösung (mit javac geprüft): a) Einfügen von 1 bis 5: rechte Kette = entartet() der Baumschule, Höhe 5; ausgeglichenAus({1, 2, 3, 4, 5}): Wurzel 3, links 1 mit rechtem Kind 2, rechts 4 mit rechtem Kind 5, Höhe 3 (derselbe Baum entsteht durch Einfügen in der Reihenfolge 3, 1, 4, 2, 5). b) entartet 7, 15, 31, 1023 (= n); ausgeglichen 3, 4, 5, 10. Verdopplung: entartet doppelt so viele Vergleiche, ausgeglichen nur einer mehr. Die nächste Folie zeigt die Tabelle. Pointe: Das „Update“ war die Einfügereihenfolge.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Entartet vs. ausgeglichen, DS 35 (ca. 8 min): Links entartet() der Baumschule (Einfügen von 1 bis 5, Höhe 5), Mitte derselbe Wertebestand ausgeglichen (ausgeglichenAus({1, 2, 3, 4, 5}), Höhe 3). Tabelle: Höhe der mit ausgeglichenAus erzeugten Bäume aus n sortierten Werten, mit javac berechnet (1:1, 3:2, 7:3, 15:4, 31:5, 1000:10, 1023:10, 2000:11, 2047:11, 4000:12, 4095:12, 1000000:20); im entarteten Baum ist die Höhe n. Die Höhe ist die Höchstzahl der Vergleiche einer Suche. Kernaussage für Abi-Begründungen (22H-B e, 23H-A d): Ein vollständig ausgeglichener Baum der Höhe h fasst 2^h − 1 Knoten; verdoppelt man n, kommt nur eine Ebene dazu – also ein Vergleich mehr (gold markiert: 1 023 → 10, 2 047 → 11). Ein entarteter Baum braucht bei doppelt so vielen Items doppelt so viele Vergleiche. Bei 1 Million Items: 20 statt 1 000 000.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ausgeglichenAus, DS 35 (ca. 7 min): Experte von Level 5.4 (und Abi 23N-A d: „erzeugeSuchbaum“ aus einer sortierten dynamischen Reihung mit annähernd gleich langen Pfaden – dort nur das Vorgehen in Wortform). Mit javac ausgeführt für die inorder von beispielBST (1 3 4 6 7 8 10 13 14): Teilungsfolge [0..8] → 4 (7), [0..3] → 1 (3), [0..0] → 0 (1), [2..3] → 2 (4), [3..3] → 3 (6), [5..8] → 6 (10), [5..5] → 5 (8), [7..8] → 7 (13), [8..8] → 8 (14). Ergebnis: Wurzel 7; links 3 mit den Kindern 1 und 4 (4 hat rechts die 6); rechts 10 mit den Kindern 8 und 13 (13 hat rechts die 14); Höhe 4, preorder „7 3 1 4 6 10 8 13 14 “, inorder unverändert sortiert. Gleiche Werte wie beispielBST, andere Form. Gold = erste Mitte (Wurzel), grün = zweite Ebene. Code wie in der IDE-Musterlösung: überladene rekursive Hilfsmethode ausgeglichenAus(r, lo, hi) (Kopfzeile auf der Folie nur umbrochen). Hinweis: Warm-up W5-13 zeigt eine gleichwertige Variante (leerer Baum zuerst, dann setItem) – beide liefern denselben Baum.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isBST-Falle, DS 35 (ca. 8 min): Der Baum (8; links 3 mit 1 und 9; rechts 10 mit 14) erfüllt an jedem Knoten „linkes Kind &lt; Knoten &lt; rechtes Kind“. Mit javac geprüft: Prüfung nur der Kinder → true; istBST mit Grenzen → false; suche(b, 9) → false, obwohl enthaelt(b, 9) → true; inorder „1 3 9 8 10 14 “ ist nicht sortiert (zweite korrekte Prüfidee: inorder sammeln und auf Sortierung prüfen). Code 1:1 aus der IDE-Musterlösung. Konvention: Grenzen exklusiv (min &lt; wert &lt; max), −1 bedeutet „keine Grenze“ (Werte sind Ganzzahlen ≥ 0, also ist min = −1 automatisch keine untere Grenze; bei max wird −1 ausdrücklich abgefragt); Startaufruf istBST(b, -1, -1). Warm-up W5-14 „Die isBST-Falle“ übt genau diesen Baum (Baum D). Abi-Bezug 24N-A j: „Begründen Sie, dass isBST … prüft“ (dort mit zwei Zeichenketten min/max, leere Zeichenkette = keine Grenze). Experte von Level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IDE-Phase DS 35 (ca. 40 min): Experte-Teil von Level 5.4. Testwerte (javac): nachfolger(beispielBST, 8) = 10, (…, 7) = 8, (…, 14) = −1; istBST(beispielBST) = true, istBST(zahlenbaum) = false. Exit-Ticket (Lösung, javac): 1) 10 bzw. 11 Vergleiche (Höhe des ausgeglichenen Baums). 2) Wurzel 8; links 4 mit 2 und 6; rechts 12 mit 10 und 14 – vollständig, Höhe 3. 3) Die Ordnung betrifft alle Werte im Teilbaum, nicht nur die Kinder – ein Enkel kann die Ordnung zu einem weiter oben liegenden Knoten verletzen (Beispiel 9 unter 3 links von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Strategie für den Transfer (Ende DS 35 oder Beginn DS 36, ca. 5 min): Die vier Schritte am bekannten BST vorgeführt (untere Zeile). Geübt wird die Strategie auf AB3 (AQ_W5_AB3_Transfer_unbekannte_Baeume) an einer vierten Baumart, die im Boss NICHT vorkommt. Hintergrund: In den letzten Abiturjahrgängen kamen regelmäßig unbekannte Baumstrukturen mit vollständiger Definition im Material vor (Max-Heap 26H-A, Huffman-Baum 25H-A, B-Baum 24N-A k/m). Tipp für die Prüfung: Die Invariante (Schritt 3) ist meist schon die Begründung für eine Aufgabe „Begründen Sie …“ oder der Kern eines rekursiven Struktogramms (z. B. Prüfmethode wie isMaxHeap). Schritt 4: Welche BinTree-Operationen werden gebraucht, wo kann ein leerer Teilbaum auftreten?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Boss-Briefing am Ende von DS 35 (ca. 3 min): Nur den Rahmen nennen, keine Aufgaben verraten. Boss 5 in DS 36: drei Stationen zu je etwa 12 BE mit eigenem Material zu einer im Unterricht NICHT behandelten Baumart – Station A Max-Heap (angelehnt an Abi 2026 A), Station B Huffman-Baum (Abi 2025 A), Station C B-Baum (Abi 2024 N-A k/m), jeweils mit eigenen Daten. Die Prüflinge wählen zwei Stationen (24 BE, 60 min, ≈ 2,5 min pro BE); AFB je Station etwa 30/53/17 %. Mindestens eine Implementierung auf BinTree – danach Papier-Compiler (unverändert abtippen, Testklasse im Erwartungshorizont-Anhang). Der Papier-Boss ist Abi-Training ohne Punkte; zusätzlich im Lab der Online-Boss „Die drei Baumhüter – Online-Duell“ (25 min, bester Versuch zählt, Punkte automatisch). Vorbereitung (Boss-Training laut Lehrerhinweisen): Warm-up W5-05, W5-07, W5-08, W5-13 und W5-14 (auch im Warm-up-Trainer von Algo Quest Lab), Lab-Level 5.6 „Fremde Bäume – Transfer auf unbekannte Baumarten“, AB3 mit der Strategie an einer vierten Baumart, Abi-Check: Basisfall isEmpty(), Casts, Rückgabe in jedem Pfad, nur erlaubte Zeichenketten-Operationen.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Q Titel">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rtlCol="0"/>
          <a:lstStyle>
            <a:lvl1pPr indent="0" marL="0">
              <a:buNone/>
              <a:defRPr lang="en-US" sz="3000" dirty="0">
                <a:solidFill>
                  <a:schemeClr val="bg2"/>
                </a:solidFill>
              </a:defRPr>
            </a:lvl1pPr>
          </a:lstStyle>
          <a:p>
            <a:pP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Q 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accent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accent6"/>
                </a:solidFill>
              </a:rPr>
              <a:t>Informatik LK · Algo Quest · Welt 5 – Der Wald</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Q Dunkel">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bg2"/>
                </a:solidFill>
              </a:rPr>
              <a:t>Informatik LK · Algo Quest · Welt 5 – Der Wald</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3.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3.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4.xml"/><Relationship Id="rId8"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INFORMATIK LK · WELT 5 · DS 31–36</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Der Wald</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Binärbäume, binäre Suchbäume, Transfer</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PineTree"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1554480" y="4983480"/>
            <a:ext cx="292608" cy="91"/>
          </a:xfrm>
          <a:prstGeom prst="line">
            <a:avLst/>
          </a:prstGeom>
          <a:noFill/>
          <a:ln w="31750">
            <a:solidFill>
              <a:schemeClr val="accent2"/>
            </a:solidFill>
            <a:prstDash val="sysDot"/>
          </a:ln>
        </p:spPr>
      </p:sp>
      <p:sp>
        <p:nvSpPr>
          <p:cNvPr id="8" name="Chip"/>
          <p:cNvSpPr txBox="1"/>
          <p:nvPr/>
        </p:nvSpPr>
        <p:spPr>
          <a:xfrm>
            <a:off x="731520"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L5.1</a:t>
            </a:r>
            <a:endParaRPr lang="en-US" sz="1500" dirty="0"/>
          </a:p>
        </p:txBody>
      </p:sp>
      <p:sp>
        <p:nvSpPr>
          <p:cNvPr id="9" name="Linie"/>
          <p:cNvSpPr/>
          <p:nvPr/>
        </p:nvSpPr>
        <p:spPr>
          <a:xfrm>
            <a:off x="2670048" y="4983480"/>
            <a:ext cx="292608" cy="91"/>
          </a:xfrm>
          <a:prstGeom prst="line">
            <a:avLst/>
          </a:prstGeom>
          <a:noFill/>
          <a:ln w="31750">
            <a:solidFill>
              <a:schemeClr val="accent2"/>
            </a:solidFill>
            <a:prstDash val="sysDot"/>
          </a:ln>
        </p:spPr>
      </p:sp>
      <p:sp>
        <p:nvSpPr>
          <p:cNvPr id="10" name="Chip"/>
          <p:cNvSpPr txBox="1"/>
          <p:nvPr/>
        </p:nvSpPr>
        <p:spPr>
          <a:xfrm>
            <a:off x="1847088"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L5.2</a:t>
            </a:r>
            <a:endParaRPr lang="en-US" sz="1500" dirty="0"/>
          </a:p>
        </p:txBody>
      </p:sp>
      <p:sp>
        <p:nvSpPr>
          <p:cNvPr id="11" name="Linie"/>
          <p:cNvSpPr/>
          <p:nvPr/>
        </p:nvSpPr>
        <p:spPr>
          <a:xfrm>
            <a:off x="3785616" y="4983480"/>
            <a:ext cx="292608" cy="91"/>
          </a:xfrm>
          <a:prstGeom prst="line">
            <a:avLst/>
          </a:prstGeom>
          <a:noFill/>
          <a:ln w="31750">
            <a:solidFill>
              <a:schemeClr val="accent2"/>
            </a:solidFill>
            <a:prstDash val="sysDot"/>
          </a:ln>
        </p:spPr>
      </p:sp>
      <p:sp>
        <p:nvSpPr>
          <p:cNvPr id="12" name="Chip"/>
          <p:cNvSpPr txBox="1"/>
          <p:nvPr/>
        </p:nvSpPr>
        <p:spPr>
          <a:xfrm>
            <a:off x="2962656" y="4773168"/>
            <a:ext cx="822960" cy="420624"/>
          </a:xfrm>
          <a:prstGeom prst="roundRect">
            <a:avLst>
              <a:gd name="adj" fmla="val 50000"/>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L5.3</a:t>
            </a:r>
            <a:endParaRPr lang="en-US" sz="1500" dirty="0"/>
          </a:p>
        </p:txBody>
      </p:sp>
      <p:sp>
        <p:nvSpPr>
          <p:cNvPr id="13" name="Linie"/>
          <p:cNvSpPr/>
          <p:nvPr/>
        </p:nvSpPr>
        <p:spPr>
          <a:xfrm>
            <a:off x="4901184" y="4983480"/>
            <a:ext cx="292608" cy="91"/>
          </a:xfrm>
          <a:prstGeom prst="line">
            <a:avLst/>
          </a:prstGeom>
          <a:noFill/>
          <a:ln w="31750">
            <a:solidFill>
              <a:schemeClr val="accent2"/>
            </a:solidFill>
            <a:prstDash val="sysDot"/>
          </a:ln>
        </p:spPr>
      </p:sp>
      <p:sp>
        <p:nvSpPr>
          <p:cNvPr id="14" name="Chip"/>
          <p:cNvSpPr txBox="1"/>
          <p:nvPr/>
        </p:nvSpPr>
        <p:spPr>
          <a:xfrm>
            <a:off x="4078224"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L5.4</a:t>
            </a:r>
            <a:endParaRPr lang="en-US" sz="1500" dirty="0"/>
          </a:p>
        </p:txBody>
      </p:sp>
      <p:sp>
        <p:nvSpPr>
          <p:cNvPr id="15" name="Linie"/>
          <p:cNvSpPr/>
          <p:nvPr/>
        </p:nvSpPr>
        <p:spPr>
          <a:xfrm>
            <a:off x="6016752" y="4983480"/>
            <a:ext cx="292608" cy="91"/>
          </a:xfrm>
          <a:prstGeom prst="line">
            <a:avLst/>
          </a:prstGeom>
          <a:noFill/>
          <a:ln w="31750">
            <a:solidFill>
              <a:schemeClr val="accent2"/>
            </a:solidFill>
            <a:prstDash val="sysDot"/>
          </a:ln>
        </p:spPr>
      </p:sp>
      <p:sp>
        <p:nvSpPr>
          <p:cNvPr id="16" name="Chip"/>
          <p:cNvSpPr txBox="1"/>
          <p:nvPr/>
        </p:nvSpPr>
        <p:spPr>
          <a:xfrm>
            <a:off x="5193792" y="4773168"/>
            <a:ext cx="82296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L5.4+</a:t>
            </a:r>
            <a:endParaRPr lang="en-US" sz="1500" dirty="0"/>
          </a:p>
        </p:txBody>
      </p:sp>
      <p:sp>
        <p:nvSpPr>
          <p:cNvPr id="17" name="Chip"/>
          <p:cNvSpPr txBox="1"/>
          <p:nvPr/>
        </p:nvSpPr>
        <p:spPr>
          <a:xfrm>
            <a:off x="6309360" y="4773168"/>
            <a:ext cx="822960" cy="420624"/>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BOSS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Weltkarte: Der Wald</a:t>
            </a:r>
            <a:endParaRPr lang="en-US" sz="3600" dirty="0"/>
          </a:p>
        </p:txBody>
      </p:sp>
      <p:sp>
        <p:nvSpPr>
          <p:cNvPr id="3" name="Weg"/>
          <p:cNvSpPr/>
          <p:nvPr/>
        </p:nvSpPr>
        <p:spPr>
          <a:xfrm>
            <a:off x="2286000" y="1874520"/>
            <a:ext cx="128016" cy="91"/>
          </a:xfrm>
          <a:prstGeom prst="line">
            <a:avLst/>
          </a:prstGeom>
          <a:noFill/>
          <a:ln w="31750">
            <a:solidFill>
              <a:schemeClr val="accent2"/>
            </a:solidFill>
            <a:prstDash val="sysDot"/>
          </a:ln>
        </p:spPr>
      </p:sp>
      <p:sp>
        <p:nvSpPr>
          <p:cNvPr id="4" name="IDE-Level 5.1"/>
          <p:cNvSpPr/>
          <p:nvPr/>
        </p:nvSpPr>
        <p:spPr>
          <a:xfrm>
            <a:off x="548640" y="1325880"/>
            <a:ext cx="1737360" cy="269748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5" name="Icon-Kreis"/>
          <p:cNvSpPr/>
          <p:nvPr/>
        </p:nvSpPr>
        <p:spPr>
          <a:xfrm>
            <a:off x="1051560" y="1463040"/>
            <a:ext cx="731520" cy="731520"/>
          </a:xfrm>
          <a:prstGeom prst="ellipse">
            <a:avLst/>
          </a:prstGeom>
          <a:solidFill>
            <a:schemeClr val="accent1"/>
          </a:solidFill>
          <a:ln/>
        </p:spPr>
      </p:sp>
      <p:pic>
        <p:nvPicPr>
          <p:cNvPr id="6" name="Icon GiTreeBranch" descr="preencoded.png">    </p:cNvPr>
          <p:cNvPicPr>
            <a:picLocks noChangeAspect="1"/>
          </p:cNvPicPr>
          <p:nvPr/>
        </p:nvPicPr>
        <p:blipFill>
          <a:blip r:embed="rId1"/>
          <a:stretch>
            <a:fillRect/>
          </a:stretch>
        </p:blipFill>
        <p:spPr>
          <a:xfrm>
            <a:off x="1212494" y="1623974"/>
            <a:ext cx="409651" cy="409651"/>
          </a:xfrm>
          <a:prstGeom prst="rect">
            <a:avLst/>
          </a:prstGeom>
        </p:spPr>
      </p:pic>
      <p:sp>
        <p:nvSpPr>
          <p:cNvPr id="7" name="Chip"/>
          <p:cNvSpPr txBox="1"/>
          <p:nvPr/>
        </p:nvSpPr>
        <p:spPr>
          <a:xfrm>
            <a:off x="731520" y="2286000"/>
            <a:ext cx="137160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31</a:t>
            </a:r>
            <a:endParaRPr lang="en-US" sz="1300" dirty="0"/>
          </a:p>
        </p:txBody>
      </p:sp>
      <p:sp>
        <p:nvSpPr>
          <p:cNvPr id="8" name="Text 5"/>
          <p:cNvSpPr txBox="1"/>
          <p:nvPr/>
        </p:nvSpPr>
        <p:spPr>
          <a:xfrm>
            <a:off x="603504" y="2679192"/>
            <a:ext cx="1627632" cy="566928"/>
          </a:xfrm>
          <a:prstGeom prst="rect">
            <a:avLst/>
          </a:prstGeom>
          <a:noFill/>
          <a:ln/>
        </p:spPr>
        <p:txBody>
          <a:bodyPr wrap="square" lIns="0" tIns="0" rIns="0" bIns="0" rtlCol="0" anchor="t"/>
          <a:lstStyle/>
          <a:p>
            <a:pPr algn="ctr" indent="0" marL="0">
              <a:buNone/>
            </a:pPr>
            <a:r>
              <a:rPr lang="en-US" sz="1300" b="1" dirty="0">
                <a:solidFill>
                  <a:schemeClr val="accent6"/>
                </a:solidFill>
              </a:rPr>
              <a:t>IDE-Level 5.1</a:t>
            </a:r>
            <a:endParaRPr lang="en-US" sz="1800" dirty="0"/>
          </a:p>
          <a:p>
            <a:pPr algn="ctr" indent="0" marL="0">
              <a:buNone/>
            </a:pPr>
            <a:r>
              <a:rPr lang="en-US" sz="1700" b="1" dirty="0">
                <a:solidFill>
                  <a:schemeClr val="accent1"/>
                </a:solidFill>
              </a:rPr>
              <a:t>Baumbegriffe</a:t>
            </a:r>
            <a:endParaRPr lang="en-US" sz="1800" dirty="0"/>
          </a:p>
        </p:txBody>
      </p:sp>
      <p:sp>
        <p:nvSpPr>
          <p:cNvPr id="9" name="Text 6"/>
          <p:cNvSpPr txBox="1"/>
          <p:nvPr/>
        </p:nvSpPr>
        <p:spPr>
          <a:xfrm>
            <a:off x="640080" y="3273552"/>
            <a:ext cx="1554480" cy="502920"/>
          </a:xfrm>
          <a:prstGeom prst="rect">
            <a:avLst/>
          </a:prstGeom>
          <a:noFill/>
          <a:ln/>
        </p:spPr>
        <p:txBody>
          <a:bodyPr wrap="square" lIns="0" tIns="0" rIns="0" bIns="0" rtlCol="0" anchor="t"/>
          <a:lstStyle/>
          <a:p>
            <a:pPr algn="ctr" indent="0" marL="0">
              <a:buNone/>
            </a:pPr>
            <a:r>
              <a:rPr lang="en-US" sz="1300" dirty="0">
                <a:solidFill>
                  <a:schemeClr val="tx1"/>
                </a:solidFill>
              </a:rPr>
              <a:t>BinTree, pre/in/post, Termbaum</a:t>
            </a:r>
            <a:endParaRPr lang="en-US" sz="1300" dirty="0"/>
          </a:p>
        </p:txBody>
      </p:sp>
      <p:sp>
        <p:nvSpPr>
          <p:cNvPr id="10" name="Text 7"/>
          <p:cNvSpPr txBox="1"/>
          <p:nvPr/>
        </p:nvSpPr>
        <p:spPr>
          <a:xfrm>
            <a:off x="603504" y="3730752"/>
            <a:ext cx="1627632" cy="256032"/>
          </a:xfrm>
          <a:prstGeom prst="rect">
            <a:avLst/>
          </a:prstGeom>
          <a:noFill/>
          <a:ln/>
        </p:spPr>
        <p:txBody>
          <a:bodyPr wrap="square" lIns="0" tIns="0" rIns="0" bIns="0" rtlCol="0" anchor="t"/>
          <a:lstStyle/>
          <a:p>
            <a:pPr algn="ctr" indent="0" marL="0">
              <a:buNone/>
            </a:pPr>
            <a:r>
              <a:rPr lang="en-US" sz="1300" b="1" dirty="0">
                <a:solidFill>
                  <a:schemeClr val="accent2"/>
                </a:solidFill>
              </a:rPr>
              <a:t>Lab: Level 5.1</a:t>
            </a:r>
            <a:endParaRPr lang="en-US" sz="1300" dirty="0"/>
          </a:p>
        </p:txBody>
      </p:sp>
      <p:sp>
        <p:nvSpPr>
          <p:cNvPr id="11" name="Weg"/>
          <p:cNvSpPr/>
          <p:nvPr/>
        </p:nvSpPr>
        <p:spPr>
          <a:xfrm>
            <a:off x="4151376" y="1874520"/>
            <a:ext cx="128016" cy="91"/>
          </a:xfrm>
          <a:prstGeom prst="line">
            <a:avLst/>
          </a:prstGeom>
          <a:noFill/>
          <a:ln w="31750">
            <a:solidFill>
              <a:schemeClr val="accent2"/>
            </a:solidFill>
            <a:prstDash val="sysDot"/>
          </a:ln>
        </p:spPr>
      </p:sp>
      <p:sp>
        <p:nvSpPr>
          <p:cNvPr id="12" name="IDE-Level 5.2"/>
          <p:cNvSpPr/>
          <p:nvPr/>
        </p:nvSpPr>
        <p:spPr>
          <a:xfrm>
            <a:off x="2414016" y="1325880"/>
            <a:ext cx="1737360" cy="269748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13" name="Icon-Kreis"/>
          <p:cNvSpPr/>
          <p:nvPr/>
        </p:nvSpPr>
        <p:spPr>
          <a:xfrm>
            <a:off x="2916936" y="1463040"/>
            <a:ext cx="731520" cy="731520"/>
          </a:xfrm>
          <a:prstGeom prst="ellipse">
            <a:avLst/>
          </a:prstGeom>
          <a:solidFill>
            <a:schemeClr val="accent1"/>
          </a:solidFill>
          <a:ln/>
        </p:spPr>
      </p:sp>
      <p:pic>
        <p:nvPicPr>
          <p:cNvPr id="14" name="Icon GiTreeRoots" descr="preencoded.png">    </p:cNvPr>
          <p:cNvPicPr>
            <a:picLocks noChangeAspect="1"/>
          </p:cNvPicPr>
          <p:nvPr/>
        </p:nvPicPr>
        <p:blipFill>
          <a:blip r:embed="rId2"/>
          <a:stretch>
            <a:fillRect/>
          </a:stretch>
        </p:blipFill>
        <p:spPr>
          <a:xfrm>
            <a:off x="3077870" y="1623974"/>
            <a:ext cx="409651" cy="409651"/>
          </a:xfrm>
          <a:prstGeom prst="rect">
            <a:avLst/>
          </a:prstGeom>
        </p:spPr>
      </p:pic>
      <p:sp>
        <p:nvSpPr>
          <p:cNvPr id="15" name="Chip"/>
          <p:cNvSpPr txBox="1"/>
          <p:nvPr/>
        </p:nvSpPr>
        <p:spPr>
          <a:xfrm>
            <a:off x="2596896" y="2286000"/>
            <a:ext cx="137160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32</a:t>
            </a:r>
            <a:endParaRPr lang="en-US" sz="1300" dirty="0"/>
          </a:p>
        </p:txBody>
      </p:sp>
      <p:sp>
        <p:nvSpPr>
          <p:cNvPr id="16" name="Text 12"/>
          <p:cNvSpPr txBox="1"/>
          <p:nvPr/>
        </p:nvSpPr>
        <p:spPr>
          <a:xfrm>
            <a:off x="2468880" y="2679192"/>
            <a:ext cx="1627632" cy="566928"/>
          </a:xfrm>
          <a:prstGeom prst="rect">
            <a:avLst/>
          </a:prstGeom>
          <a:noFill/>
          <a:ln/>
        </p:spPr>
        <p:txBody>
          <a:bodyPr wrap="square" lIns="0" tIns="0" rIns="0" bIns="0" rtlCol="0" anchor="t"/>
          <a:lstStyle/>
          <a:p>
            <a:pPr algn="ctr" indent="0" marL="0">
              <a:buNone/>
            </a:pPr>
            <a:r>
              <a:rPr lang="en-US" sz="1300" b="1" dirty="0">
                <a:solidFill>
                  <a:schemeClr val="accent6"/>
                </a:solidFill>
              </a:rPr>
              <a:t>IDE-Level 5.2</a:t>
            </a:r>
            <a:endParaRPr lang="en-US" sz="1800" dirty="0"/>
          </a:p>
          <a:p>
            <a:pPr algn="ctr" indent="0" marL="0">
              <a:buNone/>
            </a:pPr>
            <a:r>
              <a:rPr lang="en-US" sz="1700" b="1" dirty="0">
                <a:solidFill>
                  <a:schemeClr val="accent1"/>
                </a:solidFill>
              </a:rPr>
              <a:t>Rekursiv</a:t>
            </a:r>
            <a:endParaRPr lang="en-US" sz="1800" dirty="0"/>
          </a:p>
        </p:txBody>
      </p:sp>
      <p:sp>
        <p:nvSpPr>
          <p:cNvPr id="17" name="Text 13"/>
          <p:cNvSpPr txBox="1"/>
          <p:nvPr/>
        </p:nvSpPr>
        <p:spPr>
          <a:xfrm>
            <a:off x="2505456" y="3273552"/>
            <a:ext cx="1554480" cy="502920"/>
          </a:xfrm>
          <a:prstGeom prst="rect">
            <a:avLst/>
          </a:prstGeom>
          <a:noFill/>
          <a:ln/>
        </p:spPr>
        <p:txBody>
          <a:bodyPr wrap="square" lIns="0" tIns="0" rIns="0" bIns="0" rtlCol="0" anchor="t"/>
          <a:lstStyle/>
          <a:p>
            <a:pPr algn="ctr" indent="0" marL="0">
              <a:buNone/>
            </a:pPr>
            <a:r>
              <a:rPr lang="en-US" sz="1300" dirty="0">
                <a:solidFill>
                  <a:schemeClr val="tx1"/>
                </a:solidFill>
              </a:rPr>
              <a:t>Knoten, Höhe, Summe, Sammeln</a:t>
            </a:r>
            <a:endParaRPr lang="en-US" sz="1300" dirty="0"/>
          </a:p>
        </p:txBody>
      </p:sp>
      <p:sp>
        <p:nvSpPr>
          <p:cNvPr id="18" name="Text 14"/>
          <p:cNvSpPr txBox="1"/>
          <p:nvPr/>
        </p:nvSpPr>
        <p:spPr>
          <a:xfrm>
            <a:off x="2468880" y="3730752"/>
            <a:ext cx="1627632" cy="256032"/>
          </a:xfrm>
          <a:prstGeom prst="rect">
            <a:avLst/>
          </a:prstGeom>
          <a:noFill/>
          <a:ln/>
        </p:spPr>
        <p:txBody>
          <a:bodyPr wrap="square" lIns="0" tIns="0" rIns="0" bIns="0" rtlCol="0" anchor="t"/>
          <a:lstStyle/>
          <a:p>
            <a:pPr algn="ctr" indent="0" marL="0">
              <a:buNone/>
            </a:pPr>
            <a:r>
              <a:rPr lang="en-US" sz="1300" b="1" dirty="0">
                <a:solidFill>
                  <a:schemeClr val="accent2"/>
                </a:solidFill>
              </a:rPr>
              <a:t>Lab: Level 5.2</a:t>
            </a:r>
            <a:endParaRPr lang="en-US" sz="1300" dirty="0"/>
          </a:p>
        </p:txBody>
      </p:sp>
      <p:sp>
        <p:nvSpPr>
          <p:cNvPr id="19" name="Weg"/>
          <p:cNvSpPr/>
          <p:nvPr/>
        </p:nvSpPr>
        <p:spPr>
          <a:xfrm>
            <a:off x="6016752" y="1874520"/>
            <a:ext cx="128016" cy="91"/>
          </a:xfrm>
          <a:prstGeom prst="line">
            <a:avLst/>
          </a:prstGeom>
          <a:noFill/>
          <a:ln w="31750">
            <a:solidFill>
              <a:schemeClr val="accent2"/>
            </a:solidFill>
            <a:prstDash val="sysDot"/>
          </a:ln>
        </p:spPr>
      </p:sp>
      <p:sp>
        <p:nvSpPr>
          <p:cNvPr id="20" name="IDE-Level 5.3"/>
          <p:cNvSpPr/>
          <p:nvPr/>
        </p:nvSpPr>
        <p:spPr>
          <a:xfrm>
            <a:off x="4279392" y="1325880"/>
            <a:ext cx="1737360" cy="2697480"/>
          </a:xfrm>
          <a:prstGeom prst="roundRect">
            <a:avLst>
              <a:gd name="adj" fmla="val 631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21" name="Icon-Kreis"/>
          <p:cNvSpPr/>
          <p:nvPr/>
        </p:nvSpPr>
        <p:spPr>
          <a:xfrm>
            <a:off x="4782312" y="1463040"/>
            <a:ext cx="731520" cy="731520"/>
          </a:xfrm>
          <a:prstGeom prst="ellipse">
            <a:avLst/>
          </a:prstGeom>
          <a:solidFill>
            <a:schemeClr val="accent2"/>
          </a:solidFill>
          <a:ln/>
        </p:spPr>
      </p:sp>
      <p:pic>
        <p:nvPicPr>
          <p:cNvPr id="22" name="Icon GiCrystalBall" descr="preencoded.png">    </p:cNvPr>
          <p:cNvPicPr>
            <a:picLocks noChangeAspect="1"/>
          </p:cNvPicPr>
          <p:nvPr/>
        </p:nvPicPr>
        <p:blipFill>
          <a:blip r:embed="rId3"/>
          <a:stretch>
            <a:fillRect/>
          </a:stretch>
        </p:blipFill>
        <p:spPr>
          <a:xfrm>
            <a:off x="4943246" y="1623974"/>
            <a:ext cx="409651" cy="409651"/>
          </a:xfrm>
          <a:prstGeom prst="rect">
            <a:avLst/>
          </a:prstGeom>
        </p:spPr>
      </p:pic>
      <p:sp>
        <p:nvSpPr>
          <p:cNvPr id="23" name="Chip"/>
          <p:cNvSpPr txBox="1"/>
          <p:nvPr/>
        </p:nvSpPr>
        <p:spPr>
          <a:xfrm>
            <a:off x="4462272" y="2286000"/>
            <a:ext cx="137160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33 · Kür</a:t>
            </a:r>
            <a:endParaRPr lang="en-US" sz="1300" dirty="0"/>
          </a:p>
        </p:txBody>
      </p:sp>
      <p:sp>
        <p:nvSpPr>
          <p:cNvPr id="24" name="Text 19"/>
          <p:cNvSpPr txBox="1"/>
          <p:nvPr/>
        </p:nvSpPr>
        <p:spPr>
          <a:xfrm>
            <a:off x="4334256" y="2679192"/>
            <a:ext cx="1627632" cy="566928"/>
          </a:xfrm>
          <a:prstGeom prst="rect">
            <a:avLst/>
          </a:prstGeom>
          <a:noFill/>
          <a:ln/>
        </p:spPr>
        <p:txBody>
          <a:bodyPr wrap="square" lIns="0" tIns="0" rIns="0" bIns="0" rtlCol="0" anchor="t"/>
          <a:lstStyle/>
          <a:p>
            <a:pPr algn="ctr" indent="0" marL="0">
              <a:buNone/>
            </a:pPr>
            <a:r>
              <a:rPr lang="en-US" sz="1300" b="1" dirty="0">
                <a:solidFill>
                  <a:schemeClr val="accent6"/>
                </a:solidFill>
              </a:rPr>
              <a:t>IDE-Level 5.3</a:t>
            </a:r>
            <a:endParaRPr lang="en-US" sz="1800" dirty="0"/>
          </a:p>
          <a:p>
            <a:pPr algn="ctr" indent="0" marL="0">
              <a:buNone/>
            </a:pPr>
            <a:r>
              <a:rPr lang="en-US" sz="1700" b="1" dirty="0">
                <a:solidFill>
                  <a:schemeClr val="accent1"/>
                </a:solidFill>
              </a:rPr>
              <a:t>Akinator</a:t>
            </a:r>
            <a:endParaRPr lang="en-US" sz="1800" dirty="0"/>
          </a:p>
        </p:txBody>
      </p:sp>
      <p:sp>
        <p:nvSpPr>
          <p:cNvPr id="25" name="Text 20"/>
          <p:cNvSpPr txBox="1"/>
          <p:nvPr/>
        </p:nvSpPr>
        <p:spPr>
          <a:xfrm>
            <a:off x="4370832" y="3273552"/>
            <a:ext cx="1554480" cy="502920"/>
          </a:xfrm>
          <a:prstGeom prst="rect">
            <a:avLst/>
          </a:prstGeom>
          <a:noFill/>
          <a:ln/>
        </p:spPr>
        <p:txBody>
          <a:bodyPr wrap="square" lIns="0" tIns="0" rIns="0" bIns="0" rtlCol="0" anchor="t"/>
          <a:lstStyle/>
          <a:p>
            <a:pPr algn="ctr" indent="0" marL="0">
              <a:buNone/>
            </a:pPr>
            <a:r>
              <a:rPr lang="en-US" sz="1300" dirty="0">
                <a:solidFill>
                  <a:schemeClr val="tx1"/>
                </a:solidFill>
              </a:rPr>
              <a:t>Baum lernt, Level-Order</a:t>
            </a:r>
            <a:endParaRPr lang="en-US" sz="1300" dirty="0"/>
          </a:p>
        </p:txBody>
      </p:sp>
      <p:sp>
        <p:nvSpPr>
          <p:cNvPr id="26" name="Text 21"/>
          <p:cNvSpPr txBox="1"/>
          <p:nvPr/>
        </p:nvSpPr>
        <p:spPr>
          <a:xfrm>
            <a:off x="4334256" y="3730752"/>
            <a:ext cx="1627632" cy="256032"/>
          </a:xfrm>
          <a:prstGeom prst="rect">
            <a:avLst/>
          </a:prstGeom>
          <a:noFill/>
          <a:ln/>
        </p:spPr>
        <p:txBody>
          <a:bodyPr wrap="square" lIns="0" tIns="0" rIns="0" bIns="0" rtlCol="0" anchor="t"/>
          <a:lstStyle/>
          <a:p>
            <a:pPr algn="ctr" indent="0" marL="0">
              <a:buNone/>
            </a:pPr>
            <a:r>
              <a:rPr lang="en-US" sz="1300" b="1" dirty="0">
                <a:solidFill>
                  <a:schemeClr val="accent2"/>
                </a:solidFill>
              </a:rPr>
              <a:t>Lab: Level 5.3</a:t>
            </a:r>
            <a:endParaRPr lang="en-US" sz="1300" dirty="0"/>
          </a:p>
        </p:txBody>
      </p:sp>
      <p:sp>
        <p:nvSpPr>
          <p:cNvPr id="27" name="Weg"/>
          <p:cNvSpPr/>
          <p:nvPr/>
        </p:nvSpPr>
        <p:spPr>
          <a:xfrm>
            <a:off x="7882128" y="1874520"/>
            <a:ext cx="128016" cy="91"/>
          </a:xfrm>
          <a:prstGeom prst="line">
            <a:avLst/>
          </a:prstGeom>
          <a:noFill/>
          <a:ln w="31750">
            <a:solidFill>
              <a:schemeClr val="accent2"/>
            </a:solidFill>
            <a:prstDash val="sysDot"/>
          </a:ln>
        </p:spPr>
      </p:sp>
      <p:sp>
        <p:nvSpPr>
          <p:cNvPr id="28" name="IDE-Level 5.4"/>
          <p:cNvSpPr/>
          <p:nvPr/>
        </p:nvSpPr>
        <p:spPr>
          <a:xfrm>
            <a:off x="6144768" y="1325880"/>
            <a:ext cx="1737360" cy="269748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29" name="Icon-Kreis"/>
          <p:cNvSpPr/>
          <p:nvPr/>
        </p:nvSpPr>
        <p:spPr>
          <a:xfrm>
            <a:off x="6647688" y="1463040"/>
            <a:ext cx="731520" cy="731520"/>
          </a:xfrm>
          <a:prstGeom prst="ellipse">
            <a:avLst/>
          </a:prstGeom>
          <a:solidFill>
            <a:schemeClr val="accent1"/>
          </a:solidFill>
          <a:ln/>
        </p:spPr>
      </p:sp>
      <p:pic>
        <p:nvPicPr>
          <p:cNvPr id="30" name="Icon GiMagnifyingGlass" descr="preencoded.png">    </p:cNvPr>
          <p:cNvPicPr>
            <a:picLocks noChangeAspect="1"/>
          </p:cNvPicPr>
          <p:nvPr/>
        </p:nvPicPr>
        <p:blipFill>
          <a:blip r:embed="rId4"/>
          <a:stretch>
            <a:fillRect/>
          </a:stretch>
        </p:blipFill>
        <p:spPr>
          <a:xfrm>
            <a:off x="6808622" y="1623974"/>
            <a:ext cx="409651" cy="409651"/>
          </a:xfrm>
          <a:prstGeom prst="rect">
            <a:avLst/>
          </a:prstGeom>
        </p:spPr>
      </p:pic>
      <p:sp>
        <p:nvSpPr>
          <p:cNvPr id="31" name="Chip"/>
          <p:cNvSpPr txBox="1"/>
          <p:nvPr/>
        </p:nvSpPr>
        <p:spPr>
          <a:xfrm>
            <a:off x="6327648" y="2286000"/>
            <a:ext cx="137160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34</a:t>
            </a:r>
            <a:endParaRPr lang="en-US" sz="1300" dirty="0"/>
          </a:p>
        </p:txBody>
      </p:sp>
      <p:sp>
        <p:nvSpPr>
          <p:cNvPr id="32" name="Text 26"/>
          <p:cNvSpPr txBox="1"/>
          <p:nvPr/>
        </p:nvSpPr>
        <p:spPr>
          <a:xfrm>
            <a:off x="6199632" y="2679192"/>
            <a:ext cx="1627632" cy="566928"/>
          </a:xfrm>
          <a:prstGeom prst="rect">
            <a:avLst/>
          </a:prstGeom>
          <a:noFill/>
          <a:ln/>
        </p:spPr>
        <p:txBody>
          <a:bodyPr wrap="square" lIns="0" tIns="0" rIns="0" bIns="0" rtlCol="0" anchor="t"/>
          <a:lstStyle/>
          <a:p>
            <a:pPr algn="ctr" indent="0" marL="0">
              <a:buNone/>
            </a:pPr>
            <a:r>
              <a:rPr lang="en-US" sz="1300" b="1" dirty="0">
                <a:solidFill>
                  <a:schemeClr val="accent6"/>
                </a:solidFill>
              </a:rPr>
              <a:t>IDE-Level 5.4</a:t>
            </a:r>
            <a:endParaRPr lang="en-US" sz="1800" dirty="0"/>
          </a:p>
          <a:p>
            <a:pPr algn="ctr" indent="0" marL="0">
              <a:buNone/>
            </a:pPr>
            <a:r>
              <a:rPr lang="en-US" sz="1700" b="1" dirty="0">
                <a:solidFill>
                  <a:schemeClr val="accent1"/>
                </a:solidFill>
              </a:rPr>
              <a:t>Suchbaum</a:t>
            </a:r>
            <a:endParaRPr lang="en-US" sz="1800" dirty="0"/>
          </a:p>
        </p:txBody>
      </p:sp>
      <p:sp>
        <p:nvSpPr>
          <p:cNvPr id="33" name="Text 27"/>
          <p:cNvSpPr txBox="1"/>
          <p:nvPr/>
        </p:nvSpPr>
        <p:spPr>
          <a:xfrm>
            <a:off x="6236208" y="3273552"/>
            <a:ext cx="1554480" cy="502920"/>
          </a:xfrm>
          <a:prstGeom prst="rect">
            <a:avLst/>
          </a:prstGeom>
          <a:noFill/>
          <a:ln/>
        </p:spPr>
        <p:txBody>
          <a:bodyPr wrap="square" lIns="0" tIns="0" rIns="0" bIns="0" rtlCol="0" anchor="t"/>
          <a:lstStyle/>
          <a:p>
            <a:pPr algn="ctr" indent="0" marL="0">
              <a:buNone/>
            </a:pPr>
            <a:r>
              <a:rPr lang="en-US" sz="1300" dirty="0">
                <a:solidFill>
                  <a:schemeClr val="tx1"/>
                </a:solidFill>
              </a:rPr>
              <a:t>Suchen, Einfügen, Löschen</a:t>
            </a:r>
            <a:endParaRPr lang="en-US" sz="1300" dirty="0"/>
          </a:p>
        </p:txBody>
      </p:sp>
      <p:sp>
        <p:nvSpPr>
          <p:cNvPr id="34" name="Text 28"/>
          <p:cNvSpPr txBox="1"/>
          <p:nvPr/>
        </p:nvSpPr>
        <p:spPr>
          <a:xfrm>
            <a:off x="6199632" y="3730752"/>
            <a:ext cx="1627632" cy="256032"/>
          </a:xfrm>
          <a:prstGeom prst="rect">
            <a:avLst/>
          </a:prstGeom>
          <a:noFill/>
          <a:ln/>
        </p:spPr>
        <p:txBody>
          <a:bodyPr wrap="square" lIns="0" tIns="0" rIns="0" bIns="0" rtlCol="0" anchor="t"/>
          <a:lstStyle/>
          <a:p>
            <a:pPr algn="ctr" indent="0" marL="0">
              <a:buNone/>
            </a:pPr>
            <a:r>
              <a:rPr lang="en-US" sz="1300" b="1" dirty="0">
                <a:solidFill>
                  <a:schemeClr val="accent2"/>
                </a:solidFill>
              </a:rPr>
              <a:t>Lab: Level 5.4</a:t>
            </a:r>
            <a:endParaRPr lang="en-US" sz="1300" dirty="0"/>
          </a:p>
        </p:txBody>
      </p:sp>
      <p:sp>
        <p:nvSpPr>
          <p:cNvPr id="35" name="Weg"/>
          <p:cNvSpPr/>
          <p:nvPr/>
        </p:nvSpPr>
        <p:spPr>
          <a:xfrm>
            <a:off x="9747504" y="1874520"/>
            <a:ext cx="128016" cy="91"/>
          </a:xfrm>
          <a:prstGeom prst="line">
            <a:avLst/>
          </a:prstGeom>
          <a:noFill/>
          <a:ln w="31750">
            <a:solidFill>
              <a:schemeClr val="accent2"/>
            </a:solidFill>
            <a:prstDash val="sysDot"/>
          </a:ln>
        </p:spPr>
      </p:sp>
      <p:sp>
        <p:nvSpPr>
          <p:cNvPr id="36" name="IDE-Level 5.4+"/>
          <p:cNvSpPr/>
          <p:nvPr/>
        </p:nvSpPr>
        <p:spPr>
          <a:xfrm>
            <a:off x="8010144" y="1325880"/>
            <a:ext cx="1737360" cy="2697480"/>
          </a:xfrm>
          <a:prstGeom prst="roundRect">
            <a:avLst>
              <a:gd name="adj" fmla="val 6316"/>
            </a:avLst>
          </a:prstGeom>
          <a:solidFill>
            <a:schemeClr val="bg1"/>
          </a:solidFill>
          <a:ln/>
          <a:effectLst>
            <a:outerShdw sx="100000" sy="100000" kx="0" ky="0" algn="bl" rotWithShape="0" blurRad="76200" dist="25400" dir="5400000">
              <a:srgbClr val="000000">
                <a:alpha val="18000"/>
              </a:srgbClr>
            </a:outerShdw>
          </a:effectLst>
        </p:spPr>
      </p:sp>
      <p:sp>
        <p:nvSpPr>
          <p:cNvPr id="37" name="Icon-Kreis"/>
          <p:cNvSpPr/>
          <p:nvPr/>
        </p:nvSpPr>
        <p:spPr>
          <a:xfrm>
            <a:off x="8513064" y="1463040"/>
            <a:ext cx="731520" cy="731520"/>
          </a:xfrm>
          <a:prstGeom prst="ellipse">
            <a:avLst/>
          </a:prstGeom>
          <a:solidFill>
            <a:schemeClr val="accent1"/>
          </a:solidFill>
          <a:ln/>
        </p:spPr>
      </p:sp>
      <p:pic>
        <p:nvPicPr>
          <p:cNvPr id="38" name="Icon GiScales" descr="preencoded.png">    </p:cNvPr>
          <p:cNvPicPr>
            <a:picLocks noChangeAspect="1"/>
          </p:cNvPicPr>
          <p:nvPr/>
        </p:nvPicPr>
        <p:blipFill>
          <a:blip r:embed="rId5"/>
          <a:stretch>
            <a:fillRect/>
          </a:stretch>
        </p:blipFill>
        <p:spPr>
          <a:xfrm>
            <a:off x="8673998" y="1623974"/>
            <a:ext cx="409651" cy="409651"/>
          </a:xfrm>
          <a:prstGeom prst="rect">
            <a:avLst/>
          </a:prstGeom>
        </p:spPr>
      </p:pic>
      <p:sp>
        <p:nvSpPr>
          <p:cNvPr id="39" name="Chip"/>
          <p:cNvSpPr txBox="1"/>
          <p:nvPr/>
        </p:nvSpPr>
        <p:spPr>
          <a:xfrm>
            <a:off x="8193024" y="2286000"/>
            <a:ext cx="137160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35</a:t>
            </a:r>
            <a:endParaRPr lang="en-US" sz="1300" dirty="0"/>
          </a:p>
        </p:txBody>
      </p:sp>
      <p:sp>
        <p:nvSpPr>
          <p:cNvPr id="40" name="Text 33"/>
          <p:cNvSpPr txBox="1"/>
          <p:nvPr/>
        </p:nvSpPr>
        <p:spPr>
          <a:xfrm>
            <a:off x="8065008" y="2679192"/>
            <a:ext cx="1627632" cy="566928"/>
          </a:xfrm>
          <a:prstGeom prst="rect">
            <a:avLst/>
          </a:prstGeom>
          <a:noFill/>
          <a:ln/>
        </p:spPr>
        <p:txBody>
          <a:bodyPr wrap="square" lIns="0" tIns="0" rIns="0" bIns="0" rtlCol="0" anchor="t"/>
          <a:lstStyle/>
          <a:p>
            <a:pPr algn="ctr" indent="0" marL="0">
              <a:buNone/>
            </a:pPr>
            <a:r>
              <a:rPr lang="en-US" sz="1300" b="1" dirty="0">
                <a:solidFill>
                  <a:schemeClr val="accent6"/>
                </a:solidFill>
              </a:rPr>
              <a:t>IDE-Level 5.4+</a:t>
            </a:r>
            <a:endParaRPr lang="en-US" sz="1800" dirty="0"/>
          </a:p>
          <a:p>
            <a:pPr algn="ctr" indent="0" marL="0">
              <a:buNone/>
            </a:pPr>
            <a:r>
              <a:rPr lang="en-US" sz="1700" b="1" dirty="0">
                <a:solidFill>
                  <a:schemeClr val="accent1"/>
                </a:solidFill>
              </a:rPr>
              <a:t>Balance</a:t>
            </a:r>
            <a:endParaRPr lang="en-US" sz="1800" dirty="0"/>
          </a:p>
        </p:txBody>
      </p:sp>
      <p:sp>
        <p:nvSpPr>
          <p:cNvPr id="41" name="Text 34"/>
          <p:cNvSpPr txBox="1"/>
          <p:nvPr/>
        </p:nvSpPr>
        <p:spPr>
          <a:xfrm>
            <a:off x="8101584" y="3273552"/>
            <a:ext cx="1554480" cy="502920"/>
          </a:xfrm>
          <a:prstGeom prst="rect">
            <a:avLst/>
          </a:prstGeom>
          <a:noFill/>
          <a:ln/>
        </p:spPr>
        <p:txBody>
          <a:bodyPr wrap="square" lIns="0" tIns="0" rIns="0" bIns="0" rtlCol="0" anchor="t"/>
          <a:lstStyle/>
          <a:p>
            <a:pPr algn="ctr" indent="0" marL="0">
              <a:buNone/>
            </a:pPr>
            <a:r>
              <a:rPr lang="en-US" sz="1300" dirty="0">
                <a:solidFill>
                  <a:schemeClr val="tx1"/>
                </a:solidFill>
              </a:rPr>
              <a:t>entartet vs. ausgeglichen, istBST</a:t>
            </a:r>
            <a:endParaRPr lang="en-US" sz="1300" dirty="0"/>
          </a:p>
        </p:txBody>
      </p:sp>
      <p:sp>
        <p:nvSpPr>
          <p:cNvPr id="42" name="Text 35"/>
          <p:cNvSpPr txBox="1"/>
          <p:nvPr/>
        </p:nvSpPr>
        <p:spPr>
          <a:xfrm>
            <a:off x="8065008" y="3730752"/>
            <a:ext cx="1627632" cy="256032"/>
          </a:xfrm>
          <a:prstGeom prst="rect">
            <a:avLst/>
          </a:prstGeom>
          <a:noFill/>
          <a:ln/>
        </p:spPr>
        <p:txBody>
          <a:bodyPr wrap="square" lIns="0" tIns="0" rIns="0" bIns="0" rtlCol="0" anchor="t"/>
          <a:lstStyle/>
          <a:p>
            <a:pPr algn="ctr" indent="0" marL="0">
              <a:buNone/>
            </a:pPr>
            <a:r>
              <a:rPr lang="en-US" sz="1300" b="1" dirty="0">
                <a:solidFill>
                  <a:schemeClr val="accent2"/>
                </a:solidFill>
              </a:rPr>
              <a:t>Lab: 5.5 · 5.6</a:t>
            </a:r>
            <a:endParaRPr lang="en-US" sz="1300" dirty="0"/>
          </a:p>
        </p:txBody>
      </p:sp>
      <p:sp>
        <p:nvSpPr>
          <p:cNvPr id="43" name="Boss 5"/>
          <p:cNvSpPr/>
          <p:nvPr/>
        </p:nvSpPr>
        <p:spPr>
          <a:xfrm>
            <a:off x="9875520" y="1325880"/>
            <a:ext cx="1737360" cy="2697480"/>
          </a:xfrm>
          <a:prstGeom prst="roundRect">
            <a:avLst>
              <a:gd name="adj" fmla="val 6316"/>
            </a:avLst>
          </a:prstGeom>
          <a:solidFill>
            <a:schemeClr val="accent4"/>
          </a:solidFill>
          <a:ln/>
          <a:effectLst>
            <a:outerShdw sx="100000" sy="100000" kx="0" ky="0" algn="bl" rotWithShape="0" blurRad="76200" dist="25400" dir="5400000">
              <a:srgbClr val="000000">
                <a:alpha val="18000"/>
              </a:srgbClr>
            </a:outerShdw>
          </a:effectLst>
        </p:spPr>
      </p:sp>
      <p:sp>
        <p:nvSpPr>
          <p:cNvPr id="44" name="Icon-Kreis"/>
          <p:cNvSpPr/>
          <p:nvPr/>
        </p:nvSpPr>
        <p:spPr>
          <a:xfrm>
            <a:off x="10378440" y="1463040"/>
            <a:ext cx="731520" cy="731520"/>
          </a:xfrm>
          <a:prstGeom prst="ellipse">
            <a:avLst/>
          </a:prstGeom>
          <a:solidFill>
            <a:schemeClr val="bg1"/>
          </a:solidFill>
          <a:ln/>
        </p:spPr>
      </p:sp>
      <p:pic>
        <p:nvPicPr>
          <p:cNvPr id="45" name="Icon GiOwl" descr="preencoded.png">    </p:cNvPr>
          <p:cNvPicPr>
            <a:picLocks noChangeAspect="1"/>
          </p:cNvPicPr>
          <p:nvPr/>
        </p:nvPicPr>
        <p:blipFill>
          <a:blip r:embed="rId6"/>
          <a:stretch>
            <a:fillRect/>
          </a:stretch>
        </p:blipFill>
        <p:spPr>
          <a:xfrm>
            <a:off x="10539374" y="1623974"/>
            <a:ext cx="409651" cy="409651"/>
          </a:xfrm>
          <a:prstGeom prst="rect">
            <a:avLst/>
          </a:prstGeom>
        </p:spPr>
      </p:pic>
      <p:sp>
        <p:nvSpPr>
          <p:cNvPr id="46" name="Chip"/>
          <p:cNvSpPr txBox="1"/>
          <p:nvPr/>
        </p:nvSpPr>
        <p:spPr>
          <a:xfrm>
            <a:off x="10058400" y="2286000"/>
            <a:ext cx="137160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DS 36</a:t>
            </a:r>
            <a:endParaRPr lang="en-US" sz="1300" dirty="0"/>
          </a:p>
        </p:txBody>
      </p:sp>
      <p:sp>
        <p:nvSpPr>
          <p:cNvPr id="47" name="Text 39"/>
          <p:cNvSpPr txBox="1"/>
          <p:nvPr/>
        </p:nvSpPr>
        <p:spPr>
          <a:xfrm>
            <a:off x="9930384" y="2679192"/>
            <a:ext cx="1627632" cy="566928"/>
          </a:xfrm>
          <a:prstGeom prst="rect">
            <a:avLst/>
          </a:prstGeom>
          <a:noFill/>
          <a:ln/>
        </p:spPr>
        <p:txBody>
          <a:bodyPr wrap="square" lIns="0" tIns="0" rIns="0" bIns="0" rtlCol="0" anchor="t"/>
          <a:lstStyle/>
          <a:p>
            <a:pPr algn="ctr" indent="0" marL="0">
              <a:buNone/>
            </a:pPr>
            <a:r>
              <a:rPr lang="en-US" sz="1300" b="1" dirty="0">
                <a:solidFill>
                  <a:schemeClr val="bg1"/>
                </a:solidFill>
              </a:rPr>
              <a:t>Boss 5</a:t>
            </a:r>
            <a:endParaRPr lang="en-US" sz="1800" dirty="0"/>
          </a:p>
          <a:p>
            <a:pPr algn="ctr" indent="0" marL="0">
              <a:buNone/>
            </a:pPr>
            <a:r>
              <a:rPr lang="en-US" sz="1700" b="1" dirty="0">
                <a:solidFill>
                  <a:schemeClr val="bg1"/>
                </a:solidFill>
              </a:rPr>
              <a:t>Baumhüter</a:t>
            </a:r>
            <a:endParaRPr lang="en-US" sz="1800" dirty="0"/>
          </a:p>
        </p:txBody>
      </p:sp>
      <p:sp>
        <p:nvSpPr>
          <p:cNvPr id="48" name="Text 40"/>
          <p:cNvSpPr txBox="1"/>
          <p:nvPr/>
        </p:nvSpPr>
        <p:spPr>
          <a:xfrm>
            <a:off x="9966960" y="3273552"/>
            <a:ext cx="1554480" cy="502920"/>
          </a:xfrm>
          <a:prstGeom prst="rect">
            <a:avLst/>
          </a:prstGeom>
          <a:noFill/>
          <a:ln/>
        </p:spPr>
        <p:txBody>
          <a:bodyPr wrap="square" lIns="0" tIns="0" rIns="0" bIns="0" rtlCol="0" anchor="t"/>
          <a:lstStyle/>
          <a:p>
            <a:pPr algn="ctr" indent="0" marL="0">
              <a:buNone/>
            </a:pPr>
            <a:r>
              <a:rPr lang="en-US" sz="1300" dirty="0">
                <a:solidFill>
                  <a:schemeClr val="bg1"/>
                </a:solidFill>
              </a:rPr>
              <a:t>2 von 3 unbekannten Bäumen</a:t>
            </a:r>
            <a:endParaRPr lang="en-US" sz="1300" dirty="0"/>
          </a:p>
        </p:txBody>
      </p:sp>
      <p:sp>
        <p:nvSpPr>
          <p:cNvPr id="49" name="Text 41"/>
          <p:cNvSpPr txBox="1"/>
          <p:nvPr/>
        </p:nvSpPr>
        <p:spPr>
          <a:xfrm>
            <a:off x="9930384" y="3730752"/>
            <a:ext cx="1627632" cy="256032"/>
          </a:xfrm>
          <a:prstGeom prst="rect">
            <a:avLst/>
          </a:prstGeom>
          <a:noFill/>
          <a:ln/>
        </p:spPr>
        <p:txBody>
          <a:bodyPr wrap="square" lIns="0" tIns="0" rIns="0" bIns="0" rtlCol="0" anchor="t"/>
          <a:lstStyle/>
          <a:p>
            <a:pPr algn="ctr" indent="0" marL="0">
              <a:buNone/>
            </a:pPr>
            <a:r>
              <a:rPr lang="en-US" sz="1300" b="1" dirty="0">
                <a:solidFill>
                  <a:schemeClr val="bg1"/>
                </a:solidFill>
              </a:rPr>
              <a:t>+ Online-Boss</a:t>
            </a:r>
            <a:endParaRPr lang="en-US" sz="1300" dirty="0"/>
          </a:p>
        </p:txBody>
      </p:sp>
      <p:sp>
        <p:nvSpPr>
          <p:cNvPr id="50" name="Text 42"/>
          <p:cNvSpPr txBox="1"/>
          <p:nvPr/>
        </p:nvSpPr>
        <p:spPr>
          <a:xfrm>
            <a:off x="548640" y="4206240"/>
            <a:ext cx="6766560" cy="329184"/>
          </a:xfrm>
          <a:prstGeom prst="rect">
            <a:avLst/>
          </a:prstGeom>
          <a:noFill/>
          <a:ln/>
        </p:spPr>
        <p:txBody>
          <a:bodyPr wrap="square" lIns="0" tIns="0" rIns="0" bIns="0" rtlCol="0" anchor="t"/>
          <a:lstStyle/>
          <a:p>
            <a:pPr indent="0" marL="0">
              <a:buNone/>
            </a:pPr>
            <a:r>
              <a:rPr lang="en-US" sz="1800" b="1" dirty="0">
                <a:solidFill>
                  <a:schemeClr val="accent1"/>
                </a:solidFill>
              </a:rPr>
              <a:t>Am Ende von Welt 5 kannst du …</a:t>
            </a:r>
            <a:endParaRPr lang="en-US" sz="1800" dirty="0"/>
          </a:p>
        </p:txBody>
      </p:sp>
      <p:sp>
        <p:nvSpPr>
          <p:cNvPr id="51" name="Icon-Kreis"/>
          <p:cNvSpPr/>
          <p:nvPr/>
        </p:nvSpPr>
        <p:spPr>
          <a:xfrm>
            <a:off x="548640" y="4599432"/>
            <a:ext cx="274320" cy="274320"/>
          </a:xfrm>
          <a:prstGeom prst="ellipse">
            <a:avLst/>
          </a:prstGeom>
          <a:solidFill>
            <a:schemeClr val="accent3"/>
          </a:solidFill>
          <a:ln/>
        </p:spPr>
      </p:sp>
      <p:pic>
        <p:nvPicPr>
          <p:cNvPr id="52" name="Icon GiCheckMark" descr="preencoded.png">    </p:cNvPr>
          <p:cNvPicPr>
            <a:picLocks noChangeAspect="1"/>
          </p:cNvPicPr>
          <p:nvPr/>
        </p:nvPicPr>
        <p:blipFill>
          <a:blip r:embed="rId7"/>
          <a:stretch>
            <a:fillRect/>
          </a:stretch>
        </p:blipFill>
        <p:spPr>
          <a:xfrm>
            <a:off x="592531" y="4643323"/>
            <a:ext cx="186538" cy="186538"/>
          </a:xfrm>
          <a:prstGeom prst="rect">
            <a:avLst/>
          </a:prstGeom>
        </p:spPr>
      </p:pic>
      <p:sp>
        <p:nvSpPr>
          <p:cNvPr id="53" name="Text 44"/>
          <p:cNvSpPr txBox="1"/>
          <p:nvPr/>
        </p:nvSpPr>
        <p:spPr>
          <a:xfrm>
            <a:off x="960120" y="4572000"/>
            <a:ext cx="6355080" cy="329184"/>
          </a:xfrm>
          <a:prstGeom prst="rect">
            <a:avLst/>
          </a:prstGeom>
          <a:noFill/>
          <a:ln/>
        </p:spPr>
        <p:txBody>
          <a:bodyPr wrap="square" lIns="0" tIns="0" rIns="0" bIns="0" rtlCol="0" anchor="ctr"/>
          <a:lstStyle/>
          <a:p>
            <a:pPr indent="0" marL="0">
              <a:buNone/>
            </a:pPr>
            <a:r>
              <a:rPr lang="en-US" sz="1500" dirty="0">
                <a:solidFill>
                  <a:schemeClr val="tx1"/>
                </a:solidFill>
              </a:rPr>
              <a:t>Bäume mit Fachbegriffen beschreiben und mit BinTree aufbauen</a:t>
            </a:r>
            <a:endParaRPr lang="en-US" sz="1500" dirty="0"/>
          </a:p>
        </p:txBody>
      </p:sp>
      <p:sp>
        <p:nvSpPr>
          <p:cNvPr id="54" name="Icon-Kreis"/>
          <p:cNvSpPr/>
          <p:nvPr/>
        </p:nvSpPr>
        <p:spPr>
          <a:xfrm>
            <a:off x="548640" y="4946904"/>
            <a:ext cx="274320" cy="274320"/>
          </a:xfrm>
          <a:prstGeom prst="ellipse">
            <a:avLst/>
          </a:prstGeom>
          <a:solidFill>
            <a:schemeClr val="accent3"/>
          </a:solidFill>
          <a:ln/>
        </p:spPr>
      </p:sp>
      <p:pic>
        <p:nvPicPr>
          <p:cNvPr id="55" name="Icon GiCheckMark" descr="preencoded.png">    </p:cNvPr>
          <p:cNvPicPr>
            <a:picLocks noChangeAspect="1"/>
          </p:cNvPicPr>
          <p:nvPr/>
        </p:nvPicPr>
        <p:blipFill>
          <a:blip r:embed="rId8"/>
          <a:stretch>
            <a:fillRect/>
          </a:stretch>
        </p:blipFill>
        <p:spPr>
          <a:xfrm>
            <a:off x="592531" y="4990795"/>
            <a:ext cx="186538" cy="186538"/>
          </a:xfrm>
          <a:prstGeom prst="rect">
            <a:avLst/>
          </a:prstGeom>
        </p:spPr>
      </p:pic>
      <p:sp>
        <p:nvSpPr>
          <p:cNvPr id="56" name="Text 46"/>
          <p:cNvSpPr txBox="1"/>
          <p:nvPr/>
        </p:nvSpPr>
        <p:spPr>
          <a:xfrm>
            <a:off x="960120" y="4919472"/>
            <a:ext cx="6355080" cy="329184"/>
          </a:xfrm>
          <a:prstGeom prst="rect">
            <a:avLst/>
          </a:prstGeom>
          <a:noFill/>
          <a:ln/>
        </p:spPr>
        <p:txBody>
          <a:bodyPr wrap="square" lIns="0" tIns="0" rIns="0" bIns="0" rtlCol="0" anchor="ctr"/>
          <a:lstStyle/>
          <a:p>
            <a:pPr indent="0" marL="0">
              <a:buNone/>
            </a:pPr>
            <a:r>
              <a:rPr lang="en-US" sz="1500" dirty="0">
                <a:solidFill>
                  <a:schemeClr val="tx1"/>
                </a:solidFill>
              </a:rPr>
              <a:t>pre-, in-, post- und level-order von Hand angeben</a:t>
            </a:r>
            <a:endParaRPr lang="en-US" sz="1500" dirty="0"/>
          </a:p>
        </p:txBody>
      </p:sp>
      <p:sp>
        <p:nvSpPr>
          <p:cNvPr id="57" name="Icon-Kreis"/>
          <p:cNvSpPr/>
          <p:nvPr/>
        </p:nvSpPr>
        <p:spPr>
          <a:xfrm>
            <a:off x="548640" y="5294376"/>
            <a:ext cx="274320" cy="274320"/>
          </a:xfrm>
          <a:prstGeom prst="ellipse">
            <a:avLst/>
          </a:prstGeom>
          <a:solidFill>
            <a:schemeClr val="accent3"/>
          </a:solidFill>
          <a:ln/>
        </p:spPr>
      </p:sp>
      <p:pic>
        <p:nvPicPr>
          <p:cNvPr id="58" name="Icon GiCheckMark" descr="preencoded.png">    </p:cNvPr>
          <p:cNvPicPr>
            <a:picLocks noChangeAspect="1"/>
          </p:cNvPicPr>
          <p:nvPr/>
        </p:nvPicPr>
        <p:blipFill>
          <a:blip r:embed="rId9"/>
          <a:stretch>
            <a:fillRect/>
          </a:stretch>
        </p:blipFill>
        <p:spPr>
          <a:xfrm>
            <a:off x="592531" y="5338267"/>
            <a:ext cx="186538" cy="186538"/>
          </a:xfrm>
          <a:prstGeom prst="rect">
            <a:avLst/>
          </a:prstGeom>
        </p:spPr>
      </p:pic>
      <p:sp>
        <p:nvSpPr>
          <p:cNvPr id="59" name="Text 48"/>
          <p:cNvSpPr txBox="1"/>
          <p:nvPr/>
        </p:nvSpPr>
        <p:spPr>
          <a:xfrm>
            <a:off x="960120" y="5266944"/>
            <a:ext cx="6355080" cy="329184"/>
          </a:xfrm>
          <a:prstGeom prst="rect">
            <a:avLst/>
          </a:prstGeom>
          <a:noFill/>
          <a:ln/>
        </p:spPr>
        <p:txBody>
          <a:bodyPr wrap="square" lIns="0" tIns="0" rIns="0" bIns="0" rtlCol="0" anchor="ctr"/>
          <a:lstStyle/>
          <a:p>
            <a:pPr indent="0" marL="0">
              <a:buNone/>
            </a:pPr>
            <a:r>
              <a:rPr lang="en-US" sz="1500" dirty="0">
                <a:solidFill>
                  <a:schemeClr val="tx1"/>
                </a:solidFill>
              </a:rPr>
              <a:t>rekursive Baumalgorithmen schreiben – auch als Struktogramm</a:t>
            </a:r>
            <a:endParaRPr lang="en-US" sz="1500" dirty="0"/>
          </a:p>
        </p:txBody>
      </p:sp>
      <p:sp>
        <p:nvSpPr>
          <p:cNvPr id="60" name="Icon-Kreis"/>
          <p:cNvSpPr/>
          <p:nvPr/>
        </p:nvSpPr>
        <p:spPr>
          <a:xfrm>
            <a:off x="548640" y="5641848"/>
            <a:ext cx="274320" cy="274320"/>
          </a:xfrm>
          <a:prstGeom prst="ellipse">
            <a:avLst/>
          </a:prstGeom>
          <a:solidFill>
            <a:schemeClr val="accent3"/>
          </a:solidFill>
          <a:ln/>
        </p:spPr>
      </p:sp>
      <p:pic>
        <p:nvPicPr>
          <p:cNvPr id="61" name="Icon GiCheckMark" descr="preencoded.png">    </p:cNvPr>
          <p:cNvPicPr>
            <a:picLocks noChangeAspect="1"/>
          </p:cNvPicPr>
          <p:nvPr/>
        </p:nvPicPr>
        <p:blipFill>
          <a:blip r:embed="rId10"/>
          <a:stretch>
            <a:fillRect/>
          </a:stretch>
        </p:blipFill>
        <p:spPr>
          <a:xfrm>
            <a:off x="592531" y="5685739"/>
            <a:ext cx="186538" cy="186538"/>
          </a:xfrm>
          <a:prstGeom prst="rect">
            <a:avLst/>
          </a:prstGeom>
        </p:spPr>
      </p:pic>
      <p:sp>
        <p:nvSpPr>
          <p:cNvPr id="62" name="Text 50"/>
          <p:cNvSpPr txBox="1"/>
          <p:nvPr/>
        </p:nvSpPr>
        <p:spPr>
          <a:xfrm>
            <a:off x="960120" y="5614416"/>
            <a:ext cx="6355080" cy="329184"/>
          </a:xfrm>
          <a:prstGeom prst="rect">
            <a:avLst/>
          </a:prstGeom>
          <a:noFill/>
          <a:ln/>
        </p:spPr>
        <p:txBody>
          <a:bodyPr wrap="square" lIns="0" tIns="0" rIns="0" bIns="0" rtlCol="0" anchor="ctr"/>
          <a:lstStyle/>
          <a:p>
            <a:pPr indent="0" marL="0">
              <a:buNone/>
            </a:pPr>
            <a:r>
              <a:rPr lang="en-US" sz="1500" dirty="0">
                <a:solidFill>
                  <a:schemeClr val="tx1"/>
                </a:solidFill>
              </a:rPr>
              <a:t>im Suchbaum suchen, einfügen, löschen und den Aufwand begründen</a:t>
            </a:r>
            <a:endParaRPr lang="en-US" sz="1500" dirty="0"/>
          </a:p>
        </p:txBody>
      </p:sp>
      <p:sp>
        <p:nvSpPr>
          <p:cNvPr id="63" name="Icon-Kreis"/>
          <p:cNvSpPr/>
          <p:nvPr/>
        </p:nvSpPr>
        <p:spPr>
          <a:xfrm>
            <a:off x="548640" y="5989320"/>
            <a:ext cx="274320" cy="274320"/>
          </a:xfrm>
          <a:prstGeom prst="ellipse">
            <a:avLst/>
          </a:prstGeom>
          <a:solidFill>
            <a:schemeClr val="accent3"/>
          </a:solidFill>
          <a:ln/>
        </p:spPr>
      </p:sp>
      <p:pic>
        <p:nvPicPr>
          <p:cNvPr id="64" name="Icon GiCheckMark" descr="preencoded.png">    </p:cNvPr>
          <p:cNvPicPr>
            <a:picLocks noChangeAspect="1"/>
          </p:cNvPicPr>
          <p:nvPr/>
        </p:nvPicPr>
        <p:blipFill>
          <a:blip r:embed="rId11"/>
          <a:stretch>
            <a:fillRect/>
          </a:stretch>
        </p:blipFill>
        <p:spPr>
          <a:xfrm>
            <a:off x="592531" y="6033211"/>
            <a:ext cx="186538" cy="186538"/>
          </a:xfrm>
          <a:prstGeom prst="rect">
            <a:avLst/>
          </a:prstGeom>
        </p:spPr>
      </p:pic>
      <p:sp>
        <p:nvSpPr>
          <p:cNvPr id="65" name="Text 52"/>
          <p:cNvSpPr txBox="1"/>
          <p:nvPr/>
        </p:nvSpPr>
        <p:spPr>
          <a:xfrm>
            <a:off x="960120" y="5961888"/>
            <a:ext cx="6355080" cy="329184"/>
          </a:xfrm>
          <a:prstGeom prst="rect">
            <a:avLst/>
          </a:prstGeom>
          <a:noFill/>
          <a:ln/>
        </p:spPr>
        <p:txBody>
          <a:bodyPr wrap="square" lIns="0" tIns="0" rIns="0" bIns="0" rtlCol="0" anchor="ctr"/>
          <a:lstStyle/>
          <a:p>
            <a:pPr indent="0" marL="0">
              <a:buNone/>
            </a:pPr>
            <a:r>
              <a:rPr lang="en-US" sz="1500" dirty="0">
                <a:solidFill>
                  <a:schemeClr val="tx1"/>
                </a:solidFill>
              </a:rPr>
              <a:t>eine unbekannte Baumart aus Material erschließen</a:t>
            </a:r>
            <a:endParaRPr lang="en-US" sz="1500" dirty="0"/>
          </a:p>
        </p:txBody>
      </p:sp>
      <p:sp>
        <p:nvSpPr>
          <p:cNvPr id="66" name="Lab-Uebersicht"/>
          <p:cNvSpPr/>
          <p:nvPr/>
        </p:nvSpPr>
        <p:spPr>
          <a:xfrm>
            <a:off x="7589520" y="4206240"/>
            <a:ext cx="4023360" cy="1920240"/>
          </a:xfrm>
          <a:prstGeom prst="roundRect">
            <a:avLst>
              <a:gd name="adj" fmla="val 5714"/>
            </a:avLst>
          </a:prstGeom>
          <a:solidFill>
            <a:schemeClr val="bg2"/>
          </a:solidFill>
          <a:ln/>
        </p:spPr>
      </p:sp>
      <p:sp>
        <p:nvSpPr>
          <p:cNvPr id="67" name="Text 54"/>
          <p:cNvSpPr txBox="1"/>
          <p:nvPr/>
        </p:nvSpPr>
        <p:spPr>
          <a:xfrm>
            <a:off x="7772400" y="4279392"/>
            <a:ext cx="3657600" cy="320040"/>
          </a:xfrm>
          <a:prstGeom prst="rect">
            <a:avLst/>
          </a:prstGeom>
          <a:noFill/>
          <a:ln/>
        </p:spPr>
        <p:txBody>
          <a:bodyPr wrap="square" lIns="0" tIns="0" rIns="0" bIns="0" rtlCol="0" anchor="t"/>
          <a:lstStyle/>
          <a:p>
            <a:pPr indent="0" marL="0">
              <a:buNone/>
            </a:pPr>
            <a:r>
              <a:rPr lang="en-US" sz="1700" b="1" dirty="0">
                <a:solidFill>
                  <a:schemeClr val="accent2"/>
                </a:solidFill>
              </a:rPr>
              <a:t>Algo Quest Lab in Welt 5</a:t>
            </a:r>
            <a:endParaRPr lang="en-US" sz="1700" dirty="0"/>
          </a:p>
        </p:txBody>
      </p:sp>
      <p:sp>
        <p:nvSpPr>
          <p:cNvPr id="68" name="Text 55"/>
          <p:cNvSpPr txBox="1"/>
          <p:nvPr/>
        </p:nvSpPr>
        <p:spPr>
          <a:xfrm>
            <a:off x="7772400" y="4617720"/>
            <a:ext cx="3749040" cy="1463040"/>
          </a:xfrm>
          <a:prstGeom prst="rect">
            <a:avLst/>
          </a:prstGeom>
          <a:noFill/>
          <a:ln/>
        </p:spPr>
        <p:txBody>
          <a:bodyPr wrap="square" lIns="0" tIns="0" rIns="0" bIns="0" rtlCol="0" anchor="t"/>
          <a:lstStyle/>
          <a:p>
            <a:pPr indent="0" marL="0">
              <a:buNone/>
            </a:pPr>
            <a:r>
              <a:rPr lang="en-US" sz="1400" b="1" dirty="0">
                <a:solidFill>
                  <a:schemeClr val="accent1"/>
                </a:solidFill>
              </a:rPr>
              <a:t>Level 5.1–5.6: </a:t>
            </a:r>
            <a:pPr indent="0" marL="0">
              <a:buNone/>
            </a:pPr>
            <a:r>
              <a:rPr lang="en-US" sz="1400" dirty="0">
                <a:solidFill>
                  <a:schemeClr val="tx1"/>
                </a:solidFill>
              </a:rPr>
              <a:t>automatisch geprüft</a:t>
            </a:r>
            <a:endParaRPr lang="en-US" sz="1400" dirty="0"/>
          </a:p>
          <a:p>
            <a:pPr indent="0" marL="0">
              <a:buNone/>
            </a:pPr>
            <a:r>
              <a:rPr lang="en-US" sz="1400" b="1" dirty="0">
                <a:solidFill>
                  <a:schemeClr val="accent1"/>
                </a:solidFill>
              </a:rPr>
              <a:t>Punkte: </a:t>
            </a:r>
            <a:pPr indent="0" marL="0">
              <a:buNone/>
            </a:pPr>
            <a:r>
              <a:rPr lang="en-US" sz="1400" dirty="0">
                <a:solidFill>
                  <a:schemeClr val="tx1"/>
                </a:solidFill>
              </a:rPr>
              <a:t>beim ersten Lösen, automatisch</a:t>
            </a:r>
            <a:endParaRPr lang="en-US" sz="1400" dirty="0"/>
          </a:p>
          <a:p>
            <a:pPr indent="0" marL="0">
              <a:buNone/>
            </a:pPr>
            <a:r>
              <a:rPr lang="en-US" sz="1400" b="1" dirty="0">
                <a:solidFill>
                  <a:schemeClr val="accent1"/>
                </a:solidFill>
              </a:rPr>
              <a:t>Trainingsplatz: </a:t>
            </a:r>
            <a:pPr indent="0" marL="0">
              <a:buNone/>
            </a:pPr>
            <a:r>
              <a:rPr lang="en-US" sz="1400" dirty="0">
                <a:solidFill>
                  <a:schemeClr val="tx1"/>
                </a:solidFill>
              </a:rPr>
              <a:t>Suchbaum, Traversierungen</a:t>
            </a:r>
            <a:endParaRPr lang="en-US" sz="1400" dirty="0"/>
          </a:p>
          <a:p>
            <a:pPr indent="0" marL="0">
              <a:buNone/>
            </a:pPr>
            <a:r>
              <a:rPr lang="en-US" sz="1400" b="1" dirty="0">
                <a:solidFill>
                  <a:schemeClr val="accent1"/>
                </a:solidFill>
              </a:rPr>
              <a:t>Online-Boss: </a:t>
            </a:r>
            <a:pPr indent="0" marL="0">
              <a:buNone/>
            </a:pPr>
            <a:r>
              <a:rPr lang="en-US" sz="1400" dirty="0">
                <a:solidFill>
                  <a:schemeClr val="tx1"/>
                </a:solidFill>
              </a:rPr>
              <a:t>Die drei Baumhüter</a:t>
            </a:r>
            <a:endParaRPr lang="en-US" sz="1400" dirty="0"/>
          </a:p>
          <a:p>
            <a:pPr indent="0" marL="0">
              <a:buNone/>
            </a:pPr>
            <a:r>
              <a:rPr lang="en-US" sz="1400" b="1" dirty="0">
                <a:solidFill>
                  <a:schemeClr val="accent1"/>
                </a:solidFill>
              </a:rPr>
              <a:t>Papier &amp; IDE: </a:t>
            </a:r>
            <a:pPr indent="0" marL="0">
              <a:buNone/>
            </a:pPr>
            <a:r>
              <a:rPr lang="en-US" sz="1400" dirty="0">
                <a:solidFill>
                  <a:schemeClr val="tx1"/>
                </a:solidFill>
              </a:rPr>
              <a:t>Abi-Training ohne Punkte</a:t>
            </a:r>
            <a:endParaRPr lang="en-US" sz="1400" dirty="0"/>
          </a:p>
        </p:txBody>
      </p:sp>
      <p:sp>
        <p:nvSpPr>
          <p:cNvPr id="69" name="Text 56"/>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Start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Einstieg: Bäume wachsen überall</a:t>
            </a:r>
            <a:endParaRPr lang="en-US" sz="3600" dirty="0"/>
          </a:p>
        </p:txBody>
      </p:sp>
      <p:sp>
        <p:nvSpPr>
          <p:cNvPr id="3" name="Papier-Kata"/>
          <p:cNvSpPr/>
          <p:nvPr/>
        </p:nvSpPr>
        <p:spPr>
          <a:xfrm>
            <a:off x="548640" y="1325880"/>
            <a:ext cx="576072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Chip"/>
          <p:cNvSpPr txBox="1"/>
          <p:nvPr/>
        </p:nvSpPr>
        <p:spPr>
          <a:xfrm>
            <a:off x="777240" y="1508760"/>
            <a:ext cx="3017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PAPIER · ohne Gerät · 10 min</a:t>
            </a:r>
            <a:endParaRPr lang="en-US" sz="1400" dirty="0"/>
          </a:p>
        </p:txBody>
      </p:sp>
      <p:sp>
        <p:nvSpPr>
          <p:cNvPr id="5" name="Text 3"/>
          <p:cNvSpPr txBox="1"/>
          <p:nvPr/>
        </p:nvSpPr>
        <p:spPr>
          <a:xfrm>
            <a:off x="777240" y="1965960"/>
            <a:ext cx="5303520" cy="384048"/>
          </a:xfrm>
          <a:prstGeom prst="rect">
            <a:avLst/>
          </a:prstGeom>
          <a:noFill/>
          <a:ln/>
        </p:spPr>
        <p:txBody>
          <a:bodyPr wrap="square" lIns="0" tIns="0" rIns="0" bIns="0" rtlCol="0" anchor="t"/>
          <a:lstStyle/>
          <a:p>
            <a:pPr indent="0" marL="0">
              <a:buNone/>
            </a:pPr>
            <a:r>
              <a:rPr lang="en-US" sz="2000" b="1" dirty="0">
                <a:solidFill>
                  <a:schemeClr val="accent1"/>
                </a:solidFill>
              </a:rPr>
              <a:t>Papier-Warm-up W5-01: Der Setzling</a:t>
            </a:r>
            <a:endParaRPr lang="en-US" sz="2000" dirty="0"/>
          </a:p>
        </p:txBody>
      </p:sp>
      <p:sp>
        <p:nvSpPr>
          <p:cNvPr id="6" name="Code"/>
          <p:cNvSpPr txBox="1"/>
          <p:nvPr/>
        </p:nvSpPr>
        <p:spPr>
          <a:xfrm>
            <a:off x="777240" y="2423160"/>
            <a:ext cx="5303520" cy="2206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(8);</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2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(3));</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3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4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5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(6));</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6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(14);</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7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8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(4));</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9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(7));</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(13));</a:t>
            </a:r>
            <a:endParaRPr lang="en-US" sz="1200" dirty="0"/>
          </a:p>
        </p:txBody>
      </p:sp>
      <p:sp>
        <p:nvSpPr>
          <p:cNvPr id="7" name="Text 5"/>
          <p:cNvSpPr txBox="1"/>
          <p:nvPr/>
        </p:nvSpPr>
        <p:spPr>
          <a:xfrm>
            <a:off x="777240" y="4754880"/>
            <a:ext cx="5349240" cy="12801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a) </a:t>
            </a:r>
            <a:pPr indent="0" marL="0">
              <a:spcAft>
                <a:spcPts val="400"/>
              </a:spcAft>
              <a:buNone/>
            </a:pPr>
            <a:r>
              <a:rPr lang="en-US" sz="1500" dirty="0">
                <a:solidFill>
                  <a:schemeClr val="tx1"/>
                </a:solidFill>
              </a:rPr>
              <a:t>Führe die Zeilen 1 bis 10 aus und zeichne den Baum b.</a:t>
            </a:r>
            <a:endParaRPr lang="en-US" sz="1500" dirty="0"/>
          </a:p>
          <a:p>
            <a:pPr indent="0" marL="0">
              <a:spcAft>
                <a:spcPts val="400"/>
              </a:spcAft>
              <a:buNone/>
            </a:pPr>
            <a:r>
              <a:rPr lang="en-US" sz="1500" b="1" dirty="0">
                <a:solidFill>
                  <a:schemeClr val="accent2"/>
                </a:solidFill>
              </a:rPr>
              <a:t>b) </a:t>
            </a:r>
            <a:pPr indent="0" marL="0">
              <a:spcAft>
                <a:spcPts val="400"/>
              </a:spcAft>
              <a:buNone/>
            </a:pPr>
            <a:r>
              <a:rPr lang="en-US" sz="1500" dirty="0">
                <a:solidFill>
                  <a:schemeClr val="tx1"/>
                </a:solidFill>
              </a:rPr>
              <a:t>Gib Wurzel, Blätter, innere Knoten, die Höhe und die Ebene des Knotens 7 an.</a:t>
            </a:r>
            <a:endParaRPr lang="en-US" sz="1500" dirty="0"/>
          </a:p>
        </p:txBody>
      </p:sp>
      <p:sp>
        <p:nvSpPr>
          <p:cNvPr id="8" name="Icon-Kreis"/>
          <p:cNvSpPr/>
          <p:nvPr/>
        </p:nvSpPr>
        <p:spPr>
          <a:xfrm>
            <a:off x="6583680" y="1417320"/>
            <a:ext cx="777240" cy="777240"/>
          </a:xfrm>
          <a:prstGeom prst="ellipse">
            <a:avLst/>
          </a:prstGeom>
          <a:solidFill>
            <a:schemeClr val="accent1"/>
          </a:solidFill>
          <a:ln/>
        </p:spPr>
      </p:sp>
      <p:pic>
        <p:nvPicPr>
          <p:cNvPr id="9" name="Icon GiFiles" descr="preencoded.png">    </p:cNvPr>
          <p:cNvPicPr>
            <a:picLocks noChangeAspect="1"/>
          </p:cNvPicPr>
          <p:nvPr/>
        </p:nvPicPr>
        <p:blipFill>
          <a:blip r:embed="rId1"/>
          <a:stretch>
            <a:fillRect/>
          </a:stretch>
        </p:blipFill>
        <p:spPr>
          <a:xfrm>
            <a:off x="6754673" y="1588313"/>
            <a:ext cx="435254" cy="435254"/>
          </a:xfrm>
          <a:prstGeom prst="rect">
            <a:avLst/>
          </a:prstGeom>
        </p:spPr>
      </p:pic>
      <p:sp>
        <p:nvSpPr>
          <p:cNvPr id="10" name="Text 7"/>
          <p:cNvSpPr txBox="1"/>
          <p:nvPr/>
        </p:nvSpPr>
        <p:spPr>
          <a:xfrm>
            <a:off x="7543800" y="1371600"/>
            <a:ext cx="4069080" cy="868680"/>
          </a:xfrm>
          <a:prstGeom prst="rect">
            <a:avLst/>
          </a:prstGeom>
          <a:noFill/>
          <a:ln/>
        </p:spPr>
        <p:txBody>
          <a:bodyPr wrap="square" lIns="0" tIns="0" rIns="0" bIns="0" rtlCol="0" anchor="ctr"/>
          <a:lstStyle/>
          <a:p>
            <a:pPr indent="0" marL="0">
              <a:buNone/>
            </a:pPr>
            <a:r>
              <a:rPr lang="en-US" sz="1800" b="1" dirty="0">
                <a:solidFill>
                  <a:schemeClr val="accent1"/>
                </a:solidFill>
              </a:rPr>
              <a:t>Ordner und Dateien</a:t>
            </a:r>
            <a:endParaRPr lang="en-US" sz="1800" dirty="0"/>
          </a:p>
          <a:p>
            <a:pPr indent="0" marL="0">
              <a:buNone/>
            </a:pPr>
            <a:r>
              <a:rPr lang="en-US" sz="1500" dirty="0">
                <a:solidFill>
                  <a:schemeClr val="tx1"/>
                </a:solidFill>
              </a:rPr>
              <a:t>Ein Ordner enthält Ordner – bis zur einzelnen Datei.</a:t>
            </a:r>
            <a:endParaRPr lang="en-US" sz="1800" dirty="0"/>
          </a:p>
        </p:txBody>
      </p:sp>
      <p:sp>
        <p:nvSpPr>
          <p:cNvPr id="11" name="Icon-Kreis"/>
          <p:cNvSpPr/>
          <p:nvPr/>
        </p:nvSpPr>
        <p:spPr>
          <a:xfrm>
            <a:off x="6583680" y="2441448"/>
            <a:ext cx="777240" cy="777240"/>
          </a:xfrm>
          <a:prstGeom prst="ellipse">
            <a:avLst/>
          </a:prstGeom>
          <a:solidFill>
            <a:schemeClr val="accent1"/>
          </a:solidFill>
          <a:ln/>
        </p:spPr>
      </p:sp>
      <p:pic>
        <p:nvPicPr>
          <p:cNvPr id="12" name="Icon GiTrophy" descr="preencoded.png">    </p:cNvPr>
          <p:cNvPicPr>
            <a:picLocks noChangeAspect="1"/>
          </p:cNvPicPr>
          <p:nvPr/>
        </p:nvPicPr>
        <p:blipFill>
          <a:blip r:embed="rId2"/>
          <a:stretch>
            <a:fillRect/>
          </a:stretch>
        </p:blipFill>
        <p:spPr>
          <a:xfrm>
            <a:off x="6754673" y="2612441"/>
            <a:ext cx="435254" cy="435254"/>
          </a:xfrm>
          <a:prstGeom prst="rect">
            <a:avLst/>
          </a:prstGeom>
        </p:spPr>
      </p:pic>
      <p:sp>
        <p:nvSpPr>
          <p:cNvPr id="13" name="Text 9"/>
          <p:cNvSpPr txBox="1"/>
          <p:nvPr/>
        </p:nvSpPr>
        <p:spPr>
          <a:xfrm>
            <a:off x="7543800" y="2395728"/>
            <a:ext cx="4069080" cy="868680"/>
          </a:xfrm>
          <a:prstGeom prst="rect">
            <a:avLst/>
          </a:prstGeom>
          <a:noFill/>
          <a:ln/>
        </p:spPr>
        <p:txBody>
          <a:bodyPr wrap="square" lIns="0" tIns="0" rIns="0" bIns="0" rtlCol="0" anchor="ctr"/>
          <a:lstStyle/>
          <a:p>
            <a:pPr indent="0" marL="0">
              <a:buNone/>
            </a:pPr>
            <a:r>
              <a:rPr lang="en-US" sz="1800" b="1" dirty="0">
                <a:solidFill>
                  <a:schemeClr val="accent1"/>
                </a:solidFill>
              </a:rPr>
              <a:t>Turnierbaum</a:t>
            </a:r>
            <a:endParaRPr lang="en-US" sz="1800" dirty="0"/>
          </a:p>
          <a:p>
            <a:pPr indent="0" marL="0">
              <a:buNone/>
            </a:pPr>
            <a:r>
              <a:rPr lang="en-US" sz="1500" dirty="0">
                <a:solidFill>
                  <a:schemeClr val="tx1"/>
                </a:solidFill>
              </a:rPr>
              <a:t>Zwei Spiele führen zu einem Sieger, bis zum Finale.</a:t>
            </a:r>
            <a:endParaRPr lang="en-US" sz="1800" dirty="0"/>
          </a:p>
        </p:txBody>
      </p:sp>
      <p:sp>
        <p:nvSpPr>
          <p:cNvPr id="14" name="Icon-Kreis"/>
          <p:cNvSpPr/>
          <p:nvPr/>
        </p:nvSpPr>
        <p:spPr>
          <a:xfrm>
            <a:off x="6583680" y="3465576"/>
            <a:ext cx="777240" cy="777240"/>
          </a:xfrm>
          <a:prstGeom prst="ellipse">
            <a:avLst/>
          </a:prstGeom>
          <a:solidFill>
            <a:schemeClr val="accent1"/>
          </a:solidFill>
          <a:ln/>
        </p:spPr>
      </p:sp>
      <p:pic>
        <p:nvPicPr>
          <p:cNvPr id="15" name="Icon GiCrystalBall" descr="preencoded.png">    </p:cNvPr>
          <p:cNvPicPr>
            <a:picLocks noChangeAspect="1"/>
          </p:cNvPicPr>
          <p:nvPr/>
        </p:nvPicPr>
        <p:blipFill>
          <a:blip r:embed="rId3"/>
          <a:stretch>
            <a:fillRect/>
          </a:stretch>
        </p:blipFill>
        <p:spPr>
          <a:xfrm>
            <a:off x="6754673" y="3636569"/>
            <a:ext cx="435254" cy="435254"/>
          </a:xfrm>
          <a:prstGeom prst="rect">
            <a:avLst/>
          </a:prstGeom>
        </p:spPr>
      </p:pic>
      <p:sp>
        <p:nvSpPr>
          <p:cNvPr id="16" name="Text 11"/>
          <p:cNvSpPr txBox="1"/>
          <p:nvPr/>
        </p:nvSpPr>
        <p:spPr>
          <a:xfrm>
            <a:off x="7543800" y="3419856"/>
            <a:ext cx="4069080" cy="868680"/>
          </a:xfrm>
          <a:prstGeom prst="rect">
            <a:avLst/>
          </a:prstGeom>
          <a:noFill/>
          <a:ln/>
        </p:spPr>
        <p:txBody>
          <a:bodyPr wrap="square" lIns="0" tIns="0" rIns="0" bIns="0" rtlCol="0" anchor="ctr"/>
          <a:lstStyle/>
          <a:p>
            <a:pPr indent="0" marL="0">
              <a:buNone/>
            </a:pPr>
            <a:r>
              <a:rPr lang="en-US" sz="1800" b="1" dirty="0">
                <a:solidFill>
                  <a:schemeClr val="accent1"/>
                </a:solidFill>
              </a:rPr>
              <a:t>Entscheidungsbaum</a:t>
            </a:r>
            <a:endParaRPr lang="en-US" sz="1800" dirty="0"/>
          </a:p>
          <a:p>
            <a:pPr indent="0" marL="0">
              <a:buNone/>
            </a:pPr>
            <a:r>
              <a:rPr lang="en-US" sz="1500" dirty="0">
                <a:solidFill>
                  <a:schemeClr val="tx1"/>
                </a:solidFill>
              </a:rPr>
              <a:t>Ja/Nein-Fragen führen zur Antwort – unser Akinator.</a:t>
            </a:r>
            <a:endParaRPr lang="en-US" sz="1800" dirty="0"/>
          </a:p>
        </p:txBody>
      </p:sp>
      <p:sp>
        <p:nvSpPr>
          <p:cNvPr id="17" name="Leitfrage"/>
          <p:cNvSpPr/>
          <p:nvPr/>
        </p:nvSpPr>
        <p:spPr>
          <a:xfrm>
            <a:off x="6583680" y="4572000"/>
            <a:ext cx="5029200" cy="1554480"/>
          </a:xfrm>
          <a:prstGeom prst="roundRect">
            <a:avLst>
              <a:gd name="adj" fmla="val 7059"/>
            </a:avLst>
          </a:prstGeom>
          <a:solidFill>
            <a:schemeClr val="bg2"/>
          </a:solidFill>
          <a:ln/>
        </p:spPr>
      </p:sp>
      <p:sp>
        <p:nvSpPr>
          <p:cNvPr id="18" name="Text 13"/>
          <p:cNvSpPr txBox="1"/>
          <p:nvPr/>
        </p:nvSpPr>
        <p:spPr>
          <a:xfrm>
            <a:off x="6784848" y="4572000"/>
            <a:ext cx="4663440" cy="1554480"/>
          </a:xfrm>
          <a:prstGeom prst="rect">
            <a:avLst/>
          </a:prstGeom>
          <a:noFill/>
          <a:ln/>
        </p:spPr>
        <p:txBody>
          <a:bodyPr wrap="square" lIns="0" tIns="0" rIns="0" bIns="0" rtlCol="0" anchor="ctr"/>
          <a:lstStyle/>
          <a:p>
            <a:pPr indent="0" marL="0">
              <a:buNone/>
            </a:pPr>
            <a:r>
              <a:rPr lang="en-US" sz="1600" b="1" dirty="0">
                <a:solidFill>
                  <a:schemeClr val="accent1"/>
                </a:solidFill>
              </a:rPr>
              <a:t>Leitfrage: </a:t>
            </a:r>
            <a:pPr indent="0" marL="0">
              <a:buNone/>
            </a:pPr>
            <a:r>
              <a:rPr lang="en-US" sz="1600" dirty="0">
                <a:solidFill>
                  <a:schemeClr val="tx1"/>
                </a:solidFill>
              </a:rPr>
              <a:t>Was haben diese Bilder gemeinsam? Oben ein Anfang, jede Verzweigung teilt das Problem – und unten ist Schluss.</a:t>
            </a:r>
            <a:endParaRPr lang="en-US" sz="1600" dirty="0"/>
          </a:p>
        </p:txBody>
      </p:sp>
      <p:sp>
        <p:nvSpPr>
          <p:cNvPr id="19" name="Text 14"/>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Einstieg · Warm-up W5-01</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Baumbegriffe am Beispiel beispielBST()</a:t>
            </a:r>
            <a:endParaRPr lang="en-US" sz="3600" dirty="0"/>
          </a:p>
        </p:txBody>
      </p:sp>
      <p:sp>
        <p:nvSpPr>
          <p:cNvPr id="3" name="Kante 3-1"/>
          <p:cNvSpPr/>
          <p:nvPr/>
        </p:nvSpPr>
        <p:spPr>
          <a:xfrm flipH="1">
            <a:off x="1939391" y="2770632"/>
            <a:ext cx="756549" cy="996696"/>
          </a:xfrm>
          <a:prstGeom prst="line">
            <a:avLst/>
          </a:prstGeom>
          <a:noFill/>
          <a:ln w="22225">
            <a:solidFill>
              <a:schemeClr val="accent1"/>
            </a:solidFill>
            <a:prstDash val="solid"/>
          </a:ln>
        </p:spPr>
      </p:sp>
      <p:sp>
        <p:nvSpPr>
          <p:cNvPr id="4" name="Kante 6-4"/>
          <p:cNvSpPr/>
          <p:nvPr/>
        </p:nvSpPr>
        <p:spPr>
          <a:xfrm flipH="1">
            <a:off x="2948122" y="3767328"/>
            <a:ext cx="504366" cy="996696"/>
          </a:xfrm>
          <a:prstGeom prst="line">
            <a:avLst/>
          </a:prstGeom>
          <a:noFill/>
          <a:ln w="22225">
            <a:solidFill>
              <a:schemeClr val="accent1"/>
            </a:solidFill>
            <a:prstDash val="solid"/>
          </a:ln>
        </p:spPr>
      </p:sp>
      <p:sp>
        <p:nvSpPr>
          <p:cNvPr id="5" name="Kante 6-7"/>
          <p:cNvSpPr/>
          <p:nvPr/>
        </p:nvSpPr>
        <p:spPr>
          <a:xfrm>
            <a:off x="3452488" y="3767328"/>
            <a:ext cx="504366" cy="996696"/>
          </a:xfrm>
          <a:prstGeom prst="line">
            <a:avLst/>
          </a:prstGeom>
          <a:noFill/>
          <a:ln w="22225">
            <a:solidFill>
              <a:schemeClr val="accent1"/>
            </a:solidFill>
            <a:prstDash val="solid"/>
          </a:ln>
        </p:spPr>
      </p:sp>
      <p:sp>
        <p:nvSpPr>
          <p:cNvPr id="6" name="Kante 3-6"/>
          <p:cNvSpPr/>
          <p:nvPr/>
        </p:nvSpPr>
        <p:spPr>
          <a:xfrm>
            <a:off x="2695939" y="2770632"/>
            <a:ext cx="756549" cy="996696"/>
          </a:xfrm>
          <a:prstGeom prst="line">
            <a:avLst/>
          </a:prstGeom>
          <a:noFill/>
          <a:ln w="22225">
            <a:solidFill>
              <a:schemeClr val="accent1"/>
            </a:solidFill>
            <a:prstDash val="solid"/>
          </a:ln>
        </p:spPr>
      </p:sp>
      <p:sp>
        <p:nvSpPr>
          <p:cNvPr id="7" name="Kante 8-3"/>
          <p:cNvSpPr/>
          <p:nvPr/>
        </p:nvSpPr>
        <p:spPr>
          <a:xfrm flipH="1">
            <a:off x="2695939" y="1773936"/>
            <a:ext cx="1361539" cy="996696"/>
          </a:xfrm>
          <a:prstGeom prst="line">
            <a:avLst/>
          </a:prstGeom>
          <a:noFill/>
          <a:ln w="22225">
            <a:solidFill>
              <a:schemeClr val="accent1"/>
            </a:solidFill>
            <a:prstDash val="solid"/>
          </a:ln>
        </p:spPr>
      </p:sp>
      <p:sp>
        <p:nvSpPr>
          <p:cNvPr id="8" name="Kante 14-13"/>
          <p:cNvSpPr/>
          <p:nvPr/>
        </p:nvSpPr>
        <p:spPr>
          <a:xfrm flipH="1">
            <a:off x="5627897" y="3767328"/>
            <a:ext cx="417761" cy="996696"/>
          </a:xfrm>
          <a:prstGeom prst="line">
            <a:avLst/>
          </a:prstGeom>
          <a:noFill/>
          <a:ln w="22225">
            <a:solidFill>
              <a:schemeClr val="accent1"/>
            </a:solidFill>
            <a:prstDash val="solid"/>
          </a:ln>
        </p:spPr>
      </p:sp>
      <p:sp>
        <p:nvSpPr>
          <p:cNvPr id="9" name="Kante 10-14"/>
          <p:cNvSpPr/>
          <p:nvPr/>
        </p:nvSpPr>
        <p:spPr>
          <a:xfrm>
            <a:off x="5419017" y="2770632"/>
            <a:ext cx="626641" cy="996696"/>
          </a:xfrm>
          <a:prstGeom prst="line">
            <a:avLst/>
          </a:prstGeom>
          <a:noFill/>
          <a:ln w="22225">
            <a:solidFill>
              <a:schemeClr val="accent1"/>
            </a:solidFill>
            <a:prstDash val="solid"/>
          </a:ln>
        </p:spPr>
      </p:sp>
      <p:sp>
        <p:nvSpPr>
          <p:cNvPr id="10" name="Kante 8-10"/>
          <p:cNvSpPr/>
          <p:nvPr/>
        </p:nvSpPr>
        <p:spPr>
          <a:xfrm>
            <a:off x="4057478" y="1773936"/>
            <a:ext cx="1361539" cy="996696"/>
          </a:xfrm>
          <a:prstGeom prst="line">
            <a:avLst/>
          </a:prstGeom>
          <a:noFill/>
          <a:ln w="22225">
            <a:solidFill>
              <a:schemeClr val="accent1"/>
            </a:solidFill>
            <a:prstDash val="solid"/>
          </a:ln>
        </p:spPr>
      </p:sp>
      <p:sp>
        <p:nvSpPr>
          <p:cNvPr id="11" name="Knoten 1"/>
          <p:cNvSpPr txBox="1"/>
          <p:nvPr/>
        </p:nvSpPr>
        <p:spPr>
          <a:xfrm>
            <a:off x="1674215" y="3502152"/>
            <a:ext cx="530352" cy="530352"/>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800" b="1" dirty="0">
                <a:solidFill>
                  <a:schemeClr val="accent3"/>
                </a:solidFill>
              </a:rPr>
              <a:t>1</a:t>
            </a:r>
            <a:endParaRPr lang="en-US" sz="1800" dirty="0"/>
          </a:p>
        </p:txBody>
      </p:sp>
      <p:sp>
        <p:nvSpPr>
          <p:cNvPr id="12" name="Knoten 4"/>
          <p:cNvSpPr txBox="1"/>
          <p:nvPr/>
        </p:nvSpPr>
        <p:spPr>
          <a:xfrm>
            <a:off x="2682946" y="4498848"/>
            <a:ext cx="530352" cy="530352"/>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800" b="1" dirty="0">
                <a:solidFill>
                  <a:schemeClr val="accent3"/>
                </a:solidFill>
              </a:rPr>
              <a:t>4</a:t>
            </a:r>
            <a:endParaRPr lang="en-US" sz="1800" dirty="0"/>
          </a:p>
        </p:txBody>
      </p:sp>
      <p:sp>
        <p:nvSpPr>
          <p:cNvPr id="13" name="Knoten 7"/>
          <p:cNvSpPr txBox="1"/>
          <p:nvPr/>
        </p:nvSpPr>
        <p:spPr>
          <a:xfrm>
            <a:off x="3691678" y="4498848"/>
            <a:ext cx="530352" cy="530352"/>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800" b="1" dirty="0">
                <a:solidFill>
                  <a:schemeClr val="accent3"/>
                </a:solidFill>
              </a:rPr>
              <a:t>7</a:t>
            </a:r>
            <a:endParaRPr lang="en-US" sz="1800" dirty="0"/>
          </a:p>
        </p:txBody>
      </p:sp>
      <p:sp>
        <p:nvSpPr>
          <p:cNvPr id="14" name="Knoten 6"/>
          <p:cNvSpPr txBox="1"/>
          <p:nvPr/>
        </p:nvSpPr>
        <p:spPr>
          <a:xfrm>
            <a:off x="3187312" y="3502152"/>
            <a:ext cx="530352" cy="53035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6</a:t>
            </a:r>
            <a:endParaRPr lang="en-US" sz="1800" dirty="0"/>
          </a:p>
        </p:txBody>
      </p:sp>
      <p:sp>
        <p:nvSpPr>
          <p:cNvPr id="15" name="Knoten 3"/>
          <p:cNvSpPr txBox="1"/>
          <p:nvPr/>
        </p:nvSpPr>
        <p:spPr>
          <a:xfrm>
            <a:off x="2430763" y="2505456"/>
            <a:ext cx="530352" cy="53035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6" name="Knoten 13"/>
          <p:cNvSpPr txBox="1"/>
          <p:nvPr/>
        </p:nvSpPr>
        <p:spPr>
          <a:xfrm>
            <a:off x="5362721" y="4498848"/>
            <a:ext cx="530352" cy="530352"/>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800" b="1" dirty="0">
                <a:solidFill>
                  <a:schemeClr val="accent3"/>
                </a:solidFill>
              </a:rPr>
              <a:t>13</a:t>
            </a:r>
            <a:endParaRPr lang="en-US" sz="1800" dirty="0"/>
          </a:p>
        </p:txBody>
      </p:sp>
      <p:sp>
        <p:nvSpPr>
          <p:cNvPr id="17" name="Knoten 14"/>
          <p:cNvSpPr txBox="1"/>
          <p:nvPr/>
        </p:nvSpPr>
        <p:spPr>
          <a:xfrm>
            <a:off x="5780482" y="3502152"/>
            <a:ext cx="530352" cy="53035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14</a:t>
            </a:r>
            <a:endParaRPr lang="en-US" sz="1800" dirty="0"/>
          </a:p>
        </p:txBody>
      </p:sp>
      <p:sp>
        <p:nvSpPr>
          <p:cNvPr id="18" name="Knoten 10"/>
          <p:cNvSpPr txBox="1"/>
          <p:nvPr/>
        </p:nvSpPr>
        <p:spPr>
          <a:xfrm>
            <a:off x="5153841" y="2505456"/>
            <a:ext cx="530352" cy="53035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10</a:t>
            </a:r>
            <a:endParaRPr lang="en-US" sz="1800" dirty="0"/>
          </a:p>
        </p:txBody>
      </p:sp>
      <p:sp>
        <p:nvSpPr>
          <p:cNvPr id="19" name="Knoten 8"/>
          <p:cNvSpPr txBox="1"/>
          <p:nvPr/>
        </p:nvSpPr>
        <p:spPr>
          <a:xfrm>
            <a:off x="3792302" y="1508760"/>
            <a:ext cx="530352" cy="530352"/>
          </a:xfrm>
          <a:prstGeom prst="ellipse">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20" name="Text 18"/>
          <p:cNvSpPr txBox="1"/>
          <p:nvPr/>
        </p:nvSpPr>
        <p:spPr>
          <a:xfrm>
            <a:off x="548640" y="1636776"/>
            <a:ext cx="777240" cy="274320"/>
          </a:xfrm>
          <a:prstGeom prst="rect">
            <a:avLst/>
          </a:prstGeom>
          <a:noFill/>
          <a:ln/>
        </p:spPr>
        <p:txBody>
          <a:bodyPr wrap="square" lIns="0" tIns="0" rIns="0" bIns="0" rtlCol="0" anchor="ctr"/>
          <a:lstStyle/>
          <a:p>
            <a:pPr indent="0" marL="0">
              <a:buNone/>
            </a:pPr>
            <a:r>
              <a:rPr lang="en-US" sz="1200" i="1" dirty="0">
                <a:solidFill>
                  <a:schemeClr val="accent6"/>
                </a:solidFill>
              </a:rPr>
              <a:t>Ebene 0</a:t>
            </a:r>
            <a:endParaRPr lang="en-US" sz="1200" dirty="0"/>
          </a:p>
        </p:txBody>
      </p:sp>
      <p:sp>
        <p:nvSpPr>
          <p:cNvPr id="21" name="Text 19"/>
          <p:cNvSpPr txBox="1"/>
          <p:nvPr/>
        </p:nvSpPr>
        <p:spPr>
          <a:xfrm>
            <a:off x="548640" y="2633472"/>
            <a:ext cx="777240" cy="274320"/>
          </a:xfrm>
          <a:prstGeom prst="rect">
            <a:avLst/>
          </a:prstGeom>
          <a:noFill/>
          <a:ln/>
        </p:spPr>
        <p:txBody>
          <a:bodyPr wrap="square" lIns="0" tIns="0" rIns="0" bIns="0" rtlCol="0" anchor="ctr"/>
          <a:lstStyle/>
          <a:p>
            <a:pPr indent="0" marL="0">
              <a:buNone/>
            </a:pPr>
            <a:r>
              <a:rPr lang="en-US" sz="1200" i="1" dirty="0">
                <a:solidFill>
                  <a:schemeClr val="accent6"/>
                </a:solidFill>
              </a:rPr>
              <a:t>Ebene 1</a:t>
            </a:r>
            <a:endParaRPr lang="en-US" sz="1200" dirty="0"/>
          </a:p>
        </p:txBody>
      </p:sp>
      <p:sp>
        <p:nvSpPr>
          <p:cNvPr id="22" name="Text 20"/>
          <p:cNvSpPr txBox="1"/>
          <p:nvPr/>
        </p:nvSpPr>
        <p:spPr>
          <a:xfrm>
            <a:off x="548640" y="3630168"/>
            <a:ext cx="777240" cy="274320"/>
          </a:xfrm>
          <a:prstGeom prst="rect">
            <a:avLst/>
          </a:prstGeom>
          <a:noFill/>
          <a:ln/>
        </p:spPr>
        <p:txBody>
          <a:bodyPr wrap="square" lIns="0" tIns="0" rIns="0" bIns="0" rtlCol="0" anchor="ctr"/>
          <a:lstStyle/>
          <a:p>
            <a:pPr indent="0" marL="0">
              <a:buNone/>
            </a:pPr>
            <a:r>
              <a:rPr lang="en-US" sz="1200" i="1" dirty="0">
                <a:solidFill>
                  <a:schemeClr val="accent6"/>
                </a:solidFill>
              </a:rPr>
              <a:t>Ebene 2</a:t>
            </a:r>
            <a:endParaRPr lang="en-US" sz="1200" dirty="0"/>
          </a:p>
        </p:txBody>
      </p:sp>
      <p:sp>
        <p:nvSpPr>
          <p:cNvPr id="23" name="Text 21"/>
          <p:cNvSpPr txBox="1"/>
          <p:nvPr/>
        </p:nvSpPr>
        <p:spPr>
          <a:xfrm>
            <a:off x="548640" y="4626864"/>
            <a:ext cx="777240" cy="274320"/>
          </a:xfrm>
          <a:prstGeom prst="rect">
            <a:avLst/>
          </a:prstGeom>
          <a:noFill/>
          <a:ln/>
        </p:spPr>
        <p:txBody>
          <a:bodyPr wrap="square" lIns="0" tIns="0" rIns="0" bIns="0" rtlCol="0" anchor="ctr"/>
          <a:lstStyle/>
          <a:p>
            <a:pPr indent="0" marL="0">
              <a:buNone/>
            </a:pPr>
            <a:r>
              <a:rPr lang="en-US" sz="1200" i="1" dirty="0">
                <a:solidFill>
                  <a:schemeClr val="accent6"/>
                </a:solidFill>
              </a:rPr>
              <a:t>Ebene 3</a:t>
            </a:r>
            <a:endParaRPr lang="en-US" sz="1200" dirty="0"/>
          </a:p>
        </p:txBody>
      </p:sp>
      <p:sp>
        <p:nvSpPr>
          <p:cNvPr id="24" name="Teilbaum 3"/>
          <p:cNvSpPr/>
          <p:nvPr/>
        </p:nvSpPr>
        <p:spPr>
          <a:xfrm>
            <a:off x="1555343" y="2386584"/>
            <a:ext cx="2785559" cy="2761488"/>
          </a:xfrm>
          <a:prstGeom prst="roundRect">
            <a:avLst>
              <a:gd name="adj" fmla="val 8278"/>
            </a:avLst>
          </a:prstGeom>
          <a:ln w="25400">
            <a:solidFill>
              <a:schemeClr val="accent2"/>
            </a:solidFill>
            <a:prstDash val="dash"/>
          </a:ln>
        </p:spPr>
      </p:sp>
      <p:sp>
        <p:nvSpPr>
          <p:cNvPr id="25" name="Text 23"/>
          <p:cNvSpPr txBox="1"/>
          <p:nvPr/>
        </p:nvSpPr>
        <p:spPr>
          <a:xfrm>
            <a:off x="1555343" y="5175504"/>
            <a:ext cx="2926080" cy="274320"/>
          </a:xfrm>
          <a:prstGeom prst="rect">
            <a:avLst/>
          </a:prstGeom>
          <a:noFill/>
          <a:ln/>
        </p:spPr>
        <p:txBody>
          <a:bodyPr wrap="square" lIns="0" tIns="0" rIns="0" bIns="0" rtlCol="0" anchor="t"/>
          <a:lstStyle/>
          <a:p>
            <a:pPr indent="0" marL="0">
              <a:buNone/>
            </a:pPr>
            <a:r>
              <a:rPr lang="en-US" sz="1300" b="1" i="1" dirty="0">
                <a:solidFill>
                  <a:schemeClr val="accent2"/>
                </a:solidFill>
              </a:rPr>
              <a:t>linker Teilbaum der Wurzel</a:t>
            </a:r>
            <a:endParaRPr lang="en-US" sz="1300" dirty="0"/>
          </a:p>
        </p:txBody>
      </p:sp>
      <p:sp>
        <p:nvSpPr>
          <p:cNvPr id="26" name="Text 24"/>
          <p:cNvSpPr txBox="1"/>
          <p:nvPr/>
        </p:nvSpPr>
        <p:spPr>
          <a:xfrm>
            <a:off x="4423238" y="1609344"/>
            <a:ext cx="1097280" cy="274320"/>
          </a:xfrm>
          <a:prstGeom prst="rect">
            <a:avLst/>
          </a:prstGeom>
          <a:noFill/>
          <a:ln/>
        </p:spPr>
        <p:txBody>
          <a:bodyPr wrap="square" lIns="0" tIns="0" rIns="0" bIns="0" rtlCol="0" anchor="t"/>
          <a:lstStyle/>
          <a:p>
            <a:pPr indent="0" marL="0">
              <a:buNone/>
            </a:pPr>
            <a:r>
              <a:rPr lang="en-US" sz="1500" b="1" dirty="0">
                <a:solidFill>
                  <a:schemeClr val="accent1"/>
                </a:solidFill>
              </a:rPr>
              <a:t>Wurzel</a:t>
            </a:r>
            <a:endParaRPr lang="en-US" sz="1500" dirty="0"/>
          </a:p>
        </p:txBody>
      </p:sp>
      <p:sp>
        <p:nvSpPr>
          <p:cNvPr id="27" name="Text 25"/>
          <p:cNvSpPr txBox="1"/>
          <p:nvPr/>
        </p:nvSpPr>
        <p:spPr>
          <a:xfrm>
            <a:off x="5748201" y="2606040"/>
            <a:ext cx="1463040" cy="274320"/>
          </a:xfrm>
          <a:prstGeom prst="rect">
            <a:avLst/>
          </a:prstGeom>
          <a:noFill/>
          <a:ln/>
        </p:spPr>
        <p:txBody>
          <a:bodyPr wrap="square" lIns="0" tIns="0" rIns="0" bIns="0" rtlCol="0" anchor="t"/>
          <a:lstStyle/>
          <a:p>
            <a:pPr indent="0" marL="0">
              <a:buNone/>
            </a:pPr>
            <a:r>
              <a:rPr lang="en-US" sz="1400" b="1" dirty="0">
                <a:solidFill>
                  <a:schemeClr val="accent1"/>
                </a:solidFill>
              </a:rPr>
              <a:t>innerer Knoten</a:t>
            </a:r>
            <a:endParaRPr lang="en-US" sz="1400" dirty="0"/>
          </a:p>
        </p:txBody>
      </p:sp>
      <p:sp>
        <p:nvSpPr>
          <p:cNvPr id="28" name="Text 26"/>
          <p:cNvSpPr txBox="1"/>
          <p:nvPr/>
        </p:nvSpPr>
        <p:spPr>
          <a:xfrm>
            <a:off x="4667777" y="4626864"/>
            <a:ext cx="640080" cy="274320"/>
          </a:xfrm>
          <a:prstGeom prst="rect">
            <a:avLst/>
          </a:prstGeom>
          <a:noFill/>
          <a:ln/>
        </p:spPr>
        <p:txBody>
          <a:bodyPr wrap="square" lIns="0" tIns="0" rIns="0" bIns="0" rtlCol="0" anchor="t"/>
          <a:lstStyle/>
          <a:p>
            <a:pPr algn="r" indent="0" marL="0">
              <a:buNone/>
            </a:pPr>
            <a:r>
              <a:rPr lang="en-US" sz="1400" b="1" dirty="0">
                <a:solidFill>
                  <a:schemeClr val="accent3"/>
                </a:solidFill>
              </a:rPr>
              <a:t>Blatt</a:t>
            </a:r>
            <a:endParaRPr lang="en-US" sz="1400" dirty="0"/>
          </a:p>
        </p:txBody>
      </p:sp>
      <p:graphicFrame>
        <p:nvGraphicFramePr>
          <p:cNvPr id="5" name="Begriffe"/>
          <p:cNvGraphicFramePr>
            <a:graphicFrameLocks noGrp="1"/>
          </p:cNvGraphicFramePr>
          <p:nvPr>
            <p:extLst>
              <p:ext uri="{D42A27DB-BD31-4B8C-83A1-F6EECF244321}">
                <p14:modId xmlns:p14="http://schemas.microsoft.com/office/powerpoint/2010/main" val="1579011935"/>
              </p:ext>
            </p:extLst>
          </p:nvPr>
        </p:nvGraphicFramePr>
        <p:xfrm>
          <a:off x="7086600" y="1325880"/>
          <a:ext cx="4526280" cy="914400"/>
        </p:xfrm>
        <a:graphic>
          <a:graphicData uri="http://schemas.openxmlformats.org/drawingml/2006/table">
            <a:tbl>
              <a:tblPr/>
              <a:tblGrid>
                <a:gridCol w="1463040"/>
                <a:gridCol w="3063240"/>
              </a:tblGrid>
              <a:tr h="438912">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Wurzel</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oberster Knoten (hier 8)</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Blatt</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Knoten ohne Kinder (1, 4, 7, 13)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innerer Knoten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Knoten mit mindestens einem Kind</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Teilbaum</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ein Kind mit allem darunter</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Ebene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Abstand zur Wurzel (Wurzel: 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algn="l" indent="0" marL="0">
                        <a:buNone/>
                      </a:pPr>
                      <a:r>
                        <a:rPr lang="en-US" sz="1500" b="1" dirty="0">
                          <a:solidFill>
                            <a:schemeClr val="accent1"/>
                          </a:solidFill>
                          <a:latin typeface="Calibri" pitchFamily="34" charset="0"/>
                          <a:ea typeface="Calibri" pitchFamily="34" charset="-122"/>
                          <a:cs typeface="Calibri" pitchFamily="34" charset="-120"/>
                        </a:rPr>
                        <a:t>Höhe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Anzahl der Ebenen – hier 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30" name="Hoehe"/>
          <p:cNvSpPr/>
          <p:nvPr/>
        </p:nvSpPr>
        <p:spPr>
          <a:xfrm>
            <a:off x="7086600" y="4114800"/>
            <a:ext cx="4526280" cy="1143000"/>
          </a:xfrm>
          <a:prstGeom prst="roundRect">
            <a:avLst>
              <a:gd name="adj" fmla="val 9600"/>
            </a:avLst>
          </a:prstGeom>
          <a:solidFill>
            <a:schemeClr val="bg2"/>
          </a:solidFill>
          <a:ln/>
        </p:spPr>
      </p:sp>
      <p:sp>
        <p:nvSpPr>
          <p:cNvPr id="31" name="Text 28"/>
          <p:cNvSpPr txBox="1"/>
          <p:nvPr/>
        </p:nvSpPr>
        <p:spPr>
          <a:xfrm>
            <a:off x="7287768" y="4114800"/>
            <a:ext cx="4160520" cy="1143000"/>
          </a:xfrm>
          <a:prstGeom prst="rect">
            <a:avLst/>
          </a:prstGeom>
          <a:noFill/>
          <a:ln/>
        </p:spPr>
        <p:txBody>
          <a:bodyPr wrap="square" lIns="0" tIns="0" rIns="0" bIns="0" rtlCol="0" anchor="ctr"/>
          <a:lstStyle/>
          <a:p>
            <a:pPr indent="0" marL="0">
              <a:buNone/>
            </a:pPr>
            <a:r>
              <a:rPr lang="en-US" sz="1500" b="1" dirty="0">
                <a:solidFill>
                  <a:schemeClr val="accent1"/>
                </a:solidFill>
              </a:rPr>
              <a:t>Höhe rekursiv: </a:t>
            </a:r>
            <a:endParaRPr lang="en-US" sz="1500" dirty="0"/>
          </a:p>
          <a:p>
            <a:pPr indent="0" marL="0">
              <a:buNone/>
            </a:pPr>
            <a:r>
              <a:rPr lang="en-US" sz="1400" dirty="0">
                <a:solidFill>
                  <a:schemeClr val="tx1"/>
                </a:solidFill>
                <a:latin typeface="Consolas" pitchFamily="34" charset="0"/>
                <a:ea typeface="Consolas" pitchFamily="34" charset="-122"/>
                <a:cs typeface="Consolas" pitchFamily="34" charset="-120"/>
              </a:rPr>
              <a:t>leerer Baum → 0 · Blatt → 1</a:t>
            </a:r>
            <a:endParaRPr lang="en-US" sz="1500" dirty="0"/>
          </a:p>
          <a:p>
            <a:pPr indent="0" marL="0">
              <a:buNone/>
            </a:pPr>
            <a:r>
              <a:rPr lang="en-US" sz="1400" dirty="0">
                <a:solidFill>
                  <a:schemeClr val="tx1"/>
                </a:solidFill>
                <a:latin typeface="Consolas" pitchFamily="34" charset="0"/>
                <a:ea typeface="Consolas" pitchFamily="34" charset="-122"/>
                <a:cs typeface="Consolas" pitchFamily="34" charset="-120"/>
              </a:rPr>
              <a:t>sonst 1 + max(links, rechts)</a:t>
            </a:r>
            <a:endParaRPr lang="en-US" sz="1500" dirty="0"/>
          </a:p>
        </p:txBody>
      </p:sp>
      <p:sp>
        <p:nvSpPr>
          <p:cNvPr id="32" name="Chip"/>
          <p:cNvSpPr txBox="1"/>
          <p:nvPr/>
        </p:nvSpPr>
        <p:spPr>
          <a:xfrm>
            <a:off x="7086600" y="5440680"/>
            <a:ext cx="45262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Knoten 9 · Blätter 4 · Höhe 4</a:t>
            </a:r>
            <a:endParaRPr lang="en-US" sz="1600" dirty="0"/>
          </a:p>
        </p:txBody>
      </p:sp>
      <p:sp>
        <p:nvSpPr>
          <p:cNvPr id="33" name="Achtung Ebene"/>
          <p:cNvSpPr/>
          <p:nvPr/>
        </p:nvSpPr>
        <p:spPr>
          <a:xfrm>
            <a:off x="548640" y="5532120"/>
            <a:ext cx="6309360" cy="594360"/>
          </a:xfrm>
          <a:prstGeom prst="roundRect">
            <a:avLst>
              <a:gd name="adj" fmla="val 18462"/>
            </a:avLst>
          </a:prstGeom>
          <a:solidFill>
            <a:schemeClr val="bg1"/>
          </a:solidFill>
          <a:ln w="25400">
            <a:solidFill>
              <a:schemeClr val="accent4"/>
            </a:solidFill>
            <a:prstDash val="solid"/>
          </a:ln>
        </p:spPr>
      </p:sp>
      <p:sp>
        <p:nvSpPr>
          <p:cNvPr id="34" name="Text 31"/>
          <p:cNvSpPr txBox="1"/>
          <p:nvPr/>
        </p:nvSpPr>
        <p:spPr>
          <a:xfrm>
            <a:off x="749808" y="5532120"/>
            <a:ext cx="5943600" cy="594360"/>
          </a:xfrm>
          <a:prstGeom prst="rect">
            <a:avLst/>
          </a:prstGeom>
          <a:noFill/>
          <a:ln/>
        </p:spPr>
        <p:txBody>
          <a:bodyPr wrap="square" lIns="0" tIns="0" rIns="0" bIns="0" rtlCol="0" anchor="ctr"/>
          <a:lstStyle/>
          <a:p>
            <a:pPr indent="0" marL="0">
              <a:buNone/>
            </a:pPr>
            <a:r>
              <a:rPr lang="en-US" sz="1500" b="1" dirty="0">
                <a:solidFill>
                  <a:schemeClr val="accent4"/>
                </a:solidFill>
              </a:rPr>
              <a:t>Achtung: </a:t>
            </a:r>
            <a:pPr indent="0" marL="0">
              <a:buNone/>
            </a:pPr>
            <a:r>
              <a:rPr lang="en-US" sz="1500" dirty="0">
                <a:solidFill>
                  <a:schemeClr val="tx1"/>
                </a:solidFill>
              </a:rPr>
              <a:t>Ebenen zählen ab 0, die Höhe zählt Ebenen – ein Blatt hat Höhe 1.</a:t>
            </a:r>
            <a:endParaRPr lang="en-US" sz="1500" dirty="0"/>
          </a:p>
        </p:txBody>
      </p:sp>
      <p:sp>
        <p:nvSpPr>
          <p:cNvPr id="35" name="Text 32"/>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Baumbegriffe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Schnittstelle BinTree nach EH §4</a:t>
            </a:r>
            <a:endParaRPr lang="en-US" sz="3600" dirty="0"/>
          </a:p>
        </p:txBody>
      </p:sp>
      <p:graphicFrame>
        <p:nvGraphicFramePr>
          <p:cNvPr id="6" name="Schnittstelle BinTree"/>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914400"/>
        </p:xfrm>
        <a:graphic>
          <a:graphicData uri="http://schemas.openxmlformats.org/drawingml/2006/table">
            <a:tbl>
              <a:tblPr/>
              <a:tblGrid>
                <a:gridCol w="2971800"/>
                <a:gridCol w="3429000"/>
                <a:gridCol w="640080"/>
              </a:tblGrid>
              <a:tr h="347472">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Wirkung</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leer?</a:t>
                      </a: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c BinTree()</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erzeugt einen leeren Baum</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c BinTree(inhalt: Inhaltstyp)</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Blatt: Wurzel mit inhalt, zwei leere Teilbäume</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isEmpty(): Wahrheitswert</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wahr, wenn der Baum leer ist</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getItem(): Inhaltstyp</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Inhalt der Wurzel</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setItem(inhalt: Inhaltstyp)</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setzt den Inhalt; leerer Baum wird zum Blatt</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isLeaf(): Wahrheitswert</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wahr, wenn beide Teilbäume leer sind</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getLeft(): Binärbaum</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linker Teilbaum</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getRight(): Binärbaum</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rechter Teilbaum</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setLeft(b: Binärbaum)</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setzt b als linken Teilbaum</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setRight(b: Binärbaum)</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setzt b als rechten Teilbaum</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Fehler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setEmpty()</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macht den Baum zum leeren Baum</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Nie null"/>
          <p:cNvSpPr/>
          <p:nvPr/>
        </p:nvSpPr>
        <p:spPr>
          <a:xfrm>
            <a:off x="7863840" y="1325880"/>
            <a:ext cx="3749040" cy="1600200"/>
          </a:xfrm>
          <a:prstGeom prst="roundRect">
            <a:avLst>
              <a:gd name="adj" fmla="val 6857"/>
            </a:avLst>
          </a:prstGeom>
          <a:solidFill>
            <a:schemeClr val="bg2"/>
          </a:solidFill>
          <a:ln/>
        </p:spPr>
      </p:sp>
      <p:sp>
        <p:nvSpPr>
          <p:cNvPr id="5" name="Text 2"/>
          <p:cNvSpPr txBox="1"/>
          <p:nvPr/>
        </p:nvSpPr>
        <p:spPr>
          <a:xfrm>
            <a:off x="8065008" y="1325880"/>
            <a:ext cx="3383280" cy="1600200"/>
          </a:xfrm>
          <a:prstGeom prst="rect">
            <a:avLst/>
          </a:prstGeom>
          <a:noFill/>
          <a:ln/>
        </p:spPr>
        <p:txBody>
          <a:bodyPr wrap="square" lIns="0" tIns="0" rIns="0" bIns="0" rtlCol="0" anchor="ctr"/>
          <a:lstStyle/>
          <a:p>
            <a:pPr indent="0" marL="0">
              <a:buNone/>
            </a:pPr>
            <a:r>
              <a:rPr lang="en-US" sz="1500" b="1" dirty="0">
                <a:solidFill>
                  <a:schemeClr val="accent1"/>
                </a:solidFill>
              </a:rPr>
              <a:t>Nie null! </a:t>
            </a:r>
            <a:pPr indent="0" marL="0">
              <a:buNone/>
            </a:pPr>
            <a:r>
              <a:rPr lang="en-US" sz="1500" dirty="0">
                <a:solidFill>
                  <a:schemeClr val="tx1"/>
                </a:solidFill>
              </a:rPr>
              <a:t>Ein nicht-leerer Baum hat immer zwei Teilbäume – notfalls leere Bäume. Darum fragst du isEmpty(), nicht == null.</a:t>
            </a:r>
            <a:endParaRPr lang="en-US" sz="1500" dirty="0"/>
          </a:p>
        </p:txBody>
      </p:sp>
      <p:sp>
        <p:nvSpPr>
          <p:cNvPr id="6" name="Text 3"/>
          <p:cNvSpPr txBox="1"/>
          <p:nvPr/>
        </p:nvSpPr>
        <p:spPr>
          <a:xfrm>
            <a:off x="7863840" y="3108960"/>
            <a:ext cx="3749040" cy="320040"/>
          </a:xfrm>
          <a:prstGeom prst="rect">
            <a:avLst/>
          </a:prstGeom>
          <a:noFill/>
          <a:ln/>
        </p:spPr>
        <p:txBody>
          <a:bodyPr wrap="square" lIns="0" tIns="0" rIns="0" bIns="0" rtlCol="0" anchor="t"/>
          <a:lstStyle/>
          <a:p>
            <a:pPr indent="0" marL="0">
              <a:buNone/>
            </a:pPr>
            <a:r>
              <a:rPr lang="en-US" sz="1700" b="1" dirty="0">
                <a:solidFill>
                  <a:schemeClr val="accent1"/>
                </a:solidFill>
              </a:rPr>
              <a:t>Casten wie in Welt 4</a:t>
            </a:r>
            <a:endParaRPr lang="en-US" sz="1700" dirty="0"/>
          </a:p>
        </p:txBody>
      </p:sp>
      <p:sp>
        <p:nvSpPr>
          <p:cNvPr id="7" name="Code"/>
          <p:cNvSpPr txBox="1"/>
          <p:nvPr/>
        </p:nvSpPr>
        <p:spPr>
          <a:xfrm>
            <a:off x="7863840" y="3474720"/>
            <a:ext cx="3749040" cy="873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x</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Integer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ohne Cast</a:t>
            </a:r>
            <a:endParaRPr lang="en-US" sz="1200" dirty="0"/>
          </a:p>
        </p:txBody>
      </p:sp>
      <p:sp>
        <p:nvSpPr>
          <p:cNvPr id="8" name="Achtung leer"/>
          <p:cNvSpPr/>
          <p:nvPr/>
        </p:nvSpPr>
        <p:spPr>
          <a:xfrm>
            <a:off x="7863840" y="4526280"/>
            <a:ext cx="3749040" cy="1600200"/>
          </a:xfrm>
          <a:prstGeom prst="roundRect">
            <a:avLst>
              <a:gd name="adj" fmla="val 6857"/>
            </a:avLst>
          </a:prstGeom>
          <a:solidFill>
            <a:schemeClr val="bg1"/>
          </a:solidFill>
          <a:ln w="25400">
            <a:solidFill>
              <a:schemeClr val="accent4"/>
            </a:solidFill>
            <a:prstDash val="solid"/>
          </a:ln>
        </p:spPr>
      </p:sp>
      <p:sp>
        <p:nvSpPr>
          <p:cNvPr id="9" name="Text 6"/>
          <p:cNvSpPr txBox="1"/>
          <p:nvPr/>
        </p:nvSpPr>
        <p:spPr>
          <a:xfrm>
            <a:off x="8065008" y="4526280"/>
            <a:ext cx="3383280" cy="1600200"/>
          </a:xfrm>
          <a:prstGeom prst="rect">
            <a:avLst/>
          </a:prstGeom>
          <a:noFill/>
          <a:ln/>
        </p:spPr>
        <p:txBody>
          <a:bodyPr wrap="square" lIns="0" tIns="0" rIns="0" bIns="0" rtlCol="0" anchor="ctr"/>
          <a:lstStyle/>
          <a:p>
            <a:pPr indent="0" marL="0">
              <a:buNone/>
            </a:pPr>
            <a:r>
              <a:rPr lang="en-US" sz="1500" b="1" dirty="0">
                <a:solidFill>
                  <a:schemeClr val="accent4"/>
                </a:solidFill>
              </a:rPr>
              <a:t>Leer? </a:t>
            </a:r>
            <a:pPr indent="0" marL="0">
              <a:buNone/>
            </a:pPr>
            <a:r>
              <a:rPr lang="en-US" sz="1500" dirty="0">
                <a:solidFill>
                  <a:schemeClr val="tx1"/>
                </a:solidFill>
              </a:rPr>
              <a:t>getItem, getLeft, getRight, setLeft, setRight auf einem leeren Baum → IllegalStateException. setItem(null) ist verboten.</a:t>
            </a:r>
            <a:endParaRPr lang="en-US" sz="1500" dirty="0"/>
          </a:p>
        </p:txBody>
      </p:sp>
      <p:sp>
        <p:nvSpPr>
          <p:cNvPr id="10" name="Text 7"/>
          <p:cNvSpPr txBox="1"/>
          <p:nvPr/>
        </p:nvSpPr>
        <p:spPr>
          <a:xfrm>
            <a:off x="548640" y="5806440"/>
            <a:ext cx="7040880" cy="292608"/>
          </a:xfrm>
          <a:prstGeom prst="rect">
            <a:avLst/>
          </a:prstGeom>
          <a:noFill/>
          <a:ln/>
        </p:spPr>
        <p:txBody>
          <a:bodyPr wrap="square" lIns="0" tIns="0" rIns="0" bIns="0" rtlCol="0" anchor="t"/>
          <a:lstStyle/>
          <a:p>
            <a:pPr indent="0" marL="0">
              <a:buNone/>
            </a:pPr>
            <a:r>
              <a:rPr lang="en-US" sz="1400" i="1" dirty="0">
                <a:solidFill>
                  <a:schemeClr val="accent6"/>
                </a:solidFill>
              </a:rPr>
              <a:t>In Signaturen: b: Binärbaum vom Inhaltstyp Ganzzahl</a:t>
            </a:r>
            <a:endParaRPr lang="en-US" sz="1400" dirty="0"/>
          </a:p>
        </p:txBody>
      </p:sp>
      <p:sp>
        <p:nvSpPr>
          <p:cNvPr id="11" name="Text 8"/>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Schnittstelle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Code ↔ Bild: Der Setzling wächst</a:t>
            </a:r>
            <a:endParaRPr lang="en-US" sz="3600" dirty="0"/>
          </a:p>
        </p:txBody>
      </p:sp>
      <p:sp>
        <p:nvSpPr>
          <p:cNvPr id="3" name="Code"/>
          <p:cNvSpPr txBox="1"/>
          <p:nvPr/>
        </p:nvSpPr>
        <p:spPr>
          <a:xfrm>
            <a:off x="548640" y="1325880"/>
            <a:ext cx="5989320" cy="258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(8);</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2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(3));</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3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4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5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(6));</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6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(14);</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7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8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(4));</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9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(7));</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(13));</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x</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Integer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4" name="Kante 3-1"/>
          <p:cNvSpPr/>
          <p:nvPr/>
        </p:nvSpPr>
        <p:spPr>
          <a:xfrm flipH="1">
            <a:off x="7251738" y="2514600"/>
            <a:ext cx="689075" cy="822960"/>
          </a:xfrm>
          <a:prstGeom prst="line">
            <a:avLst/>
          </a:prstGeom>
          <a:noFill/>
          <a:ln w="22225">
            <a:solidFill>
              <a:schemeClr val="accent1"/>
            </a:solidFill>
            <a:prstDash val="solid"/>
          </a:ln>
        </p:spPr>
      </p:sp>
      <p:sp>
        <p:nvSpPr>
          <p:cNvPr id="5" name="Kante 6-4"/>
          <p:cNvSpPr/>
          <p:nvPr/>
        </p:nvSpPr>
        <p:spPr>
          <a:xfrm flipH="1">
            <a:off x="8170505" y="3337560"/>
            <a:ext cx="459384" cy="822960"/>
          </a:xfrm>
          <a:prstGeom prst="line">
            <a:avLst/>
          </a:prstGeom>
          <a:noFill/>
          <a:ln w="22225">
            <a:solidFill>
              <a:schemeClr val="accent1"/>
            </a:solidFill>
            <a:prstDash val="solid"/>
          </a:ln>
        </p:spPr>
      </p:sp>
      <p:sp>
        <p:nvSpPr>
          <p:cNvPr id="6" name="Kante 6-7"/>
          <p:cNvSpPr/>
          <p:nvPr/>
        </p:nvSpPr>
        <p:spPr>
          <a:xfrm>
            <a:off x="8629889" y="3337560"/>
            <a:ext cx="459384" cy="822960"/>
          </a:xfrm>
          <a:prstGeom prst="line">
            <a:avLst/>
          </a:prstGeom>
          <a:noFill/>
          <a:ln w="22225">
            <a:solidFill>
              <a:schemeClr val="accent1"/>
            </a:solidFill>
            <a:prstDash val="solid"/>
          </a:ln>
        </p:spPr>
      </p:sp>
      <p:sp>
        <p:nvSpPr>
          <p:cNvPr id="7" name="Kante 3-6"/>
          <p:cNvSpPr/>
          <p:nvPr/>
        </p:nvSpPr>
        <p:spPr>
          <a:xfrm>
            <a:off x="7940813" y="2514600"/>
            <a:ext cx="689075" cy="822960"/>
          </a:xfrm>
          <a:prstGeom prst="line">
            <a:avLst/>
          </a:prstGeom>
          <a:noFill/>
          <a:ln w="22225">
            <a:solidFill>
              <a:schemeClr val="accent1"/>
            </a:solidFill>
            <a:prstDash val="solid"/>
          </a:ln>
        </p:spPr>
      </p:sp>
      <p:sp>
        <p:nvSpPr>
          <p:cNvPr id="8" name="Kante 8-3"/>
          <p:cNvSpPr/>
          <p:nvPr/>
        </p:nvSpPr>
        <p:spPr>
          <a:xfrm flipH="1">
            <a:off x="7940813" y="1691640"/>
            <a:ext cx="1241119" cy="822960"/>
          </a:xfrm>
          <a:prstGeom prst="line">
            <a:avLst/>
          </a:prstGeom>
          <a:noFill/>
          <a:ln w="22225">
            <a:solidFill>
              <a:schemeClr val="accent1"/>
            </a:solidFill>
            <a:prstDash val="solid"/>
          </a:ln>
        </p:spPr>
      </p:sp>
      <p:sp>
        <p:nvSpPr>
          <p:cNvPr id="9" name="Kante 14-13"/>
          <p:cNvSpPr/>
          <p:nvPr/>
        </p:nvSpPr>
        <p:spPr>
          <a:xfrm flipH="1">
            <a:off x="10613591" y="3337560"/>
            <a:ext cx="381080" cy="822960"/>
          </a:xfrm>
          <a:prstGeom prst="line">
            <a:avLst/>
          </a:prstGeom>
          <a:noFill/>
          <a:ln w="22225">
            <a:solidFill>
              <a:schemeClr val="accent1"/>
            </a:solidFill>
            <a:prstDash val="solid"/>
          </a:ln>
        </p:spPr>
      </p:sp>
      <p:sp>
        <p:nvSpPr>
          <p:cNvPr id="10" name="Kante 10-14"/>
          <p:cNvSpPr/>
          <p:nvPr/>
        </p:nvSpPr>
        <p:spPr>
          <a:xfrm>
            <a:off x="10423051" y="2514600"/>
            <a:ext cx="571619" cy="822960"/>
          </a:xfrm>
          <a:prstGeom prst="line">
            <a:avLst/>
          </a:prstGeom>
          <a:noFill/>
          <a:ln w="22225">
            <a:solidFill>
              <a:schemeClr val="accent1"/>
            </a:solidFill>
            <a:prstDash val="solid"/>
          </a:ln>
        </p:spPr>
      </p:sp>
      <p:sp>
        <p:nvSpPr>
          <p:cNvPr id="11" name="Kante 8-10"/>
          <p:cNvSpPr/>
          <p:nvPr/>
        </p:nvSpPr>
        <p:spPr>
          <a:xfrm>
            <a:off x="9181932" y="1691640"/>
            <a:ext cx="1241119" cy="822960"/>
          </a:xfrm>
          <a:prstGeom prst="line">
            <a:avLst/>
          </a:prstGeom>
          <a:noFill/>
          <a:ln w="22225">
            <a:solidFill>
              <a:schemeClr val="accent1"/>
            </a:solidFill>
            <a:prstDash val="solid"/>
          </a:ln>
        </p:spPr>
      </p:sp>
      <p:sp>
        <p:nvSpPr>
          <p:cNvPr id="12" name="Knoten 1"/>
          <p:cNvSpPr txBox="1"/>
          <p:nvPr/>
        </p:nvSpPr>
        <p:spPr>
          <a:xfrm>
            <a:off x="7023138" y="310896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13" name="Marke 1"/>
          <p:cNvSpPr txBox="1"/>
          <p:nvPr/>
        </p:nvSpPr>
        <p:spPr>
          <a:xfrm>
            <a:off x="7356894" y="295808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4" name="Knoten 4"/>
          <p:cNvSpPr txBox="1"/>
          <p:nvPr/>
        </p:nvSpPr>
        <p:spPr>
          <a:xfrm>
            <a:off x="7941905" y="393192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5" name="Marke 4"/>
          <p:cNvSpPr txBox="1"/>
          <p:nvPr/>
        </p:nvSpPr>
        <p:spPr>
          <a:xfrm>
            <a:off x="8275661" y="378104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16" name="Knoten 7"/>
          <p:cNvSpPr txBox="1"/>
          <p:nvPr/>
        </p:nvSpPr>
        <p:spPr>
          <a:xfrm>
            <a:off x="8860672" y="393192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7</a:t>
            </a:r>
            <a:endParaRPr lang="en-US" sz="1600" dirty="0"/>
          </a:p>
        </p:txBody>
      </p:sp>
      <p:sp>
        <p:nvSpPr>
          <p:cNvPr id="17" name="Marke 7"/>
          <p:cNvSpPr txBox="1"/>
          <p:nvPr/>
        </p:nvSpPr>
        <p:spPr>
          <a:xfrm>
            <a:off x="9194428" y="378104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9</a:t>
            </a:r>
            <a:endParaRPr lang="en-US" sz="1100" dirty="0"/>
          </a:p>
        </p:txBody>
      </p:sp>
      <p:sp>
        <p:nvSpPr>
          <p:cNvPr id="18" name="Knoten 6"/>
          <p:cNvSpPr txBox="1"/>
          <p:nvPr/>
        </p:nvSpPr>
        <p:spPr>
          <a:xfrm>
            <a:off x="8401289" y="310896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6</a:t>
            </a:r>
            <a:endParaRPr lang="en-US" sz="1600" dirty="0"/>
          </a:p>
        </p:txBody>
      </p:sp>
      <p:sp>
        <p:nvSpPr>
          <p:cNvPr id="19" name="Marke 6"/>
          <p:cNvSpPr txBox="1"/>
          <p:nvPr/>
        </p:nvSpPr>
        <p:spPr>
          <a:xfrm>
            <a:off x="8735045" y="295808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0" name="Knoten 3"/>
          <p:cNvSpPr txBox="1"/>
          <p:nvPr/>
        </p:nvSpPr>
        <p:spPr>
          <a:xfrm>
            <a:off x="7712213" y="228600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21" name="Marke 3"/>
          <p:cNvSpPr txBox="1"/>
          <p:nvPr/>
        </p:nvSpPr>
        <p:spPr>
          <a:xfrm>
            <a:off x="8045969" y="213512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2" name="Knoten 13"/>
          <p:cNvSpPr txBox="1"/>
          <p:nvPr/>
        </p:nvSpPr>
        <p:spPr>
          <a:xfrm>
            <a:off x="10384991" y="393192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13</a:t>
            </a:r>
            <a:endParaRPr lang="en-US" sz="1600" dirty="0"/>
          </a:p>
        </p:txBody>
      </p:sp>
      <p:sp>
        <p:nvSpPr>
          <p:cNvPr id="23" name="Marke 13"/>
          <p:cNvSpPr txBox="1"/>
          <p:nvPr/>
        </p:nvSpPr>
        <p:spPr>
          <a:xfrm>
            <a:off x="10718747" y="378104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10</a:t>
            </a:r>
            <a:endParaRPr lang="en-US" sz="1100" dirty="0"/>
          </a:p>
        </p:txBody>
      </p:sp>
      <p:sp>
        <p:nvSpPr>
          <p:cNvPr id="24" name="Knoten 14"/>
          <p:cNvSpPr txBox="1"/>
          <p:nvPr/>
        </p:nvSpPr>
        <p:spPr>
          <a:xfrm>
            <a:off x="10766071" y="3108960"/>
            <a:ext cx="457200" cy="457200"/>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14</a:t>
            </a:r>
            <a:endParaRPr lang="en-US" sz="1600" dirty="0"/>
          </a:p>
        </p:txBody>
      </p:sp>
      <p:sp>
        <p:nvSpPr>
          <p:cNvPr id="25" name="Marke 14"/>
          <p:cNvSpPr txBox="1"/>
          <p:nvPr/>
        </p:nvSpPr>
        <p:spPr>
          <a:xfrm>
            <a:off x="11099827" y="295808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6" name="Knoten 10"/>
          <p:cNvSpPr txBox="1"/>
          <p:nvPr/>
        </p:nvSpPr>
        <p:spPr>
          <a:xfrm>
            <a:off x="10194451" y="228600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10</a:t>
            </a:r>
            <a:endParaRPr lang="en-US" sz="1600" dirty="0"/>
          </a:p>
        </p:txBody>
      </p:sp>
      <p:sp>
        <p:nvSpPr>
          <p:cNvPr id="27" name="Marke 10"/>
          <p:cNvSpPr txBox="1"/>
          <p:nvPr/>
        </p:nvSpPr>
        <p:spPr>
          <a:xfrm>
            <a:off x="10528207" y="213512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8" name="Knoten 8"/>
          <p:cNvSpPr txBox="1"/>
          <p:nvPr/>
        </p:nvSpPr>
        <p:spPr>
          <a:xfrm>
            <a:off x="8953332" y="1463040"/>
            <a:ext cx="457200" cy="45720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29" name="Marke 8"/>
          <p:cNvSpPr txBox="1"/>
          <p:nvPr/>
        </p:nvSpPr>
        <p:spPr>
          <a:xfrm>
            <a:off x="9287088" y="1312164"/>
            <a:ext cx="274320" cy="274320"/>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30" name="Teilbaum t"/>
          <p:cNvSpPr/>
          <p:nvPr/>
        </p:nvSpPr>
        <p:spPr>
          <a:xfrm>
            <a:off x="7804745" y="2953512"/>
            <a:ext cx="1650287" cy="1591056"/>
          </a:xfrm>
          <a:prstGeom prst="roundRect">
            <a:avLst>
              <a:gd name="adj" fmla="val 12644"/>
            </a:avLst>
          </a:prstGeom>
          <a:ln w="25400">
            <a:solidFill>
              <a:schemeClr val="accent3"/>
            </a:solidFill>
            <a:prstDash val="dash"/>
          </a:ln>
        </p:spPr>
      </p:sp>
      <p:sp>
        <p:nvSpPr>
          <p:cNvPr id="31" name="Text 29"/>
          <p:cNvSpPr txBox="1"/>
          <p:nvPr/>
        </p:nvSpPr>
        <p:spPr>
          <a:xfrm>
            <a:off x="9500752" y="4206240"/>
            <a:ext cx="274320" cy="320040"/>
          </a:xfrm>
          <a:prstGeom prst="rect">
            <a:avLst/>
          </a:prstGeom>
          <a:noFill/>
          <a:ln/>
        </p:spPr>
        <p:txBody>
          <a:bodyPr wrap="square" lIns="0" tIns="0" rIns="0" bIns="0" rtlCol="0" anchor="t"/>
          <a:lstStyle/>
          <a:p>
            <a:pPr indent="0" marL="0">
              <a:buNone/>
            </a:pPr>
            <a:r>
              <a:rPr lang="en-US" sz="1800" b="1" dirty="0">
                <a:solidFill>
                  <a:schemeClr val="accent3"/>
                </a:solidFill>
                <a:latin typeface="Consolas" pitchFamily="34" charset="0"/>
                <a:ea typeface="Consolas" pitchFamily="34" charset="-122"/>
                <a:cs typeface="Consolas" pitchFamily="34" charset="-120"/>
              </a:rPr>
              <a:t>t</a:t>
            </a:r>
            <a:endParaRPr lang="en-US" sz="1800" dirty="0"/>
          </a:p>
        </p:txBody>
      </p:sp>
      <p:sp>
        <p:nvSpPr>
          <p:cNvPr id="32" name="Text 30"/>
          <p:cNvSpPr txBox="1"/>
          <p:nvPr/>
        </p:nvSpPr>
        <p:spPr>
          <a:xfrm>
            <a:off x="6766560" y="4526280"/>
            <a:ext cx="4846320" cy="274320"/>
          </a:xfrm>
          <a:prstGeom prst="rect">
            <a:avLst/>
          </a:prstGeom>
          <a:noFill/>
          <a:ln/>
        </p:spPr>
        <p:txBody>
          <a:bodyPr wrap="square" lIns="0" tIns="0" rIns="0" bIns="0" rtlCol="0" anchor="t"/>
          <a:lstStyle/>
          <a:p>
            <a:pPr algn="ctr" indent="0" marL="0">
              <a:buNone/>
            </a:pPr>
            <a:r>
              <a:rPr lang="en-US" sz="1300" i="1" dirty="0">
                <a:solidFill>
                  <a:schemeClr val="accent6"/>
                </a:solidFill>
              </a:rPr>
              <a:t>goldene Zahl = Codezeile, in der der Knoten entsteht</a:t>
            </a:r>
            <a:endParaRPr lang="en-US" sz="1300" dirty="0"/>
          </a:p>
        </p:txBody>
      </p:sp>
      <p:sp>
        <p:nvSpPr>
          <p:cNvPr id="33" name="Zeile 6"/>
          <p:cNvSpPr/>
          <p:nvPr/>
        </p:nvSpPr>
        <p:spPr>
          <a:xfrm>
            <a:off x="548640" y="4343400"/>
            <a:ext cx="5989320" cy="868680"/>
          </a:xfrm>
          <a:prstGeom prst="roundRect">
            <a:avLst>
              <a:gd name="adj" fmla="val 12632"/>
            </a:avLst>
          </a:prstGeom>
          <a:solidFill>
            <a:schemeClr val="bg2"/>
          </a:solidFill>
          <a:ln/>
        </p:spPr>
      </p:sp>
      <p:sp>
        <p:nvSpPr>
          <p:cNvPr id="34" name="Text 32"/>
          <p:cNvSpPr txBox="1"/>
          <p:nvPr/>
        </p:nvSpPr>
        <p:spPr>
          <a:xfrm>
            <a:off x="749808" y="4343400"/>
            <a:ext cx="5623560" cy="868680"/>
          </a:xfrm>
          <a:prstGeom prst="rect">
            <a:avLst/>
          </a:prstGeom>
          <a:noFill/>
          <a:ln/>
        </p:spPr>
        <p:txBody>
          <a:bodyPr wrap="square" lIns="0" tIns="0" rIns="0" bIns="0" rtlCol="0" anchor="ctr"/>
          <a:lstStyle/>
          <a:p>
            <a:pPr indent="0" marL="0">
              <a:buNone/>
            </a:pPr>
            <a:r>
              <a:rPr lang="en-US" sz="1400" b="1" dirty="0">
                <a:solidFill>
                  <a:schemeClr val="accent1"/>
                </a:solidFill>
              </a:rPr>
              <a:t>Zeile 6: </a:t>
            </a:r>
            <a:pPr indent="0" marL="0">
              <a:buNone/>
            </a:pPr>
            <a:r>
              <a:rPr lang="en-US" sz="1400" dirty="0">
                <a:solidFill>
                  <a:schemeClr val="tx1"/>
                </a:solidFill>
              </a:rPr>
              <a:t>Rechts unter 10 liegt ein leerer Baum, nicht null – setItem macht ihn zum Blatt 14.</a:t>
            </a:r>
            <a:endParaRPr lang="en-US" sz="1400" dirty="0"/>
          </a:p>
        </p:txBody>
      </p:sp>
      <p:sp>
        <p:nvSpPr>
          <p:cNvPr id="35" name="Laufzeitfehler"/>
          <p:cNvSpPr/>
          <p:nvPr/>
        </p:nvSpPr>
        <p:spPr>
          <a:xfrm>
            <a:off x="548640" y="5349240"/>
            <a:ext cx="5989320" cy="777240"/>
          </a:xfrm>
          <a:prstGeom prst="roundRect">
            <a:avLst>
              <a:gd name="adj" fmla="val 14118"/>
            </a:avLst>
          </a:prstGeom>
          <a:solidFill>
            <a:schemeClr val="bg1"/>
          </a:solidFill>
          <a:ln w="25400">
            <a:solidFill>
              <a:schemeClr val="accent4"/>
            </a:solidFill>
            <a:prstDash val="solid"/>
          </a:ln>
        </p:spPr>
      </p:sp>
      <p:sp>
        <p:nvSpPr>
          <p:cNvPr id="36" name="Text 34"/>
          <p:cNvSpPr txBox="1"/>
          <p:nvPr/>
        </p:nvSpPr>
        <p:spPr>
          <a:xfrm>
            <a:off x="749808" y="5349240"/>
            <a:ext cx="5623560" cy="777240"/>
          </a:xfrm>
          <a:prstGeom prst="rect">
            <a:avLst/>
          </a:prstGeom>
          <a:noFill/>
          <a:ln/>
        </p:spPr>
        <p:txBody>
          <a:bodyPr wrap="square" lIns="0" tIns="0" rIns="0" bIns="0" rtlCol="0" anchor="ctr"/>
          <a:lstStyle/>
          <a:p>
            <a:pPr indent="0" marL="0">
              <a:buNone/>
            </a:pPr>
            <a:r>
              <a:rPr lang="en-US" sz="1400" b="1" dirty="0">
                <a:solidFill>
                  <a:schemeClr val="accent4"/>
                </a:solidFill>
              </a:rPr>
              <a:t>Laufzeitfehler: </a:t>
            </a:r>
            <a:pPr indent="0" marL="0">
              <a:buNone/>
            </a:pPr>
            <a:r>
              <a:rPr lang="en-US" sz="1400" dirty="0">
                <a:solidFill>
                  <a:schemeClr val="tx1"/>
                </a:solidFill>
              </a:rPr>
              <a:t>Unter dem Blatt 1 liegt ein leerer Baum → getItem() → IllegalStateException.</a:t>
            </a:r>
            <a:endParaRPr lang="en-US" sz="1400" dirty="0"/>
          </a:p>
        </p:txBody>
      </p:sp>
      <p:sp>
        <p:nvSpPr>
          <p:cNvPr id="37" name="Referenz t"/>
          <p:cNvSpPr/>
          <p:nvPr/>
        </p:nvSpPr>
        <p:spPr>
          <a:xfrm>
            <a:off x="6903720" y="4983480"/>
            <a:ext cx="4709160" cy="1143000"/>
          </a:xfrm>
          <a:prstGeom prst="roundRect">
            <a:avLst>
              <a:gd name="adj" fmla="val 9600"/>
            </a:avLst>
          </a:prstGeom>
          <a:solidFill>
            <a:schemeClr val="bg1"/>
          </a:solidFill>
          <a:ln w="25400">
            <a:solidFill>
              <a:schemeClr val="accent3"/>
            </a:solidFill>
            <a:prstDash val="solid"/>
          </a:ln>
        </p:spPr>
      </p:sp>
      <p:sp>
        <p:nvSpPr>
          <p:cNvPr id="38" name="Text 36"/>
          <p:cNvSpPr txBox="1"/>
          <p:nvPr/>
        </p:nvSpPr>
        <p:spPr>
          <a:xfrm>
            <a:off x="7104888" y="4983480"/>
            <a:ext cx="4343400" cy="1143000"/>
          </a:xfrm>
          <a:prstGeom prst="rect">
            <a:avLst/>
          </a:prstGeom>
          <a:noFill/>
          <a:ln/>
        </p:spPr>
        <p:txBody>
          <a:bodyPr wrap="square" lIns="0" tIns="0" rIns="0" bIns="0" rtlCol="0" anchor="ctr"/>
          <a:lstStyle/>
          <a:p>
            <a:pPr indent="0" marL="0">
              <a:buNone/>
            </a:pPr>
            <a:r>
              <a:rPr lang="en-US" sz="1400" b="1" dirty="0">
                <a:solidFill>
                  <a:schemeClr val="accent3"/>
                </a:solidFill>
              </a:rPr>
              <a:t>Zeilen 7–9: </a:t>
            </a:r>
            <a:pPr indent="0" marL="0">
              <a:buNone/>
            </a:pPr>
            <a:r>
              <a:rPr lang="en-US" sz="1400" dirty="0">
                <a:solidFill>
                  <a:schemeClr val="tx1"/>
                </a:solidFill>
              </a:rPr>
              <a:t>t ist eine zweite Referenz auf den Teilbaum 6 – keine Kopie. Was t ändert, sieht auch b.</a:t>
            </a:r>
            <a:endParaRPr lang="en-US" sz="1400" dirty="0"/>
          </a:p>
        </p:txBody>
      </p:sp>
      <p:sp>
        <p:nvSpPr>
          <p:cNvPr id="39" name="Text 3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Code ↔ Bild · W5-01</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Traversierungen: pre-, in- und postorder (1/3)</a:t>
            </a:r>
            <a:endParaRPr lang="en-US" sz="3600" dirty="0"/>
          </a:p>
        </p:txBody>
      </p:sp>
      <p:sp>
        <p:nvSpPr>
          <p:cNvPr id="3" name="Spalte preorder"/>
          <p:cNvSpPr/>
          <p:nvPr/>
        </p:nvSpPr>
        <p:spPr>
          <a:xfrm>
            <a:off x="548640"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85800"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preorder</a:t>
            </a:r>
            <a:pPr indent="0" marL="0">
              <a:buNone/>
            </a:pPr>
            <a:r>
              <a:rPr lang="en-US" sz="1400" dirty="0">
                <a:solidFill>
                  <a:schemeClr val="accent6"/>
                </a:solidFill>
              </a:rPr>
              <a:t>   Wurzel · links · rechts</a:t>
            </a:r>
            <a:endParaRPr lang="en-US" sz="1800" dirty="0"/>
          </a:p>
        </p:txBody>
      </p:sp>
      <p:sp>
        <p:nvSpPr>
          <p:cNvPr id="5" name="Kante 3-1"/>
          <p:cNvSpPr/>
          <p:nvPr/>
        </p:nvSpPr>
        <p:spPr>
          <a:xfrm flipH="1">
            <a:off x="977812" y="2752344"/>
            <a:ext cx="465813" cy="667512"/>
          </a:xfrm>
          <a:prstGeom prst="line">
            <a:avLst/>
          </a:prstGeom>
          <a:noFill/>
          <a:ln w="22225">
            <a:solidFill>
              <a:schemeClr val="accent1"/>
            </a:solidFill>
            <a:prstDash val="solid"/>
          </a:ln>
        </p:spPr>
      </p:sp>
      <p:sp>
        <p:nvSpPr>
          <p:cNvPr id="6" name="Kante 6-4"/>
          <p:cNvSpPr/>
          <p:nvPr/>
        </p:nvSpPr>
        <p:spPr>
          <a:xfrm flipH="1">
            <a:off x="1598896" y="3419856"/>
            <a:ext cx="310542" cy="667512"/>
          </a:xfrm>
          <a:prstGeom prst="line">
            <a:avLst/>
          </a:prstGeom>
          <a:noFill/>
          <a:ln w="22225">
            <a:solidFill>
              <a:schemeClr val="accent1"/>
            </a:solidFill>
            <a:prstDash val="solid"/>
          </a:ln>
        </p:spPr>
      </p:sp>
      <p:sp>
        <p:nvSpPr>
          <p:cNvPr id="7" name="Kante 6-7"/>
          <p:cNvSpPr/>
          <p:nvPr/>
        </p:nvSpPr>
        <p:spPr>
          <a:xfrm>
            <a:off x="1909439" y="3419856"/>
            <a:ext cx="310542" cy="667512"/>
          </a:xfrm>
          <a:prstGeom prst="line">
            <a:avLst/>
          </a:prstGeom>
          <a:noFill/>
          <a:ln w="22225">
            <a:solidFill>
              <a:schemeClr val="accent1"/>
            </a:solidFill>
            <a:prstDash val="solid"/>
          </a:ln>
        </p:spPr>
      </p:sp>
      <p:sp>
        <p:nvSpPr>
          <p:cNvPr id="8" name="Kante 3-6"/>
          <p:cNvSpPr/>
          <p:nvPr/>
        </p:nvSpPr>
        <p:spPr>
          <a:xfrm>
            <a:off x="1443625" y="2752344"/>
            <a:ext cx="465813" cy="667512"/>
          </a:xfrm>
          <a:prstGeom prst="line">
            <a:avLst/>
          </a:prstGeom>
          <a:noFill/>
          <a:ln w="22225">
            <a:solidFill>
              <a:schemeClr val="accent1"/>
            </a:solidFill>
            <a:prstDash val="solid"/>
          </a:ln>
        </p:spPr>
      </p:sp>
      <p:sp>
        <p:nvSpPr>
          <p:cNvPr id="9" name="Kante 8-3"/>
          <p:cNvSpPr/>
          <p:nvPr/>
        </p:nvSpPr>
        <p:spPr>
          <a:xfrm flipH="1">
            <a:off x="1443625" y="2084832"/>
            <a:ext cx="834649" cy="667512"/>
          </a:xfrm>
          <a:prstGeom prst="line">
            <a:avLst/>
          </a:prstGeom>
          <a:noFill/>
          <a:ln w="22225">
            <a:solidFill>
              <a:schemeClr val="accent1"/>
            </a:solidFill>
            <a:prstDash val="solid"/>
          </a:ln>
        </p:spPr>
      </p:sp>
      <p:sp>
        <p:nvSpPr>
          <p:cNvPr id="10" name="Kante 14-13"/>
          <p:cNvSpPr/>
          <p:nvPr/>
        </p:nvSpPr>
        <p:spPr>
          <a:xfrm flipH="1">
            <a:off x="3240486" y="3419856"/>
            <a:ext cx="255126" cy="667512"/>
          </a:xfrm>
          <a:prstGeom prst="line">
            <a:avLst/>
          </a:prstGeom>
          <a:noFill/>
          <a:ln w="22225">
            <a:solidFill>
              <a:schemeClr val="accent1"/>
            </a:solidFill>
            <a:prstDash val="solid"/>
          </a:ln>
        </p:spPr>
      </p:sp>
      <p:sp>
        <p:nvSpPr>
          <p:cNvPr id="11" name="Kante 10-14"/>
          <p:cNvSpPr/>
          <p:nvPr/>
        </p:nvSpPr>
        <p:spPr>
          <a:xfrm>
            <a:off x="3112923" y="2752344"/>
            <a:ext cx="382690" cy="667512"/>
          </a:xfrm>
          <a:prstGeom prst="line">
            <a:avLst/>
          </a:prstGeom>
          <a:noFill/>
          <a:ln w="22225">
            <a:solidFill>
              <a:schemeClr val="accent1"/>
            </a:solidFill>
            <a:prstDash val="solid"/>
          </a:ln>
        </p:spPr>
      </p:sp>
      <p:sp>
        <p:nvSpPr>
          <p:cNvPr id="12" name="Kante 8-10"/>
          <p:cNvSpPr/>
          <p:nvPr/>
        </p:nvSpPr>
        <p:spPr>
          <a:xfrm>
            <a:off x="2278274" y="2084832"/>
            <a:ext cx="834649" cy="667512"/>
          </a:xfrm>
          <a:prstGeom prst="line">
            <a:avLst/>
          </a:prstGeom>
          <a:noFill/>
          <a:ln w="22225">
            <a:solidFill>
              <a:schemeClr val="accent1"/>
            </a:solidFill>
            <a:prstDash val="solid"/>
          </a:ln>
        </p:spPr>
      </p:sp>
      <p:sp>
        <p:nvSpPr>
          <p:cNvPr id="13" name="Knoten 1"/>
          <p:cNvSpPr txBox="1"/>
          <p:nvPr/>
        </p:nvSpPr>
        <p:spPr>
          <a:xfrm>
            <a:off x="767500" y="3209544"/>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14" name="Marke 1"/>
          <p:cNvSpPr txBox="1"/>
          <p:nvPr/>
        </p:nvSpPr>
        <p:spPr>
          <a:xfrm>
            <a:off x="1077024" y="3073756"/>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5" name="Knoten 4"/>
          <p:cNvSpPr txBox="1"/>
          <p:nvPr/>
        </p:nvSpPr>
        <p:spPr>
          <a:xfrm>
            <a:off x="1388584"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16" name="Knoten 7"/>
          <p:cNvSpPr txBox="1"/>
          <p:nvPr/>
        </p:nvSpPr>
        <p:spPr>
          <a:xfrm>
            <a:off x="2009669"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17" name="Knoten 6"/>
          <p:cNvSpPr txBox="1"/>
          <p:nvPr/>
        </p:nvSpPr>
        <p:spPr>
          <a:xfrm>
            <a:off x="1699127"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18" name="Knoten 3"/>
          <p:cNvSpPr txBox="1"/>
          <p:nvPr/>
        </p:nvSpPr>
        <p:spPr>
          <a:xfrm>
            <a:off x="1233313"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19" name="Marke 3"/>
          <p:cNvSpPr txBox="1"/>
          <p:nvPr/>
        </p:nvSpPr>
        <p:spPr>
          <a:xfrm>
            <a:off x="1542838"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0" name="Knoten 13"/>
          <p:cNvSpPr txBox="1"/>
          <p:nvPr/>
        </p:nvSpPr>
        <p:spPr>
          <a:xfrm>
            <a:off x="3030174"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21" name="Knoten 14"/>
          <p:cNvSpPr txBox="1"/>
          <p:nvPr/>
        </p:nvSpPr>
        <p:spPr>
          <a:xfrm>
            <a:off x="3285301"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22" name="Knoten 10"/>
          <p:cNvSpPr txBox="1"/>
          <p:nvPr/>
        </p:nvSpPr>
        <p:spPr>
          <a:xfrm>
            <a:off x="2902611" y="2542032"/>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23" name="Knoten 8"/>
          <p:cNvSpPr txBox="1"/>
          <p:nvPr/>
        </p:nvSpPr>
        <p:spPr>
          <a:xfrm>
            <a:off x="2067962" y="1874520"/>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8</a:t>
            </a:r>
            <a:endParaRPr lang="en-US" sz="1500" dirty="0"/>
          </a:p>
        </p:txBody>
      </p:sp>
      <p:sp>
        <p:nvSpPr>
          <p:cNvPr id="24" name="Marke 8"/>
          <p:cNvSpPr txBox="1"/>
          <p:nvPr/>
        </p:nvSpPr>
        <p:spPr>
          <a:xfrm>
            <a:off x="2377487" y="1738732"/>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5" name="Ausgabe preorder"/>
          <p:cNvSpPr txBox="1"/>
          <p:nvPr/>
        </p:nvSpPr>
        <p:spPr>
          <a:xfrm>
            <a:off x="685800" y="4526280"/>
            <a:ext cx="3246120" cy="566928"/>
          </a:xfrm>
          <a:prstGeom prst="rect">
            <a:avLst/>
          </a:prstGeom>
          <a:solidFill>
            <a:schemeClr val="accent5"/>
          </a:solidFill>
          <a:ln w="12700">
            <a:solidFill>
              <a:srgbClr val="D0D0D0"/>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dirty="0">
                <a:solidFill>
                  <a:schemeClr val="tx1"/>
                </a:solidFill>
                <a:latin typeface="Consolas" pitchFamily="34" charset="0"/>
                <a:ea typeface="Consolas" pitchFamily="34" charset="-122"/>
                <a:cs typeface="Consolas" pitchFamily="34" charset="-120"/>
              </a:rPr>
              <a:t>"8 3 1 "</a:t>
            </a:r>
            <a:endParaRPr lang="en-US" sz="1800" dirty="0"/>
          </a:p>
        </p:txBody>
      </p:sp>
      <p:sp>
        <p:nvSpPr>
          <p:cNvPr id="26" name="Text 24"/>
          <p:cNvSpPr txBox="1"/>
          <p:nvPr/>
        </p:nvSpPr>
        <p:spPr>
          <a:xfrm>
            <a:off x="685800"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item + " " + pre(l) + pre(r)</a:t>
            </a:r>
            <a:endParaRPr lang="en-US" sz="1800" dirty="0"/>
          </a:p>
        </p:txBody>
      </p:sp>
      <p:sp>
        <p:nvSpPr>
          <p:cNvPr id="27" name="Spalte inorder"/>
          <p:cNvSpPr/>
          <p:nvPr/>
        </p:nvSpPr>
        <p:spPr>
          <a:xfrm>
            <a:off x="4334256"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8" name="Text 26"/>
          <p:cNvSpPr txBox="1"/>
          <p:nvPr/>
        </p:nvSpPr>
        <p:spPr>
          <a:xfrm>
            <a:off x="4471416"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inorder</a:t>
            </a:r>
            <a:pPr indent="0" marL="0">
              <a:buNone/>
            </a:pPr>
            <a:r>
              <a:rPr lang="en-US" sz="1400" dirty="0">
                <a:solidFill>
                  <a:schemeClr val="accent6"/>
                </a:solidFill>
              </a:rPr>
              <a:t>   links · Wurzel · rechts</a:t>
            </a:r>
            <a:endParaRPr lang="en-US" sz="1800" dirty="0"/>
          </a:p>
        </p:txBody>
      </p:sp>
      <p:sp>
        <p:nvSpPr>
          <p:cNvPr id="29" name="Kante 3-1"/>
          <p:cNvSpPr/>
          <p:nvPr/>
        </p:nvSpPr>
        <p:spPr>
          <a:xfrm flipH="1">
            <a:off x="4763428" y="2752344"/>
            <a:ext cx="465813" cy="667512"/>
          </a:xfrm>
          <a:prstGeom prst="line">
            <a:avLst/>
          </a:prstGeom>
          <a:noFill/>
          <a:ln w="22225">
            <a:solidFill>
              <a:schemeClr val="accent1"/>
            </a:solidFill>
            <a:prstDash val="solid"/>
          </a:ln>
        </p:spPr>
      </p:sp>
      <p:sp>
        <p:nvSpPr>
          <p:cNvPr id="30" name="Kante 6-4"/>
          <p:cNvSpPr/>
          <p:nvPr/>
        </p:nvSpPr>
        <p:spPr>
          <a:xfrm flipH="1">
            <a:off x="5384512" y="3419856"/>
            <a:ext cx="310542" cy="667512"/>
          </a:xfrm>
          <a:prstGeom prst="line">
            <a:avLst/>
          </a:prstGeom>
          <a:noFill/>
          <a:ln w="22225">
            <a:solidFill>
              <a:schemeClr val="accent1"/>
            </a:solidFill>
            <a:prstDash val="solid"/>
          </a:ln>
        </p:spPr>
      </p:sp>
      <p:sp>
        <p:nvSpPr>
          <p:cNvPr id="31" name="Kante 6-7"/>
          <p:cNvSpPr/>
          <p:nvPr/>
        </p:nvSpPr>
        <p:spPr>
          <a:xfrm>
            <a:off x="5695055" y="3419856"/>
            <a:ext cx="310542" cy="667512"/>
          </a:xfrm>
          <a:prstGeom prst="line">
            <a:avLst/>
          </a:prstGeom>
          <a:noFill/>
          <a:ln w="22225">
            <a:solidFill>
              <a:schemeClr val="accent1"/>
            </a:solidFill>
            <a:prstDash val="solid"/>
          </a:ln>
        </p:spPr>
      </p:sp>
      <p:sp>
        <p:nvSpPr>
          <p:cNvPr id="32" name="Kante 3-6"/>
          <p:cNvSpPr/>
          <p:nvPr/>
        </p:nvSpPr>
        <p:spPr>
          <a:xfrm>
            <a:off x="5229241" y="2752344"/>
            <a:ext cx="465813" cy="667512"/>
          </a:xfrm>
          <a:prstGeom prst="line">
            <a:avLst/>
          </a:prstGeom>
          <a:noFill/>
          <a:ln w="22225">
            <a:solidFill>
              <a:schemeClr val="accent1"/>
            </a:solidFill>
            <a:prstDash val="solid"/>
          </a:ln>
        </p:spPr>
      </p:sp>
      <p:sp>
        <p:nvSpPr>
          <p:cNvPr id="33" name="Kante 8-3"/>
          <p:cNvSpPr/>
          <p:nvPr/>
        </p:nvSpPr>
        <p:spPr>
          <a:xfrm flipH="1">
            <a:off x="5229241" y="2084832"/>
            <a:ext cx="834649" cy="667512"/>
          </a:xfrm>
          <a:prstGeom prst="line">
            <a:avLst/>
          </a:prstGeom>
          <a:noFill/>
          <a:ln w="22225">
            <a:solidFill>
              <a:schemeClr val="accent1"/>
            </a:solidFill>
            <a:prstDash val="solid"/>
          </a:ln>
        </p:spPr>
      </p:sp>
      <p:sp>
        <p:nvSpPr>
          <p:cNvPr id="34" name="Kante 14-13"/>
          <p:cNvSpPr/>
          <p:nvPr/>
        </p:nvSpPr>
        <p:spPr>
          <a:xfrm flipH="1">
            <a:off x="7026102" y="3419856"/>
            <a:ext cx="255126" cy="667512"/>
          </a:xfrm>
          <a:prstGeom prst="line">
            <a:avLst/>
          </a:prstGeom>
          <a:noFill/>
          <a:ln w="22225">
            <a:solidFill>
              <a:schemeClr val="accent1"/>
            </a:solidFill>
            <a:prstDash val="solid"/>
          </a:ln>
        </p:spPr>
      </p:sp>
      <p:sp>
        <p:nvSpPr>
          <p:cNvPr id="35" name="Kante 10-14"/>
          <p:cNvSpPr/>
          <p:nvPr/>
        </p:nvSpPr>
        <p:spPr>
          <a:xfrm>
            <a:off x="6898539" y="2752344"/>
            <a:ext cx="382690" cy="667512"/>
          </a:xfrm>
          <a:prstGeom prst="line">
            <a:avLst/>
          </a:prstGeom>
          <a:noFill/>
          <a:ln w="22225">
            <a:solidFill>
              <a:schemeClr val="accent1"/>
            </a:solidFill>
            <a:prstDash val="solid"/>
          </a:ln>
        </p:spPr>
      </p:sp>
      <p:sp>
        <p:nvSpPr>
          <p:cNvPr id="36" name="Kante 8-10"/>
          <p:cNvSpPr/>
          <p:nvPr/>
        </p:nvSpPr>
        <p:spPr>
          <a:xfrm>
            <a:off x="6063890" y="2084832"/>
            <a:ext cx="834649" cy="667512"/>
          </a:xfrm>
          <a:prstGeom prst="line">
            <a:avLst/>
          </a:prstGeom>
          <a:noFill/>
          <a:ln w="22225">
            <a:solidFill>
              <a:schemeClr val="accent1"/>
            </a:solidFill>
            <a:prstDash val="solid"/>
          </a:ln>
        </p:spPr>
      </p:sp>
      <p:sp>
        <p:nvSpPr>
          <p:cNvPr id="37" name="Knoten 1"/>
          <p:cNvSpPr txBox="1"/>
          <p:nvPr/>
        </p:nvSpPr>
        <p:spPr>
          <a:xfrm>
            <a:off x="4553116"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38" name="Marke 1"/>
          <p:cNvSpPr txBox="1"/>
          <p:nvPr/>
        </p:nvSpPr>
        <p:spPr>
          <a:xfrm>
            <a:off x="4862640"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39" name="Knoten 4"/>
          <p:cNvSpPr txBox="1"/>
          <p:nvPr/>
        </p:nvSpPr>
        <p:spPr>
          <a:xfrm>
            <a:off x="5174200" y="3877056"/>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40" name="Marke 4"/>
          <p:cNvSpPr txBox="1"/>
          <p:nvPr/>
        </p:nvSpPr>
        <p:spPr>
          <a:xfrm>
            <a:off x="5483725" y="3741268"/>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41" name="Knoten 7"/>
          <p:cNvSpPr txBox="1"/>
          <p:nvPr/>
        </p:nvSpPr>
        <p:spPr>
          <a:xfrm>
            <a:off x="5795285"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42" name="Knoten 6"/>
          <p:cNvSpPr txBox="1"/>
          <p:nvPr/>
        </p:nvSpPr>
        <p:spPr>
          <a:xfrm>
            <a:off x="5484743"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43" name="Knoten 3"/>
          <p:cNvSpPr txBox="1"/>
          <p:nvPr/>
        </p:nvSpPr>
        <p:spPr>
          <a:xfrm>
            <a:off x="5018929"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44" name="Marke 3"/>
          <p:cNvSpPr txBox="1"/>
          <p:nvPr/>
        </p:nvSpPr>
        <p:spPr>
          <a:xfrm>
            <a:off x="5328454"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45" name="Knoten 13"/>
          <p:cNvSpPr txBox="1"/>
          <p:nvPr/>
        </p:nvSpPr>
        <p:spPr>
          <a:xfrm>
            <a:off x="6815790"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46" name="Knoten 14"/>
          <p:cNvSpPr txBox="1"/>
          <p:nvPr/>
        </p:nvSpPr>
        <p:spPr>
          <a:xfrm>
            <a:off x="7070917"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47" name="Knoten 10"/>
          <p:cNvSpPr txBox="1"/>
          <p:nvPr/>
        </p:nvSpPr>
        <p:spPr>
          <a:xfrm>
            <a:off x="6688227" y="2542032"/>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48" name="Knoten 8"/>
          <p:cNvSpPr txBox="1"/>
          <p:nvPr/>
        </p:nvSpPr>
        <p:spPr>
          <a:xfrm>
            <a:off x="5853578" y="1874520"/>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49" name="Ausgabe inorder"/>
          <p:cNvSpPr txBox="1"/>
          <p:nvPr/>
        </p:nvSpPr>
        <p:spPr>
          <a:xfrm>
            <a:off x="4471416" y="4526280"/>
            <a:ext cx="3246120" cy="566928"/>
          </a:xfrm>
          <a:prstGeom prst="rect">
            <a:avLst/>
          </a:prstGeom>
          <a:solidFill>
            <a:schemeClr val="accent5"/>
          </a:solidFill>
          <a:ln w="12700">
            <a:solidFill>
              <a:srgbClr val="D0D0D0"/>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dirty="0">
                <a:solidFill>
                  <a:schemeClr val="tx1"/>
                </a:solidFill>
                <a:latin typeface="Consolas" pitchFamily="34" charset="0"/>
                <a:ea typeface="Consolas" pitchFamily="34" charset="-122"/>
                <a:cs typeface="Consolas" pitchFamily="34" charset="-120"/>
              </a:rPr>
              <a:t>"1 3 4 "</a:t>
            </a:r>
            <a:endParaRPr lang="en-US" sz="1800" dirty="0"/>
          </a:p>
        </p:txBody>
      </p:sp>
      <p:sp>
        <p:nvSpPr>
          <p:cNvPr id="50" name="Text 48"/>
          <p:cNvSpPr txBox="1"/>
          <p:nvPr/>
        </p:nvSpPr>
        <p:spPr>
          <a:xfrm>
            <a:off x="4471416"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in(l) + item + " " + in(r)</a:t>
            </a:r>
            <a:endParaRPr lang="en-US" sz="1800" dirty="0"/>
          </a:p>
        </p:txBody>
      </p:sp>
      <p:sp>
        <p:nvSpPr>
          <p:cNvPr id="51" name="Spalte postorder"/>
          <p:cNvSpPr/>
          <p:nvPr/>
        </p:nvSpPr>
        <p:spPr>
          <a:xfrm>
            <a:off x="8119872"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52" name="Text 50"/>
          <p:cNvSpPr txBox="1"/>
          <p:nvPr/>
        </p:nvSpPr>
        <p:spPr>
          <a:xfrm>
            <a:off x="8257032"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postorder</a:t>
            </a:r>
            <a:pPr indent="0" marL="0">
              <a:buNone/>
            </a:pPr>
            <a:r>
              <a:rPr lang="en-US" sz="1400" dirty="0">
                <a:solidFill>
                  <a:schemeClr val="accent6"/>
                </a:solidFill>
              </a:rPr>
              <a:t>   links · rechts · Wurzel</a:t>
            </a:r>
            <a:endParaRPr lang="en-US" sz="1800" dirty="0"/>
          </a:p>
        </p:txBody>
      </p:sp>
      <p:sp>
        <p:nvSpPr>
          <p:cNvPr id="53" name="Kante 3-1"/>
          <p:cNvSpPr/>
          <p:nvPr/>
        </p:nvSpPr>
        <p:spPr>
          <a:xfrm flipH="1">
            <a:off x="8549044" y="2752344"/>
            <a:ext cx="465813" cy="667512"/>
          </a:xfrm>
          <a:prstGeom prst="line">
            <a:avLst/>
          </a:prstGeom>
          <a:noFill/>
          <a:ln w="22225">
            <a:solidFill>
              <a:schemeClr val="accent1"/>
            </a:solidFill>
            <a:prstDash val="solid"/>
          </a:ln>
        </p:spPr>
      </p:sp>
      <p:sp>
        <p:nvSpPr>
          <p:cNvPr id="54" name="Kante 6-4"/>
          <p:cNvSpPr/>
          <p:nvPr/>
        </p:nvSpPr>
        <p:spPr>
          <a:xfrm flipH="1">
            <a:off x="9170128" y="3419856"/>
            <a:ext cx="310542" cy="667512"/>
          </a:xfrm>
          <a:prstGeom prst="line">
            <a:avLst/>
          </a:prstGeom>
          <a:noFill/>
          <a:ln w="22225">
            <a:solidFill>
              <a:schemeClr val="accent1"/>
            </a:solidFill>
            <a:prstDash val="solid"/>
          </a:ln>
        </p:spPr>
      </p:sp>
      <p:sp>
        <p:nvSpPr>
          <p:cNvPr id="55" name="Kante 6-7"/>
          <p:cNvSpPr/>
          <p:nvPr/>
        </p:nvSpPr>
        <p:spPr>
          <a:xfrm>
            <a:off x="9480671" y="3419856"/>
            <a:ext cx="310542" cy="667512"/>
          </a:xfrm>
          <a:prstGeom prst="line">
            <a:avLst/>
          </a:prstGeom>
          <a:noFill/>
          <a:ln w="22225">
            <a:solidFill>
              <a:schemeClr val="accent1"/>
            </a:solidFill>
            <a:prstDash val="solid"/>
          </a:ln>
        </p:spPr>
      </p:sp>
      <p:sp>
        <p:nvSpPr>
          <p:cNvPr id="56" name="Kante 3-6"/>
          <p:cNvSpPr/>
          <p:nvPr/>
        </p:nvSpPr>
        <p:spPr>
          <a:xfrm>
            <a:off x="9014857" y="2752344"/>
            <a:ext cx="465813" cy="667512"/>
          </a:xfrm>
          <a:prstGeom prst="line">
            <a:avLst/>
          </a:prstGeom>
          <a:noFill/>
          <a:ln w="22225">
            <a:solidFill>
              <a:schemeClr val="accent1"/>
            </a:solidFill>
            <a:prstDash val="solid"/>
          </a:ln>
        </p:spPr>
      </p:sp>
      <p:sp>
        <p:nvSpPr>
          <p:cNvPr id="57" name="Kante 8-3"/>
          <p:cNvSpPr/>
          <p:nvPr/>
        </p:nvSpPr>
        <p:spPr>
          <a:xfrm flipH="1">
            <a:off x="9014857" y="2084832"/>
            <a:ext cx="834649" cy="667512"/>
          </a:xfrm>
          <a:prstGeom prst="line">
            <a:avLst/>
          </a:prstGeom>
          <a:noFill/>
          <a:ln w="22225">
            <a:solidFill>
              <a:schemeClr val="accent1"/>
            </a:solidFill>
            <a:prstDash val="solid"/>
          </a:ln>
        </p:spPr>
      </p:sp>
      <p:sp>
        <p:nvSpPr>
          <p:cNvPr id="58" name="Kante 14-13"/>
          <p:cNvSpPr/>
          <p:nvPr/>
        </p:nvSpPr>
        <p:spPr>
          <a:xfrm flipH="1">
            <a:off x="10811718" y="3419856"/>
            <a:ext cx="255126" cy="667512"/>
          </a:xfrm>
          <a:prstGeom prst="line">
            <a:avLst/>
          </a:prstGeom>
          <a:noFill/>
          <a:ln w="22225">
            <a:solidFill>
              <a:schemeClr val="accent1"/>
            </a:solidFill>
            <a:prstDash val="solid"/>
          </a:ln>
        </p:spPr>
      </p:sp>
      <p:sp>
        <p:nvSpPr>
          <p:cNvPr id="59" name="Kante 10-14"/>
          <p:cNvSpPr/>
          <p:nvPr/>
        </p:nvSpPr>
        <p:spPr>
          <a:xfrm>
            <a:off x="10684155" y="2752344"/>
            <a:ext cx="382690" cy="667512"/>
          </a:xfrm>
          <a:prstGeom prst="line">
            <a:avLst/>
          </a:prstGeom>
          <a:noFill/>
          <a:ln w="22225">
            <a:solidFill>
              <a:schemeClr val="accent1"/>
            </a:solidFill>
            <a:prstDash val="solid"/>
          </a:ln>
        </p:spPr>
      </p:sp>
      <p:sp>
        <p:nvSpPr>
          <p:cNvPr id="60" name="Kante 8-10"/>
          <p:cNvSpPr/>
          <p:nvPr/>
        </p:nvSpPr>
        <p:spPr>
          <a:xfrm>
            <a:off x="9849506" y="2084832"/>
            <a:ext cx="834649" cy="667512"/>
          </a:xfrm>
          <a:prstGeom prst="line">
            <a:avLst/>
          </a:prstGeom>
          <a:noFill/>
          <a:ln w="22225">
            <a:solidFill>
              <a:schemeClr val="accent1"/>
            </a:solidFill>
            <a:prstDash val="solid"/>
          </a:ln>
        </p:spPr>
      </p:sp>
      <p:sp>
        <p:nvSpPr>
          <p:cNvPr id="61" name="Knoten 1"/>
          <p:cNvSpPr txBox="1"/>
          <p:nvPr/>
        </p:nvSpPr>
        <p:spPr>
          <a:xfrm>
            <a:off x="8338732"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62" name="Marke 1"/>
          <p:cNvSpPr txBox="1"/>
          <p:nvPr/>
        </p:nvSpPr>
        <p:spPr>
          <a:xfrm>
            <a:off x="8648256"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63" name="Knoten 4"/>
          <p:cNvSpPr txBox="1"/>
          <p:nvPr/>
        </p:nvSpPr>
        <p:spPr>
          <a:xfrm>
            <a:off x="8959816"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64" name="Marke 4"/>
          <p:cNvSpPr txBox="1"/>
          <p:nvPr/>
        </p:nvSpPr>
        <p:spPr>
          <a:xfrm>
            <a:off x="9269341"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65" name="Knoten 7"/>
          <p:cNvSpPr txBox="1"/>
          <p:nvPr/>
        </p:nvSpPr>
        <p:spPr>
          <a:xfrm>
            <a:off x="9580901" y="3877056"/>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66" name="Marke 7"/>
          <p:cNvSpPr txBox="1"/>
          <p:nvPr/>
        </p:nvSpPr>
        <p:spPr>
          <a:xfrm>
            <a:off x="9890425" y="3741268"/>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67" name="Knoten 6"/>
          <p:cNvSpPr txBox="1"/>
          <p:nvPr/>
        </p:nvSpPr>
        <p:spPr>
          <a:xfrm>
            <a:off x="9270359"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68" name="Knoten 3"/>
          <p:cNvSpPr txBox="1"/>
          <p:nvPr/>
        </p:nvSpPr>
        <p:spPr>
          <a:xfrm>
            <a:off x="8804545" y="2542032"/>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69" name="Knoten 13"/>
          <p:cNvSpPr txBox="1"/>
          <p:nvPr/>
        </p:nvSpPr>
        <p:spPr>
          <a:xfrm>
            <a:off x="10601406"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70" name="Knoten 14"/>
          <p:cNvSpPr txBox="1"/>
          <p:nvPr/>
        </p:nvSpPr>
        <p:spPr>
          <a:xfrm>
            <a:off x="10856533"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71" name="Knoten 10"/>
          <p:cNvSpPr txBox="1"/>
          <p:nvPr/>
        </p:nvSpPr>
        <p:spPr>
          <a:xfrm>
            <a:off x="10473843" y="2542032"/>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72" name="Knoten 8"/>
          <p:cNvSpPr txBox="1"/>
          <p:nvPr/>
        </p:nvSpPr>
        <p:spPr>
          <a:xfrm>
            <a:off x="9639194" y="1874520"/>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73" name="Ausgabe postorder"/>
          <p:cNvSpPr txBox="1"/>
          <p:nvPr/>
        </p:nvSpPr>
        <p:spPr>
          <a:xfrm>
            <a:off x="8257032" y="4526280"/>
            <a:ext cx="3246120" cy="566928"/>
          </a:xfrm>
          <a:prstGeom prst="rect">
            <a:avLst/>
          </a:prstGeom>
          <a:solidFill>
            <a:schemeClr val="accent5"/>
          </a:solidFill>
          <a:ln w="12700">
            <a:solidFill>
              <a:srgbClr val="D0D0D0"/>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dirty="0">
                <a:solidFill>
                  <a:schemeClr val="tx1"/>
                </a:solidFill>
                <a:latin typeface="Consolas" pitchFamily="34" charset="0"/>
                <a:ea typeface="Consolas" pitchFamily="34" charset="-122"/>
                <a:cs typeface="Consolas" pitchFamily="34" charset="-120"/>
              </a:rPr>
              <a:t>"1 4 7 "</a:t>
            </a:r>
            <a:endParaRPr lang="en-US" sz="1800" dirty="0"/>
          </a:p>
        </p:txBody>
      </p:sp>
      <p:sp>
        <p:nvSpPr>
          <p:cNvPr id="74" name="Text 72"/>
          <p:cNvSpPr txBox="1"/>
          <p:nvPr/>
        </p:nvSpPr>
        <p:spPr>
          <a:xfrm>
            <a:off x="8257032"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post(l) + post(r) + item + " "</a:t>
            </a:r>
            <a:endParaRPr lang="en-US" sz="1800" dirty="0"/>
          </a:p>
        </p:txBody>
      </p:sp>
      <p:sp>
        <p:nvSpPr>
          <p:cNvPr id="75" name="Text 73"/>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Traversierungen · 1/3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Traversierungen: pre-, in- und postorder (2/3)</a:t>
            </a:r>
            <a:endParaRPr lang="en-US" sz="3600" dirty="0"/>
          </a:p>
        </p:txBody>
      </p:sp>
      <p:sp>
        <p:nvSpPr>
          <p:cNvPr id="3" name="Spalte preorder"/>
          <p:cNvSpPr/>
          <p:nvPr/>
        </p:nvSpPr>
        <p:spPr>
          <a:xfrm>
            <a:off x="548640"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85800"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preorder</a:t>
            </a:r>
            <a:pPr indent="0" marL="0">
              <a:buNone/>
            </a:pPr>
            <a:r>
              <a:rPr lang="en-US" sz="1400" dirty="0">
                <a:solidFill>
                  <a:schemeClr val="accent6"/>
                </a:solidFill>
              </a:rPr>
              <a:t>   Wurzel · links · rechts</a:t>
            </a:r>
            <a:endParaRPr lang="en-US" sz="1800" dirty="0"/>
          </a:p>
        </p:txBody>
      </p:sp>
      <p:sp>
        <p:nvSpPr>
          <p:cNvPr id="5" name="Kante 3-1"/>
          <p:cNvSpPr/>
          <p:nvPr/>
        </p:nvSpPr>
        <p:spPr>
          <a:xfrm flipH="1">
            <a:off x="977812" y="2752344"/>
            <a:ext cx="465813" cy="667512"/>
          </a:xfrm>
          <a:prstGeom prst="line">
            <a:avLst/>
          </a:prstGeom>
          <a:noFill/>
          <a:ln w="22225">
            <a:solidFill>
              <a:schemeClr val="accent1"/>
            </a:solidFill>
            <a:prstDash val="solid"/>
          </a:ln>
        </p:spPr>
      </p:sp>
      <p:sp>
        <p:nvSpPr>
          <p:cNvPr id="6" name="Kante 6-4"/>
          <p:cNvSpPr/>
          <p:nvPr/>
        </p:nvSpPr>
        <p:spPr>
          <a:xfrm flipH="1">
            <a:off x="1598896" y="3419856"/>
            <a:ext cx="310542" cy="667512"/>
          </a:xfrm>
          <a:prstGeom prst="line">
            <a:avLst/>
          </a:prstGeom>
          <a:noFill/>
          <a:ln w="22225">
            <a:solidFill>
              <a:schemeClr val="accent1"/>
            </a:solidFill>
            <a:prstDash val="solid"/>
          </a:ln>
        </p:spPr>
      </p:sp>
      <p:sp>
        <p:nvSpPr>
          <p:cNvPr id="7" name="Kante 6-7"/>
          <p:cNvSpPr/>
          <p:nvPr/>
        </p:nvSpPr>
        <p:spPr>
          <a:xfrm>
            <a:off x="1909439" y="3419856"/>
            <a:ext cx="310542" cy="667512"/>
          </a:xfrm>
          <a:prstGeom prst="line">
            <a:avLst/>
          </a:prstGeom>
          <a:noFill/>
          <a:ln w="22225">
            <a:solidFill>
              <a:schemeClr val="accent1"/>
            </a:solidFill>
            <a:prstDash val="solid"/>
          </a:ln>
        </p:spPr>
      </p:sp>
      <p:sp>
        <p:nvSpPr>
          <p:cNvPr id="8" name="Kante 3-6"/>
          <p:cNvSpPr/>
          <p:nvPr/>
        </p:nvSpPr>
        <p:spPr>
          <a:xfrm>
            <a:off x="1443625" y="2752344"/>
            <a:ext cx="465813" cy="667512"/>
          </a:xfrm>
          <a:prstGeom prst="line">
            <a:avLst/>
          </a:prstGeom>
          <a:noFill/>
          <a:ln w="22225">
            <a:solidFill>
              <a:schemeClr val="accent1"/>
            </a:solidFill>
            <a:prstDash val="solid"/>
          </a:ln>
        </p:spPr>
      </p:sp>
      <p:sp>
        <p:nvSpPr>
          <p:cNvPr id="9" name="Kante 8-3"/>
          <p:cNvSpPr/>
          <p:nvPr/>
        </p:nvSpPr>
        <p:spPr>
          <a:xfrm flipH="1">
            <a:off x="1443625" y="2084832"/>
            <a:ext cx="834649" cy="667512"/>
          </a:xfrm>
          <a:prstGeom prst="line">
            <a:avLst/>
          </a:prstGeom>
          <a:noFill/>
          <a:ln w="22225">
            <a:solidFill>
              <a:schemeClr val="accent1"/>
            </a:solidFill>
            <a:prstDash val="solid"/>
          </a:ln>
        </p:spPr>
      </p:sp>
      <p:sp>
        <p:nvSpPr>
          <p:cNvPr id="10" name="Kante 14-13"/>
          <p:cNvSpPr/>
          <p:nvPr/>
        </p:nvSpPr>
        <p:spPr>
          <a:xfrm flipH="1">
            <a:off x="3240486" y="3419856"/>
            <a:ext cx="255126" cy="667512"/>
          </a:xfrm>
          <a:prstGeom prst="line">
            <a:avLst/>
          </a:prstGeom>
          <a:noFill/>
          <a:ln w="22225">
            <a:solidFill>
              <a:schemeClr val="accent1"/>
            </a:solidFill>
            <a:prstDash val="solid"/>
          </a:ln>
        </p:spPr>
      </p:sp>
      <p:sp>
        <p:nvSpPr>
          <p:cNvPr id="11" name="Kante 10-14"/>
          <p:cNvSpPr/>
          <p:nvPr/>
        </p:nvSpPr>
        <p:spPr>
          <a:xfrm>
            <a:off x="3112923" y="2752344"/>
            <a:ext cx="382690" cy="667512"/>
          </a:xfrm>
          <a:prstGeom prst="line">
            <a:avLst/>
          </a:prstGeom>
          <a:noFill/>
          <a:ln w="22225">
            <a:solidFill>
              <a:schemeClr val="accent1"/>
            </a:solidFill>
            <a:prstDash val="solid"/>
          </a:ln>
        </p:spPr>
      </p:sp>
      <p:sp>
        <p:nvSpPr>
          <p:cNvPr id="12" name="Kante 8-10"/>
          <p:cNvSpPr/>
          <p:nvPr/>
        </p:nvSpPr>
        <p:spPr>
          <a:xfrm>
            <a:off x="2278274" y="2084832"/>
            <a:ext cx="834649" cy="667512"/>
          </a:xfrm>
          <a:prstGeom prst="line">
            <a:avLst/>
          </a:prstGeom>
          <a:noFill/>
          <a:ln w="22225">
            <a:solidFill>
              <a:schemeClr val="accent1"/>
            </a:solidFill>
            <a:prstDash val="solid"/>
          </a:ln>
        </p:spPr>
      </p:sp>
      <p:sp>
        <p:nvSpPr>
          <p:cNvPr id="13" name="Knoten 1"/>
          <p:cNvSpPr txBox="1"/>
          <p:nvPr/>
        </p:nvSpPr>
        <p:spPr>
          <a:xfrm>
            <a:off x="767500"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14" name="Marke 1"/>
          <p:cNvSpPr txBox="1"/>
          <p:nvPr/>
        </p:nvSpPr>
        <p:spPr>
          <a:xfrm>
            <a:off x="1077024"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5" name="Knoten 4"/>
          <p:cNvSpPr txBox="1"/>
          <p:nvPr/>
        </p:nvSpPr>
        <p:spPr>
          <a:xfrm>
            <a:off x="1388584"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16" name="Marke 4"/>
          <p:cNvSpPr txBox="1"/>
          <p:nvPr/>
        </p:nvSpPr>
        <p:spPr>
          <a:xfrm>
            <a:off x="1698109"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17" name="Knoten 7"/>
          <p:cNvSpPr txBox="1"/>
          <p:nvPr/>
        </p:nvSpPr>
        <p:spPr>
          <a:xfrm>
            <a:off x="2009669" y="3877056"/>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18" name="Marke 7"/>
          <p:cNvSpPr txBox="1"/>
          <p:nvPr/>
        </p:nvSpPr>
        <p:spPr>
          <a:xfrm>
            <a:off x="2319193" y="3741268"/>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19" name="Knoten 6"/>
          <p:cNvSpPr txBox="1"/>
          <p:nvPr/>
        </p:nvSpPr>
        <p:spPr>
          <a:xfrm>
            <a:off x="1699127"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20" name="Marke 6"/>
          <p:cNvSpPr txBox="1"/>
          <p:nvPr/>
        </p:nvSpPr>
        <p:spPr>
          <a:xfrm>
            <a:off x="2008651"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21" name="Knoten 3"/>
          <p:cNvSpPr txBox="1"/>
          <p:nvPr/>
        </p:nvSpPr>
        <p:spPr>
          <a:xfrm>
            <a:off x="1233313"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22" name="Marke 3"/>
          <p:cNvSpPr txBox="1"/>
          <p:nvPr/>
        </p:nvSpPr>
        <p:spPr>
          <a:xfrm>
            <a:off x="1542838"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3" name="Knoten 13"/>
          <p:cNvSpPr txBox="1"/>
          <p:nvPr/>
        </p:nvSpPr>
        <p:spPr>
          <a:xfrm>
            <a:off x="3030174"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24" name="Knoten 14"/>
          <p:cNvSpPr txBox="1"/>
          <p:nvPr/>
        </p:nvSpPr>
        <p:spPr>
          <a:xfrm>
            <a:off x="3285301"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25" name="Knoten 10"/>
          <p:cNvSpPr txBox="1"/>
          <p:nvPr/>
        </p:nvSpPr>
        <p:spPr>
          <a:xfrm>
            <a:off x="2902611" y="2542032"/>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26" name="Knoten 8"/>
          <p:cNvSpPr txBox="1"/>
          <p:nvPr/>
        </p:nvSpPr>
        <p:spPr>
          <a:xfrm>
            <a:off x="2067962" y="1874520"/>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8</a:t>
            </a:r>
            <a:endParaRPr lang="en-US" sz="1500" dirty="0"/>
          </a:p>
        </p:txBody>
      </p:sp>
      <p:sp>
        <p:nvSpPr>
          <p:cNvPr id="27" name="Marke 8"/>
          <p:cNvSpPr txBox="1"/>
          <p:nvPr/>
        </p:nvSpPr>
        <p:spPr>
          <a:xfrm>
            <a:off x="2377487" y="1738732"/>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8" name="Ausgabe preorder"/>
          <p:cNvSpPr txBox="1"/>
          <p:nvPr/>
        </p:nvSpPr>
        <p:spPr>
          <a:xfrm>
            <a:off x="685800" y="4526280"/>
            <a:ext cx="3246120" cy="566928"/>
          </a:xfrm>
          <a:prstGeom prst="rect">
            <a:avLst/>
          </a:prstGeom>
          <a:solidFill>
            <a:schemeClr val="accent5"/>
          </a:solidFill>
          <a:ln w="12700">
            <a:solidFill>
              <a:srgbClr val="D0D0D0"/>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dirty="0">
                <a:solidFill>
                  <a:schemeClr val="tx1"/>
                </a:solidFill>
                <a:latin typeface="Consolas" pitchFamily="34" charset="0"/>
                <a:ea typeface="Consolas" pitchFamily="34" charset="-122"/>
                <a:cs typeface="Consolas" pitchFamily="34" charset="-120"/>
              </a:rPr>
              <a:t>"8 3 1 6 4 7 "</a:t>
            </a:r>
            <a:endParaRPr lang="en-US" sz="1800" dirty="0"/>
          </a:p>
        </p:txBody>
      </p:sp>
      <p:sp>
        <p:nvSpPr>
          <p:cNvPr id="29" name="Text 27"/>
          <p:cNvSpPr txBox="1"/>
          <p:nvPr/>
        </p:nvSpPr>
        <p:spPr>
          <a:xfrm>
            <a:off x="685800"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item + " " + pre(l) + pre(r)</a:t>
            </a:r>
            <a:endParaRPr lang="en-US" sz="1800" dirty="0"/>
          </a:p>
        </p:txBody>
      </p:sp>
      <p:sp>
        <p:nvSpPr>
          <p:cNvPr id="30" name="Spalte inorder"/>
          <p:cNvSpPr/>
          <p:nvPr/>
        </p:nvSpPr>
        <p:spPr>
          <a:xfrm>
            <a:off x="4334256"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31" name="Text 29"/>
          <p:cNvSpPr txBox="1"/>
          <p:nvPr/>
        </p:nvSpPr>
        <p:spPr>
          <a:xfrm>
            <a:off x="4471416"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inorder</a:t>
            </a:r>
            <a:pPr indent="0" marL="0">
              <a:buNone/>
            </a:pPr>
            <a:r>
              <a:rPr lang="en-US" sz="1400" dirty="0">
                <a:solidFill>
                  <a:schemeClr val="accent6"/>
                </a:solidFill>
              </a:rPr>
              <a:t>   links · Wurzel · rechts</a:t>
            </a:r>
            <a:endParaRPr lang="en-US" sz="1800" dirty="0"/>
          </a:p>
        </p:txBody>
      </p:sp>
      <p:sp>
        <p:nvSpPr>
          <p:cNvPr id="32" name="Kante 3-1"/>
          <p:cNvSpPr/>
          <p:nvPr/>
        </p:nvSpPr>
        <p:spPr>
          <a:xfrm flipH="1">
            <a:off x="4763428" y="2752344"/>
            <a:ext cx="465813" cy="667512"/>
          </a:xfrm>
          <a:prstGeom prst="line">
            <a:avLst/>
          </a:prstGeom>
          <a:noFill/>
          <a:ln w="22225">
            <a:solidFill>
              <a:schemeClr val="accent1"/>
            </a:solidFill>
            <a:prstDash val="solid"/>
          </a:ln>
        </p:spPr>
      </p:sp>
      <p:sp>
        <p:nvSpPr>
          <p:cNvPr id="33" name="Kante 6-4"/>
          <p:cNvSpPr/>
          <p:nvPr/>
        </p:nvSpPr>
        <p:spPr>
          <a:xfrm flipH="1">
            <a:off x="5384512" y="3419856"/>
            <a:ext cx="310542" cy="667512"/>
          </a:xfrm>
          <a:prstGeom prst="line">
            <a:avLst/>
          </a:prstGeom>
          <a:noFill/>
          <a:ln w="22225">
            <a:solidFill>
              <a:schemeClr val="accent1"/>
            </a:solidFill>
            <a:prstDash val="solid"/>
          </a:ln>
        </p:spPr>
      </p:sp>
      <p:sp>
        <p:nvSpPr>
          <p:cNvPr id="34" name="Kante 6-7"/>
          <p:cNvSpPr/>
          <p:nvPr/>
        </p:nvSpPr>
        <p:spPr>
          <a:xfrm>
            <a:off x="5695055" y="3419856"/>
            <a:ext cx="310542" cy="667512"/>
          </a:xfrm>
          <a:prstGeom prst="line">
            <a:avLst/>
          </a:prstGeom>
          <a:noFill/>
          <a:ln w="22225">
            <a:solidFill>
              <a:schemeClr val="accent1"/>
            </a:solidFill>
            <a:prstDash val="solid"/>
          </a:ln>
        </p:spPr>
      </p:sp>
      <p:sp>
        <p:nvSpPr>
          <p:cNvPr id="35" name="Kante 3-6"/>
          <p:cNvSpPr/>
          <p:nvPr/>
        </p:nvSpPr>
        <p:spPr>
          <a:xfrm>
            <a:off x="5229241" y="2752344"/>
            <a:ext cx="465813" cy="667512"/>
          </a:xfrm>
          <a:prstGeom prst="line">
            <a:avLst/>
          </a:prstGeom>
          <a:noFill/>
          <a:ln w="22225">
            <a:solidFill>
              <a:schemeClr val="accent1"/>
            </a:solidFill>
            <a:prstDash val="solid"/>
          </a:ln>
        </p:spPr>
      </p:sp>
      <p:sp>
        <p:nvSpPr>
          <p:cNvPr id="36" name="Kante 8-3"/>
          <p:cNvSpPr/>
          <p:nvPr/>
        </p:nvSpPr>
        <p:spPr>
          <a:xfrm flipH="1">
            <a:off x="5229241" y="2084832"/>
            <a:ext cx="834649" cy="667512"/>
          </a:xfrm>
          <a:prstGeom prst="line">
            <a:avLst/>
          </a:prstGeom>
          <a:noFill/>
          <a:ln w="22225">
            <a:solidFill>
              <a:schemeClr val="accent1"/>
            </a:solidFill>
            <a:prstDash val="solid"/>
          </a:ln>
        </p:spPr>
      </p:sp>
      <p:sp>
        <p:nvSpPr>
          <p:cNvPr id="37" name="Kante 14-13"/>
          <p:cNvSpPr/>
          <p:nvPr/>
        </p:nvSpPr>
        <p:spPr>
          <a:xfrm flipH="1">
            <a:off x="7026102" y="3419856"/>
            <a:ext cx="255126" cy="667512"/>
          </a:xfrm>
          <a:prstGeom prst="line">
            <a:avLst/>
          </a:prstGeom>
          <a:noFill/>
          <a:ln w="22225">
            <a:solidFill>
              <a:schemeClr val="accent1"/>
            </a:solidFill>
            <a:prstDash val="solid"/>
          </a:ln>
        </p:spPr>
      </p:sp>
      <p:sp>
        <p:nvSpPr>
          <p:cNvPr id="38" name="Kante 10-14"/>
          <p:cNvSpPr/>
          <p:nvPr/>
        </p:nvSpPr>
        <p:spPr>
          <a:xfrm>
            <a:off x="6898539" y="2752344"/>
            <a:ext cx="382690" cy="667512"/>
          </a:xfrm>
          <a:prstGeom prst="line">
            <a:avLst/>
          </a:prstGeom>
          <a:noFill/>
          <a:ln w="22225">
            <a:solidFill>
              <a:schemeClr val="accent1"/>
            </a:solidFill>
            <a:prstDash val="solid"/>
          </a:ln>
        </p:spPr>
      </p:sp>
      <p:sp>
        <p:nvSpPr>
          <p:cNvPr id="39" name="Kante 8-10"/>
          <p:cNvSpPr/>
          <p:nvPr/>
        </p:nvSpPr>
        <p:spPr>
          <a:xfrm>
            <a:off x="6063890" y="2084832"/>
            <a:ext cx="834649" cy="667512"/>
          </a:xfrm>
          <a:prstGeom prst="line">
            <a:avLst/>
          </a:prstGeom>
          <a:noFill/>
          <a:ln w="22225">
            <a:solidFill>
              <a:schemeClr val="accent1"/>
            </a:solidFill>
            <a:prstDash val="solid"/>
          </a:ln>
        </p:spPr>
      </p:sp>
      <p:sp>
        <p:nvSpPr>
          <p:cNvPr id="40" name="Knoten 1"/>
          <p:cNvSpPr txBox="1"/>
          <p:nvPr/>
        </p:nvSpPr>
        <p:spPr>
          <a:xfrm>
            <a:off x="4553116"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41" name="Marke 1"/>
          <p:cNvSpPr txBox="1"/>
          <p:nvPr/>
        </p:nvSpPr>
        <p:spPr>
          <a:xfrm>
            <a:off x="4862640"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42" name="Knoten 4"/>
          <p:cNvSpPr txBox="1"/>
          <p:nvPr/>
        </p:nvSpPr>
        <p:spPr>
          <a:xfrm>
            <a:off x="5174200"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43" name="Marke 4"/>
          <p:cNvSpPr txBox="1"/>
          <p:nvPr/>
        </p:nvSpPr>
        <p:spPr>
          <a:xfrm>
            <a:off x="5483725"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44" name="Knoten 7"/>
          <p:cNvSpPr txBox="1"/>
          <p:nvPr/>
        </p:nvSpPr>
        <p:spPr>
          <a:xfrm>
            <a:off x="5795285"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45" name="Marke 7"/>
          <p:cNvSpPr txBox="1"/>
          <p:nvPr/>
        </p:nvSpPr>
        <p:spPr>
          <a:xfrm>
            <a:off x="6104809"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46" name="Knoten 6"/>
          <p:cNvSpPr txBox="1"/>
          <p:nvPr/>
        </p:nvSpPr>
        <p:spPr>
          <a:xfrm>
            <a:off x="5484743"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47" name="Marke 6"/>
          <p:cNvSpPr txBox="1"/>
          <p:nvPr/>
        </p:nvSpPr>
        <p:spPr>
          <a:xfrm>
            <a:off x="5794267"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48" name="Knoten 3"/>
          <p:cNvSpPr txBox="1"/>
          <p:nvPr/>
        </p:nvSpPr>
        <p:spPr>
          <a:xfrm>
            <a:off x="5018929"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49" name="Marke 3"/>
          <p:cNvSpPr txBox="1"/>
          <p:nvPr/>
        </p:nvSpPr>
        <p:spPr>
          <a:xfrm>
            <a:off x="5328454"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50" name="Knoten 13"/>
          <p:cNvSpPr txBox="1"/>
          <p:nvPr/>
        </p:nvSpPr>
        <p:spPr>
          <a:xfrm>
            <a:off x="6815790" y="387705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51" name="Knoten 14"/>
          <p:cNvSpPr txBox="1"/>
          <p:nvPr/>
        </p:nvSpPr>
        <p:spPr>
          <a:xfrm>
            <a:off x="7070917"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52" name="Knoten 10"/>
          <p:cNvSpPr txBox="1"/>
          <p:nvPr/>
        </p:nvSpPr>
        <p:spPr>
          <a:xfrm>
            <a:off x="6688227" y="2542032"/>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53" name="Knoten 8"/>
          <p:cNvSpPr txBox="1"/>
          <p:nvPr/>
        </p:nvSpPr>
        <p:spPr>
          <a:xfrm>
            <a:off x="5853578" y="1874520"/>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54" name="Marke 8"/>
          <p:cNvSpPr txBox="1"/>
          <p:nvPr/>
        </p:nvSpPr>
        <p:spPr>
          <a:xfrm>
            <a:off x="6163103" y="1738732"/>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55" name="Ausgabe inorder"/>
          <p:cNvSpPr txBox="1"/>
          <p:nvPr/>
        </p:nvSpPr>
        <p:spPr>
          <a:xfrm>
            <a:off x="4471416" y="4526280"/>
            <a:ext cx="3246120" cy="566928"/>
          </a:xfrm>
          <a:prstGeom prst="rect">
            <a:avLst/>
          </a:prstGeom>
          <a:solidFill>
            <a:schemeClr val="accent5"/>
          </a:solidFill>
          <a:ln w="12700">
            <a:solidFill>
              <a:srgbClr val="D0D0D0"/>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dirty="0">
                <a:solidFill>
                  <a:schemeClr val="tx1"/>
                </a:solidFill>
                <a:latin typeface="Consolas" pitchFamily="34" charset="0"/>
                <a:ea typeface="Consolas" pitchFamily="34" charset="-122"/>
                <a:cs typeface="Consolas" pitchFamily="34" charset="-120"/>
              </a:rPr>
              <a:t>"1 3 4 6 7 8 "</a:t>
            </a:r>
            <a:endParaRPr lang="en-US" sz="1800" dirty="0"/>
          </a:p>
        </p:txBody>
      </p:sp>
      <p:sp>
        <p:nvSpPr>
          <p:cNvPr id="56" name="Text 54"/>
          <p:cNvSpPr txBox="1"/>
          <p:nvPr/>
        </p:nvSpPr>
        <p:spPr>
          <a:xfrm>
            <a:off x="4471416"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in(l) + item + " " + in(r)</a:t>
            </a:r>
            <a:endParaRPr lang="en-US" sz="1800" dirty="0"/>
          </a:p>
        </p:txBody>
      </p:sp>
      <p:sp>
        <p:nvSpPr>
          <p:cNvPr id="57" name="Spalte postorder"/>
          <p:cNvSpPr/>
          <p:nvPr/>
        </p:nvSpPr>
        <p:spPr>
          <a:xfrm>
            <a:off x="8119872"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58" name="Text 56"/>
          <p:cNvSpPr txBox="1"/>
          <p:nvPr/>
        </p:nvSpPr>
        <p:spPr>
          <a:xfrm>
            <a:off x="8257032"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postorder</a:t>
            </a:r>
            <a:pPr indent="0" marL="0">
              <a:buNone/>
            </a:pPr>
            <a:r>
              <a:rPr lang="en-US" sz="1400" dirty="0">
                <a:solidFill>
                  <a:schemeClr val="accent6"/>
                </a:solidFill>
              </a:rPr>
              <a:t>   links · rechts · Wurzel</a:t>
            </a:r>
            <a:endParaRPr lang="en-US" sz="1800" dirty="0"/>
          </a:p>
        </p:txBody>
      </p:sp>
      <p:sp>
        <p:nvSpPr>
          <p:cNvPr id="59" name="Kante 3-1"/>
          <p:cNvSpPr/>
          <p:nvPr/>
        </p:nvSpPr>
        <p:spPr>
          <a:xfrm flipH="1">
            <a:off x="8549044" y="2752344"/>
            <a:ext cx="465813" cy="667512"/>
          </a:xfrm>
          <a:prstGeom prst="line">
            <a:avLst/>
          </a:prstGeom>
          <a:noFill/>
          <a:ln w="22225">
            <a:solidFill>
              <a:schemeClr val="accent1"/>
            </a:solidFill>
            <a:prstDash val="solid"/>
          </a:ln>
        </p:spPr>
      </p:sp>
      <p:sp>
        <p:nvSpPr>
          <p:cNvPr id="60" name="Kante 6-4"/>
          <p:cNvSpPr/>
          <p:nvPr/>
        </p:nvSpPr>
        <p:spPr>
          <a:xfrm flipH="1">
            <a:off x="9170128" y="3419856"/>
            <a:ext cx="310542" cy="667512"/>
          </a:xfrm>
          <a:prstGeom prst="line">
            <a:avLst/>
          </a:prstGeom>
          <a:noFill/>
          <a:ln w="22225">
            <a:solidFill>
              <a:schemeClr val="accent1"/>
            </a:solidFill>
            <a:prstDash val="solid"/>
          </a:ln>
        </p:spPr>
      </p:sp>
      <p:sp>
        <p:nvSpPr>
          <p:cNvPr id="61" name="Kante 6-7"/>
          <p:cNvSpPr/>
          <p:nvPr/>
        </p:nvSpPr>
        <p:spPr>
          <a:xfrm>
            <a:off x="9480671" y="3419856"/>
            <a:ext cx="310542" cy="667512"/>
          </a:xfrm>
          <a:prstGeom prst="line">
            <a:avLst/>
          </a:prstGeom>
          <a:noFill/>
          <a:ln w="22225">
            <a:solidFill>
              <a:schemeClr val="accent1"/>
            </a:solidFill>
            <a:prstDash val="solid"/>
          </a:ln>
        </p:spPr>
      </p:sp>
      <p:sp>
        <p:nvSpPr>
          <p:cNvPr id="62" name="Kante 3-6"/>
          <p:cNvSpPr/>
          <p:nvPr/>
        </p:nvSpPr>
        <p:spPr>
          <a:xfrm>
            <a:off x="9014857" y="2752344"/>
            <a:ext cx="465813" cy="667512"/>
          </a:xfrm>
          <a:prstGeom prst="line">
            <a:avLst/>
          </a:prstGeom>
          <a:noFill/>
          <a:ln w="22225">
            <a:solidFill>
              <a:schemeClr val="accent1"/>
            </a:solidFill>
            <a:prstDash val="solid"/>
          </a:ln>
        </p:spPr>
      </p:sp>
      <p:sp>
        <p:nvSpPr>
          <p:cNvPr id="63" name="Kante 8-3"/>
          <p:cNvSpPr/>
          <p:nvPr/>
        </p:nvSpPr>
        <p:spPr>
          <a:xfrm flipH="1">
            <a:off x="9014857" y="2084832"/>
            <a:ext cx="834649" cy="667512"/>
          </a:xfrm>
          <a:prstGeom prst="line">
            <a:avLst/>
          </a:prstGeom>
          <a:noFill/>
          <a:ln w="22225">
            <a:solidFill>
              <a:schemeClr val="accent1"/>
            </a:solidFill>
            <a:prstDash val="solid"/>
          </a:ln>
        </p:spPr>
      </p:sp>
      <p:sp>
        <p:nvSpPr>
          <p:cNvPr id="64" name="Kante 14-13"/>
          <p:cNvSpPr/>
          <p:nvPr/>
        </p:nvSpPr>
        <p:spPr>
          <a:xfrm flipH="1">
            <a:off x="10811718" y="3419856"/>
            <a:ext cx="255126" cy="667512"/>
          </a:xfrm>
          <a:prstGeom prst="line">
            <a:avLst/>
          </a:prstGeom>
          <a:noFill/>
          <a:ln w="22225">
            <a:solidFill>
              <a:schemeClr val="accent1"/>
            </a:solidFill>
            <a:prstDash val="solid"/>
          </a:ln>
        </p:spPr>
      </p:sp>
      <p:sp>
        <p:nvSpPr>
          <p:cNvPr id="65" name="Kante 10-14"/>
          <p:cNvSpPr/>
          <p:nvPr/>
        </p:nvSpPr>
        <p:spPr>
          <a:xfrm>
            <a:off x="10684155" y="2752344"/>
            <a:ext cx="382690" cy="667512"/>
          </a:xfrm>
          <a:prstGeom prst="line">
            <a:avLst/>
          </a:prstGeom>
          <a:noFill/>
          <a:ln w="22225">
            <a:solidFill>
              <a:schemeClr val="accent1"/>
            </a:solidFill>
            <a:prstDash val="solid"/>
          </a:ln>
        </p:spPr>
      </p:sp>
      <p:sp>
        <p:nvSpPr>
          <p:cNvPr id="66" name="Kante 8-10"/>
          <p:cNvSpPr/>
          <p:nvPr/>
        </p:nvSpPr>
        <p:spPr>
          <a:xfrm>
            <a:off x="9849506" y="2084832"/>
            <a:ext cx="834649" cy="667512"/>
          </a:xfrm>
          <a:prstGeom prst="line">
            <a:avLst/>
          </a:prstGeom>
          <a:noFill/>
          <a:ln w="22225">
            <a:solidFill>
              <a:schemeClr val="accent1"/>
            </a:solidFill>
            <a:prstDash val="solid"/>
          </a:ln>
        </p:spPr>
      </p:sp>
      <p:sp>
        <p:nvSpPr>
          <p:cNvPr id="67" name="Knoten 1"/>
          <p:cNvSpPr txBox="1"/>
          <p:nvPr/>
        </p:nvSpPr>
        <p:spPr>
          <a:xfrm>
            <a:off x="8338732"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68" name="Marke 1"/>
          <p:cNvSpPr txBox="1"/>
          <p:nvPr/>
        </p:nvSpPr>
        <p:spPr>
          <a:xfrm>
            <a:off x="8648256"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69" name="Knoten 4"/>
          <p:cNvSpPr txBox="1"/>
          <p:nvPr/>
        </p:nvSpPr>
        <p:spPr>
          <a:xfrm>
            <a:off x="8959816"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70" name="Marke 4"/>
          <p:cNvSpPr txBox="1"/>
          <p:nvPr/>
        </p:nvSpPr>
        <p:spPr>
          <a:xfrm>
            <a:off x="9269341"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71" name="Knoten 7"/>
          <p:cNvSpPr txBox="1"/>
          <p:nvPr/>
        </p:nvSpPr>
        <p:spPr>
          <a:xfrm>
            <a:off x="9580901"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72" name="Marke 7"/>
          <p:cNvSpPr txBox="1"/>
          <p:nvPr/>
        </p:nvSpPr>
        <p:spPr>
          <a:xfrm>
            <a:off x="9890425"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73" name="Knoten 6"/>
          <p:cNvSpPr txBox="1"/>
          <p:nvPr/>
        </p:nvSpPr>
        <p:spPr>
          <a:xfrm>
            <a:off x="9270359"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74" name="Marke 6"/>
          <p:cNvSpPr txBox="1"/>
          <p:nvPr/>
        </p:nvSpPr>
        <p:spPr>
          <a:xfrm>
            <a:off x="9579883"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75" name="Knoten 3"/>
          <p:cNvSpPr txBox="1"/>
          <p:nvPr/>
        </p:nvSpPr>
        <p:spPr>
          <a:xfrm>
            <a:off x="8804545"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76" name="Marke 3"/>
          <p:cNvSpPr txBox="1"/>
          <p:nvPr/>
        </p:nvSpPr>
        <p:spPr>
          <a:xfrm>
            <a:off x="9114070"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77" name="Knoten 13"/>
          <p:cNvSpPr txBox="1"/>
          <p:nvPr/>
        </p:nvSpPr>
        <p:spPr>
          <a:xfrm>
            <a:off x="10601406" y="3877056"/>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78" name="Marke 13"/>
          <p:cNvSpPr txBox="1"/>
          <p:nvPr/>
        </p:nvSpPr>
        <p:spPr>
          <a:xfrm>
            <a:off x="10910931" y="3741268"/>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79" name="Knoten 14"/>
          <p:cNvSpPr txBox="1"/>
          <p:nvPr/>
        </p:nvSpPr>
        <p:spPr>
          <a:xfrm>
            <a:off x="10856533" y="3209544"/>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80" name="Knoten 10"/>
          <p:cNvSpPr txBox="1"/>
          <p:nvPr/>
        </p:nvSpPr>
        <p:spPr>
          <a:xfrm>
            <a:off x="10473843" y="2542032"/>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81" name="Knoten 8"/>
          <p:cNvSpPr txBox="1"/>
          <p:nvPr/>
        </p:nvSpPr>
        <p:spPr>
          <a:xfrm>
            <a:off x="9639194" y="1874520"/>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82" name="Ausgabe postorder"/>
          <p:cNvSpPr txBox="1"/>
          <p:nvPr/>
        </p:nvSpPr>
        <p:spPr>
          <a:xfrm>
            <a:off x="8257032" y="4526280"/>
            <a:ext cx="3246120" cy="566928"/>
          </a:xfrm>
          <a:prstGeom prst="rect">
            <a:avLst/>
          </a:prstGeom>
          <a:solidFill>
            <a:schemeClr val="accent5"/>
          </a:solidFill>
          <a:ln w="12700">
            <a:solidFill>
              <a:srgbClr val="D0D0D0"/>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dirty="0">
                <a:solidFill>
                  <a:schemeClr val="tx1"/>
                </a:solidFill>
                <a:latin typeface="Consolas" pitchFamily="34" charset="0"/>
                <a:ea typeface="Consolas" pitchFamily="34" charset="-122"/>
                <a:cs typeface="Consolas" pitchFamily="34" charset="-120"/>
              </a:rPr>
              <a:t>"1 4 7 6 3 13 "</a:t>
            </a:r>
            <a:endParaRPr lang="en-US" sz="1800" dirty="0"/>
          </a:p>
        </p:txBody>
      </p:sp>
      <p:sp>
        <p:nvSpPr>
          <p:cNvPr id="83" name="Text 81"/>
          <p:cNvSpPr txBox="1"/>
          <p:nvPr/>
        </p:nvSpPr>
        <p:spPr>
          <a:xfrm>
            <a:off x="8257032"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post(l) + post(r) + item + " "</a:t>
            </a:r>
            <a:endParaRPr lang="en-US" sz="1800" dirty="0"/>
          </a:p>
        </p:txBody>
      </p:sp>
      <p:sp>
        <p:nvSpPr>
          <p:cNvPr id="84" name="Text 82"/>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Traversierungen · 2/3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Traversierungen: pre-, in- und postorder (3/3)</a:t>
            </a:r>
            <a:endParaRPr lang="en-US" sz="3600" dirty="0"/>
          </a:p>
        </p:txBody>
      </p:sp>
      <p:sp>
        <p:nvSpPr>
          <p:cNvPr id="3" name="Spalte preorder"/>
          <p:cNvSpPr/>
          <p:nvPr/>
        </p:nvSpPr>
        <p:spPr>
          <a:xfrm>
            <a:off x="548640"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85800"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preorder</a:t>
            </a:r>
            <a:pPr indent="0" marL="0">
              <a:buNone/>
            </a:pPr>
            <a:r>
              <a:rPr lang="en-US" sz="1400" dirty="0">
                <a:solidFill>
                  <a:schemeClr val="accent6"/>
                </a:solidFill>
              </a:rPr>
              <a:t>   Wurzel · links · rechts</a:t>
            </a:r>
            <a:endParaRPr lang="en-US" sz="1800" dirty="0"/>
          </a:p>
        </p:txBody>
      </p:sp>
      <p:sp>
        <p:nvSpPr>
          <p:cNvPr id="5" name="Kante 3-1"/>
          <p:cNvSpPr/>
          <p:nvPr/>
        </p:nvSpPr>
        <p:spPr>
          <a:xfrm flipH="1">
            <a:off x="977812" y="2752344"/>
            <a:ext cx="465813" cy="667512"/>
          </a:xfrm>
          <a:prstGeom prst="line">
            <a:avLst/>
          </a:prstGeom>
          <a:noFill/>
          <a:ln w="22225">
            <a:solidFill>
              <a:schemeClr val="accent1"/>
            </a:solidFill>
            <a:prstDash val="solid"/>
          </a:ln>
        </p:spPr>
      </p:sp>
      <p:sp>
        <p:nvSpPr>
          <p:cNvPr id="6" name="Kante 6-4"/>
          <p:cNvSpPr/>
          <p:nvPr/>
        </p:nvSpPr>
        <p:spPr>
          <a:xfrm flipH="1">
            <a:off x="1598896" y="3419856"/>
            <a:ext cx="310542" cy="667512"/>
          </a:xfrm>
          <a:prstGeom prst="line">
            <a:avLst/>
          </a:prstGeom>
          <a:noFill/>
          <a:ln w="22225">
            <a:solidFill>
              <a:schemeClr val="accent1"/>
            </a:solidFill>
            <a:prstDash val="solid"/>
          </a:ln>
        </p:spPr>
      </p:sp>
      <p:sp>
        <p:nvSpPr>
          <p:cNvPr id="7" name="Kante 6-7"/>
          <p:cNvSpPr/>
          <p:nvPr/>
        </p:nvSpPr>
        <p:spPr>
          <a:xfrm>
            <a:off x="1909439" y="3419856"/>
            <a:ext cx="310542" cy="667512"/>
          </a:xfrm>
          <a:prstGeom prst="line">
            <a:avLst/>
          </a:prstGeom>
          <a:noFill/>
          <a:ln w="22225">
            <a:solidFill>
              <a:schemeClr val="accent1"/>
            </a:solidFill>
            <a:prstDash val="solid"/>
          </a:ln>
        </p:spPr>
      </p:sp>
      <p:sp>
        <p:nvSpPr>
          <p:cNvPr id="8" name="Kante 3-6"/>
          <p:cNvSpPr/>
          <p:nvPr/>
        </p:nvSpPr>
        <p:spPr>
          <a:xfrm>
            <a:off x="1443625" y="2752344"/>
            <a:ext cx="465813" cy="667512"/>
          </a:xfrm>
          <a:prstGeom prst="line">
            <a:avLst/>
          </a:prstGeom>
          <a:noFill/>
          <a:ln w="22225">
            <a:solidFill>
              <a:schemeClr val="accent1"/>
            </a:solidFill>
            <a:prstDash val="solid"/>
          </a:ln>
        </p:spPr>
      </p:sp>
      <p:sp>
        <p:nvSpPr>
          <p:cNvPr id="9" name="Kante 8-3"/>
          <p:cNvSpPr/>
          <p:nvPr/>
        </p:nvSpPr>
        <p:spPr>
          <a:xfrm flipH="1">
            <a:off x="1443625" y="2084832"/>
            <a:ext cx="834649" cy="667512"/>
          </a:xfrm>
          <a:prstGeom prst="line">
            <a:avLst/>
          </a:prstGeom>
          <a:noFill/>
          <a:ln w="22225">
            <a:solidFill>
              <a:schemeClr val="accent1"/>
            </a:solidFill>
            <a:prstDash val="solid"/>
          </a:ln>
        </p:spPr>
      </p:sp>
      <p:sp>
        <p:nvSpPr>
          <p:cNvPr id="10" name="Kante 14-13"/>
          <p:cNvSpPr/>
          <p:nvPr/>
        </p:nvSpPr>
        <p:spPr>
          <a:xfrm flipH="1">
            <a:off x="3240486" y="3419856"/>
            <a:ext cx="255126" cy="667512"/>
          </a:xfrm>
          <a:prstGeom prst="line">
            <a:avLst/>
          </a:prstGeom>
          <a:noFill/>
          <a:ln w="22225">
            <a:solidFill>
              <a:schemeClr val="accent1"/>
            </a:solidFill>
            <a:prstDash val="solid"/>
          </a:ln>
        </p:spPr>
      </p:sp>
      <p:sp>
        <p:nvSpPr>
          <p:cNvPr id="11" name="Kante 10-14"/>
          <p:cNvSpPr/>
          <p:nvPr/>
        </p:nvSpPr>
        <p:spPr>
          <a:xfrm>
            <a:off x="3112923" y="2752344"/>
            <a:ext cx="382690" cy="667512"/>
          </a:xfrm>
          <a:prstGeom prst="line">
            <a:avLst/>
          </a:prstGeom>
          <a:noFill/>
          <a:ln w="22225">
            <a:solidFill>
              <a:schemeClr val="accent1"/>
            </a:solidFill>
            <a:prstDash val="solid"/>
          </a:ln>
        </p:spPr>
      </p:sp>
      <p:sp>
        <p:nvSpPr>
          <p:cNvPr id="12" name="Kante 8-10"/>
          <p:cNvSpPr/>
          <p:nvPr/>
        </p:nvSpPr>
        <p:spPr>
          <a:xfrm>
            <a:off x="2278274" y="2084832"/>
            <a:ext cx="834649" cy="667512"/>
          </a:xfrm>
          <a:prstGeom prst="line">
            <a:avLst/>
          </a:prstGeom>
          <a:noFill/>
          <a:ln w="22225">
            <a:solidFill>
              <a:schemeClr val="accent1"/>
            </a:solidFill>
            <a:prstDash val="solid"/>
          </a:ln>
        </p:spPr>
      </p:sp>
      <p:sp>
        <p:nvSpPr>
          <p:cNvPr id="13" name="Knoten 1"/>
          <p:cNvSpPr txBox="1"/>
          <p:nvPr/>
        </p:nvSpPr>
        <p:spPr>
          <a:xfrm>
            <a:off x="767500"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14" name="Marke 1"/>
          <p:cNvSpPr txBox="1"/>
          <p:nvPr/>
        </p:nvSpPr>
        <p:spPr>
          <a:xfrm>
            <a:off x="1077024"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5" name="Knoten 4"/>
          <p:cNvSpPr txBox="1"/>
          <p:nvPr/>
        </p:nvSpPr>
        <p:spPr>
          <a:xfrm>
            <a:off x="1388584"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16" name="Marke 4"/>
          <p:cNvSpPr txBox="1"/>
          <p:nvPr/>
        </p:nvSpPr>
        <p:spPr>
          <a:xfrm>
            <a:off x="1698109"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17" name="Knoten 7"/>
          <p:cNvSpPr txBox="1"/>
          <p:nvPr/>
        </p:nvSpPr>
        <p:spPr>
          <a:xfrm>
            <a:off x="2009669"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18" name="Marke 7"/>
          <p:cNvSpPr txBox="1"/>
          <p:nvPr/>
        </p:nvSpPr>
        <p:spPr>
          <a:xfrm>
            <a:off x="2319193"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19" name="Knoten 6"/>
          <p:cNvSpPr txBox="1"/>
          <p:nvPr/>
        </p:nvSpPr>
        <p:spPr>
          <a:xfrm>
            <a:off x="1699127"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20" name="Marke 6"/>
          <p:cNvSpPr txBox="1"/>
          <p:nvPr/>
        </p:nvSpPr>
        <p:spPr>
          <a:xfrm>
            <a:off x="2008651"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21" name="Knoten 3"/>
          <p:cNvSpPr txBox="1"/>
          <p:nvPr/>
        </p:nvSpPr>
        <p:spPr>
          <a:xfrm>
            <a:off x="1233313"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22" name="Marke 3"/>
          <p:cNvSpPr txBox="1"/>
          <p:nvPr/>
        </p:nvSpPr>
        <p:spPr>
          <a:xfrm>
            <a:off x="1542838"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3" name="Knoten 13"/>
          <p:cNvSpPr txBox="1"/>
          <p:nvPr/>
        </p:nvSpPr>
        <p:spPr>
          <a:xfrm>
            <a:off x="3030174" y="3877056"/>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24" name="Marke 13"/>
          <p:cNvSpPr txBox="1"/>
          <p:nvPr/>
        </p:nvSpPr>
        <p:spPr>
          <a:xfrm>
            <a:off x="3339699" y="3741268"/>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25" name="Knoten 14"/>
          <p:cNvSpPr txBox="1"/>
          <p:nvPr/>
        </p:nvSpPr>
        <p:spPr>
          <a:xfrm>
            <a:off x="3285301"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14</a:t>
            </a:r>
            <a:endParaRPr lang="en-US" sz="1500" dirty="0"/>
          </a:p>
        </p:txBody>
      </p:sp>
      <p:sp>
        <p:nvSpPr>
          <p:cNvPr id="26" name="Marke 14"/>
          <p:cNvSpPr txBox="1"/>
          <p:nvPr/>
        </p:nvSpPr>
        <p:spPr>
          <a:xfrm>
            <a:off x="3594825"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27" name="Knoten 10"/>
          <p:cNvSpPr txBox="1"/>
          <p:nvPr/>
        </p:nvSpPr>
        <p:spPr>
          <a:xfrm>
            <a:off x="2902611"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10</a:t>
            </a:r>
            <a:endParaRPr lang="en-US" sz="1500" dirty="0"/>
          </a:p>
        </p:txBody>
      </p:sp>
      <p:sp>
        <p:nvSpPr>
          <p:cNvPr id="28" name="Marke 10"/>
          <p:cNvSpPr txBox="1"/>
          <p:nvPr/>
        </p:nvSpPr>
        <p:spPr>
          <a:xfrm>
            <a:off x="3212136"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29" name="Knoten 8"/>
          <p:cNvSpPr txBox="1"/>
          <p:nvPr/>
        </p:nvSpPr>
        <p:spPr>
          <a:xfrm>
            <a:off x="2067962" y="1874520"/>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8</a:t>
            </a:r>
            <a:endParaRPr lang="en-US" sz="1500" dirty="0"/>
          </a:p>
        </p:txBody>
      </p:sp>
      <p:sp>
        <p:nvSpPr>
          <p:cNvPr id="30" name="Marke 8"/>
          <p:cNvSpPr txBox="1"/>
          <p:nvPr/>
        </p:nvSpPr>
        <p:spPr>
          <a:xfrm>
            <a:off x="2377487" y="1738732"/>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31" name="Ausgabe preorder"/>
          <p:cNvSpPr txBox="1"/>
          <p:nvPr/>
        </p:nvSpPr>
        <p:spPr>
          <a:xfrm>
            <a:off x="685800" y="4526280"/>
            <a:ext cx="3246120" cy="566928"/>
          </a:xfrm>
          <a:prstGeom prst="rect">
            <a:avLst/>
          </a:prstGeom>
          <a:solidFill>
            <a:srgbClr val="E2EFDA"/>
          </a:solidFill>
          <a:ln w="12700">
            <a:solidFill>
              <a:schemeClr val="accent3"/>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b="1" dirty="0">
                <a:solidFill>
                  <a:schemeClr val="accent3"/>
                </a:solidFill>
                <a:latin typeface="Consolas" pitchFamily="34" charset="0"/>
                <a:ea typeface="Consolas" pitchFamily="34" charset="-122"/>
                <a:cs typeface="Consolas" pitchFamily="34" charset="-120"/>
              </a:rPr>
              <a:t>"8 3 1 6 4 7 10 14 13 "</a:t>
            </a:r>
            <a:endParaRPr lang="en-US" sz="1800" dirty="0"/>
          </a:p>
        </p:txBody>
      </p:sp>
      <p:sp>
        <p:nvSpPr>
          <p:cNvPr id="32" name="Text 30"/>
          <p:cNvSpPr txBox="1"/>
          <p:nvPr/>
        </p:nvSpPr>
        <p:spPr>
          <a:xfrm>
            <a:off x="685800"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item + " " + pre(l) + pre(r)</a:t>
            </a:r>
            <a:endParaRPr lang="en-US" sz="1800" dirty="0"/>
          </a:p>
        </p:txBody>
      </p:sp>
      <p:sp>
        <p:nvSpPr>
          <p:cNvPr id="33" name="Spalte inorder"/>
          <p:cNvSpPr/>
          <p:nvPr/>
        </p:nvSpPr>
        <p:spPr>
          <a:xfrm>
            <a:off x="4334256"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34" name="Text 32"/>
          <p:cNvSpPr txBox="1"/>
          <p:nvPr/>
        </p:nvSpPr>
        <p:spPr>
          <a:xfrm>
            <a:off x="4471416"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inorder</a:t>
            </a:r>
            <a:pPr indent="0" marL="0">
              <a:buNone/>
            </a:pPr>
            <a:r>
              <a:rPr lang="en-US" sz="1400" dirty="0">
                <a:solidFill>
                  <a:schemeClr val="accent6"/>
                </a:solidFill>
              </a:rPr>
              <a:t>   links · Wurzel · rechts</a:t>
            </a:r>
            <a:endParaRPr lang="en-US" sz="1800" dirty="0"/>
          </a:p>
        </p:txBody>
      </p:sp>
      <p:sp>
        <p:nvSpPr>
          <p:cNvPr id="35" name="Kante 3-1"/>
          <p:cNvSpPr/>
          <p:nvPr/>
        </p:nvSpPr>
        <p:spPr>
          <a:xfrm flipH="1">
            <a:off x="4763428" y="2752344"/>
            <a:ext cx="465813" cy="667512"/>
          </a:xfrm>
          <a:prstGeom prst="line">
            <a:avLst/>
          </a:prstGeom>
          <a:noFill/>
          <a:ln w="22225">
            <a:solidFill>
              <a:schemeClr val="accent1"/>
            </a:solidFill>
            <a:prstDash val="solid"/>
          </a:ln>
        </p:spPr>
      </p:sp>
      <p:sp>
        <p:nvSpPr>
          <p:cNvPr id="36" name="Kante 6-4"/>
          <p:cNvSpPr/>
          <p:nvPr/>
        </p:nvSpPr>
        <p:spPr>
          <a:xfrm flipH="1">
            <a:off x="5384512" y="3419856"/>
            <a:ext cx="310542" cy="667512"/>
          </a:xfrm>
          <a:prstGeom prst="line">
            <a:avLst/>
          </a:prstGeom>
          <a:noFill/>
          <a:ln w="22225">
            <a:solidFill>
              <a:schemeClr val="accent1"/>
            </a:solidFill>
            <a:prstDash val="solid"/>
          </a:ln>
        </p:spPr>
      </p:sp>
      <p:sp>
        <p:nvSpPr>
          <p:cNvPr id="37" name="Kante 6-7"/>
          <p:cNvSpPr/>
          <p:nvPr/>
        </p:nvSpPr>
        <p:spPr>
          <a:xfrm>
            <a:off x="5695055" y="3419856"/>
            <a:ext cx="310542" cy="667512"/>
          </a:xfrm>
          <a:prstGeom prst="line">
            <a:avLst/>
          </a:prstGeom>
          <a:noFill/>
          <a:ln w="22225">
            <a:solidFill>
              <a:schemeClr val="accent1"/>
            </a:solidFill>
            <a:prstDash val="solid"/>
          </a:ln>
        </p:spPr>
      </p:sp>
      <p:sp>
        <p:nvSpPr>
          <p:cNvPr id="38" name="Kante 3-6"/>
          <p:cNvSpPr/>
          <p:nvPr/>
        </p:nvSpPr>
        <p:spPr>
          <a:xfrm>
            <a:off x="5229241" y="2752344"/>
            <a:ext cx="465813" cy="667512"/>
          </a:xfrm>
          <a:prstGeom prst="line">
            <a:avLst/>
          </a:prstGeom>
          <a:noFill/>
          <a:ln w="22225">
            <a:solidFill>
              <a:schemeClr val="accent1"/>
            </a:solidFill>
            <a:prstDash val="solid"/>
          </a:ln>
        </p:spPr>
      </p:sp>
      <p:sp>
        <p:nvSpPr>
          <p:cNvPr id="39" name="Kante 8-3"/>
          <p:cNvSpPr/>
          <p:nvPr/>
        </p:nvSpPr>
        <p:spPr>
          <a:xfrm flipH="1">
            <a:off x="5229241" y="2084832"/>
            <a:ext cx="834649" cy="667512"/>
          </a:xfrm>
          <a:prstGeom prst="line">
            <a:avLst/>
          </a:prstGeom>
          <a:noFill/>
          <a:ln w="22225">
            <a:solidFill>
              <a:schemeClr val="accent1"/>
            </a:solidFill>
            <a:prstDash val="solid"/>
          </a:ln>
        </p:spPr>
      </p:sp>
      <p:sp>
        <p:nvSpPr>
          <p:cNvPr id="40" name="Kante 14-13"/>
          <p:cNvSpPr/>
          <p:nvPr/>
        </p:nvSpPr>
        <p:spPr>
          <a:xfrm flipH="1">
            <a:off x="7026102" y="3419856"/>
            <a:ext cx="255126" cy="667512"/>
          </a:xfrm>
          <a:prstGeom prst="line">
            <a:avLst/>
          </a:prstGeom>
          <a:noFill/>
          <a:ln w="22225">
            <a:solidFill>
              <a:schemeClr val="accent1"/>
            </a:solidFill>
            <a:prstDash val="solid"/>
          </a:ln>
        </p:spPr>
      </p:sp>
      <p:sp>
        <p:nvSpPr>
          <p:cNvPr id="41" name="Kante 10-14"/>
          <p:cNvSpPr/>
          <p:nvPr/>
        </p:nvSpPr>
        <p:spPr>
          <a:xfrm>
            <a:off x="6898539" y="2752344"/>
            <a:ext cx="382690" cy="667512"/>
          </a:xfrm>
          <a:prstGeom prst="line">
            <a:avLst/>
          </a:prstGeom>
          <a:noFill/>
          <a:ln w="22225">
            <a:solidFill>
              <a:schemeClr val="accent1"/>
            </a:solidFill>
            <a:prstDash val="solid"/>
          </a:ln>
        </p:spPr>
      </p:sp>
      <p:sp>
        <p:nvSpPr>
          <p:cNvPr id="42" name="Kante 8-10"/>
          <p:cNvSpPr/>
          <p:nvPr/>
        </p:nvSpPr>
        <p:spPr>
          <a:xfrm>
            <a:off x="6063890" y="2084832"/>
            <a:ext cx="834649" cy="667512"/>
          </a:xfrm>
          <a:prstGeom prst="line">
            <a:avLst/>
          </a:prstGeom>
          <a:noFill/>
          <a:ln w="22225">
            <a:solidFill>
              <a:schemeClr val="accent1"/>
            </a:solidFill>
            <a:prstDash val="solid"/>
          </a:ln>
        </p:spPr>
      </p:sp>
      <p:sp>
        <p:nvSpPr>
          <p:cNvPr id="43" name="Knoten 1"/>
          <p:cNvSpPr txBox="1"/>
          <p:nvPr/>
        </p:nvSpPr>
        <p:spPr>
          <a:xfrm>
            <a:off x="4553116"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44" name="Marke 1"/>
          <p:cNvSpPr txBox="1"/>
          <p:nvPr/>
        </p:nvSpPr>
        <p:spPr>
          <a:xfrm>
            <a:off x="4862640"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45" name="Knoten 4"/>
          <p:cNvSpPr txBox="1"/>
          <p:nvPr/>
        </p:nvSpPr>
        <p:spPr>
          <a:xfrm>
            <a:off x="5174200"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46" name="Marke 4"/>
          <p:cNvSpPr txBox="1"/>
          <p:nvPr/>
        </p:nvSpPr>
        <p:spPr>
          <a:xfrm>
            <a:off x="5483725"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47" name="Knoten 7"/>
          <p:cNvSpPr txBox="1"/>
          <p:nvPr/>
        </p:nvSpPr>
        <p:spPr>
          <a:xfrm>
            <a:off x="5795285"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48" name="Marke 7"/>
          <p:cNvSpPr txBox="1"/>
          <p:nvPr/>
        </p:nvSpPr>
        <p:spPr>
          <a:xfrm>
            <a:off x="6104809"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49" name="Knoten 6"/>
          <p:cNvSpPr txBox="1"/>
          <p:nvPr/>
        </p:nvSpPr>
        <p:spPr>
          <a:xfrm>
            <a:off x="5484743"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50" name="Marke 6"/>
          <p:cNvSpPr txBox="1"/>
          <p:nvPr/>
        </p:nvSpPr>
        <p:spPr>
          <a:xfrm>
            <a:off x="5794267"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51" name="Knoten 3"/>
          <p:cNvSpPr txBox="1"/>
          <p:nvPr/>
        </p:nvSpPr>
        <p:spPr>
          <a:xfrm>
            <a:off x="5018929"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52" name="Marke 3"/>
          <p:cNvSpPr txBox="1"/>
          <p:nvPr/>
        </p:nvSpPr>
        <p:spPr>
          <a:xfrm>
            <a:off x="5328454"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53" name="Knoten 13"/>
          <p:cNvSpPr txBox="1"/>
          <p:nvPr/>
        </p:nvSpPr>
        <p:spPr>
          <a:xfrm>
            <a:off x="6815790"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13</a:t>
            </a:r>
            <a:endParaRPr lang="en-US" sz="1500" dirty="0"/>
          </a:p>
        </p:txBody>
      </p:sp>
      <p:sp>
        <p:nvSpPr>
          <p:cNvPr id="54" name="Marke 13"/>
          <p:cNvSpPr txBox="1"/>
          <p:nvPr/>
        </p:nvSpPr>
        <p:spPr>
          <a:xfrm>
            <a:off x="7125315"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55" name="Knoten 14"/>
          <p:cNvSpPr txBox="1"/>
          <p:nvPr/>
        </p:nvSpPr>
        <p:spPr>
          <a:xfrm>
            <a:off x="7070917" y="3209544"/>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56" name="Marke 14"/>
          <p:cNvSpPr txBox="1"/>
          <p:nvPr/>
        </p:nvSpPr>
        <p:spPr>
          <a:xfrm>
            <a:off x="7380441" y="3073756"/>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57" name="Knoten 10"/>
          <p:cNvSpPr txBox="1"/>
          <p:nvPr/>
        </p:nvSpPr>
        <p:spPr>
          <a:xfrm>
            <a:off x="6688227"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10</a:t>
            </a:r>
            <a:endParaRPr lang="en-US" sz="1500" dirty="0"/>
          </a:p>
        </p:txBody>
      </p:sp>
      <p:sp>
        <p:nvSpPr>
          <p:cNvPr id="58" name="Marke 10"/>
          <p:cNvSpPr txBox="1"/>
          <p:nvPr/>
        </p:nvSpPr>
        <p:spPr>
          <a:xfrm>
            <a:off x="6997752"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59" name="Knoten 8"/>
          <p:cNvSpPr txBox="1"/>
          <p:nvPr/>
        </p:nvSpPr>
        <p:spPr>
          <a:xfrm>
            <a:off x="5853578" y="1874520"/>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8</a:t>
            </a:r>
            <a:endParaRPr lang="en-US" sz="1500" dirty="0"/>
          </a:p>
        </p:txBody>
      </p:sp>
      <p:sp>
        <p:nvSpPr>
          <p:cNvPr id="60" name="Marke 8"/>
          <p:cNvSpPr txBox="1"/>
          <p:nvPr/>
        </p:nvSpPr>
        <p:spPr>
          <a:xfrm>
            <a:off x="6163103" y="1738732"/>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61" name="Ausgabe inorder"/>
          <p:cNvSpPr txBox="1"/>
          <p:nvPr/>
        </p:nvSpPr>
        <p:spPr>
          <a:xfrm>
            <a:off x="4471416" y="4526280"/>
            <a:ext cx="3246120" cy="566928"/>
          </a:xfrm>
          <a:prstGeom prst="rect">
            <a:avLst/>
          </a:prstGeom>
          <a:solidFill>
            <a:srgbClr val="E2EFDA"/>
          </a:solidFill>
          <a:ln w="12700">
            <a:solidFill>
              <a:schemeClr val="accent3"/>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b="1" dirty="0">
                <a:solidFill>
                  <a:schemeClr val="accent3"/>
                </a:solidFill>
                <a:latin typeface="Consolas" pitchFamily="34" charset="0"/>
                <a:ea typeface="Consolas" pitchFamily="34" charset="-122"/>
                <a:cs typeface="Consolas" pitchFamily="34" charset="-120"/>
              </a:rPr>
              <a:t>"1 3 4 6 7 8 10 13 14 "</a:t>
            </a:r>
            <a:endParaRPr lang="en-US" sz="1800" dirty="0"/>
          </a:p>
        </p:txBody>
      </p:sp>
      <p:sp>
        <p:nvSpPr>
          <p:cNvPr id="62" name="Text 60"/>
          <p:cNvSpPr txBox="1"/>
          <p:nvPr/>
        </p:nvSpPr>
        <p:spPr>
          <a:xfrm>
            <a:off x="4471416"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in(l) + item + " " + in(r)</a:t>
            </a:r>
            <a:endParaRPr lang="en-US" sz="1800" dirty="0"/>
          </a:p>
        </p:txBody>
      </p:sp>
      <p:sp>
        <p:nvSpPr>
          <p:cNvPr id="63" name="Spalte postorder"/>
          <p:cNvSpPr/>
          <p:nvPr/>
        </p:nvSpPr>
        <p:spPr>
          <a:xfrm>
            <a:off x="8119872" y="1298448"/>
            <a:ext cx="3520440" cy="4846320"/>
          </a:xfrm>
          <a:prstGeom prst="roundRect">
            <a:avLst>
              <a:gd name="adj" fmla="val 3117"/>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64" name="Text 62"/>
          <p:cNvSpPr txBox="1"/>
          <p:nvPr/>
        </p:nvSpPr>
        <p:spPr>
          <a:xfrm>
            <a:off x="8257032" y="1389888"/>
            <a:ext cx="32461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onsolas" pitchFamily="34" charset="0"/>
                <a:ea typeface="Consolas" pitchFamily="34" charset="-122"/>
                <a:cs typeface="Consolas" pitchFamily="34" charset="-120"/>
              </a:rPr>
              <a:t>postorder</a:t>
            </a:r>
            <a:pPr indent="0" marL="0">
              <a:buNone/>
            </a:pPr>
            <a:r>
              <a:rPr lang="en-US" sz="1400" dirty="0">
                <a:solidFill>
                  <a:schemeClr val="accent6"/>
                </a:solidFill>
              </a:rPr>
              <a:t>   links · rechts · Wurzel</a:t>
            </a:r>
            <a:endParaRPr lang="en-US" sz="1800" dirty="0"/>
          </a:p>
        </p:txBody>
      </p:sp>
      <p:sp>
        <p:nvSpPr>
          <p:cNvPr id="65" name="Kante 3-1"/>
          <p:cNvSpPr/>
          <p:nvPr/>
        </p:nvSpPr>
        <p:spPr>
          <a:xfrm flipH="1">
            <a:off x="8549044" y="2752344"/>
            <a:ext cx="465813" cy="667512"/>
          </a:xfrm>
          <a:prstGeom prst="line">
            <a:avLst/>
          </a:prstGeom>
          <a:noFill/>
          <a:ln w="22225">
            <a:solidFill>
              <a:schemeClr val="accent1"/>
            </a:solidFill>
            <a:prstDash val="solid"/>
          </a:ln>
        </p:spPr>
      </p:sp>
      <p:sp>
        <p:nvSpPr>
          <p:cNvPr id="66" name="Kante 6-4"/>
          <p:cNvSpPr/>
          <p:nvPr/>
        </p:nvSpPr>
        <p:spPr>
          <a:xfrm flipH="1">
            <a:off x="9170128" y="3419856"/>
            <a:ext cx="310542" cy="667512"/>
          </a:xfrm>
          <a:prstGeom prst="line">
            <a:avLst/>
          </a:prstGeom>
          <a:noFill/>
          <a:ln w="22225">
            <a:solidFill>
              <a:schemeClr val="accent1"/>
            </a:solidFill>
            <a:prstDash val="solid"/>
          </a:ln>
        </p:spPr>
      </p:sp>
      <p:sp>
        <p:nvSpPr>
          <p:cNvPr id="67" name="Kante 6-7"/>
          <p:cNvSpPr/>
          <p:nvPr/>
        </p:nvSpPr>
        <p:spPr>
          <a:xfrm>
            <a:off x="9480671" y="3419856"/>
            <a:ext cx="310542" cy="667512"/>
          </a:xfrm>
          <a:prstGeom prst="line">
            <a:avLst/>
          </a:prstGeom>
          <a:noFill/>
          <a:ln w="22225">
            <a:solidFill>
              <a:schemeClr val="accent1"/>
            </a:solidFill>
            <a:prstDash val="solid"/>
          </a:ln>
        </p:spPr>
      </p:sp>
      <p:sp>
        <p:nvSpPr>
          <p:cNvPr id="68" name="Kante 3-6"/>
          <p:cNvSpPr/>
          <p:nvPr/>
        </p:nvSpPr>
        <p:spPr>
          <a:xfrm>
            <a:off x="9014857" y="2752344"/>
            <a:ext cx="465813" cy="667512"/>
          </a:xfrm>
          <a:prstGeom prst="line">
            <a:avLst/>
          </a:prstGeom>
          <a:noFill/>
          <a:ln w="22225">
            <a:solidFill>
              <a:schemeClr val="accent1"/>
            </a:solidFill>
            <a:prstDash val="solid"/>
          </a:ln>
        </p:spPr>
      </p:sp>
      <p:sp>
        <p:nvSpPr>
          <p:cNvPr id="69" name="Kante 8-3"/>
          <p:cNvSpPr/>
          <p:nvPr/>
        </p:nvSpPr>
        <p:spPr>
          <a:xfrm flipH="1">
            <a:off x="9014857" y="2084832"/>
            <a:ext cx="834649" cy="667512"/>
          </a:xfrm>
          <a:prstGeom prst="line">
            <a:avLst/>
          </a:prstGeom>
          <a:noFill/>
          <a:ln w="22225">
            <a:solidFill>
              <a:schemeClr val="accent1"/>
            </a:solidFill>
            <a:prstDash val="solid"/>
          </a:ln>
        </p:spPr>
      </p:sp>
      <p:sp>
        <p:nvSpPr>
          <p:cNvPr id="70" name="Kante 14-13"/>
          <p:cNvSpPr/>
          <p:nvPr/>
        </p:nvSpPr>
        <p:spPr>
          <a:xfrm flipH="1">
            <a:off x="10811718" y="3419856"/>
            <a:ext cx="255126" cy="667512"/>
          </a:xfrm>
          <a:prstGeom prst="line">
            <a:avLst/>
          </a:prstGeom>
          <a:noFill/>
          <a:ln w="22225">
            <a:solidFill>
              <a:schemeClr val="accent1"/>
            </a:solidFill>
            <a:prstDash val="solid"/>
          </a:ln>
        </p:spPr>
      </p:sp>
      <p:sp>
        <p:nvSpPr>
          <p:cNvPr id="71" name="Kante 10-14"/>
          <p:cNvSpPr/>
          <p:nvPr/>
        </p:nvSpPr>
        <p:spPr>
          <a:xfrm>
            <a:off x="10684155" y="2752344"/>
            <a:ext cx="382690" cy="667512"/>
          </a:xfrm>
          <a:prstGeom prst="line">
            <a:avLst/>
          </a:prstGeom>
          <a:noFill/>
          <a:ln w="22225">
            <a:solidFill>
              <a:schemeClr val="accent1"/>
            </a:solidFill>
            <a:prstDash val="solid"/>
          </a:ln>
        </p:spPr>
      </p:sp>
      <p:sp>
        <p:nvSpPr>
          <p:cNvPr id="72" name="Kante 8-10"/>
          <p:cNvSpPr/>
          <p:nvPr/>
        </p:nvSpPr>
        <p:spPr>
          <a:xfrm>
            <a:off x="9849506" y="2084832"/>
            <a:ext cx="834649" cy="667512"/>
          </a:xfrm>
          <a:prstGeom prst="line">
            <a:avLst/>
          </a:prstGeom>
          <a:noFill/>
          <a:ln w="22225">
            <a:solidFill>
              <a:schemeClr val="accent1"/>
            </a:solidFill>
            <a:prstDash val="solid"/>
          </a:ln>
        </p:spPr>
      </p:sp>
      <p:sp>
        <p:nvSpPr>
          <p:cNvPr id="73" name="Knoten 1"/>
          <p:cNvSpPr txBox="1"/>
          <p:nvPr/>
        </p:nvSpPr>
        <p:spPr>
          <a:xfrm>
            <a:off x="8338732"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74" name="Marke 1"/>
          <p:cNvSpPr txBox="1"/>
          <p:nvPr/>
        </p:nvSpPr>
        <p:spPr>
          <a:xfrm>
            <a:off x="8648256"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75" name="Knoten 4"/>
          <p:cNvSpPr txBox="1"/>
          <p:nvPr/>
        </p:nvSpPr>
        <p:spPr>
          <a:xfrm>
            <a:off x="8959816"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76" name="Marke 4"/>
          <p:cNvSpPr txBox="1"/>
          <p:nvPr/>
        </p:nvSpPr>
        <p:spPr>
          <a:xfrm>
            <a:off x="9269341"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77" name="Knoten 7"/>
          <p:cNvSpPr txBox="1"/>
          <p:nvPr/>
        </p:nvSpPr>
        <p:spPr>
          <a:xfrm>
            <a:off x="9580901"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78" name="Marke 7"/>
          <p:cNvSpPr txBox="1"/>
          <p:nvPr/>
        </p:nvSpPr>
        <p:spPr>
          <a:xfrm>
            <a:off x="9890425"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79" name="Knoten 6"/>
          <p:cNvSpPr txBox="1"/>
          <p:nvPr/>
        </p:nvSpPr>
        <p:spPr>
          <a:xfrm>
            <a:off x="9270359"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80" name="Marke 6"/>
          <p:cNvSpPr txBox="1"/>
          <p:nvPr/>
        </p:nvSpPr>
        <p:spPr>
          <a:xfrm>
            <a:off x="9579883"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81" name="Knoten 3"/>
          <p:cNvSpPr txBox="1"/>
          <p:nvPr/>
        </p:nvSpPr>
        <p:spPr>
          <a:xfrm>
            <a:off x="8804545"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82" name="Marke 3"/>
          <p:cNvSpPr txBox="1"/>
          <p:nvPr/>
        </p:nvSpPr>
        <p:spPr>
          <a:xfrm>
            <a:off x="9114070"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83" name="Knoten 13"/>
          <p:cNvSpPr txBox="1"/>
          <p:nvPr/>
        </p:nvSpPr>
        <p:spPr>
          <a:xfrm>
            <a:off x="10601406" y="38770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13</a:t>
            </a:r>
            <a:endParaRPr lang="en-US" sz="1500" dirty="0"/>
          </a:p>
        </p:txBody>
      </p:sp>
      <p:sp>
        <p:nvSpPr>
          <p:cNvPr id="84" name="Marke 13"/>
          <p:cNvSpPr txBox="1"/>
          <p:nvPr/>
        </p:nvSpPr>
        <p:spPr>
          <a:xfrm>
            <a:off x="10910931" y="3741268"/>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85" name="Knoten 14"/>
          <p:cNvSpPr txBox="1"/>
          <p:nvPr/>
        </p:nvSpPr>
        <p:spPr>
          <a:xfrm>
            <a:off x="10856533" y="3209544"/>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14</a:t>
            </a:r>
            <a:endParaRPr lang="en-US" sz="1500" dirty="0"/>
          </a:p>
        </p:txBody>
      </p:sp>
      <p:sp>
        <p:nvSpPr>
          <p:cNvPr id="86" name="Marke 14"/>
          <p:cNvSpPr txBox="1"/>
          <p:nvPr/>
        </p:nvSpPr>
        <p:spPr>
          <a:xfrm>
            <a:off x="11166057" y="3073756"/>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87" name="Knoten 10"/>
          <p:cNvSpPr txBox="1"/>
          <p:nvPr/>
        </p:nvSpPr>
        <p:spPr>
          <a:xfrm>
            <a:off x="10473843" y="2542032"/>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10</a:t>
            </a:r>
            <a:endParaRPr lang="en-US" sz="1500" dirty="0"/>
          </a:p>
        </p:txBody>
      </p:sp>
      <p:sp>
        <p:nvSpPr>
          <p:cNvPr id="88" name="Marke 10"/>
          <p:cNvSpPr txBox="1"/>
          <p:nvPr/>
        </p:nvSpPr>
        <p:spPr>
          <a:xfrm>
            <a:off x="10783368" y="2406244"/>
            <a:ext cx="246888" cy="246888"/>
          </a:xfrm>
          <a:prstGeom prst="ellipse">
            <a:avLst/>
          </a:prstGeom>
          <a:solidFill>
            <a:schemeClr val="accent3"/>
          </a:solidFill>
          <a:ln w="12700">
            <a:solidFill>
              <a:schemeClr val="bg1"/>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89" name="Knoten 8"/>
          <p:cNvSpPr txBox="1"/>
          <p:nvPr/>
        </p:nvSpPr>
        <p:spPr>
          <a:xfrm>
            <a:off x="9639194" y="1874520"/>
            <a:ext cx="420624" cy="420624"/>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90" name="Marke 8"/>
          <p:cNvSpPr txBox="1"/>
          <p:nvPr/>
        </p:nvSpPr>
        <p:spPr>
          <a:xfrm>
            <a:off x="9948719" y="1738732"/>
            <a:ext cx="246888" cy="246888"/>
          </a:xfrm>
          <a:prstGeom prst="ellipse">
            <a:avLst/>
          </a:prstGeom>
          <a:solidFill>
            <a:schemeClr val="accent2"/>
          </a:solidFill>
          <a:ln w="12700">
            <a:solidFill>
              <a:schemeClr val="bg1"/>
            </a:solid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91" name="Ausgabe postorder"/>
          <p:cNvSpPr txBox="1"/>
          <p:nvPr/>
        </p:nvSpPr>
        <p:spPr>
          <a:xfrm>
            <a:off x="8257032" y="4526280"/>
            <a:ext cx="3246120" cy="566928"/>
          </a:xfrm>
          <a:prstGeom prst="rect">
            <a:avLst/>
          </a:prstGeom>
          <a:solidFill>
            <a:srgbClr val="E2EFDA"/>
          </a:solidFill>
          <a:ln w="12700">
            <a:solidFill>
              <a:schemeClr val="accent3"/>
            </a:solidFill>
          </a:ln>
        </p:spPr>
        <p:txBody>
          <a:bodyPr wrap="square" lIns="76200" tIns="0" rIns="76200" bIns="0" rtlCol="0" anchor="ctr"/>
          <a:lstStyle/>
          <a:p>
            <a:pPr indent="0" marL="0">
              <a:buNone/>
            </a:pPr>
            <a:r>
              <a:rPr lang="en-US" sz="1300" b="1" dirty="0">
                <a:solidFill>
                  <a:schemeClr val="accent1"/>
                </a:solidFill>
              </a:rPr>
              <a:t>Ausgabe: </a:t>
            </a:r>
            <a:pPr indent="0" marL="0">
              <a:buNone/>
            </a:pPr>
            <a:r>
              <a:rPr lang="en-US" sz="1300" b="1" dirty="0">
                <a:solidFill>
                  <a:schemeClr val="accent3"/>
                </a:solidFill>
                <a:latin typeface="Consolas" pitchFamily="34" charset="0"/>
                <a:ea typeface="Consolas" pitchFamily="34" charset="-122"/>
                <a:cs typeface="Consolas" pitchFamily="34" charset="-120"/>
              </a:rPr>
              <a:t>"1 4 7 6 3 13 14 10 8 "</a:t>
            </a:r>
            <a:endParaRPr lang="en-US" sz="1800" dirty="0"/>
          </a:p>
        </p:txBody>
      </p:sp>
      <p:sp>
        <p:nvSpPr>
          <p:cNvPr id="92" name="Text 90"/>
          <p:cNvSpPr txBox="1"/>
          <p:nvPr/>
        </p:nvSpPr>
        <p:spPr>
          <a:xfrm>
            <a:off x="8257032" y="5230368"/>
            <a:ext cx="3246120" cy="777240"/>
          </a:xfrm>
          <a:prstGeom prst="rect">
            <a:avLst/>
          </a:prstGeom>
          <a:noFill/>
          <a:ln/>
        </p:spPr>
        <p:txBody>
          <a:bodyPr wrap="square" lIns="0" tIns="0" rIns="0" bIns="0" rtlCol="0" anchor="ctr"/>
          <a:lstStyle/>
          <a:p>
            <a:pPr indent="0" marL="0">
              <a:buNone/>
            </a:pPr>
            <a:r>
              <a:rPr lang="en-US" sz="1200" i="1" dirty="0">
                <a:solidFill>
                  <a:schemeClr val="accent6"/>
                </a:solidFill>
              </a:rPr>
              <a:t>rekursiv:</a:t>
            </a:r>
            <a:endParaRPr lang="en-US" sz="1800" dirty="0"/>
          </a:p>
          <a:p>
            <a:pPr indent="0" marL="0">
              <a:buNone/>
            </a:pPr>
            <a:r>
              <a:rPr lang="en-US" sz="1200" b="1" dirty="0">
                <a:solidFill>
                  <a:schemeClr val="accent1"/>
                </a:solidFill>
                <a:latin typeface="Consolas" pitchFamily="34" charset="0"/>
                <a:ea typeface="Consolas" pitchFamily="34" charset="-122"/>
                <a:cs typeface="Consolas" pitchFamily="34" charset="-120"/>
              </a:rPr>
              <a:t>post(l) + post(r) + item + " "</a:t>
            </a:r>
            <a:endParaRPr lang="en-US" sz="1800" dirty="0"/>
          </a:p>
        </p:txBody>
      </p:sp>
      <p:sp>
        <p:nvSpPr>
          <p:cNvPr id="93" name="Text 91"/>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Traversierungen · 3/3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Termbaum: (3 + 4) * (5 − 2)</a:t>
            </a:r>
            <a:endParaRPr lang="en-US" sz="3600" dirty="0"/>
          </a:p>
        </p:txBody>
      </p:sp>
      <p:sp>
        <p:nvSpPr>
          <p:cNvPr id="3" name="Kante +-3"/>
          <p:cNvSpPr/>
          <p:nvPr/>
        </p:nvSpPr>
        <p:spPr>
          <a:xfrm flipH="1">
            <a:off x="1278435" y="2770632"/>
            <a:ext cx="579695" cy="1005840"/>
          </a:xfrm>
          <a:prstGeom prst="line">
            <a:avLst/>
          </a:prstGeom>
          <a:noFill/>
          <a:ln w="22225">
            <a:solidFill>
              <a:schemeClr val="accent1"/>
            </a:solidFill>
            <a:prstDash val="solid"/>
          </a:ln>
        </p:spPr>
      </p:sp>
      <p:sp>
        <p:nvSpPr>
          <p:cNvPr id="4" name="Kante +-4"/>
          <p:cNvSpPr/>
          <p:nvPr/>
        </p:nvSpPr>
        <p:spPr>
          <a:xfrm>
            <a:off x="1858130" y="2770632"/>
            <a:ext cx="579695" cy="1005840"/>
          </a:xfrm>
          <a:prstGeom prst="line">
            <a:avLst/>
          </a:prstGeom>
          <a:noFill/>
          <a:ln w="22225">
            <a:solidFill>
              <a:schemeClr val="accent1"/>
            </a:solidFill>
            <a:prstDash val="solid"/>
          </a:ln>
        </p:spPr>
      </p:sp>
      <p:sp>
        <p:nvSpPr>
          <p:cNvPr id="5" name="Kante *-+"/>
          <p:cNvSpPr/>
          <p:nvPr/>
        </p:nvSpPr>
        <p:spPr>
          <a:xfrm flipH="1">
            <a:off x="1858130" y="1764792"/>
            <a:ext cx="1159390" cy="1005840"/>
          </a:xfrm>
          <a:prstGeom prst="line">
            <a:avLst/>
          </a:prstGeom>
          <a:noFill/>
          <a:ln w="22225">
            <a:solidFill>
              <a:schemeClr val="accent1"/>
            </a:solidFill>
            <a:prstDash val="solid"/>
          </a:ln>
        </p:spPr>
      </p:sp>
      <p:sp>
        <p:nvSpPr>
          <p:cNvPr id="6" name="Kante --5"/>
          <p:cNvSpPr/>
          <p:nvPr/>
        </p:nvSpPr>
        <p:spPr>
          <a:xfrm flipH="1">
            <a:off x="3597215" y="2770632"/>
            <a:ext cx="579695" cy="1005840"/>
          </a:xfrm>
          <a:prstGeom prst="line">
            <a:avLst/>
          </a:prstGeom>
          <a:noFill/>
          <a:ln w="22225">
            <a:solidFill>
              <a:schemeClr val="accent1"/>
            </a:solidFill>
            <a:prstDash val="solid"/>
          </a:ln>
        </p:spPr>
      </p:sp>
      <p:sp>
        <p:nvSpPr>
          <p:cNvPr id="7" name="Kante --2"/>
          <p:cNvSpPr/>
          <p:nvPr/>
        </p:nvSpPr>
        <p:spPr>
          <a:xfrm>
            <a:off x="4176910" y="2770632"/>
            <a:ext cx="579695" cy="1005840"/>
          </a:xfrm>
          <a:prstGeom prst="line">
            <a:avLst/>
          </a:prstGeom>
          <a:noFill/>
          <a:ln w="22225">
            <a:solidFill>
              <a:schemeClr val="accent1"/>
            </a:solidFill>
            <a:prstDash val="solid"/>
          </a:ln>
        </p:spPr>
      </p:sp>
      <p:sp>
        <p:nvSpPr>
          <p:cNvPr id="8" name="Kante *--"/>
          <p:cNvSpPr/>
          <p:nvPr/>
        </p:nvSpPr>
        <p:spPr>
          <a:xfrm>
            <a:off x="3017520" y="1764792"/>
            <a:ext cx="1159390" cy="1005840"/>
          </a:xfrm>
          <a:prstGeom prst="line">
            <a:avLst/>
          </a:prstGeom>
          <a:noFill/>
          <a:ln w="22225">
            <a:solidFill>
              <a:schemeClr val="accent1"/>
            </a:solidFill>
            <a:prstDash val="solid"/>
          </a:ln>
        </p:spPr>
      </p:sp>
      <p:sp>
        <p:nvSpPr>
          <p:cNvPr id="9" name="Knoten 3"/>
          <p:cNvSpPr txBox="1"/>
          <p:nvPr/>
        </p:nvSpPr>
        <p:spPr>
          <a:xfrm>
            <a:off x="976683" y="3474720"/>
            <a:ext cx="603504" cy="60350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2200" b="1" dirty="0">
                <a:solidFill>
                  <a:schemeClr val="accent3"/>
                </a:solidFill>
                <a:latin typeface="Consolas" pitchFamily="34" charset="0"/>
                <a:ea typeface="Consolas" pitchFamily="34" charset="-122"/>
                <a:cs typeface="Consolas" pitchFamily="34" charset="-120"/>
              </a:rPr>
              <a:t>3</a:t>
            </a:r>
            <a:endParaRPr lang="en-US" sz="2200" dirty="0"/>
          </a:p>
        </p:txBody>
      </p:sp>
      <p:sp>
        <p:nvSpPr>
          <p:cNvPr id="10" name="Knoten 4"/>
          <p:cNvSpPr txBox="1"/>
          <p:nvPr/>
        </p:nvSpPr>
        <p:spPr>
          <a:xfrm>
            <a:off x="2136073" y="3474720"/>
            <a:ext cx="603504" cy="60350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2200" b="1" dirty="0">
                <a:solidFill>
                  <a:schemeClr val="accent3"/>
                </a:solidFill>
                <a:latin typeface="Consolas" pitchFamily="34" charset="0"/>
                <a:ea typeface="Consolas" pitchFamily="34" charset="-122"/>
                <a:cs typeface="Consolas" pitchFamily="34" charset="-120"/>
              </a:rPr>
              <a:t>4</a:t>
            </a:r>
            <a:endParaRPr lang="en-US" sz="2200" dirty="0"/>
          </a:p>
        </p:txBody>
      </p:sp>
      <p:sp>
        <p:nvSpPr>
          <p:cNvPr id="11" name="Knoten +"/>
          <p:cNvSpPr txBox="1"/>
          <p:nvPr/>
        </p:nvSpPr>
        <p:spPr>
          <a:xfrm>
            <a:off x="1556378" y="2468880"/>
            <a:ext cx="603504" cy="603504"/>
          </a:xfrm>
          <a:prstGeom prst="ellipse">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2200" b="1" dirty="0">
                <a:solidFill>
                  <a:schemeClr val="bg1"/>
                </a:solidFill>
                <a:latin typeface="Consolas" pitchFamily="34" charset="0"/>
                <a:ea typeface="Consolas" pitchFamily="34" charset="-122"/>
                <a:cs typeface="Consolas" pitchFamily="34" charset="-120"/>
              </a:rPr>
              <a:t>+</a:t>
            </a:r>
            <a:endParaRPr lang="en-US" sz="2200" dirty="0"/>
          </a:p>
        </p:txBody>
      </p:sp>
      <p:sp>
        <p:nvSpPr>
          <p:cNvPr id="12" name="Text 10"/>
          <p:cNvSpPr txBox="1"/>
          <p:nvPr/>
        </p:nvSpPr>
        <p:spPr>
          <a:xfrm>
            <a:off x="879722" y="2624328"/>
            <a:ext cx="640080" cy="292608"/>
          </a:xfrm>
          <a:prstGeom prst="rect">
            <a:avLst/>
          </a:prstGeom>
          <a:noFill/>
          <a:ln/>
        </p:spPr>
        <p:txBody>
          <a:bodyPr wrap="square" lIns="0" tIns="0" rIns="0" bIns="0" rtlCol="0" anchor="ctr"/>
          <a:lstStyle/>
          <a:p>
            <a:pPr algn="r" indent="0" marL="0">
              <a:buNone/>
            </a:pPr>
            <a:r>
              <a:rPr lang="en-US" sz="1600" b="1" dirty="0">
                <a:solidFill>
                  <a:schemeClr val="accent2"/>
                </a:solidFill>
              </a:rPr>
              <a:t>= 7</a:t>
            </a:r>
            <a:endParaRPr lang="en-US" sz="1600" dirty="0"/>
          </a:p>
        </p:txBody>
      </p:sp>
      <p:sp>
        <p:nvSpPr>
          <p:cNvPr id="13" name="Knoten 5"/>
          <p:cNvSpPr txBox="1"/>
          <p:nvPr/>
        </p:nvSpPr>
        <p:spPr>
          <a:xfrm>
            <a:off x="3295463" y="3474720"/>
            <a:ext cx="603504" cy="60350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2200" b="1" dirty="0">
                <a:solidFill>
                  <a:schemeClr val="accent3"/>
                </a:solidFill>
                <a:latin typeface="Consolas" pitchFamily="34" charset="0"/>
                <a:ea typeface="Consolas" pitchFamily="34" charset="-122"/>
                <a:cs typeface="Consolas" pitchFamily="34" charset="-120"/>
              </a:rPr>
              <a:t>5</a:t>
            </a:r>
            <a:endParaRPr lang="en-US" sz="2200" dirty="0"/>
          </a:p>
        </p:txBody>
      </p:sp>
      <p:sp>
        <p:nvSpPr>
          <p:cNvPr id="14" name="Knoten 2"/>
          <p:cNvSpPr txBox="1"/>
          <p:nvPr/>
        </p:nvSpPr>
        <p:spPr>
          <a:xfrm>
            <a:off x="4454853" y="3474720"/>
            <a:ext cx="603504" cy="60350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2200" b="1" dirty="0">
                <a:solidFill>
                  <a:schemeClr val="accent3"/>
                </a:solidFill>
                <a:latin typeface="Consolas" pitchFamily="34" charset="0"/>
                <a:ea typeface="Consolas" pitchFamily="34" charset="-122"/>
                <a:cs typeface="Consolas" pitchFamily="34" charset="-120"/>
              </a:rPr>
              <a:t>2</a:t>
            </a:r>
            <a:endParaRPr lang="en-US" sz="2200" dirty="0"/>
          </a:p>
        </p:txBody>
      </p:sp>
      <p:sp>
        <p:nvSpPr>
          <p:cNvPr id="15" name="Knoten -"/>
          <p:cNvSpPr txBox="1"/>
          <p:nvPr/>
        </p:nvSpPr>
        <p:spPr>
          <a:xfrm>
            <a:off x="3875158" y="2468880"/>
            <a:ext cx="603504" cy="603504"/>
          </a:xfrm>
          <a:prstGeom prst="ellipse">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2200" b="1" dirty="0">
                <a:solidFill>
                  <a:schemeClr val="bg1"/>
                </a:solidFill>
                <a:latin typeface="Consolas" pitchFamily="34" charset="0"/>
                <a:ea typeface="Consolas" pitchFamily="34" charset="-122"/>
                <a:cs typeface="Consolas" pitchFamily="34" charset="-120"/>
              </a:rPr>
              <a:t>-</a:t>
            </a:r>
            <a:endParaRPr lang="en-US" sz="2200" dirty="0"/>
          </a:p>
        </p:txBody>
      </p:sp>
      <p:sp>
        <p:nvSpPr>
          <p:cNvPr id="16" name="Text 14"/>
          <p:cNvSpPr txBox="1"/>
          <p:nvPr/>
        </p:nvSpPr>
        <p:spPr>
          <a:xfrm>
            <a:off x="4515238" y="2624328"/>
            <a:ext cx="640080" cy="292608"/>
          </a:xfrm>
          <a:prstGeom prst="rect">
            <a:avLst/>
          </a:prstGeom>
          <a:noFill/>
          <a:ln/>
        </p:spPr>
        <p:txBody>
          <a:bodyPr wrap="square" lIns="0" tIns="0" rIns="0" bIns="0" rtlCol="0" anchor="ctr"/>
          <a:lstStyle/>
          <a:p>
            <a:pPr algn="l" indent="0" marL="0">
              <a:buNone/>
            </a:pPr>
            <a:r>
              <a:rPr lang="en-US" sz="1600" b="1" dirty="0">
                <a:solidFill>
                  <a:schemeClr val="accent2"/>
                </a:solidFill>
              </a:rPr>
              <a:t>= 3</a:t>
            </a:r>
            <a:endParaRPr lang="en-US" sz="1600" dirty="0"/>
          </a:p>
        </p:txBody>
      </p:sp>
      <p:sp>
        <p:nvSpPr>
          <p:cNvPr id="17" name="Knoten *"/>
          <p:cNvSpPr txBox="1"/>
          <p:nvPr/>
        </p:nvSpPr>
        <p:spPr>
          <a:xfrm>
            <a:off x="2715768" y="1463040"/>
            <a:ext cx="603504" cy="603504"/>
          </a:xfrm>
          <a:prstGeom prst="ellipse">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2200" b="1" dirty="0">
                <a:solidFill>
                  <a:schemeClr val="bg1"/>
                </a:solidFill>
                <a:latin typeface="Consolas" pitchFamily="34" charset="0"/>
                <a:ea typeface="Consolas" pitchFamily="34" charset="-122"/>
                <a:cs typeface="Consolas" pitchFamily="34" charset="-120"/>
              </a:rPr>
              <a:t>*</a:t>
            </a:r>
            <a:endParaRPr lang="en-US" sz="2200" dirty="0"/>
          </a:p>
        </p:txBody>
      </p:sp>
      <p:sp>
        <p:nvSpPr>
          <p:cNvPr id="18" name="Text 16"/>
          <p:cNvSpPr txBox="1"/>
          <p:nvPr/>
        </p:nvSpPr>
        <p:spPr>
          <a:xfrm>
            <a:off x="3355848" y="1618488"/>
            <a:ext cx="640080" cy="292608"/>
          </a:xfrm>
          <a:prstGeom prst="rect">
            <a:avLst/>
          </a:prstGeom>
          <a:noFill/>
          <a:ln/>
        </p:spPr>
        <p:txBody>
          <a:bodyPr wrap="square" lIns="0" tIns="0" rIns="0" bIns="0" rtlCol="0" anchor="ctr"/>
          <a:lstStyle/>
          <a:p>
            <a:pPr algn="l" indent="0" marL="0">
              <a:buNone/>
            </a:pPr>
            <a:r>
              <a:rPr lang="en-US" sz="1600" b="1" dirty="0">
                <a:solidFill>
                  <a:schemeClr val="accent2"/>
                </a:solidFill>
              </a:rPr>
              <a:t>= 21</a:t>
            </a:r>
            <a:endParaRPr lang="en-US" sz="1600" dirty="0"/>
          </a:p>
        </p:txBody>
      </p:sp>
      <p:sp>
        <p:nvSpPr>
          <p:cNvPr id="19" name="Text 17"/>
          <p:cNvSpPr txBox="1"/>
          <p:nvPr/>
        </p:nvSpPr>
        <p:spPr>
          <a:xfrm>
            <a:off x="548640" y="4389120"/>
            <a:ext cx="5120640" cy="292608"/>
          </a:xfrm>
          <a:prstGeom prst="rect">
            <a:avLst/>
          </a:prstGeom>
          <a:noFill/>
          <a:ln/>
        </p:spPr>
        <p:txBody>
          <a:bodyPr wrap="square" lIns="0" tIns="0" rIns="0" bIns="0" rtlCol="0" anchor="t"/>
          <a:lstStyle/>
          <a:p>
            <a:pPr algn="ctr" indent="0" marL="0">
              <a:buNone/>
            </a:pPr>
            <a:r>
              <a:rPr lang="en-US" sz="1300" i="1" dirty="0">
                <a:solidFill>
                  <a:schemeClr val="accent6"/>
                </a:solidFill>
              </a:rPr>
              <a:t>innere Knoten: Operatoren · Blätter: Zahlen (als Zeichenketten)</a:t>
            </a:r>
            <a:endParaRPr lang="en-US" sz="1300" dirty="0"/>
          </a:p>
        </p:txBody>
      </p:sp>
      <p:graphicFrame>
        <p:nvGraphicFramePr>
          <p:cNvPr id="11" name="Termbaum Traversierungen"/>
          <p:cNvGraphicFramePr>
            <a:graphicFrameLocks noGrp="1"/>
          </p:cNvGraphicFramePr>
          <p:nvPr>
            <p:extLst>
              <p:ext uri="{D42A27DB-BD31-4B8C-83A1-F6EECF244321}">
                <p14:modId xmlns:p14="http://schemas.microsoft.com/office/powerpoint/2010/main" val="1579011935"/>
              </p:ext>
            </p:extLst>
          </p:nvPr>
        </p:nvGraphicFramePr>
        <p:xfrm>
          <a:off x="5760720" y="1371600"/>
          <a:ext cx="5852160" cy="914400"/>
        </p:xfrm>
        <a:graphic>
          <a:graphicData uri="http://schemas.openxmlformats.org/drawingml/2006/table">
            <a:tbl>
              <a:tblPr/>
              <a:tblGrid>
                <a:gridCol w="1417320"/>
                <a:gridCol w="2331720"/>
                <a:gridCol w="2103120"/>
              </a:tblGrid>
              <a:tr h="50292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Traversierung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Ausgabe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Schreibweise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502920">
                <a:tc>
                  <a:txBody>
                    <a:bodyPr/>
                    <a:lstStyle/>
                    <a:p>
                      <a:pPr algn="l" indent="0" marL="0">
                        <a:buNone/>
                      </a:pPr>
                      <a:r>
                        <a:rPr lang="en-US" sz="1500" b="1" dirty="0">
                          <a:solidFill>
                            <a:schemeClr val="accent1"/>
                          </a:solidFill>
                          <a:latin typeface="Consolas" pitchFamily="34" charset="0"/>
                          <a:ea typeface="Consolas" pitchFamily="34" charset="-122"/>
                          <a:cs typeface="Consolas" pitchFamily="34" charset="-120"/>
                        </a:rPr>
                        <a:t>preorder</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 + 3 4 - 5 2 "</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Präfix</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02920">
                <a:tc>
                  <a:txBody>
                    <a:bodyPr/>
                    <a:lstStyle/>
                    <a:p>
                      <a:pPr algn="l" indent="0" marL="0">
                        <a:buNone/>
                      </a:pPr>
                      <a:r>
                        <a:rPr lang="en-US" sz="1500" b="1" dirty="0">
                          <a:solidFill>
                            <a:schemeClr val="accent1"/>
                          </a:solidFill>
                          <a:latin typeface="Consolas" pitchFamily="34" charset="0"/>
                          <a:ea typeface="Consolas" pitchFamily="34" charset="-122"/>
                          <a:cs typeface="Consolas" pitchFamily="34" charset="-120"/>
                        </a:rPr>
                        <a:t>inorder</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 + 4 * 5 - 2 "</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4"/>
                          </a:solidFill>
                          <a:latin typeface="Calibri" pitchFamily="34" charset="0"/>
                          <a:ea typeface="Calibri" pitchFamily="34" charset="-122"/>
                          <a:cs typeface="Calibri" pitchFamily="34" charset="-120"/>
                        </a:rPr>
                        <a:t>Infix – Klammern fehlen!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02920">
                <a:tc>
                  <a:txBody>
                    <a:bodyPr/>
                    <a:lstStyle/>
                    <a:p>
                      <a:pPr algn="l" indent="0" marL="0">
                        <a:buNone/>
                      </a:pPr>
                      <a:r>
                        <a:rPr lang="en-US" sz="1500" b="1" dirty="0">
                          <a:solidFill>
                            <a:schemeClr val="accent1"/>
                          </a:solidFill>
                          <a:latin typeface="Consolas" pitchFamily="34" charset="0"/>
                          <a:ea typeface="Consolas" pitchFamily="34" charset="-122"/>
                          <a:cs typeface="Consolas" pitchFamily="34" charset="-120"/>
                        </a:rPr>
                        <a:t>postorder</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onsolas" pitchFamily="34" charset="0"/>
                          <a:ea typeface="Consolas" pitchFamily="34" charset="-122"/>
                          <a:cs typeface="Consolas" pitchFamily="34" charset="-120"/>
                        </a:rPr>
                        <a:t>"3 4 + 5 2 - * "</a:t>
                      </a:r>
                      <a:endParaRPr lang="en-US" sz="15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Postfix – wie der Rechner aus Welt 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21" name="Auswerten"/>
          <p:cNvSpPr/>
          <p:nvPr/>
        </p:nvSpPr>
        <p:spPr>
          <a:xfrm>
            <a:off x="5760720" y="3611880"/>
            <a:ext cx="5852160" cy="1051560"/>
          </a:xfrm>
          <a:prstGeom prst="roundRect">
            <a:avLst>
              <a:gd name="adj" fmla="val 10435"/>
            </a:avLst>
          </a:prstGeom>
          <a:solidFill>
            <a:schemeClr val="bg2"/>
          </a:solidFill>
          <a:ln/>
        </p:spPr>
      </p:sp>
      <p:sp>
        <p:nvSpPr>
          <p:cNvPr id="22" name="Text 19"/>
          <p:cNvSpPr txBox="1"/>
          <p:nvPr/>
        </p:nvSpPr>
        <p:spPr>
          <a:xfrm>
            <a:off x="5961888" y="3611880"/>
            <a:ext cx="5486400" cy="1051560"/>
          </a:xfrm>
          <a:prstGeom prst="rect">
            <a:avLst/>
          </a:prstGeom>
          <a:noFill/>
          <a:ln/>
        </p:spPr>
        <p:txBody>
          <a:bodyPr wrap="square" lIns="0" tIns="0" rIns="0" bIns="0" rtlCol="0" anchor="ctr"/>
          <a:lstStyle/>
          <a:p>
            <a:pPr indent="0" marL="0">
              <a:buNone/>
            </a:pPr>
            <a:r>
              <a:rPr lang="en-US" sz="1500" b="1" dirty="0">
                <a:solidFill>
                  <a:schemeClr val="accent1"/>
                </a:solidFill>
              </a:rPr>
              <a:t>Auswerten = postorder denken: </a:t>
            </a:r>
            <a:pPr indent="0" marL="0">
              <a:buNone/>
            </a:pPr>
            <a:r>
              <a:rPr lang="en-US" sz="1500" dirty="0">
                <a:solidFill>
                  <a:schemeClr val="tx1"/>
                </a:solidFill>
              </a:rPr>
              <a:t>erst beide Teilbäume ausrechnen, dann den Operator der Wurzel anwenden: 7 * 3 = 21.</a:t>
            </a:r>
            <a:endParaRPr lang="en-US" sz="1500" dirty="0"/>
          </a:p>
        </p:txBody>
      </p:sp>
      <p:sp>
        <p:nvSpPr>
          <p:cNvPr id="23" name="Achtung Zahl"/>
          <p:cNvSpPr/>
          <p:nvPr/>
        </p:nvSpPr>
        <p:spPr>
          <a:xfrm>
            <a:off x="548640" y="4892040"/>
            <a:ext cx="5120640" cy="1234440"/>
          </a:xfrm>
          <a:prstGeom prst="roundRect">
            <a:avLst>
              <a:gd name="adj" fmla="val 8889"/>
            </a:avLst>
          </a:prstGeom>
          <a:solidFill>
            <a:schemeClr val="bg1"/>
          </a:solidFill>
          <a:ln w="25400">
            <a:solidFill>
              <a:schemeClr val="accent4"/>
            </a:solidFill>
            <a:prstDash val="solid"/>
          </a:ln>
        </p:spPr>
      </p:sp>
      <p:sp>
        <p:nvSpPr>
          <p:cNvPr id="24" name="Text 21"/>
          <p:cNvSpPr txBox="1"/>
          <p:nvPr/>
        </p:nvSpPr>
        <p:spPr>
          <a:xfrm>
            <a:off x="749808" y="4892040"/>
            <a:ext cx="4754880" cy="1234440"/>
          </a:xfrm>
          <a:prstGeom prst="rect">
            <a:avLst/>
          </a:prstGeom>
          <a:noFill/>
          <a:ln/>
        </p:spPr>
        <p:txBody>
          <a:bodyPr wrap="square" lIns="0" tIns="0" rIns="0" bIns="0" rtlCol="0" anchor="ctr"/>
          <a:lstStyle/>
          <a:p>
            <a:pPr indent="0" marL="0">
              <a:buNone/>
            </a:pPr>
            <a:r>
              <a:rPr lang="en-US" sz="1500" b="1" dirty="0">
                <a:solidFill>
                  <a:schemeClr val="accent4"/>
                </a:solidFill>
              </a:rPr>
              <a:t>Achtung Abi: </a:t>
            </a:r>
            <a:pPr indent="0" marL="0">
              <a:buNone/>
            </a:pPr>
            <a:r>
              <a:rPr lang="en-US" sz="1500" dirty="0">
                <a:solidFill>
                  <a:schemeClr val="tx1"/>
                </a:solidFill>
              </a:rPr>
              <a:t>"12" → 12 nur mit erlaubten Operationen: charAt, (int)-Wert des Zeichens – kein Integer.parseInt.</a:t>
            </a:r>
            <a:endParaRPr lang="en-US" sz="1500" dirty="0"/>
          </a:p>
        </p:txBody>
      </p:sp>
      <p:sp>
        <p:nvSpPr>
          <p:cNvPr id="25" name="Experte berechne"/>
          <p:cNvSpPr/>
          <p:nvPr/>
        </p:nvSpPr>
        <p:spPr>
          <a:xfrm>
            <a:off x="5760720" y="4892040"/>
            <a:ext cx="5852160" cy="1234440"/>
          </a:xfrm>
          <a:prstGeom prst="roundRect">
            <a:avLst>
              <a:gd name="adj" fmla="val 8889"/>
            </a:avLst>
          </a:prstGeom>
          <a:solidFill>
            <a:schemeClr val="bg1"/>
          </a:solidFill>
          <a:ln w="25400">
            <a:solidFill>
              <a:schemeClr val="accent3"/>
            </a:solidFill>
            <a:prstDash val="solid"/>
          </a:ln>
        </p:spPr>
      </p:sp>
      <p:sp>
        <p:nvSpPr>
          <p:cNvPr id="26" name="Text 23"/>
          <p:cNvSpPr txBox="1"/>
          <p:nvPr/>
        </p:nvSpPr>
        <p:spPr>
          <a:xfrm>
            <a:off x="5961888" y="4892040"/>
            <a:ext cx="5486400" cy="1234440"/>
          </a:xfrm>
          <a:prstGeom prst="rect">
            <a:avLst/>
          </a:prstGeom>
          <a:noFill/>
          <a:ln/>
        </p:spPr>
        <p:txBody>
          <a:bodyPr wrap="square" lIns="0" tIns="0" rIns="0" bIns="0" rtlCol="0" anchor="ctr"/>
          <a:lstStyle/>
          <a:p>
            <a:pPr indent="0" marL="0">
              <a:buNone/>
            </a:pPr>
            <a:r>
              <a:rPr lang="en-US" sz="1400" b="1" dirty="0">
                <a:solidFill>
                  <a:schemeClr val="accent3"/>
                </a:solidFill>
              </a:rPr>
              <a:t>Experte L5.1: </a:t>
            </a:r>
            <a:pPr indent="0" marL="0">
              <a:buNone/>
            </a:pPr>
            <a:r>
              <a:rPr lang="en-US" sz="1200" dirty="0">
                <a:solidFill>
                  <a:schemeClr val="accent1"/>
                </a:solidFill>
                <a:latin typeface="Consolas" pitchFamily="34" charset="0"/>
                <a:ea typeface="Consolas" pitchFamily="34" charset="-122"/>
                <a:cs typeface="Consolas" pitchFamily="34" charset="-120"/>
              </a:rPr>
              <a:t>berechne(t: Binärbaum vom Inhaltstyp Zeichenkette): Ganzzahl</a:t>
            </a:r>
            <a:pPr indent="0" marL="0">
              <a:buNone/>
            </a:pPr>
            <a:r>
              <a:rPr lang="en-US" sz="1400" dirty="0">
                <a:solidFill>
                  <a:schemeClr val="tx1"/>
                </a:solidFill>
              </a:rPr>
              <a:t> – Basisfall Blatt: Zahl; sonst Operator anwenden.</a:t>
            </a:r>
            <a:endParaRPr lang="en-US" sz="1400" dirty="0"/>
          </a:p>
        </p:txBody>
      </p:sp>
      <p:sp>
        <p:nvSpPr>
          <p:cNvPr id="27" name="Text 24"/>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Termbaum</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Online-IDE: Level 5.1 – class Baum</a:t>
            </a:r>
            <a:endParaRPr lang="en-US" sz="3600" dirty="0"/>
          </a:p>
        </p:txBody>
      </p:sp>
      <p:sp>
        <p:nvSpPr>
          <p:cNvPr id="3" name="Level-Karte"/>
          <p:cNvSpPr/>
          <p:nvPr/>
        </p:nvSpPr>
        <p:spPr>
          <a:xfrm>
            <a:off x="548640" y="1325880"/>
            <a:ext cx="6720840" cy="4800600"/>
          </a:xfrm>
          <a:prstGeom prst="roundRect">
            <a:avLst>
              <a:gd name="adj" fmla="val 2286"/>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Level-Kopf"/>
          <p:cNvSpPr txBox="1"/>
          <p:nvPr/>
        </p:nvSpPr>
        <p:spPr>
          <a:xfrm>
            <a:off x="548640" y="1325880"/>
            <a:ext cx="6720840" cy="502920"/>
          </a:xfrm>
          <a:prstGeom prst="rect">
            <a:avLst/>
          </a:prstGeom>
          <a:solidFill>
            <a:schemeClr val="accent1"/>
          </a:solidFill>
          <a:ln/>
        </p:spPr>
        <p:txBody>
          <a:bodyPr wrap="square" lIns="127000" tIns="0" rIns="127000" bIns="0" rtlCol="0" anchor="ctr"/>
          <a:lstStyle/>
          <a:p>
            <a:pPr indent="0" marL="0">
              <a:buNone/>
            </a:pPr>
            <a:r>
              <a:rPr lang="en-US" sz="1800" b="1" dirty="0">
                <a:solidFill>
                  <a:schemeClr val="accent2"/>
                </a:solidFill>
              </a:rPr>
              <a:t>IDE-Level 5.1 · </a:t>
            </a:r>
            <a:pPr indent="0" marL="0">
              <a:buNone/>
            </a:pPr>
            <a:r>
              <a:rPr lang="en-US" sz="1800" b="1" dirty="0">
                <a:solidFill>
                  <a:schemeClr val="bg1"/>
                </a:solidFill>
                <a:latin typeface="Consolas" pitchFamily="34" charset="0"/>
                <a:ea typeface="Consolas" pitchFamily="34" charset="-122"/>
                <a:cs typeface="Consolas" pitchFamily="34" charset="-120"/>
              </a:rPr>
              <a:t>class Baum</a:t>
            </a:r>
            <a:pPr indent="0" marL="0">
              <a:buNone/>
            </a:pPr>
            <a:r>
              <a:rPr lang="en-US" sz="1400" dirty="0">
                <a:solidFill>
                  <a:schemeClr val="bg2"/>
                </a:solidFill>
              </a:rPr>
              <a:t>   Testklasse L51BaumTest</a:t>
            </a:r>
            <a:endParaRPr lang="en-US" sz="1800" dirty="0"/>
          </a:p>
        </p:txBody>
      </p:sp>
      <p:sp>
        <p:nvSpPr>
          <p:cNvPr id="5" name="Chip"/>
          <p:cNvSpPr txBox="1"/>
          <p:nvPr/>
        </p:nvSpPr>
        <p:spPr>
          <a:xfrm>
            <a:off x="731520" y="1984248"/>
            <a:ext cx="160020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Basis ★</a:t>
            </a:r>
            <a:endParaRPr lang="en-US" sz="1400" dirty="0"/>
          </a:p>
        </p:txBody>
      </p:sp>
      <p:sp>
        <p:nvSpPr>
          <p:cNvPr id="6" name="Text 4"/>
          <p:cNvSpPr txBox="1"/>
          <p:nvPr/>
        </p:nvSpPr>
        <p:spPr>
          <a:xfrm>
            <a:off x="731520" y="2377440"/>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basis_…</a:t>
            </a:r>
            <a:endParaRPr lang="en-US" sz="1200" dirty="0"/>
          </a:p>
        </p:txBody>
      </p:sp>
      <p:sp>
        <p:nvSpPr>
          <p:cNvPr id="7" name="Text 5"/>
          <p:cNvSpPr txBox="1"/>
          <p:nvPr/>
        </p:nvSpPr>
        <p:spPr>
          <a:xfrm>
            <a:off x="2514600" y="1965960"/>
            <a:ext cx="4663440" cy="603504"/>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anzahlKnoten(b): Ganzzahl</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preorder(b) · inorder(b) · postorder(b)</a:t>
            </a:r>
            <a:endParaRPr lang="en-US" sz="1800" dirty="0"/>
          </a:p>
        </p:txBody>
      </p:sp>
      <p:sp>
        <p:nvSpPr>
          <p:cNvPr id="8" name="Chip"/>
          <p:cNvSpPr txBox="1"/>
          <p:nvPr/>
        </p:nvSpPr>
        <p:spPr>
          <a:xfrm>
            <a:off x="731520" y="2935224"/>
            <a:ext cx="16002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Erweiterung ★★</a:t>
            </a:r>
            <a:endParaRPr lang="en-US" sz="1400" dirty="0"/>
          </a:p>
        </p:txBody>
      </p:sp>
      <p:sp>
        <p:nvSpPr>
          <p:cNvPr id="9" name="Text 7"/>
          <p:cNvSpPr txBox="1"/>
          <p:nvPr/>
        </p:nvSpPr>
        <p:spPr>
          <a:xfrm>
            <a:off x="731520" y="3328416"/>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erweiterung_…</a:t>
            </a:r>
            <a:endParaRPr lang="en-US" sz="1200" dirty="0"/>
          </a:p>
        </p:txBody>
      </p:sp>
      <p:sp>
        <p:nvSpPr>
          <p:cNvPr id="10" name="Text 8"/>
          <p:cNvSpPr txBox="1"/>
          <p:nvPr/>
        </p:nvSpPr>
        <p:spPr>
          <a:xfrm>
            <a:off x="2514600" y="2916936"/>
            <a:ext cx="4663440" cy="905256"/>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hoehe(b): Ganzzahl</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anzahlBlaetter(b): Ganzzahl</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summe(b): Ganzzahl</a:t>
            </a:r>
            <a:endParaRPr lang="en-US" sz="1800" dirty="0"/>
          </a:p>
        </p:txBody>
      </p:sp>
      <p:sp>
        <p:nvSpPr>
          <p:cNvPr id="11" name="Chip"/>
          <p:cNvSpPr txBox="1"/>
          <p:nvPr/>
        </p:nvSpPr>
        <p:spPr>
          <a:xfrm>
            <a:off x="731520" y="4187952"/>
            <a:ext cx="16002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Experte ★★★</a:t>
            </a:r>
            <a:endParaRPr lang="en-US" sz="1400" dirty="0"/>
          </a:p>
        </p:txBody>
      </p:sp>
      <p:sp>
        <p:nvSpPr>
          <p:cNvPr id="12" name="Text 10"/>
          <p:cNvSpPr txBox="1"/>
          <p:nvPr/>
        </p:nvSpPr>
        <p:spPr>
          <a:xfrm>
            <a:off x="731520" y="4581144"/>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experte_…</a:t>
            </a:r>
            <a:endParaRPr lang="en-US" sz="1200" dirty="0"/>
          </a:p>
        </p:txBody>
      </p:sp>
      <p:sp>
        <p:nvSpPr>
          <p:cNvPr id="13" name="Text 11"/>
          <p:cNvSpPr txBox="1"/>
          <p:nvPr/>
        </p:nvSpPr>
        <p:spPr>
          <a:xfrm>
            <a:off x="2514600" y="4169664"/>
            <a:ext cx="4663440" cy="603504"/>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berechne(t): Ganzzahl   // Termbaum</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spiegeln(b): nichts     // links ↔ rechts</a:t>
            </a:r>
            <a:endParaRPr lang="en-US" sz="1800" dirty="0"/>
          </a:p>
        </p:txBody>
      </p:sp>
      <p:sp>
        <p:nvSpPr>
          <p:cNvPr id="14" name="Text 12"/>
          <p:cNvSpPr txBox="1"/>
          <p:nvPr/>
        </p:nvSpPr>
        <p:spPr>
          <a:xfrm>
            <a:off x="731520" y="5669280"/>
            <a:ext cx="6400800" cy="384048"/>
          </a:xfrm>
          <a:prstGeom prst="rect">
            <a:avLst/>
          </a:prstGeom>
          <a:noFill/>
          <a:ln/>
        </p:spPr>
        <p:txBody>
          <a:bodyPr wrap="square" lIns="0" tIns="0" rIns="0" bIns="0" rtlCol="0" anchor="ctr"/>
          <a:lstStyle/>
          <a:p>
            <a:pPr indent="0" marL="0">
              <a:buNone/>
            </a:pPr>
            <a:r>
              <a:rPr lang="en-US" sz="1300" i="1" dirty="0">
                <a:solidFill>
                  <a:schemeClr val="accent6"/>
                </a:solidFill>
              </a:rPr>
              <a:t>Datei: AQ_W5_L5_Wald_Geruest.txt · Bibliothek „Niedersachsen“ aktivieren!</a:t>
            </a:r>
            <a:endParaRPr lang="en-US" sz="1300" dirty="0"/>
          </a:p>
        </p:txBody>
      </p:sp>
      <p:sp>
        <p:nvSpPr>
          <p:cNvPr id="15" name="Text 13"/>
          <p:cNvSpPr txBox="1"/>
          <p:nvPr/>
        </p:nvSpPr>
        <p:spPr>
          <a:xfrm>
            <a:off x="7543800" y="1325880"/>
            <a:ext cx="4069080" cy="347472"/>
          </a:xfrm>
          <a:prstGeom prst="rect">
            <a:avLst/>
          </a:prstGeom>
          <a:noFill/>
          <a:ln/>
        </p:spPr>
        <p:txBody>
          <a:bodyPr wrap="square" lIns="0" tIns="0" rIns="0" bIns="0" rtlCol="0" anchor="t"/>
          <a:lstStyle/>
          <a:p>
            <a:pPr indent="0" marL="0">
              <a:buNone/>
            </a:pPr>
            <a:r>
              <a:rPr lang="en-US" sz="1800" b="1" dirty="0">
                <a:solidFill>
                  <a:schemeClr val="accent1"/>
                </a:solidFill>
              </a:rPr>
              <a:t>Baumschule (vorgegeben)</a:t>
            </a:r>
            <a:endParaRPr lang="en-US" sz="1800" dirty="0"/>
          </a:p>
        </p:txBody>
      </p:sp>
      <p:sp>
        <p:nvSpPr>
          <p:cNvPr id="16" name="Text 14"/>
          <p:cNvSpPr txBox="1"/>
          <p:nvPr/>
        </p:nvSpPr>
        <p:spPr>
          <a:xfrm>
            <a:off x="7543800" y="1737360"/>
            <a:ext cx="4069080" cy="1920240"/>
          </a:xfrm>
          <a:prstGeom prst="rect">
            <a:avLst/>
          </a:prstGeom>
          <a:solidFill>
            <a:schemeClr val="accent5"/>
          </a:solidFill>
          <a:ln w="9525">
            <a:solidFill>
              <a:srgbClr val="D0D0D0"/>
            </a:solidFill>
          </a:ln>
        </p:spPr>
        <p:txBody>
          <a:bodyPr wrap="square" lIns="127000" tIns="0" rIns="127000" bIns="0" rtlCol="0" anchor="ctr"/>
          <a:lstStyle/>
          <a:p>
            <a:pPr indent="0" marL="0">
              <a:lnSpc>
                <a:spcPts val="2100"/>
              </a:lnSpc>
              <a:buNone/>
            </a:pPr>
            <a:r>
              <a:rPr lang="en-US" sz="1400" dirty="0">
                <a:solidFill>
                  <a:schemeClr val="accent1"/>
                </a:solidFill>
                <a:latin typeface="Consolas" pitchFamily="34" charset="0"/>
                <a:ea typeface="Consolas" pitchFamily="34" charset="-122"/>
                <a:cs typeface="Consolas" pitchFamily="34" charset="-120"/>
              </a:rPr>
              <a:t>beispielBST()</a:t>
            </a:r>
            <a:endParaRPr lang="en-US" sz="1800" dirty="0"/>
          </a:p>
          <a:p>
            <a:pPr indent="0" marL="0">
              <a:lnSpc>
                <a:spcPts val="2100"/>
              </a:lnSpc>
              <a:buNone/>
            </a:pPr>
            <a:r>
              <a:rPr lang="en-US" sz="1400" dirty="0">
                <a:solidFill>
                  <a:schemeClr val="accent1"/>
                </a:solidFill>
                <a:latin typeface="Consolas" pitchFamily="34" charset="0"/>
                <a:ea typeface="Consolas" pitchFamily="34" charset="-122"/>
                <a:cs typeface="Consolas" pitchFamily="34" charset="-120"/>
              </a:rPr>
              <a:t>zahlenbaum()</a:t>
            </a:r>
            <a:endParaRPr lang="en-US" sz="1800" dirty="0"/>
          </a:p>
          <a:p>
            <a:pPr indent="0" marL="0">
              <a:lnSpc>
                <a:spcPts val="2100"/>
              </a:lnSpc>
              <a:buNone/>
            </a:pPr>
            <a:r>
              <a:rPr lang="en-US" sz="1400" dirty="0">
                <a:solidFill>
                  <a:schemeClr val="accent1"/>
                </a:solidFill>
                <a:latin typeface="Consolas" pitchFamily="34" charset="0"/>
                <a:ea typeface="Consolas" pitchFamily="34" charset="-122"/>
                <a:cs typeface="Consolas" pitchFamily="34" charset="-120"/>
              </a:rPr>
              <a:t>entartet()</a:t>
            </a:r>
            <a:endParaRPr lang="en-US" sz="1800" dirty="0"/>
          </a:p>
          <a:p>
            <a:pPr indent="0" marL="0">
              <a:lnSpc>
                <a:spcPts val="2100"/>
              </a:lnSpc>
              <a:buNone/>
            </a:pPr>
            <a:r>
              <a:rPr lang="en-US" sz="1400" dirty="0">
                <a:solidFill>
                  <a:schemeClr val="accent1"/>
                </a:solidFill>
                <a:latin typeface="Consolas" pitchFamily="34" charset="0"/>
                <a:ea typeface="Consolas" pitchFamily="34" charset="-122"/>
                <a:cs typeface="Consolas" pitchFamily="34" charset="-120"/>
              </a:rPr>
              <a:t>termbaum()</a:t>
            </a:r>
            <a:endParaRPr lang="en-US" sz="1800" dirty="0"/>
          </a:p>
          <a:p>
            <a:pPr indent="0" marL="0">
              <a:lnSpc>
                <a:spcPts val="2100"/>
              </a:lnSpc>
              <a:buNone/>
            </a:pPr>
            <a:r>
              <a:rPr lang="en-US" sz="1400" dirty="0">
                <a:solidFill>
                  <a:schemeClr val="accent1"/>
                </a:solidFill>
                <a:latin typeface="Consolas" pitchFamily="34" charset="0"/>
                <a:ea typeface="Consolas" pitchFamily="34" charset="-122"/>
                <a:cs typeface="Consolas" pitchFamily="34" charset="-120"/>
              </a:rPr>
              <a:t>monsterquiz()</a:t>
            </a:r>
            <a:endParaRPr lang="en-US" sz="1800" dirty="0"/>
          </a:p>
          <a:p>
            <a:pPr indent="0" marL="0">
              <a:lnSpc>
                <a:spcPts val="2100"/>
              </a:lnSpc>
              <a:buNone/>
            </a:pPr>
            <a:r>
              <a:rPr lang="en-US" sz="1400" dirty="0">
                <a:solidFill>
                  <a:schemeClr val="accent1"/>
                </a:solidFill>
                <a:latin typeface="Consolas" pitchFamily="34" charset="0"/>
                <a:ea typeface="Consolas" pitchFamily="34" charset="-122"/>
                <a:cs typeface="Consolas" pitchFamily="34" charset="-120"/>
              </a:rPr>
              <a:t>leer() · blatt(x)</a:t>
            </a:r>
            <a:endParaRPr lang="en-US" sz="1800" dirty="0"/>
          </a:p>
        </p:txBody>
      </p:sp>
      <p:sp>
        <p:nvSpPr>
          <p:cNvPr id="17" name="Text 15"/>
          <p:cNvSpPr txBox="1"/>
          <p:nvPr/>
        </p:nvSpPr>
        <p:spPr>
          <a:xfrm>
            <a:off x="7543800" y="3703320"/>
            <a:ext cx="4069080" cy="274320"/>
          </a:xfrm>
          <a:prstGeom prst="rect">
            <a:avLst/>
          </a:prstGeom>
          <a:noFill/>
          <a:ln/>
        </p:spPr>
        <p:txBody>
          <a:bodyPr wrap="square" lIns="0" tIns="0" rIns="0" bIns="0" rtlCol="0" anchor="t"/>
          <a:lstStyle/>
          <a:p>
            <a:pPr indent="0" marL="0">
              <a:buNone/>
            </a:pPr>
            <a:r>
              <a:rPr lang="en-US" sz="1300" i="1" dirty="0">
                <a:solidFill>
                  <a:schemeClr val="accent6"/>
                </a:solidFill>
              </a:rPr>
              <a:t>jede Methode liefert einen NEUEN Baum</a:t>
            </a:r>
            <a:endParaRPr lang="en-US" sz="1300" dirty="0"/>
          </a:p>
        </p:txBody>
      </p:sp>
      <p:sp>
        <p:nvSpPr>
          <p:cNvPr id="18" name="Text 16"/>
          <p:cNvSpPr txBox="1"/>
          <p:nvPr/>
        </p:nvSpPr>
        <p:spPr>
          <a:xfrm>
            <a:off x="7543800" y="4114800"/>
            <a:ext cx="4069080" cy="320040"/>
          </a:xfrm>
          <a:prstGeom prst="rect">
            <a:avLst/>
          </a:prstGeom>
          <a:noFill/>
          <a:ln/>
        </p:spPr>
        <p:txBody>
          <a:bodyPr wrap="square" lIns="0" tIns="0" rIns="0" bIns="0" rtlCol="0" anchor="t"/>
          <a:lstStyle/>
          <a:p>
            <a:pPr indent="0" marL="0">
              <a:buNone/>
            </a:pPr>
            <a:r>
              <a:rPr lang="en-US" sz="1700" b="1" dirty="0">
                <a:solidFill>
                  <a:schemeClr val="accent2"/>
                </a:solidFill>
              </a:rPr>
              <a:t>Abi-Check Bäume</a:t>
            </a:r>
            <a:endParaRPr lang="en-US" sz="1700" dirty="0"/>
          </a:p>
        </p:txBody>
      </p:sp>
      <p:sp>
        <p:nvSpPr>
          <p:cNvPr id="19" name="Icon-Kreis"/>
          <p:cNvSpPr/>
          <p:nvPr/>
        </p:nvSpPr>
        <p:spPr>
          <a:xfrm>
            <a:off x="7543800" y="4507992"/>
            <a:ext cx="274320" cy="274320"/>
          </a:xfrm>
          <a:prstGeom prst="ellipse">
            <a:avLst/>
          </a:prstGeom>
          <a:solidFill>
            <a:schemeClr val="accent3"/>
          </a:solidFill>
          <a:ln/>
        </p:spPr>
      </p:sp>
      <p:pic>
        <p:nvPicPr>
          <p:cNvPr id="20" name="Icon GiCheckMark" descr="preencoded.png">    </p:cNvPr>
          <p:cNvPicPr>
            <a:picLocks noChangeAspect="1"/>
          </p:cNvPicPr>
          <p:nvPr/>
        </p:nvPicPr>
        <p:blipFill>
          <a:blip r:embed="rId1"/>
          <a:stretch>
            <a:fillRect/>
          </a:stretch>
        </p:blipFill>
        <p:spPr>
          <a:xfrm>
            <a:off x="7587691" y="4551883"/>
            <a:ext cx="186538" cy="186538"/>
          </a:xfrm>
          <a:prstGeom prst="rect">
            <a:avLst/>
          </a:prstGeom>
        </p:spPr>
      </p:pic>
      <p:sp>
        <p:nvSpPr>
          <p:cNvPr id="21" name="Text 18"/>
          <p:cNvSpPr txBox="1"/>
          <p:nvPr/>
        </p:nvSpPr>
        <p:spPr>
          <a:xfrm>
            <a:off x="7955280" y="4480560"/>
            <a:ext cx="3657600" cy="365760"/>
          </a:xfrm>
          <a:prstGeom prst="rect">
            <a:avLst/>
          </a:prstGeom>
          <a:noFill/>
          <a:ln/>
        </p:spPr>
        <p:txBody>
          <a:bodyPr wrap="square" lIns="0" tIns="0" rIns="0" bIns="0" rtlCol="0" anchor="ctr"/>
          <a:lstStyle/>
          <a:p>
            <a:pPr indent="0" marL="0">
              <a:buNone/>
            </a:pPr>
            <a:r>
              <a:rPr lang="en-US" sz="1500" dirty="0">
                <a:solidFill>
                  <a:schemeClr val="tx1"/>
                </a:solidFill>
              </a:rPr>
              <a:t>Basisfall: if (b.isEmpty())</a:t>
            </a:r>
            <a:endParaRPr lang="en-US" sz="1500" dirty="0"/>
          </a:p>
        </p:txBody>
      </p:sp>
      <p:sp>
        <p:nvSpPr>
          <p:cNvPr id="22" name="Icon-Kreis"/>
          <p:cNvSpPr/>
          <p:nvPr/>
        </p:nvSpPr>
        <p:spPr>
          <a:xfrm>
            <a:off x="7543800" y="4892040"/>
            <a:ext cx="274320" cy="274320"/>
          </a:xfrm>
          <a:prstGeom prst="ellipse">
            <a:avLst/>
          </a:prstGeom>
          <a:solidFill>
            <a:schemeClr val="accent3"/>
          </a:solidFill>
          <a:ln/>
        </p:spPr>
      </p:sp>
      <p:pic>
        <p:nvPicPr>
          <p:cNvPr id="23" name="Icon GiCheckMark" descr="preencoded.png">    </p:cNvPr>
          <p:cNvPicPr>
            <a:picLocks noChangeAspect="1"/>
          </p:cNvPicPr>
          <p:nvPr/>
        </p:nvPicPr>
        <p:blipFill>
          <a:blip r:embed="rId2"/>
          <a:stretch>
            <a:fillRect/>
          </a:stretch>
        </p:blipFill>
        <p:spPr>
          <a:xfrm>
            <a:off x="7587691" y="4935931"/>
            <a:ext cx="186538" cy="186538"/>
          </a:xfrm>
          <a:prstGeom prst="rect">
            <a:avLst/>
          </a:prstGeom>
        </p:spPr>
      </p:pic>
      <p:sp>
        <p:nvSpPr>
          <p:cNvPr id="24" name="Text 20"/>
          <p:cNvSpPr txBox="1"/>
          <p:nvPr/>
        </p:nvSpPr>
        <p:spPr>
          <a:xfrm>
            <a:off x="7955280" y="4864608"/>
            <a:ext cx="3657600" cy="365760"/>
          </a:xfrm>
          <a:prstGeom prst="rect">
            <a:avLst/>
          </a:prstGeom>
          <a:noFill/>
          <a:ln/>
        </p:spPr>
        <p:txBody>
          <a:bodyPr wrap="square" lIns="0" tIns="0" rIns="0" bIns="0" rtlCol="0" anchor="ctr"/>
          <a:lstStyle/>
          <a:p>
            <a:pPr indent="0" marL="0">
              <a:buNone/>
            </a:pPr>
            <a:r>
              <a:rPr lang="en-US" sz="1500" dirty="0">
                <a:solidFill>
                  <a:schemeClr val="tx1"/>
                </a:solidFill>
              </a:rPr>
              <a:t>beide Teilbäume rekursiv</a:t>
            </a:r>
            <a:endParaRPr lang="en-US" sz="1500" dirty="0"/>
          </a:p>
        </p:txBody>
      </p:sp>
      <p:sp>
        <p:nvSpPr>
          <p:cNvPr id="25" name="Icon-Kreis"/>
          <p:cNvSpPr/>
          <p:nvPr/>
        </p:nvSpPr>
        <p:spPr>
          <a:xfrm>
            <a:off x="7543800" y="5276088"/>
            <a:ext cx="274320" cy="274320"/>
          </a:xfrm>
          <a:prstGeom prst="ellipse">
            <a:avLst/>
          </a:prstGeom>
          <a:solidFill>
            <a:schemeClr val="accent3"/>
          </a:solidFill>
          <a:ln/>
        </p:spPr>
      </p:sp>
      <p:pic>
        <p:nvPicPr>
          <p:cNvPr id="26" name="Icon GiCheckMark" descr="preencoded.png">    </p:cNvPr>
          <p:cNvPicPr>
            <a:picLocks noChangeAspect="1"/>
          </p:cNvPicPr>
          <p:nvPr/>
        </p:nvPicPr>
        <p:blipFill>
          <a:blip r:embed="rId3"/>
          <a:stretch>
            <a:fillRect/>
          </a:stretch>
        </p:blipFill>
        <p:spPr>
          <a:xfrm>
            <a:off x="7587691" y="5319979"/>
            <a:ext cx="186538" cy="186538"/>
          </a:xfrm>
          <a:prstGeom prst="rect">
            <a:avLst/>
          </a:prstGeom>
        </p:spPr>
      </p:pic>
      <p:sp>
        <p:nvSpPr>
          <p:cNvPr id="27" name="Text 22"/>
          <p:cNvSpPr txBox="1"/>
          <p:nvPr/>
        </p:nvSpPr>
        <p:spPr>
          <a:xfrm>
            <a:off x="7955280" y="5248656"/>
            <a:ext cx="3657600" cy="365760"/>
          </a:xfrm>
          <a:prstGeom prst="rect">
            <a:avLst/>
          </a:prstGeom>
          <a:noFill/>
          <a:ln/>
        </p:spPr>
        <p:txBody>
          <a:bodyPr wrap="square" lIns="0" tIns="0" rIns="0" bIns="0" rtlCol="0" anchor="ctr"/>
          <a:lstStyle/>
          <a:p>
            <a:pPr indent="0" marL="0">
              <a:buNone/>
            </a:pPr>
            <a:r>
              <a:rPr lang="en-US" sz="1500" dirty="0">
                <a:solidFill>
                  <a:schemeClr val="tx1"/>
                </a:solidFill>
              </a:rPr>
              <a:t>Cast: (Integer) b.getItem()</a:t>
            </a:r>
            <a:endParaRPr lang="en-US" sz="1500" dirty="0"/>
          </a:p>
        </p:txBody>
      </p:sp>
      <p:sp>
        <p:nvSpPr>
          <p:cNvPr id="28" name="Icon-Kreis"/>
          <p:cNvSpPr/>
          <p:nvPr/>
        </p:nvSpPr>
        <p:spPr>
          <a:xfrm>
            <a:off x="7543800" y="5660136"/>
            <a:ext cx="274320" cy="274320"/>
          </a:xfrm>
          <a:prstGeom prst="ellipse">
            <a:avLst/>
          </a:prstGeom>
          <a:solidFill>
            <a:schemeClr val="accent3"/>
          </a:solidFill>
          <a:ln/>
        </p:spPr>
      </p:sp>
      <p:pic>
        <p:nvPicPr>
          <p:cNvPr id="29" name="Icon GiCheckMark" descr="preencoded.png">    </p:cNvPr>
          <p:cNvPicPr>
            <a:picLocks noChangeAspect="1"/>
          </p:cNvPicPr>
          <p:nvPr/>
        </p:nvPicPr>
        <p:blipFill>
          <a:blip r:embed="rId4"/>
          <a:stretch>
            <a:fillRect/>
          </a:stretch>
        </p:blipFill>
        <p:spPr>
          <a:xfrm>
            <a:off x="7587691" y="5704027"/>
            <a:ext cx="186538" cy="186538"/>
          </a:xfrm>
          <a:prstGeom prst="rect">
            <a:avLst/>
          </a:prstGeom>
        </p:spPr>
      </p:pic>
      <p:sp>
        <p:nvSpPr>
          <p:cNvPr id="30" name="Text 24"/>
          <p:cNvSpPr txBox="1"/>
          <p:nvPr/>
        </p:nvSpPr>
        <p:spPr>
          <a:xfrm>
            <a:off x="7955280" y="5632704"/>
            <a:ext cx="3657600" cy="365760"/>
          </a:xfrm>
          <a:prstGeom prst="rect">
            <a:avLst/>
          </a:prstGeom>
          <a:noFill/>
          <a:ln/>
        </p:spPr>
        <p:txBody>
          <a:bodyPr wrap="square" lIns="0" tIns="0" rIns="0" bIns="0" rtlCol="0" anchor="ctr"/>
          <a:lstStyle/>
          <a:p>
            <a:pPr indent="0" marL="0">
              <a:buNone/>
            </a:pPr>
            <a:r>
              <a:rPr lang="en-US" sz="1500" dirty="0">
                <a:solidFill>
                  <a:schemeClr val="tx1"/>
                </a:solidFill>
              </a:rPr>
              <a:t>Rückgabe in jedem Pfad</a:t>
            </a:r>
            <a:endParaRPr lang="en-US" sz="1500" dirty="0"/>
          </a:p>
        </p:txBody>
      </p:sp>
      <p:sp>
        <p:nvSpPr>
          <p:cNvPr id="31" name="Text 25"/>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IDE Level 5.1</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Exit-Ticket DS 31: zahlenbaum()</a:t>
            </a:r>
            <a:endParaRPr lang="en-US" sz="3600" dirty="0"/>
          </a:p>
        </p:txBody>
      </p:sp>
      <p:sp>
        <p:nvSpPr>
          <p:cNvPr id="3" name="Kante 9-2"/>
          <p:cNvSpPr/>
          <p:nvPr/>
        </p:nvSpPr>
        <p:spPr>
          <a:xfrm flipH="1">
            <a:off x="1237028" y="2651760"/>
            <a:ext cx="538288" cy="914400"/>
          </a:xfrm>
          <a:prstGeom prst="line">
            <a:avLst/>
          </a:prstGeom>
          <a:noFill/>
          <a:ln w="22225">
            <a:solidFill>
              <a:schemeClr val="bg2"/>
            </a:solidFill>
            <a:prstDash val="solid"/>
          </a:ln>
        </p:spPr>
      </p:sp>
      <p:sp>
        <p:nvSpPr>
          <p:cNvPr id="4" name="Kante 9-7"/>
          <p:cNvSpPr/>
          <p:nvPr/>
        </p:nvSpPr>
        <p:spPr>
          <a:xfrm>
            <a:off x="1775316" y="2651760"/>
            <a:ext cx="538288" cy="914400"/>
          </a:xfrm>
          <a:prstGeom prst="line">
            <a:avLst/>
          </a:prstGeom>
          <a:noFill/>
          <a:ln w="22225">
            <a:solidFill>
              <a:schemeClr val="bg2"/>
            </a:solidFill>
            <a:prstDash val="solid"/>
          </a:ln>
        </p:spPr>
      </p:sp>
      <p:sp>
        <p:nvSpPr>
          <p:cNvPr id="5" name="Kante 5-9"/>
          <p:cNvSpPr/>
          <p:nvPr/>
        </p:nvSpPr>
        <p:spPr>
          <a:xfrm flipH="1">
            <a:off x="1775316" y="1737360"/>
            <a:ext cx="1048109" cy="914400"/>
          </a:xfrm>
          <a:prstGeom prst="line">
            <a:avLst/>
          </a:prstGeom>
          <a:noFill/>
          <a:ln w="22225">
            <a:solidFill>
              <a:schemeClr val="bg2"/>
            </a:solidFill>
            <a:prstDash val="solid"/>
          </a:ln>
        </p:spPr>
      </p:sp>
      <p:sp>
        <p:nvSpPr>
          <p:cNvPr id="6" name="Kante 9-1"/>
          <p:cNvSpPr/>
          <p:nvPr/>
        </p:nvSpPr>
        <p:spPr>
          <a:xfrm flipH="1">
            <a:off x="4094097" y="3566160"/>
            <a:ext cx="445123" cy="914400"/>
          </a:xfrm>
          <a:prstGeom prst="line">
            <a:avLst/>
          </a:prstGeom>
          <a:noFill/>
          <a:ln w="22225">
            <a:solidFill>
              <a:schemeClr val="bg2"/>
            </a:solidFill>
            <a:prstDash val="solid"/>
          </a:ln>
        </p:spPr>
      </p:sp>
      <p:sp>
        <p:nvSpPr>
          <p:cNvPr id="7" name="Kante 4-9"/>
          <p:cNvSpPr/>
          <p:nvPr/>
        </p:nvSpPr>
        <p:spPr>
          <a:xfrm>
            <a:off x="3871535" y="2651760"/>
            <a:ext cx="667685" cy="914400"/>
          </a:xfrm>
          <a:prstGeom prst="line">
            <a:avLst/>
          </a:prstGeom>
          <a:noFill/>
          <a:ln w="22225">
            <a:solidFill>
              <a:schemeClr val="bg2"/>
            </a:solidFill>
            <a:prstDash val="solid"/>
          </a:ln>
        </p:spPr>
      </p:sp>
      <p:sp>
        <p:nvSpPr>
          <p:cNvPr id="8" name="Kante 5-4"/>
          <p:cNvSpPr/>
          <p:nvPr/>
        </p:nvSpPr>
        <p:spPr>
          <a:xfrm>
            <a:off x="2823426" y="1737360"/>
            <a:ext cx="1048109" cy="914400"/>
          </a:xfrm>
          <a:prstGeom prst="line">
            <a:avLst/>
          </a:prstGeom>
          <a:noFill/>
          <a:ln w="22225">
            <a:solidFill>
              <a:schemeClr val="bg2"/>
            </a:solidFill>
            <a:prstDash val="solid"/>
          </a:ln>
        </p:spPr>
      </p:sp>
      <p:sp>
        <p:nvSpPr>
          <p:cNvPr id="9" name="Knoten 2"/>
          <p:cNvSpPr txBox="1"/>
          <p:nvPr/>
        </p:nvSpPr>
        <p:spPr>
          <a:xfrm>
            <a:off x="962708" y="32918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2</a:t>
            </a:r>
            <a:endParaRPr lang="en-US" sz="1900" dirty="0"/>
          </a:p>
        </p:txBody>
      </p:sp>
      <p:sp>
        <p:nvSpPr>
          <p:cNvPr id="10" name="Knoten 7"/>
          <p:cNvSpPr txBox="1"/>
          <p:nvPr/>
        </p:nvSpPr>
        <p:spPr>
          <a:xfrm>
            <a:off x="2039285" y="32918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7</a:t>
            </a:r>
            <a:endParaRPr lang="en-US" sz="1900" dirty="0"/>
          </a:p>
        </p:txBody>
      </p:sp>
      <p:sp>
        <p:nvSpPr>
          <p:cNvPr id="11" name="Knoten 9"/>
          <p:cNvSpPr txBox="1"/>
          <p:nvPr/>
        </p:nvSpPr>
        <p:spPr>
          <a:xfrm>
            <a:off x="1500996" y="23774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9</a:t>
            </a:r>
            <a:endParaRPr lang="en-US" sz="1900" dirty="0"/>
          </a:p>
        </p:txBody>
      </p:sp>
      <p:sp>
        <p:nvSpPr>
          <p:cNvPr id="12" name="Knoten 1"/>
          <p:cNvSpPr txBox="1"/>
          <p:nvPr/>
        </p:nvSpPr>
        <p:spPr>
          <a:xfrm>
            <a:off x="3819777" y="42062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1</a:t>
            </a:r>
            <a:endParaRPr lang="en-US" sz="1900" dirty="0"/>
          </a:p>
        </p:txBody>
      </p:sp>
      <p:sp>
        <p:nvSpPr>
          <p:cNvPr id="13" name="Knoten 9"/>
          <p:cNvSpPr txBox="1"/>
          <p:nvPr/>
        </p:nvSpPr>
        <p:spPr>
          <a:xfrm>
            <a:off x="4264900" y="32918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9</a:t>
            </a:r>
            <a:endParaRPr lang="en-US" sz="1900" dirty="0"/>
          </a:p>
        </p:txBody>
      </p:sp>
      <p:sp>
        <p:nvSpPr>
          <p:cNvPr id="14" name="Knoten 4"/>
          <p:cNvSpPr txBox="1"/>
          <p:nvPr/>
        </p:nvSpPr>
        <p:spPr>
          <a:xfrm>
            <a:off x="3597215" y="23774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4</a:t>
            </a:r>
            <a:endParaRPr lang="en-US" sz="1900" dirty="0"/>
          </a:p>
        </p:txBody>
      </p:sp>
      <p:sp>
        <p:nvSpPr>
          <p:cNvPr id="15" name="Knoten 5"/>
          <p:cNvSpPr txBox="1"/>
          <p:nvPr/>
        </p:nvSpPr>
        <p:spPr>
          <a:xfrm>
            <a:off x="2549106" y="14630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5</a:t>
            </a:r>
            <a:endParaRPr lang="en-US" sz="1900" dirty="0"/>
          </a:p>
        </p:txBody>
      </p:sp>
      <p:sp>
        <p:nvSpPr>
          <p:cNvPr id="16" name="Text 14"/>
          <p:cNvSpPr txBox="1"/>
          <p:nvPr/>
        </p:nvSpPr>
        <p:spPr>
          <a:xfrm>
            <a:off x="548640" y="4983480"/>
            <a:ext cx="5120640" cy="320040"/>
          </a:xfrm>
          <a:prstGeom prst="rect">
            <a:avLst/>
          </a:prstGeom>
          <a:noFill/>
          <a:ln/>
        </p:spPr>
        <p:txBody>
          <a:bodyPr wrap="square" lIns="0" tIns="0" rIns="0" bIns="0" rtlCol="0" anchor="t"/>
          <a:lstStyle/>
          <a:p>
            <a:pPr algn="ctr" indent="0" marL="0">
              <a:buNone/>
            </a:pPr>
            <a:r>
              <a:rPr lang="en-US" sz="1400" i="1" dirty="0">
                <a:solidFill>
                  <a:schemeClr val="bg2"/>
                </a:solidFill>
              </a:rPr>
              <a:t>zahlenbaum() – kein Suchbaum, die 9 kommt doppelt vor</a:t>
            </a:r>
            <a:endParaRPr lang="en-US" sz="1400" dirty="0"/>
          </a:p>
        </p:txBody>
      </p:sp>
      <p:sp>
        <p:nvSpPr>
          <p:cNvPr id="17" name="Exit-Ticket"/>
          <p:cNvSpPr/>
          <p:nvPr/>
        </p:nvSpPr>
        <p:spPr>
          <a:xfrm>
            <a:off x="5943600" y="1325880"/>
            <a:ext cx="566928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8" name="Chip"/>
          <p:cNvSpPr txBox="1"/>
          <p:nvPr/>
        </p:nvSpPr>
        <p:spPr>
          <a:xfrm>
            <a:off x="6172200" y="1508760"/>
            <a:ext cx="18288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PAPIER · 5 min</a:t>
            </a:r>
            <a:endParaRPr lang="en-US" sz="1300" dirty="0"/>
          </a:p>
        </p:txBody>
      </p:sp>
      <p:sp>
        <p:nvSpPr>
          <p:cNvPr id="19" name="Text 17"/>
          <p:cNvSpPr txBox="1"/>
          <p:nvPr/>
        </p:nvSpPr>
        <p:spPr>
          <a:xfrm>
            <a:off x="6172200" y="2011680"/>
            <a:ext cx="5257800" cy="2377440"/>
          </a:xfrm>
          <a:prstGeom prst="rect">
            <a:avLst/>
          </a:prstGeom>
          <a:noFill/>
          <a:ln/>
        </p:spPr>
        <p:txBody>
          <a:bodyPr wrap="square" lIns="0" tIns="0" rIns="0" bIns="0" rtlCol="0" anchor="t"/>
          <a:lstStyle/>
          <a:p>
            <a:pPr indent="0" marL="0">
              <a:spcAft>
                <a:spcPts val="1000"/>
              </a:spcAft>
              <a:buNone/>
            </a:pPr>
            <a:r>
              <a:rPr lang="en-US" sz="1700" b="1" dirty="0">
                <a:solidFill>
                  <a:schemeClr val="accent2"/>
                </a:solidFill>
              </a:rPr>
              <a:t>1  </a:t>
            </a:r>
            <a:pPr indent="0" marL="0">
              <a:spcAft>
                <a:spcPts val="1000"/>
              </a:spcAft>
              <a:buNone/>
            </a:pPr>
            <a:r>
              <a:rPr lang="en-US" sz="1700" dirty="0">
                <a:solidFill>
                  <a:schemeClr val="tx1"/>
                </a:solidFill>
              </a:rPr>
              <a:t>Gib preorder, inorder und postorder an (Format wie in der IDE).</a:t>
            </a:r>
            <a:endParaRPr lang="en-US" sz="1700" dirty="0"/>
          </a:p>
          <a:p>
            <a:pPr indent="0" marL="0">
              <a:spcAft>
                <a:spcPts val="1000"/>
              </a:spcAft>
              <a:buNone/>
            </a:pPr>
            <a:r>
              <a:rPr lang="en-US" sz="1700" b="1" dirty="0">
                <a:solidFill>
                  <a:schemeClr val="accent2"/>
                </a:solidFill>
              </a:rPr>
              <a:t>2  </a:t>
            </a:r>
            <a:pPr indent="0" marL="0">
              <a:spcAft>
                <a:spcPts val="1000"/>
              </a:spcAft>
              <a:buNone/>
            </a:pPr>
            <a:r>
              <a:rPr lang="en-US" sz="1700" dirty="0">
                <a:solidFill>
                  <a:schemeClr val="tx1"/>
                </a:solidFill>
              </a:rPr>
              <a:t>Nenne die Blätter, die Höhe und die Ebene des Knotens 1.</a:t>
            </a:r>
            <a:endParaRPr lang="en-US" sz="1700" dirty="0"/>
          </a:p>
          <a:p>
            <a:pPr indent="0" marL="0">
              <a:spcAft>
                <a:spcPts val="1000"/>
              </a:spcAft>
              <a:buNone/>
            </a:pPr>
            <a:r>
              <a:rPr lang="en-US" sz="1700" b="1" dirty="0">
                <a:solidFill>
                  <a:schemeClr val="accent2"/>
                </a:solidFill>
              </a:rPr>
              <a:t>3  </a:t>
            </a:r>
            <a:pPr indent="0" marL="0">
              <a:spcAft>
                <a:spcPts val="1000"/>
              </a:spcAft>
              <a:buNone/>
            </a:pPr>
            <a:r>
              <a:rPr lang="en-US" sz="1700" dirty="0">
                <a:solidFill>
                  <a:schemeClr val="tx1"/>
                </a:solidFill>
              </a:rPr>
              <a:t>Schreibe die Codezeile, die an die rechte 9 ihr linkes Kind 1 hängt.</a:t>
            </a:r>
            <a:endParaRPr lang="en-US" sz="1700" dirty="0"/>
          </a:p>
        </p:txBody>
      </p:sp>
      <p:sp>
        <p:nvSpPr>
          <p:cNvPr id="20" name="Text 18"/>
          <p:cNvSpPr txBox="1"/>
          <p:nvPr/>
        </p:nvSpPr>
        <p:spPr>
          <a:xfrm>
            <a:off x="6172200" y="4754880"/>
            <a:ext cx="5257800" cy="1234440"/>
          </a:xfrm>
          <a:prstGeom prst="rect">
            <a:avLst/>
          </a:prstGeom>
          <a:noFill/>
          <a:ln/>
        </p:spPr>
        <p:txBody>
          <a:bodyPr wrap="square" lIns="0" tIns="0" rIns="0" bIns="0" rtlCol="0" anchor="ctr"/>
          <a:lstStyle/>
          <a:p>
            <a:pPr indent="0" marL="0">
              <a:buNone/>
            </a:pPr>
            <a:r>
              <a:rPr lang="en-US" sz="1500" b="1" dirty="0">
                <a:solidFill>
                  <a:schemeClr val="accent1"/>
                </a:solidFill>
              </a:rPr>
              <a:t>Selbstcheck: </a:t>
            </a:r>
            <a:pPr indent="0" marL="0">
              <a:buNone/>
            </a:pPr>
            <a:r>
              <a:rPr lang="en-US" sz="1500" dirty="0">
                <a:solidFill>
                  <a:schemeClr val="tx1"/>
                </a:solidFill>
              </a:rPr>
              <a:t>Jede Traversierung enthält alle 7 Werte – genau einmal pro Knoten.</a:t>
            </a:r>
            <a:endParaRPr lang="en-US" sz="1500" dirty="0"/>
          </a:p>
          <a:p>
            <a:pPr indent="0" marL="0">
              <a:buNone/>
            </a:pPr>
            <a:r>
              <a:rPr lang="en-US" sz="1500" b="1" dirty="0">
                <a:solidFill>
                  <a:schemeClr val="accent2"/>
                </a:solidFill>
              </a:rPr>
              <a:t>Sicherung: </a:t>
            </a:r>
            <a:pPr indent="0" marL="0">
              <a:buNone/>
            </a:pPr>
            <a:r>
              <a:rPr lang="en-US" sz="1500" dirty="0">
                <a:solidFill>
                  <a:schemeClr val="tx1"/>
                </a:solidFill>
              </a:rPr>
              <a:t>Warm-up W5-03 · W5-04 · W5-02</a:t>
            </a:r>
            <a:endParaRPr lang="en-US" sz="1500" dirty="0"/>
          </a:p>
        </p:txBody>
      </p:sp>
      <p:sp>
        <p:nvSpPr>
          <p:cNvPr id="21" name="Text 19"/>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31 · Exit-Ticket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Papier-Warm-up: Wie hoch ist der Baum?</a:t>
            </a:r>
            <a:endParaRPr lang="en-US" sz="3600" dirty="0"/>
          </a:p>
        </p:txBody>
      </p:sp>
      <p:sp>
        <p:nvSpPr>
          <p:cNvPr id="3" name="Papier-Kata"/>
          <p:cNvSpPr/>
          <p:nvPr/>
        </p:nvSpPr>
        <p:spPr>
          <a:xfrm>
            <a:off x="548640" y="1325880"/>
            <a:ext cx="640080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Chip"/>
          <p:cNvSpPr txBox="1"/>
          <p:nvPr/>
        </p:nvSpPr>
        <p:spPr>
          <a:xfrm>
            <a:off x="777240" y="1508760"/>
            <a:ext cx="3017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PAPIER · ohne Gerät · 10 min</a:t>
            </a:r>
            <a:endParaRPr lang="en-US" sz="1400" dirty="0"/>
          </a:p>
        </p:txBody>
      </p:sp>
      <p:sp>
        <p:nvSpPr>
          <p:cNvPr id="5" name="Text 3"/>
          <p:cNvSpPr txBox="1"/>
          <p:nvPr/>
        </p:nvSpPr>
        <p:spPr>
          <a:xfrm>
            <a:off x="777240" y="1965960"/>
            <a:ext cx="5943600" cy="365760"/>
          </a:xfrm>
          <a:prstGeom prst="rect">
            <a:avLst/>
          </a:prstGeom>
          <a:noFill/>
          <a:ln/>
        </p:spPr>
        <p:txBody>
          <a:bodyPr wrap="square" lIns="0" tIns="0" rIns="0" bIns="0" rtlCol="0" anchor="t"/>
          <a:lstStyle/>
          <a:p>
            <a:pPr indent="0" marL="0">
              <a:buNone/>
            </a:pPr>
            <a:r>
              <a:rPr lang="en-US" sz="1600" b="1" dirty="0">
                <a:solidFill>
                  <a:schemeClr val="accent1"/>
                </a:solidFill>
              </a:rPr>
              <a:t>Papier-Warm-up W5-05 · Baum C = rechter Teilbaum des zahlenbaums</a:t>
            </a:r>
            <a:endParaRPr lang="en-US" sz="1600" dirty="0"/>
          </a:p>
        </p:txBody>
      </p:sp>
      <p:sp>
        <p:nvSpPr>
          <p:cNvPr id="6" name="Text 4"/>
          <p:cNvSpPr txBox="1"/>
          <p:nvPr/>
        </p:nvSpPr>
        <p:spPr>
          <a:xfrm>
            <a:off x="777240" y="2423160"/>
            <a:ext cx="1828800" cy="274320"/>
          </a:xfrm>
          <a:prstGeom prst="rect">
            <a:avLst/>
          </a:prstGeom>
          <a:noFill/>
          <a:ln/>
        </p:spPr>
        <p:txBody>
          <a:bodyPr wrap="square" lIns="0" tIns="0" rIns="0" bIns="0" rtlCol="0" anchor="t"/>
          <a:lstStyle/>
          <a:p>
            <a:pPr algn="ctr" indent="0" marL="0">
              <a:buNone/>
            </a:pPr>
            <a:r>
              <a:rPr lang="en-US" sz="1400" b="1" dirty="0">
                <a:solidFill>
                  <a:schemeClr val="accent6"/>
                </a:solidFill>
              </a:rPr>
              <a:t>Baum C</a:t>
            </a:r>
            <a:endParaRPr lang="en-US" sz="1400" dirty="0"/>
          </a:p>
        </p:txBody>
      </p:sp>
      <p:sp>
        <p:nvSpPr>
          <p:cNvPr id="7" name="Kante 9-1"/>
          <p:cNvSpPr/>
          <p:nvPr/>
        </p:nvSpPr>
        <p:spPr>
          <a:xfrm flipH="1">
            <a:off x="1691640" y="3657600"/>
            <a:ext cx="332970" cy="704088"/>
          </a:xfrm>
          <a:prstGeom prst="line">
            <a:avLst/>
          </a:prstGeom>
          <a:noFill/>
          <a:ln w="22225">
            <a:solidFill>
              <a:schemeClr val="accent1"/>
            </a:solidFill>
            <a:prstDash val="solid"/>
          </a:ln>
        </p:spPr>
      </p:sp>
      <p:sp>
        <p:nvSpPr>
          <p:cNvPr id="8" name="Kante 4-9"/>
          <p:cNvSpPr/>
          <p:nvPr/>
        </p:nvSpPr>
        <p:spPr>
          <a:xfrm>
            <a:off x="1525155" y="2953512"/>
            <a:ext cx="499455" cy="704088"/>
          </a:xfrm>
          <a:prstGeom prst="line">
            <a:avLst/>
          </a:prstGeom>
          <a:noFill/>
          <a:ln w="22225">
            <a:solidFill>
              <a:schemeClr val="accent1"/>
            </a:solidFill>
            <a:prstDash val="solid"/>
          </a:ln>
        </p:spPr>
      </p:sp>
      <p:sp>
        <p:nvSpPr>
          <p:cNvPr id="9" name="Knoten 1"/>
          <p:cNvSpPr txBox="1"/>
          <p:nvPr/>
        </p:nvSpPr>
        <p:spPr>
          <a:xfrm>
            <a:off x="1481328" y="4151376"/>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10" name="Knoten 9"/>
          <p:cNvSpPr txBox="1"/>
          <p:nvPr/>
        </p:nvSpPr>
        <p:spPr>
          <a:xfrm>
            <a:off x="1814298" y="3447288"/>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11" name="Knoten 4"/>
          <p:cNvSpPr txBox="1"/>
          <p:nvPr/>
        </p:nvSpPr>
        <p:spPr>
          <a:xfrm>
            <a:off x="1314843" y="2743200"/>
            <a:ext cx="420624" cy="42062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2" name="Code"/>
          <p:cNvSpPr txBox="1"/>
          <p:nvPr/>
        </p:nvSpPr>
        <p:spPr>
          <a:xfrm>
            <a:off x="2743200" y="2423160"/>
            <a:ext cx="3977640" cy="2397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hoehe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hoehe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hoehe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&gt;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13" name="Text 11"/>
          <p:cNvSpPr txBox="1"/>
          <p:nvPr/>
        </p:nvSpPr>
        <p:spPr>
          <a:xfrm>
            <a:off x="777240" y="4937760"/>
            <a:ext cx="5943600" cy="109728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a) </a:t>
            </a:r>
            <a:pPr indent="0" marL="0">
              <a:spcAft>
                <a:spcPts val="400"/>
              </a:spcAft>
              <a:buNone/>
            </a:pPr>
            <a:r>
              <a:rPr lang="en-US" sz="1500" dirty="0">
                <a:solidFill>
                  <a:schemeClr val="tx1"/>
                </a:solidFill>
              </a:rPr>
              <a:t>Rekursionstabelle für hoehe(C): Tiefe, Aufruf, Rückgabewert (Erstaufruf = Tiefe 0, leere Teilbäume als hoehe(leer)).</a:t>
            </a:r>
            <a:endParaRPr lang="en-US" sz="1500" dirty="0"/>
          </a:p>
          <a:p>
            <a:pPr indent="0" marL="0">
              <a:spcAft>
                <a:spcPts val="400"/>
              </a:spcAft>
              <a:buNone/>
            </a:pPr>
            <a:r>
              <a:rPr lang="en-US" sz="1500" b="1" dirty="0">
                <a:solidFill>
                  <a:schemeClr val="accent2"/>
                </a:solidFill>
              </a:rPr>
              <a:t>b) </a:t>
            </a:r>
            <a:pPr indent="0" marL="0">
              <a:spcAft>
                <a:spcPts val="400"/>
              </a:spcAft>
              <a:buNone/>
            </a:pPr>
            <a:r>
              <a:rPr lang="en-US" sz="1500" dirty="0">
                <a:solidFill>
                  <a:schemeClr val="tx1"/>
                </a:solidFill>
              </a:rPr>
              <a:t>Wie oft wird hoehe bei n Knoten aufgerufen? Begründe. Und beim zahlenbaum?</a:t>
            </a:r>
            <a:endParaRPr lang="en-US" sz="1500" dirty="0"/>
          </a:p>
        </p:txBody>
      </p:sp>
      <p:sp>
        <p:nvSpPr>
          <p:cNvPr id="14" name="Text 12"/>
          <p:cNvSpPr txBox="1"/>
          <p:nvPr/>
        </p:nvSpPr>
        <p:spPr>
          <a:xfrm>
            <a:off x="7269480" y="1325880"/>
            <a:ext cx="4343400" cy="347472"/>
          </a:xfrm>
          <a:prstGeom prst="rect">
            <a:avLst/>
          </a:prstGeom>
          <a:noFill/>
          <a:ln/>
        </p:spPr>
        <p:txBody>
          <a:bodyPr wrap="square" lIns="0" tIns="0" rIns="0" bIns="0" rtlCol="0" anchor="t"/>
          <a:lstStyle/>
          <a:p>
            <a:pPr indent="0" marL="0">
              <a:buNone/>
            </a:pPr>
            <a:r>
              <a:rPr lang="en-US" sz="1800" b="1" dirty="0">
                <a:solidFill>
                  <a:schemeClr val="accent1"/>
                </a:solidFill>
              </a:rPr>
              <a:t>So gehst du vor</a:t>
            </a:r>
            <a:endParaRPr lang="en-US" sz="1800" dirty="0"/>
          </a:p>
        </p:txBody>
      </p:sp>
      <p:sp>
        <p:nvSpPr>
          <p:cNvPr id="15" name="Nummer 1"/>
          <p:cNvSpPr txBox="1"/>
          <p:nvPr/>
        </p:nvSpPr>
        <p:spPr>
          <a:xfrm>
            <a:off x="7269480" y="185623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6" name="Text 14"/>
          <p:cNvSpPr txBox="1"/>
          <p:nvPr/>
        </p:nvSpPr>
        <p:spPr>
          <a:xfrm>
            <a:off x="7863840" y="1783080"/>
            <a:ext cx="3749040" cy="777240"/>
          </a:xfrm>
          <a:prstGeom prst="rect">
            <a:avLst/>
          </a:prstGeom>
          <a:noFill/>
          <a:ln/>
        </p:spPr>
        <p:txBody>
          <a:bodyPr wrap="square" lIns="0" tIns="0" rIns="0" bIns="0" rtlCol="0" anchor="t"/>
          <a:lstStyle/>
          <a:p>
            <a:pPr indent="0" marL="0">
              <a:buNone/>
            </a:pPr>
            <a:r>
              <a:rPr lang="en-US" sz="1700" b="1" dirty="0">
                <a:solidFill>
                  <a:schemeClr val="accent1"/>
                </a:solidFill>
              </a:rPr>
              <a:t>Abstieg</a:t>
            </a:r>
            <a:endParaRPr lang="en-US" sz="1800" dirty="0"/>
          </a:p>
          <a:p>
            <a:pPr indent="0" marL="0">
              <a:buNone/>
            </a:pPr>
            <a:r>
              <a:rPr lang="en-US" sz="1500" dirty="0">
                <a:solidFill>
                  <a:schemeClr val="tx1"/>
                </a:solidFill>
              </a:rPr>
              <a:t>Aufrufe in der Reihenfolge ihres Beginns – jede Ebene tiefer: Tiefe + 1</a:t>
            </a:r>
            <a:endParaRPr lang="en-US" sz="1800" dirty="0"/>
          </a:p>
        </p:txBody>
      </p:sp>
      <p:sp>
        <p:nvSpPr>
          <p:cNvPr id="17" name="Nummer 2"/>
          <p:cNvSpPr txBox="1"/>
          <p:nvPr/>
        </p:nvSpPr>
        <p:spPr>
          <a:xfrm>
            <a:off x="7269480" y="272491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6"/>
          <p:cNvSpPr txBox="1"/>
          <p:nvPr/>
        </p:nvSpPr>
        <p:spPr>
          <a:xfrm>
            <a:off x="7863840" y="2651760"/>
            <a:ext cx="3749040" cy="777240"/>
          </a:xfrm>
          <a:prstGeom prst="rect">
            <a:avLst/>
          </a:prstGeom>
          <a:noFill/>
          <a:ln/>
        </p:spPr>
        <p:txBody>
          <a:bodyPr wrap="square" lIns="0" tIns="0" rIns="0" bIns="0" rtlCol="0" anchor="t"/>
          <a:lstStyle/>
          <a:p>
            <a:pPr indent="0" marL="0">
              <a:buNone/>
            </a:pPr>
            <a:r>
              <a:rPr lang="en-US" sz="1700" b="1" dirty="0">
                <a:solidFill>
                  <a:schemeClr val="accent1"/>
                </a:solidFill>
              </a:rPr>
              <a:t>Basisfall</a:t>
            </a:r>
            <a:endParaRPr lang="en-US" sz="1800" dirty="0"/>
          </a:p>
          <a:p>
            <a:pPr indent="0" marL="0">
              <a:buNone/>
            </a:pPr>
            <a:r>
              <a:rPr lang="en-US" sz="1500" dirty="0">
                <a:solidFill>
                  <a:schemeClr val="tx1"/>
                </a:solidFill>
              </a:rPr>
              <a:t>hoehe(leer) liefert 0 – auch das ist ein Aufruf!</a:t>
            </a:r>
            <a:endParaRPr lang="en-US" sz="1800" dirty="0"/>
          </a:p>
        </p:txBody>
      </p:sp>
      <p:sp>
        <p:nvSpPr>
          <p:cNvPr id="19" name="Nummer 3"/>
          <p:cNvSpPr txBox="1"/>
          <p:nvPr/>
        </p:nvSpPr>
        <p:spPr>
          <a:xfrm>
            <a:off x="7269480" y="359359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8"/>
          <p:cNvSpPr txBox="1"/>
          <p:nvPr/>
        </p:nvSpPr>
        <p:spPr>
          <a:xfrm>
            <a:off x="7863840" y="3520440"/>
            <a:ext cx="3749040" cy="777240"/>
          </a:xfrm>
          <a:prstGeom prst="rect">
            <a:avLst/>
          </a:prstGeom>
          <a:noFill/>
          <a:ln/>
        </p:spPr>
        <p:txBody>
          <a:bodyPr wrap="square" lIns="0" tIns="0" rIns="0" bIns="0" rtlCol="0" anchor="t"/>
          <a:lstStyle/>
          <a:p>
            <a:pPr indent="0" marL="0">
              <a:buNone/>
            </a:pPr>
            <a:r>
              <a:rPr lang="en-US" sz="1700" b="1" dirty="0">
                <a:solidFill>
                  <a:schemeClr val="accent1"/>
                </a:solidFill>
              </a:rPr>
              <a:t>Aufstieg</a:t>
            </a:r>
            <a:endParaRPr lang="en-US" sz="1800" dirty="0"/>
          </a:p>
          <a:p>
            <a:pPr indent="0" marL="0">
              <a:buNone/>
            </a:pPr>
            <a:r>
              <a:rPr lang="en-US" sz="1500" dirty="0">
                <a:solidFill>
                  <a:schemeClr val="tx1"/>
                </a:solidFill>
              </a:rPr>
              <a:t>Rückgaben von unten nach oben eintragen</a:t>
            </a:r>
            <a:endParaRPr lang="en-US" sz="1800" dirty="0"/>
          </a:p>
        </p:txBody>
      </p:sp>
      <p:sp>
        <p:nvSpPr>
          <p:cNvPr id="21" name="Nummer 4"/>
          <p:cNvSpPr txBox="1"/>
          <p:nvPr/>
        </p:nvSpPr>
        <p:spPr>
          <a:xfrm>
            <a:off x="7269480" y="446227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7863840" y="4389120"/>
            <a:ext cx="3749040" cy="777240"/>
          </a:xfrm>
          <a:prstGeom prst="rect">
            <a:avLst/>
          </a:prstGeom>
          <a:noFill/>
          <a:ln/>
        </p:spPr>
        <p:txBody>
          <a:bodyPr wrap="square" lIns="0" tIns="0" rIns="0" bIns="0" rtlCol="0" anchor="t"/>
          <a:lstStyle/>
          <a:p>
            <a:pPr indent="0" marL="0">
              <a:buNone/>
            </a:pPr>
            <a:r>
              <a:rPr lang="en-US" sz="1700" b="1" dirty="0">
                <a:solidFill>
                  <a:schemeClr val="accent1"/>
                </a:solidFill>
              </a:rPr>
              <a:t>Zählen</a:t>
            </a:r>
            <a:endParaRPr lang="en-US" sz="1800" dirty="0"/>
          </a:p>
          <a:p>
            <a:pPr indent="0" marL="0">
              <a:buNone/>
            </a:pPr>
            <a:r>
              <a:rPr lang="en-US" sz="1500" dirty="0">
                <a:solidFill>
                  <a:schemeClr val="tx1"/>
                </a:solidFill>
              </a:rPr>
              <a:t>Wie viele Zeilen hat deine Tabelle?</a:t>
            </a:r>
            <a:endParaRPr lang="en-US" sz="1800" dirty="0"/>
          </a:p>
        </p:txBody>
      </p:sp>
      <p:sp>
        <p:nvSpPr>
          <p:cNvPr id="23" name="Achtung Tiefe"/>
          <p:cNvSpPr/>
          <p:nvPr/>
        </p:nvSpPr>
        <p:spPr>
          <a:xfrm>
            <a:off x="7269480" y="5349240"/>
            <a:ext cx="4343400" cy="777240"/>
          </a:xfrm>
          <a:prstGeom prst="roundRect">
            <a:avLst>
              <a:gd name="adj" fmla="val 14118"/>
            </a:avLst>
          </a:prstGeom>
          <a:solidFill>
            <a:schemeClr val="bg1"/>
          </a:solidFill>
          <a:ln w="25400">
            <a:solidFill>
              <a:schemeClr val="accent4"/>
            </a:solidFill>
            <a:prstDash val="solid"/>
          </a:ln>
        </p:spPr>
      </p:sp>
      <p:sp>
        <p:nvSpPr>
          <p:cNvPr id="24" name="Text 22"/>
          <p:cNvSpPr txBox="1"/>
          <p:nvPr/>
        </p:nvSpPr>
        <p:spPr>
          <a:xfrm>
            <a:off x="7470648" y="5349240"/>
            <a:ext cx="3977640" cy="777240"/>
          </a:xfrm>
          <a:prstGeom prst="rect">
            <a:avLst/>
          </a:prstGeom>
          <a:noFill/>
          <a:ln/>
        </p:spPr>
        <p:txBody>
          <a:bodyPr wrap="square" lIns="0" tIns="0" rIns="0" bIns="0" rtlCol="0" anchor="ctr"/>
          <a:lstStyle/>
          <a:p>
            <a:pPr indent="0" marL="0">
              <a:buNone/>
            </a:pPr>
            <a:r>
              <a:rPr lang="en-US" sz="1500" b="1" dirty="0">
                <a:solidFill>
                  <a:schemeClr val="accent4"/>
                </a:solidFill>
              </a:rPr>
              <a:t>Achtung Abi: </a:t>
            </a:r>
            <a:pPr indent="0" marL="0">
              <a:buNone/>
            </a:pPr>
            <a:r>
              <a:rPr lang="en-US" sz="1500" dirty="0">
                <a:solidFill>
                  <a:schemeClr val="tx1"/>
                </a:solidFill>
              </a:rPr>
              <a:t>Der Erstaufruf hat Tiefe 0.</a:t>
            </a:r>
            <a:endParaRPr lang="en-US" sz="1500" dirty="0"/>
          </a:p>
        </p:txBody>
      </p:sp>
      <p:sp>
        <p:nvSpPr>
          <p:cNvPr id="25" name="Text 23"/>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32 · Papier-Warm-up W5-05</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Das Muster: erst isEmpty, dann links und rechts</a:t>
            </a:r>
            <a:endParaRPr lang="en-US" sz="3600" dirty="0"/>
          </a:p>
        </p:txBody>
      </p:sp>
      <p:sp>
        <p:nvSpPr>
          <p:cNvPr id="3" name="Code"/>
          <p:cNvSpPr txBox="1"/>
          <p:nvPr/>
        </p:nvSpPr>
        <p:spPr>
          <a:xfrm>
            <a:off x="548640" y="1325880"/>
            <a:ext cx="4572000" cy="1927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BinTree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isEmpty</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NEUTRAL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Basisfall</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getLeft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links</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getRight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rechts</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KOMBINIERE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getItem</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4" name="Markierung Basisfall"/>
          <p:cNvSpPr/>
          <p:nvPr/>
        </p:nvSpPr>
        <p:spPr>
          <a:xfrm>
            <a:off x="594360" y="1657096"/>
            <a:ext cx="4480560" cy="406400"/>
          </a:xfrm>
          <a:prstGeom prst="rect">
            <a:avLst/>
          </a:prstGeom>
          <a:ln w="28575">
            <a:solidFill>
              <a:schemeClr val="accent3"/>
            </a:solidFill>
            <a:prstDash val="solid"/>
          </a:ln>
        </p:spPr>
      </p:sp>
      <p:graphicFrame>
        <p:nvGraphicFramePr>
          <p:cNvPr id="15" name="Muster-Tabelle"/>
          <p:cNvGraphicFramePr>
            <a:graphicFrameLocks noGrp="1"/>
          </p:cNvGraphicFramePr>
          <p:nvPr>
            <p:extLst>
              <p:ext uri="{D42A27DB-BD31-4B8C-83A1-F6EECF244321}">
                <p14:modId xmlns:p14="http://schemas.microsoft.com/office/powerpoint/2010/main" val="1579011935"/>
              </p:ext>
            </p:extLst>
          </p:nvPr>
        </p:nvGraphicFramePr>
        <p:xfrm>
          <a:off x="5349240" y="1325880"/>
          <a:ext cx="6263640" cy="914400"/>
        </p:xfrm>
        <a:graphic>
          <a:graphicData uri="http://schemas.openxmlformats.org/drawingml/2006/table">
            <a:tbl>
              <a:tblPr/>
              <a:tblGrid>
                <a:gridCol w="2057400"/>
                <a:gridCol w="731520"/>
                <a:gridCol w="1645920"/>
                <a:gridCol w="914400"/>
                <a:gridCol w="914400"/>
              </a:tblGrid>
              <a:tr h="457200">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Methode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leerer Baum</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kombiniere</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000" b="1" dirty="0">
                          <a:solidFill>
                            <a:schemeClr val="bg1"/>
                          </a:solidFill>
                          <a:latin typeface="Calibri" pitchFamily="34" charset="0"/>
                          <a:ea typeface="Calibri" pitchFamily="34" charset="-122"/>
                          <a:cs typeface="Calibri" pitchFamily="34" charset="-120"/>
                        </a:rPr>
                        <a:t>beispielBST</a:t>
                      </a:r>
                      <a:endParaRPr lang="en-US" sz="10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000" b="1" dirty="0">
                          <a:solidFill>
                            <a:schemeClr val="bg1"/>
                          </a:solidFill>
                          <a:latin typeface="Calibri" pitchFamily="34" charset="0"/>
                          <a:ea typeface="Calibri" pitchFamily="34" charset="-122"/>
                          <a:cs typeface="Calibri" pitchFamily="34" charset="-120"/>
                        </a:rPr>
                        <a:t>zahlenbaum</a:t>
                      </a:r>
                      <a:endParaRPr lang="en-US" sz="10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57200">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anzahlKnoten</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Consolas" pitchFamily="34" charset="0"/>
                          <a:ea typeface="Consolas" pitchFamily="34" charset="-122"/>
                          <a:cs typeface="Consolas" pitchFamily="34" charset="-120"/>
                        </a:rPr>
                        <a:t>1 + l + r</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summe</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Consolas" pitchFamily="34" charset="0"/>
                          <a:ea typeface="Consolas" pitchFamily="34" charset="-122"/>
                          <a:cs typeface="Consolas" pitchFamily="34" charset="-120"/>
                        </a:rPr>
                        <a:t>item + l + r</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66</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37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Consolas" pitchFamily="34" charset="0"/>
                          <a:ea typeface="Consolas" pitchFamily="34" charset="-122"/>
                          <a:cs typeface="Consolas" pitchFamily="34" charset="-120"/>
                        </a:rPr>
                        <a:t>1 + max(l, r)</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anzahlBlaetter</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Consolas" pitchFamily="34" charset="0"/>
                          <a:ea typeface="Consolas" pitchFamily="34" charset="-122"/>
                          <a:cs typeface="Consolas" pitchFamily="34" charset="-120"/>
                        </a:rPr>
                        <a:t>Blatt? 1 : l + r</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maximum</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−1</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Consolas" pitchFamily="34" charset="0"/>
                          <a:ea typeface="Consolas" pitchFamily="34" charset="-122"/>
                          <a:cs typeface="Consolas" pitchFamily="34" charset="-120"/>
                        </a:rPr>
                        <a:t>max(item, l, r)</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anzahlGroesser(b, 4)</a:t>
                      </a:r>
                      <a:endParaRPr lang="en-US" sz="12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onsolas" pitchFamily="34" charset="0"/>
                          <a:ea typeface="Consolas" pitchFamily="34" charset="-122"/>
                          <a:cs typeface="Consolas" pitchFamily="34" charset="-120"/>
                        </a:rPr>
                        <a:t>0</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Consolas" pitchFamily="34" charset="0"/>
                          <a:ea typeface="Consolas" pitchFamily="34" charset="-122"/>
                          <a:cs typeface="Consolas" pitchFamily="34" charset="-120"/>
                        </a:rPr>
                        <a:t>(item&gt;4) + l + r</a:t>
                      </a:r>
                      <a:endParaRPr lang="en-US" sz="11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6" name="Vertrauen"/>
          <p:cNvSpPr/>
          <p:nvPr/>
        </p:nvSpPr>
        <p:spPr>
          <a:xfrm>
            <a:off x="548640" y="3977640"/>
            <a:ext cx="4572000" cy="1371600"/>
          </a:xfrm>
          <a:prstGeom prst="roundRect">
            <a:avLst>
              <a:gd name="adj" fmla="val 8000"/>
            </a:avLst>
          </a:prstGeom>
          <a:solidFill>
            <a:schemeClr val="bg2"/>
          </a:solidFill>
          <a:ln/>
        </p:spPr>
      </p:sp>
      <p:sp>
        <p:nvSpPr>
          <p:cNvPr id="7" name="Text 4"/>
          <p:cNvSpPr txBox="1"/>
          <p:nvPr/>
        </p:nvSpPr>
        <p:spPr>
          <a:xfrm>
            <a:off x="749808" y="3977640"/>
            <a:ext cx="4206240" cy="1371600"/>
          </a:xfrm>
          <a:prstGeom prst="rect">
            <a:avLst/>
          </a:prstGeom>
          <a:noFill/>
          <a:ln/>
        </p:spPr>
        <p:txBody>
          <a:bodyPr wrap="square" lIns="0" tIns="0" rIns="0" bIns="0" rtlCol="0" anchor="ctr"/>
          <a:lstStyle/>
          <a:p>
            <a:pPr indent="0" marL="0">
              <a:buNone/>
            </a:pPr>
            <a:r>
              <a:rPr lang="en-US" sz="1500" b="1" dirty="0">
                <a:solidFill>
                  <a:schemeClr val="accent1"/>
                </a:solidFill>
              </a:rPr>
              <a:t>Vertrauen: </a:t>
            </a:r>
            <a:pPr indent="0" marL="0">
              <a:buNone/>
            </a:pPr>
            <a:r>
              <a:rPr lang="en-US" sz="1500" dirty="0">
                <a:solidFill>
                  <a:schemeClr val="tx1"/>
                </a:solidFill>
              </a:rPr>
              <a:t>Nimm an, f liefert für die beiden Teilbäume schon das richtige Ergebnis. Du musst nur noch den Basisfall und das Kombinieren festlegen.</a:t>
            </a:r>
            <a:endParaRPr lang="en-US" sz="1500" dirty="0"/>
          </a:p>
        </p:txBody>
      </p:sp>
      <p:sp>
        <p:nvSpPr>
          <p:cNvPr id="8" name="Falle isLeaf"/>
          <p:cNvSpPr/>
          <p:nvPr/>
        </p:nvSpPr>
        <p:spPr>
          <a:xfrm>
            <a:off x="5349240" y="4754880"/>
            <a:ext cx="6263640" cy="1371600"/>
          </a:xfrm>
          <a:prstGeom prst="roundRect">
            <a:avLst>
              <a:gd name="adj" fmla="val 8000"/>
            </a:avLst>
          </a:prstGeom>
          <a:solidFill>
            <a:schemeClr val="bg1"/>
          </a:solidFill>
          <a:ln w="25400">
            <a:solidFill>
              <a:schemeClr val="accent4"/>
            </a:solidFill>
            <a:prstDash val="solid"/>
          </a:ln>
        </p:spPr>
      </p:sp>
      <p:sp>
        <p:nvSpPr>
          <p:cNvPr id="9" name="Text 6"/>
          <p:cNvSpPr txBox="1"/>
          <p:nvPr/>
        </p:nvSpPr>
        <p:spPr>
          <a:xfrm>
            <a:off x="5550408" y="4754880"/>
            <a:ext cx="5897880" cy="1371600"/>
          </a:xfrm>
          <a:prstGeom prst="rect">
            <a:avLst/>
          </a:prstGeom>
          <a:noFill/>
          <a:ln/>
        </p:spPr>
        <p:txBody>
          <a:bodyPr wrap="square" lIns="0" tIns="0" rIns="0" bIns="0" rtlCol="0" anchor="ctr"/>
          <a:lstStyle/>
          <a:p>
            <a:pPr indent="0" marL="0">
              <a:buNone/>
            </a:pPr>
            <a:r>
              <a:rPr lang="en-US" sz="1400" b="1" dirty="0">
                <a:solidFill>
                  <a:schemeClr val="accent4"/>
                </a:solidFill>
              </a:rPr>
              <a:t>Falle: isLeaf() als einziger Basisfall. </a:t>
            </a:r>
            <a:pPr indent="0" marL="0">
              <a:buNone/>
            </a:pPr>
            <a:r>
              <a:rPr lang="en-US" sz="1400" dirty="0">
                <a:solidFill>
                  <a:schemeClr val="tx1"/>
                </a:solidFill>
              </a:rPr>
              <a:t>Die 4 im zahlenbaum hat nur ein Kind – der Aufruf für den leeren linken Teilbaum fragt isLeaf() → IllegalStateException (Warm-up W5-06).</a:t>
            </a:r>
            <a:endParaRPr lang="en-US" sz="1400" dirty="0"/>
          </a:p>
        </p:txBody>
      </p:sp>
      <p:sp>
        <p:nvSpPr>
          <p:cNvPr id="10" name="Muster"/>
          <p:cNvSpPr/>
          <p:nvPr/>
        </p:nvSpPr>
        <p:spPr>
          <a:xfrm>
            <a:off x="548640" y="5532120"/>
            <a:ext cx="4572000" cy="594360"/>
          </a:xfrm>
          <a:prstGeom prst="roundRect">
            <a:avLst>
              <a:gd name="adj" fmla="val 18462"/>
            </a:avLst>
          </a:prstGeom>
          <a:solidFill>
            <a:schemeClr val="bg1"/>
          </a:solidFill>
          <a:ln w="25400">
            <a:solidFill>
              <a:schemeClr val="accent3"/>
            </a:solidFill>
            <a:prstDash val="solid"/>
          </a:ln>
        </p:spPr>
      </p:sp>
      <p:sp>
        <p:nvSpPr>
          <p:cNvPr id="11" name="Text 8"/>
          <p:cNvSpPr txBox="1"/>
          <p:nvPr/>
        </p:nvSpPr>
        <p:spPr>
          <a:xfrm>
            <a:off x="749808" y="5532120"/>
            <a:ext cx="4206240" cy="594360"/>
          </a:xfrm>
          <a:prstGeom prst="rect">
            <a:avLst/>
          </a:prstGeom>
          <a:noFill/>
          <a:ln/>
        </p:spPr>
        <p:txBody>
          <a:bodyPr wrap="square" lIns="0" tIns="0" rIns="0" bIns="0" rtlCol="0" anchor="ctr"/>
          <a:lstStyle/>
          <a:p>
            <a:pPr indent="0" marL="0">
              <a:buNone/>
            </a:pPr>
            <a:r>
              <a:rPr lang="en-US" sz="1500" b="1" dirty="0">
                <a:solidFill>
                  <a:schemeClr val="accent3"/>
                </a:solidFill>
              </a:rPr>
              <a:t>Muster für alle Level 5.1 und 5.2</a:t>
            </a:r>
            <a:endParaRPr lang="en-US" sz="1500" dirty="0"/>
          </a:p>
        </p:txBody>
      </p:sp>
      <p:sp>
        <p:nvSpPr>
          <p:cNvPr id="12" name="Text 9"/>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32 · Rekursionsmuster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hoehe: Java-Code und rekursives Struktogramm</a:t>
            </a:r>
            <a:endParaRPr lang="en-US" sz="3600" dirty="0"/>
          </a:p>
        </p:txBody>
      </p:sp>
      <p:sp>
        <p:nvSpPr>
          <p:cNvPr id="3" name="Code"/>
          <p:cNvSpPr txBox="1"/>
          <p:nvPr/>
        </p:nvSpPr>
        <p:spPr>
          <a:xfrm>
            <a:off x="548640" y="1325880"/>
            <a:ext cx="4937760" cy="2816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hoehe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BinTree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isEmpty</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0;</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links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hoehe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getLeft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rechts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hoehe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getRight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links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&gt;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rechts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1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links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1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rechts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4" name="Code"/>
          <p:cNvSpPr txBox="1"/>
          <p:nvPr/>
        </p:nvSpPr>
        <p:spPr>
          <a:xfrm>
            <a:off x="548640" y="4023360"/>
            <a:ext cx="4937760" cy="1724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anzahlKnoten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BinTree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isEmpty</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0;</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1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anzahlKnoten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getLeft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anzahlKnoten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getRight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pic>
        <p:nvPicPr>
          <p:cNvPr id="5" name="Struktogramm sg_hoehe" descr="Struktogramm sg_hoehe">    </p:cNvPr>
          <p:cNvPicPr>
            <a:picLocks noChangeAspect="1"/>
          </p:cNvPicPr>
          <p:nvPr/>
        </p:nvPicPr>
        <p:blipFill>
          <a:blip r:embed="rId1"/>
          <a:stretch>
            <a:fillRect/>
          </a:stretch>
        </p:blipFill>
        <p:spPr>
          <a:xfrm>
            <a:off x="6035040" y="1325880"/>
            <a:ext cx="5394960" cy="3713725"/>
          </a:xfrm>
          <a:prstGeom prst="rect">
            <a:avLst/>
          </a:prstGeom>
        </p:spPr>
      </p:pic>
      <p:sp>
        <p:nvSpPr>
          <p:cNvPr id="6" name="EH 5"/>
          <p:cNvSpPr/>
          <p:nvPr/>
        </p:nvSpPr>
        <p:spPr>
          <a:xfrm>
            <a:off x="5806440" y="5176765"/>
            <a:ext cx="5806440" cy="949715"/>
          </a:xfrm>
          <a:prstGeom prst="roundRect">
            <a:avLst>
              <a:gd name="adj" fmla="val 11554"/>
            </a:avLst>
          </a:prstGeom>
          <a:solidFill>
            <a:schemeClr val="bg2"/>
          </a:solidFill>
          <a:ln/>
        </p:spPr>
      </p:sp>
      <p:sp>
        <p:nvSpPr>
          <p:cNvPr id="7" name="Text 4"/>
          <p:cNvSpPr txBox="1"/>
          <p:nvPr/>
        </p:nvSpPr>
        <p:spPr>
          <a:xfrm>
            <a:off x="6007608" y="5176765"/>
            <a:ext cx="5440680" cy="949715"/>
          </a:xfrm>
          <a:prstGeom prst="rect">
            <a:avLst/>
          </a:prstGeom>
          <a:noFill/>
          <a:ln/>
        </p:spPr>
        <p:txBody>
          <a:bodyPr wrap="square" lIns="0" tIns="0" rIns="0" bIns="0" rtlCol="0" anchor="ctr"/>
          <a:lstStyle/>
          <a:p>
            <a:pPr indent="0" marL="0">
              <a:buNone/>
            </a:pPr>
            <a:r>
              <a:rPr lang="en-US" sz="1500" b="1" dirty="0">
                <a:solidFill>
                  <a:schemeClr val="accent1"/>
                </a:solidFill>
              </a:rPr>
              <a:t>Struktogramm nach EH §5: </a:t>
            </a:r>
            <a:pPr indent="0" marL="0">
              <a:buNone/>
            </a:pPr>
            <a:r>
              <a:rPr lang="en-US" sz="1500" dirty="0">
                <a:solidFill>
                  <a:schemeClr val="tx1"/>
                </a:solidFill>
              </a:rPr>
              <a:t>Kopf mit Signatur, Zuweisung mit ←, der Selbstaufruf ist eine ganz normale Anweisung. „gib … zurück“ beendet den Aufruf.</a:t>
            </a:r>
            <a:endParaRPr lang="en-US" sz="1500" dirty="0"/>
          </a:p>
        </p:txBody>
      </p:sp>
      <p:sp>
        <p:nvSpPr>
          <p:cNvPr id="8" name="Text 5"/>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32 · hoehe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Rekursionstabelle und Aufrufbaum: hoehe(zahlenbaum())</a:t>
            </a:r>
            <a:endParaRPr lang="en-US" sz="3600" dirty="0"/>
          </a:p>
        </p:txBody>
      </p:sp>
      <p:sp>
        <p:nvSpPr>
          <p:cNvPr id="3" name="Kante 9-2"/>
          <p:cNvSpPr/>
          <p:nvPr/>
        </p:nvSpPr>
        <p:spPr>
          <a:xfrm flipH="1">
            <a:off x="1245870" y="2507742"/>
            <a:ext cx="666750" cy="852678"/>
          </a:xfrm>
          <a:prstGeom prst="line">
            <a:avLst/>
          </a:prstGeom>
          <a:noFill/>
          <a:ln w="22225">
            <a:solidFill>
              <a:schemeClr val="accent1"/>
            </a:solidFill>
            <a:prstDash val="solid"/>
          </a:ln>
        </p:spPr>
      </p:sp>
      <p:sp>
        <p:nvSpPr>
          <p:cNvPr id="4" name="Kante 9-7"/>
          <p:cNvSpPr/>
          <p:nvPr/>
        </p:nvSpPr>
        <p:spPr>
          <a:xfrm>
            <a:off x="1912620" y="2507742"/>
            <a:ext cx="666750" cy="852678"/>
          </a:xfrm>
          <a:prstGeom prst="line">
            <a:avLst/>
          </a:prstGeom>
          <a:noFill/>
          <a:ln w="22225">
            <a:solidFill>
              <a:schemeClr val="accent1"/>
            </a:solidFill>
            <a:prstDash val="solid"/>
          </a:ln>
        </p:spPr>
      </p:sp>
      <p:sp>
        <p:nvSpPr>
          <p:cNvPr id="5" name="Kante 5-9"/>
          <p:cNvSpPr/>
          <p:nvPr/>
        </p:nvSpPr>
        <p:spPr>
          <a:xfrm flipH="1">
            <a:off x="1912620" y="1655064"/>
            <a:ext cx="1208484" cy="852678"/>
          </a:xfrm>
          <a:prstGeom prst="line">
            <a:avLst/>
          </a:prstGeom>
          <a:noFill/>
          <a:ln w="22225">
            <a:solidFill>
              <a:schemeClr val="accent1"/>
            </a:solidFill>
            <a:prstDash val="solid"/>
          </a:ln>
        </p:spPr>
      </p:sp>
      <p:sp>
        <p:nvSpPr>
          <p:cNvPr id="6" name="Kante 9-1"/>
          <p:cNvSpPr/>
          <p:nvPr/>
        </p:nvSpPr>
        <p:spPr>
          <a:xfrm flipH="1">
            <a:off x="4579620" y="3360420"/>
            <a:ext cx="500063" cy="852678"/>
          </a:xfrm>
          <a:prstGeom prst="line">
            <a:avLst/>
          </a:prstGeom>
          <a:noFill/>
          <a:ln w="22225">
            <a:solidFill>
              <a:schemeClr val="accent1"/>
            </a:solidFill>
            <a:prstDash val="solid"/>
          </a:ln>
        </p:spPr>
      </p:sp>
      <p:sp>
        <p:nvSpPr>
          <p:cNvPr id="7" name="Kante 4-9"/>
          <p:cNvSpPr/>
          <p:nvPr/>
        </p:nvSpPr>
        <p:spPr>
          <a:xfrm>
            <a:off x="4329589" y="2507742"/>
            <a:ext cx="750094" cy="852678"/>
          </a:xfrm>
          <a:prstGeom prst="line">
            <a:avLst/>
          </a:prstGeom>
          <a:noFill/>
          <a:ln w="22225">
            <a:solidFill>
              <a:schemeClr val="accent1"/>
            </a:solidFill>
            <a:prstDash val="solid"/>
          </a:ln>
        </p:spPr>
      </p:sp>
      <p:sp>
        <p:nvSpPr>
          <p:cNvPr id="8" name="Kante 5-4"/>
          <p:cNvSpPr/>
          <p:nvPr/>
        </p:nvSpPr>
        <p:spPr>
          <a:xfrm>
            <a:off x="3121104" y="1655064"/>
            <a:ext cx="1208484" cy="852678"/>
          </a:xfrm>
          <a:prstGeom prst="line">
            <a:avLst/>
          </a:prstGeom>
          <a:noFill/>
          <a:ln w="22225">
            <a:solidFill>
              <a:schemeClr val="accent1"/>
            </a:solidFill>
            <a:prstDash val="solid"/>
          </a:ln>
        </p:spPr>
      </p:sp>
      <p:sp>
        <p:nvSpPr>
          <p:cNvPr id="9" name="Kante leer"/>
          <p:cNvSpPr/>
          <p:nvPr/>
        </p:nvSpPr>
        <p:spPr>
          <a:xfrm flipH="1">
            <a:off x="912495" y="3360420"/>
            <a:ext cx="333375" cy="724662"/>
          </a:xfrm>
          <a:prstGeom prst="line">
            <a:avLst/>
          </a:prstGeom>
          <a:noFill/>
          <a:ln w="12700">
            <a:solidFill>
              <a:srgbClr val="A6A6A6"/>
            </a:solidFill>
            <a:prstDash val="dash"/>
          </a:ln>
        </p:spPr>
      </p:sp>
      <p:sp>
        <p:nvSpPr>
          <p:cNvPr id="10" name="leerer Baum"/>
          <p:cNvSpPr/>
          <p:nvPr/>
        </p:nvSpPr>
        <p:spPr>
          <a:xfrm>
            <a:off x="802767" y="4085082"/>
            <a:ext cx="219456" cy="219456"/>
          </a:xfrm>
          <a:prstGeom prst="rect">
            <a:avLst/>
          </a:prstGeom>
          <a:solidFill>
            <a:schemeClr val="bg1"/>
          </a:solidFill>
          <a:ln w="12700">
            <a:solidFill>
              <a:srgbClr val="A6A6A6"/>
            </a:solidFill>
            <a:prstDash val="dash"/>
          </a:ln>
        </p:spPr>
      </p:sp>
      <p:sp>
        <p:nvSpPr>
          <p:cNvPr id="11" name="Kante leer"/>
          <p:cNvSpPr/>
          <p:nvPr/>
        </p:nvSpPr>
        <p:spPr>
          <a:xfrm>
            <a:off x="1245870" y="3360420"/>
            <a:ext cx="333375" cy="724662"/>
          </a:xfrm>
          <a:prstGeom prst="line">
            <a:avLst/>
          </a:prstGeom>
          <a:noFill/>
          <a:ln w="12700">
            <a:solidFill>
              <a:srgbClr val="A6A6A6"/>
            </a:solidFill>
            <a:prstDash val="dash"/>
          </a:ln>
        </p:spPr>
      </p:sp>
      <p:sp>
        <p:nvSpPr>
          <p:cNvPr id="12" name="leerer Baum"/>
          <p:cNvSpPr/>
          <p:nvPr/>
        </p:nvSpPr>
        <p:spPr>
          <a:xfrm>
            <a:off x="1469517" y="4085082"/>
            <a:ext cx="219456" cy="219456"/>
          </a:xfrm>
          <a:prstGeom prst="rect">
            <a:avLst/>
          </a:prstGeom>
          <a:solidFill>
            <a:schemeClr val="bg1"/>
          </a:solidFill>
          <a:ln w="12700">
            <a:solidFill>
              <a:srgbClr val="A6A6A6"/>
            </a:solidFill>
            <a:prstDash val="dash"/>
          </a:ln>
        </p:spPr>
      </p:sp>
      <p:sp>
        <p:nvSpPr>
          <p:cNvPr id="13" name="Kante leer"/>
          <p:cNvSpPr/>
          <p:nvPr/>
        </p:nvSpPr>
        <p:spPr>
          <a:xfrm flipH="1">
            <a:off x="2245995" y="3360420"/>
            <a:ext cx="333375" cy="724662"/>
          </a:xfrm>
          <a:prstGeom prst="line">
            <a:avLst/>
          </a:prstGeom>
          <a:noFill/>
          <a:ln w="12700">
            <a:solidFill>
              <a:srgbClr val="A6A6A6"/>
            </a:solidFill>
            <a:prstDash val="dash"/>
          </a:ln>
        </p:spPr>
      </p:sp>
      <p:sp>
        <p:nvSpPr>
          <p:cNvPr id="14" name="leerer Baum"/>
          <p:cNvSpPr/>
          <p:nvPr/>
        </p:nvSpPr>
        <p:spPr>
          <a:xfrm>
            <a:off x="2136267" y="4085082"/>
            <a:ext cx="219456" cy="219456"/>
          </a:xfrm>
          <a:prstGeom prst="rect">
            <a:avLst/>
          </a:prstGeom>
          <a:solidFill>
            <a:schemeClr val="bg1"/>
          </a:solidFill>
          <a:ln w="12700">
            <a:solidFill>
              <a:srgbClr val="A6A6A6"/>
            </a:solidFill>
            <a:prstDash val="dash"/>
          </a:ln>
        </p:spPr>
      </p:sp>
      <p:sp>
        <p:nvSpPr>
          <p:cNvPr id="15" name="Kante leer"/>
          <p:cNvSpPr/>
          <p:nvPr/>
        </p:nvSpPr>
        <p:spPr>
          <a:xfrm>
            <a:off x="2579370" y="3360420"/>
            <a:ext cx="333375" cy="724662"/>
          </a:xfrm>
          <a:prstGeom prst="line">
            <a:avLst/>
          </a:prstGeom>
          <a:noFill/>
          <a:ln w="12700">
            <a:solidFill>
              <a:srgbClr val="A6A6A6"/>
            </a:solidFill>
            <a:prstDash val="dash"/>
          </a:ln>
        </p:spPr>
      </p:sp>
      <p:sp>
        <p:nvSpPr>
          <p:cNvPr id="16" name="leerer Baum"/>
          <p:cNvSpPr/>
          <p:nvPr/>
        </p:nvSpPr>
        <p:spPr>
          <a:xfrm>
            <a:off x="2803017" y="4085082"/>
            <a:ext cx="219456" cy="219456"/>
          </a:xfrm>
          <a:prstGeom prst="rect">
            <a:avLst/>
          </a:prstGeom>
          <a:solidFill>
            <a:schemeClr val="bg1"/>
          </a:solidFill>
          <a:ln w="12700">
            <a:solidFill>
              <a:srgbClr val="A6A6A6"/>
            </a:solidFill>
            <a:prstDash val="dash"/>
          </a:ln>
        </p:spPr>
      </p:sp>
      <p:sp>
        <p:nvSpPr>
          <p:cNvPr id="17" name="Kante leer"/>
          <p:cNvSpPr/>
          <p:nvPr/>
        </p:nvSpPr>
        <p:spPr>
          <a:xfrm flipH="1">
            <a:off x="3579495" y="2507742"/>
            <a:ext cx="750094" cy="724662"/>
          </a:xfrm>
          <a:prstGeom prst="line">
            <a:avLst/>
          </a:prstGeom>
          <a:noFill/>
          <a:ln w="12700">
            <a:solidFill>
              <a:srgbClr val="A6A6A6"/>
            </a:solidFill>
            <a:prstDash val="dash"/>
          </a:ln>
        </p:spPr>
      </p:sp>
      <p:sp>
        <p:nvSpPr>
          <p:cNvPr id="18" name="leerer Baum"/>
          <p:cNvSpPr/>
          <p:nvPr/>
        </p:nvSpPr>
        <p:spPr>
          <a:xfrm>
            <a:off x="3469767" y="3232404"/>
            <a:ext cx="219456" cy="219456"/>
          </a:xfrm>
          <a:prstGeom prst="rect">
            <a:avLst/>
          </a:prstGeom>
          <a:solidFill>
            <a:schemeClr val="bg1"/>
          </a:solidFill>
          <a:ln w="12700">
            <a:solidFill>
              <a:srgbClr val="A6A6A6"/>
            </a:solidFill>
            <a:prstDash val="dash"/>
          </a:ln>
        </p:spPr>
      </p:sp>
      <p:sp>
        <p:nvSpPr>
          <p:cNvPr id="19" name="Kante leer"/>
          <p:cNvSpPr/>
          <p:nvPr/>
        </p:nvSpPr>
        <p:spPr>
          <a:xfrm flipH="1">
            <a:off x="4246245" y="4213098"/>
            <a:ext cx="333375" cy="724662"/>
          </a:xfrm>
          <a:prstGeom prst="line">
            <a:avLst/>
          </a:prstGeom>
          <a:noFill/>
          <a:ln w="12700">
            <a:solidFill>
              <a:srgbClr val="A6A6A6"/>
            </a:solidFill>
            <a:prstDash val="dash"/>
          </a:ln>
        </p:spPr>
      </p:sp>
      <p:sp>
        <p:nvSpPr>
          <p:cNvPr id="20" name="leerer Baum"/>
          <p:cNvSpPr/>
          <p:nvPr/>
        </p:nvSpPr>
        <p:spPr>
          <a:xfrm>
            <a:off x="4136517" y="4937760"/>
            <a:ext cx="219456" cy="219456"/>
          </a:xfrm>
          <a:prstGeom prst="rect">
            <a:avLst/>
          </a:prstGeom>
          <a:solidFill>
            <a:schemeClr val="bg1"/>
          </a:solidFill>
          <a:ln w="12700">
            <a:solidFill>
              <a:srgbClr val="A6A6A6"/>
            </a:solidFill>
            <a:prstDash val="dash"/>
          </a:ln>
        </p:spPr>
      </p:sp>
      <p:sp>
        <p:nvSpPr>
          <p:cNvPr id="21" name="Kante leer"/>
          <p:cNvSpPr/>
          <p:nvPr/>
        </p:nvSpPr>
        <p:spPr>
          <a:xfrm>
            <a:off x="4579620" y="4213098"/>
            <a:ext cx="333375" cy="724662"/>
          </a:xfrm>
          <a:prstGeom prst="line">
            <a:avLst/>
          </a:prstGeom>
          <a:noFill/>
          <a:ln w="12700">
            <a:solidFill>
              <a:srgbClr val="A6A6A6"/>
            </a:solidFill>
            <a:prstDash val="dash"/>
          </a:ln>
        </p:spPr>
      </p:sp>
      <p:sp>
        <p:nvSpPr>
          <p:cNvPr id="22" name="leerer Baum"/>
          <p:cNvSpPr/>
          <p:nvPr/>
        </p:nvSpPr>
        <p:spPr>
          <a:xfrm>
            <a:off x="4803267" y="4937760"/>
            <a:ext cx="219456" cy="219456"/>
          </a:xfrm>
          <a:prstGeom prst="rect">
            <a:avLst/>
          </a:prstGeom>
          <a:solidFill>
            <a:schemeClr val="bg1"/>
          </a:solidFill>
          <a:ln w="12700">
            <a:solidFill>
              <a:srgbClr val="A6A6A6"/>
            </a:solidFill>
            <a:prstDash val="dash"/>
          </a:ln>
        </p:spPr>
      </p:sp>
      <p:sp>
        <p:nvSpPr>
          <p:cNvPr id="23" name="Kante leer"/>
          <p:cNvSpPr/>
          <p:nvPr/>
        </p:nvSpPr>
        <p:spPr>
          <a:xfrm>
            <a:off x="5079683" y="3360420"/>
            <a:ext cx="500063" cy="724662"/>
          </a:xfrm>
          <a:prstGeom prst="line">
            <a:avLst/>
          </a:prstGeom>
          <a:noFill/>
          <a:ln w="12700">
            <a:solidFill>
              <a:srgbClr val="A6A6A6"/>
            </a:solidFill>
            <a:prstDash val="dash"/>
          </a:ln>
        </p:spPr>
      </p:sp>
      <p:sp>
        <p:nvSpPr>
          <p:cNvPr id="24" name="leerer Baum"/>
          <p:cNvSpPr/>
          <p:nvPr/>
        </p:nvSpPr>
        <p:spPr>
          <a:xfrm>
            <a:off x="5470017" y="4085082"/>
            <a:ext cx="219456" cy="219456"/>
          </a:xfrm>
          <a:prstGeom prst="rect">
            <a:avLst/>
          </a:prstGeom>
          <a:solidFill>
            <a:schemeClr val="bg1"/>
          </a:solidFill>
          <a:ln w="12700">
            <a:solidFill>
              <a:srgbClr val="A6A6A6"/>
            </a:solidFill>
            <a:prstDash val="dash"/>
          </a:ln>
        </p:spPr>
      </p:sp>
      <p:sp>
        <p:nvSpPr>
          <p:cNvPr id="25" name="Knoten 2"/>
          <p:cNvSpPr txBox="1"/>
          <p:nvPr/>
        </p:nvSpPr>
        <p:spPr>
          <a:xfrm>
            <a:off x="1008126" y="3122676"/>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2</a:t>
            </a:r>
            <a:endParaRPr lang="en-US" sz="1700" dirty="0"/>
          </a:p>
        </p:txBody>
      </p:sp>
      <p:sp>
        <p:nvSpPr>
          <p:cNvPr id="26" name="Text 24"/>
          <p:cNvSpPr txBox="1"/>
          <p:nvPr/>
        </p:nvSpPr>
        <p:spPr>
          <a:xfrm>
            <a:off x="1520190" y="3214116"/>
            <a:ext cx="502920" cy="292608"/>
          </a:xfrm>
          <a:prstGeom prst="rect">
            <a:avLst/>
          </a:prstGeom>
          <a:noFill/>
          <a:ln/>
        </p:spPr>
        <p:txBody>
          <a:bodyPr wrap="square" lIns="0" tIns="0" rIns="0" bIns="0" rtlCol="0" anchor="ctr"/>
          <a:lstStyle/>
          <a:p>
            <a:pPr algn="l" indent="0" marL="0">
              <a:buNone/>
            </a:pPr>
            <a:r>
              <a:rPr lang="en-US" sz="1300" b="1" dirty="0">
                <a:solidFill>
                  <a:schemeClr val="accent2"/>
                </a:solidFill>
              </a:rPr>
              <a:t>→ 1</a:t>
            </a:r>
            <a:endParaRPr lang="en-US" sz="1300" dirty="0"/>
          </a:p>
        </p:txBody>
      </p:sp>
      <p:sp>
        <p:nvSpPr>
          <p:cNvPr id="27" name="Knoten 7"/>
          <p:cNvSpPr txBox="1"/>
          <p:nvPr/>
        </p:nvSpPr>
        <p:spPr>
          <a:xfrm>
            <a:off x="2341626" y="3122676"/>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28" name="Text 26"/>
          <p:cNvSpPr txBox="1"/>
          <p:nvPr/>
        </p:nvSpPr>
        <p:spPr>
          <a:xfrm>
            <a:off x="2853690" y="3214116"/>
            <a:ext cx="502920" cy="292608"/>
          </a:xfrm>
          <a:prstGeom prst="rect">
            <a:avLst/>
          </a:prstGeom>
          <a:noFill/>
          <a:ln/>
        </p:spPr>
        <p:txBody>
          <a:bodyPr wrap="square" lIns="0" tIns="0" rIns="0" bIns="0" rtlCol="0" anchor="ctr"/>
          <a:lstStyle/>
          <a:p>
            <a:pPr algn="l" indent="0" marL="0">
              <a:buNone/>
            </a:pPr>
            <a:r>
              <a:rPr lang="en-US" sz="1300" b="1" dirty="0">
                <a:solidFill>
                  <a:schemeClr val="accent2"/>
                </a:solidFill>
              </a:rPr>
              <a:t>→ 1</a:t>
            </a:r>
            <a:endParaRPr lang="en-US" sz="1300" dirty="0"/>
          </a:p>
        </p:txBody>
      </p:sp>
      <p:sp>
        <p:nvSpPr>
          <p:cNvPr id="29" name="Knoten 9"/>
          <p:cNvSpPr txBox="1"/>
          <p:nvPr/>
        </p:nvSpPr>
        <p:spPr>
          <a:xfrm>
            <a:off x="1674876" y="226999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9</a:t>
            </a:r>
            <a:endParaRPr lang="en-US" sz="1700" dirty="0"/>
          </a:p>
        </p:txBody>
      </p:sp>
      <p:sp>
        <p:nvSpPr>
          <p:cNvPr id="30" name="Text 28"/>
          <p:cNvSpPr txBox="1"/>
          <p:nvPr/>
        </p:nvSpPr>
        <p:spPr>
          <a:xfrm>
            <a:off x="2186940" y="2361438"/>
            <a:ext cx="502920" cy="292608"/>
          </a:xfrm>
          <a:prstGeom prst="rect">
            <a:avLst/>
          </a:prstGeom>
          <a:noFill/>
          <a:ln/>
        </p:spPr>
        <p:txBody>
          <a:bodyPr wrap="square" lIns="0" tIns="0" rIns="0" bIns="0" rtlCol="0" anchor="ctr"/>
          <a:lstStyle/>
          <a:p>
            <a:pPr algn="l" indent="0" marL="0">
              <a:buNone/>
            </a:pPr>
            <a:r>
              <a:rPr lang="en-US" sz="1300" b="1" dirty="0">
                <a:solidFill>
                  <a:schemeClr val="accent2"/>
                </a:solidFill>
              </a:rPr>
              <a:t>→ 2</a:t>
            </a:r>
            <a:endParaRPr lang="en-US" sz="1300" dirty="0"/>
          </a:p>
        </p:txBody>
      </p:sp>
      <p:sp>
        <p:nvSpPr>
          <p:cNvPr id="31" name="Knoten 1"/>
          <p:cNvSpPr txBox="1"/>
          <p:nvPr/>
        </p:nvSpPr>
        <p:spPr>
          <a:xfrm>
            <a:off x="4341876" y="397535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a:t>
            </a:r>
            <a:endParaRPr lang="en-US" sz="1700" dirty="0"/>
          </a:p>
        </p:txBody>
      </p:sp>
      <p:sp>
        <p:nvSpPr>
          <p:cNvPr id="32" name="Text 30"/>
          <p:cNvSpPr txBox="1"/>
          <p:nvPr/>
        </p:nvSpPr>
        <p:spPr>
          <a:xfrm>
            <a:off x="4853940" y="4066794"/>
            <a:ext cx="502920" cy="292608"/>
          </a:xfrm>
          <a:prstGeom prst="rect">
            <a:avLst/>
          </a:prstGeom>
          <a:noFill/>
          <a:ln/>
        </p:spPr>
        <p:txBody>
          <a:bodyPr wrap="square" lIns="0" tIns="0" rIns="0" bIns="0" rtlCol="0" anchor="ctr"/>
          <a:lstStyle/>
          <a:p>
            <a:pPr algn="l" indent="0" marL="0">
              <a:buNone/>
            </a:pPr>
            <a:r>
              <a:rPr lang="en-US" sz="1300" b="1" dirty="0">
                <a:solidFill>
                  <a:schemeClr val="accent2"/>
                </a:solidFill>
              </a:rPr>
              <a:t>→ 1</a:t>
            </a:r>
            <a:endParaRPr lang="en-US" sz="1300" dirty="0"/>
          </a:p>
        </p:txBody>
      </p:sp>
      <p:sp>
        <p:nvSpPr>
          <p:cNvPr id="33" name="Knoten 9"/>
          <p:cNvSpPr txBox="1"/>
          <p:nvPr/>
        </p:nvSpPr>
        <p:spPr>
          <a:xfrm>
            <a:off x="4841939" y="3122676"/>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9</a:t>
            </a:r>
            <a:endParaRPr lang="en-US" sz="1700" dirty="0"/>
          </a:p>
        </p:txBody>
      </p:sp>
      <p:sp>
        <p:nvSpPr>
          <p:cNvPr id="34" name="Text 32"/>
          <p:cNvSpPr txBox="1"/>
          <p:nvPr/>
        </p:nvSpPr>
        <p:spPr>
          <a:xfrm>
            <a:off x="5354002" y="3214116"/>
            <a:ext cx="502920" cy="292608"/>
          </a:xfrm>
          <a:prstGeom prst="rect">
            <a:avLst/>
          </a:prstGeom>
          <a:noFill/>
          <a:ln/>
        </p:spPr>
        <p:txBody>
          <a:bodyPr wrap="square" lIns="0" tIns="0" rIns="0" bIns="0" rtlCol="0" anchor="ctr"/>
          <a:lstStyle/>
          <a:p>
            <a:pPr algn="l" indent="0" marL="0">
              <a:buNone/>
            </a:pPr>
            <a:r>
              <a:rPr lang="en-US" sz="1300" b="1" dirty="0">
                <a:solidFill>
                  <a:schemeClr val="accent2"/>
                </a:solidFill>
              </a:rPr>
              <a:t>→ 2</a:t>
            </a:r>
            <a:endParaRPr lang="en-US" sz="1300" dirty="0"/>
          </a:p>
        </p:txBody>
      </p:sp>
      <p:sp>
        <p:nvSpPr>
          <p:cNvPr id="35" name="Knoten 4"/>
          <p:cNvSpPr txBox="1"/>
          <p:nvPr/>
        </p:nvSpPr>
        <p:spPr>
          <a:xfrm>
            <a:off x="4091845" y="226999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4</a:t>
            </a:r>
            <a:endParaRPr lang="en-US" sz="1700" dirty="0"/>
          </a:p>
        </p:txBody>
      </p:sp>
      <p:sp>
        <p:nvSpPr>
          <p:cNvPr id="36" name="Text 34"/>
          <p:cNvSpPr txBox="1"/>
          <p:nvPr/>
        </p:nvSpPr>
        <p:spPr>
          <a:xfrm>
            <a:off x="4603909" y="2361438"/>
            <a:ext cx="502920" cy="292608"/>
          </a:xfrm>
          <a:prstGeom prst="rect">
            <a:avLst/>
          </a:prstGeom>
          <a:noFill/>
          <a:ln/>
        </p:spPr>
        <p:txBody>
          <a:bodyPr wrap="square" lIns="0" tIns="0" rIns="0" bIns="0" rtlCol="0" anchor="ctr"/>
          <a:lstStyle/>
          <a:p>
            <a:pPr algn="l" indent="0" marL="0">
              <a:buNone/>
            </a:pPr>
            <a:r>
              <a:rPr lang="en-US" sz="1300" b="1" dirty="0">
                <a:solidFill>
                  <a:schemeClr val="accent2"/>
                </a:solidFill>
              </a:rPr>
              <a:t>→ 3</a:t>
            </a:r>
            <a:endParaRPr lang="en-US" sz="1300" dirty="0"/>
          </a:p>
        </p:txBody>
      </p:sp>
      <p:sp>
        <p:nvSpPr>
          <p:cNvPr id="37" name="Knoten 5"/>
          <p:cNvSpPr txBox="1"/>
          <p:nvPr/>
        </p:nvSpPr>
        <p:spPr>
          <a:xfrm>
            <a:off x="2883360" y="1417320"/>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5</a:t>
            </a:r>
            <a:endParaRPr lang="en-US" sz="1700" dirty="0"/>
          </a:p>
        </p:txBody>
      </p:sp>
      <p:sp>
        <p:nvSpPr>
          <p:cNvPr id="38" name="Text 36"/>
          <p:cNvSpPr txBox="1"/>
          <p:nvPr/>
        </p:nvSpPr>
        <p:spPr>
          <a:xfrm>
            <a:off x="3395424" y="1508760"/>
            <a:ext cx="502920" cy="292608"/>
          </a:xfrm>
          <a:prstGeom prst="rect">
            <a:avLst/>
          </a:prstGeom>
          <a:noFill/>
          <a:ln/>
        </p:spPr>
        <p:txBody>
          <a:bodyPr wrap="square" lIns="0" tIns="0" rIns="0" bIns="0" rtlCol="0" anchor="ctr"/>
          <a:lstStyle/>
          <a:p>
            <a:pPr algn="l" indent="0" marL="0">
              <a:buNone/>
            </a:pPr>
            <a:r>
              <a:rPr lang="en-US" sz="1300" b="1" dirty="0">
                <a:solidFill>
                  <a:schemeClr val="accent2"/>
                </a:solidFill>
              </a:rPr>
              <a:t>→ 4</a:t>
            </a:r>
            <a:endParaRPr lang="en-US" sz="1300" dirty="0"/>
          </a:p>
        </p:txBody>
      </p:sp>
      <p:sp>
        <p:nvSpPr>
          <p:cNvPr id="39" name="Text 37"/>
          <p:cNvSpPr txBox="1"/>
          <p:nvPr/>
        </p:nvSpPr>
        <p:spPr>
          <a:xfrm>
            <a:off x="548640" y="5440680"/>
            <a:ext cx="5394960" cy="274320"/>
          </a:xfrm>
          <a:prstGeom prst="rect">
            <a:avLst/>
          </a:prstGeom>
          <a:noFill/>
          <a:ln/>
        </p:spPr>
        <p:txBody>
          <a:bodyPr wrap="square" lIns="0" tIns="0" rIns="0" bIns="0" rtlCol="0" anchor="t"/>
          <a:lstStyle/>
          <a:p>
            <a:pPr algn="ctr" indent="0" marL="0">
              <a:buNone/>
            </a:pPr>
            <a:r>
              <a:rPr lang="en-US" sz="1300" i="1" dirty="0">
                <a:solidFill>
                  <a:schemeClr val="accent6"/>
                </a:solidFill>
              </a:rPr>
              <a:t>Kästchen = Aufruf mit leerem Baum → 0 · gold = Rückgabe</a:t>
            </a:r>
            <a:endParaRPr lang="en-US" sz="1300" dirty="0"/>
          </a:p>
        </p:txBody>
      </p:sp>
      <p:sp>
        <p:nvSpPr>
          <p:cNvPr id="40" name="Chip"/>
          <p:cNvSpPr txBox="1"/>
          <p:nvPr/>
        </p:nvSpPr>
        <p:spPr>
          <a:xfrm>
            <a:off x="548640" y="5760720"/>
            <a:ext cx="53949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15 Aufrufe (= 2 · 7 + 1) · größte Tiefe 4</a:t>
            </a:r>
            <a:endParaRPr lang="en-US" sz="1500" dirty="0"/>
          </a:p>
        </p:txBody>
      </p:sp>
      <p:graphicFrame>
        <p:nvGraphicFramePr>
          <p:cNvPr id="17" name="Rekursionstabelle hoehe"/>
          <p:cNvGraphicFramePr>
            <a:graphicFrameLocks noGrp="1"/>
          </p:cNvGraphicFramePr>
          <p:nvPr>
            <p:extLst>
              <p:ext uri="{D42A27DB-BD31-4B8C-83A1-F6EECF244321}">
                <p14:modId xmlns:p14="http://schemas.microsoft.com/office/powerpoint/2010/main" val="1579011935"/>
              </p:ext>
            </p:extLst>
          </p:nvPr>
        </p:nvGraphicFramePr>
        <p:xfrm>
          <a:off x="6263640" y="1298448"/>
          <a:ext cx="5349240" cy="914400"/>
        </p:xfrm>
        <a:graphic>
          <a:graphicData uri="http://schemas.openxmlformats.org/drawingml/2006/table">
            <a:tbl>
              <a:tblPr/>
              <a:tblGrid>
                <a:gridCol w="685800"/>
                <a:gridCol w="2103120"/>
                <a:gridCol w="685800"/>
                <a:gridCol w="685800"/>
                <a:gridCol w="1188720"/>
              </a:tblGrid>
              <a:tr h="288036">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Tiefe</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Aufruf</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links</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rechts</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Rückgabe</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88036">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hoehe(5)</a:t>
                      </a:r>
                      <a:endParaRPr lang="en-US" sz="12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hoehe(9)</a:t>
                      </a:r>
                      <a:endParaRPr lang="en-US" sz="12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hoehe(2)</a:t>
                      </a:r>
                      <a:endParaRPr lang="en-US" sz="12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hoehe(7)</a:t>
                      </a:r>
                      <a:endParaRPr lang="en-US" sz="12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hoehe(4)</a:t>
                      </a:r>
                      <a:endParaRPr lang="en-US" sz="12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hoehe(9)</a:t>
                      </a:r>
                      <a:endParaRPr lang="en-US" sz="12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latin typeface="Consolas" pitchFamily="34" charset="0"/>
                          <a:ea typeface="Consolas" pitchFamily="34" charset="-122"/>
                          <a:cs typeface="Consolas" pitchFamily="34" charset="-120"/>
                        </a:rPr>
                        <a:t>hoehe(1)</a:t>
                      </a:r>
                      <a:endParaRPr lang="en-US" sz="12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88036">
                <a:tc>
                  <a:txBody>
                    <a:bodyPr/>
                    <a:lstStyle/>
                    <a:p>
                      <a:pPr algn="ctr" indent="0" marL="0">
                        <a:buNone/>
                      </a:pPr>
                      <a:r>
                        <a:rPr lang="en-US" sz="1100" dirty="0">
                          <a:solidFill>
                            <a:srgbClr val="8C8C8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100" dirty="0">
                          <a:solidFill>
                            <a:srgbClr val="8C8C8C"/>
                          </a:solidFill>
                          <a:latin typeface="Consolas" pitchFamily="34" charset="0"/>
                          <a:ea typeface="Consolas" pitchFamily="34" charset="-122"/>
                          <a:cs typeface="Consolas" pitchFamily="34" charset="-120"/>
                        </a:rPr>
                        <a:t>hoehe(leer)</a:t>
                      </a:r>
                      <a:endParaRPr lang="en-US" sz="1100" dirty="0">
                        <a:latin typeface="Consolas" charset="0"/>
                        <a:ea typeface="Consolas" charset="0"/>
                        <a:cs typeface="Consolas"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b="1" dirty="0">
                          <a:solidFill>
                            <a:srgbClr val="8C8C8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2" name="Text 39"/>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32 · Rekursionstabelle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Sammeln in einer DynArray: sammleInorder</a:t>
            </a:r>
            <a:endParaRPr lang="en-US" sz="3600" dirty="0"/>
          </a:p>
        </p:txBody>
      </p:sp>
      <p:sp>
        <p:nvSpPr>
          <p:cNvPr id="3" name="Code"/>
          <p:cNvSpPr txBox="1"/>
          <p:nvPr/>
        </p:nvSpPr>
        <p:spPr>
          <a:xfrm>
            <a:off x="548640" y="1325880"/>
            <a:ext cx="5852160" cy="2968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DynArray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sammleInorder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DynArray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DynArray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sammleInorder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EINE Reihung für alle</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void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sammleInorder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DynArray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sammleInorder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append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Object hinein</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sammleInorder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4" name="Markierung eine Reihung"/>
          <p:cNvSpPr/>
          <p:nvPr/>
        </p:nvSpPr>
        <p:spPr>
          <a:xfrm>
            <a:off x="594360" y="1644396"/>
            <a:ext cx="5760720" cy="381000"/>
          </a:xfrm>
          <a:prstGeom prst="rect">
            <a:avLst/>
          </a:prstGeom>
          <a:ln w="28575">
            <a:solidFill>
              <a:schemeClr val="accent2"/>
            </a:solidFill>
            <a:prstDash val="solid"/>
          </a:ln>
        </p:spPr>
      </p:sp>
      <p:sp>
        <p:nvSpPr>
          <p:cNvPr id="5" name="Text 3"/>
          <p:cNvSpPr txBox="1"/>
          <p:nvPr/>
        </p:nvSpPr>
        <p:spPr>
          <a:xfrm>
            <a:off x="6720840" y="1325880"/>
            <a:ext cx="489204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sammleInorder(zahlenbaum())</a:t>
            </a:r>
            <a:endParaRPr lang="en-US" sz="1800" dirty="0"/>
          </a:p>
        </p:txBody>
      </p:sp>
      <p:sp>
        <p:nvSpPr>
          <p:cNvPr id="6" name="Dyn zahlenbaum 0"/>
          <p:cNvSpPr txBox="1"/>
          <p:nvPr/>
        </p:nvSpPr>
        <p:spPr>
          <a:xfrm>
            <a:off x="6720840" y="1691640"/>
            <a:ext cx="566928"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7" name="Dyn zahlenbaum 1"/>
          <p:cNvSpPr txBox="1"/>
          <p:nvPr/>
        </p:nvSpPr>
        <p:spPr>
          <a:xfrm>
            <a:off x="7287768" y="1691640"/>
            <a:ext cx="566928"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8" name="Dyn zahlenbaum 2"/>
          <p:cNvSpPr txBox="1"/>
          <p:nvPr/>
        </p:nvSpPr>
        <p:spPr>
          <a:xfrm>
            <a:off x="7854696" y="1691640"/>
            <a:ext cx="566928"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7</a:t>
            </a:r>
            <a:endParaRPr lang="en-US" sz="1600" dirty="0"/>
          </a:p>
        </p:txBody>
      </p:sp>
      <p:sp>
        <p:nvSpPr>
          <p:cNvPr id="9" name="Dyn zahlenbaum 3"/>
          <p:cNvSpPr txBox="1"/>
          <p:nvPr/>
        </p:nvSpPr>
        <p:spPr>
          <a:xfrm>
            <a:off x="8421624" y="1691640"/>
            <a:ext cx="566928"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10" name="Dyn zahlenbaum 4"/>
          <p:cNvSpPr txBox="1"/>
          <p:nvPr/>
        </p:nvSpPr>
        <p:spPr>
          <a:xfrm>
            <a:off x="8988552" y="1691640"/>
            <a:ext cx="566928"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1" name="Dyn zahlenbaum 5"/>
          <p:cNvSpPr txBox="1"/>
          <p:nvPr/>
        </p:nvSpPr>
        <p:spPr>
          <a:xfrm>
            <a:off x="9555480" y="1691640"/>
            <a:ext cx="566928"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12" name="Dyn zahlenbaum 6"/>
          <p:cNvSpPr txBox="1"/>
          <p:nvPr/>
        </p:nvSpPr>
        <p:spPr>
          <a:xfrm>
            <a:off x="10122408" y="1691640"/>
            <a:ext cx="566928" cy="457200"/>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13" name="Text 11"/>
          <p:cNvSpPr txBox="1"/>
          <p:nvPr/>
        </p:nvSpPr>
        <p:spPr>
          <a:xfrm>
            <a:off x="6720840" y="2167128"/>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14" name="Text 12"/>
          <p:cNvSpPr txBox="1"/>
          <p:nvPr/>
        </p:nvSpPr>
        <p:spPr>
          <a:xfrm>
            <a:off x="7287768" y="2167128"/>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5" name="Text 13"/>
          <p:cNvSpPr txBox="1"/>
          <p:nvPr/>
        </p:nvSpPr>
        <p:spPr>
          <a:xfrm>
            <a:off x="7854696" y="2167128"/>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6" name="Text 14"/>
          <p:cNvSpPr txBox="1"/>
          <p:nvPr/>
        </p:nvSpPr>
        <p:spPr>
          <a:xfrm>
            <a:off x="8421624" y="2167128"/>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7" name="Text 15"/>
          <p:cNvSpPr txBox="1"/>
          <p:nvPr/>
        </p:nvSpPr>
        <p:spPr>
          <a:xfrm>
            <a:off x="8988552" y="2167128"/>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8" name="Text 16"/>
          <p:cNvSpPr txBox="1"/>
          <p:nvPr/>
        </p:nvSpPr>
        <p:spPr>
          <a:xfrm>
            <a:off x="9555480" y="2167128"/>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5</a:t>
            </a:r>
            <a:endParaRPr lang="en-US" sz="1300" dirty="0"/>
          </a:p>
        </p:txBody>
      </p:sp>
      <p:sp>
        <p:nvSpPr>
          <p:cNvPr id="19" name="Text 17"/>
          <p:cNvSpPr txBox="1"/>
          <p:nvPr/>
        </p:nvSpPr>
        <p:spPr>
          <a:xfrm>
            <a:off x="10122408" y="2167128"/>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6</a:t>
            </a:r>
            <a:endParaRPr lang="en-US" sz="1300" dirty="0"/>
          </a:p>
        </p:txBody>
      </p:sp>
      <p:sp>
        <p:nvSpPr>
          <p:cNvPr id="20" name="Text 18"/>
          <p:cNvSpPr txBox="1"/>
          <p:nvPr/>
        </p:nvSpPr>
        <p:spPr>
          <a:xfrm>
            <a:off x="6720840" y="2606040"/>
            <a:ext cx="489204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sammleInorder(beispielBST())</a:t>
            </a:r>
            <a:endParaRPr lang="en-US" sz="1800" dirty="0"/>
          </a:p>
        </p:txBody>
      </p:sp>
      <p:sp>
        <p:nvSpPr>
          <p:cNvPr id="21" name="Dyn BST 0"/>
          <p:cNvSpPr txBox="1"/>
          <p:nvPr/>
        </p:nvSpPr>
        <p:spPr>
          <a:xfrm>
            <a:off x="6720840"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22" name="Dyn BST 1"/>
          <p:cNvSpPr txBox="1"/>
          <p:nvPr/>
        </p:nvSpPr>
        <p:spPr>
          <a:xfrm>
            <a:off x="7260336"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23" name="Dyn BST 2"/>
          <p:cNvSpPr txBox="1"/>
          <p:nvPr/>
        </p:nvSpPr>
        <p:spPr>
          <a:xfrm>
            <a:off x="7799832"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4" name="Dyn BST 3"/>
          <p:cNvSpPr txBox="1"/>
          <p:nvPr/>
        </p:nvSpPr>
        <p:spPr>
          <a:xfrm>
            <a:off x="8339328"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25" name="Dyn BST 4"/>
          <p:cNvSpPr txBox="1"/>
          <p:nvPr/>
        </p:nvSpPr>
        <p:spPr>
          <a:xfrm>
            <a:off x="8878824"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26" name="Dyn BST 5"/>
          <p:cNvSpPr txBox="1"/>
          <p:nvPr/>
        </p:nvSpPr>
        <p:spPr>
          <a:xfrm>
            <a:off x="9418320"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27" name="Dyn BST 6"/>
          <p:cNvSpPr txBox="1"/>
          <p:nvPr/>
        </p:nvSpPr>
        <p:spPr>
          <a:xfrm>
            <a:off x="9957816"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28" name="Dyn BST 7"/>
          <p:cNvSpPr txBox="1"/>
          <p:nvPr/>
        </p:nvSpPr>
        <p:spPr>
          <a:xfrm>
            <a:off x="10497312"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29" name="Dyn BST 8"/>
          <p:cNvSpPr txBox="1"/>
          <p:nvPr/>
        </p:nvSpPr>
        <p:spPr>
          <a:xfrm>
            <a:off x="11036808" y="2971800"/>
            <a:ext cx="539496"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30" name="Text 28"/>
          <p:cNvSpPr txBox="1"/>
          <p:nvPr/>
        </p:nvSpPr>
        <p:spPr>
          <a:xfrm>
            <a:off x="6720840"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31" name="Text 29"/>
          <p:cNvSpPr txBox="1"/>
          <p:nvPr/>
        </p:nvSpPr>
        <p:spPr>
          <a:xfrm>
            <a:off x="7260336"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32" name="Text 30"/>
          <p:cNvSpPr txBox="1"/>
          <p:nvPr/>
        </p:nvSpPr>
        <p:spPr>
          <a:xfrm>
            <a:off x="7799832"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33" name="Text 31"/>
          <p:cNvSpPr txBox="1"/>
          <p:nvPr/>
        </p:nvSpPr>
        <p:spPr>
          <a:xfrm>
            <a:off x="8339328"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34" name="Text 32"/>
          <p:cNvSpPr txBox="1"/>
          <p:nvPr/>
        </p:nvSpPr>
        <p:spPr>
          <a:xfrm>
            <a:off x="8878824"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35" name="Text 33"/>
          <p:cNvSpPr txBox="1"/>
          <p:nvPr/>
        </p:nvSpPr>
        <p:spPr>
          <a:xfrm>
            <a:off x="9418320"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5</a:t>
            </a:r>
            <a:endParaRPr lang="en-US" sz="1300" dirty="0"/>
          </a:p>
        </p:txBody>
      </p:sp>
      <p:sp>
        <p:nvSpPr>
          <p:cNvPr id="36" name="Text 34"/>
          <p:cNvSpPr txBox="1"/>
          <p:nvPr/>
        </p:nvSpPr>
        <p:spPr>
          <a:xfrm>
            <a:off x="9957816"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6</a:t>
            </a:r>
            <a:endParaRPr lang="en-US" sz="1300" dirty="0"/>
          </a:p>
        </p:txBody>
      </p:sp>
      <p:sp>
        <p:nvSpPr>
          <p:cNvPr id="37" name="Text 35"/>
          <p:cNvSpPr txBox="1"/>
          <p:nvPr/>
        </p:nvSpPr>
        <p:spPr>
          <a:xfrm>
            <a:off x="10497312"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7</a:t>
            </a:r>
            <a:endParaRPr lang="en-US" sz="1300" dirty="0"/>
          </a:p>
        </p:txBody>
      </p:sp>
      <p:sp>
        <p:nvSpPr>
          <p:cNvPr id="38" name="Text 36"/>
          <p:cNvSpPr txBox="1"/>
          <p:nvPr/>
        </p:nvSpPr>
        <p:spPr>
          <a:xfrm>
            <a:off x="11036808" y="3447288"/>
            <a:ext cx="539496" cy="256032"/>
          </a:xfrm>
          <a:prstGeom prst="rect">
            <a:avLst/>
          </a:prstGeom>
          <a:noFill/>
          <a:ln/>
        </p:spPr>
        <p:txBody>
          <a:bodyPr wrap="square" lIns="0" tIns="0" rIns="0" bIns="0" rtlCol="0" anchor="t"/>
          <a:lstStyle/>
          <a:p>
            <a:pPr algn="ctr" indent="0" marL="0">
              <a:buNone/>
            </a:pPr>
            <a:r>
              <a:rPr lang="en-US" sz="1300" dirty="0">
                <a:solidFill>
                  <a:schemeClr val="accent6"/>
                </a:solidFill>
              </a:rPr>
              <a:t>8</a:t>
            </a:r>
            <a:endParaRPr lang="en-US" sz="1300" dirty="0"/>
          </a:p>
        </p:txBody>
      </p:sp>
      <p:sp>
        <p:nvSpPr>
          <p:cNvPr id="39" name="Text 37"/>
          <p:cNvSpPr txBox="1"/>
          <p:nvPr/>
        </p:nvSpPr>
        <p:spPr>
          <a:xfrm>
            <a:off x="6720840" y="3730752"/>
            <a:ext cx="4892040" cy="274320"/>
          </a:xfrm>
          <a:prstGeom prst="rect">
            <a:avLst/>
          </a:prstGeom>
          <a:noFill/>
          <a:ln/>
        </p:spPr>
        <p:txBody>
          <a:bodyPr wrap="square" lIns="0" tIns="0" rIns="0" bIns="0" rtlCol="0" anchor="t"/>
          <a:lstStyle/>
          <a:p>
            <a:pPr indent="0" marL="0">
              <a:buNone/>
            </a:pPr>
            <a:r>
              <a:rPr lang="en-US" sz="1300" b="1" i="1" dirty="0">
                <a:solidFill>
                  <a:schemeClr val="accent3"/>
                </a:solidFill>
              </a:rPr>
              <a:t>sortiert – Inorder eines Suchbaums!</a:t>
            </a:r>
            <a:endParaRPr lang="en-US" sz="1300" dirty="0"/>
          </a:p>
        </p:txBody>
      </p:sp>
      <p:sp>
        <p:nvSpPr>
          <p:cNvPr id="40" name="Text 38"/>
          <p:cNvSpPr txBox="1"/>
          <p:nvPr/>
        </p:nvSpPr>
        <p:spPr>
          <a:xfrm>
            <a:off x="6720840" y="4114800"/>
            <a:ext cx="489204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blaetter(zahlenbaum())</a:t>
            </a:r>
            <a:endParaRPr lang="en-US" sz="1800" dirty="0"/>
          </a:p>
        </p:txBody>
      </p:sp>
      <p:sp>
        <p:nvSpPr>
          <p:cNvPr id="41" name="Dyn Blaetter 0"/>
          <p:cNvSpPr txBox="1"/>
          <p:nvPr/>
        </p:nvSpPr>
        <p:spPr>
          <a:xfrm>
            <a:off x="6720840" y="4480560"/>
            <a:ext cx="566928"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42" name="Dyn Blaetter 1"/>
          <p:cNvSpPr txBox="1"/>
          <p:nvPr/>
        </p:nvSpPr>
        <p:spPr>
          <a:xfrm>
            <a:off x="7287768" y="4480560"/>
            <a:ext cx="566928"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7</a:t>
            </a:r>
            <a:endParaRPr lang="en-US" sz="1600" dirty="0"/>
          </a:p>
        </p:txBody>
      </p:sp>
      <p:sp>
        <p:nvSpPr>
          <p:cNvPr id="43" name="Dyn Blaetter 2"/>
          <p:cNvSpPr txBox="1"/>
          <p:nvPr/>
        </p:nvSpPr>
        <p:spPr>
          <a:xfrm>
            <a:off x="7854696" y="4480560"/>
            <a:ext cx="566928" cy="457200"/>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44" name="Text 42"/>
          <p:cNvSpPr txBox="1"/>
          <p:nvPr/>
        </p:nvSpPr>
        <p:spPr>
          <a:xfrm>
            <a:off x="8549640" y="4553712"/>
            <a:ext cx="3017520" cy="320040"/>
          </a:xfrm>
          <a:prstGeom prst="rect">
            <a:avLst/>
          </a:prstGeom>
          <a:noFill/>
          <a:ln/>
        </p:spPr>
        <p:txBody>
          <a:bodyPr wrap="square" lIns="0" tIns="0" rIns="0" bIns="0" rtlCol="0" anchor="t"/>
          <a:lstStyle/>
          <a:p>
            <a:pPr indent="0" marL="0">
              <a:buNone/>
            </a:pPr>
            <a:r>
              <a:rPr lang="en-US" sz="1300" i="1" dirty="0">
                <a:solidFill>
                  <a:schemeClr val="accent6"/>
                </a:solidFill>
              </a:rPr>
              <a:t>Blattwerte von links nach rechts</a:t>
            </a:r>
            <a:endParaRPr lang="en-US" sz="1300" dirty="0"/>
          </a:p>
        </p:txBody>
      </p:sp>
      <p:sp>
        <p:nvSpPr>
          <p:cNvPr id="45" name="Fehlerbild DynArray"/>
          <p:cNvSpPr/>
          <p:nvPr/>
        </p:nvSpPr>
        <p:spPr>
          <a:xfrm>
            <a:off x="6720840" y="5074920"/>
            <a:ext cx="4892040" cy="1051560"/>
          </a:xfrm>
          <a:prstGeom prst="roundRect">
            <a:avLst>
              <a:gd name="adj" fmla="val 10435"/>
            </a:avLst>
          </a:prstGeom>
          <a:solidFill>
            <a:schemeClr val="bg1"/>
          </a:solidFill>
          <a:ln w="25400">
            <a:solidFill>
              <a:schemeClr val="accent4"/>
            </a:solidFill>
            <a:prstDash val="solid"/>
          </a:ln>
        </p:spPr>
      </p:sp>
      <p:sp>
        <p:nvSpPr>
          <p:cNvPr id="46" name="Text 44"/>
          <p:cNvSpPr txBox="1"/>
          <p:nvPr/>
        </p:nvSpPr>
        <p:spPr>
          <a:xfrm>
            <a:off x="6922008" y="5074920"/>
            <a:ext cx="4526280" cy="1051560"/>
          </a:xfrm>
          <a:prstGeom prst="rect">
            <a:avLst/>
          </a:prstGeom>
          <a:noFill/>
          <a:ln/>
        </p:spPr>
        <p:txBody>
          <a:bodyPr wrap="square" lIns="0" tIns="0" rIns="0" bIns="0" rtlCol="0" anchor="ctr"/>
          <a:lstStyle/>
          <a:p>
            <a:pPr indent="0" marL="0">
              <a:buNone/>
            </a:pPr>
            <a:r>
              <a:rPr lang="en-US" sz="1400" b="1" dirty="0">
                <a:solidFill>
                  <a:schemeClr val="accent4"/>
                </a:solidFill>
              </a:rPr>
              <a:t>Fehlerbild: </a:t>
            </a:r>
            <a:pPr indent="0" marL="0">
              <a:buNone/>
            </a:pPr>
            <a:r>
              <a:rPr lang="en-US" sz="1400" dirty="0">
                <a:solidFill>
                  <a:schemeClr val="tx1"/>
                </a:solidFill>
              </a:rPr>
              <a:t>new DynArray() im rekursiven Aufruf – jeder Aufruf füllt seine eigene Reihung, das Ergebnis geht verloren (Warm-up W5-08 c).</a:t>
            </a:r>
            <a:endParaRPr lang="en-US" sz="1400" dirty="0"/>
          </a:p>
        </p:txBody>
      </p:sp>
      <p:sp>
        <p:nvSpPr>
          <p:cNvPr id="47" name="Reihenfolge"/>
          <p:cNvSpPr/>
          <p:nvPr/>
        </p:nvSpPr>
        <p:spPr>
          <a:xfrm>
            <a:off x="548640" y="5120640"/>
            <a:ext cx="5852160" cy="1005840"/>
          </a:xfrm>
          <a:prstGeom prst="roundRect">
            <a:avLst>
              <a:gd name="adj" fmla="val 10909"/>
            </a:avLst>
          </a:prstGeom>
          <a:solidFill>
            <a:schemeClr val="bg2"/>
          </a:solidFill>
          <a:ln/>
        </p:spPr>
      </p:sp>
      <p:sp>
        <p:nvSpPr>
          <p:cNvPr id="48" name="Text 46"/>
          <p:cNvSpPr txBox="1"/>
          <p:nvPr/>
        </p:nvSpPr>
        <p:spPr>
          <a:xfrm>
            <a:off x="749808" y="5120640"/>
            <a:ext cx="5486400" cy="1005840"/>
          </a:xfrm>
          <a:prstGeom prst="rect">
            <a:avLst/>
          </a:prstGeom>
          <a:noFill/>
          <a:ln/>
        </p:spPr>
        <p:txBody>
          <a:bodyPr wrap="square" lIns="0" tIns="0" rIns="0" bIns="0" rtlCol="0" anchor="ctr"/>
          <a:lstStyle/>
          <a:p>
            <a:pPr indent="0" marL="0">
              <a:buNone/>
            </a:pPr>
            <a:r>
              <a:rPr lang="en-US" sz="1500" b="1" dirty="0">
                <a:solidFill>
                  <a:schemeClr val="accent1"/>
                </a:solidFill>
              </a:rPr>
              <a:t>Reihenfolge = Traversierung: </a:t>
            </a:r>
            <a:pPr indent="0" marL="0">
              <a:buNone/>
            </a:pPr>
            <a:r>
              <a:rPr lang="en-US" sz="1500" dirty="0">
                <a:solidFill>
                  <a:schemeClr val="tx1"/>
                </a:solidFill>
              </a:rPr>
              <a:t>append vor den Aufrufen → preorder, dazwischen → inorder, danach → postorder.</a:t>
            </a:r>
            <a:endParaRPr lang="en-US" sz="1500" dirty="0"/>
          </a:p>
        </p:txBody>
      </p:sp>
      <p:sp>
        <p:nvSpPr>
          <p:cNvPr id="49" name="Text 4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32 · Sammeln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Online-IDE: Level 5.2 – class Rekursiv</a:t>
            </a:r>
            <a:endParaRPr lang="en-US" sz="3600" dirty="0"/>
          </a:p>
        </p:txBody>
      </p:sp>
      <p:sp>
        <p:nvSpPr>
          <p:cNvPr id="3" name="Level-Karte"/>
          <p:cNvSpPr/>
          <p:nvPr/>
        </p:nvSpPr>
        <p:spPr>
          <a:xfrm>
            <a:off x="548640" y="1325880"/>
            <a:ext cx="6720840" cy="4800600"/>
          </a:xfrm>
          <a:prstGeom prst="roundRect">
            <a:avLst>
              <a:gd name="adj" fmla="val 2286"/>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Level-Kopf"/>
          <p:cNvSpPr txBox="1"/>
          <p:nvPr/>
        </p:nvSpPr>
        <p:spPr>
          <a:xfrm>
            <a:off x="548640" y="1325880"/>
            <a:ext cx="6720840" cy="502920"/>
          </a:xfrm>
          <a:prstGeom prst="rect">
            <a:avLst/>
          </a:prstGeom>
          <a:solidFill>
            <a:schemeClr val="accent1"/>
          </a:solidFill>
          <a:ln/>
        </p:spPr>
        <p:txBody>
          <a:bodyPr wrap="square" lIns="127000" tIns="0" rIns="127000" bIns="0" rtlCol="0" anchor="ctr"/>
          <a:lstStyle/>
          <a:p>
            <a:pPr indent="0" marL="0">
              <a:buNone/>
            </a:pPr>
            <a:r>
              <a:rPr lang="en-US" sz="1800" b="1" dirty="0">
                <a:solidFill>
                  <a:schemeClr val="accent2"/>
                </a:solidFill>
              </a:rPr>
              <a:t>IDE-Level 5.2 · </a:t>
            </a:r>
            <a:pPr indent="0" marL="0">
              <a:buNone/>
            </a:pPr>
            <a:r>
              <a:rPr lang="en-US" sz="1800" b="1" dirty="0">
                <a:solidFill>
                  <a:schemeClr val="bg1"/>
                </a:solidFill>
                <a:latin typeface="Consolas" pitchFamily="34" charset="0"/>
                <a:ea typeface="Consolas" pitchFamily="34" charset="-122"/>
                <a:cs typeface="Consolas" pitchFamily="34" charset="-120"/>
              </a:rPr>
              <a:t>class Rekursiv</a:t>
            </a:r>
            <a:pPr indent="0" marL="0">
              <a:buNone/>
            </a:pPr>
            <a:r>
              <a:rPr lang="en-US" sz="1400" dirty="0">
                <a:solidFill>
                  <a:schemeClr val="bg2"/>
                </a:solidFill>
              </a:rPr>
              <a:t>   Testklasse L52RekursivTest</a:t>
            </a:r>
            <a:endParaRPr lang="en-US" sz="1800" dirty="0"/>
          </a:p>
        </p:txBody>
      </p:sp>
      <p:sp>
        <p:nvSpPr>
          <p:cNvPr id="5" name="Chip"/>
          <p:cNvSpPr txBox="1"/>
          <p:nvPr/>
        </p:nvSpPr>
        <p:spPr>
          <a:xfrm>
            <a:off x="731520" y="1984248"/>
            <a:ext cx="160020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Basis ★</a:t>
            </a:r>
            <a:endParaRPr lang="en-US" sz="1400" dirty="0"/>
          </a:p>
        </p:txBody>
      </p:sp>
      <p:sp>
        <p:nvSpPr>
          <p:cNvPr id="6" name="Text 4"/>
          <p:cNvSpPr txBox="1"/>
          <p:nvPr/>
        </p:nvSpPr>
        <p:spPr>
          <a:xfrm>
            <a:off x="731520" y="2377440"/>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basis_…</a:t>
            </a:r>
            <a:endParaRPr lang="en-US" sz="1200" dirty="0"/>
          </a:p>
        </p:txBody>
      </p:sp>
      <p:sp>
        <p:nvSpPr>
          <p:cNvPr id="7" name="Text 5"/>
          <p:cNvSpPr txBox="1"/>
          <p:nvPr/>
        </p:nvSpPr>
        <p:spPr>
          <a:xfrm>
            <a:off x="2514600" y="1965960"/>
            <a:ext cx="4663440" cy="905256"/>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enthaelt(b, x): Wahrheitswert</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maximum(b): Ganzzahl   // leer: −1</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anzahlGroesser(b, grenze): Ganzzahl</a:t>
            </a:r>
            <a:endParaRPr lang="en-US" sz="1800" dirty="0"/>
          </a:p>
        </p:txBody>
      </p:sp>
      <p:sp>
        <p:nvSpPr>
          <p:cNvPr id="8" name="Chip"/>
          <p:cNvSpPr txBox="1"/>
          <p:nvPr/>
        </p:nvSpPr>
        <p:spPr>
          <a:xfrm>
            <a:off x="731520" y="3236976"/>
            <a:ext cx="16002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Erweiterung ★★</a:t>
            </a:r>
            <a:endParaRPr lang="en-US" sz="1400" dirty="0"/>
          </a:p>
        </p:txBody>
      </p:sp>
      <p:sp>
        <p:nvSpPr>
          <p:cNvPr id="9" name="Text 7"/>
          <p:cNvSpPr txBox="1"/>
          <p:nvPr/>
        </p:nvSpPr>
        <p:spPr>
          <a:xfrm>
            <a:off x="731520" y="3630168"/>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erweiterung_…</a:t>
            </a:r>
            <a:endParaRPr lang="en-US" sz="1200" dirty="0"/>
          </a:p>
        </p:txBody>
      </p:sp>
      <p:sp>
        <p:nvSpPr>
          <p:cNvPr id="10" name="Text 8"/>
          <p:cNvSpPr txBox="1"/>
          <p:nvPr/>
        </p:nvSpPr>
        <p:spPr>
          <a:xfrm>
            <a:off x="2514600" y="3218688"/>
            <a:ext cx="4663440" cy="905256"/>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sammleInorder(b): DynArray</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blaetter(b): DynArray</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anzahlAufEbene(b, ebene): Ganzzahl</a:t>
            </a:r>
            <a:endParaRPr lang="en-US" sz="1800" dirty="0"/>
          </a:p>
        </p:txBody>
      </p:sp>
      <p:sp>
        <p:nvSpPr>
          <p:cNvPr id="11" name="Chip"/>
          <p:cNvSpPr txBox="1"/>
          <p:nvPr/>
        </p:nvSpPr>
        <p:spPr>
          <a:xfrm>
            <a:off x="731520" y="4489704"/>
            <a:ext cx="16002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Experte ★★★</a:t>
            </a:r>
            <a:endParaRPr lang="en-US" sz="1400" dirty="0"/>
          </a:p>
        </p:txBody>
      </p:sp>
      <p:sp>
        <p:nvSpPr>
          <p:cNvPr id="12" name="Text 10"/>
          <p:cNvSpPr txBox="1"/>
          <p:nvPr/>
        </p:nvSpPr>
        <p:spPr>
          <a:xfrm>
            <a:off x="731520" y="4882896"/>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experte_…</a:t>
            </a:r>
            <a:endParaRPr lang="en-US" sz="1200" dirty="0"/>
          </a:p>
        </p:txBody>
      </p:sp>
      <p:sp>
        <p:nvSpPr>
          <p:cNvPr id="13" name="Text 11"/>
          <p:cNvSpPr txBox="1"/>
          <p:nvPr/>
        </p:nvSpPr>
        <p:spPr>
          <a:xfrm>
            <a:off x="2514600" y="4471416"/>
            <a:ext cx="4663440" cy="603504"/>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pfadZu(b, x): Zeichenkette  // "LR"</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istGleich(a, b): Wahrheitswert</a:t>
            </a:r>
            <a:endParaRPr lang="en-US" sz="1800" dirty="0"/>
          </a:p>
        </p:txBody>
      </p:sp>
      <p:sp>
        <p:nvSpPr>
          <p:cNvPr id="14" name="Text 12"/>
          <p:cNvSpPr txBox="1"/>
          <p:nvPr/>
        </p:nvSpPr>
        <p:spPr>
          <a:xfrm>
            <a:off x="731520" y="5669280"/>
            <a:ext cx="6400800" cy="384048"/>
          </a:xfrm>
          <a:prstGeom prst="rect">
            <a:avLst/>
          </a:prstGeom>
          <a:noFill/>
          <a:ln/>
        </p:spPr>
        <p:txBody>
          <a:bodyPr wrap="square" lIns="0" tIns="0" rIns="0" bIns="0" rtlCol="0" anchor="ctr"/>
          <a:lstStyle/>
          <a:p>
            <a:pPr indent="0" marL="0">
              <a:buNone/>
            </a:pPr>
            <a:r>
              <a:rPr lang="en-US" sz="1300" i="1" dirty="0">
                <a:solidFill>
                  <a:schemeClr val="accent6"/>
                </a:solidFill>
              </a:rPr>
              <a:t>Alle Methoden rekursiv · Werte in Zahl-Bäumen: Ganzzahlen ≥ 0</a:t>
            </a:r>
            <a:endParaRPr lang="en-US" sz="1300" dirty="0"/>
          </a:p>
        </p:txBody>
      </p:sp>
      <p:sp>
        <p:nvSpPr>
          <p:cNvPr id="15" name="Text 13"/>
          <p:cNvSpPr txBox="1"/>
          <p:nvPr/>
        </p:nvSpPr>
        <p:spPr>
          <a:xfrm>
            <a:off x="7543800" y="1325880"/>
            <a:ext cx="4069080" cy="347472"/>
          </a:xfrm>
          <a:prstGeom prst="rect">
            <a:avLst/>
          </a:prstGeom>
          <a:noFill/>
          <a:ln/>
        </p:spPr>
        <p:txBody>
          <a:bodyPr wrap="square" lIns="0" tIns="0" rIns="0" bIns="0" rtlCol="0" anchor="t"/>
          <a:lstStyle/>
          <a:p>
            <a:pPr indent="0" marL="0">
              <a:buNone/>
            </a:pPr>
            <a:r>
              <a:rPr lang="en-US" sz="1800" b="1" dirty="0">
                <a:solidFill>
                  <a:schemeClr val="accent1"/>
                </a:solidFill>
              </a:rPr>
              <a:t>Tipps</a:t>
            </a:r>
            <a:endParaRPr lang="en-US" sz="1800" dirty="0"/>
          </a:p>
        </p:txBody>
      </p:sp>
      <p:sp>
        <p:nvSpPr>
          <p:cNvPr id="16" name="Tipp anzahlAufEbene"/>
          <p:cNvSpPr txBox="1"/>
          <p:nvPr/>
        </p:nvSpPr>
        <p:spPr>
          <a:xfrm>
            <a:off x="7543800" y="1783080"/>
            <a:ext cx="4069080" cy="347472"/>
          </a:xfrm>
          <a:prstGeom prst="roundRect">
            <a:avLst>
              <a:gd name="adj" fmla="val 21053"/>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anzahlAufEbene</a:t>
            </a:r>
            <a:endParaRPr lang="en-US" sz="1400" dirty="0"/>
          </a:p>
        </p:txBody>
      </p:sp>
      <p:sp>
        <p:nvSpPr>
          <p:cNvPr id="17" name="Text 15"/>
          <p:cNvSpPr txBox="1"/>
          <p:nvPr/>
        </p:nvSpPr>
        <p:spPr>
          <a:xfrm>
            <a:off x="7543800" y="2167128"/>
            <a:ext cx="4069080" cy="566928"/>
          </a:xfrm>
          <a:prstGeom prst="rect">
            <a:avLst/>
          </a:prstGeom>
          <a:noFill/>
          <a:ln/>
        </p:spPr>
        <p:txBody>
          <a:bodyPr wrap="square" lIns="0" tIns="0" rIns="0" bIns="0" rtlCol="0" anchor="t"/>
          <a:lstStyle/>
          <a:p>
            <a:pPr indent="0" marL="0">
              <a:buNone/>
            </a:pPr>
            <a:r>
              <a:rPr lang="en-US" sz="1400" dirty="0">
                <a:solidFill>
                  <a:schemeClr val="tx1"/>
                </a:solidFill>
              </a:rPr>
              <a:t>Ebene 0 = diese Wurzel; sonst in den Kindern Ebene − 1 zählen.</a:t>
            </a:r>
            <a:endParaRPr lang="en-US" sz="1400" dirty="0"/>
          </a:p>
        </p:txBody>
      </p:sp>
      <p:sp>
        <p:nvSpPr>
          <p:cNvPr id="18" name="Tipp pfadZu"/>
          <p:cNvSpPr txBox="1"/>
          <p:nvPr/>
        </p:nvSpPr>
        <p:spPr>
          <a:xfrm>
            <a:off x="7543800" y="2807208"/>
            <a:ext cx="4069080" cy="347472"/>
          </a:xfrm>
          <a:prstGeom prst="roundRect">
            <a:avLst>
              <a:gd name="adj" fmla="val 21053"/>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pfadZu</a:t>
            </a:r>
            <a:endParaRPr lang="en-US" sz="1400" dirty="0"/>
          </a:p>
        </p:txBody>
      </p:sp>
      <p:sp>
        <p:nvSpPr>
          <p:cNvPr id="19" name="Text 17"/>
          <p:cNvSpPr txBox="1"/>
          <p:nvPr/>
        </p:nvSpPr>
        <p:spPr>
          <a:xfrm>
            <a:off x="7543800" y="3191256"/>
            <a:ext cx="4069080" cy="566928"/>
          </a:xfrm>
          <a:prstGeom prst="rect">
            <a:avLst/>
          </a:prstGeom>
          <a:noFill/>
          <a:ln/>
        </p:spPr>
        <p:txBody>
          <a:bodyPr wrap="square" lIns="0" tIns="0" rIns="0" bIns="0" rtlCol="0" anchor="t"/>
          <a:lstStyle/>
          <a:p>
            <a:pPr indent="0" marL="0">
              <a:buNone/>
            </a:pPr>
            <a:r>
              <a:rPr lang="en-US" sz="1400" dirty="0">
                <a:solidFill>
                  <a:schemeClr val="tx1"/>
                </a:solidFill>
              </a:rPr>
              <a:t>"L" bzw. "R" vor den Weg aus dem Teilbaum hängen; "-" heißt: nicht gefunden.</a:t>
            </a:r>
            <a:endParaRPr lang="en-US" sz="1400" dirty="0"/>
          </a:p>
        </p:txBody>
      </p:sp>
      <p:sp>
        <p:nvSpPr>
          <p:cNvPr id="20" name="Tipp istGleich"/>
          <p:cNvSpPr txBox="1"/>
          <p:nvPr/>
        </p:nvSpPr>
        <p:spPr>
          <a:xfrm>
            <a:off x="7543800" y="3831336"/>
            <a:ext cx="4069080" cy="347472"/>
          </a:xfrm>
          <a:prstGeom prst="roundRect">
            <a:avLst>
              <a:gd name="adj" fmla="val 21053"/>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istGleich</a:t>
            </a:r>
            <a:endParaRPr lang="en-US" sz="1400" dirty="0"/>
          </a:p>
        </p:txBody>
      </p:sp>
      <p:sp>
        <p:nvSpPr>
          <p:cNvPr id="21" name="Text 19"/>
          <p:cNvSpPr txBox="1"/>
          <p:nvPr/>
        </p:nvSpPr>
        <p:spPr>
          <a:xfrm>
            <a:off x="7543800" y="4215384"/>
            <a:ext cx="4069080" cy="566928"/>
          </a:xfrm>
          <a:prstGeom prst="rect">
            <a:avLst/>
          </a:prstGeom>
          <a:noFill/>
          <a:ln/>
        </p:spPr>
        <p:txBody>
          <a:bodyPr wrap="square" lIns="0" tIns="0" rIns="0" bIns="0" rtlCol="0" anchor="t"/>
          <a:lstStyle/>
          <a:p>
            <a:pPr indent="0" marL="0">
              <a:buNone/>
            </a:pPr>
            <a:r>
              <a:rPr lang="en-US" sz="1400" dirty="0">
                <a:solidFill>
                  <a:schemeClr val="tx1"/>
                </a:solidFill>
              </a:rPr>
              <a:t>Beide leer? Einer leer? Sonst Wert und beide Teilbäume vergleichen.</a:t>
            </a:r>
            <a:endParaRPr lang="en-US" sz="1400" dirty="0"/>
          </a:p>
        </p:txBody>
      </p:sp>
      <p:sp>
        <p:nvSpPr>
          <p:cNvPr id="22" name="Integer vergleichen"/>
          <p:cNvSpPr/>
          <p:nvPr/>
        </p:nvSpPr>
        <p:spPr>
          <a:xfrm>
            <a:off x="7543800" y="4937760"/>
            <a:ext cx="4069080" cy="1188720"/>
          </a:xfrm>
          <a:prstGeom prst="roundRect">
            <a:avLst>
              <a:gd name="adj" fmla="val 9231"/>
            </a:avLst>
          </a:prstGeom>
          <a:solidFill>
            <a:schemeClr val="bg1"/>
          </a:solidFill>
          <a:ln w="25400">
            <a:solidFill>
              <a:schemeClr val="accent4"/>
            </a:solidFill>
            <a:prstDash val="solid"/>
          </a:ln>
        </p:spPr>
      </p:sp>
      <p:sp>
        <p:nvSpPr>
          <p:cNvPr id="23" name="Text 21"/>
          <p:cNvSpPr txBox="1"/>
          <p:nvPr/>
        </p:nvSpPr>
        <p:spPr>
          <a:xfrm>
            <a:off x="7744968" y="4937760"/>
            <a:ext cx="3703320" cy="1188720"/>
          </a:xfrm>
          <a:prstGeom prst="rect">
            <a:avLst/>
          </a:prstGeom>
          <a:noFill/>
          <a:ln/>
        </p:spPr>
        <p:txBody>
          <a:bodyPr wrap="square" lIns="0" tIns="0" rIns="0" bIns="0" rtlCol="0" anchor="ctr"/>
          <a:lstStyle/>
          <a:p>
            <a:pPr indent="0" marL="0">
              <a:buNone/>
            </a:pPr>
            <a:r>
              <a:rPr lang="en-US" sz="1400" b="1" dirty="0">
                <a:solidFill>
                  <a:schemeClr val="accent4"/>
                </a:solidFill>
              </a:rPr>
              <a:t>Integer vergleichen: </a:t>
            </a:r>
            <a:pPr indent="0" marL="0">
              <a:buNone/>
            </a:pPr>
            <a:r>
              <a:rPr lang="en-US" sz="1400" dirty="0">
                <a:solidFill>
                  <a:schemeClr val="tx1"/>
                </a:solidFill>
              </a:rPr>
              <a:t>erst casten – </a:t>
            </a:r>
            <a:pPr indent="0" marL="0">
              <a:buNone/>
            </a:pPr>
            <a:r>
              <a:rPr lang="en-US" sz="1300" dirty="0">
                <a:solidFill>
                  <a:schemeClr val="tx1"/>
                </a:solidFill>
                <a:latin typeface="Consolas" pitchFamily="34" charset="0"/>
                <a:ea typeface="Consolas" pitchFamily="34" charset="-122"/>
                <a:cs typeface="Consolas" pitchFamily="34" charset="-120"/>
              </a:rPr>
              <a:t>(Integer) b.getItem() == x</a:t>
            </a:r>
            <a:endParaRPr lang="en-US" sz="1400" dirty="0"/>
          </a:p>
        </p:txBody>
      </p:sp>
      <p:sp>
        <p:nvSpPr>
          <p:cNvPr id="24" name="Text 22"/>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32 · IDE Level 5.2</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Exit-Ticket DS 32: Rekursion am zahlenbaum()</a:t>
            </a:r>
            <a:endParaRPr lang="en-US" sz="3600" dirty="0"/>
          </a:p>
        </p:txBody>
      </p:sp>
      <p:sp>
        <p:nvSpPr>
          <p:cNvPr id="3" name="Kante 9-2"/>
          <p:cNvSpPr/>
          <p:nvPr/>
        </p:nvSpPr>
        <p:spPr>
          <a:xfrm flipH="1">
            <a:off x="1237028" y="2651760"/>
            <a:ext cx="538288" cy="914400"/>
          </a:xfrm>
          <a:prstGeom prst="line">
            <a:avLst/>
          </a:prstGeom>
          <a:noFill/>
          <a:ln w="22225">
            <a:solidFill>
              <a:schemeClr val="bg2"/>
            </a:solidFill>
            <a:prstDash val="solid"/>
          </a:ln>
        </p:spPr>
      </p:sp>
      <p:sp>
        <p:nvSpPr>
          <p:cNvPr id="4" name="Kante 9-7"/>
          <p:cNvSpPr/>
          <p:nvPr/>
        </p:nvSpPr>
        <p:spPr>
          <a:xfrm>
            <a:off x="1775316" y="2651760"/>
            <a:ext cx="538288" cy="914400"/>
          </a:xfrm>
          <a:prstGeom prst="line">
            <a:avLst/>
          </a:prstGeom>
          <a:noFill/>
          <a:ln w="22225">
            <a:solidFill>
              <a:schemeClr val="bg2"/>
            </a:solidFill>
            <a:prstDash val="solid"/>
          </a:ln>
        </p:spPr>
      </p:sp>
      <p:sp>
        <p:nvSpPr>
          <p:cNvPr id="5" name="Kante 5-9"/>
          <p:cNvSpPr/>
          <p:nvPr/>
        </p:nvSpPr>
        <p:spPr>
          <a:xfrm flipH="1">
            <a:off x="1775316" y="1737360"/>
            <a:ext cx="1048109" cy="914400"/>
          </a:xfrm>
          <a:prstGeom prst="line">
            <a:avLst/>
          </a:prstGeom>
          <a:noFill/>
          <a:ln w="22225">
            <a:solidFill>
              <a:schemeClr val="bg2"/>
            </a:solidFill>
            <a:prstDash val="solid"/>
          </a:ln>
        </p:spPr>
      </p:sp>
      <p:sp>
        <p:nvSpPr>
          <p:cNvPr id="6" name="Kante 9-1"/>
          <p:cNvSpPr/>
          <p:nvPr/>
        </p:nvSpPr>
        <p:spPr>
          <a:xfrm flipH="1">
            <a:off x="4094097" y="3566160"/>
            <a:ext cx="445123" cy="914400"/>
          </a:xfrm>
          <a:prstGeom prst="line">
            <a:avLst/>
          </a:prstGeom>
          <a:noFill/>
          <a:ln w="22225">
            <a:solidFill>
              <a:schemeClr val="bg2"/>
            </a:solidFill>
            <a:prstDash val="solid"/>
          </a:ln>
        </p:spPr>
      </p:sp>
      <p:sp>
        <p:nvSpPr>
          <p:cNvPr id="7" name="Kante 4-9"/>
          <p:cNvSpPr/>
          <p:nvPr/>
        </p:nvSpPr>
        <p:spPr>
          <a:xfrm>
            <a:off x="3871535" y="2651760"/>
            <a:ext cx="667685" cy="914400"/>
          </a:xfrm>
          <a:prstGeom prst="line">
            <a:avLst/>
          </a:prstGeom>
          <a:noFill/>
          <a:ln w="22225">
            <a:solidFill>
              <a:schemeClr val="bg2"/>
            </a:solidFill>
            <a:prstDash val="solid"/>
          </a:ln>
        </p:spPr>
      </p:sp>
      <p:sp>
        <p:nvSpPr>
          <p:cNvPr id="8" name="Kante 5-4"/>
          <p:cNvSpPr/>
          <p:nvPr/>
        </p:nvSpPr>
        <p:spPr>
          <a:xfrm>
            <a:off x="2823426" y="1737360"/>
            <a:ext cx="1048109" cy="914400"/>
          </a:xfrm>
          <a:prstGeom prst="line">
            <a:avLst/>
          </a:prstGeom>
          <a:noFill/>
          <a:ln w="22225">
            <a:solidFill>
              <a:schemeClr val="bg2"/>
            </a:solidFill>
            <a:prstDash val="solid"/>
          </a:ln>
        </p:spPr>
      </p:sp>
      <p:sp>
        <p:nvSpPr>
          <p:cNvPr id="9" name="Knoten 2"/>
          <p:cNvSpPr txBox="1"/>
          <p:nvPr/>
        </p:nvSpPr>
        <p:spPr>
          <a:xfrm>
            <a:off x="962708" y="32918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2</a:t>
            </a:r>
            <a:endParaRPr lang="en-US" sz="1900" dirty="0"/>
          </a:p>
        </p:txBody>
      </p:sp>
      <p:sp>
        <p:nvSpPr>
          <p:cNvPr id="10" name="Knoten 7"/>
          <p:cNvSpPr txBox="1"/>
          <p:nvPr/>
        </p:nvSpPr>
        <p:spPr>
          <a:xfrm>
            <a:off x="2039285" y="32918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7</a:t>
            </a:r>
            <a:endParaRPr lang="en-US" sz="1900" dirty="0"/>
          </a:p>
        </p:txBody>
      </p:sp>
      <p:sp>
        <p:nvSpPr>
          <p:cNvPr id="11" name="Knoten 9"/>
          <p:cNvSpPr txBox="1"/>
          <p:nvPr/>
        </p:nvSpPr>
        <p:spPr>
          <a:xfrm>
            <a:off x="1500996" y="23774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9</a:t>
            </a:r>
            <a:endParaRPr lang="en-US" sz="1900" dirty="0"/>
          </a:p>
        </p:txBody>
      </p:sp>
      <p:sp>
        <p:nvSpPr>
          <p:cNvPr id="12" name="Knoten 1"/>
          <p:cNvSpPr txBox="1"/>
          <p:nvPr/>
        </p:nvSpPr>
        <p:spPr>
          <a:xfrm>
            <a:off x="3819777" y="42062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1</a:t>
            </a:r>
            <a:endParaRPr lang="en-US" sz="1900" dirty="0"/>
          </a:p>
        </p:txBody>
      </p:sp>
      <p:sp>
        <p:nvSpPr>
          <p:cNvPr id="13" name="Knoten 9"/>
          <p:cNvSpPr txBox="1"/>
          <p:nvPr/>
        </p:nvSpPr>
        <p:spPr>
          <a:xfrm>
            <a:off x="4264900" y="32918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9</a:t>
            </a:r>
            <a:endParaRPr lang="en-US" sz="1900" dirty="0"/>
          </a:p>
        </p:txBody>
      </p:sp>
      <p:sp>
        <p:nvSpPr>
          <p:cNvPr id="14" name="Knoten 4"/>
          <p:cNvSpPr txBox="1"/>
          <p:nvPr/>
        </p:nvSpPr>
        <p:spPr>
          <a:xfrm>
            <a:off x="3597215" y="23774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4</a:t>
            </a:r>
            <a:endParaRPr lang="en-US" sz="1900" dirty="0"/>
          </a:p>
        </p:txBody>
      </p:sp>
      <p:sp>
        <p:nvSpPr>
          <p:cNvPr id="15" name="Knoten 5"/>
          <p:cNvSpPr txBox="1"/>
          <p:nvPr/>
        </p:nvSpPr>
        <p:spPr>
          <a:xfrm>
            <a:off x="2549106" y="1463040"/>
            <a:ext cx="548640" cy="548640"/>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900" b="1" dirty="0">
                <a:solidFill>
                  <a:schemeClr val="accent1"/>
                </a:solidFill>
              </a:rPr>
              <a:t>5</a:t>
            </a:r>
            <a:endParaRPr lang="en-US" sz="1900" dirty="0"/>
          </a:p>
        </p:txBody>
      </p:sp>
      <p:sp>
        <p:nvSpPr>
          <p:cNvPr id="16" name="Exit-Ticket"/>
          <p:cNvSpPr/>
          <p:nvPr/>
        </p:nvSpPr>
        <p:spPr>
          <a:xfrm>
            <a:off x="5943600" y="1325880"/>
            <a:ext cx="566928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7" name="Chip"/>
          <p:cNvSpPr txBox="1"/>
          <p:nvPr/>
        </p:nvSpPr>
        <p:spPr>
          <a:xfrm>
            <a:off x="6172200" y="1508760"/>
            <a:ext cx="18288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PAPIER · 8 min</a:t>
            </a:r>
            <a:endParaRPr lang="en-US" sz="1300" dirty="0"/>
          </a:p>
        </p:txBody>
      </p:sp>
      <p:sp>
        <p:nvSpPr>
          <p:cNvPr id="18" name="Text 16"/>
          <p:cNvSpPr txBox="1"/>
          <p:nvPr/>
        </p:nvSpPr>
        <p:spPr>
          <a:xfrm>
            <a:off x="6172200" y="2011680"/>
            <a:ext cx="5257800" cy="3017520"/>
          </a:xfrm>
          <a:prstGeom prst="rect">
            <a:avLst/>
          </a:prstGeom>
          <a:noFill/>
          <a:ln/>
        </p:spPr>
        <p:txBody>
          <a:bodyPr wrap="square" lIns="0" tIns="0" rIns="0" bIns="0" rtlCol="0" anchor="t"/>
          <a:lstStyle/>
          <a:p>
            <a:pPr indent="0" marL="0">
              <a:spcAft>
                <a:spcPts val="1000"/>
              </a:spcAft>
              <a:buNone/>
            </a:pPr>
            <a:r>
              <a:rPr lang="en-US" sz="1600" b="1" dirty="0">
                <a:solidFill>
                  <a:schemeClr val="accent2"/>
                </a:solidFill>
              </a:rPr>
              <a:t>1  </a:t>
            </a:r>
            <a:pPr indent="0" marL="0">
              <a:spcAft>
                <a:spcPts val="1000"/>
              </a:spcAft>
              <a:buNone/>
            </a:pPr>
            <a:r>
              <a:rPr lang="en-US" sz="1600" dirty="0">
                <a:solidFill>
                  <a:schemeClr val="tx1"/>
                </a:solidFill>
              </a:rPr>
              <a:t>Gib an: </a:t>
            </a:r>
            <a:pPr indent="0" marL="0">
              <a:spcAft>
                <a:spcPts val="1000"/>
              </a:spcAft>
              <a:buNone/>
            </a:pPr>
            <a:r>
              <a:rPr lang="en-US" sz="1500" dirty="0">
                <a:solidFill>
                  <a:schemeClr val="tx1"/>
                </a:solidFill>
                <a:latin typeface="Consolas" pitchFamily="34" charset="0"/>
                <a:ea typeface="Consolas" pitchFamily="34" charset="-122"/>
                <a:cs typeface="Consolas" pitchFamily="34" charset="-120"/>
              </a:rPr>
              <a:t>anzahlAufEbene(b, 2)</a:t>
            </a:r>
            <a:pPr indent="0" marL="0">
              <a:spcAft>
                <a:spcPts val="1000"/>
              </a:spcAft>
              <a:buNone/>
            </a:pPr>
            <a:r>
              <a:rPr lang="en-US" sz="1600" dirty="0">
                <a:solidFill>
                  <a:schemeClr val="tx1"/>
                </a:solidFill>
              </a:rPr>
              <a:t>, </a:t>
            </a:r>
            <a:pPr indent="0" marL="0">
              <a:spcAft>
                <a:spcPts val="1000"/>
              </a:spcAft>
              <a:buNone/>
            </a:pPr>
            <a:r>
              <a:rPr lang="en-US" sz="1500" dirty="0">
                <a:solidFill>
                  <a:schemeClr val="tx1"/>
                </a:solidFill>
                <a:latin typeface="Consolas" pitchFamily="34" charset="0"/>
                <a:ea typeface="Consolas" pitchFamily="34" charset="-122"/>
                <a:cs typeface="Consolas" pitchFamily="34" charset="-120"/>
              </a:rPr>
              <a:t>pfadZu(b, 7)</a:t>
            </a:r>
            <a:pPr indent="0" marL="0">
              <a:spcAft>
                <a:spcPts val="1000"/>
              </a:spcAft>
              <a:buNone/>
            </a:pPr>
            <a:r>
              <a:rPr lang="en-US" sz="1600" dirty="0">
                <a:solidFill>
                  <a:schemeClr val="tx1"/>
                </a:solidFill>
              </a:rPr>
              <a:t>, </a:t>
            </a:r>
            <a:pPr indent="0" marL="0">
              <a:spcAft>
                <a:spcPts val="1000"/>
              </a:spcAft>
              <a:buNone/>
            </a:pPr>
            <a:r>
              <a:rPr lang="en-US" sz="1500" dirty="0">
                <a:solidFill>
                  <a:schemeClr val="tx1"/>
                </a:solidFill>
                <a:latin typeface="Consolas" pitchFamily="34" charset="0"/>
                <a:ea typeface="Consolas" pitchFamily="34" charset="-122"/>
                <a:cs typeface="Consolas" pitchFamily="34" charset="-120"/>
              </a:rPr>
              <a:t>pfadZu(b, 1)</a:t>
            </a:r>
            <a:endParaRPr lang="en-US" sz="1600" dirty="0"/>
          </a:p>
          <a:p>
            <a:pPr indent="0" marL="0">
              <a:spcAft>
                <a:spcPts val="1000"/>
              </a:spcAft>
              <a:buNone/>
            </a:pPr>
            <a:r>
              <a:rPr lang="en-US" sz="1600" b="1" dirty="0">
                <a:solidFill>
                  <a:schemeClr val="accent2"/>
                </a:solidFill>
              </a:rPr>
              <a:t>2  </a:t>
            </a:r>
            <a:pPr indent="0" marL="0">
              <a:spcAft>
                <a:spcPts val="1000"/>
              </a:spcAft>
              <a:buNone/>
            </a:pPr>
            <a:r>
              <a:rPr lang="en-US" sz="1600" dirty="0">
                <a:solidFill>
                  <a:schemeClr val="tx1"/>
                </a:solidFill>
              </a:rPr>
              <a:t>Implementiere </a:t>
            </a:r>
            <a:pPr indent="0" marL="0">
              <a:spcAft>
                <a:spcPts val="1000"/>
              </a:spcAft>
              <a:buNone/>
            </a:pPr>
            <a:r>
              <a:rPr lang="en-US" sz="1300" dirty="0">
                <a:solidFill>
                  <a:schemeClr val="tx1"/>
                </a:solidFill>
                <a:latin typeface="Consolas" pitchFamily="34" charset="0"/>
                <a:ea typeface="Consolas" pitchFamily="34" charset="-122"/>
                <a:cs typeface="Consolas" pitchFamily="34" charset="-120"/>
              </a:rPr>
              <a:t>maximum(b: Binärbaum vom Inhaltstyp Ganzzahl): Ganzzahl</a:t>
            </a:r>
            <a:pPr indent="0" marL="0">
              <a:spcAft>
                <a:spcPts val="1000"/>
              </a:spcAft>
              <a:buNone/>
            </a:pPr>
            <a:r>
              <a:rPr lang="en-US" sz="1600" dirty="0">
                <a:solidFill>
                  <a:schemeClr val="tx1"/>
                </a:solidFill>
              </a:rPr>
              <a:t> (leerer Baum → −1) – handschriftlich.</a:t>
            </a:r>
            <a:endParaRPr lang="en-US" sz="1600" dirty="0"/>
          </a:p>
          <a:p>
            <a:pPr indent="0" marL="0">
              <a:spcAft>
                <a:spcPts val="1000"/>
              </a:spcAft>
              <a:buNone/>
            </a:pPr>
            <a:r>
              <a:rPr lang="en-US" sz="1600" b="1" dirty="0">
                <a:solidFill>
                  <a:schemeClr val="accent2"/>
                </a:solidFill>
              </a:rPr>
              <a:t>3  </a:t>
            </a:r>
            <a:pPr indent="0" marL="0">
              <a:spcAft>
                <a:spcPts val="1000"/>
              </a:spcAft>
              <a:buNone/>
            </a:pPr>
            <a:r>
              <a:rPr lang="en-US" sz="1600" dirty="0">
                <a:solidFill>
                  <a:schemeClr val="tx1"/>
                </a:solidFill>
              </a:rPr>
              <a:t>Wie viele Aufrufe macht deine Methode für den zahlenbaum?</a:t>
            </a:r>
            <a:endParaRPr lang="en-US" sz="1600" dirty="0"/>
          </a:p>
        </p:txBody>
      </p:sp>
      <p:sp>
        <p:nvSpPr>
          <p:cNvPr id="19" name="Text 17"/>
          <p:cNvSpPr txBox="1"/>
          <p:nvPr/>
        </p:nvSpPr>
        <p:spPr>
          <a:xfrm>
            <a:off x="6172200" y="4846320"/>
            <a:ext cx="5257800" cy="1143000"/>
          </a:xfrm>
          <a:prstGeom prst="rect">
            <a:avLst/>
          </a:prstGeom>
          <a:noFill/>
          <a:ln/>
        </p:spPr>
        <p:txBody>
          <a:bodyPr wrap="square" lIns="0" tIns="0" rIns="0" bIns="0" rtlCol="0" anchor="ctr"/>
          <a:lstStyle/>
          <a:p>
            <a:pPr indent="0" marL="0">
              <a:buNone/>
            </a:pPr>
            <a:r>
              <a:rPr lang="en-US" sz="1500" b="1" dirty="0">
                <a:solidFill>
                  <a:schemeClr val="accent1"/>
                </a:solidFill>
              </a:rPr>
              <a:t>Papier-Compiler: </a:t>
            </a:r>
            <a:pPr indent="0" marL="0">
              <a:buNone/>
            </a:pPr>
            <a:r>
              <a:rPr lang="en-US" sz="1500" dirty="0">
                <a:solidFill>
                  <a:schemeClr val="tx1"/>
                </a:solidFill>
              </a:rPr>
              <a:t>Deine Lösung zu 2 abtippen – läuft sie sofort?</a:t>
            </a:r>
            <a:endParaRPr lang="en-US" sz="1500" dirty="0"/>
          </a:p>
          <a:p>
            <a:pPr indent="0" marL="0">
              <a:buNone/>
            </a:pPr>
            <a:r>
              <a:rPr lang="en-US" sz="1500" b="1" dirty="0">
                <a:solidFill>
                  <a:schemeClr val="accent2"/>
                </a:solidFill>
              </a:rPr>
              <a:t>Sicherung: </a:t>
            </a:r>
            <a:pPr indent="0" marL="0">
              <a:buNone/>
            </a:pPr>
            <a:r>
              <a:rPr lang="en-US" sz="1500" dirty="0">
                <a:solidFill>
                  <a:schemeClr val="tx1"/>
                </a:solidFill>
              </a:rPr>
              <a:t>Warm-up W5-07 · W5-08 · W5-06</a:t>
            </a:r>
            <a:endParaRPr lang="en-US" sz="1500" dirty="0"/>
          </a:p>
        </p:txBody>
      </p:sp>
      <p:sp>
        <p:nvSpPr>
          <p:cNvPr id="20" name="Text 18"/>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32 · Exit-Ticket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Kür: Der Akinator rät dein Monster</a:t>
            </a:r>
            <a:endParaRPr lang="en-US" sz="3600" dirty="0"/>
          </a:p>
        </p:txBody>
      </p:sp>
      <p:sp>
        <p:nvSpPr>
          <p:cNvPr id="3" name="Papier-Kata"/>
          <p:cNvSpPr/>
          <p:nvPr/>
        </p:nvSpPr>
        <p:spPr>
          <a:xfrm>
            <a:off x="548640" y="1325880"/>
            <a:ext cx="594360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Chip"/>
          <p:cNvSpPr txBox="1"/>
          <p:nvPr/>
        </p:nvSpPr>
        <p:spPr>
          <a:xfrm>
            <a:off x="777240" y="1508760"/>
            <a:ext cx="3017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PAPIER · ohne Gerät · 10 min</a:t>
            </a:r>
            <a:endParaRPr lang="en-US" sz="1400" dirty="0"/>
          </a:p>
        </p:txBody>
      </p:sp>
      <p:sp>
        <p:nvSpPr>
          <p:cNvPr id="5" name="Text 3"/>
          <p:cNvSpPr txBox="1"/>
          <p:nvPr/>
        </p:nvSpPr>
        <p:spPr>
          <a:xfrm>
            <a:off x="777240" y="2011680"/>
            <a:ext cx="5486400" cy="384048"/>
          </a:xfrm>
          <a:prstGeom prst="rect">
            <a:avLst/>
          </a:prstGeom>
          <a:noFill/>
          <a:ln/>
        </p:spPr>
        <p:txBody>
          <a:bodyPr wrap="square" lIns="0" tIns="0" rIns="0" bIns="0" rtlCol="0" anchor="t"/>
          <a:lstStyle/>
          <a:p>
            <a:pPr indent="0" marL="0">
              <a:buNone/>
            </a:pPr>
            <a:r>
              <a:rPr lang="en-US" sz="2000" b="1" dirty="0">
                <a:solidFill>
                  <a:schemeClr val="accent1"/>
                </a:solidFill>
              </a:rPr>
              <a:t>Papier-Warm-up W5-06: Der Ast bricht</a:t>
            </a:r>
            <a:endParaRPr lang="en-US" sz="2000" dirty="0"/>
          </a:p>
        </p:txBody>
      </p:sp>
      <p:sp>
        <p:nvSpPr>
          <p:cNvPr id="6" name="Code"/>
          <p:cNvSpPr txBox="1"/>
          <p:nvPr/>
        </p:nvSpPr>
        <p:spPr>
          <a:xfrm>
            <a:off x="777240" y="2468880"/>
            <a:ext cx="5486400" cy="1635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1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2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isLeaf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3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4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5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6  }</a:t>
            </a:r>
            <a:endParaRPr lang="en-US" sz="1200" dirty="0"/>
          </a:p>
        </p:txBody>
      </p:sp>
      <p:sp>
        <p:nvSpPr>
          <p:cNvPr id="7" name="Text 5"/>
          <p:cNvSpPr txBox="1"/>
          <p:nvPr/>
        </p:nvSpPr>
        <p:spPr>
          <a:xfrm>
            <a:off x="777240" y="4206240"/>
            <a:ext cx="5486400" cy="1828800"/>
          </a:xfrm>
          <a:prstGeom prst="rect">
            <a:avLst/>
          </a:prstGeom>
          <a:noFill/>
          <a:ln/>
        </p:spPr>
        <p:txBody>
          <a:bodyPr wrap="square" lIns="0" tIns="0" rIns="0" bIns="0" rtlCol="0" anchor="t"/>
          <a:lstStyle/>
          <a:p>
            <a:pPr indent="0" marL="0">
              <a:spcAft>
                <a:spcPts val="600"/>
              </a:spcAft>
              <a:buNone/>
            </a:pPr>
            <a:r>
              <a:rPr lang="en-US" sz="1500" b="1" dirty="0">
                <a:solidFill>
                  <a:schemeClr val="accent2"/>
                </a:solidFill>
              </a:rPr>
              <a:t>a) </a:t>
            </a:r>
            <a:pPr indent="0" marL="0">
              <a:spcAft>
                <a:spcPts val="600"/>
              </a:spcAft>
              <a:buNone/>
            </a:pPr>
            <a:r>
              <a:rPr lang="en-US" sz="1500" dirty="0">
                <a:solidFill>
                  <a:schemeClr val="tx1"/>
                </a:solidFill>
              </a:rPr>
              <a:t>Welche Zeilen akzeptiert der Compiler nicht? Korrigiere sie.</a:t>
            </a:r>
            <a:endParaRPr lang="en-US" sz="1500" dirty="0"/>
          </a:p>
          <a:p>
            <a:pPr indent="0" marL="0">
              <a:spcAft>
                <a:spcPts val="600"/>
              </a:spcAft>
              <a:buNone/>
            </a:pPr>
            <a:r>
              <a:rPr lang="en-US" sz="1500" b="1" dirty="0">
                <a:solidFill>
                  <a:schemeClr val="accent2"/>
                </a:solidFill>
              </a:rPr>
              <a:t>b) </a:t>
            </a:r>
            <a:pPr indent="0" marL="0">
              <a:spcAft>
                <a:spcPts val="600"/>
              </a:spcAft>
              <a:buNone/>
            </a:pPr>
            <a:r>
              <a:rPr lang="en-US" sz="1500" dirty="0">
                <a:solidFill>
                  <a:schemeClr val="tx1"/>
                </a:solidFill>
              </a:rPr>
              <a:t>Aufruf mit dem zahlenbaum: Gib die Aufrufe bis zum Laufzeitfehler an. Ursache?</a:t>
            </a:r>
            <a:endParaRPr lang="en-US" sz="1500" dirty="0"/>
          </a:p>
          <a:p>
            <a:pPr indent="0" marL="0">
              <a:spcAft>
                <a:spcPts val="600"/>
              </a:spcAft>
              <a:buNone/>
            </a:pPr>
            <a:r>
              <a:rPr lang="en-US" sz="1500" b="1" dirty="0">
                <a:solidFill>
                  <a:schemeClr val="accent2"/>
                </a:solidFill>
              </a:rPr>
              <a:t>c) </a:t>
            </a:r>
            <a:pPr indent="0" marL="0">
              <a:spcAft>
                <a:spcPts val="600"/>
              </a:spcAft>
              <a:buNone/>
            </a:pPr>
            <a:r>
              <a:rPr lang="en-US" sz="1500" dirty="0">
                <a:solidFill>
                  <a:schemeClr val="tx1"/>
                </a:solidFill>
              </a:rPr>
              <a:t>Korrigiere die Methode für jeden Baum (auch den leeren). summe(zahlenbaum) = ?</a:t>
            </a:r>
            <a:endParaRPr lang="en-US" sz="1500" dirty="0"/>
          </a:p>
        </p:txBody>
      </p:sp>
      <p:sp>
        <p:nvSpPr>
          <p:cNvPr id="8" name="Kante Speit es Feuer?-Drache"/>
          <p:cNvSpPr/>
          <p:nvPr/>
        </p:nvSpPr>
        <p:spPr>
          <a:xfrm flipH="1">
            <a:off x="7263765" y="2468880"/>
            <a:ext cx="634365" cy="859536"/>
          </a:xfrm>
          <a:prstGeom prst="line">
            <a:avLst/>
          </a:prstGeom>
          <a:noFill/>
          <a:ln w="22225">
            <a:solidFill>
              <a:schemeClr val="accent1"/>
            </a:solidFill>
            <a:prstDash val="solid"/>
          </a:ln>
        </p:spPr>
      </p:sp>
      <p:sp>
        <p:nvSpPr>
          <p:cNvPr id="9" name="Kante Speit es Feuer?-Greif"/>
          <p:cNvSpPr/>
          <p:nvPr/>
        </p:nvSpPr>
        <p:spPr>
          <a:xfrm>
            <a:off x="7898130" y="2468880"/>
            <a:ext cx="634365" cy="859536"/>
          </a:xfrm>
          <a:prstGeom prst="line">
            <a:avLst/>
          </a:prstGeom>
          <a:noFill/>
          <a:ln w="22225">
            <a:solidFill>
              <a:schemeClr val="accent1"/>
            </a:solidFill>
            <a:prstDash val="solid"/>
          </a:ln>
        </p:spPr>
      </p:sp>
      <p:sp>
        <p:nvSpPr>
          <p:cNvPr id="10" name="Kante Kann es fliegen?-Speit es Feuer?"/>
          <p:cNvSpPr/>
          <p:nvPr/>
        </p:nvSpPr>
        <p:spPr>
          <a:xfrm flipH="1">
            <a:off x="7898130" y="1609344"/>
            <a:ext cx="1268730" cy="859536"/>
          </a:xfrm>
          <a:prstGeom prst="line">
            <a:avLst/>
          </a:prstGeom>
          <a:noFill/>
          <a:ln w="22225">
            <a:solidFill>
              <a:schemeClr val="accent1"/>
            </a:solidFill>
            <a:prstDash val="solid"/>
          </a:ln>
        </p:spPr>
      </p:sp>
      <p:sp>
        <p:nvSpPr>
          <p:cNvPr id="11" name="Kante Lebt es im Wasser?-Kraken"/>
          <p:cNvSpPr/>
          <p:nvPr/>
        </p:nvSpPr>
        <p:spPr>
          <a:xfrm flipH="1">
            <a:off x="9801225" y="2468880"/>
            <a:ext cx="634365" cy="859536"/>
          </a:xfrm>
          <a:prstGeom prst="line">
            <a:avLst/>
          </a:prstGeom>
          <a:noFill/>
          <a:ln w="22225">
            <a:solidFill>
              <a:schemeClr val="accent1"/>
            </a:solidFill>
            <a:prstDash val="solid"/>
          </a:ln>
        </p:spPr>
      </p:sp>
      <p:sp>
        <p:nvSpPr>
          <p:cNvPr id="12" name="Kante Lebt es im Wasser?-Troll"/>
          <p:cNvSpPr/>
          <p:nvPr/>
        </p:nvSpPr>
        <p:spPr>
          <a:xfrm>
            <a:off x="10435590" y="2468880"/>
            <a:ext cx="634365" cy="859536"/>
          </a:xfrm>
          <a:prstGeom prst="line">
            <a:avLst/>
          </a:prstGeom>
          <a:noFill/>
          <a:ln w="22225">
            <a:solidFill>
              <a:schemeClr val="accent1"/>
            </a:solidFill>
            <a:prstDash val="solid"/>
          </a:ln>
        </p:spPr>
      </p:sp>
      <p:sp>
        <p:nvSpPr>
          <p:cNvPr id="13" name="Kante Kann es fliegen?-Lebt es im Wasser?"/>
          <p:cNvSpPr/>
          <p:nvPr/>
        </p:nvSpPr>
        <p:spPr>
          <a:xfrm>
            <a:off x="9166860" y="1609344"/>
            <a:ext cx="1268730" cy="859536"/>
          </a:xfrm>
          <a:prstGeom prst="line">
            <a:avLst/>
          </a:prstGeom>
          <a:noFill/>
          <a:ln w="22225">
            <a:solidFill>
              <a:schemeClr val="accent1"/>
            </a:solidFill>
            <a:prstDash val="solid"/>
          </a:ln>
        </p:spPr>
      </p:sp>
      <p:sp>
        <p:nvSpPr>
          <p:cNvPr id="14" name="Text 12"/>
          <p:cNvSpPr txBox="1"/>
          <p:nvPr/>
        </p:nvSpPr>
        <p:spPr>
          <a:xfrm>
            <a:off x="7196899" y="2715768"/>
            <a:ext cx="310896" cy="274320"/>
          </a:xfrm>
          <a:prstGeom prst="rect">
            <a:avLst/>
          </a:prstGeom>
          <a:noFill/>
          <a:ln/>
        </p:spPr>
        <p:txBody>
          <a:bodyPr wrap="square" lIns="0" tIns="0" rIns="0" bIns="0" rtlCol="0" anchor="ctr"/>
          <a:lstStyle/>
          <a:p>
            <a:pPr algn="r" indent="0" marL="0">
              <a:buNone/>
            </a:pPr>
            <a:r>
              <a:rPr lang="en-US" sz="1300" b="1" dirty="0">
                <a:solidFill>
                  <a:schemeClr val="accent3"/>
                </a:solidFill>
              </a:rPr>
              <a:t>j</a:t>
            </a:r>
            <a:endParaRPr lang="en-US" sz="1300" dirty="0"/>
          </a:p>
        </p:txBody>
      </p:sp>
      <p:sp>
        <p:nvSpPr>
          <p:cNvPr id="15" name="Text 13"/>
          <p:cNvSpPr txBox="1"/>
          <p:nvPr/>
        </p:nvSpPr>
        <p:spPr>
          <a:xfrm>
            <a:off x="8288465" y="2715768"/>
            <a:ext cx="310896" cy="274320"/>
          </a:xfrm>
          <a:prstGeom prst="rect">
            <a:avLst/>
          </a:prstGeom>
          <a:noFill/>
          <a:ln/>
        </p:spPr>
        <p:txBody>
          <a:bodyPr wrap="square" lIns="0" tIns="0" rIns="0" bIns="0" rtlCol="0" anchor="ctr"/>
          <a:lstStyle/>
          <a:p>
            <a:pPr algn="l" indent="0" marL="0">
              <a:buNone/>
            </a:pPr>
            <a:r>
              <a:rPr lang="en-US" sz="1300" b="1" dirty="0">
                <a:solidFill>
                  <a:schemeClr val="accent4"/>
                </a:solidFill>
              </a:rPr>
              <a:t>n</a:t>
            </a:r>
            <a:endParaRPr lang="en-US" sz="1300" dirty="0"/>
          </a:p>
        </p:txBody>
      </p:sp>
      <p:sp>
        <p:nvSpPr>
          <p:cNvPr id="16" name="Text 14"/>
          <p:cNvSpPr txBox="1"/>
          <p:nvPr/>
        </p:nvSpPr>
        <p:spPr>
          <a:xfrm>
            <a:off x="8148447" y="1856232"/>
            <a:ext cx="310896" cy="274320"/>
          </a:xfrm>
          <a:prstGeom prst="rect">
            <a:avLst/>
          </a:prstGeom>
          <a:noFill/>
          <a:ln/>
        </p:spPr>
        <p:txBody>
          <a:bodyPr wrap="square" lIns="0" tIns="0" rIns="0" bIns="0" rtlCol="0" anchor="ctr"/>
          <a:lstStyle/>
          <a:p>
            <a:pPr algn="r" indent="0" marL="0">
              <a:buNone/>
            </a:pPr>
            <a:r>
              <a:rPr lang="en-US" sz="1300" b="1" dirty="0">
                <a:solidFill>
                  <a:schemeClr val="accent3"/>
                </a:solidFill>
              </a:rPr>
              <a:t>j</a:t>
            </a:r>
            <a:endParaRPr lang="en-US" sz="1300" dirty="0"/>
          </a:p>
        </p:txBody>
      </p:sp>
      <p:sp>
        <p:nvSpPr>
          <p:cNvPr id="17" name="Text 15"/>
          <p:cNvSpPr txBox="1"/>
          <p:nvPr/>
        </p:nvSpPr>
        <p:spPr>
          <a:xfrm>
            <a:off x="9734360" y="2715768"/>
            <a:ext cx="310896" cy="274320"/>
          </a:xfrm>
          <a:prstGeom prst="rect">
            <a:avLst/>
          </a:prstGeom>
          <a:noFill/>
          <a:ln/>
        </p:spPr>
        <p:txBody>
          <a:bodyPr wrap="square" lIns="0" tIns="0" rIns="0" bIns="0" rtlCol="0" anchor="ctr"/>
          <a:lstStyle/>
          <a:p>
            <a:pPr algn="r" indent="0" marL="0">
              <a:buNone/>
            </a:pPr>
            <a:r>
              <a:rPr lang="en-US" sz="1300" b="1" dirty="0">
                <a:solidFill>
                  <a:schemeClr val="accent3"/>
                </a:solidFill>
              </a:rPr>
              <a:t>j</a:t>
            </a:r>
            <a:endParaRPr lang="en-US" sz="1300" dirty="0"/>
          </a:p>
        </p:txBody>
      </p:sp>
      <p:sp>
        <p:nvSpPr>
          <p:cNvPr id="18" name="Text 16"/>
          <p:cNvSpPr txBox="1"/>
          <p:nvPr/>
        </p:nvSpPr>
        <p:spPr>
          <a:xfrm>
            <a:off x="10825924" y="2715768"/>
            <a:ext cx="310896" cy="274320"/>
          </a:xfrm>
          <a:prstGeom prst="rect">
            <a:avLst/>
          </a:prstGeom>
          <a:noFill/>
          <a:ln/>
        </p:spPr>
        <p:txBody>
          <a:bodyPr wrap="square" lIns="0" tIns="0" rIns="0" bIns="0" rtlCol="0" anchor="ctr"/>
          <a:lstStyle/>
          <a:p>
            <a:pPr algn="l" indent="0" marL="0">
              <a:buNone/>
            </a:pPr>
            <a:r>
              <a:rPr lang="en-US" sz="1300" b="1" dirty="0">
                <a:solidFill>
                  <a:schemeClr val="accent4"/>
                </a:solidFill>
              </a:rPr>
              <a:t>n</a:t>
            </a:r>
            <a:endParaRPr lang="en-US" sz="1300" dirty="0"/>
          </a:p>
        </p:txBody>
      </p:sp>
      <p:sp>
        <p:nvSpPr>
          <p:cNvPr id="19" name="Text 17"/>
          <p:cNvSpPr txBox="1"/>
          <p:nvPr/>
        </p:nvSpPr>
        <p:spPr>
          <a:xfrm>
            <a:off x="9874377" y="1856232"/>
            <a:ext cx="310896" cy="274320"/>
          </a:xfrm>
          <a:prstGeom prst="rect">
            <a:avLst/>
          </a:prstGeom>
          <a:noFill/>
          <a:ln/>
        </p:spPr>
        <p:txBody>
          <a:bodyPr wrap="square" lIns="0" tIns="0" rIns="0" bIns="0" rtlCol="0" anchor="ctr"/>
          <a:lstStyle/>
          <a:p>
            <a:pPr algn="l" indent="0" marL="0">
              <a:buNone/>
            </a:pPr>
            <a:r>
              <a:rPr lang="en-US" sz="1300" b="1" dirty="0">
                <a:solidFill>
                  <a:schemeClr val="accent4"/>
                </a:solidFill>
              </a:rPr>
              <a:t>n</a:t>
            </a:r>
            <a:endParaRPr lang="en-US" sz="1300" dirty="0"/>
          </a:p>
        </p:txBody>
      </p:sp>
      <p:sp>
        <p:nvSpPr>
          <p:cNvPr id="20" name="Knoten Drache"/>
          <p:cNvSpPr txBox="1"/>
          <p:nvPr/>
        </p:nvSpPr>
        <p:spPr>
          <a:xfrm>
            <a:off x="6829425" y="30906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Drache</a:t>
            </a:r>
            <a:endParaRPr lang="en-US" sz="1300" dirty="0"/>
          </a:p>
        </p:txBody>
      </p:sp>
      <p:sp>
        <p:nvSpPr>
          <p:cNvPr id="21" name="Knoten Greif"/>
          <p:cNvSpPr txBox="1"/>
          <p:nvPr/>
        </p:nvSpPr>
        <p:spPr>
          <a:xfrm>
            <a:off x="8098155" y="30906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Greif</a:t>
            </a:r>
            <a:endParaRPr lang="en-US" sz="1300" dirty="0"/>
          </a:p>
        </p:txBody>
      </p:sp>
      <p:sp>
        <p:nvSpPr>
          <p:cNvPr id="22" name="Knoten Speit es Feuer?"/>
          <p:cNvSpPr txBox="1"/>
          <p:nvPr/>
        </p:nvSpPr>
        <p:spPr>
          <a:xfrm>
            <a:off x="7141845" y="2231136"/>
            <a:ext cx="151257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Speit es Feuer?</a:t>
            </a:r>
            <a:endParaRPr lang="en-US" sz="1300" dirty="0"/>
          </a:p>
        </p:txBody>
      </p:sp>
      <p:sp>
        <p:nvSpPr>
          <p:cNvPr id="23" name="Knoten Kraken"/>
          <p:cNvSpPr txBox="1"/>
          <p:nvPr/>
        </p:nvSpPr>
        <p:spPr>
          <a:xfrm>
            <a:off x="9366885" y="30906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Kraken</a:t>
            </a:r>
            <a:endParaRPr lang="en-US" sz="1300" dirty="0"/>
          </a:p>
        </p:txBody>
      </p:sp>
      <p:sp>
        <p:nvSpPr>
          <p:cNvPr id="24" name="Knoten Troll"/>
          <p:cNvSpPr txBox="1"/>
          <p:nvPr/>
        </p:nvSpPr>
        <p:spPr>
          <a:xfrm>
            <a:off x="10635615" y="30906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Troll</a:t>
            </a:r>
            <a:endParaRPr lang="en-US" sz="1300" dirty="0"/>
          </a:p>
        </p:txBody>
      </p:sp>
      <p:sp>
        <p:nvSpPr>
          <p:cNvPr id="25" name="Knoten Lebt es im Wasser?"/>
          <p:cNvSpPr txBox="1"/>
          <p:nvPr/>
        </p:nvSpPr>
        <p:spPr>
          <a:xfrm>
            <a:off x="9555480" y="2231136"/>
            <a:ext cx="176022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Lebt es im Wasser?</a:t>
            </a:r>
            <a:endParaRPr lang="en-US" sz="1300" dirty="0"/>
          </a:p>
        </p:txBody>
      </p:sp>
      <p:sp>
        <p:nvSpPr>
          <p:cNvPr id="26" name="Knoten Kann es fliegen?"/>
          <p:cNvSpPr txBox="1"/>
          <p:nvPr/>
        </p:nvSpPr>
        <p:spPr>
          <a:xfrm>
            <a:off x="8369300" y="1371600"/>
            <a:ext cx="159512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Kann es fliegen?</a:t>
            </a:r>
            <a:endParaRPr lang="en-US" sz="1300" dirty="0"/>
          </a:p>
        </p:txBody>
      </p:sp>
      <p:sp>
        <p:nvSpPr>
          <p:cNvPr id="27" name="Text 25"/>
          <p:cNvSpPr txBox="1"/>
          <p:nvPr/>
        </p:nvSpPr>
        <p:spPr>
          <a:xfrm>
            <a:off x="6720840" y="3657600"/>
            <a:ext cx="4892040" cy="502920"/>
          </a:xfrm>
          <a:prstGeom prst="rect">
            <a:avLst/>
          </a:prstGeom>
          <a:noFill/>
          <a:ln/>
        </p:spPr>
        <p:txBody>
          <a:bodyPr wrap="square" lIns="0" tIns="0" rIns="0" bIns="0" rtlCol="0" anchor="t"/>
          <a:lstStyle/>
          <a:p>
            <a:pPr algn="ctr" indent="0" marL="0">
              <a:buNone/>
            </a:pPr>
            <a:r>
              <a:rPr lang="en-US" sz="1300" i="1" dirty="0">
                <a:solidFill>
                  <a:schemeClr val="accent6"/>
                </a:solidFill>
              </a:rPr>
              <a:t>monsterquiz() · ja → links, nein → rechts · Fragen innen, Monster in den Blättern</a:t>
            </a:r>
            <a:endParaRPr lang="en-US" sz="1300" dirty="0"/>
          </a:p>
        </p:txBody>
      </p:sp>
      <p:sp>
        <p:nvSpPr>
          <p:cNvPr id="28" name="Rate mit"/>
          <p:cNvSpPr/>
          <p:nvPr/>
        </p:nvSpPr>
        <p:spPr>
          <a:xfrm>
            <a:off x="6720840" y="4297680"/>
            <a:ext cx="4892040" cy="1828800"/>
          </a:xfrm>
          <a:prstGeom prst="roundRect">
            <a:avLst>
              <a:gd name="adj" fmla="val 6000"/>
            </a:avLst>
          </a:prstGeom>
          <a:solidFill>
            <a:schemeClr val="bg2"/>
          </a:solidFill>
          <a:ln/>
        </p:spPr>
      </p:sp>
      <p:sp>
        <p:nvSpPr>
          <p:cNvPr id="29" name="Text 27"/>
          <p:cNvSpPr txBox="1"/>
          <p:nvPr/>
        </p:nvSpPr>
        <p:spPr>
          <a:xfrm>
            <a:off x="6922008" y="4297680"/>
            <a:ext cx="4526280" cy="1828800"/>
          </a:xfrm>
          <a:prstGeom prst="rect">
            <a:avLst/>
          </a:prstGeom>
          <a:noFill/>
          <a:ln/>
        </p:spPr>
        <p:txBody>
          <a:bodyPr wrap="square" lIns="0" tIns="0" rIns="0" bIns="0" rtlCol="0" anchor="ctr"/>
          <a:lstStyle/>
          <a:p>
            <a:pPr indent="0" marL="0">
              <a:buNone/>
            </a:pPr>
            <a:r>
              <a:rPr lang="en-US" sz="1500" b="1" dirty="0">
                <a:solidFill>
                  <a:schemeClr val="accent1"/>
                </a:solidFill>
              </a:rPr>
              <a:t>Unplugged: Rate mit! </a:t>
            </a:r>
            <a:endParaRPr lang="en-US" sz="1500" dirty="0"/>
          </a:p>
          <a:p>
            <a:pPr indent="0" marL="0">
              <a:buNone/>
            </a:pPr>
            <a:r>
              <a:rPr lang="en-US" sz="1500" dirty="0">
                <a:solidFill>
                  <a:schemeClr val="tx1"/>
                </a:solidFill>
              </a:rPr>
              <a:t>Was liefert raten("jn")? raten("nn")? raten("j")? raten("nnj")? Denk dir ein Monster aus, das der Baum nicht kennt – mit welcher Frage unterscheidest du es?</a:t>
            </a:r>
            <a:endParaRPr lang="en-US" sz="1500" dirty="0"/>
          </a:p>
        </p:txBody>
      </p:sp>
      <p:sp>
        <p:nvSpPr>
          <p:cNvPr id="30" name="Text 28"/>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33 · Kür · Einstieg · Warm-up W5-06</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raten: Von der Wurzel bis zum Blatt – Antwort für Antwort</a:t>
            </a:r>
            <a:endParaRPr lang="en-US" sz="3600" dirty="0"/>
          </a:p>
        </p:txBody>
      </p:sp>
      <p:sp>
        <p:nvSpPr>
          <p:cNvPr id="3" name="Kante Speit es Feuer?-Drache"/>
          <p:cNvSpPr/>
          <p:nvPr/>
        </p:nvSpPr>
        <p:spPr>
          <a:xfrm flipH="1">
            <a:off x="1106787" y="2606040"/>
            <a:ext cx="652151" cy="950976"/>
          </a:xfrm>
          <a:prstGeom prst="line">
            <a:avLst/>
          </a:prstGeom>
          <a:noFill/>
          <a:ln w="22225">
            <a:solidFill>
              <a:schemeClr val="accent1"/>
            </a:solidFill>
            <a:prstDash val="solid"/>
          </a:ln>
        </p:spPr>
      </p:sp>
      <p:sp>
        <p:nvSpPr>
          <p:cNvPr id="4" name="Kante Speit es Feuer?-Greif"/>
          <p:cNvSpPr/>
          <p:nvPr/>
        </p:nvSpPr>
        <p:spPr>
          <a:xfrm>
            <a:off x="1758938" y="2606040"/>
            <a:ext cx="652151" cy="950976"/>
          </a:xfrm>
          <a:prstGeom prst="line">
            <a:avLst/>
          </a:prstGeom>
          <a:noFill/>
          <a:ln w="22225">
            <a:solidFill>
              <a:schemeClr val="accent1"/>
            </a:solidFill>
            <a:prstDash val="solid"/>
          </a:ln>
        </p:spPr>
      </p:sp>
      <p:sp>
        <p:nvSpPr>
          <p:cNvPr id="5" name="Kante Kann es fliegen?-Speit es Feuer?"/>
          <p:cNvSpPr/>
          <p:nvPr/>
        </p:nvSpPr>
        <p:spPr>
          <a:xfrm flipH="1">
            <a:off x="1758938" y="1655064"/>
            <a:ext cx="1304302" cy="950976"/>
          </a:xfrm>
          <a:prstGeom prst="line">
            <a:avLst/>
          </a:prstGeom>
          <a:noFill/>
          <a:ln w="22225">
            <a:solidFill>
              <a:schemeClr val="accent1"/>
            </a:solidFill>
            <a:prstDash val="solid"/>
          </a:ln>
        </p:spPr>
      </p:sp>
      <p:sp>
        <p:nvSpPr>
          <p:cNvPr id="6" name="Kante Lebt es im Wasser?-Kraken"/>
          <p:cNvSpPr/>
          <p:nvPr/>
        </p:nvSpPr>
        <p:spPr>
          <a:xfrm flipH="1">
            <a:off x="3715391" y="2606040"/>
            <a:ext cx="652151" cy="950976"/>
          </a:xfrm>
          <a:prstGeom prst="line">
            <a:avLst/>
          </a:prstGeom>
          <a:noFill/>
          <a:ln w="50800">
            <a:solidFill>
              <a:schemeClr val="accent2"/>
            </a:solidFill>
            <a:prstDash val="solid"/>
          </a:ln>
        </p:spPr>
      </p:sp>
      <p:sp>
        <p:nvSpPr>
          <p:cNvPr id="7" name="Kante Lebt es im Wasser?-Troll"/>
          <p:cNvSpPr/>
          <p:nvPr/>
        </p:nvSpPr>
        <p:spPr>
          <a:xfrm>
            <a:off x="4367542" y="2606040"/>
            <a:ext cx="652151" cy="950976"/>
          </a:xfrm>
          <a:prstGeom prst="line">
            <a:avLst/>
          </a:prstGeom>
          <a:noFill/>
          <a:ln w="22225">
            <a:solidFill>
              <a:schemeClr val="accent1"/>
            </a:solidFill>
            <a:prstDash val="solid"/>
          </a:ln>
        </p:spPr>
      </p:sp>
      <p:sp>
        <p:nvSpPr>
          <p:cNvPr id="8" name="Kante Kann es fliegen?-Lebt es im Wasser?"/>
          <p:cNvSpPr/>
          <p:nvPr/>
        </p:nvSpPr>
        <p:spPr>
          <a:xfrm>
            <a:off x="3063240" y="1655064"/>
            <a:ext cx="1304302" cy="950976"/>
          </a:xfrm>
          <a:prstGeom prst="line">
            <a:avLst/>
          </a:prstGeom>
          <a:noFill/>
          <a:ln w="50800">
            <a:solidFill>
              <a:schemeClr val="accent2"/>
            </a:solidFill>
            <a:prstDash val="solid"/>
          </a:ln>
        </p:spPr>
      </p:sp>
      <p:sp>
        <p:nvSpPr>
          <p:cNvPr id="9" name="Text 7"/>
          <p:cNvSpPr txBox="1"/>
          <p:nvPr/>
        </p:nvSpPr>
        <p:spPr>
          <a:xfrm>
            <a:off x="1048815" y="2898648"/>
            <a:ext cx="310896" cy="274320"/>
          </a:xfrm>
          <a:prstGeom prst="rect">
            <a:avLst/>
          </a:prstGeom>
          <a:noFill/>
          <a:ln/>
        </p:spPr>
        <p:txBody>
          <a:bodyPr wrap="square" lIns="0" tIns="0" rIns="0" bIns="0" rtlCol="0" anchor="ctr"/>
          <a:lstStyle/>
          <a:p>
            <a:pPr algn="r" indent="0" marL="0">
              <a:buNone/>
            </a:pPr>
            <a:r>
              <a:rPr lang="en-US" sz="1300" b="1" dirty="0">
                <a:solidFill>
                  <a:schemeClr val="accent3"/>
                </a:solidFill>
              </a:rPr>
              <a:t>j</a:t>
            </a:r>
            <a:endParaRPr lang="en-US" sz="1300" dirty="0"/>
          </a:p>
        </p:txBody>
      </p:sp>
      <p:sp>
        <p:nvSpPr>
          <p:cNvPr id="10" name="Text 8"/>
          <p:cNvSpPr txBox="1"/>
          <p:nvPr/>
        </p:nvSpPr>
        <p:spPr>
          <a:xfrm>
            <a:off x="2158166" y="2898648"/>
            <a:ext cx="310896" cy="274320"/>
          </a:xfrm>
          <a:prstGeom prst="rect">
            <a:avLst/>
          </a:prstGeom>
          <a:noFill/>
          <a:ln/>
        </p:spPr>
        <p:txBody>
          <a:bodyPr wrap="square" lIns="0" tIns="0" rIns="0" bIns="0" rtlCol="0" anchor="ctr"/>
          <a:lstStyle/>
          <a:p>
            <a:pPr algn="l" indent="0" marL="0">
              <a:buNone/>
            </a:pPr>
            <a:r>
              <a:rPr lang="en-US" sz="1300" b="1" dirty="0">
                <a:solidFill>
                  <a:schemeClr val="accent4"/>
                </a:solidFill>
              </a:rPr>
              <a:t>n</a:t>
            </a:r>
            <a:endParaRPr lang="en-US" sz="1300" dirty="0"/>
          </a:p>
        </p:txBody>
      </p:sp>
      <p:sp>
        <p:nvSpPr>
          <p:cNvPr id="11" name="Text 9"/>
          <p:cNvSpPr txBox="1"/>
          <p:nvPr/>
        </p:nvSpPr>
        <p:spPr>
          <a:xfrm>
            <a:off x="2027041" y="1947672"/>
            <a:ext cx="310896" cy="274320"/>
          </a:xfrm>
          <a:prstGeom prst="rect">
            <a:avLst/>
          </a:prstGeom>
          <a:noFill/>
          <a:ln/>
        </p:spPr>
        <p:txBody>
          <a:bodyPr wrap="square" lIns="0" tIns="0" rIns="0" bIns="0" rtlCol="0" anchor="ctr"/>
          <a:lstStyle/>
          <a:p>
            <a:pPr algn="r" indent="0" marL="0">
              <a:buNone/>
            </a:pPr>
            <a:r>
              <a:rPr lang="en-US" sz="1300" b="1" dirty="0">
                <a:solidFill>
                  <a:schemeClr val="accent3"/>
                </a:solidFill>
              </a:rPr>
              <a:t>j</a:t>
            </a:r>
            <a:endParaRPr lang="en-US" sz="1300" dirty="0"/>
          </a:p>
        </p:txBody>
      </p:sp>
      <p:sp>
        <p:nvSpPr>
          <p:cNvPr id="12" name="Text 10"/>
          <p:cNvSpPr txBox="1"/>
          <p:nvPr/>
        </p:nvSpPr>
        <p:spPr>
          <a:xfrm>
            <a:off x="3657418" y="2898648"/>
            <a:ext cx="310896" cy="274320"/>
          </a:xfrm>
          <a:prstGeom prst="rect">
            <a:avLst/>
          </a:prstGeom>
          <a:noFill/>
          <a:ln/>
        </p:spPr>
        <p:txBody>
          <a:bodyPr wrap="square" lIns="0" tIns="0" rIns="0" bIns="0" rtlCol="0" anchor="ctr"/>
          <a:lstStyle/>
          <a:p>
            <a:pPr algn="r" indent="0" marL="0">
              <a:buNone/>
            </a:pPr>
            <a:r>
              <a:rPr lang="en-US" sz="1300" b="1" dirty="0">
                <a:solidFill>
                  <a:schemeClr val="accent3"/>
                </a:solidFill>
              </a:rPr>
              <a:t>j</a:t>
            </a:r>
            <a:endParaRPr lang="en-US" sz="1300" dirty="0"/>
          </a:p>
        </p:txBody>
      </p:sp>
      <p:sp>
        <p:nvSpPr>
          <p:cNvPr id="13" name="Text 11"/>
          <p:cNvSpPr txBox="1"/>
          <p:nvPr/>
        </p:nvSpPr>
        <p:spPr>
          <a:xfrm>
            <a:off x="4766769" y="2898648"/>
            <a:ext cx="310896" cy="274320"/>
          </a:xfrm>
          <a:prstGeom prst="rect">
            <a:avLst/>
          </a:prstGeom>
          <a:noFill/>
          <a:ln/>
        </p:spPr>
        <p:txBody>
          <a:bodyPr wrap="square" lIns="0" tIns="0" rIns="0" bIns="0" rtlCol="0" anchor="ctr"/>
          <a:lstStyle/>
          <a:p>
            <a:pPr algn="l" indent="0" marL="0">
              <a:buNone/>
            </a:pPr>
            <a:r>
              <a:rPr lang="en-US" sz="1300" b="1" dirty="0">
                <a:solidFill>
                  <a:schemeClr val="accent4"/>
                </a:solidFill>
              </a:rPr>
              <a:t>n</a:t>
            </a:r>
            <a:endParaRPr lang="en-US" sz="1300" dirty="0"/>
          </a:p>
        </p:txBody>
      </p:sp>
      <p:sp>
        <p:nvSpPr>
          <p:cNvPr id="14" name="Text 12"/>
          <p:cNvSpPr txBox="1"/>
          <p:nvPr/>
        </p:nvSpPr>
        <p:spPr>
          <a:xfrm>
            <a:off x="3788543" y="1947672"/>
            <a:ext cx="310896" cy="274320"/>
          </a:xfrm>
          <a:prstGeom prst="rect">
            <a:avLst/>
          </a:prstGeom>
          <a:noFill/>
          <a:ln/>
        </p:spPr>
        <p:txBody>
          <a:bodyPr wrap="square" lIns="0" tIns="0" rIns="0" bIns="0" rtlCol="0" anchor="ctr"/>
          <a:lstStyle/>
          <a:p>
            <a:pPr algn="l" indent="0" marL="0">
              <a:buNone/>
            </a:pPr>
            <a:r>
              <a:rPr lang="en-US" sz="1300" b="1" dirty="0">
                <a:solidFill>
                  <a:schemeClr val="accent4"/>
                </a:solidFill>
              </a:rPr>
              <a:t>n</a:t>
            </a:r>
            <a:endParaRPr lang="en-US" sz="1300" dirty="0"/>
          </a:p>
        </p:txBody>
      </p:sp>
      <p:sp>
        <p:nvSpPr>
          <p:cNvPr id="15" name="Knoten Drache"/>
          <p:cNvSpPr txBox="1"/>
          <p:nvPr/>
        </p:nvSpPr>
        <p:spPr>
          <a:xfrm>
            <a:off x="672447" y="33192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Drache</a:t>
            </a:r>
            <a:endParaRPr lang="en-US" sz="1300" dirty="0"/>
          </a:p>
        </p:txBody>
      </p:sp>
      <p:sp>
        <p:nvSpPr>
          <p:cNvPr id="16" name="Knoten Greif"/>
          <p:cNvSpPr txBox="1"/>
          <p:nvPr/>
        </p:nvSpPr>
        <p:spPr>
          <a:xfrm>
            <a:off x="1976749" y="33192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Greif</a:t>
            </a:r>
            <a:endParaRPr lang="en-US" sz="1300" dirty="0"/>
          </a:p>
        </p:txBody>
      </p:sp>
      <p:sp>
        <p:nvSpPr>
          <p:cNvPr id="17" name="Knoten Speit es Feuer?"/>
          <p:cNvSpPr txBox="1"/>
          <p:nvPr/>
        </p:nvSpPr>
        <p:spPr>
          <a:xfrm>
            <a:off x="1002653" y="2368296"/>
            <a:ext cx="151257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Speit es Feuer?</a:t>
            </a:r>
            <a:endParaRPr lang="en-US" sz="1300" dirty="0"/>
          </a:p>
        </p:txBody>
      </p:sp>
      <p:sp>
        <p:nvSpPr>
          <p:cNvPr id="18" name="Knoten Kraken"/>
          <p:cNvSpPr txBox="1"/>
          <p:nvPr/>
        </p:nvSpPr>
        <p:spPr>
          <a:xfrm>
            <a:off x="3281051" y="3319272"/>
            <a:ext cx="868680" cy="475488"/>
          </a:xfrm>
          <a:prstGeom prst="roundRect">
            <a:avLst>
              <a:gd name="adj" fmla="val 19231"/>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300" b="1" dirty="0">
                <a:solidFill>
                  <a:schemeClr val="accent3"/>
                </a:solidFill>
              </a:rPr>
              <a:t>Kraken</a:t>
            </a:r>
            <a:endParaRPr lang="en-US" sz="1300" dirty="0"/>
          </a:p>
        </p:txBody>
      </p:sp>
      <p:sp>
        <p:nvSpPr>
          <p:cNvPr id="19" name="Knoten Troll"/>
          <p:cNvSpPr txBox="1"/>
          <p:nvPr/>
        </p:nvSpPr>
        <p:spPr>
          <a:xfrm>
            <a:off x="4585353" y="33192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Troll</a:t>
            </a:r>
            <a:endParaRPr lang="en-US" sz="1300" dirty="0"/>
          </a:p>
        </p:txBody>
      </p:sp>
      <p:sp>
        <p:nvSpPr>
          <p:cNvPr id="20" name="Knoten Lebt es im Wasser?"/>
          <p:cNvSpPr txBox="1"/>
          <p:nvPr/>
        </p:nvSpPr>
        <p:spPr>
          <a:xfrm>
            <a:off x="3487432" y="2368296"/>
            <a:ext cx="1760220" cy="475488"/>
          </a:xfrm>
          <a:prstGeom prst="roundRect">
            <a:avLst>
              <a:gd name="adj" fmla="val 19231"/>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Lebt es im Wasser?</a:t>
            </a:r>
            <a:endParaRPr lang="en-US" sz="1300" dirty="0"/>
          </a:p>
        </p:txBody>
      </p:sp>
      <p:sp>
        <p:nvSpPr>
          <p:cNvPr id="21" name="Knoten Kann es fliegen?"/>
          <p:cNvSpPr txBox="1"/>
          <p:nvPr/>
        </p:nvSpPr>
        <p:spPr>
          <a:xfrm>
            <a:off x="2265680" y="1417320"/>
            <a:ext cx="1595120" cy="475488"/>
          </a:xfrm>
          <a:prstGeom prst="roundRect">
            <a:avLst>
              <a:gd name="adj" fmla="val 19231"/>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Kann es fliegen?</a:t>
            </a:r>
            <a:endParaRPr lang="en-US" sz="1300" dirty="0"/>
          </a:p>
        </p:txBody>
      </p:sp>
      <p:sp>
        <p:nvSpPr>
          <p:cNvPr id="22" name="Text 20"/>
          <p:cNvSpPr txBox="1"/>
          <p:nvPr/>
        </p:nvSpPr>
        <p:spPr>
          <a:xfrm>
            <a:off x="548640" y="3931920"/>
            <a:ext cx="5029200" cy="320040"/>
          </a:xfrm>
          <a:prstGeom prst="rect">
            <a:avLst/>
          </a:prstGeom>
          <a:noFill/>
          <a:ln/>
        </p:spPr>
        <p:txBody>
          <a:bodyPr wrap="square" lIns="0" tIns="0" rIns="0" bIns="0" rtlCol="0" anchor="t"/>
          <a:lstStyle/>
          <a:p>
            <a:pPr algn="ctr" indent="0" marL="0">
              <a:buNone/>
            </a:pPr>
            <a:r>
              <a:rPr lang="en-US" sz="1500" b="1" dirty="0">
                <a:solidFill>
                  <a:schemeClr val="accent1"/>
                </a:solidFill>
              </a:rPr>
              <a:t>raten("nj"): </a:t>
            </a:r>
            <a:pPr algn="ctr" indent="0" marL="0">
              <a:buNone/>
            </a:pPr>
            <a:r>
              <a:rPr lang="en-US" sz="1500" dirty="0">
                <a:solidFill>
                  <a:schemeClr val="tx1"/>
                </a:solidFill>
              </a:rPr>
              <a:t>n → „Lebt es im Wasser?“, j → </a:t>
            </a:r>
            <a:pPr algn="ctr" indent="0" marL="0">
              <a:buNone/>
            </a:pPr>
            <a:r>
              <a:rPr lang="en-US" sz="1500" b="1" dirty="0">
                <a:solidFill>
                  <a:schemeClr val="accent3"/>
                </a:solidFill>
              </a:rPr>
              <a:t>Kraken</a:t>
            </a:r>
            <a:endParaRPr lang="en-US" sz="1500" dirty="0"/>
          </a:p>
        </p:txBody>
      </p:sp>
      <p:sp>
        <p:nvSpPr>
          <p:cNvPr id="23" name="raten &quot;jj&quot;"/>
          <p:cNvSpPr txBox="1"/>
          <p:nvPr/>
        </p:nvSpPr>
        <p:spPr>
          <a:xfrm>
            <a:off x="548640" y="4434840"/>
            <a:ext cx="1600200" cy="457200"/>
          </a:xfrm>
          <a:prstGeom prst="roundRect">
            <a:avLst>
              <a:gd name="adj" fmla="val 16000"/>
            </a:avLst>
          </a:prstGeom>
          <a:solidFill>
            <a:schemeClr val="bg1"/>
          </a:solidFill>
          <a:ln w="19050">
            <a:solidFill>
              <a:schemeClr val="bg2"/>
            </a:solidFill>
          </a:ln>
        </p:spPr>
        <p:txBody>
          <a:bodyPr wrap="square" lIns="0" tIns="0" rIns="0" bIns="0" rtlCol="0" anchor="ctr"/>
          <a:lstStyle/>
          <a:p>
            <a:pPr algn="ctr" indent="0" marL="0">
              <a:buNone/>
            </a:pPr>
            <a:r>
              <a:rPr lang="en-US" sz="1400" b="1" dirty="0">
                <a:solidFill>
                  <a:schemeClr val="accent1"/>
                </a:solidFill>
                <a:latin typeface="Consolas" pitchFamily="34" charset="0"/>
                <a:ea typeface="Consolas" pitchFamily="34" charset="-122"/>
                <a:cs typeface="Consolas" pitchFamily="34" charset="-120"/>
              </a:rPr>
              <a:t>"jj"</a:t>
            </a:r>
            <a:pPr algn="ctr" indent="0" marL="0">
              <a:buNone/>
            </a:pPr>
            <a:r>
              <a:rPr lang="en-US" sz="1400" dirty="0">
                <a:solidFill>
                  <a:schemeClr val="tx1"/>
                </a:solidFill>
              </a:rPr>
              <a:t>  →  </a:t>
            </a:r>
            <a:pPr algn="ctr" indent="0" marL="0">
              <a:buNone/>
            </a:pPr>
            <a:r>
              <a:rPr lang="en-US" sz="1400" b="1" dirty="0">
                <a:solidFill>
                  <a:schemeClr val="accent3"/>
                </a:solidFill>
              </a:rPr>
              <a:t>Drache</a:t>
            </a:r>
            <a:endParaRPr lang="en-US" sz="1400" dirty="0"/>
          </a:p>
        </p:txBody>
      </p:sp>
      <p:sp>
        <p:nvSpPr>
          <p:cNvPr id="24" name="raten &quot;jn&quot;"/>
          <p:cNvSpPr txBox="1"/>
          <p:nvPr/>
        </p:nvSpPr>
        <p:spPr>
          <a:xfrm>
            <a:off x="2240280" y="4434840"/>
            <a:ext cx="1600200" cy="457200"/>
          </a:xfrm>
          <a:prstGeom prst="roundRect">
            <a:avLst>
              <a:gd name="adj" fmla="val 16000"/>
            </a:avLst>
          </a:prstGeom>
          <a:solidFill>
            <a:schemeClr val="bg1"/>
          </a:solidFill>
          <a:ln w="19050">
            <a:solidFill>
              <a:schemeClr val="bg2"/>
            </a:solidFill>
          </a:ln>
        </p:spPr>
        <p:txBody>
          <a:bodyPr wrap="square" lIns="0" tIns="0" rIns="0" bIns="0" rtlCol="0" anchor="ctr"/>
          <a:lstStyle/>
          <a:p>
            <a:pPr algn="ctr" indent="0" marL="0">
              <a:buNone/>
            </a:pPr>
            <a:r>
              <a:rPr lang="en-US" sz="1400" b="1" dirty="0">
                <a:solidFill>
                  <a:schemeClr val="accent1"/>
                </a:solidFill>
                <a:latin typeface="Consolas" pitchFamily="34" charset="0"/>
                <a:ea typeface="Consolas" pitchFamily="34" charset="-122"/>
                <a:cs typeface="Consolas" pitchFamily="34" charset="-120"/>
              </a:rPr>
              <a:t>"jn"</a:t>
            </a:r>
            <a:pPr algn="ctr" indent="0" marL="0">
              <a:buNone/>
            </a:pPr>
            <a:r>
              <a:rPr lang="en-US" sz="1400" dirty="0">
                <a:solidFill>
                  <a:schemeClr val="tx1"/>
                </a:solidFill>
              </a:rPr>
              <a:t>  →  </a:t>
            </a:r>
            <a:pPr algn="ctr" indent="0" marL="0">
              <a:buNone/>
            </a:pPr>
            <a:r>
              <a:rPr lang="en-US" sz="1400" b="1" dirty="0">
                <a:solidFill>
                  <a:schemeClr val="accent3"/>
                </a:solidFill>
              </a:rPr>
              <a:t>Greif</a:t>
            </a:r>
            <a:endParaRPr lang="en-US" sz="1400" dirty="0"/>
          </a:p>
        </p:txBody>
      </p:sp>
      <p:sp>
        <p:nvSpPr>
          <p:cNvPr id="25" name="raten &quot;nj&quot;"/>
          <p:cNvSpPr txBox="1"/>
          <p:nvPr/>
        </p:nvSpPr>
        <p:spPr>
          <a:xfrm>
            <a:off x="3931920" y="4434840"/>
            <a:ext cx="1600200" cy="457200"/>
          </a:xfrm>
          <a:prstGeom prst="roundRect">
            <a:avLst>
              <a:gd name="adj" fmla="val 16000"/>
            </a:avLst>
          </a:prstGeom>
          <a:solidFill>
            <a:schemeClr val="bg1"/>
          </a:solidFill>
          <a:ln w="19050">
            <a:solidFill>
              <a:schemeClr val="bg2"/>
            </a:solidFill>
          </a:ln>
        </p:spPr>
        <p:txBody>
          <a:bodyPr wrap="square" lIns="0" tIns="0" rIns="0" bIns="0" rtlCol="0" anchor="ctr"/>
          <a:lstStyle/>
          <a:p>
            <a:pPr algn="ctr" indent="0" marL="0">
              <a:buNone/>
            </a:pPr>
            <a:r>
              <a:rPr lang="en-US" sz="1400" b="1" dirty="0">
                <a:solidFill>
                  <a:schemeClr val="accent1"/>
                </a:solidFill>
                <a:latin typeface="Consolas" pitchFamily="34" charset="0"/>
                <a:ea typeface="Consolas" pitchFamily="34" charset="-122"/>
                <a:cs typeface="Consolas" pitchFamily="34" charset="-120"/>
              </a:rPr>
              <a:t>"nj"</a:t>
            </a:r>
            <a:pPr algn="ctr" indent="0" marL="0">
              <a:buNone/>
            </a:pPr>
            <a:r>
              <a:rPr lang="en-US" sz="1400" dirty="0">
                <a:solidFill>
                  <a:schemeClr val="tx1"/>
                </a:solidFill>
              </a:rPr>
              <a:t>  →  </a:t>
            </a:r>
            <a:pPr algn="ctr" indent="0" marL="0">
              <a:buNone/>
            </a:pPr>
            <a:r>
              <a:rPr lang="en-US" sz="1400" b="1" dirty="0">
                <a:solidFill>
                  <a:schemeClr val="accent3"/>
                </a:solidFill>
              </a:rPr>
              <a:t>Kraken</a:t>
            </a:r>
            <a:endParaRPr lang="en-US" sz="1400" dirty="0"/>
          </a:p>
        </p:txBody>
      </p:sp>
      <p:sp>
        <p:nvSpPr>
          <p:cNvPr id="26" name="raten &quot;nn&quot;"/>
          <p:cNvSpPr txBox="1"/>
          <p:nvPr/>
        </p:nvSpPr>
        <p:spPr>
          <a:xfrm>
            <a:off x="548640" y="5001768"/>
            <a:ext cx="1600200" cy="457200"/>
          </a:xfrm>
          <a:prstGeom prst="roundRect">
            <a:avLst>
              <a:gd name="adj" fmla="val 16000"/>
            </a:avLst>
          </a:prstGeom>
          <a:solidFill>
            <a:schemeClr val="bg1"/>
          </a:solidFill>
          <a:ln w="19050">
            <a:solidFill>
              <a:schemeClr val="bg2"/>
            </a:solidFill>
          </a:ln>
        </p:spPr>
        <p:txBody>
          <a:bodyPr wrap="square" lIns="0" tIns="0" rIns="0" bIns="0" rtlCol="0" anchor="ctr"/>
          <a:lstStyle/>
          <a:p>
            <a:pPr algn="ctr" indent="0" marL="0">
              <a:buNone/>
            </a:pPr>
            <a:r>
              <a:rPr lang="en-US" sz="1400" b="1" dirty="0">
                <a:solidFill>
                  <a:schemeClr val="accent1"/>
                </a:solidFill>
                <a:latin typeface="Consolas" pitchFamily="34" charset="0"/>
                <a:ea typeface="Consolas" pitchFamily="34" charset="-122"/>
                <a:cs typeface="Consolas" pitchFamily="34" charset="-120"/>
              </a:rPr>
              <a:t>"nn"</a:t>
            </a:r>
            <a:pPr algn="ctr" indent="0" marL="0">
              <a:buNone/>
            </a:pPr>
            <a:r>
              <a:rPr lang="en-US" sz="1400" dirty="0">
                <a:solidFill>
                  <a:schemeClr val="tx1"/>
                </a:solidFill>
              </a:rPr>
              <a:t>  →  </a:t>
            </a:r>
            <a:pPr algn="ctr" indent="0" marL="0">
              <a:buNone/>
            </a:pPr>
            <a:r>
              <a:rPr lang="en-US" sz="1400" b="1" dirty="0">
                <a:solidFill>
                  <a:schemeClr val="accent3"/>
                </a:solidFill>
              </a:rPr>
              <a:t>Troll</a:t>
            </a:r>
            <a:endParaRPr lang="en-US" sz="1400" dirty="0"/>
          </a:p>
        </p:txBody>
      </p:sp>
      <p:sp>
        <p:nvSpPr>
          <p:cNvPr id="27" name="raten &quot;j&quot;"/>
          <p:cNvSpPr txBox="1"/>
          <p:nvPr/>
        </p:nvSpPr>
        <p:spPr>
          <a:xfrm>
            <a:off x="2240280" y="5001768"/>
            <a:ext cx="1600200" cy="457200"/>
          </a:xfrm>
          <a:prstGeom prst="roundRect">
            <a:avLst>
              <a:gd name="adj" fmla="val 16000"/>
            </a:avLst>
          </a:prstGeom>
          <a:solidFill>
            <a:schemeClr val="bg1"/>
          </a:solidFill>
          <a:ln w="19050">
            <a:solidFill>
              <a:schemeClr val="bg2"/>
            </a:solidFill>
          </a:ln>
        </p:spPr>
        <p:txBody>
          <a:bodyPr wrap="square" lIns="0" tIns="0" rIns="0" bIns="0" rtlCol="0" anchor="ctr"/>
          <a:lstStyle/>
          <a:p>
            <a:pPr algn="ctr" indent="0" marL="0">
              <a:buNone/>
            </a:pPr>
            <a:r>
              <a:rPr lang="en-US" sz="1400" b="1" dirty="0">
                <a:solidFill>
                  <a:schemeClr val="accent1"/>
                </a:solidFill>
                <a:latin typeface="Consolas" pitchFamily="34" charset="0"/>
                <a:ea typeface="Consolas" pitchFamily="34" charset="-122"/>
                <a:cs typeface="Consolas" pitchFamily="34" charset="-120"/>
              </a:rPr>
              <a:t>"j"</a:t>
            </a:r>
            <a:pPr algn="ctr" indent="0" marL="0">
              <a:buNone/>
            </a:pPr>
            <a:r>
              <a:rPr lang="en-US" sz="1400" dirty="0">
                <a:solidFill>
                  <a:schemeClr val="tx1"/>
                </a:solidFill>
              </a:rPr>
              <a:t>  →  </a:t>
            </a:r>
            <a:pPr algn="ctr" indent="0" marL="0">
              <a:buNone/>
            </a:pPr>
            <a:r>
              <a:rPr lang="en-US" sz="1400" b="1" dirty="0">
                <a:solidFill>
                  <a:schemeClr val="accent4"/>
                </a:solidFill>
              </a:rPr>
              <a:t>?</a:t>
            </a:r>
            <a:endParaRPr lang="en-US" sz="1400" dirty="0"/>
          </a:p>
        </p:txBody>
      </p:sp>
      <p:sp>
        <p:nvSpPr>
          <p:cNvPr id="28" name="raten &quot;nnj&quot;"/>
          <p:cNvSpPr txBox="1"/>
          <p:nvPr/>
        </p:nvSpPr>
        <p:spPr>
          <a:xfrm>
            <a:off x="3931920" y="5001768"/>
            <a:ext cx="1600200" cy="457200"/>
          </a:xfrm>
          <a:prstGeom prst="roundRect">
            <a:avLst>
              <a:gd name="adj" fmla="val 16000"/>
            </a:avLst>
          </a:prstGeom>
          <a:solidFill>
            <a:schemeClr val="bg1"/>
          </a:solidFill>
          <a:ln w="19050">
            <a:solidFill>
              <a:schemeClr val="bg2"/>
            </a:solidFill>
          </a:ln>
        </p:spPr>
        <p:txBody>
          <a:bodyPr wrap="square" lIns="0" tIns="0" rIns="0" bIns="0" rtlCol="0" anchor="ctr"/>
          <a:lstStyle/>
          <a:p>
            <a:pPr algn="ctr" indent="0" marL="0">
              <a:buNone/>
            </a:pPr>
            <a:r>
              <a:rPr lang="en-US" sz="1400" b="1" dirty="0">
                <a:solidFill>
                  <a:schemeClr val="accent1"/>
                </a:solidFill>
                <a:latin typeface="Consolas" pitchFamily="34" charset="0"/>
                <a:ea typeface="Consolas" pitchFamily="34" charset="-122"/>
                <a:cs typeface="Consolas" pitchFamily="34" charset="-120"/>
              </a:rPr>
              <a:t>"nnj"</a:t>
            </a:r>
            <a:pPr algn="ctr" indent="0" marL="0">
              <a:buNone/>
            </a:pPr>
            <a:r>
              <a:rPr lang="en-US" sz="1400" dirty="0">
                <a:solidFill>
                  <a:schemeClr val="tx1"/>
                </a:solidFill>
              </a:rPr>
              <a:t>  →  </a:t>
            </a:r>
            <a:pPr algn="ctr" indent="0" marL="0">
              <a:buNone/>
            </a:pPr>
            <a:r>
              <a:rPr lang="en-US" sz="1400" b="1" dirty="0">
                <a:solidFill>
                  <a:schemeClr val="accent3"/>
                </a:solidFill>
              </a:rPr>
              <a:t>Troll</a:t>
            </a:r>
            <a:endParaRPr lang="en-US" sz="1400" dirty="0"/>
          </a:p>
        </p:txBody>
      </p:sp>
      <p:sp>
        <p:nvSpPr>
          <p:cNvPr id="29" name="Text 27"/>
          <p:cNvSpPr txBox="1"/>
          <p:nvPr/>
        </p:nvSpPr>
        <p:spPr>
          <a:xfrm>
            <a:off x="548640" y="5623560"/>
            <a:ext cx="5029200" cy="274320"/>
          </a:xfrm>
          <a:prstGeom prst="rect">
            <a:avLst/>
          </a:prstGeom>
          <a:noFill/>
          <a:ln/>
        </p:spPr>
        <p:txBody>
          <a:bodyPr wrap="square" lIns="0" tIns="0" rIns="0" bIns="0" rtlCol="0" anchor="t"/>
          <a:lstStyle/>
          <a:p>
            <a:pPr algn="ctr" indent="0" marL="0">
              <a:buNone/>
            </a:pPr>
            <a:r>
              <a:rPr lang="en-US" sz="1300" i="1" dirty="0">
                <a:solidFill>
                  <a:schemeClr val="accent6"/>
                </a:solidFill>
              </a:rPr>
              <a:t>zu wenige Antworten → "?" · überzählige werden ignoriert</a:t>
            </a:r>
            <a:endParaRPr lang="en-US" sz="1300" dirty="0"/>
          </a:p>
        </p:txBody>
      </p:sp>
      <p:sp>
        <p:nvSpPr>
          <p:cNvPr id="30" name="Code"/>
          <p:cNvSpPr txBox="1"/>
          <p:nvPr/>
        </p:nvSpPr>
        <p:spPr>
          <a:xfrm>
            <a:off x="5760720" y="1325880"/>
            <a:ext cx="5852160" cy="385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String</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String</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antworten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baum</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antworten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private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String</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String</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antworten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isEmpty</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isLeaf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String</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getItem</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Monster gefunden</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antworten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length</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0)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Frage, aber keine Antwort mehr</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String</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rest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antworten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substring</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(1,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antworten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length</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antworten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charAt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(0)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j</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getLeft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rest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raten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getRight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rest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p:txBody>
      </p:sp>
      <p:sp>
        <p:nvSpPr>
          <p:cNvPr id="31" name="Rest"/>
          <p:cNvSpPr/>
          <p:nvPr/>
        </p:nvSpPr>
        <p:spPr>
          <a:xfrm>
            <a:off x="5760720" y="5303520"/>
            <a:ext cx="5852160" cy="822960"/>
          </a:xfrm>
          <a:prstGeom prst="roundRect">
            <a:avLst>
              <a:gd name="adj" fmla="val 13333"/>
            </a:avLst>
          </a:prstGeom>
          <a:solidFill>
            <a:schemeClr val="bg2"/>
          </a:solidFill>
          <a:ln/>
        </p:spPr>
      </p:sp>
      <p:sp>
        <p:nvSpPr>
          <p:cNvPr id="32" name="Text 30"/>
          <p:cNvSpPr txBox="1"/>
          <p:nvPr/>
        </p:nvSpPr>
        <p:spPr>
          <a:xfrm>
            <a:off x="5961888" y="5303520"/>
            <a:ext cx="5486400" cy="822960"/>
          </a:xfrm>
          <a:prstGeom prst="rect">
            <a:avLst/>
          </a:prstGeom>
          <a:noFill/>
          <a:ln/>
        </p:spPr>
        <p:txBody>
          <a:bodyPr wrap="square" lIns="0" tIns="0" rIns="0" bIns="0" rtlCol="0" anchor="ctr"/>
          <a:lstStyle/>
          <a:p>
            <a:pPr indent="0" marL="0">
              <a:buNone/>
            </a:pPr>
            <a:r>
              <a:rPr lang="en-US" sz="1400" b="1" dirty="0">
                <a:solidFill>
                  <a:schemeClr val="accent1"/>
                </a:solidFill>
              </a:rPr>
              <a:t>Rest der Antworten: </a:t>
            </a:r>
            <a:pPr indent="0" marL="0">
              <a:buNone/>
            </a:pPr>
            <a:r>
              <a:rPr lang="en-US" sz="1400" dirty="0">
                <a:solidFill>
                  <a:schemeClr val="tx1"/>
                </a:solidFill>
              </a:rPr>
              <a:t>substring(1, antworten.length()) – erst isEmpty, dann isLeaf.</a:t>
            </a:r>
            <a:endParaRPr lang="en-US" sz="1400" dirty="0"/>
          </a:p>
        </p:txBody>
      </p:sp>
      <p:sp>
        <p:nvSpPr>
          <p:cNvPr id="33" name="Text 31"/>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33 · Kür · raten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lernen: Der Baum wächst um eine Frage</a:t>
            </a:r>
            <a:endParaRPr lang="en-US" sz="3600" dirty="0"/>
          </a:p>
        </p:txBody>
      </p:sp>
      <p:sp>
        <p:nvSpPr>
          <p:cNvPr id="3" name="Chip"/>
          <p:cNvSpPr txBox="1"/>
          <p:nvPr/>
        </p:nvSpPr>
        <p:spPr>
          <a:xfrm>
            <a:off x="548640" y="1325880"/>
            <a:ext cx="118872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Vorher</a:t>
            </a:r>
            <a:endParaRPr lang="en-US" sz="1400" dirty="0"/>
          </a:p>
        </p:txBody>
      </p:sp>
      <p:sp>
        <p:nvSpPr>
          <p:cNvPr id="4" name="Kante Speit es Feuer?-Drache"/>
          <p:cNvSpPr/>
          <p:nvPr/>
        </p:nvSpPr>
        <p:spPr>
          <a:xfrm flipH="1">
            <a:off x="1076343" y="2788920"/>
            <a:ext cx="616579" cy="768096"/>
          </a:xfrm>
          <a:prstGeom prst="line">
            <a:avLst/>
          </a:prstGeom>
          <a:noFill/>
          <a:ln w="22225">
            <a:solidFill>
              <a:schemeClr val="accent1"/>
            </a:solidFill>
            <a:prstDash val="solid"/>
          </a:ln>
        </p:spPr>
      </p:sp>
      <p:sp>
        <p:nvSpPr>
          <p:cNvPr id="5" name="Kante Speit es Feuer?-Greif"/>
          <p:cNvSpPr/>
          <p:nvPr/>
        </p:nvSpPr>
        <p:spPr>
          <a:xfrm>
            <a:off x="1692922" y="2788920"/>
            <a:ext cx="616579" cy="768096"/>
          </a:xfrm>
          <a:prstGeom prst="line">
            <a:avLst/>
          </a:prstGeom>
          <a:noFill/>
          <a:ln w="22225">
            <a:solidFill>
              <a:schemeClr val="accent1"/>
            </a:solidFill>
            <a:prstDash val="solid"/>
          </a:ln>
        </p:spPr>
      </p:sp>
      <p:sp>
        <p:nvSpPr>
          <p:cNvPr id="6" name="Kante Kann es fliegen?-Speit es Feuer?"/>
          <p:cNvSpPr/>
          <p:nvPr/>
        </p:nvSpPr>
        <p:spPr>
          <a:xfrm flipH="1">
            <a:off x="1692922" y="2020824"/>
            <a:ext cx="1233158" cy="768096"/>
          </a:xfrm>
          <a:prstGeom prst="line">
            <a:avLst/>
          </a:prstGeom>
          <a:noFill/>
          <a:ln w="22225">
            <a:solidFill>
              <a:schemeClr val="accent1"/>
            </a:solidFill>
            <a:prstDash val="solid"/>
          </a:ln>
        </p:spPr>
      </p:sp>
      <p:sp>
        <p:nvSpPr>
          <p:cNvPr id="7" name="Kante Lebt es im Wasser?-Kraken"/>
          <p:cNvSpPr/>
          <p:nvPr/>
        </p:nvSpPr>
        <p:spPr>
          <a:xfrm flipH="1">
            <a:off x="3542659" y="2788920"/>
            <a:ext cx="616579" cy="768096"/>
          </a:xfrm>
          <a:prstGeom prst="line">
            <a:avLst/>
          </a:prstGeom>
          <a:noFill/>
          <a:ln w="22225">
            <a:solidFill>
              <a:schemeClr val="accent1"/>
            </a:solidFill>
            <a:prstDash val="solid"/>
          </a:ln>
        </p:spPr>
      </p:sp>
      <p:sp>
        <p:nvSpPr>
          <p:cNvPr id="8" name="Kante Lebt es im Wasser?-Troll"/>
          <p:cNvSpPr/>
          <p:nvPr/>
        </p:nvSpPr>
        <p:spPr>
          <a:xfrm>
            <a:off x="4159238" y="2788920"/>
            <a:ext cx="616579" cy="768096"/>
          </a:xfrm>
          <a:prstGeom prst="line">
            <a:avLst/>
          </a:prstGeom>
          <a:noFill/>
          <a:ln w="22225">
            <a:solidFill>
              <a:schemeClr val="accent1"/>
            </a:solidFill>
            <a:prstDash val="solid"/>
          </a:ln>
        </p:spPr>
      </p:sp>
      <p:sp>
        <p:nvSpPr>
          <p:cNvPr id="9" name="Kante Kann es fliegen?-Lebt es im Wasser?"/>
          <p:cNvSpPr/>
          <p:nvPr/>
        </p:nvSpPr>
        <p:spPr>
          <a:xfrm>
            <a:off x="2926080" y="2020824"/>
            <a:ext cx="1233158" cy="768096"/>
          </a:xfrm>
          <a:prstGeom prst="line">
            <a:avLst/>
          </a:prstGeom>
          <a:noFill/>
          <a:ln w="22225">
            <a:solidFill>
              <a:schemeClr val="accent1"/>
            </a:solidFill>
            <a:prstDash val="solid"/>
          </a:ln>
        </p:spPr>
      </p:sp>
      <p:sp>
        <p:nvSpPr>
          <p:cNvPr id="10" name="Text 8"/>
          <p:cNvSpPr txBox="1"/>
          <p:nvPr/>
        </p:nvSpPr>
        <p:spPr>
          <a:xfrm>
            <a:off x="1000584" y="2990088"/>
            <a:ext cx="310896" cy="274320"/>
          </a:xfrm>
          <a:prstGeom prst="rect">
            <a:avLst/>
          </a:prstGeom>
          <a:noFill/>
          <a:ln/>
        </p:spPr>
        <p:txBody>
          <a:bodyPr wrap="square" lIns="0" tIns="0" rIns="0" bIns="0" rtlCol="0" anchor="ctr"/>
          <a:lstStyle/>
          <a:p>
            <a:pPr algn="r" indent="0" marL="0">
              <a:buNone/>
            </a:pPr>
            <a:r>
              <a:rPr lang="en-US" sz="1200" b="1" dirty="0">
                <a:solidFill>
                  <a:schemeClr val="accent3"/>
                </a:solidFill>
              </a:rPr>
              <a:t>j</a:t>
            </a:r>
            <a:endParaRPr lang="en-US" sz="1200" dirty="0"/>
          </a:p>
        </p:txBody>
      </p:sp>
      <p:sp>
        <p:nvSpPr>
          <p:cNvPr id="11" name="Text 9"/>
          <p:cNvSpPr txBox="1"/>
          <p:nvPr/>
        </p:nvSpPr>
        <p:spPr>
          <a:xfrm>
            <a:off x="2074363" y="2990088"/>
            <a:ext cx="310896" cy="274320"/>
          </a:xfrm>
          <a:prstGeom prst="rect">
            <a:avLst/>
          </a:prstGeom>
          <a:noFill/>
          <a:ln/>
        </p:spPr>
        <p:txBody>
          <a:bodyPr wrap="square" lIns="0" tIns="0" rIns="0" bIns="0" rtlCol="0" anchor="ctr"/>
          <a:lstStyle/>
          <a:p>
            <a:pPr algn="l" indent="0" marL="0">
              <a:buNone/>
            </a:pPr>
            <a:r>
              <a:rPr lang="en-US" sz="1200" b="1" dirty="0">
                <a:solidFill>
                  <a:schemeClr val="accent4"/>
                </a:solidFill>
              </a:rPr>
              <a:t>n</a:t>
            </a:r>
            <a:endParaRPr lang="en-US" sz="1200" dirty="0"/>
          </a:p>
        </p:txBody>
      </p:sp>
      <p:sp>
        <p:nvSpPr>
          <p:cNvPr id="12" name="Text 10"/>
          <p:cNvSpPr txBox="1"/>
          <p:nvPr/>
        </p:nvSpPr>
        <p:spPr>
          <a:xfrm>
            <a:off x="1925453" y="2221992"/>
            <a:ext cx="310896" cy="274320"/>
          </a:xfrm>
          <a:prstGeom prst="rect">
            <a:avLst/>
          </a:prstGeom>
          <a:noFill/>
          <a:ln/>
        </p:spPr>
        <p:txBody>
          <a:bodyPr wrap="square" lIns="0" tIns="0" rIns="0" bIns="0" rtlCol="0" anchor="ctr"/>
          <a:lstStyle/>
          <a:p>
            <a:pPr algn="r" indent="0" marL="0">
              <a:buNone/>
            </a:pPr>
            <a:r>
              <a:rPr lang="en-US" sz="1200" b="1" dirty="0">
                <a:solidFill>
                  <a:schemeClr val="accent3"/>
                </a:solidFill>
              </a:rPr>
              <a:t>j</a:t>
            </a:r>
            <a:endParaRPr lang="en-US" sz="1200" dirty="0"/>
          </a:p>
        </p:txBody>
      </p:sp>
      <p:sp>
        <p:nvSpPr>
          <p:cNvPr id="13" name="Text 11"/>
          <p:cNvSpPr txBox="1"/>
          <p:nvPr/>
        </p:nvSpPr>
        <p:spPr>
          <a:xfrm>
            <a:off x="3466901" y="2990088"/>
            <a:ext cx="310896" cy="274320"/>
          </a:xfrm>
          <a:prstGeom prst="rect">
            <a:avLst/>
          </a:prstGeom>
          <a:noFill/>
          <a:ln/>
        </p:spPr>
        <p:txBody>
          <a:bodyPr wrap="square" lIns="0" tIns="0" rIns="0" bIns="0" rtlCol="0" anchor="ctr"/>
          <a:lstStyle/>
          <a:p>
            <a:pPr algn="r" indent="0" marL="0">
              <a:buNone/>
            </a:pPr>
            <a:r>
              <a:rPr lang="en-US" sz="1200" b="1" dirty="0">
                <a:solidFill>
                  <a:schemeClr val="accent3"/>
                </a:solidFill>
              </a:rPr>
              <a:t>j</a:t>
            </a:r>
            <a:endParaRPr lang="en-US" sz="1200" dirty="0"/>
          </a:p>
        </p:txBody>
      </p:sp>
      <p:sp>
        <p:nvSpPr>
          <p:cNvPr id="14" name="Text 12"/>
          <p:cNvSpPr txBox="1"/>
          <p:nvPr/>
        </p:nvSpPr>
        <p:spPr>
          <a:xfrm>
            <a:off x="4540680" y="2990088"/>
            <a:ext cx="310896" cy="274320"/>
          </a:xfrm>
          <a:prstGeom prst="rect">
            <a:avLst/>
          </a:prstGeom>
          <a:noFill/>
          <a:ln/>
        </p:spPr>
        <p:txBody>
          <a:bodyPr wrap="square" lIns="0" tIns="0" rIns="0" bIns="0" rtlCol="0" anchor="ctr"/>
          <a:lstStyle/>
          <a:p>
            <a:pPr algn="l" indent="0" marL="0">
              <a:buNone/>
            </a:pPr>
            <a:r>
              <a:rPr lang="en-US" sz="1200" b="1" dirty="0">
                <a:solidFill>
                  <a:schemeClr val="accent4"/>
                </a:solidFill>
              </a:rPr>
              <a:t>n</a:t>
            </a:r>
            <a:endParaRPr lang="en-US" sz="1200" dirty="0"/>
          </a:p>
        </p:txBody>
      </p:sp>
      <p:sp>
        <p:nvSpPr>
          <p:cNvPr id="15" name="Text 13"/>
          <p:cNvSpPr txBox="1"/>
          <p:nvPr/>
        </p:nvSpPr>
        <p:spPr>
          <a:xfrm>
            <a:off x="3615811" y="2221992"/>
            <a:ext cx="310896" cy="274320"/>
          </a:xfrm>
          <a:prstGeom prst="rect">
            <a:avLst/>
          </a:prstGeom>
          <a:noFill/>
          <a:ln/>
        </p:spPr>
        <p:txBody>
          <a:bodyPr wrap="square" lIns="0" tIns="0" rIns="0" bIns="0" rtlCol="0" anchor="ctr"/>
          <a:lstStyle/>
          <a:p>
            <a:pPr algn="l" indent="0" marL="0">
              <a:buNone/>
            </a:pPr>
            <a:r>
              <a:rPr lang="en-US" sz="1200" b="1" dirty="0">
                <a:solidFill>
                  <a:schemeClr val="accent4"/>
                </a:solidFill>
              </a:rPr>
              <a:t>n</a:t>
            </a:r>
            <a:endParaRPr lang="en-US" sz="1200" dirty="0"/>
          </a:p>
        </p:txBody>
      </p:sp>
      <p:sp>
        <p:nvSpPr>
          <p:cNvPr id="16" name="Knoten Drache"/>
          <p:cNvSpPr txBox="1"/>
          <p:nvPr/>
        </p:nvSpPr>
        <p:spPr>
          <a:xfrm>
            <a:off x="642003" y="33192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Drache</a:t>
            </a:r>
            <a:endParaRPr lang="en-US" sz="1300" dirty="0"/>
          </a:p>
        </p:txBody>
      </p:sp>
      <p:sp>
        <p:nvSpPr>
          <p:cNvPr id="17" name="Knoten Greif"/>
          <p:cNvSpPr txBox="1"/>
          <p:nvPr/>
        </p:nvSpPr>
        <p:spPr>
          <a:xfrm>
            <a:off x="1875161" y="33192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Greif</a:t>
            </a:r>
            <a:endParaRPr lang="en-US" sz="1300" dirty="0"/>
          </a:p>
        </p:txBody>
      </p:sp>
      <p:sp>
        <p:nvSpPr>
          <p:cNvPr id="18" name="Knoten Speit es Feuer?"/>
          <p:cNvSpPr txBox="1"/>
          <p:nvPr/>
        </p:nvSpPr>
        <p:spPr>
          <a:xfrm>
            <a:off x="936637" y="2551176"/>
            <a:ext cx="151257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Speit es Feuer?</a:t>
            </a:r>
            <a:endParaRPr lang="en-US" sz="1300" dirty="0"/>
          </a:p>
        </p:txBody>
      </p:sp>
      <p:sp>
        <p:nvSpPr>
          <p:cNvPr id="19" name="Knoten Kraken"/>
          <p:cNvSpPr txBox="1"/>
          <p:nvPr/>
        </p:nvSpPr>
        <p:spPr>
          <a:xfrm>
            <a:off x="3108319" y="3319272"/>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Kraken</a:t>
            </a:r>
            <a:endParaRPr lang="en-US" sz="1300" dirty="0"/>
          </a:p>
        </p:txBody>
      </p:sp>
      <p:sp>
        <p:nvSpPr>
          <p:cNvPr id="20" name="Knoten Troll"/>
          <p:cNvSpPr txBox="1"/>
          <p:nvPr/>
        </p:nvSpPr>
        <p:spPr>
          <a:xfrm>
            <a:off x="4341477" y="3319272"/>
            <a:ext cx="868680" cy="475488"/>
          </a:xfrm>
          <a:prstGeom prst="roundRect">
            <a:avLst>
              <a:gd name="adj" fmla="val 19231"/>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300" b="1" dirty="0">
                <a:solidFill>
                  <a:schemeClr val="accent4"/>
                </a:solidFill>
              </a:rPr>
              <a:t>Troll</a:t>
            </a:r>
            <a:endParaRPr lang="en-US" sz="1300" dirty="0"/>
          </a:p>
        </p:txBody>
      </p:sp>
      <p:sp>
        <p:nvSpPr>
          <p:cNvPr id="21" name="Knoten Lebt es im Wasser?"/>
          <p:cNvSpPr txBox="1"/>
          <p:nvPr/>
        </p:nvSpPr>
        <p:spPr>
          <a:xfrm>
            <a:off x="3279128" y="2551176"/>
            <a:ext cx="176022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Lebt es im Wasser?</a:t>
            </a:r>
            <a:endParaRPr lang="en-US" sz="1300" dirty="0"/>
          </a:p>
        </p:txBody>
      </p:sp>
      <p:sp>
        <p:nvSpPr>
          <p:cNvPr id="22" name="Knoten Kann es fliegen?"/>
          <p:cNvSpPr txBox="1"/>
          <p:nvPr/>
        </p:nvSpPr>
        <p:spPr>
          <a:xfrm>
            <a:off x="2128520" y="1783080"/>
            <a:ext cx="159512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Kann es fliegen?</a:t>
            </a:r>
            <a:endParaRPr lang="en-US" sz="1300" dirty="0"/>
          </a:p>
        </p:txBody>
      </p:sp>
      <p:sp>
        <p:nvSpPr>
          <p:cNvPr id="23" name="Pfeil lernen"/>
          <p:cNvSpPr/>
          <p:nvPr/>
        </p:nvSpPr>
        <p:spPr>
          <a:xfrm>
            <a:off x="5349240" y="2743200"/>
            <a:ext cx="548640" cy="91"/>
          </a:xfrm>
          <a:prstGeom prst="line">
            <a:avLst/>
          </a:prstGeom>
          <a:noFill/>
          <a:ln w="38100">
            <a:solidFill>
              <a:schemeClr val="accent2"/>
            </a:solidFill>
            <a:prstDash val="solid"/>
            <a:tailEnd type="triangle"/>
          </a:ln>
        </p:spPr>
      </p:sp>
      <p:sp>
        <p:nvSpPr>
          <p:cNvPr id="24" name="Chip"/>
          <p:cNvSpPr txBox="1"/>
          <p:nvPr/>
        </p:nvSpPr>
        <p:spPr>
          <a:xfrm>
            <a:off x="6035040" y="1325880"/>
            <a:ext cx="118872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Nachher</a:t>
            </a:r>
            <a:endParaRPr lang="en-US" sz="1400" dirty="0"/>
          </a:p>
        </p:txBody>
      </p:sp>
      <p:sp>
        <p:nvSpPr>
          <p:cNvPr id="25" name="Kante Speit es Feuer?-Drache"/>
          <p:cNvSpPr/>
          <p:nvPr/>
        </p:nvSpPr>
        <p:spPr>
          <a:xfrm flipH="1">
            <a:off x="6484903" y="2761488"/>
            <a:ext cx="579049" cy="740664"/>
          </a:xfrm>
          <a:prstGeom prst="line">
            <a:avLst/>
          </a:prstGeom>
          <a:noFill/>
          <a:ln w="22225">
            <a:solidFill>
              <a:schemeClr val="accent1"/>
            </a:solidFill>
            <a:prstDash val="solid"/>
          </a:ln>
        </p:spPr>
      </p:sp>
      <p:sp>
        <p:nvSpPr>
          <p:cNvPr id="26" name="Kante Speit es Feuer?-Greif"/>
          <p:cNvSpPr/>
          <p:nvPr/>
        </p:nvSpPr>
        <p:spPr>
          <a:xfrm>
            <a:off x="7063952" y="2761488"/>
            <a:ext cx="579049" cy="740664"/>
          </a:xfrm>
          <a:prstGeom prst="line">
            <a:avLst/>
          </a:prstGeom>
          <a:noFill/>
          <a:ln w="22225">
            <a:solidFill>
              <a:schemeClr val="accent1"/>
            </a:solidFill>
            <a:prstDash val="solid"/>
          </a:ln>
        </p:spPr>
      </p:sp>
      <p:sp>
        <p:nvSpPr>
          <p:cNvPr id="27" name="Kante Kann es fliegen?-Speit es Feuer?"/>
          <p:cNvSpPr/>
          <p:nvPr/>
        </p:nvSpPr>
        <p:spPr>
          <a:xfrm flipH="1">
            <a:off x="7063952" y="2020824"/>
            <a:ext cx="1302861" cy="740664"/>
          </a:xfrm>
          <a:prstGeom prst="line">
            <a:avLst/>
          </a:prstGeom>
          <a:noFill/>
          <a:ln w="22225">
            <a:solidFill>
              <a:schemeClr val="accent1"/>
            </a:solidFill>
            <a:prstDash val="solid"/>
          </a:ln>
        </p:spPr>
      </p:sp>
      <p:sp>
        <p:nvSpPr>
          <p:cNvPr id="28" name="Kante Lebt es im Wasser?-Kraken"/>
          <p:cNvSpPr/>
          <p:nvPr/>
        </p:nvSpPr>
        <p:spPr>
          <a:xfrm flipH="1">
            <a:off x="8801100" y="2761488"/>
            <a:ext cx="868574" cy="740664"/>
          </a:xfrm>
          <a:prstGeom prst="line">
            <a:avLst/>
          </a:prstGeom>
          <a:noFill/>
          <a:ln w="22225">
            <a:solidFill>
              <a:schemeClr val="accent1"/>
            </a:solidFill>
            <a:prstDash val="solid"/>
          </a:ln>
        </p:spPr>
      </p:sp>
      <p:sp>
        <p:nvSpPr>
          <p:cNvPr id="29" name="Kante Ist es aus Stein?-Golem"/>
          <p:cNvSpPr/>
          <p:nvPr/>
        </p:nvSpPr>
        <p:spPr>
          <a:xfrm flipH="1">
            <a:off x="9959199" y="3502152"/>
            <a:ext cx="579049" cy="740664"/>
          </a:xfrm>
          <a:prstGeom prst="line">
            <a:avLst/>
          </a:prstGeom>
          <a:noFill/>
          <a:ln w="22225">
            <a:solidFill>
              <a:schemeClr val="accent1"/>
            </a:solidFill>
            <a:prstDash val="solid"/>
          </a:ln>
        </p:spPr>
      </p:sp>
      <p:sp>
        <p:nvSpPr>
          <p:cNvPr id="30" name="Kante Ist es aus Stein?-Troll"/>
          <p:cNvSpPr/>
          <p:nvPr/>
        </p:nvSpPr>
        <p:spPr>
          <a:xfrm>
            <a:off x="10538248" y="3502152"/>
            <a:ext cx="579049" cy="740664"/>
          </a:xfrm>
          <a:prstGeom prst="line">
            <a:avLst/>
          </a:prstGeom>
          <a:noFill/>
          <a:ln w="22225">
            <a:solidFill>
              <a:schemeClr val="accent1"/>
            </a:solidFill>
            <a:prstDash val="solid"/>
          </a:ln>
        </p:spPr>
      </p:sp>
      <p:sp>
        <p:nvSpPr>
          <p:cNvPr id="31" name="Kante Lebt es im Wasser?-Ist es aus Stein?"/>
          <p:cNvSpPr/>
          <p:nvPr/>
        </p:nvSpPr>
        <p:spPr>
          <a:xfrm>
            <a:off x="9669674" y="2761488"/>
            <a:ext cx="868574" cy="740664"/>
          </a:xfrm>
          <a:prstGeom prst="line">
            <a:avLst/>
          </a:prstGeom>
          <a:noFill/>
          <a:ln w="22225">
            <a:solidFill>
              <a:schemeClr val="accent1"/>
            </a:solidFill>
            <a:prstDash val="solid"/>
          </a:ln>
        </p:spPr>
      </p:sp>
      <p:sp>
        <p:nvSpPr>
          <p:cNvPr id="32" name="Kante Kann es fliegen?-Lebt es im Wasser?"/>
          <p:cNvSpPr/>
          <p:nvPr/>
        </p:nvSpPr>
        <p:spPr>
          <a:xfrm>
            <a:off x="8366813" y="2020824"/>
            <a:ext cx="1302861" cy="740664"/>
          </a:xfrm>
          <a:prstGeom prst="line">
            <a:avLst/>
          </a:prstGeom>
          <a:noFill/>
          <a:ln w="22225">
            <a:solidFill>
              <a:schemeClr val="accent1"/>
            </a:solidFill>
            <a:prstDash val="solid"/>
          </a:ln>
        </p:spPr>
      </p:sp>
      <p:sp>
        <p:nvSpPr>
          <p:cNvPr id="33" name="Text 31"/>
          <p:cNvSpPr txBox="1"/>
          <p:nvPr/>
        </p:nvSpPr>
        <p:spPr>
          <a:xfrm>
            <a:off x="6390379" y="2948940"/>
            <a:ext cx="310896" cy="274320"/>
          </a:xfrm>
          <a:prstGeom prst="rect">
            <a:avLst/>
          </a:prstGeom>
          <a:noFill/>
          <a:ln/>
        </p:spPr>
        <p:txBody>
          <a:bodyPr wrap="square" lIns="0" tIns="0" rIns="0" bIns="0" rtlCol="0" anchor="ctr"/>
          <a:lstStyle/>
          <a:p>
            <a:pPr algn="r" indent="0" marL="0">
              <a:buNone/>
            </a:pPr>
            <a:r>
              <a:rPr lang="en-US" sz="1200" b="1" dirty="0">
                <a:solidFill>
                  <a:schemeClr val="accent3"/>
                </a:solidFill>
              </a:rPr>
              <a:t>j</a:t>
            </a:r>
            <a:endParaRPr lang="en-US" sz="1200" dirty="0"/>
          </a:p>
        </p:txBody>
      </p:sp>
      <p:sp>
        <p:nvSpPr>
          <p:cNvPr id="34" name="Text 32"/>
          <p:cNvSpPr txBox="1"/>
          <p:nvPr/>
        </p:nvSpPr>
        <p:spPr>
          <a:xfrm>
            <a:off x="7426629" y="2948940"/>
            <a:ext cx="310896" cy="274320"/>
          </a:xfrm>
          <a:prstGeom prst="rect">
            <a:avLst/>
          </a:prstGeom>
          <a:noFill/>
          <a:ln/>
        </p:spPr>
        <p:txBody>
          <a:bodyPr wrap="square" lIns="0" tIns="0" rIns="0" bIns="0" rtlCol="0" anchor="ctr"/>
          <a:lstStyle/>
          <a:p>
            <a:pPr algn="l" indent="0" marL="0">
              <a:buNone/>
            </a:pPr>
            <a:r>
              <a:rPr lang="en-US" sz="1200" b="1" dirty="0">
                <a:solidFill>
                  <a:schemeClr val="accent4"/>
                </a:solidFill>
              </a:rPr>
              <a:t>n</a:t>
            </a:r>
            <a:endParaRPr lang="en-US" sz="1200" dirty="0"/>
          </a:p>
        </p:txBody>
      </p:sp>
      <p:sp>
        <p:nvSpPr>
          <p:cNvPr id="35" name="Text 33"/>
          <p:cNvSpPr txBox="1"/>
          <p:nvPr/>
        </p:nvSpPr>
        <p:spPr>
          <a:xfrm>
            <a:off x="7331335" y="2208276"/>
            <a:ext cx="310896" cy="274320"/>
          </a:xfrm>
          <a:prstGeom prst="rect">
            <a:avLst/>
          </a:prstGeom>
          <a:noFill/>
          <a:ln/>
        </p:spPr>
        <p:txBody>
          <a:bodyPr wrap="square" lIns="0" tIns="0" rIns="0" bIns="0" rtlCol="0" anchor="ctr"/>
          <a:lstStyle/>
          <a:p>
            <a:pPr algn="r" indent="0" marL="0">
              <a:buNone/>
            </a:pPr>
            <a:r>
              <a:rPr lang="en-US" sz="1200" b="1" dirty="0">
                <a:solidFill>
                  <a:schemeClr val="accent3"/>
                </a:solidFill>
              </a:rPr>
              <a:t>j</a:t>
            </a:r>
            <a:endParaRPr lang="en-US" sz="1200" dirty="0"/>
          </a:p>
        </p:txBody>
      </p:sp>
      <p:sp>
        <p:nvSpPr>
          <p:cNvPr id="36" name="Text 34"/>
          <p:cNvSpPr txBox="1"/>
          <p:nvPr/>
        </p:nvSpPr>
        <p:spPr>
          <a:xfrm>
            <a:off x="8851339" y="2948940"/>
            <a:ext cx="310896" cy="274320"/>
          </a:xfrm>
          <a:prstGeom prst="rect">
            <a:avLst/>
          </a:prstGeom>
          <a:noFill/>
          <a:ln/>
        </p:spPr>
        <p:txBody>
          <a:bodyPr wrap="square" lIns="0" tIns="0" rIns="0" bIns="0" rtlCol="0" anchor="ctr"/>
          <a:lstStyle/>
          <a:p>
            <a:pPr algn="r" indent="0" marL="0">
              <a:buNone/>
            </a:pPr>
            <a:r>
              <a:rPr lang="en-US" sz="1200" b="1" dirty="0">
                <a:solidFill>
                  <a:schemeClr val="accent3"/>
                </a:solidFill>
              </a:rPr>
              <a:t>j</a:t>
            </a:r>
            <a:endParaRPr lang="en-US" sz="1200" dirty="0"/>
          </a:p>
        </p:txBody>
      </p:sp>
      <p:sp>
        <p:nvSpPr>
          <p:cNvPr id="37" name="Text 35"/>
          <p:cNvSpPr txBox="1"/>
          <p:nvPr/>
        </p:nvSpPr>
        <p:spPr>
          <a:xfrm>
            <a:off x="9864675" y="3689604"/>
            <a:ext cx="310896" cy="274320"/>
          </a:xfrm>
          <a:prstGeom prst="rect">
            <a:avLst/>
          </a:prstGeom>
          <a:noFill/>
          <a:ln/>
        </p:spPr>
        <p:txBody>
          <a:bodyPr wrap="square" lIns="0" tIns="0" rIns="0" bIns="0" rtlCol="0" anchor="ctr"/>
          <a:lstStyle/>
          <a:p>
            <a:pPr algn="r" indent="0" marL="0">
              <a:buNone/>
            </a:pPr>
            <a:r>
              <a:rPr lang="en-US" sz="1200" b="1" dirty="0">
                <a:solidFill>
                  <a:schemeClr val="accent3"/>
                </a:solidFill>
              </a:rPr>
              <a:t>j</a:t>
            </a:r>
            <a:endParaRPr lang="en-US" sz="1200" dirty="0"/>
          </a:p>
        </p:txBody>
      </p:sp>
      <p:sp>
        <p:nvSpPr>
          <p:cNvPr id="38" name="Text 36"/>
          <p:cNvSpPr txBox="1"/>
          <p:nvPr/>
        </p:nvSpPr>
        <p:spPr>
          <a:xfrm>
            <a:off x="10900925" y="3689604"/>
            <a:ext cx="310896" cy="274320"/>
          </a:xfrm>
          <a:prstGeom prst="rect">
            <a:avLst/>
          </a:prstGeom>
          <a:noFill/>
          <a:ln/>
        </p:spPr>
        <p:txBody>
          <a:bodyPr wrap="square" lIns="0" tIns="0" rIns="0" bIns="0" rtlCol="0" anchor="ctr"/>
          <a:lstStyle/>
          <a:p>
            <a:pPr algn="l" indent="0" marL="0">
              <a:buNone/>
            </a:pPr>
            <a:r>
              <a:rPr lang="en-US" sz="1200" b="1" dirty="0">
                <a:solidFill>
                  <a:schemeClr val="accent4"/>
                </a:solidFill>
              </a:rPr>
              <a:t>n</a:t>
            </a:r>
            <a:endParaRPr lang="en-US" sz="1200" dirty="0"/>
          </a:p>
        </p:txBody>
      </p:sp>
      <p:sp>
        <p:nvSpPr>
          <p:cNvPr id="39" name="Text 37"/>
          <p:cNvSpPr txBox="1"/>
          <p:nvPr/>
        </p:nvSpPr>
        <p:spPr>
          <a:xfrm>
            <a:off x="10177113" y="2948940"/>
            <a:ext cx="310896" cy="274320"/>
          </a:xfrm>
          <a:prstGeom prst="rect">
            <a:avLst/>
          </a:prstGeom>
          <a:noFill/>
          <a:ln/>
        </p:spPr>
        <p:txBody>
          <a:bodyPr wrap="square" lIns="0" tIns="0" rIns="0" bIns="0" rtlCol="0" anchor="ctr"/>
          <a:lstStyle/>
          <a:p>
            <a:pPr algn="l" indent="0" marL="0">
              <a:buNone/>
            </a:pPr>
            <a:r>
              <a:rPr lang="en-US" sz="1200" b="1" dirty="0">
                <a:solidFill>
                  <a:schemeClr val="accent4"/>
                </a:solidFill>
              </a:rPr>
              <a:t>n</a:t>
            </a:r>
            <a:endParaRPr lang="en-US" sz="1200" dirty="0"/>
          </a:p>
        </p:txBody>
      </p:sp>
      <p:sp>
        <p:nvSpPr>
          <p:cNvPr id="40" name="Text 38"/>
          <p:cNvSpPr txBox="1"/>
          <p:nvPr/>
        </p:nvSpPr>
        <p:spPr>
          <a:xfrm>
            <a:off x="9091395" y="2208276"/>
            <a:ext cx="310896" cy="274320"/>
          </a:xfrm>
          <a:prstGeom prst="rect">
            <a:avLst/>
          </a:prstGeom>
          <a:noFill/>
          <a:ln/>
        </p:spPr>
        <p:txBody>
          <a:bodyPr wrap="square" lIns="0" tIns="0" rIns="0" bIns="0" rtlCol="0" anchor="ctr"/>
          <a:lstStyle/>
          <a:p>
            <a:pPr algn="l" indent="0" marL="0">
              <a:buNone/>
            </a:pPr>
            <a:r>
              <a:rPr lang="en-US" sz="1200" b="1" dirty="0">
                <a:solidFill>
                  <a:schemeClr val="accent4"/>
                </a:solidFill>
              </a:rPr>
              <a:t>n</a:t>
            </a:r>
            <a:endParaRPr lang="en-US" sz="1200" dirty="0"/>
          </a:p>
        </p:txBody>
      </p:sp>
      <p:sp>
        <p:nvSpPr>
          <p:cNvPr id="41" name="Knoten Drache"/>
          <p:cNvSpPr txBox="1"/>
          <p:nvPr/>
        </p:nvSpPr>
        <p:spPr>
          <a:xfrm>
            <a:off x="6050563" y="3264408"/>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Drache</a:t>
            </a:r>
            <a:endParaRPr lang="en-US" sz="1300" dirty="0"/>
          </a:p>
        </p:txBody>
      </p:sp>
      <p:sp>
        <p:nvSpPr>
          <p:cNvPr id="42" name="Knoten Greif"/>
          <p:cNvSpPr txBox="1"/>
          <p:nvPr/>
        </p:nvSpPr>
        <p:spPr>
          <a:xfrm>
            <a:off x="7208661" y="3264408"/>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Greif</a:t>
            </a:r>
            <a:endParaRPr lang="en-US" sz="1300" dirty="0"/>
          </a:p>
        </p:txBody>
      </p:sp>
      <p:sp>
        <p:nvSpPr>
          <p:cNvPr id="43" name="Knoten Speit es Feuer?"/>
          <p:cNvSpPr txBox="1"/>
          <p:nvPr/>
        </p:nvSpPr>
        <p:spPr>
          <a:xfrm>
            <a:off x="6307667" y="2523744"/>
            <a:ext cx="151257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Speit es Feuer?</a:t>
            </a:r>
            <a:endParaRPr lang="en-US" sz="1300" dirty="0"/>
          </a:p>
        </p:txBody>
      </p:sp>
      <p:sp>
        <p:nvSpPr>
          <p:cNvPr id="44" name="Knoten Kraken"/>
          <p:cNvSpPr txBox="1"/>
          <p:nvPr/>
        </p:nvSpPr>
        <p:spPr>
          <a:xfrm>
            <a:off x="8366760" y="3264408"/>
            <a:ext cx="868680" cy="475488"/>
          </a:xfrm>
          <a:prstGeom prst="roundRect">
            <a:avLst>
              <a:gd name="adj" fmla="val 19231"/>
            </a:avLst>
          </a:prstGeom>
          <a:solidFill>
            <a:srgbClr val="FFF2CC"/>
          </a:solidFill>
          <a:ln w="22225">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Kraken</a:t>
            </a:r>
            <a:endParaRPr lang="en-US" sz="1300" dirty="0"/>
          </a:p>
        </p:txBody>
      </p:sp>
      <p:sp>
        <p:nvSpPr>
          <p:cNvPr id="45" name="Knoten Golem"/>
          <p:cNvSpPr txBox="1"/>
          <p:nvPr/>
        </p:nvSpPr>
        <p:spPr>
          <a:xfrm>
            <a:off x="9524859" y="4005072"/>
            <a:ext cx="868680" cy="475488"/>
          </a:xfrm>
          <a:prstGeom prst="roundRect">
            <a:avLst>
              <a:gd name="adj" fmla="val 19231"/>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300" b="1" dirty="0">
                <a:solidFill>
                  <a:schemeClr val="accent3"/>
                </a:solidFill>
              </a:rPr>
              <a:t>Golem</a:t>
            </a:r>
            <a:endParaRPr lang="en-US" sz="1300" dirty="0"/>
          </a:p>
        </p:txBody>
      </p:sp>
      <p:sp>
        <p:nvSpPr>
          <p:cNvPr id="46" name="Knoten Troll"/>
          <p:cNvSpPr txBox="1"/>
          <p:nvPr/>
        </p:nvSpPr>
        <p:spPr>
          <a:xfrm>
            <a:off x="10682957" y="4005072"/>
            <a:ext cx="868680" cy="475488"/>
          </a:xfrm>
          <a:prstGeom prst="roundRect">
            <a:avLst>
              <a:gd name="adj" fmla="val 19231"/>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300" b="1" dirty="0">
                <a:solidFill>
                  <a:schemeClr val="accent4"/>
                </a:solidFill>
              </a:rPr>
              <a:t>Troll</a:t>
            </a:r>
            <a:endParaRPr lang="en-US" sz="1300" dirty="0"/>
          </a:p>
        </p:txBody>
      </p:sp>
      <p:sp>
        <p:nvSpPr>
          <p:cNvPr id="47" name="Knoten Ist es aus Stein?"/>
          <p:cNvSpPr txBox="1"/>
          <p:nvPr/>
        </p:nvSpPr>
        <p:spPr>
          <a:xfrm>
            <a:off x="9699413" y="3264408"/>
            <a:ext cx="1677670" cy="475488"/>
          </a:xfrm>
          <a:prstGeom prst="roundRect">
            <a:avLst>
              <a:gd name="adj" fmla="val 19231"/>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Ist es aus Stein?</a:t>
            </a:r>
            <a:endParaRPr lang="en-US" sz="1300" dirty="0"/>
          </a:p>
        </p:txBody>
      </p:sp>
      <p:sp>
        <p:nvSpPr>
          <p:cNvPr id="48" name="Knoten Lebt es im Wasser?"/>
          <p:cNvSpPr txBox="1"/>
          <p:nvPr/>
        </p:nvSpPr>
        <p:spPr>
          <a:xfrm>
            <a:off x="8789564" y="2523744"/>
            <a:ext cx="176022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Lebt es im Wasser?</a:t>
            </a:r>
            <a:endParaRPr lang="en-US" sz="1300" dirty="0"/>
          </a:p>
        </p:txBody>
      </p:sp>
      <p:sp>
        <p:nvSpPr>
          <p:cNvPr id="49" name="Knoten Kann es fliegen?"/>
          <p:cNvSpPr txBox="1"/>
          <p:nvPr/>
        </p:nvSpPr>
        <p:spPr>
          <a:xfrm>
            <a:off x="7569253" y="1783080"/>
            <a:ext cx="1595120" cy="475488"/>
          </a:xfrm>
          <a:prstGeom prst="roundRect">
            <a:avLst>
              <a:gd name="adj" fmla="val 19231"/>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300" b="1" dirty="0">
                <a:solidFill>
                  <a:schemeClr val="bg1"/>
                </a:solidFill>
              </a:rPr>
              <a:t>Kann es fliegen?</a:t>
            </a:r>
            <a:endParaRPr lang="en-US" sz="1300" dirty="0"/>
          </a:p>
        </p:txBody>
      </p:sp>
      <p:sp>
        <p:nvSpPr>
          <p:cNvPr id="50" name="Code"/>
          <p:cNvSpPr txBox="1"/>
          <p:nvPr/>
        </p:nvSpPr>
        <p:spPr>
          <a:xfrm>
            <a:off x="548640" y="4023360"/>
            <a:ext cx="5486400" cy="2206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in lernen(b, …): b ist das erreichte Blatt</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alt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frage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i="1" dirty="0">
                <a:solidFill>
                  <a:schemeClr val="accent3"/>
                </a:solidFill>
                <a:latin typeface="Consolas" pitchFamily="34" charset="0"/>
                <a:ea typeface="Consolas" pitchFamily="34" charset="-122"/>
                <a:cs typeface="Consolas" pitchFamily="34" charset="-120"/>
              </a:rPr>
              <a:t>// Blatt wird Frageknoten</a:t>
            </a:r>
            <a:endParaRPr lang="en-US" sz="1200" dirty="0"/>
          </a:p>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jaFuerNeu</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neu</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alt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else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alt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neu</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51" name="Text 49"/>
          <p:cNvSpPr txBox="1"/>
          <p:nvPr/>
        </p:nvSpPr>
        <p:spPr>
          <a:xfrm>
            <a:off x="6309360" y="4572000"/>
            <a:ext cx="5303520" cy="3200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lernen("nn", "Golem", "Ist es aus Stein?", true)</a:t>
            </a:r>
            <a:endParaRPr lang="en-US" sz="1800" dirty="0"/>
          </a:p>
        </p:txBody>
      </p:sp>
      <p:graphicFrame>
        <p:nvGraphicFramePr>
          <p:cNvPr id="23" name="Vorher Nachher Zahlen"/>
          <p:cNvGraphicFramePr>
            <a:graphicFrameLocks noGrp="1"/>
          </p:cNvGraphicFramePr>
          <p:nvPr>
            <p:extLst>
              <p:ext uri="{D42A27DB-BD31-4B8C-83A1-F6EECF244321}">
                <p14:modId xmlns:p14="http://schemas.microsoft.com/office/powerpoint/2010/main" val="1579011935"/>
              </p:ext>
            </p:extLst>
          </p:nvPr>
        </p:nvGraphicFramePr>
        <p:xfrm>
          <a:off x="6309360" y="4937760"/>
          <a:ext cx="5303520" cy="914400"/>
        </p:xfrm>
        <a:graphic>
          <a:graphicData uri="http://schemas.openxmlformats.org/drawingml/2006/table">
            <a:tbl>
              <a:tblPr/>
              <a:tblGrid>
                <a:gridCol w="2194560"/>
                <a:gridCol w="1554480"/>
                <a:gridCol w="1554480"/>
              </a:tblGrid>
              <a:tr h="237744">
                <a:tc>
                  <a:txBody>
                    <a:bodyPr/>
                    <a:lstStyle/>
                    <a:p>
                      <a:pPr algn="ct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vorher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nachher</a:t>
                      </a:r>
                      <a:endParaRPr lang="en-US" sz="13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37744">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anzahlMonster()</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37744">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anzahlFragen()</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37744">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raten("nnj")</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Troll</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Golem</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37744">
                <a:tc>
                  <a:txBody>
                    <a:bodyPr/>
                    <a:lstStyle/>
                    <a:p>
                      <a:pPr algn="l" indent="0" marL="0">
                        <a:buNone/>
                      </a:pPr>
                      <a:r>
                        <a:rPr lang="en-US" sz="1300" b="1" dirty="0">
                          <a:solidFill>
                            <a:schemeClr val="accent1"/>
                          </a:solidFill>
                          <a:latin typeface="Consolas" pitchFamily="34" charset="0"/>
                          <a:ea typeface="Consolas" pitchFamily="34" charset="-122"/>
                          <a:cs typeface="Consolas" pitchFamily="34" charset="-120"/>
                        </a:rPr>
                        <a:t>raten("nn")</a:t>
                      </a:r>
                      <a:endParaRPr lang="en-US" sz="13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Troll</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53" name="Text 5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33 · Kür · lernen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Level-Order: ebenenweise mit einer Schlange</a:t>
            </a:r>
            <a:endParaRPr lang="en-US" sz="3600" dirty="0"/>
          </a:p>
        </p:txBody>
      </p:sp>
      <p:sp>
        <p:nvSpPr>
          <p:cNvPr id="3" name="Code"/>
          <p:cNvSpPr txBox="1"/>
          <p:nvPr/>
        </p:nvSpPr>
        <p:spPr>
          <a:xfrm>
            <a:off x="548640" y="1325880"/>
            <a:ext cx="5120640" cy="3730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static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levelorder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String</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text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new</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enqueue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while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BinTree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dequeue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text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text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getItem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enqueue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getLeft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isEmpty</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q</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enqueue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getRight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text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4" name="Schlange von Baeumen"/>
          <p:cNvSpPr/>
          <p:nvPr/>
        </p:nvSpPr>
        <p:spPr>
          <a:xfrm>
            <a:off x="548640" y="5074920"/>
            <a:ext cx="5120640" cy="1051560"/>
          </a:xfrm>
          <a:prstGeom prst="roundRect">
            <a:avLst>
              <a:gd name="adj" fmla="val 10435"/>
            </a:avLst>
          </a:prstGeom>
          <a:solidFill>
            <a:schemeClr val="bg2"/>
          </a:solidFill>
          <a:ln/>
        </p:spPr>
      </p:sp>
      <p:sp>
        <p:nvSpPr>
          <p:cNvPr id="5" name="Text 3"/>
          <p:cNvSpPr txBox="1"/>
          <p:nvPr/>
        </p:nvSpPr>
        <p:spPr>
          <a:xfrm>
            <a:off x="749808" y="5074920"/>
            <a:ext cx="4754880" cy="1051560"/>
          </a:xfrm>
          <a:prstGeom prst="rect">
            <a:avLst/>
          </a:prstGeom>
          <a:noFill/>
          <a:ln/>
        </p:spPr>
        <p:txBody>
          <a:bodyPr wrap="square" lIns="0" tIns="0" rIns="0" bIns="0" rtlCol="0" anchor="ctr"/>
          <a:lstStyle/>
          <a:p>
            <a:pPr indent="0" marL="0">
              <a:buNone/>
            </a:pPr>
            <a:r>
              <a:rPr lang="en-US" sz="1400" b="1" dirty="0">
                <a:solidFill>
                  <a:schemeClr val="accent1"/>
                </a:solidFill>
              </a:rPr>
              <a:t>Schlange vom Inhaltstyp Binärbaum: </a:t>
            </a:r>
            <a:pPr indent="0" marL="0">
              <a:buNone/>
            </a:pPr>
            <a:r>
              <a:rPr lang="en-US" sz="1400" dirty="0">
                <a:solidFill>
                  <a:schemeClr val="tx1"/>
                </a:solidFill>
              </a:rPr>
              <a:t>In der Schlange stehen ganze Teilbäume – beim Entnehmen Cast (BinTree).</a:t>
            </a:r>
            <a:endParaRPr lang="en-US" sz="1400" dirty="0"/>
          </a:p>
        </p:txBody>
      </p:sp>
      <p:sp>
        <p:nvSpPr>
          <p:cNvPr id="6" name="Kante 3-1"/>
          <p:cNvSpPr/>
          <p:nvPr/>
        </p:nvSpPr>
        <p:spPr>
          <a:xfrm flipH="1">
            <a:off x="6921513" y="1914144"/>
            <a:ext cx="675665" cy="423672"/>
          </a:xfrm>
          <a:prstGeom prst="line">
            <a:avLst/>
          </a:prstGeom>
          <a:noFill/>
          <a:ln w="22225">
            <a:solidFill>
              <a:schemeClr val="accent1"/>
            </a:solidFill>
            <a:prstDash val="solid"/>
          </a:ln>
        </p:spPr>
      </p:sp>
      <p:sp>
        <p:nvSpPr>
          <p:cNvPr id="7" name="Kante 6-4"/>
          <p:cNvSpPr/>
          <p:nvPr/>
        </p:nvSpPr>
        <p:spPr>
          <a:xfrm flipH="1">
            <a:off x="7822399" y="2337816"/>
            <a:ext cx="450443" cy="423672"/>
          </a:xfrm>
          <a:prstGeom prst="line">
            <a:avLst/>
          </a:prstGeom>
          <a:noFill/>
          <a:ln w="22225">
            <a:solidFill>
              <a:schemeClr val="accent1"/>
            </a:solidFill>
            <a:prstDash val="solid"/>
          </a:ln>
        </p:spPr>
      </p:sp>
      <p:sp>
        <p:nvSpPr>
          <p:cNvPr id="8" name="Kante 6-7"/>
          <p:cNvSpPr/>
          <p:nvPr/>
        </p:nvSpPr>
        <p:spPr>
          <a:xfrm>
            <a:off x="8272843" y="2337816"/>
            <a:ext cx="450443" cy="423672"/>
          </a:xfrm>
          <a:prstGeom prst="line">
            <a:avLst/>
          </a:prstGeom>
          <a:noFill/>
          <a:ln w="22225">
            <a:solidFill>
              <a:schemeClr val="accent1"/>
            </a:solidFill>
            <a:prstDash val="solid"/>
          </a:ln>
        </p:spPr>
      </p:sp>
      <p:sp>
        <p:nvSpPr>
          <p:cNvPr id="9" name="Kante 3-6"/>
          <p:cNvSpPr/>
          <p:nvPr/>
        </p:nvSpPr>
        <p:spPr>
          <a:xfrm>
            <a:off x="7597178" y="1914144"/>
            <a:ext cx="675665" cy="423672"/>
          </a:xfrm>
          <a:prstGeom prst="line">
            <a:avLst/>
          </a:prstGeom>
          <a:noFill/>
          <a:ln w="22225">
            <a:solidFill>
              <a:schemeClr val="accent1"/>
            </a:solidFill>
            <a:prstDash val="solid"/>
          </a:ln>
        </p:spPr>
      </p:sp>
      <p:sp>
        <p:nvSpPr>
          <p:cNvPr id="10" name="Kante 8-3"/>
          <p:cNvSpPr/>
          <p:nvPr/>
        </p:nvSpPr>
        <p:spPr>
          <a:xfrm flipH="1">
            <a:off x="7597178" y="1490472"/>
            <a:ext cx="1218308" cy="423672"/>
          </a:xfrm>
          <a:prstGeom prst="line">
            <a:avLst/>
          </a:prstGeom>
          <a:noFill/>
          <a:ln w="22225">
            <a:solidFill>
              <a:schemeClr val="accent1"/>
            </a:solidFill>
            <a:prstDash val="solid"/>
          </a:ln>
        </p:spPr>
      </p:sp>
      <p:sp>
        <p:nvSpPr>
          <p:cNvPr id="11" name="Kante 14-13"/>
          <p:cNvSpPr/>
          <p:nvPr/>
        </p:nvSpPr>
        <p:spPr>
          <a:xfrm flipH="1">
            <a:off x="10221010" y="2337816"/>
            <a:ext cx="374431" cy="423672"/>
          </a:xfrm>
          <a:prstGeom prst="line">
            <a:avLst/>
          </a:prstGeom>
          <a:noFill/>
          <a:ln w="22225">
            <a:solidFill>
              <a:schemeClr val="accent1"/>
            </a:solidFill>
            <a:prstDash val="solid"/>
          </a:ln>
        </p:spPr>
      </p:sp>
      <p:sp>
        <p:nvSpPr>
          <p:cNvPr id="12" name="Kante 10-14"/>
          <p:cNvSpPr/>
          <p:nvPr/>
        </p:nvSpPr>
        <p:spPr>
          <a:xfrm>
            <a:off x="10033795" y="1914144"/>
            <a:ext cx="561647" cy="423672"/>
          </a:xfrm>
          <a:prstGeom prst="line">
            <a:avLst/>
          </a:prstGeom>
          <a:noFill/>
          <a:ln w="22225">
            <a:solidFill>
              <a:schemeClr val="accent1"/>
            </a:solidFill>
            <a:prstDash val="solid"/>
          </a:ln>
        </p:spPr>
      </p:sp>
      <p:sp>
        <p:nvSpPr>
          <p:cNvPr id="13" name="Kante 8-10"/>
          <p:cNvSpPr/>
          <p:nvPr/>
        </p:nvSpPr>
        <p:spPr>
          <a:xfrm>
            <a:off x="8815486" y="1490472"/>
            <a:ext cx="1218308" cy="423672"/>
          </a:xfrm>
          <a:prstGeom prst="line">
            <a:avLst/>
          </a:prstGeom>
          <a:noFill/>
          <a:ln w="22225">
            <a:solidFill>
              <a:schemeClr val="accent1"/>
            </a:solidFill>
            <a:prstDash val="solid"/>
          </a:ln>
        </p:spPr>
      </p:sp>
      <p:sp>
        <p:nvSpPr>
          <p:cNvPr id="14" name="Knoten 1"/>
          <p:cNvSpPr txBox="1"/>
          <p:nvPr/>
        </p:nvSpPr>
        <p:spPr>
          <a:xfrm>
            <a:off x="6756921" y="2173224"/>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15" name="Knoten 4"/>
          <p:cNvSpPr txBox="1"/>
          <p:nvPr/>
        </p:nvSpPr>
        <p:spPr>
          <a:xfrm>
            <a:off x="7657807" y="2596896"/>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16" name="Knoten 7"/>
          <p:cNvSpPr txBox="1"/>
          <p:nvPr/>
        </p:nvSpPr>
        <p:spPr>
          <a:xfrm>
            <a:off x="8558694" y="2596896"/>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7</a:t>
            </a:r>
            <a:endParaRPr lang="en-US" sz="1300" dirty="0"/>
          </a:p>
        </p:txBody>
      </p:sp>
      <p:sp>
        <p:nvSpPr>
          <p:cNvPr id="17" name="Knoten 6"/>
          <p:cNvSpPr txBox="1"/>
          <p:nvPr/>
        </p:nvSpPr>
        <p:spPr>
          <a:xfrm>
            <a:off x="8108251" y="2173224"/>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6</a:t>
            </a:r>
            <a:endParaRPr lang="en-US" sz="1300" dirty="0"/>
          </a:p>
        </p:txBody>
      </p:sp>
      <p:sp>
        <p:nvSpPr>
          <p:cNvPr id="18" name="Knoten 3"/>
          <p:cNvSpPr txBox="1"/>
          <p:nvPr/>
        </p:nvSpPr>
        <p:spPr>
          <a:xfrm>
            <a:off x="7432586" y="1749552"/>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9" name="Knoten 13"/>
          <p:cNvSpPr txBox="1"/>
          <p:nvPr/>
        </p:nvSpPr>
        <p:spPr>
          <a:xfrm>
            <a:off x="10056418" y="2596896"/>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13</a:t>
            </a:r>
            <a:endParaRPr lang="en-US" sz="1300" dirty="0"/>
          </a:p>
        </p:txBody>
      </p:sp>
      <p:sp>
        <p:nvSpPr>
          <p:cNvPr id="20" name="Knoten 14"/>
          <p:cNvSpPr txBox="1"/>
          <p:nvPr/>
        </p:nvSpPr>
        <p:spPr>
          <a:xfrm>
            <a:off x="10430849" y="2173224"/>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14</a:t>
            </a:r>
            <a:endParaRPr lang="en-US" sz="1300" dirty="0"/>
          </a:p>
        </p:txBody>
      </p:sp>
      <p:sp>
        <p:nvSpPr>
          <p:cNvPr id="21" name="Knoten 10"/>
          <p:cNvSpPr txBox="1"/>
          <p:nvPr/>
        </p:nvSpPr>
        <p:spPr>
          <a:xfrm>
            <a:off x="9869203" y="1749552"/>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10</a:t>
            </a:r>
            <a:endParaRPr lang="en-US" sz="1300" dirty="0"/>
          </a:p>
        </p:txBody>
      </p:sp>
      <p:sp>
        <p:nvSpPr>
          <p:cNvPr id="22" name="Knoten 8"/>
          <p:cNvSpPr txBox="1"/>
          <p:nvPr/>
        </p:nvSpPr>
        <p:spPr>
          <a:xfrm>
            <a:off x="8650894" y="1325880"/>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8</a:t>
            </a:r>
            <a:endParaRPr lang="en-US" sz="1300" dirty="0"/>
          </a:p>
        </p:txBody>
      </p:sp>
      <p:sp>
        <p:nvSpPr>
          <p:cNvPr id="23" name="Text 21"/>
          <p:cNvSpPr txBox="1"/>
          <p:nvPr/>
        </p:nvSpPr>
        <p:spPr>
          <a:xfrm>
            <a:off x="5943600" y="1371600"/>
            <a:ext cx="457200" cy="237744"/>
          </a:xfrm>
          <a:prstGeom prst="rect">
            <a:avLst/>
          </a:prstGeom>
          <a:noFill/>
          <a:ln/>
        </p:spPr>
        <p:txBody>
          <a:bodyPr wrap="square" lIns="0" tIns="0" rIns="0" bIns="0" rtlCol="0" anchor="ctr"/>
          <a:lstStyle/>
          <a:p>
            <a:pPr indent="0" marL="0">
              <a:buNone/>
            </a:pPr>
            <a:r>
              <a:rPr lang="en-US" sz="1100" i="1" dirty="0">
                <a:solidFill>
                  <a:schemeClr val="accent6"/>
                </a:solidFill>
              </a:rPr>
              <a:t>E0</a:t>
            </a:r>
            <a:endParaRPr lang="en-US" sz="1100" dirty="0"/>
          </a:p>
        </p:txBody>
      </p:sp>
      <p:sp>
        <p:nvSpPr>
          <p:cNvPr id="24" name="Text 22"/>
          <p:cNvSpPr txBox="1"/>
          <p:nvPr/>
        </p:nvSpPr>
        <p:spPr>
          <a:xfrm>
            <a:off x="5943600" y="1795272"/>
            <a:ext cx="457200" cy="237744"/>
          </a:xfrm>
          <a:prstGeom prst="rect">
            <a:avLst/>
          </a:prstGeom>
          <a:noFill/>
          <a:ln/>
        </p:spPr>
        <p:txBody>
          <a:bodyPr wrap="square" lIns="0" tIns="0" rIns="0" bIns="0" rtlCol="0" anchor="ctr"/>
          <a:lstStyle/>
          <a:p>
            <a:pPr indent="0" marL="0">
              <a:buNone/>
            </a:pPr>
            <a:r>
              <a:rPr lang="en-US" sz="1100" i="1" dirty="0">
                <a:solidFill>
                  <a:schemeClr val="accent6"/>
                </a:solidFill>
              </a:rPr>
              <a:t>E1</a:t>
            </a:r>
            <a:endParaRPr lang="en-US" sz="1100" dirty="0"/>
          </a:p>
        </p:txBody>
      </p:sp>
      <p:sp>
        <p:nvSpPr>
          <p:cNvPr id="25" name="Text 23"/>
          <p:cNvSpPr txBox="1"/>
          <p:nvPr/>
        </p:nvSpPr>
        <p:spPr>
          <a:xfrm>
            <a:off x="5943600" y="2218944"/>
            <a:ext cx="457200" cy="237744"/>
          </a:xfrm>
          <a:prstGeom prst="rect">
            <a:avLst/>
          </a:prstGeom>
          <a:noFill/>
          <a:ln/>
        </p:spPr>
        <p:txBody>
          <a:bodyPr wrap="square" lIns="0" tIns="0" rIns="0" bIns="0" rtlCol="0" anchor="ctr"/>
          <a:lstStyle/>
          <a:p>
            <a:pPr indent="0" marL="0">
              <a:buNone/>
            </a:pPr>
            <a:r>
              <a:rPr lang="en-US" sz="1100" i="1" dirty="0">
                <a:solidFill>
                  <a:schemeClr val="accent6"/>
                </a:solidFill>
              </a:rPr>
              <a:t>E2</a:t>
            </a:r>
            <a:endParaRPr lang="en-US" sz="1100" dirty="0"/>
          </a:p>
        </p:txBody>
      </p:sp>
      <p:sp>
        <p:nvSpPr>
          <p:cNvPr id="26" name="Text 24"/>
          <p:cNvSpPr txBox="1"/>
          <p:nvPr/>
        </p:nvSpPr>
        <p:spPr>
          <a:xfrm>
            <a:off x="5943600" y="2642616"/>
            <a:ext cx="457200" cy="237744"/>
          </a:xfrm>
          <a:prstGeom prst="rect">
            <a:avLst/>
          </a:prstGeom>
          <a:noFill/>
          <a:ln/>
        </p:spPr>
        <p:txBody>
          <a:bodyPr wrap="square" lIns="0" tIns="0" rIns="0" bIns="0" rtlCol="0" anchor="ctr"/>
          <a:lstStyle/>
          <a:p>
            <a:pPr indent="0" marL="0">
              <a:buNone/>
            </a:pPr>
            <a:r>
              <a:rPr lang="en-US" sz="1100" i="1" dirty="0">
                <a:solidFill>
                  <a:schemeClr val="accent6"/>
                </a:solidFill>
              </a:rPr>
              <a:t>E3</a:t>
            </a:r>
            <a:endParaRPr lang="en-US" sz="1100" dirty="0"/>
          </a:p>
        </p:txBody>
      </p:sp>
      <p:graphicFrame>
        <p:nvGraphicFramePr>
          <p:cNvPr id="24" name="Trace Level-Order"/>
          <p:cNvGraphicFramePr>
            <a:graphicFrameLocks noGrp="1"/>
          </p:cNvGraphicFramePr>
          <p:nvPr>
            <p:extLst>
              <p:ext uri="{D42A27DB-BD31-4B8C-83A1-F6EECF244321}">
                <p14:modId xmlns:p14="http://schemas.microsoft.com/office/powerpoint/2010/main" val="1579011935"/>
              </p:ext>
            </p:extLst>
          </p:nvPr>
        </p:nvGraphicFramePr>
        <p:xfrm>
          <a:off x="5897880" y="3063240"/>
          <a:ext cx="5715000" cy="914400"/>
        </p:xfrm>
        <a:graphic>
          <a:graphicData uri="http://schemas.openxmlformats.org/drawingml/2006/table">
            <a:tbl>
              <a:tblPr/>
              <a:tblGrid>
                <a:gridCol w="411480"/>
                <a:gridCol w="960120"/>
                <a:gridCol w="1783080"/>
                <a:gridCol w="2560320"/>
              </a:tblGrid>
              <a:tr h="256032">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Nr</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entnommen</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Schlange (vorne … hinten)</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text</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8</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3 10</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10 1 6</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1 6 14</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10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6 14</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10 1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14 4 7</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10 1 6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4 7 13</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10 1 6 14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7 13</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10 1 6 14 4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13</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10 1 6 14 4 7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256032">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latin typeface="Consolas" pitchFamily="34" charset="0"/>
                          <a:ea typeface="Consolas" pitchFamily="34" charset="-122"/>
                          <a:cs typeface="Consolas" pitchFamily="34" charset="-120"/>
                        </a:rPr>
                        <a:t>"8 3 10 1 6 14 4 7 13 "</a:t>
                      </a:r>
                      <a:endParaRPr lang="en-US" sz="1000" dirty="0">
                        <a:latin typeface="Consolas" charset="0"/>
                        <a:ea typeface="Consolas" charset="0"/>
                        <a:cs typeface="Consolas" charset="0"/>
                      </a:endParaRPr>
                    </a:p>
                  </a:txBody>
                  <a:tcPr marL="45720" marR="45720" marT="9144" marB="914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28" name="Text 25"/>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33 · Kür · Level-Order</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Online-IDE: Level 5.3 – class Akinator · Exit-Ticket</a:t>
            </a:r>
            <a:endParaRPr lang="en-US" sz="3600" dirty="0"/>
          </a:p>
        </p:txBody>
      </p:sp>
      <p:sp>
        <p:nvSpPr>
          <p:cNvPr id="3" name="Level-Karte"/>
          <p:cNvSpPr/>
          <p:nvPr/>
        </p:nvSpPr>
        <p:spPr>
          <a:xfrm>
            <a:off x="548640" y="1325880"/>
            <a:ext cx="6720840" cy="4800600"/>
          </a:xfrm>
          <a:prstGeom prst="roundRect">
            <a:avLst>
              <a:gd name="adj" fmla="val 2286"/>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Level-Kopf"/>
          <p:cNvSpPr txBox="1"/>
          <p:nvPr/>
        </p:nvSpPr>
        <p:spPr>
          <a:xfrm>
            <a:off x="548640" y="1325880"/>
            <a:ext cx="6720840" cy="502920"/>
          </a:xfrm>
          <a:prstGeom prst="rect">
            <a:avLst/>
          </a:prstGeom>
          <a:solidFill>
            <a:schemeClr val="accent1"/>
          </a:solidFill>
          <a:ln/>
        </p:spPr>
        <p:txBody>
          <a:bodyPr wrap="square" lIns="127000" tIns="0" rIns="127000" bIns="0" rtlCol="0" anchor="ctr"/>
          <a:lstStyle/>
          <a:p>
            <a:pPr indent="0" marL="0">
              <a:buNone/>
            </a:pPr>
            <a:r>
              <a:rPr lang="en-US" sz="1800" b="1" dirty="0">
                <a:solidFill>
                  <a:schemeClr val="accent2"/>
                </a:solidFill>
              </a:rPr>
              <a:t>IDE-Level 5.3 · </a:t>
            </a:r>
            <a:pPr indent="0" marL="0">
              <a:buNone/>
            </a:pPr>
            <a:r>
              <a:rPr lang="en-US" sz="1800" b="1" dirty="0">
                <a:solidFill>
                  <a:schemeClr val="bg1"/>
                </a:solidFill>
                <a:latin typeface="Consolas" pitchFamily="34" charset="0"/>
                <a:ea typeface="Consolas" pitchFamily="34" charset="-122"/>
                <a:cs typeface="Consolas" pitchFamily="34" charset="-120"/>
              </a:rPr>
              <a:t>class Akinator</a:t>
            </a:r>
            <a:pPr indent="0" marL="0">
              <a:buNone/>
            </a:pPr>
            <a:r>
              <a:rPr lang="en-US" sz="1400" dirty="0">
                <a:solidFill>
                  <a:schemeClr val="bg2"/>
                </a:solidFill>
              </a:rPr>
              <a:t>   Testklasse L53AkinatorTest</a:t>
            </a:r>
            <a:endParaRPr lang="en-US" sz="1800" dirty="0"/>
          </a:p>
        </p:txBody>
      </p:sp>
      <p:sp>
        <p:nvSpPr>
          <p:cNvPr id="5" name="Chip"/>
          <p:cNvSpPr txBox="1"/>
          <p:nvPr/>
        </p:nvSpPr>
        <p:spPr>
          <a:xfrm>
            <a:off x="731520" y="1984248"/>
            <a:ext cx="160020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Basis ★</a:t>
            </a:r>
            <a:endParaRPr lang="en-US" sz="1400" dirty="0"/>
          </a:p>
        </p:txBody>
      </p:sp>
      <p:sp>
        <p:nvSpPr>
          <p:cNvPr id="6" name="Text 4"/>
          <p:cNvSpPr txBox="1"/>
          <p:nvPr/>
        </p:nvSpPr>
        <p:spPr>
          <a:xfrm>
            <a:off x="731520" y="2377440"/>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basis_…</a:t>
            </a:r>
            <a:endParaRPr lang="en-US" sz="1200" dirty="0"/>
          </a:p>
        </p:txBody>
      </p:sp>
      <p:sp>
        <p:nvSpPr>
          <p:cNvPr id="7" name="Text 5"/>
          <p:cNvSpPr txBox="1"/>
          <p:nvPr/>
        </p:nvSpPr>
        <p:spPr>
          <a:xfrm>
            <a:off x="2514600" y="1965960"/>
            <a:ext cx="4663440" cy="603504"/>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c Akinator(start)</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raten(antworten): Zeichenkette</a:t>
            </a:r>
            <a:endParaRPr lang="en-US" sz="1800" dirty="0"/>
          </a:p>
        </p:txBody>
      </p:sp>
      <p:sp>
        <p:nvSpPr>
          <p:cNvPr id="8" name="Chip"/>
          <p:cNvSpPr txBox="1"/>
          <p:nvPr/>
        </p:nvSpPr>
        <p:spPr>
          <a:xfrm>
            <a:off x="731520" y="2935224"/>
            <a:ext cx="16002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Erweiterung ★★</a:t>
            </a:r>
            <a:endParaRPr lang="en-US" sz="1400" dirty="0"/>
          </a:p>
        </p:txBody>
      </p:sp>
      <p:sp>
        <p:nvSpPr>
          <p:cNvPr id="9" name="Text 7"/>
          <p:cNvSpPr txBox="1"/>
          <p:nvPr/>
        </p:nvSpPr>
        <p:spPr>
          <a:xfrm>
            <a:off x="731520" y="3328416"/>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erweiterung_…</a:t>
            </a:r>
            <a:endParaRPr lang="en-US" sz="1200" dirty="0"/>
          </a:p>
        </p:txBody>
      </p:sp>
      <p:sp>
        <p:nvSpPr>
          <p:cNvPr id="10" name="Text 8"/>
          <p:cNvSpPr txBox="1"/>
          <p:nvPr/>
        </p:nvSpPr>
        <p:spPr>
          <a:xfrm>
            <a:off x="2514600" y="2916936"/>
            <a:ext cx="4663440" cy="603504"/>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lernen(antworten, neu, frage, jaFuerNeu)</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anzahlMonster() · anzahlFragen()</a:t>
            </a:r>
            <a:endParaRPr lang="en-US" sz="1800" dirty="0"/>
          </a:p>
        </p:txBody>
      </p:sp>
      <p:sp>
        <p:nvSpPr>
          <p:cNvPr id="11" name="Chip"/>
          <p:cNvSpPr txBox="1"/>
          <p:nvPr/>
        </p:nvSpPr>
        <p:spPr>
          <a:xfrm>
            <a:off x="731520" y="3886200"/>
            <a:ext cx="16002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Experte ★★★</a:t>
            </a:r>
            <a:endParaRPr lang="en-US" sz="1400" dirty="0"/>
          </a:p>
        </p:txBody>
      </p:sp>
      <p:sp>
        <p:nvSpPr>
          <p:cNvPr id="12" name="Text 10"/>
          <p:cNvSpPr txBox="1"/>
          <p:nvPr/>
        </p:nvSpPr>
        <p:spPr>
          <a:xfrm>
            <a:off x="731520" y="4279392"/>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experte_…</a:t>
            </a:r>
            <a:endParaRPr lang="en-US" sz="1200" dirty="0"/>
          </a:p>
        </p:txBody>
      </p:sp>
      <p:sp>
        <p:nvSpPr>
          <p:cNvPr id="13" name="Text 11"/>
          <p:cNvSpPr txBox="1"/>
          <p:nvPr/>
        </p:nvSpPr>
        <p:spPr>
          <a:xfrm>
            <a:off x="2514600" y="3867912"/>
            <a:ext cx="4663440" cy="301752"/>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static levelorder(b): Zeichenkette</a:t>
            </a:r>
            <a:endParaRPr lang="en-US" sz="1800" dirty="0"/>
          </a:p>
        </p:txBody>
      </p:sp>
      <p:sp>
        <p:nvSpPr>
          <p:cNvPr id="14" name="Text 12"/>
          <p:cNvSpPr txBox="1"/>
          <p:nvPr/>
        </p:nvSpPr>
        <p:spPr>
          <a:xfrm>
            <a:off x="731520" y="5669280"/>
            <a:ext cx="6400800" cy="384048"/>
          </a:xfrm>
          <a:prstGeom prst="rect">
            <a:avLst/>
          </a:prstGeom>
          <a:noFill/>
          <a:ln/>
        </p:spPr>
        <p:txBody>
          <a:bodyPr wrap="square" lIns="0" tIns="0" rIns="0" bIns="0" rtlCol="0" anchor="ctr"/>
          <a:lstStyle/>
          <a:p>
            <a:pPr indent="0" marL="0">
              <a:buNone/>
            </a:pPr>
            <a:r>
              <a:rPr lang="en-US" sz="1300" i="1" dirty="0">
                <a:solidFill>
                  <a:schemeClr val="accent6"/>
                </a:solidFill>
              </a:rPr>
              <a:t>Vorgegeben: c Akinator(b) und getBaum() · Hilfsmethoden private static</a:t>
            </a:r>
            <a:endParaRPr lang="en-US" sz="1300" dirty="0"/>
          </a:p>
        </p:txBody>
      </p:sp>
      <p:sp>
        <p:nvSpPr>
          <p:cNvPr id="15" name="Exit-Ticket"/>
          <p:cNvSpPr/>
          <p:nvPr/>
        </p:nvSpPr>
        <p:spPr>
          <a:xfrm>
            <a:off x="7543800" y="1325880"/>
            <a:ext cx="4069080" cy="4800600"/>
          </a:xfrm>
          <a:prstGeom prst="roundRect">
            <a:avLst>
              <a:gd name="adj" fmla="val 2697"/>
            </a:avLst>
          </a:prstGeom>
          <a:solidFill>
            <a:schemeClr val="accent1"/>
          </a:solidFill>
          <a:ln/>
        </p:spPr>
      </p:sp>
      <p:sp>
        <p:nvSpPr>
          <p:cNvPr id="16" name="Text 14"/>
          <p:cNvSpPr txBox="1"/>
          <p:nvPr/>
        </p:nvSpPr>
        <p:spPr>
          <a:xfrm>
            <a:off x="7772400" y="1463040"/>
            <a:ext cx="3657600" cy="365760"/>
          </a:xfrm>
          <a:prstGeom prst="rect">
            <a:avLst/>
          </a:prstGeom>
          <a:noFill/>
          <a:ln/>
        </p:spPr>
        <p:txBody>
          <a:bodyPr wrap="square" lIns="0" tIns="0" rIns="0" bIns="0" rtlCol="0" anchor="t"/>
          <a:lstStyle/>
          <a:p>
            <a:pPr indent="0" marL="0">
              <a:buNone/>
            </a:pPr>
            <a:r>
              <a:rPr lang="en-US" sz="1900" b="1" dirty="0">
                <a:solidFill>
                  <a:schemeClr val="accent2"/>
                </a:solidFill>
              </a:rPr>
              <a:t>Exit-Ticket DS 33</a:t>
            </a:r>
            <a:endParaRPr lang="en-US" sz="1900" dirty="0"/>
          </a:p>
        </p:txBody>
      </p:sp>
      <p:sp>
        <p:nvSpPr>
          <p:cNvPr id="17" name="Kante 9-2"/>
          <p:cNvSpPr/>
          <p:nvPr/>
        </p:nvSpPr>
        <p:spPr>
          <a:xfrm flipH="1">
            <a:off x="8295107" y="2572512"/>
            <a:ext cx="386982" cy="432816"/>
          </a:xfrm>
          <a:prstGeom prst="line">
            <a:avLst/>
          </a:prstGeom>
          <a:noFill/>
          <a:ln w="22225">
            <a:solidFill>
              <a:schemeClr val="bg2"/>
            </a:solidFill>
            <a:prstDash val="solid"/>
          </a:ln>
        </p:spPr>
      </p:sp>
      <p:sp>
        <p:nvSpPr>
          <p:cNvPr id="18" name="Kante 9-7"/>
          <p:cNvSpPr/>
          <p:nvPr/>
        </p:nvSpPr>
        <p:spPr>
          <a:xfrm>
            <a:off x="8682089" y="2572512"/>
            <a:ext cx="386982" cy="432816"/>
          </a:xfrm>
          <a:prstGeom prst="line">
            <a:avLst/>
          </a:prstGeom>
          <a:noFill/>
          <a:ln w="22225">
            <a:solidFill>
              <a:schemeClr val="bg2"/>
            </a:solidFill>
            <a:prstDash val="solid"/>
          </a:ln>
        </p:spPr>
      </p:sp>
      <p:sp>
        <p:nvSpPr>
          <p:cNvPr id="19" name="Kante 5-9"/>
          <p:cNvSpPr/>
          <p:nvPr/>
        </p:nvSpPr>
        <p:spPr>
          <a:xfrm flipH="1">
            <a:off x="8682089" y="2139696"/>
            <a:ext cx="754906" cy="432816"/>
          </a:xfrm>
          <a:prstGeom prst="line">
            <a:avLst/>
          </a:prstGeom>
          <a:noFill/>
          <a:ln w="22225">
            <a:solidFill>
              <a:schemeClr val="bg2"/>
            </a:solidFill>
            <a:prstDash val="solid"/>
          </a:ln>
        </p:spPr>
      </p:sp>
      <p:sp>
        <p:nvSpPr>
          <p:cNvPr id="20" name="Kante 9-1"/>
          <p:cNvSpPr/>
          <p:nvPr/>
        </p:nvSpPr>
        <p:spPr>
          <a:xfrm flipH="1">
            <a:off x="10352305" y="3005328"/>
            <a:ext cx="320808" cy="432816"/>
          </a:xfrm>
          <a:prstGeom prst="line">
            <a:avLst/>
          </a:prstGeom>
          <a:noFill/>
          <a:ln w="22225">
            <a:solidFill>
              <a:schemeClr val="bg2"/>
            </a:solidFill>
            <a:prstDash val="solid"/>
          </a:ln>
        </p:spPr>
      </p:sp>
      <p:sp>
        <p:nvSpPr>
          <p:cNvPr id="21" name="Kante 4-9"/>
          <p:cNvSpPr/>
          <p:nvPr/>
        </p:nvSpPr>
        <p:spPr>
          <a:xfrm>
            <a:off x="10191900" y="2572512"/>
            <a:ext cx="481213" cy="432816"/>
          </a:xfrm>
          <a:prstGeom prst="line">
            <a:avLst/>
          </a:prstGeom>
          <a:noFill/>
          <a:ln w="22225">
            <a:solidFill>
              <a:schemeClr val="bg2"/>
            </a:solidFill>
            <a:prstDash val="solid"/>
          </a:ln>
        </p:spPr>
      </p:sp>
      <p:sp>
        <p:nvSpPr>
          <p:cNvPr id="22" name="Kante 5-4"/>
          <p:cNvSpPr/>
          <p:nvPr/>
        </p:nvSpPr>
        <p:spPr>
          <a:xfrm>
            <a:off x="9436995" y="2139696"/>
            <a:ext cx="754906" cy="432816"/>
          </a:xfrm>
          <a:prstGeom prst="line">
            <a:avLst/>
          </a:prstGeom>
          <a:noFill/>
          <a:ln w="22225">
            <a:solidFill>
              <a:schemeClr val="bg2"/>
            </a:solidFill>
            <a:prstDash val="solid"/>
          </a:ln>
        </p:spPr>
      </p:sp>
      <p:sp>
        <p:nvSpPr>
          <p:cNvPr id="23" name="Knoten 2"/>
          <p:cNvSpPr txBox="1"/>
          <p:nvPr/>
        </p:nvSpPr>
        <p:spPr>
          <a:xfrm>
            <a:off x="8121371" y="2831592"/>
            <a:ext cx="347472" cy="34747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2</a:t>
            </a:r>
            <a:endParaRPr lang="en-US" sz="1300" dirty="0"/>
          </a:p>
        </p:txBody>
      </p:sp>
      <p:sp>
        <p:nvSpPr>
          <p:cNvPr id="24" name="Knoten 7"/>
          <p:cNvSpPr txBox="1"/>
          <p:nvPr/>
        </p:nvSpPr>
        <p:spPr>
          <a:xfrm>
            <a:off x="8895335" y="2831592"/>
            <a:ext cx="347472" cy="34747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7</a:t>
            </a:r>
            <a:endParaRPr lang="en-US" sz="1300" dirty="0"/>
          </a:p>
        </p:txBody>
      </p:sp>
      <p:sp>
        <p:nvSpPr>
          <p:cNvPr id="25" name="Knoten 9"/>
          <p:cNvSpPr txBox="1"/>
          <p:nvPr/>
        </p:nvSpPr>
        <p:spPr>
          <a:xfrm>
            <a:off x="8508353" y="2398776"/>
            <a:ext cx="347472" cy="34747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9</a:t>
            </a:r>
            <a:endParaRPr lang="en-US" sz="1300" dirty="0"/>
          </a:p>
        </p:txBody>
      </p:sp>
      <p:sp>
        <p:nvSpPr>
          <p:cNvPr id="26" name="Knoten 1"/>
          <p:cNvSpPr txBox="1"/>
          <p:nvPr/>
        </p:nvSpPr>
        <p:spPr>
          <a:xfrm>
            <a:off x="10178569" y="3264408"/>
            <a:ext cx="347472" cy="34747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27" name="Knoten 9"/>
          <p:cNvSpPr txBox="1"/>
          <p:nvPr/>
        </p:nvSpPr>
        <p:spPr>
          <a:xfrm>
            <a:off x="10499377" y="2831592"/>
            <a:ext cx="347472" cy="34747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9</a:t>
            </a:r>
            <a:endParaRPr lang="en-US" sz="1300" dirty="0"/>
          </a:p>
        </p:txBody>
      </p:sp>
      <p:sp>
        <p:nvSpPr>
          <p:cNvPr id="28" name="Knoten 4"/>
          <p:cNvSpPr txBox="1"/>
          <p:nvPr/>
        </p:nvSpPr>
        <p:spPr>
          <a:xfrm>
            <a:off x="10018164" y="2398776"/>
            <a:ext cx="347472" cy="34747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29" name="Knoten 5"/>
          <p:cNvSpPr txBox="1"/>
          <p:nvPr/>
        </p:nvSpPr>
        <p:spPr>
          <a:xfrm>
            <a:off x="9263259" y="1965960"/>
            <a:ext cx="347472" cy="34747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5</a:t>
            </a:r>
            <a:endParaRPr lang="en-US" sz="1300" dirty="0"/>
          </a:p>
        </p:txBody>
      </p:sp>
      <p:sp>
        <p:nvSpPr>
          <p:cNvPr id="30" name="Text 28"/>
          <p:cNvSpPr txBox="1"/>
          <p:nvPr/>
        </p:nvSpPr>
        <p:spPr>
          <a:xfrm>
            <a:off x="7772400" y="3703320"/>
            <a:ext cx="3657600" cy="1965960"/>
          </a:xfrm>
          <a:prstGeom prst="rect">
            <a:avLst/>
          </a:prstGeom>
          <a:noFill/>
          <a:ln/>
        </p:spPr>
        <p:txBody>
          <a:bodyPr wrap="square" lIns="0" tIns="0" rIns="0" bIns="0" rtlCol="0" anchor="t"/>
          <a:lstStyle/>
          <a:p>
            <a:pPr indent="0" marL="0">
              <a:spcAft>
                <a:spcPts val="600"/>
              </a:spcAft>
              <a:buNone/>
            </a:pPr>
            <a:r>
              <a:rPr lang="en-US" sz="1500" b="1" dirty="0">
                <a:solidFill>
                  <a:schemeClr val="accent2"/>
                </a:solidFill>
              </a:rPr>
              <a:t>1 </a:t>
            </a:r>
            <a:pPr indent="0" marL="0">
              <a:spcAft>
                <a:spcPts val="600"/>
              </a:spcAft>
              <a:buNone/>
            </a:pPr>
            <a:r>
              <a:rPr lang="en-US" sz="1500" dirty="0">
                <a:solidFill>
                  <a:schemeClr val="bg1"/>
                </a:solidFill>
              </a:rPr>
              <a:t>Gib die Level-Order von zahlenbaum() an.</a:t>
            </a:r>
            <a:endParaRPr lang="en-US" sz="1500" dirty="0"/>
          </a:p>
          <a:p>
            <a:pPr indent="0" marL="0">
              <a:spcAft>
                <a:spcPts val="600"/>
              </a:spcAft>
              <a:buNone/>
            </a:pPr>
            <a:r>
              <a:rPr lang="en-US" sz="1500" b="1" dirty="0">
                <a:solidFill>
                  <a:schemeClr val="accent2"/>
                </a:solidFill>
              </a:rPr>
              <a:t>2 </a:t>
            </a:r>
            <a:pPr indent="0" marL="0">
              <a:spcAft>
                <a:spcPts val="600"/>
              </a:spcAft>
              <a:buNone/>
            </a:pPr>
            <a:r>
              <a:rPr lang="en-US" sz="1500" dirty="0">
                <a:solidFill>
                  <a:schemeClr val="bg1"/>
                </a:solidFill>
              </a:rPr>
              <a:t>Notiere nach jedem dequeue den Inhalt der Schlange.</a:t>
            </a:r>
            <a:endParaRPr lang="en-US" sz="1500" dirty="0"/>
          </a:p>
          <a:p>
            <a:pPr indent="0" marL="0">
              <a:spcAft>
                <a:spcPts val="600"/>
              </a:spcAft>
              <a:buNone/>
            </a:pPr>
            <a:r>
              <a:rPr lang="en-US" sz="1500" b="1" dirty="0">
                <a:solidFill>
                  <a:schemeClr val="accent2"/>
                </a:solidFill>
              </a:rPr>
              <a:t>3 </a:t>
            </a:r>
            <a:pPr indent="0" marL="0">
              <a:spcAft>
                <a:spcPts val="600"/>
              </a:spcAft>
              <a:buNone/>
            </a:pPr>
            <a:r>
              <a:rPr lang="en-US" sz="1500" dirty="0">
                <a:solidFill>
                  <a:schemeClr val="bg1"/>
                </a:solidFill>
              </a:rPr>
              <a:t>Wie viele Monster hat ein Akinator mit 7 Fragen?</a:t>
            </a:r>
            <a:endParaRPr lang="en-US" sz="1500" dirty="0"/>
          </a:p>
        </p:txBody>
      </p:sp>
      <p:sp>
        <p:nvSpPr>
          <p:cNvPr id="31" name="Text 29"/>
          <p:cNvSpPr txBox="1"/>
          <p:nvPr/>
        </p:nvSpPr>
        <p:spPr>
          <a:xfrm>
            <a:off x="7772400" y="5669280"/>
            <a:ext cx="3657600" cy="320040"/>
          </a:xfrm>
          <a:prstGeom prst="rect">
            <a:avLst/>
          </a:prstGeom>
          <a:noFill/>
          <a:ln/>
        </p:spPr>
        <p:txBody>
          <a:bodyPr wrap="square" lIns="0" tIns="0" rIns="0" bIns="0" rtlCol="0" anchor="t"/>
          <a:lstStyle/>
          <a:p>
            <a:pPr indent="0" marL="0">
              <a:buNone/>
            </a:pPr>
            <a:r>
              <a:rPr lang="en-US" sz="1400" b="1" dirty="0">
                <a:solidFill>
                  <a:schemeClr val="accent2"/>
                </a:solidFill>
              </a:rPr>
              <a:t>Sicherung: </a:t>
            </a:r>
            <a:pPr indent="0" marL="0">
              <a:buNone/>
            </a:pPr>
            <a:r>
              <a:rPr lang="en-US" sz="1400" dirty="0">
                <a:solidFill>
                  <a:schemeClr val="bg1"/>
                </a:solidFill>
              </a:rPr>
              <a:t>Warm-up W5-09</a:t>
            </a:r>
            <a:endParaRPr lang="en-US" sz="1400" dirty="0"/>
          </a:p>
        </p:txBody>
      </p:sp>
      <p:sp>
        <p:nvSpPr>
          <p:cNvPr id="32" name="Text 3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33 · Kür · IDE + Exit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Einstieg: Die Item-Datenbank braucht Ordnung</a:t>
            </a:r>
            <a:endParaRPr lang="en-US" sz="3600" dirty="0"/>
          </a:p>
        </p:txBody>
      </p:sp>
      <p:sp>
        <p:nvSpPr>
          <p:cNvPr id="3" name="Papier-Kata"/>
          <p:cNvSpPr/>
          <p:nvPr/>
        </p:nvSpPr>
        <p:spPr>
          <a:xfrm>
            <a:off x="548640" y="1325880"/>
            <a:ext cx="640080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Chip"/>
          <p:cNvSpPr txBox="1"/>
          <p:nvPr/>
        </p:nvSpPr>
        <p:spPr>
          <a:xfrm>
            <a:off x="777240" y="1508760"/>
            <a:ext cx="3017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PAPIER · ohne Gerät · 10 min</a:t>
            </a:r>
            <a:endParaRPr lang="en-US" sz="1400" dirty="0"/>
          </a:p>
        </p:txBody>
      </p:sp>
      <p:sp>
        <p:nvSpPr>
          <p:cNvPr id="5" name="Text 3"/>
          <p:cNvSpPr txBox="1"/>
          <p:nvPr/>
        </p:nvSpPr>
        <p:spPr>
          <a:xfrm>
            <a:off x="777240" y="2011680"/>
            <a:ext cx="5943600" cy="384048"/>
          </a:xfrm>
          <a:prstGeom prst="rect">
            <a:avLst/>
          </a:prstGeom>
          <a:noFill/>
          <a:ln/>
        </p:spPr>
        <p:txBody>
          <a:bodyPr wrap="square" lIns="0" tIns="0" rIns="0" bIns="0" rtlCol="0" anchor="t"/>
          <a:lstStyle/>
          <a:p>
            <a:pPr indent="0" marL="0">
              <a:buNone/>
            </a:pPr>
            <a:r>
              <a:rPr lang="en-US" sz="2000" b="1" dirty="0">
                <a:solidFill>
                  <a:schemeClr val="accent1"/>
                </a:solidFill>
              </a:rPr>
              <a:t>Papier-Warm-up W5-10: Die Item-Datenbank wächst</a:t>
            </a:r>
            <a:endParaRPr lang="en-US" sz="2000" dirty="0"/>
          </a:p>
        </p:txBody>
      </p:sp>
      <p:sp>
        <p:nvSpPr>
          <p:cNvPr id="6" name="Text 4"/>
          <p:cNvSpPr txBox="1"/>
          <p:nvPr/>
        </p:nvSpPr>
        <p:spPr>
          <a:xfrm>
            <a:off x="777240" y="2514600"/>
            <a:ext cx="5943600" cy="1188720"/>
          </a:xfrm>
          <a:prstGeom prst="rect">
            <a:avLst/>
          </a:prstGeom>
          <a:noFill/>
          <a:ln/>
        </p:spPr>
        <p:txBody>
          <a:bodyPr wrap="square" lIns="0" tIns="0" rIns="0" bIns="0" rtlCol="0" anchor="t"/>
          <a:lstStyle/>
          <a:p>
            <a:pPr indent="0" marL="0">
              <a:buNone/>
            </a:pPr>
            <a:r>
              <a:rPr lang="en-US" sz="1600" dirty="0">
                <a:solidFill>
                  <a:schemeClr val="tx1"/>
                </a:solidFill>
              </a:rPr>
              <a:t>Füge die Item-Nummern nacheinander in einen leeren Baum ein:</a:t>
            </a:r>
            <a:endParaRPr lang="en-US" sz="1600" dirty="0"/>
          </a:p>
          <a:p>
            <a:pPr indent="0" marL="0">
              <a:buNone/>
            </a:pPr>
            <a:r>
              <a:rPr lang="en-US" sz="1800" b="1" dirty="0">
                <a:solidFill>
                  <a:schemeClr val="accent1"/>
                </a:solidFill>
                <a:latin typeface="Consolas" pitchFamily="34" charset="0"/>
                <a:ea typeface="Consolas" pitchFamily="34" charset="-122"/>
                <a:cs typeface="Consolas" pitchFamily="34" charset="-120"/>
              </a:rPr>
              <a:t>8, 3, 10, 1, 6, 14, 4, 7, 13</a:t>
            </a:r>
            <a:endParaRPr lang="en-US" sz="1600" dirty="0"/>
          </a:p>
          <a:p>
            <a:pPr indent="0" marL="0">
              <a:buNone/>
            </a:pPr>
            <a:r>
              <a:rPr lang="en-US" sz="1600" i="1" dirty="0">
                <a:solidFill>
                  <a:schemeClr val="accent6"/>
                </a:solidFill>
              </a:rPr>
              <a:t>Regel: ab der Wurzel – kleiner → links, größer → rechts, bis ein Platz frei ist.</a:t>
            </a:r>
            <a:endParaRPr lang="en-US" sz="1600" dirty="0"/>
          </a:p>
        </p:txBody>
      </p:sp>
      <p:sp>
        <p:nvSpPr>
          <p:cNvPr id="7" name="Text 5"/>
          <p:cNvSpPr txBox="1"/>
          <p:nvPr/>
        </p:nvSpPr>
        <p:spPr>
          <a:xfrm>
            <a:off x="777240" y="3840480"/>
            <a:ext cx="5943600" cy="214884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a) </a:t>
            </a:r>
            <a:pPr indent="0" marL="0">
              <a:spcAft>
                <a:spcPts val="600"/>
              </a:spcAft>
              <a:buNone/>
            </a:pPr>
            <a:r>
              <a:rPr lang="en-US" sz="1600" dirty="0">
                <a:solidFill>
                  <a:schemeClr val="tx1"/>
                </a:solidFill>
              </a:rPr>
              <a:t>Zeichne den Baum. Kennst du ihn?</a:t>
            </a:r>
            <a:endParaRPr lang="en-US" sz="1600" dirty="0"/>
          </a:p>
          <a:p>
            <a:pPr indent="0" marL="0">
              <a:spcAft>
                <a:spcPts val="600"/>
              </a:spcAft>
              <a:buNone/>
            </a:pPr>
            <a:r>
              <a:rPr lang="en-US" sz="1600" b="1" dirty="0">
                <a:solidFill>
                  <a:schemeClr val="accent2"/>
                </a:solidFill>
              </a:rPr>
              <a:t>b) </a:t>
            </a:r>
            <a:pPr indent="0" marL="0">
              <a:spcAft>
                <a:spcPts val="600"/>
              </a:spcAft>
              <a:buNone/>
            </a:pPr>
            <a:r>
              <a:rPr lang="en-US" sz="1600" dirty="0">
                <a:solidFill>
                  <a:schemeClr val="tx1"/>
                </a:solidFill>
              </a:rPr>
              <a:t>Füge anschließend 5 und 12 ein. Gib jeweils den Suchweg an und markiere die neuen Knoten.</a:t>
            </a:r>
            <a:endParaRPr lang="en-US" sz="1600" dirty="0"/>
          </a:p>
          <a:p>
            <a:pPr indent="0" marL="0">
              <a:spcAft>
                <a:spcPts val="600"/>
              </a:spcAft>
              <a:buNone/>
            </a:pPr>
            <a:r>
              <a:rPr lang="en-US" sz="1600" b="1" dirty="0">
                <a:solidFill>
                  <a:schemeClr val="accent2"/>
                </a:solidFill>
              </a:rPr>
              <a:t>c) </a:t>
            </a:r>
            <a:pPr indent="0" marL="0">
              <a:spcAft>
                <a:spcPts val="600"/>
              </a:spcAft>
              <a:buNone/>
            </a:pPr>
            <a:r>
              <a:rPr lang="en-US" sz="1600" dirty="0">
                <a:solidFill>
                  <a:schemeClr val="tx1"/>
                </a:solidFill>
              </a:rPr>
              <a:t>Gib die Inorder an und begründe, warum sie sortiert ist. Was passiert beim Einfügen von 6?</a:t>
            </a:r>
            <a:endParaRPr lang="en-US" sz="1600" dirty="0"/>
          </a:p>
        </p:txBody>
      </p:sp>
      <p:sp>
        <p:nvSpPr>
          <p:cNvPr id="8" name="Icon-Kreis"/>
          <p:cNvSpPr/>
          <p:nvPr/>
        </p:nvSpPr>
        <p:spPr>
          <a:xfrm>
            <a:off x="7909560" y="1463040"/>
            <a:ext cx="1463040" cy="1463040"/>
          </a:xfrm>
          <a:prstGeom prst="ellipse">
            <a:avLst/>
          </a:prstGeom>
          <a:solidFill>
            <a:schemeClr val="accent1"/>
          </a:solidFill>
          <a:ln w="38100">
            <a:solidFill>
              <a:schemeClr val="accent2"/>
            </a:solidFill>
            <a:prstDash val="solid"/>
          </a:ln>
        </p:spPr>
      </p:sp>
      <p:pic>
        <p:nvPicPr>
          <p:cNvPr id="9" name="Icon GiOpenTreasureChest" descr="preencoded.png">    </p:cNvPr>
          <p:cNvPicPr>
            <a:picLocks noChangeAspect="1"/>
          </p:cNvPicPr>
          <p:nvPr/>
        </p:nvPicPr>
        <p:blipFill>
          <a:blip r:embed="rId1"/>
          <a:stretch>
            <a:fillRect/>
          </a:stretch>
        </p:blipFill>
        <p:spPr>
          <a:xfrm>
            <a:off x="8231429" y="1784909"/>
            <a:ext cx="819302" cy="819302"/>
          </a:xfrm>
          <a:prstGeom prst="rect">
            <a:avLst/>
          </a:prstGeom>
        </p:spPr>
      </p:pic>
      <p:sp>
        <p:nvSpPr>
          <p:cNvPr id="10" name="Text 7"/>
          <p:cNvSpPr txBox="1"/>
          <p:nvPr/>
        </p:nvSpPr>
        <p:spPr>
          <a:xfrm>
            <a:off x="7269480" y="3108960"/>
            <a:ext cx="4343400" cy="1463040"/>
          </a:xfrm>
          <a:prstGeom prst="rect">
            <a:avLst/>
          </a:prstGeom>
          <a:noFill/>
          <a:ln/>
        </p:spPr>
        <p:txBody>
          <a:bodyPr wrap="square" lIns="0" tIns="0" rIns="0" bIns="0" rtlCol="0" anchor="t"/>
          <a:lstStyle/>
          <a:p>
            <a:pPr algn="ctr" indent="0" marL="0">
              <a:buNone/>
            </a:pPr>
            <a:r>
              <a:rPr lang="en-US" sz="1900" b="1" dirty="0">
                <a:solidFill>
                  <a:schemeClr val="accent1"/>
                </a:solidFill>
              </a:rPr>
              <a:t>Spielmodul Item-Datenbank</a:t>
            </a:r>
            <a:endParaRPr lang="en-US" sz="1800" dirty="0"/>
          </a:p>
          <a:p>
            <a:pPr algn="ctr" indent="0" marL="0">
              <a:buNone/>
            </a:pPr>
            <a:r>
              <a:rPr lang="en-US" sz="1500" dirty="0">
                <a:solidFill>
                  <a:schemeClr val="tx1"/>
                </a:solidFill>
              </a:rPr>
              <a:t>Jedes Item hat eine Nummer. Spieler tragen Hunderte Items – die Suche nach einer Nummer muss schnell gehen.</a:t>
            </a:r>
            <a:endParaRPr lang="en-US" sz="1800" dirty="0"/>
          </a:p>
        </p:txBody>
      </p:sp>
      <p:sp>
        <p:nvSpPr>
          <p:cNvPr id="11" name="Leitfrage"/>
          <p:cNvSpPr/>
          <p:nvPr/>
        </p:nvSpPr>
        <p:spPr>
          <a:xfrm>
            <a:off x="7269480" y="4846320"/>
            <a:ext cx="4343400" cy="1280160"/>
          </a:xfrm>
          <a:prstGeom prst="roundRect">
            <a:avLst>
              <a:gd name="adj" fmla="val 8571"/>
            </a:avLst>
          </a:prstGeom>
          <a:solidFill>
            <a:schemeClr val="bg2"/>
          </a:solidFill>
          <a:ln/>
        </p:spPr>
      </p:sp>
      <p:sp>
        <p:nvSpPr>
          <p:cNvPr id="12" name="Text 9"/>
          <p:cNvSpPr txBox="1"/>
          <p:nvPr/>
        </p:nvSpPr>
        <p:spPr>
          <a:xfrm>
            <a:off x="7470648" y="4846320"/>
            <a:ext cx="3977640" cy="1280160"/>
          </a:xfrm>
          <a:prstGeom prst="rect">
            <a:avLst/>
          </a:prstGeom>
          <a:noFill/>
          <a:ln/>
        </p:spPr>
        <p:txBody>
          <a:bodyPr wrap="square" lIns="0" tIns="0" rIns="0" bIns="0" rtlCol="0" anchor="ctr"/>
          <a:lstStyle/>
          <a:p>
            <a:pPr indent="0" marL="0">
              <a:buNone/>
            </a:pPr>
            <a:r>
              <a:rPr lang="en-US" sz="1600" b="1" dirty="0">
                <a:solidFill>
                  <a:schemeClr val="accent1"/>
                </a:solidFill>
              </a:rPr>
              <a:t>Leitfrage: </a:t>
            </a:r>
            <a:pPr indent="0" marL="0">
              <a:buNone/>
            </a:pPr>
            <a:r>
              <a:rPr lang="en-US" sz="1600" dirty="0">
                <a:solidFill>
                  <a:schemeClr val="tx1"/>
                </a:solidFill>
              </a:rPr>
              <a:t>Wie viele Knoten muss ich höchstens ansehen – wenn der Baum geordnet ist?</a:t>
            </a:r>
            <a:endParaRPr lang="en-US" sz="1600" dirty="0"/>
          </a:p>
        </p:txBody>
      </p:sp>
      <p:sp>
        <p:nvSpPr>
          <p:cNvPr id="13" name="Text 1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Einstieg · Warm-up W5-10</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Suchbaum: links kleiner, rechts größer – überall</a:t>
            </a:r>
            <a:endParaRPr lang="en-US" sz="3600" dirty="0"/>
          </a:p>
        </p:txBody>
      </p:sp>
      <p:sp>
        <p:nvSpPr>
          <p:cNvPr id="3" name="Kante 3-1"/>
          <p:cNvSpPr/>
          <p:nvPr/>
        </p:nvSpPr>
        <p:spPr>
          <a:xfrm flipH="1">
            <a:off x="1238596" y="2743200"/>
            <a:ext cx="810491" cy="914400"/>
          </a:xfrm>
          <a:prstGeom prst="line">
            <a:avLst/>
          </a:prstGeom>
          <a:noFill/>
          <a:ln w="22225">
            <a:solidFill>
              <a:schemeClr val="accent1"/>
            </a:solidFill>
            <a:prstDash val="solid"/>
          </a:ln>
        </p:spPr>
      </p:sp>
      <p:sp>
        <p:nvSpPr>
          <p:cNvPr id="4" name="Kante 6-4"/>
          <p:cNvSpPr/>
          <p:nvPr/>
        </p:nvSpPr>
        <p:spPr>
          <a:xfrm flipH="1">
            <a:off x="2319251" y="3657600"/>
            <a:ext cx="540327" cy="914400"/>
          </a:xfrm>
          <a:prstGeom prst="line">
            <a:avLst/>
          </a:prstGeom>
          <a:noFill/>
          <a:ln w="22225">
            <a:solidFill>
              <a:schemeClr val="accent1"/>
            </a:solidFill>
            <a:prstDash val="solid"/>
          </a:ln>
        </p:spPr>
      </p:sp>
      <p:sp>
        <p:nvSpPr>
          <p:cNvPr id="5" name="Kante 6-7"/>
          <p:cNvSpPr/>
          <p:nvPr/>
        </p:nvSpPr>
        <p:spPr>
          <a:xfrm>
            <a:off x="2859578" y="3657600"/>
            <a:ext cx="540327" cy="914400"/>
          </a:xfrm>
          <a:prstGeom prst="line">
            <a:avLst/>
          </a:prstGeom>
          <a:noFill/>
          <a:ln w="22225">
            <a:solidFill>
              <a:schemeClr val="accent1"/>
            </a:solidFill>
            <a:prstDash val="solid"/>
          </a:ln>
        </p:spPr>
      </p:sp>
      <p:sp>
        <p:nvSpPr>
          <p:cNvPr id="6" name="Kante 3-6"/>
          <p:cNvSpPr/>
          <p:nvPr/>
        </p:nvSpPr>
        <p:spPr>
          <a:xfrm>
            <a:off x="2049087" y="2743200"/>
            <a:ext cx="810491" cy="914400"/>
          </a:xfrm>
          <a:prstGeom prst="line">
            <a:avLst/>
          </a:prstGeom>
          <a:noFill/>
          <a:ln w="22225">
            <a:solidFill>
              <a:schemeClr val="accent1"/>
            </a:solidFill>
            <a:prstDash val="solid"/>
          </a:ln>
        </p:spPr>
      </p:sp>
      <p:sp>
        <p:nvSpPr>
          <p:cNvPr id="7" name="Kante 8-3"/>
          <p:cNvSpPr/>
          <p:nvPr/>
        </p:nvSpPr>
        <p:spPr>
          <a:xfrm flipH="1">
            <a:off x="2049087" y="1828800"/>
            <a:ext cx="1457325" cy="914400"/>
          </a:xfrm>
          <a:prstGeom prst="line">
            <a:avLst/>
          </a:prstGeom>
          <a:noFill/>
          <a:ln w="22225">
            <a:solidFill>
              <a:schemeClr val="accent1"/>
            </a:solidFill>
            <a:prstDash val="solid"/>
          </a:ln>
        </p:spPr>
      </p:sp>
      <p:sp>
        <p:nvSpPr>
          <p:cNvPr id="8" name="Kante 14-13"/>
          <p:cNvSpPr/>
          <p:nvPr/>
        </p:nvSpPr>
        <p:spPr>
          <a:xfrm flipH="1">
            <a:off x="5187142" y="3657600"/>
            <a:ext cx="446809" cy="914400"/>
          </a:xfrm>
          <a:prstGeom prst="line">
            <a:avLst/>
          </a:prstGeom>
          <a:noFill/>
          <a:ln w="22225">
            <a:solidFill>
              <a:schemeClr val="accent1"/>
            </a:solidFill>
            <a:prstDash val="solid"/>
          </a:ln>
        </p:spPr>
      </p:sp>
      <p:sp>
        <p:nvSpPr>
          <p:cNvPr id="9" name="Kante 10-14"/>
          <p:cNvSpPr/>
          <p:nvPr/>
        </p:nvSpPr>
        <p:spPr>
          <a:xfrm>
            <a:off x="4963737" y="2743200"/>
            <a:ext cx="670214" cy="914400"/>
          </a:xfrm>
          <a:prstGeom prst="line">
            <a:avLst/>
          </a:prstGeom>
          <a:noFill/>
          <a:ln w="22225">
            <a:solidFill>
              <a:schemeClr val="accent1"/>
            </a:solidFill>
            <a:prstDash val="solid"/>
          </a:ln>
        </p:spPr>
      </p:sp>
      <p:sp>
        <p:nvSpPr>
          <p:cNvPr id="10" name="Kante 8-10"/>
          <p:cNvSpPr/>
          <p:nvPr/>
        </p:nvSpPr>
        <p:spPr>
          <a:xfrm>
            <a:off x="3506412" y="1828800"/>
            <a:ext cx="1457325" cy="914400"/>
          </a:xfrm>
          <a:prstGeom prst="line">
            <a:avLst/>
          </a:prstGeom>
          <a:noFill/>
          <a:ln w="22225">
            <a:solidFill>
              <a:schemeClr val="accent1"/>
            </a:solidFill>
            <a:prstDash val="solid"/>
          </a:ln>
        </p:spPr>
      </p:sp>
      <p:sp>
        <p:nvSpPr>
          <p:cNvPr id="11" name="Knoten 1"/>
          <p:cNvSpPr txBox="1"/>
          <p:nvPr/>
        </p:nvSpPr>
        <p:spPr>
          <a:xfrm>
            <a:off x="964276" y="3383280"/>
            <a:ext cx="548640" cy="548640"/>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900" b="1" dirty="0">
                <a:solidFill>
                  <a:schemeClr val="accent3"/>
                </a:solidFill>
              </a:rPr>
              <a:t>1</a:t>
            </a:r>
            <a:endParaRPr lang="en-US" sz="1900" dirty="0"/>
          </a:p>
        </p:txBody>
      </p:sp>
      <p:sp>
        <p:nvSpPr>
          <p:cNvPr id="12" name="Knoten 4"/>
          <p:cNvSpPr txBox="1"/>
          <p:nvPr/>
        </p:nvSpPr>
        <p:spPr>
          <a:xfrm>
            <a:off x="2044931" y="4297680"/>
            <a:ext cx="548640" cy="54864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900" b="1" dirty="0">
                <a:solidFill>
                  <a:schemeClr val="accent1"/>
                </a:solidFill>
              </a:rPr>
              <a:t>4</a:t>
            </a:r>
            <a:endParaRPr lang="en-US" sz="1900" dirty="0"/>
          </a:p>
        </p:txBody>
      </p:sp>
      <p:sp>
        <p:nvSpPr>
          <p:cNvPr id="13" name="Knoten 7"/>
          <p:cNvSpPr txBox="1"/>
          <p:nvPr/>
        </p:nvSpPr>
        <p:spPr>
          <a:xfrm>
            <a:off x="3125585" y="4297680"/>
            <a:ext cx="548640" cy="54864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900" b="1" dirty="0">
                <a:solidFill>
                  <a:schemeClr val="accent1"/>
                </a:solidFill>
              </a:rPr>
              <a:t>7</a:t>
            </a:r>
            <a:endParaRPr lang="en-US" sz="1900" dirty="0"/>
          </a:p>
        </p:txBody>
      </p:sp>
      <p:sp>
        <p:nvSpPr>
          <p:cNvPr id="14" name="Knoten 6"/>
          <p:cNvSpPr txBox="1"/>
          <p:nvPr/>
        </p:nvSpPr>
        <p:spPr>
          <a:xfrm>
            <a:off x="2585258" y="3383280"/>
            <a:ext cx="548640" cy="54864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900" b="1" dirty="0">
                <a:solidFill>
                  <a:schemeClr val="accent1"/>
                </a:solidFill>
              </a:rPr>
              <a:t>6</a:t>
            </a:r>
            <a:endParaRPr lang="en-US" sz="1900" dirty="0"/>
          </a:p>
        </p:txBody>
      </p:sp>
      <p:sp>
        <p:nvSpPr>
          <p:cNvPr id="15" name="Knoten 3"/>
          <p:cNvSpPr txBox="1"/>
          <p:nvPr/>
        </p:nvSpPr>
        <p:spPr>
          <a:xfrm>
            <a:off x="1774767" y="2468880"/>
            <a:ext cx="548640" cy="54864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900" b="1" dirty="0">
                <a:solidFill>
                  <a:schemeClr val="accent1"/>
                </a:solidFill>
              </a:rPr>
              <a:t>3</a:t>
            </a:r>
            <a:endParaRPr lang="en-US" sz="1900" dirty="0"/>
          </a:p>
        </p:txBody>
      </p:sp>
      <p:sp>
        <p:nvSpPr>
          <p:cNvPr id="16" name="Knoten 13"/>
          <p:cNvSpPr txBox="1"/>
          <p:nvPr/>
        </p:nvSpPr>
        <p:spPr>
          <a:xfrm>
            <a:off x="4912822" y="4297680"/>
            <a:ext cx="548640" cy="54864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900" b="1" dirty="0">
                <a:solidFill>
                  <a:schemeClr val="accent1"/>
                </a:solidFill>
              </a:rPr>
              <a:t>13</a:t>
            </a:r>
            <a:endParaRPr lang="en-US" sz="1900" dirty="0"/>
          </a:p>
        </p:txBody>
      </p:sp>
      <p:sp>
        <p:nvSpPr>
          <p:cNvPr id="17" name="Knoten 14"/>
          <p:cNvSpPr txBox="1"/>
          <p:nvPr/>
        </p:nvSpPr>
        <p:spPr>
          <a:xfrm>
            <a:off x="5359631" y="3383280"/>
            <a:ext cx="548640" cy="54864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900" b="1" dirty="0">
                <a:solidFill>
                  <a:schemeClr val="accent1"/>
                </a:solidFill>
              </a:rPr>
              <a:t>14</a:t>
            </a:r>
            <a:endParaRPr lang="en-US" sz="1900" dirty="0"/>
          </a:p>
        </p:txBody>
      </p:sp>
      <p:sp>
        <p:nvSpPr>
          <p:cNvPr id="18" name="Knoten 10"/>
          <p:cNvSpPr txBox="1"/>
          <p:nvPr/>
        </p:nvSpPr>
        <p:spPr>
          <a:xfrm>
            <a:off x="4689417" y="2468880"/>
            <a:ext cx="548640" cy="54864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900" b="1" dirty="0">
                <a:solidFill>
                  <a:schemeClr val="accent1"/>
                </a:solidFill>
              </a:rPr>
              <a:t>10</a:t>
            </a:r>
            <a:endParaRPr lang="en-US" sz="1900" dirty="0"/>
          </a:p>
        </p:txBody>
      </p:sp>
      <p:sp>
        <p:nvSpPr>
          <p:cNvPr id="19" name="Knoten 8"/>
          <p:cNvSpPr txBox="1"/>
          <p:nvPr/>
        </p:nvSpPr>
        <p:spPr>
          <a:xfrm>
            <a:off x="3232092" y="1554480"/>
            <a:ext cx="548640" cy="548640"/>
          </a:xfrm>
          <a:prstGeom prst="ellipse">
            <a:avLst/>
          </a:prstGeom>
          <a:solidFill>
            <a:schemeClr val="accent1"/>
          </a:solidFill>
          <a:ln w="19050">
            <a:solidFill>
              <a:schemeClr val="accent1"/>
            </a:solidFill>
            <a:prstDash val="solid"/>
          </a:ln>
        </p:spPr>
        <p:txBody>
          <a:bodyPr wrap="square" lIns="0" tIns="0" rIns="0" bIns="0" rtlCol="0" anchor="ctr"/>
          <a:lstStyle/>
          <a:p>
            <a:pPr algn="ctr" indent="0" marL="0">
              <a:buNone/>
            </a:pPr>
            <a:r>
              <a:rPr lang="en-US" sz="1900" b="1" dirty="0">
                <a:solidFill>
                  <a:schemeClr val="bg1"/>
                </a:solidFill>
              </a:rPr>
              <a:t>8</a:t>
            </a:r>
            <a:endParaRPr lang="en-US" sz="1900" dirty="0"/>
          </a:p>
        </p:txBody>
      </p:sp>
      <p:sp>
        <p:nvSpPr>
          <p:cNvPr id="20" name="Rahmen alle &lt; 8"/>
          <p:cNvSpPr/>
          <p:nvPr/>
        </p:nvSpPr>
        <p:spPr>
          <a:xfrm>
            <a:off x="854548" y="2359152"/>
            <a:ext cx="2929405" cy="2596896"/>
          </a:xfrm>
          <a:prstGeom prst="roundRect">
            <a:avLst>
              <a:gd name="adj" fmla="val 8803"/>
            </a:avLst>
          </a:prstGeom>
          <a:ln w="25400">
            <a:solidFill>
              <a:schemeClr val="accent3"/>
            </a:solidFill>
            <a:prstDash val="dash"/>
          </a:ln>
        </p:spPr>
      </p:sp>
      <p:sp>
        <p:nvSpPr>
          <p:cNvPr id="21" name="Text 19"/>
          <p:cNvSpPr txBox="1"/>
          <p:nvPr/>
        </p:nvSpPr>
        <p:spPr>
          <a:xfrm>
            <a:off x="854548" y="4983480"/>
            <a:ext cx="2929405" cy="292608"/>
          </a:xfrm>
          <a:prstGeom prst="rect">
            <a:avLst/>
          </a:prstGeom>
          <a:noFill/>
          <a:ln/>
        </p:spPr>
        <p:txBody>
          <a:bodyPr wrap="square" lIns="0" tIns="0" rIns="0" bIns="0" rtlCol="0" anchor="t"/>
          <a:lstStyle/>
          <a:p>
            <a:pPr indent="0" marL="0">
              <a:buNone/>
            </a:pPr>
            <a:r>
              <a:rPr lang="en-US" sz="1500" b="1" dirty="0">
                <a:solidFill>
                  <a:schemeClr val="accent3"/>
                </a:solidFill>
              </a:rPr>
              <a:t>alle &lt; 8</a:t>
            </a:r>
            <a:endParaRPr lang="en-US" sz="1500" dirty="0"/>
          </a:p>
        </p:txBody>
      </p:sp>
      <p:sp>
        <p:nvSpPr>
          <p:cNvPr id="22" name="Rahmen alle &gt; 8"/>
          <p:cNvSpPr/>
          <p:nvPr/>
        </p:nvSpPr>
        <p:spPr>
          <a:xfrm>
            <a:off x="4579689" y="2359152"/>
            <a:ext cx="1438310" cy="2596896"/>
          </a:xfrm>
          <a:prstGeom prst="roundRect">
            <a:avLst>
              <a:gd name="adj" fmla="val 15894"/>
            </a:avLst>
          </a:prstGeom>
          <a:ln w="25400">
            <a:solidFill>
              <a:schemeClr val="accent2"/>
            </a:solidFill>
            <a:prstDash val="dash"/>
          </a:ln>
        </p:spPr>
      </p:sp>
      <p:sp>
        <p:nvSpPr>
          <p:cNvPr id="23" name="Text 21"/>
          <p:cNvSpPr txBox="1"/>
          <p:nvPr/>
        </p:nvSpPr>
        <p:spPr>
          <a:xfrm>
            <a:off x="4579689" y="4983480"/>
            <a:ext cx="2011680" cy="292608"/>
          </a:xfrm>
          <a:prstGeom prst="rect">
            <a:avLst/>
          </a:prstGeom>
          <a:noFill/>
          <a:ln/>
        </p:spPr>
        <p:txBody>
          <a:bodyPr wrap="square" lIns="0" tIns="0" rIns="0" bIns="0" rtlCol="0" anchor="t"/>
          <a:lstStyle/>
          <a:p>
            <a:pPr indent="0" marL="0">
              <a:buNone/>
            </a:pPr>
            <a:r>
              <a:rPr lang="en-US" sz="1500" b="1" dirty="0">
                <a:solidFill>
                  <a:schemeClr val="accent2"/>
                </a:solidFill>
              </a:rPr>
              <a:t>alle &gt; 8</a:t>
            </a:r>
            <a:endParaRPr lang="en-US" sz="1500" dirty="0"/>
          </a:p>
        </p:txBody>
      </p:sp>
      <p:sp>
        <p:nvSpPr>
          <p:cNvPr id="24" name="Definition BST"/>
          <p:cNvSpPr/>
          <p:nvPr/>
        </p:nvSpPr>
        <p:spPr>
          <a:xfrm>
            <a:off x="6766560" y="1325880"/>
            <a:ext cx="4846320" cy="1600200"/>
          </a:xfrm>
          <a:prstGeom prst="roundRect">
            <a:avLst>
              <a:gd name="adj" fmla="val 6857"/>
            </a:avLst>
          </a:prstGeom>
          <a:solidFill>
            <a:schemeClr val="bg2"/>
          </a:solidFill>
          <a:ln/>
        </p:spPr>
      </p:sp>
      <p:sp>
        <p:nvSpPr>
          <p:cNvPr id="25" name="Text 23"/>
          <p:cNvSpPr txBox="1"/>
          <p:nvPr/>
        </p:nvSpPr>
        <p:spPr>
          <a:xfrm>
            <a:off x="6967728" y="1325880"/>
            <a:ext cx="4480560" cy="1600200"/>
          </a:xfrm>
          <a:prstGeom prst="rect">
            <a:avLst/>
          </a:prstGeom>
          <a:noFill/>
          <a:ln/>
        </p:spPr>
        <p:txBody>
          <a:bodyPr wrap="square" lIns="0" tIns="0" rIns="0" bIns="0" rtlCol="0" anchor="ctr"/>
          <a:lstStyle/>
          <a:p>
            <a:pPr indent="0" marL="0">
              <a:buNone/>
            </a:pPr>
            <a:r>
              <a:rPr lang="en-US" sz="1600" b="1" dirty="0">
                <a:solidFill>
                  <a:schemeClr val="accent1"/>
                </a:solidFill>
              </a:rPr>
              <a:t>Ordnung (BST): </a:t>
            </a:r>
            <a:pPr indent="0" marL="0">
              <a:buNone/>
            </a:pPr>
            <a:r>
              <a:rPr lang="en-US" sz="1600" dirty="0">
                <a:solidFill>
                  <a:schemeClr val="tx1"/>
                </a:solidFill>
              </a:rPr>
              <a:t>Für jeden Knoten gilt: alle Werte im linken Teilbaum &lt; Wert &lt; alle Werte im rechten Teilbaum. Duplikate werden ignoriert.</a:t>
            </a:r>
            <a:endParaRPr lang="en-US" sz="1600" dirty="0"/>
          </a:p>
        </p:txBody>
      </p:sp>
      <p:sp>
        <p:nvSpPr>
          <p:cNvPr id="26" name="Text 24"/>
          <p:cNvSpPr txBox="1"/>
          <p:nvPr/>
        </p:nvSpPr>
        <p:spPr>
          <a:xfrm>
            <a:off x="6766560" y="3108960"/>
            <a:ext cx="4846320" cy="320040"/>
          </a:xfrm>
          <a:prstGeom prst="rect">
            <a:avLst/>
          </a:prstGeom>
          <a:noFill/>
          <a:ln/>
        </p:spPr>
        <p:txBody>
          <a:bodyPr wrap="square" lIns="0" tIns="0" rIns="0" bIns="0" rtlCol="0" anchor="t"/>
          <a:lstStyle/>
          <a:p>
            <a:pPr indent="0" marL="0">
              <a:buNone/>
            </a:pPr>
            <a:r>
              <a:rPr lang="en-US" sz="1600" b="1" dirty="0">
                <a:solidFill>
                  <a:schemeClr val="accent1"/>
                </a:solidFill>
              </a:rPr>
              <a:t>inorder liefert die Werte sortiert:</a:t>
            </a:r>
            <a:endParaRPr lang="en-US" sz="1600" dirty="0"/>
          </a:p>
        </p:txBody>
      </p:sp>
      <p:sp>
        <p:nvSpPr>
          <p:cNvPr id="27" name="inorder sortiert 0"/>
          <p:cNvSpPr txBox="1"/>
          <p:nvPr/>
        </p:nvSpPr>
        <p:spPr>
          <a:xfrm>
            <a:off x="6766560"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28" name="inorder sortiert 1"/>
          <p:cNvSpPr txBox="1"/>
          <p:nvPr/>
        </p:nvSpPr>
        <p:spPr>
          <a:xfrm>
            <a:off x="7301484"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29" name="inorder sortiert 2"/>
          <p:cNvSpPr txBox="1"/>
          <p:nvPr/>
        </p:nvSpPr>
        <p:spPr>
          <a:xfrm>
            <a:off x="7836408"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30" name="inorder sortiert 3"/>
          <p:cNvSpPr txBox="1"/>
          <p:nvPr/>
        </p:nvSpPr>
        <p:spPr>
          <a:xfrm>
            <a:off x="8371332"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31" name="inorder sortiert 4"/>
          <p:cNvSpPr txBox="1"/>
          <p:nvPr/>
        </p:nvSpPr>
        <p:spPr>
          <a:xfrm>
            <a:off x="8906256"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32" name="inorder sortiert 5"/>
          <p:cNvSpPr txBox="1"/>
          <p:nvPr/>
        </p:nvSpPr>
        <p:spPr>
          <a:xfrm>
            <a:off x="9441180"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33" name="inorder sortiert 6"/>
          <p:cNvSpPr txBox="1"/>
          <p:nvPr/>
        </p:nvSpPr>
        <p:spPr>
          <a:xfrm>
            <a:off x="9976104"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34" name="inorder sortiert 7"/>
          <p:cNvSpPr txBox="1"/>
          <p:nvPr/>
        </p:nvSpPr>
        <p:spPr>
          <a:xfrm>
            <a:off x="10511028"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35" name="inorder sortiert 8"/>
          <p:cNvSpPr txBox="1"/>
          <p:nvPr/>
        </p:nvSpPr>
        <p:spPr>
          <a:xfrm>
            <a:off x="11045952" y="3474720"/>
            <a:ext cx="534924" cy="457200"/>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36" name="Achtung alle"/>
          <p:cNvSpPr/>
          <p:nvPr/>
        </p:nvSpPr>
        <p:spPr>
          <a:xfrm>
            <a:off x="6766560" y="4160520"/>
            <a:ext cx="4846320" cy="914400"/>
          </a:xfrm>
          <a:prstGeom prst="roundRect">
            <a:avLst>
              <a:gd name="adj" fmla="val 12000"/>
            </a:avLst>
          </a:prstGeom>
          <a:solidFill>
            <a:schemeClr val="bg1"/>
          </a:solidFill>
          <a:ln w="25400">
            <a:solidFill>
              <a:schemeClr val="accent4"/>
            </a:solidFill>
            <a:prstDash val="solid"/>
          </a:ln>
        </p:spPr>
      </p:sp>
      <p:sp>
        <p:nvSpPr>
          <p:cNvPr id="37" name="Text 35"/>
          <p:cNvSpPr txBox="1"/>
          <p:nvPr/>
        </p:nvSpPr>
        <p:spPr>
          <a:xfrm>
            <a:off x="6967728" y="4160520"/>
            <a:ext cx="4480560" cy="914400"/>
          </a:xfrm>
          <a:prstGeom prst="rect">
            <a:avLst/>
          </a:prstGeom>
          <a:noFill/>
          <a:ln/>
        </p:spPr>
        <p:txBody>
          <a:bodyPr wrap="square" lIns="0" tIns="0" rIns="0" bIns="0" rtlCol="0" anchor="ctr"/>
          <a:lstStyle/>
          <a:p>
            <a:pPr indent="0" marL="0">
              <a:buNone/>
            </a:pPr>
            <a:r>
              <a:rPr lang="en-US" sz="1500" b="1" dirty="0">
                <a:solidFill>
                  <a:schemeClr val="accent4"/>
                </a:solidFill>
              </a:rPr>
              <a:t>Nicht nur Eltern und Kind: </a:t>
            </a:r>
            <a:pPr indent="0" marL="0">
              <a:buNone/>
            </a:pPr>
            <a:r>
              <a:rPr lang="en-US" sz="1500" dirty="0">
                <a:solidFill>
                  <a:schemeClr val="tx1"/>
                </a:solidFill>
              </a:rPr>
              <a:t>auch 7 (ganz unten) muss kleiner als 8 sein.</a:t>
            </a:r>
            <a:endParaRPr lang="en-US" sz="1500" dirty="0"/>
          </a:p>
        </p:txBody>
      </p:sp>
      <p:sp>
        <p:nvSpPr>
          <p:cNvPr id="38" name="Chip"/>
          <p:cNvSpPr txBox="1"/>
          <p:nvPr/>
        </p:nvSpPr>
        <p:spPr>
          <a:xfrm>
            <a:off x="6766560" y="5303520"/>
            <a:ext cx="484632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minimum(beispielBST()) = 1 · Maximum ganz rechts: 14</a:t>
            </a:r>
            <a:endParaRPr lang="en-US" sz="1500" dirty="0"/>
          </a:p>
        </p:txBody>
      </p:sp>
      <p:sp>
        <p:nvSpPr>
          <p:cNvPr id="39" name="Text 3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BST-Ordnung</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Suchen: Bei jedem Knoten nur EIN Teilbaum</a:t>
            </a:r>
            <a:endParaRPr lang="en-US" sz="3600" dirty="0"/>
          </a:p>
        </p:txBody>
      </p:sp>
      <p:sp>
        <p:nvSpPr>
          <p:cNvPr id="3" name="Code"/>
          <p:cNvSpPr txBox="1"/>
          <p:nvPr/>
        </p:nvSpPr>
        <p:spPr>
          <a:xfrm>
            <a:off x="548640" y="1325880"/>
            <a:ext cx="5212080" cy="2943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boolean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suche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BinTree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isEmpty</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false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nicht da</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Integer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getItem</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true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suche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getLeft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suche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getRight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4" name="Text 2"/>
          <p:cNvSpPr txBox="1"/>
          <p:nvPr/>
        </p:nvSpPr>
        <p:spPr>
          <a:xfrm>
            <a:off x="6035040" y="1325880"/>
            <a:ext cx="26974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onsolas" pitchFamily="34" charset="0"/>
                <a:ea typeface="Consolas" pitchFamily="34" charset="-122"/>
                <a:cs typeface="Consolas" pitchFamily="34" charset="-120"/>
              </a:rPr>
              <a:t>suche(b, 7)</a:t>
            </a:r>
            <a:endParaRPr lang="en-US" sz="1600" dirty="0"/>
          </a:p>
        </p:txBody>
      </p:sp>
      <p:sp>
        <p:nvSpPr>
          <p:cNvPr id="5" name="Kante 3-1"/>
          <p:cNvSpPr/>
          <p:nvPr/>
        </p:nvSpPr>
        <p:spPr>
          <a:xfrm flipH="1">
            <a:off x="6285960" y="2560320"/>
            <a:ext cx="384750" cy="640080"/>
          </a:xfrm>
          <a:prstGeom prst="line">
            <a:avLst/>
          </a:prstGeom>
          <a:noFill/>
          <a:ln w="22225">
            <a:solidFill>
              <a:schemeClr val="accent1"/>
            </a:solidFill>
            <a:prstDash val="solid"/>
          </a:ln>
        </p:spPr>
      </p:sp>
      <p:sp>
        <p:nvSpPr>
          <p:cNvPr id="6" name="Kante 6-4"/>
          <p:cNvSpPr/>
          <p:nvPr/>
        </p:nvSpPr>
        <p:spPr>
          <a:xfrm flipH="1">
            <a:off x="6798960" y="3200400"/>
            <a:ext cx="256500" cy="640080"/>
          </a:xfrm>
          <a:prstGeom prst="line">
            <a:avLst/>
          </a:prstGeom>
          <a:noFill/>
          <a:ln w="22225">
            <a:solidFill>
              <a:schemeClr val="accent1"/>
            </a:solidFill>
            <a:prstDash val="solid"/>
          </a:ln>
        </p:spPr>
      </p:sp>
      <p:sp>
        <p:nvSpPr>
          <p:cNvPr id="7" name="Kante 6-7"/>
          <p:cNvSpPr/>
          <p:nvPr/>
        </p:nvSpPr>
        <p:spPr>
          <a:xfrm>
            <a:off x="7055460" y="3200400"/>
            <a:ext cx="256500" cy="640080"/>
          </a:xfrm>
          <a:prstGeom prst="line">
            <a:avLst/>
          </a:prstGeom>
          <a:noFill/>
          <a:ln w="50800">
            <a:solidFill>
              <a:schemeClr val="accent2"/>
            </a:solidFill>
            <a:prstDash val="solid"/>
          </a:ln>
        </p:spPr>
      </p:sp>
      <p:sp>
        <p:nvSpPr>
          <p:cNvPr id="8" name="Kante 3-6"/>
          <p:cNvSpPr/>
          <p:nvPr/>
        </p:nvSpPr>
        <p:spPr>
          <a:xfrm>
            <a:off x="6670710" y="2560320"/>
            <a:ext cx="384750" cy="640080"/>
          </a:xfrm>
          <a:prstGeom prst="line">
            <a:avLst/>
          </a:prstGeom>
          <a:noFill/>
          <a:ln w="50800">
            <a:solidFill>
              <a:schemeClr val="accent2"/>
            </a:solidFill>
            <a:prstDash val="solid"/>
          </a:ln>
        </p:spPr>
      </p:sp>
      <p:sp>
        <p:nvSpPr>
          <p:cNvPr id="9" name="Kante 8-3"/>
          <p:cNvSpPr/>
          <p:nvPr/>
        </p:nvSpPr>
        <p:spPr>
          <a:xfrm flipH="1">
            <a:off x="6670710" y="1920240"/>
            <a:ext cx="688703" cy="640080"/>
          </a:xfrm>
          <a:prstGeom prst="line">
            <a:avLst/>
          </a:prstGeom>
          <a:noFill/>
          <a:ln w="50800">
            <a:solidFill>
              <a:schemeClr val="accent2"/>
            </a:solidFill>
            <a:prstDash val="solid"/>
          </a:ln>
        </p:spPr>
      </p:sp>
      <p:sp>
        <p:nvSpPr>
          <p:cNvPr id="10" name="Kante 14-13"/>
          <p:cNvSpPr/>
          <p:nvPr/>
        </p:nvSpPr>
        <p:spPr>
          <a:xfrm flipH="1">
            <a:off x="8153280" y="3200400"/>
            <a:ext cx="210330" cy="640080"/>
          </a:xfrm>
          <a:prstGeom prst="line">
            <a:avLst/>
          </a:prstGeom>
          <a:noFill/>
          <a:ln w="22225">
            <a:solidFill>
              <a:schemeClr val="accent1"/>
            </a:solidFill>
            <a:prstDash val="solid"/>
          </a:ln>
        </p:spPr>
      </p:sp>
      <p:sp>
        <p:nvSpPr>
          <p:cNvPr id="11" name="Kante 10-14"/>
          <p:cNvSpPr/>
          <p:nvPr/>
        </p:nvSpPr>
        <p:spPr>
          <a:xfrm>
            <a:off x="8048115" y="2560320"/>
            <a:ext cx="315495" cy="640080"/>
          </a:xfrm>
          <a:prstGeom prst="line">
            <a:avLst/>
          </a:prstGeom>
          <a:noFill/>
          <a:ln w="22225">
            <a:solidFill>
              <a:schemeClr val="accent1"/>
            </a:solidFill>
            <a:prstDash val="solid"/>
          </a:ln>
        </p:spPr>
      </p:sp>
      <p:sp>
        <p:nvSpPr>
          <p:cNvPr id="12" name="Kante 8-10"/>
          <p:cNvSpPr/>
          <p:nvPr/>
        </p:nvSpPr>
        <p:spPr>
          <a:xfrm>
            <a:off x="7359413" y="1920240"/>
            <a:ext cx="688703" cy="640080"/>
          </a:xfrm>
          <a:prstGeom prst="line">
            <a:avLst/>
          </a:prstGeom>
          <a:noFill/>
          <a:ln w="22225">
            <a:solidFill>
              <a:schemeClr val="accent1"/>
            </a:solidFill>
            <a:prstDash val="solid"/>
          </a:ln>
        </p:spPr>
      </p:sp>
      <p:sp>
        <p:nvSpPr>
          <p:cNvPr id="13" name="Knoten 1"/>
          <p:cNvSpPr txBox="1"/>
          <p:nvPr/>
        </p:nvSpPr>
        <p:spPr>
          <a:xfrm>
            <a:off x="6103080" y="301752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14" name="Knoten 4"/>
          <p:cNvSpPr txBox="1"/>
          <p:nvPr/>
        </p:nvSpPr>
        <p:spPr>
          <a:xfrm>
            <a:off x="6616080" y="365760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15" name="Knoten 7"/>
          <p:cNvSpPr txBox="1"/>
          <p:nvPr/>
        </p:nvSpPr>
        <p:spPr>
          <a:xfrm>
            <a:off x="7129080" y="3657600"/>
            <a:ext cx="365760" cy="365760"/>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300" b="1" dirty="0">
                <a:solidFill>
                  <a:schemeClr val="accent3"/>
                </a:solidFill>
              </a:rPr>
              <a:t>7</a:t>
            </a:r>
            <a:endParaRPr lang="en-US" sz="1300" dirty="0"/>
          </a:p>
        </p:txBody>
      </p:sp>
      <p:sp>
        <p:nvSpPr>
          <p:cNvPr id="16" name="Knoten 6"/>
          <p:cNvSpPr txBox="1"/>
          <p:nvPr/>
        </p:nvSpPr>
        <p:spPr>
          <a:xfrm>
            <a:off x="6872580" y="3017520"/>
            <a:ext cx="365760" cy="365760"/>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6</a:t>
            </a:r>
            <a:endParaRPr lang="en-US" sz="1300" dirty="0"/>
          </a:p>
        </p:txBody>
      </p:sp>
      <p:sp>
        <p:nvSpPr>
          <p:cNvPr id="17" name="Knoten 3"/>
          <p:cNvSpPr txBox="1"/>
          <p:nvPr/>
        </p:nvSpPr>
        <p:spPr>
          <a:xfrm>
            <a:off x="6487830" y="2377440"/>
            <a:ext cx="365760" cy="365760"/>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18" name="Knoten 13"/>
          <p:cNvSpPr txBox="1"/>
          <p:nvPr/>
        </p:nvSpPr>
        <p:spPr>
          <a:xfrm>
            <a:off x="7970400" y="365760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13</a:t>
            </a:r>
            <a:endParaRPr lang="en-US" sz="1300" dirty="0"/>
          </a:p>
        </p:txBody>
      </p:sp>
      <p:sp>
        <p:nvSpPr>
          <p:cNvPr id="19" name="Knoten 14"/>
          <p:cNvSpPr txBox="1"/>
          <p:nvPr/>
        </p:nvSpPr>
        <p:spPr>
          <a:xfrm>
            <a:off x="8180730" y="301752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14</a:t>
            </a:r>
            <a:endParaRPr lang="en-US" sz="1300" dirty="0"/>
          </a:p>
        </p:txBody>
      </p:sp>
      <p:sp>
        <p:nvSpPr>
          <p:cNvPr id="20" name="Knoten 10"/>
          <p:cNvSpPr txBox="1"/>
          <p:nvPr/>
        </p:nvSpPr>
        <p:spPr>
          <a:xfrm>
            <a:off x="7865235" y="237744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10</a:t>
            </a:r>
            <a:endParaRPr lang="en-US" sz="1300" dirty="0"/>
          </a:p>
        </p:txBody>
      </p:sp>
      <p:sp>
        <p:nvSpPr>
          <p:cNvPr id="21" name="Knoten 8"/>
          <p:cNvSpPr txBox="1"/>
          <p:nvPr/>
        </p:nvSpPr>
        <p:spPr>
          <a:xfrm>
            <a:off x="7176532" y="1737360"/>
            <a:ext cx="365760" cy="365760"/>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8</a:t>
            </a:r>
            <a:endParaRPr lang="en-US" sz="1300" dirty="0"/>
          </a:p>
        </p:txBody>
      </p:sp>
      <p:sp>
        <p:nvSpPr>
          <p:cNvPr id="22" name="Text 20"/>
          <p:cNvSpPr txBox="1"/>
          <p:nvPr/>
        </p:nvSpPr>
        <p:spPr>
          <a:xfrm>
            <a:off x="6035040" y="4160520"/>
            <a:ext cx="2697480" cy="292608"/>
          </a:xfrm>
          <a:prstGeom prst="rect">
            <a:avLst/>
          </a:prstGeom>
          <a:noFill/>
          <a:ln/>
        </p:spPr>
        <p:txBody>
          <a:bodyPr wrap="square" lIns="0" tIns="0" rIns="0" bIns="0" rtlCol="0" anchor="t"/>
          <a:lstStyle/>
          <a:p>
            <a:pPr algn="ctr" indent="0" marL="0">
              <a:buNone/>
            </a:pPr>
            <a:r>
              <a:rPr lang="en-US" sz="1300" b="1" dirty="0">
                <a:solidFill>
                  <a:schemeClr val="accent1"/>
                </a:solidFill>
              </a:rPr>
              <a:t>Weg: </a:t>
            </a:r>
            <a:pPr algn="ctr" indent="0" marL="0">
              <a:buNone/>
            </a:pPr>
            <a:r>
              <a:rPr lang="en-US" sz="1300" dirty="0">
                <a:solidFill>
                  <a:schemeClr val="tx1"/>
                </a:solidFill>
                <a:latin typeface="Consolas" pitchFamily="34" charset="0"/>
                <a:ea typeface="Consolas" pitchFamily="34" charset="-122"/>
                <a:cs typeface="Consolas" pitchFamily="34" charset="-120"/>
              </a:rPr>
              <a:t>8 3 6 7</a:t>
            </a:r>
            <a:endParaRPr lang="en-US" sz="1300" dirty="0"/>
          </a:p>
        </p:txBody>
      </p:sp>
      <p:sp>
        <p:nvSpPr>
          <p:cNvPr id="23" name="Chip"/>
          <p:cNvSpPr txBox="1"/>
          <p:nvPr/>
        </p:nvSpPr>
        <p:spPr>
          <a:xfrm>
            <a:off x="6217920" y="4526280"/>
            <a:ext cx="233172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vergleiche = 4 · true</a:t>
            </a:r>
            <a:endParaRPr lang="en-US" sz="1400" dirty="0"/>
          </a:p>
        </p:txBody>
      </p:sp>
      <p:sp>
        <p:nvSpPr>
          <p:cNvPr id="24" name="Text 22"/>
          <p:cNvSpPr txBox="1"/>
          <p:nvPr/>
        </p:nvSpPr>
        <p:spPr>
          <a:xfrm>
            <a:off x="8869680" y="1325880"/>
            <a:ext cx="26974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onsolas" pitchFamily="34" charset="0"/>
                <a:ea typeface="Consolas" pitchFamily="34" charset="-122"/>
                <a:cs typeface="Consolas" pitchFamily="34" charset="-120"/>
              </a:rPr>
              <a:t>suche(b, 5)</a:t>
            </a:r>
            <a:endParaRPr lang="en-US" sz="1600" dirty="0"/>
          </a:p>
        </p:txBody>
      </p:sp>
      <p:sp>
        <p:nvSpPr>
          <p:cNvPr id="25" name="Kante 3-1"/>
          <p:cNvSpPr/>
          <p:nvPr/>
        </p:nvSpPr>
        <p:spPr>
          <a:xfrm flipH="1">
            <a:off x="9120600" y="2560320"/>
            <a:ext cx="384750" cy="640080"/>
          </a:xfrm>
          <a:prstGeom prst="line">
            <a:avLst/>
          </a:prstGeom>
          <a:noFill/>
          <a:ln w="22225">
            <a:solidFill>
              <a:schemeClr val="accent1"/>
            </a:solidFill>
            <a:prstDash val="solid"/>
          </a:ln>
        </p:spPr>
      </p:sp>
      <p:sp>
        <p:nvSpPr>
          <p:cNvPr id="26" name="Kante 6-4"/>
          <p:cNvSpPr/>
          <p:nvPr/>
        </p:nvSpPr>
        <p:spPr>
          <a:xfrm flipH="1">
            <a:off x="9633600" y="3200400"/>
            <a:ext cx="256500" cy="640080"/>
          </a:xfrm>
          <a:prstGeom prst="line">
            <a:avLst/>
          </a:prstGeom>
          <a:noFill/>
          <a:ln w="50800">
            <a:solidFill>
              <a:schemeClr val="accent2"/>
            </a:solidFill>
            <a:prstDash val="solid"/>
          </a:ln>
        </p:spPr>
      </p:sp>
      <p:sp>
        <p:nvSpPr>
          <p:cNvPr id="27" name="Kante 6-7"/>
          <p:cNvSpPr/>
          <p:nvPr/>
        </p:nvSpPr>
        <p:spPr>
          <a:xfrm>
            <a:off x="9890100" y="3200400"/>
            <a:ext cx="256500" cy="640080"/>
          </a:xfrm>
          <a:prstGeom prst="line">
            <a:avLst/>
          </a:prstGeom>
          <a:noFill/>
          <a:ln w="22225">
            <a:solidFill>
              <a:schemeClr val="accent1"/>
            </a:solidFill>
            <a:prstDash val="solid"/>
          </a:ln>
        </p:spPr>
      </p:sp>
      <p:sp>
        <p:nvSpPr>
          <p:cNvPr id="28" name="Kante 3-6"/>
          <p:cNvSpPr/>
          <p:nvPr/>
        </p:nvSpPr>
        <p:spPr>
          <a:xfrm>
            <a:off x="9505350" y="2560320"/>
            <a:ext cx="384750" cy="640080"/>
          </a:xfrm>
          <a:prstGeom prst="line">
            <a:avLst/>
          </a:prstGeom>
          <a:noFill/>
          <a:ln w="50800">
            <a:solidFill>
              <a:schemeClr val="accent2"/>
            </a:solidFill>
            <a:prstDash val="solid"/>
          </a:ln>
        </p:spPr>
      </p:sp>
      <p:sp>
        <p:nvSpPr>
          <p:cNvPr id="29" name="Kante 8-3"/>
          <p:cNvSpPr/>
          <p:nvPr/>
        </p:nvSpPr>
        <p:spPr>
          <a:xfrm flipH="1">
            <a:off x="9505350" y="1920240"/>
            <a:ext cx="688703" cy="640080"/>
          </a:xfrm>
          <a:prstGeom prst="line">
            <a:avLst/>
          </a:prstGeom>
          <a:noFill/>
          <a:ln w="50800">
            <a:solidFill>
              <a:schemeClr val="accent2"/>
            </a:solidFill>
            <a:prstDash val="solid"/>
          </a:ln>
        </p:spPr>
      </p:sp>
      <p:sp>
        <p:nvSpPr>
          <p:cNvPr id="30" name="Kante 14-13"/>
          <p:cNvSpPr/>
          <p:nvPr/>
        </p:nvSpPr>
        <p:spPr>
          <a:xfrm flipH="1">
            <a:off x="10987920" y="3200400"/>
            <a:ext cx="210330" cy="640080"/>
          </a:xfrm>
          <a:prstGeom prst="line">
            <a:avLst/>
          </a:prstGeom>
          <a:noFill/>
          <a:ln w="22225">
            <a:solidFill>
              <a:schemeClr val="accent1"/>
            </a:solidFill>
            <a:prstDash val="solid"/>
          </a:ln>
        </p:spPr>
      </p:sp>
      <p:sp>
        <p:nvSpPr>
          <p:cNvPr id="31" name="Kante 10-14"/>
          <p:cNvSpPr/>
          <p:nvPr/>
        </p:nvSpPr>
        <p:spPr>
          <a:xfrm>
            <a:off x="10882755" y="2560320"/>
            <a:ext cx="315495" cy="640080"/>
          </a:xfrm>
          <a:prstGeom prst="line">
            <a:avLst/>
          </a:prstGeom>
          <a:noFill/>
          <a:ln w="22225">
            <a:solidFill>
              <a:schemeClr val="accent1"/>
            </a:solidFill>
            <a:prstDash val="solid"/>
          </a:ln>
        </p:spPr>
      </p:sp>
      <p:sp>
        <p:nvSpPr>
          <p:cNvPr id="32" name="Kante 8-10"/>
          <p:cNvSpPr/>
          <p:nvPr/>
        </p:nvSpPr>
        <p:spPr>
          <a:xfrm>
            <a:off x="10194053" y="1920240"/>
            <a:ext cx="688703" cy="640080"/>
          </a:xfrm>
          <a:prstGeom prst="line">
            <a:avLst/>
          </a:prstGeom>
          <a:noFill/>
          <a:ln w="22225">
            <a:solidFill>
              <a:schemeClr val="accent1"/>
            </a:solidFill>
            <a:prstDash val="solid"/>
          </a:ln>
        </p:spPr>
      </p:sp>
      <p:sp>
        <p:nvSpPr>
          <p:cNvPr id="33" name="Knoten 1"/>
          <p:cNvSpPr txBox="1"/>
          <p:nvPr/>
        </p:nvSpPr>
        <p:spPr>
          <a:xfrm>
            <a:off x="8937720" y="301752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34" name="Knoten 4"/>
          <p:cNvSpPr txBox="1"/>
          <p:nvPr/>
        </p:nvSpPr>
        <p:spPr>
          <a:xfrm>
            <a:off x="9450720" y="3657600"/>
            <a:ext cx="365760" cy="365760"/>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300" b="1" dirty="0">
                <a:solidFill>
                  <a:schemeClr val="accent4"/>
                </a:solidFill>
              </a:rPr>
              <a:t>4</a:t>
            </a:r>
            <a:endParaRPr lang="en-US" sz="1300" dirty="0"/>
          </a:p>
        </p:txBody>
      </p:sp>
      <p:sp>
        <p:nvSpPr>
          <p:cNvPr id="35" name="Text 33"/>
          <p:cNvSpPr txBox="1"/>
          <p:nvPr/>
        </p:nvSpPr>
        <p:spPr>
          <a:xfrm>
            <a:off x="8499744" y="3694176"/>
            <a:ext cx="914400" cy="292608"/>
          </a:xfrm>
          <a:prstGeom prst="rect">
            <a:avLst/>
          </a:prstGeom>
          <a:noFill/>
          <a:ln/>
        </p:spPr>
        <p:txBody>
          <a:bodyPr wrap="square" lIns="0" tIns="0" rIns="0" bIns="0" rtlCol="0" anchor="ctr"/>
          <a:lstStyle/>
          <a:p>
            <a:pPr algn="r" indent="0" marL="0">
              <a:buNone/>
            </a:pPr>
            <a:r>
              <a:rPr lang="en-US" sz="1100" b="1" dirty="0">
                <a:solidFill>
                  <a:schemeClr val="accent4"/>
                </a:solidFill>
              </a:rPr>
              <a:t>rechts leer</a:t>
            </a:r>
            <a:endParaRPr lang="en-US" sz="1100" dirty="0"/>
          </a:p>
        </p:txBody>
      </p:sp>
      <p:sp>
        <p:nvSpPr>
          <p:cNvPr id="36" name="Knoten 7"/>
          <p:cNvSpPr txBox="1"/>
          <p:nvPr/>
        </p:nvSpPr>
        <p:spPr>
          <a:xfrm>
            <a:off x="9963720" y="365760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7</a:t>
            </a:r>
            <a:endParaRPr lang="en-US" sz="1300" dirty="0"/>
          </a:p>
        </p:txBody>
      </p:sp>
      <p:sp>
        <p:nvSpPr>
          <p:cNvPr id="37" name="Knoten 6"/>
          <p:cNvSpPr txBox="1"/>
          <p:nvPr/>
        </p:nvSpPr>
        <p:spPr>
          <a:xfrm>
            <a:off x="9707220" y="3017520"/>
            <a:ext cx="365760" cy="365760"/>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6</a:t>
            </a:r>
            <a:endParaRPr lang="en-US" sz="1300" dirty="0"/>
          </a:p>
        </p:txBody>
      </p:sp>
      <p:sp>
        <p:nvSpPr>
          <p:cNvPr id="38" name="Knoten 3"/>
          <p:cNvSpPr txBox="1"/>
          <p:nvPr/>
        </p:nvSpPr>
        <p:spPr>
          <a:xfrm>
            <a:off x="9322470" y="2377440"/>
            <a:ext cx="365760" cy="365760"/>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39" name="Knoten 13"/>
          <p:cNvSpPr txBox="1"/>
          <p:nvPr/>
        </p:nvSpPr>
        <p:spPr>
          <a:xfrm>
            <a:off x="10805040" y="365760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13</a:t>
            </a:r>
            <a:endParaRPr lang="en-US" sz="1300" dirty="0"/>
          </a:p>
        </p:txBody>
      </p:sp>
      <p:sp>
        <p:nvSpPr>
          <p:cNvPr id="40" name="Knoten 14"/>
          <p:cNvSpPr txBox="1"/>
          <p:nvPr/>
        </p:nvSpPr>
        <p:spPr>
          <a:xfrm>
            <a:off x="11015370" y="301752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14</a:t>
            </a:r>
            <a:endParaRPr lang="en-US" sz="1300" dirty="0"/>
          </a:p>
        </p:txBody>
      </p:sp>
      <p:sp>
        <p:nvSpPr>
          <p:cNvPr id="41" name="Knoten 10"/>
          <p:cNvSpPr txBox="1"/>
          <p:nvPr/>
        </p:nvSpPr>
        <p:spPr>
          <a:xfrm>
            <a:off x="10699875" y="2377440"/>
            <a:ext cx="365760" cy="365760"/>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10</a:t>
            </a:r>
            <a:endParaRPr lang="en-US" sz="1300" dirty="0"/>
          </a:p>
        </p:txBody>
      </p:sp>
      <p:sp>
        <p:nvSpPr>
          <p:cNvPr id="42" name="Knoten 8"/>
          <p:cNvSpPr txBox="1"/>
          <p:nvPr/>
        </p:nvSpPr>
        <p:spPr>
          <a:xfrm>
            <a:off x="10011173" y="1737360"/>
            <a:ext cx="365760" cy="365760"/>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8</a:t>
            </a:r>
            <a:endParaRPr lang="en-US" sz="1300" dirty="0"/>
          </a:p>
        </p:txBody>
      </p:sp>
      <p:sp>
        <p:nvSpPr>
          <p:cNvPr id="43" name="Text 41"/>
          <p:cNvSpPr txBox="1"/>
          <p:nvPr/>
        </p:nvSpPr>
        <p:spPr>
          <a:xfrm>
            <a:off x="8869680" y="4160520"/>
            <a:ext cx="2697480" cy="292608"/>
          </a:xfrm>
          <a:prstGeom prst="rect">
            <a:avLst/>
          </a:prstGeom>
          <a:noFill/>
          <a:ln/>
        </p:spPr>
        <p:txBody>
          <a:bodyPr wrap="square" lIns="0" tIns="0" rIns="0" bIns="0" rtlCol="0" anchor="t"/>
          <a:lstStyle/>
          <a:p>
            <a:pPr algn="ctr" indent="0" marL="0">
              <a:buNone/>
            </a:pPr>
            <a:r>
              <a:rPr lang="en-US" sz="1300" b="1" dirty="0">
                <a:solidFill>
                  <a:schemeClr val="accent1"/>
                </a:solidFill>
              </a:rPr>
              <a:t>Weg: </a:t>
            </a:r>
            <a:pPr algn="ctr" indent="0" marL="0">
              <a:buNone/>
            </a:pPr>
            <a:r>
              <a:rPr lang="en-US" sz="1300" dirty="0">
                <a:solidFill>
                  <a:schemeClr val="tx1"/>
                </a:solidFill>
                <a:latin typeface="Consolas" pitchFamily="34" charset="0"/>
                <a:ea typeface="Consolas" pitchFamily="34" charset="-122"/>
                <a:cs typeface="Consolas" pitchFamily="34" charset="-120"/>
              </a:rPr>
              <a:t>8 3 6 4 leer</a:t>
            </a:r>
            <a:endParaRPr lang="en-US" sz="1300" dirty="0"/>
          </a:p>
        </p:txBody>
      </p:sp>
      <p:sp>
        <p:nvSpPr>
          <p:cNvPr id="44" name="Chip"/>
          <p:cNvSpPr txBox="1"/>
          <p:nvPr/>
        </p:nvSpPr>
        <p:spPr>
          <a:xfrm>
            <a:off x="9052560" y="4526280"/>
            <a:ext cx="233172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vergleiche = 4 · false</a:t>
            </a:r>
            <a:endParaRPr lang="en-US" sz="1400" dirty="0"/>
          </a:p>
        </p:txBody>
      </p:sp>
      <p:sp>
        <p:nvSpPr>
          <p:cNvPr id="45" name="Aufwand"/>
          <p:cNvSpPr/>
          <p:nvPr/>
        </p:nvSpPr>
        <p:spPr>
          <a:xfrm>
            <a:off x="548640" y="5120640"/>
            <a:ext cx="5212080" cy="1005840"/>
          </a:xfrm>
          <a:prstGeom prst="roundRect">
            <a:avLst>
              <a:gd name="adj" fmla="val 10909"/>
            </a:avLst>
          </a:prstGeom>
          <a:solidFill>
            <a:schemeClr val="bg2"/>
          </a:solidFill>
          <a:ln/>
        </p:spPr>
      </p:sp>
      <p:sp>
        <p:nvSpPr>
          <p:cNvPr id="46" name="Text 44"/>
          <p:cNvSpPr txBox="1"/>
          <p:nvPr/>
        </p:nvSpPr>
        <p:spPr>
          <a:xfrm>
            <a:off x="749808" y="5120640"/>
            <a:ext cx="4846320" cy="1005840"/>
          </a:xfrm>
          <a:prstGeom prst="rect">
            <a:avLst/>
          </a:prstGeom>
          <a:noFill/>
          <a:ln/>
        </p:spPr>
        <p:txBody>
          <a:bodyPr wrap="square" lIns="0" tIns="0" rIns="0" bIns="0" rtlCol="0" anchor="ctr"/>
          <a:lstStyle/>
          <a:p>
            <a:pPr indent="0" marL="0">
              <a:buNone/>
            </a:pPr>
            <a:r>
              <a:rPr lang="en-US" sz="1500" b="1" dirty="0">
                <a:solidFill>
                  <a:schemeClr val="accent1"/>
                </a:solidFill>
              </a:rPr>
              <a:t>Aufwand: </a:t>
            </a:r>
            <a:pPr indent="0" marL="0">
              <a:buNone/>
            </a:pPr>
            <a:r>
              <a:rPr lang="en-US" sz="1500" dirty="0">
                <a:solidFill>
                  <a:schemeClr val="tx1"/>
                </a:solidFill>
              </a:rPr>
              <a:t>höchstens so viele Vergleiche wie die Höhe – hier 4 statt 9 Knoten.</a:t>
            </a:r>
            <a:endParaRPr lang="en-US" sz="1500" dirty="0"/>
          </a:p>
        </p:txBody>
      </p:sp>
      <p:sp>
        <p:nvSpPr>
          <p:cNvPr id="47" name="Iterativ"/>
          <p:cNvSpPr/>
          <p:nvPr/>
        </p:nvSpPr>
        <p:spPr>
          <a:xfrm>
            <a:off x="6035040" y="5120640"/>
            <a:ext cx="5577840" cy="1005840"/>
          </a:xfrm>
          <a:prstGeom prst="roundRect">
            <a:avLst>
              <a:gd name="adj" fmla="val 10909"/>
            </a:avLst>
          </a:prstGeom>
          <a:solidFill>
            <a:schemeClr val="bg1"/>
          </a:solidFill>
          <a:ln w="25400">
            <a:solidFill>
              <a:schemeClr val="accent3"/>
            </a:solidFill>
            <a:prstDash val="solid"/>
          </a:ln>
        </p:spPr>
      </p:sp>
      <p:sp>
        <p:nvSpPr>
          <p:cNvPr id="48" name="Text 46"/>
          <p:cNvSpPr txBox="1"/>
          <p:nvPr/>
        </p:nvSpPr>
        <p:spPr>
          <a:xfrm>
            <a:off x="6236208" y="5120640"/>
            <a:ext cx="5212080" cy="1005840"/>
          </a:xfrm>
          <a:prstGeom prst="rect">
            <a:avLst/>
          </a:prstGeom>
          <a:noFill/>
          <a:ln/>
        </p:spPr>
        <p:txBody>
          <a:bodyPr wrap="square" lIns="0" tIns="0" rIns="0" bIns="0" rtlCol="0" anchor="ctr"/>
          <a:lstStyle/>
          <a:p>
            <a:pPr indent="0" marL="0">
              <a:buNone/>
            </a:pPr>
            <a:r>
              <a:rPr lang="en-US" sz="1500" b="1" dirty="0">
                <a:solidFill>
                  <a:schemeClr val="accent3"/>
                </a:solidFill>
              </a:rPr>
              <a:t>Iterativ (Erweiterung): </a:t>
            </a:r>
            <a:pPr indent="0" marL="0">
              <a:buNone/>
            </a:pPr>
            <a:r>
              <a:rPr lang="en-US" sz="1500" dirty="0">
                <a:solidFill>
                  <a:schemeClr val="tx1"/>
                </a:solidFill>
              </a:rPr>
              <a:t>Schleife solange nicht leer – b = b.getLeft() bzw. b.getRight().</a:t>
            </a:r>
            <a:endParaRPr lang="en-US" sz="1500" dirty="0"/>
          </a:p>
        </p:txBody>
      </p:sp>
      <p:sp>
        <p:nvSpPr>
          <p:cNvPr id="49" name="Text 4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Suchen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Einfügen: suchen, bis ein leerer Teilbaum kommt</a:t>
            </a:r>
            <a:endParaRPr lang="en-US" sz="3600" dirty="0"/>
          </a:p>
        </p:txBody>
      </p:sp>
      <p:sp>
        <p:nvSpPr>
          <p:cNvPr id="3" name="Code"/>
          <p:cNvSpPr txBox="1"/>
          <p:nvPr/>
        </p:nvSpPr>
        <p:spPr>
          <a:xfrm>
            <a:off x="548640" y="1325880"/>
            <a:ext cx="5212080" cy="2740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static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void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einfuegen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BinTree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isEmpty</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setItem</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leer -&gt; wird Blatt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Integer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getItem</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einfuegen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getLeft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else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&gt;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wert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einfuegen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getRight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i="1" dirty="0">
                <a:solidFill>
                  <a:schemeClr val="accent3"/>
                </a:solidFill>
                <a:latin typeface="Consolas" pitchFamily="34" charset="0"/>
                <a:ea typeface="Consolas" pitchFamily="34" charset="-122"/>
                <a:cs typeface="Consolas" pitchFamily="34" charset="-120"/>
              </a:rPr>
              <a:t>// Duplikat: nichts tun</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4" name="Trick setItem"/>
          <p:cNvSpPr/>
          <p:nvPr/>
        </p:nvSpPr>
        <p:spPr>
          <a:xfrm>
            <a:off x="548640" y="4160520"/>
            <a:ext cx="5212080" cy="914400"/>
          </a:xfrm>
          <a:prstGeom prst="roundRect">
            <a:avLst>
              <a:gd name="adj" fmla="val 12000"/>
            </a:avLst>
          </a:prstGeom>
          <a:solidFill>
            <a:schemeClr val="bg2"/>
          </a:solidFill>
          <a:ln/>
        </p:spPr>
      </p:sp>
      <p:sp>
        <p:nvSpPr>
          <p:cNvPr id="5" name="Text 3"/>
          <p:cNvSpPr txBox="1"/>
          <p:nvPr/>
        </p:nvSpPr>
        <p:spPr>
          <a:xfrm>
            <a:off x="749808" y="4160520"/>
            <a:ext cx="4846320" cy="914400"/>
          </a:xfrm>
          <a:prstGeom prst="rect">
            <a:avLst/>
          </a:prstGeom>
          <a:noFill/>
          <a:ln/>
        </p:spPr>
        <p:txBody>
          <a:bodyPr wrap="square" lIns="0" tIns="0" rIns="0" bIns="0" rtlCol="0" anchor="ctr"/>
          <a:lstStyle/>
          <a:p>
            <a:pPr indent="0" marL="0">
              <a:buNone/>
            </a:pPr>
            <a:r>
              <a:rPr lang="en-US" sz="1500" b="1" dirty="0">
                <a:solidFill>
                  <a:schemeClr val="accent1"/>
                </a:solidFill>
              </a:rPr>
              <a:t>Trick: </a:t>
            </a:r>
            <a:pPr indent="0" marL="0">
              <a:buNone/>
            </a:pPr>
            <a:r>
              <a:rPr lang="en-US" sz="1500" dirty="0">
                <a:solidFill>
                  <a:schemeClr val="tx1"/>
                </a:solidFill>
              </a:rPr>
              <a:t>setItem auf dem leeren Teilbaum macht ihn zum Blatt – er hängt schon am Elternknoten.</a:t>
            </a:r>
            <a:endParaRPr lang="en-US" sz="1500" dirty="0"/>
          </a:p>
        </p:txBody>
      </p:sp>
      <p:sp>
        <p:nvSpPr>
          <p:cNvPr id="6" name="Duplikat"/>
          <p:cNvSpPr/>
          <p:nvPr/>
        </p:nvSpPr>
        <p:spPr>
          <a:xfrm>
            <a:off x="548640" y="5212080"/>
            <a:ext cx="5212080" cy="914400"/>
          </a:xfrm>
          <a:prstGeom prst="roundRect">
            <a:avLst>
              <a:gd name="adj" fmla="val 12000"/>
            </a:avLst>
          </a:prstGeom>
          <a:solidFill>
            <a:schemeClr val="bg1"/>
          </a:solidFill>
          <a:ln w="25400">
            <a:solidFill>
              <a:schemeClr val="accent4"/>
            </a:solidFill>
            <a:prstDash val="solid"/>
          </a:ln>
        </p:spPr>
      </p:sp>
      <p:sp>
        <p:nvSpPr>
          <p:cNvPr id="7" name="Text 5"/>
          <p:cNvSpPr txBox="1"/>
          <p:nvPr/>
        </p:nvSpPr>
        <p:spPr>
          <a:xfrm>
            <a:off x="749808" y="5212080"/>
            <a:ext cx="4846320" cy="914400"/>
          </a:xfrm>
          <a:prstGeom prst="rect">
            <a:avLst/>
          </a:prstGeom>
          <a:noFill/>
          <a:ln/>
        </p:spPr>
        <p:txBody>
          <a:bodyPr wrap="square" lIns="0" tIns="0" rIns="0" bIns="0" rtlCol="0" anchor="ctr"/>
          <a:lstStyle/>
          <a:p>
            <a:pPr indent="0" marL="0">
              <a:buNone/>
            </a:pPr>
            <a:r>
              <a:rPr lang="en-US" sz="1500" b="1" dirty="0">
                <a:solidFill>
                  <a:schemeClr val="accent4"/>
                </a:solidFill>
              </a:rPr>
              <a:t>Duplikat: </a:t>
            </a:r>
            <a:pPr indent="0" marL="0">
              <a:buNone/>
            </a:pPr>
            <a:r>
              <a:rPr lang="en-US" sz="1500" dirty="0">
                <a:solidFill>
                  <a:schemeClr val="tx1"/>
                </a:solidFill>
              </a:rPr>
              <a:t>einfuegen(b, 8) ändert nichts. Achtung: Die Höhe wächst hier von 4 auf 5.</a:t>
            </a:r>
            <a:endParaRPr lang="en-US" sz="1500" dirty="0"/>
          </a:p>
        </p:txBody>
      </p:sp>
      <p:sp>
        <p:nvSpPr>
          <p:cNvPr id="8" name="Chip"/>
          <p:cNvSpPr txBox="1"/>
          <p:nvPr/>
        </p:nvSpPr>
        <p:spPr>
          <a:xfrm>
            <a:off x="6035040" y="1325880"/>
            <a:ext cx="274320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Vorher: einfuegen(b, 5)</a:t>
            </a:r>
            <a:endParaRPr lang="en-US" sz="1400" dirty="0"/>
          </a:p>
        </p:txBody>
      </p:sp>
      <p:sp>
        <p:nvSpPr>
          <p:cNvPr id="9" name="Kante 3-1"/>
          <p:cNvSpPr/>
          <p:nvPr/>
        </p:nvSpPr>
        <p:spPr>
          <a:xfrm flipH="1">
            <a:off x="6520070" y="2384298"/>
            <a:ext cx="863959" cy="427482"/>
          </a:xfrm>
          <a:prstGeom prst="line">
            <a:avLst/>
          </a:prstGeom>
          <a:noFill/>
          <a:ln w="22225">
            <a:solidFill>
              <a:schemeClr val="accent1"/>
            </a:solidFill>
            <a:prstDash val="solid"/>
          </a:ln>
        </p:spPr>
      </p:sp>
      <p:sp>
        <p:nvSpPr>
          <p:cNvPr id="10" name="Kante 6-4"/>
          <p:cNvSpPr/>
          <p:nvPr/>
        </p:nvSpPr>
        <p:spPr>
          <a:xfrm flipH="1">
            <a:off x="7672015" y="2811780"/>
            <a:ext cx="575973" cy="427482"/>
          </a:xfrm>
          <a:prstGeom prst="line">
            <a:avLst/>
          </a:prstGeom>
          <a:noFill/>
          <a:ln w="50800">
            <a:solidFill>
              <a:schemeClr val="accent2"/>
            </a:solidFill>
            <a:prstDash val="solid"/>
          </a:ln>
        </p:spPr>
      </p:sp>
      <p:sp>
        <p:nvSpPr>
          <p:cNvPr id="11" name="Kante 6-7"/>
          <p:cNvSpPr/>
          <p:nvPr/>
        </p:nvSpPr>
        <p:spPr>
          <a:xfrm>
            <a:off x="8247987" y="2811780"/>
            <a:ext cx="575973" cy="427482"/>
          </a:xfrm>
          <a:prstGeom prst="line">
            <a:avLst/>
          </a:prstGeom>
          <a:noFill/>
          <a:ln w="22225">
            <a:solidFill>
              <a:schemeClr val="accent1"/>
            </a:solidFill>
            <a:prstDash val="solid"/>
          </a:ln>
        </p:spPr>
      </p:sp>
      <p:sp>
        <p:nvSpPr>
          <p:cNvPr id="12" name="Kante 3-6"/>
          <p:cNvSpPr/>
          <p:nvPr/>
        </p:nvSpPr>
        <p:spPr>
          <a:xfrm>
            <a:off x="7384028" y="2384298"/>
            <a:ext cx="863959" cy="427482"/>
          </a:xfrm>
          <a:prstGeom prst="line">
            <a:avLst/>
          </a:prstGeom>
          <a:noFill/>
          <a:ln w="50800">
            <a:solidFill>
              <a:schemeClr val="accent2"/>
            </a:solidFill>
            <a:prstDash val="solid"/>
          </a:ln>
        </p:spPr>
      </p:sp>
      <p:sp>
        <p:nvSpPr>
          <p:cNvPr id="13" name="Kante 8-3"/>
          <p:cNvSpPr/>
          <p:nvPr/>
        </p:nvSpPr>
        <p:spPr>
          <a:xfrm flipH="1">
            <a:off x="7384028" y="1956816"/>
            <a:ext cx="1475930" cy="427482"/>
          </a:xfrm>
          <a:prstGeom prst="line">
            <a:avLst/>
          </a:prstGeom>
          <a:noFill/>
          <a:ln w="50800">
            <a:solidFill>
              <a:schemeClr val="accent2"/>
            </a:solidFill>
            <a:prstDash val="solid"/>
          </a:ln>
        </p:spPr>
      </p:sp>
      <p:sp>
        <p:nvSpPr>
          <p:cNvPr id="14" name="Kante 14-13"/>
          <p:cNvSpPr/>
          <p:nvPr/>
        </p:nvSpPr>
        <p:spPr>
          <a:xfrm flipH="1">
            <a:off x="10551878" y="2811780"/>
            <a:ext cx="431979" cy="427482"/>
          </a:xfrm>
          <a:prstGeom prst="line">
            <a:avLst/>
          </a:prstGeom>
          <a:noFill/>
          <a:ln w="22225">
            <a:solidFill>
              <a:schemeClr val="accent1"/>
            </a:solidFill>
            <a:prstDash val="solid"/>
          </a:ln>
        </p:spPr>
      </p:sp>
      <p:sp>
        <p:nvSpPr>
          <p:cNvPr id="15" name="Kante 10-14"/>
          <p:cNvSpPr/>
          <p:nvPr/>
        </p:nvSpPr>
        <p:spPr>
          <a:xfrm>
            <a:off x="10335888" y="2384298"/>
            <a:ext cx="647969" cy="427482"/>
          </a:xfrm>
          <a:prstGeom prst="line">
            <a:avLst/>
          </a:prstGeom>
          <a:noFill/>
          <a:ln w="22225">
            <a:solidFill>
              <a:schemeClr val="accent1"/>
            </a:solidFill>
            <a:prstDash val="solid"/>
          </a:ln>
        </p:spPr>
      </p:sp>
      <p:sp>
        <p:nvSpPr>
          <p:cNvPr id="16" name="Kante 8-10"/>
          <p:cNvSpPr/>
          <p:nvPr/>
        </p:nvSpPr>
        <p:spPr>
          <a:xfrm>
            <a:off x="8859958" y="1956816"/>
            <a:ext cx="1475930" cy="427482"/>
          </a:xfrm>
          <a:prstGeom prst="line">
            <a:avLst/>
          </a:prstGeom>
          <a:noFill/>
          <a:ln w="22225">
            <a:solidFill>
              <a:schemeClr val="accent1"/>
            </a:solidFill>
            <a:prstDash val="solid"/>
          </a:ln>
        </p:spPr>
      </p:sp>
      <p:sp>
        <p:nvSpPr>
          <p:cNvPr id="17" name="Kante leer"/>
          <p:cNvSpPr/>
          <p:nvPr/>
        </p:nvSpPr>
        <p:spPr>
          <a:xfrm flipH="1">
            <a:off x="6232083" y="2811780"/>
            <a:ext cx="287986" cy="363474"/>
          </a:xfrm>
          <a:prstGeom prst="line">
            <a:avLst/>
          </a:prstGeom>
          <a:noFill/>
          <a:ln w="12700">
            <a:solidFill>
              <a:srgbClr val="A6A6A6"/>
            </a:solidFill>
            <a:prstDash val="dash"/>
          </a:ln>
        </p:spPr>
      </p:sp>
      <p:sp>
        <p:nvSpPr>
          <p:cNvPr id="18" name="leerer Baum"/>
          <p:cNvSpPr/>
          <p:nvPr/>
        </p:nvSpPr>
        <p:spPr>
          <a:xfrm>
            <a:off x="6122355" y="3175254"/>
            <a:ext cx="219456" cy="219456"/>
          </a:xfrm>
          <a:prstGeom prst="rect">
            <a:avLst/>
          </a:prstGeom>
          <a:solidFill>
            <a:schemeClr val="bg1"/>
          </a:solidFill>
          <a:ln w="12700">
            <a:solidFill>
              <a:srgbClr val="A6A6A6"/>
            </a:solidFill>
            <a:prstDash val="dash"/>
          </a:ln>
        </p:spPr>
      </p:sp>
      <p:sp>
        <p:nvSpPr>
          <p:cNvPr id="19" name="Kante leer"/>
          <p:cNvSpPr/>
          <p:nvPr/>
        </p:nvSpPr>
        <p:spPr>
          <a:xfrm>
            <a:off x="6520070" y="2811780"/>
            <a:ext cx="287986" cy="363474"/>
          </a:xfrm>
          <a:prstGeom prst="line">
            <a:avLst/>
          </a:prstGeom>
          <a:noFill/>
          <a:ln w="12700">
            <a:solidFill>
              <a:srgbClr val="A6A6A6"/>
            </a:solidFill>
            <a:prstDash val="dash"/>
          </a:ln>
        </p:spPr>
      </p:sp>
      <p:sp>
        <p:nvSpPr>
          <p:cNvPr id="20" name="leerer Baum"/>
          <p:cNvSpPr/>
          <p:nvPr/>
        </p:nvSpPr>
        <p:spPr>
          <a:xfrm>
            <a:off x="6698328" y="3175254"/>
            <a:ext cx="219456" cy="219456"/>
          </a:xfrm>
          <a:prstGeom prst="rect">
            <a:avLst/>
          </a:prstGeom>
          <a:solidFill>
            <a:schemeClr val="bg1"/>
          </a:solidFill>
          <a:ln w="12700">
            <a:solidFill>
              <a:srgbClr val="A6A6A6"/>
            </a:solidFill>
            <a:prstDash val="dash"/>
          </a:ln>
        </p:spPr>
      </p:sp>
      <p:sp>
        <p:nvSpPr>
          <p:cNvPr id="21" name="Kante leer"/>
          <p:cNvSpPr/>
          <p:nvPr/>
        </p:nvSpPr>
        <p:spPr>
          <a:xfrm flipH="1">
            <a:off x="7384028" y="3239262"/>
            <a:ext cx="287986" cy="363474"/>
          </a:xfrm>
          <a:prstGeom prst="line">
            <a:avLst/>
          </a:prstGeom>
          <a:noFill/>
          <a:ln w="12700">
            <a:solidFill>
              <a:srgbClr val="A6A6A6"/>
            </a:solidFill>
            <a:prstDash val="dash"/>
          </a:ln>
        </p:spPr>
      </p:sp>
      <p:sp>
        <p:nvSpPr>
          <p:cNvPr id="22" name="leerer Baum"/>
          <p:cNvSpPr/>
          <p:nvPr/>
        </p:nvSpPr>
        <p:spPr>
          <a:xfrm>
            <a:off x="7274300" y="3602736"/>
            <a:ext cx="219456" cy="219456"/>
          </a:xfrm>
          <a:prstGeom prst="rect">
            <a:avLst/>
          </a:prstGeom>
          <a:solidFill>
            <a:schemeClr val="bg1"/>
          </a:solidFill>
          <a:ln w="12700">
            <a:solidFill>
              <a:srgbClr val="A6A6A6"/>
            </a:solidFill>
            <a:prstDash val="dash"/>
          </a:ln>
        </p:spPr>
      </p:sp>
      <p:sp>
        <p:nvSpPr>
          <p:cNvPr id="23" name="Kante leer"/>
          <p:cNvSpPr/>
          <p:nvPr/>
        </p:nvSpPr>
        <p:spPr>
          <a:xfrm>
            <a:off x="7672015" y="3239262"/>
            <a:ext cx="287986" cy="363474"/>
          </a:xfrm>
          <a:prstGeom prst="line">
            <a:avLst/>
          </a:prstGeom>
          <a:noFill/>
          <a:ln w="38100">
            <a:solidFill>
              <a:schemeClr val="accent2"/>
            </a:solidFill>
            <a:prstDash val="solid"/>
          </a:ln>
        </p:spPr>
      </p:sp>
      <p:sp>
        <p:nvSpPr>
          <p:cNvPr id="24" name="leerer Baum"/>
          <p:cNvSpPr/>
          <p:nvPr/>
        </p:nvSpPr>
        <p:spPr>
          <a:xfrm>
            <a:off x="7850273" y="3602736"/>
            <a:ext cx="219456" cy="219456"/>
          </a:xfrm>
          <a:prstGeom prst="rect">
            <a:avLst/>
          </a:prstGeom>
          <a:solidFill>
            <a:srgbClr val="FFF2CC"/>
          </a:solidFill>
          <a:ln w="31750">
            <a:solidFill>
              <a:schemeClr val="accent2"/>
            </a:solidFill>
            <a:prstDash val="solid"/>
          </a:ln>
        </p:spPr>
      </p:sp>
      <p:sp>
        <p:nvSpPr>
          <p:cNvPr id="25" name="Kante leer"/>
          <p:cNvSpPr/>
          <p:nvPr/>
        </p:nvSpPr>
        <p:spPr>
          <a:xfrm flipH="1">
            <a:off x="8535974" y="3239262"/>
            <a:ext cx="287986" cy="363474"/>
          </a:xfrm>
          <a:prstGeom prst="line">
            <a:avLst/>
          </a:prstGeom>
          <a:noFill/>
          <a:ln w="12700">
            <a:solidFill>
              <a:srgbClr val="A6A6A6"/>
            </a:solidFill>
            <a:prstDash val="dash"/>
          </a:ln>
        </p:spPr>
      </p:sp>
      <p:sp>
        <p:nvSpPr>
          <p:cNvPr id="26" name="leerer Baum"/>
          <p:cNvSpPr/>
          <p:nvPr/>
        </p:nvSpPr>
        <p:spPr>
          <a:xfrm>
            <a:off x="8426246" y="3602736"/>
            <a:ext cx="219456" cy="219456"/>
          </a:xfrm>
          <a:prstGeom prst="rect">
            <a:avLst/>
          </a:prstGeom>
          <a:solidFill>
            <a:schemeClr val="bg1"/>
          </a:solidFill>
          <a:ln w="12700">
            <a:solidFill>
              <a:srgbClr val="A6A6A6"/>
            </a:solidFill>
            <a:prstDash val="dash"/>
          </a:ln>
        </p:spPr>
      </p:sp>
      <p:sp>
        <p:nvSpPr>
          <p:cNvPr id="27" name="Kante leer"/>
          <p:cNvSpPr/>
          <p:nvPr/>
        </p:nvSpPr>
        <p:spPr>
          <a:xfrm>
            <a:off x="8823960" y="3239262"/>
            <a:ext cx="287986" cy="363474"/>
          </a:xfrm>
          <a:prstGeom prst="line">
            <a:avLst/>
          </a:prstGeom>
          <a:noFill/>
          <a:ln w="12700">
            <a:solidFill>
              <a:srgbClr val="A6A6A6"/>
            </a:solidFill>
            <a:prstDash val="dash"/>
          </a:ln>
        </p:spPr>
      </p:sp>
      <p:sp>
        <p:nvSpPr>
          <p:cNvPr id="28" name="leerer Baum"/>
          <p:cNvSpPr/>
          <p:nvPr/>
        </p:nvSpPr>
        <p:spPr>
          <a:xfrm>
            <a:off x="9002218" y="3602736"/>
            <a:ext cx="219456" cy="219456"/>
          </a:xfrm>
          <a:prstGeom prst="rect">
            <a:avLst/>
          </a:prstGeom>
          <a:solidFill>
            <a:schemeClr val="bg1"/>
          </a:solidFill>
          <a:ln w="12700">
            <a:solidFill>
              <a:srgbClr val="A6A6A6"/>
            </a:solidFill>
            <a:prstDash val="dash"/>
          </a:ln>
        </p:spPr>
      </p:sp>
      <p:sp>
        <p:nvSpPr>
          <p:cNvPr id="29" name="Kante leer"/>
          <p:cNvSpPr/>
          <p:nvPr/>
        </p:nvSpPr>
        <p:spPr>
          <a:xfrm flipH="1">
            <a:off x="9687919" y="2384298"/>
            <a:ext cx="647969" cy="363474"/>
          </a:xfrm>
          <a:prstGeom prst="line">
            <a:avLst/>
          </a:prstGeom>
          <a:noFill/>
          <a:ln w="12700">
            <a:solidFill>
              <a:srgbClr val="A6A6A6"/>
            </a:solidFill>
            <a:prstDash val="dash"/>
          </a:ln>
        </p:spPr>
      </p:sp>
      <p:sp>
        <p:nvSpPr>
          <p:cNvPr id="30" name="leerer Baum"/>
          <p:cNvSpPr/>
          <p:nvPr/>
        </p:nvSpPr>
        <p:spPr>
          <a:xfrm>
            <a:off x="9578191" y="2747772"/>
            <a:ext cx="219456" cy="219456"/>
          </a:xfrm>
          <a:prstGeom prst="rect">
            <a:avLst/>
          </a:prstGeom>
          <a:solidFill>
            <a:schemeClr val="bg1"/>
          </a:solidFill>
          <a:ln w="12700">
            <a:solidFill>
              <a:srgbClr val="A6A6A6"/>
            </a:solidFill>
            <a:prstDash val="dash"/>
          </a:ln>
        </p:spPr>
      </p:sp>
      <p:sp>
        <p:nvSpPr>
          <p:cNvPr id="31" name="Kante leer"/>
          <p:cNvSpPr/>
          <p:nvPr/>
        </p:nvSpPr>
        <p:spPr>
          <a:xfrm flipH="1">
            <a:off x="10263892" y="3239262"/>
            <a:ext cx="287986" cy="363474"/>
          </a:xfrm>
          <a:prstGeom prst="line">
            <a:avLst/>
          </a:prstGeom>
          <a:noFill/>
          <a:ln w="12700">
            <a:solidFill>
              <a:srgbClr val="A6A6A6"/>
            </a:solidFill>
            <a:prstDash val="dash"/>
          </a:ln>
        </p:spPr>
      </p:sp>
      <p:sp>
        <p:nvSpPr>
          <p:cNvPr id="32" name="leerer Baum"/>
          <p:cNvSpPr/>
          <p:nvPr/>
        </p:nvSpPr>
        <p:spPr>
          <a:xfrm>
            <a:off x="10154164" y="3602736"/>
            <a:ext cx="219456" cy="219456"/>
          </a:xfrm>
          <a:prstGeom prst="rect">
            <a:avLst/>
          </a:prstGeom>
          <a:solidFill>
            <a:schemeClr val="bg1"/>
          </a:solidFill>
          <a:ln w="12700">
            <a:solidFill>
              <a:srgbClr val="A6A6A6"/>
            </a:solidFill>
            <a:prstDash val="dash"/>
          </a:ln>
        </p:spPr>
      </p:sp>
      <p:sp>
        <p:nvSpPr>
          <p:cNvPr id="33" name="Kante leer"/>
          <p:cNvSpPr/>
          <p:nvPr/>
        </p:nvSpPr>
        <p:spPr>
          <a:xfrm>
            <a:off x="10551878" y="3239262"/>
            <a:ext cx="287986" cy="363474"/>
          </a:xfrm>
          <a:prstGeom prst="line">
            <a:avLst/>
          </a:prstGeom>
          <a:noFill/>
          <a:ln w="12700">
            <a:solidFill>
              <a:srgbClr val="A6A6A6"/>
            </a:solidFill>
            <a:prstDash val="dash"/>
          </a:ln>
        </p:spPr>
      </p:sp>
      <p:sp>
        <p:nvSpPr>
          <p:cNvPr id="34" name="leerer Baum"/>
          <p:cNvSpPr/>
          <p:nvPr/>
        </p:nvSpPr>
        <p:spPr>
          <a:xfrm>
            <a:off x="10730136" y="3602736"/>
            <a:ext cx="219456" cy="219456"/>
          </a:xfrm>
          <a:prstGeom prst="rect">
            <a:avLst/>
          </a:prstGeom>
          <a:solidFill>
            <a:schemeClr val="bg1"/>
          </a:solidFill>
          <a:ln w="12700">
            <a:solidFill>
              <a:srgbClr val="A6A6A6"/>
            </a:solidFill>
            <a:prstDash val="dash"/>
          </a:ln>
        </p:spPr>
      </p:sp>
      <p:sp>
        <p:nvSpPr>
          <p:cNvPr id="35" name="Kante leer"/>
          <p:cNvSpPr/>
          <p:nvPr/>
        </p:nvSpPr>
        <p:spPr>
          <a:xfrm>
            <a:off x="10983857" y="2811780"/>
            <a:ext cx="431979" cy="363474"/>
          </a:xfrm>
          <a:prstGeom prst="line">
            <a:avLst/>
          </a:prstGeom>
          <a:noFill/>
          <a:ln w="12700">
            <a:solidFill>
              <a:srgbClr val="A6A6A6"/>
            </a:solidFill>
            <a:prstDash val="dash"/>
          </a:ln>
        </p:spPr>
      </p:sp>
      <p:sp>
        <p:nvSpPr>
          <p:cNvPr id="36" name="leerer Baum"/>
          <p:cNvSpPr/>
          <p:nvPr/>
        </p:nvSpPr>
        <p:spPr>
          <a:xfrm>
            <a:off x="11306109" y="3175254"/>
            <a:ext cx="219456" cy="219456"/>
          </a:xfrm>
          <a:prstGeom prst="rect">
            <a:avLst/>
          </a:prstGeom>
          <a:solidFill>
            <a:schemeClr val="bg1"/>
          </a:solidFill>
          <a:ln w="12700">
            <a:solidFill>
              <a:srgbClr val="A6A6A6"/>
            </a:solidFill>
            <a:prstDash val="dash"/>
          </a:ln>
        </p:spPr>
      </p:sp>
      <p:sp>
        <p:nvSpPr>
          <p:cNvPr id="37" name="Knoten 1"/>
          <p:cNvSpPr txBox="1"/>
          <p:nvPr/>
        </p:nvSpPr>
        <p:spPr>
          <a:xfrm>
            <a:off x="6346334" y="2638044"/>
            <a:ext cx="347472" cy="34747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38" name="Knoten 4"/>
          <p:cNvSpPr txBox="1"/>
          <p:nvPr/>
        </p:nvSpPr>
        <p:spPr>
          <a:xfrm>
            <a:off x="7498279" y="3065526"/>
            <a:ext cx="347472" cy="347472"/>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39" name="Knoten 7"/>
          <p:cNvSpPr txBox="1"/>
          <p:nvPr/>
        </p:nvSpPr>
        <p:spPr>
          <a:xfrm>
            <a:off x="8650224" y="3065526"/>
            <a:ext cx="347472" cy="34747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7</a:t>
            </a:r>
            <a:endParaRPr lang="en-US" sz="1300" dirty="0"/>
          </a:p>
        </p:txBody>
      </p:sp>
      <p:sp>
        <p:nvSpPr>
          <p:cNvPr id="40" name="Knoten 6"/>
          <p:cNvSpPr txBox="1"/>
          <p:nvPr/>
        </p:nvSpPr>
        <p:spPr>
          <a:xfrm>
            <a:off x="8074251" y="2638044"/>
            <a:ext cx="347472" cy="347472"/>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6</a:t>
            </a:r>
            <a:endParaRPr lang="en-US" sz="1300" dirty="0"/>
          </a:p>
        </p:txBody>
      </p:sp>
      <p:sp>
        <p:nvSpPr>
          <p:cNvPr id="41" name="Knoten 3"/>
          <p:cNvSpPr txBox="1"/>
          <p:nvPr/>
        </p:nvSpPr>
        <p:spPr>
          <a:xfrm>
            <a:off x="7210292" y="2210562"/>
            <a:ext cx="347472" cy="347472"/>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42" name="Knoten 13"/>
          <p:cNvSpPr txBox="1"/>
          <p:nvPr/>
        </p:nvSpPr>
        <p:spPr>
          <a:xfrm>
            <a:off x="10378142" y="3065526"/>
            <a:ext cx="347472" cy="34747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13</a:t>
            </a:r>
            <a:endParaRPr lang="en-US" sz="1300" dirty="0"/>
          </a:p>
        </p:txBody>
      </p:sp>
      <p:sp>
        <p:nvSpPr>
          <p:cNvPr id="43" name="Knoten 14"/>
          <p:cNvSpPr txBox="1"/>
          <p:nvPr/>
        </p:nvSpPr>
        <p:spPr>
          <a:xfrm>
            <a:off x="10810121" y="2638044"/>
            <a:ext cx="347472" cy="34747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14</a:t>
            </a:r>
            <a:endParaRPr lang="en-US" sz="1300" dirty="0"/>
          </a:p>
        </p:txBody>
      </p:sp>
      <p:sp>
        <p:nvSpPr>
          <p:cNvPr id="44" name="Knoten 10"/>
          <p:cNvSpPr txBox="1"/>
          <p:nvPr/>
        </p:nvSpPr>
        <p:spPr>
          <a:xfrm>
            <a:off x="10162152" y="2210562"/>
            <a:ext cx="347472" cy="347472"/>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10</a:t>
            </a:r>
            <a:endParaRPr lang="en-US" sz="1300" dirty="0"/>
          </a:p>
        </p:txBody>
      </p:sp>
      <p:sp>
        <p:nvSpPr>
          <p:cNvPr id="45" name="Knoten 8"/>
          <p:cNvSpPr txBox="1"/>
          <p:nvPr/>
        </p:nvSpPr>
        <p:spPr>
          <a:xfrm>
            <a:off x="8686222" y="1783080"/>
            <a:ext cx="347472" cy="347472"/>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300" b="1" dirty="0">
                <a:solidFill>
                  <a:schemeClr val="accent1"/>
                </a:solidFill>
              </a:rPr>
              <a:t>8</a:t>
            </a:r>
            <a:endParaRPr lang="en-US" sz="1300" dirty="0"/>
          </a:p>
        </p:txBody>
      </p:sp>
      <p:sp>
        <p:nvSpPr>
          <p:cNvPr id="46" name="Chip"/>
          <p:cNvSpPr txBox="1"/>
          <p:nvPr/>
        </p:nvSpPr>
        <p:spPr>
          <a:xfrm>
            <a:off x="6035040" y="3977640"/>
            <a:ext cx="128016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Nachher</a:t>
            </a:r>
            <a:endParaRPr lang="en-US" sz="1400" dirty="0"/>
          </a:p>
        </p:txBody>
      </p:sp>
      <p:sp>
        <p:nvSpPr>
          <p:cNvPr id="47" name="Kante 3-1"/>
          <p:cNvSpPr/>
          <p:nvPr/>
        </p:nvSpPr>
        <p:spPr>
          <a:xfrm flipH="1">
            <a:off x="6399605" y="4940046"/>
            <a:ext cx="950147" cy="340614"/>
          </a:xfrm>
          <a:prstGeom prst="line">
            <a:avLst/>
          </a:prstGeom>
          <a:noFill/>
          <a:ln w="22225">
            <a:solidFill>
              <a:schemeClr val="accent1"/>
            </a:solidFill>
            <a:prstDash val="solid"/>
          </a:ln>
        </p:spPr>
      </p:sp>
      <p:sp>
        <p:nvSpPr>
          <p:cNvPr id="48" name="Kante 4-5"/>
          <p:cNvSpPr/>
          <p:nvPr/>
        </p:nvSpPr>
        <p:spPr>
          <a:xfrm>
            <a:off x="7611782" y="5621274"/>
            <a:ext cx="404059" cy="340614"/>
          </a:xfrm>
          <a:prstGeom prst="line">
            <a:avLst/>
          </a:prstGeom>
          <a:noFill/>
          <a:ln w="22225">
            <a:solidFill>
              <a:schemeClr val="accent1"/>
            </a:solidFill>
            <a:prstDash val="solid"/>
          </a:ln>
        </p:spPr>
      </p:sp>
      <p:sp>
        <p:nvSpPr>
          <p:cNvPr id="49" name="Kante 6-4"/>
          <p:cNvSpPr/>
          <p:nvPr/>
        </p:nvSpPr>
        <p:spPr>
          <a:xfrm flipH="1">
            <a:off x="7611782" y="5280660"/>
            <a:ext cx="688116" cy="340614"/>
          </a:xfrm>
          <a:prstGeom prst="line">
            <a:avLst/>
          </a:prstGeom>
          <a:noFill/>
          <a:ln w="22225">
            <a:solidFill>
              <a:schemeClr val="accent1"/>
            </a:solidFill>
            <a:prstDash val="solid"/>
          </a:ln>
        </p:spPr>
      </p:sp>
      <p:sp>
        <p:nvSpPr>
          <p:cNvPr id="50" name="Kante 6-7"/>
          <p:cNvSpPr/>
          <p:nvPr/>
        </p:nvSpPr>
        <p:spPr>
          <a:xfrm>
            <a:off x="8299898" y="5280660"/>
            <a:ext cx="688116" cy="340614"/>
          </a:xfrm>
          <a:prstGeom prst="line">
            <a:avLst/>
          </a:prstGeom>
          <a:noFill/>
          <a:ln w="22225">
            <a:solidFill>
              <a:schemeClr val="accent1"/>
            </a:solidFill>
            <a:prstDash val="solid"/>
          </a:ln>
        </p:spPr>
      </p:sp>
      <p:sp>
        <p:nvSpPr>
          <p:cNvPr id="51" name="Kante 3-6"/>
          <p:cNvSpPr/>
          <p:nvPr/>
        </p:nvSpPr>
        <p:spPr>
          <a:xfrm>
            <a:off x="7349751" y="4940046"/>
            <a:ext cx="950147" cy="340614"/>
          </a:xfrm>
          <a:prstGeom prst="line">
            <a:avLst/>
          </a:prstGeom>
          <a:noFill/>
          <a:ln w="22225">
            <a:solidFill>
              <a:schemeClr val="accent1"/>
            </a:solidFill>
            <a:prstDash val="solid"/>
          </a:ln>
        </p:spPr>
      </p:sp>
      <p:sp>
        <p:nvSpPr>
          <p:cNvPr id="52" name="Kante 8-3"/>
          <p:cNvSpPr/>
          <p:nvPr/>
        </p:nvSpPr>
        <p:spPr>
          <a:xfrm flipH="1">
            <a:off x="7349751" y="4599432"/>
            <a:ext cx="1526235" cy="340614"/>
          </a:xfrm>
          <a:prstGeom prst="line">
            <a:avLst/>
          </a:prstGeom>
          <a:noFill/>
          <a:ln w="22225">
            <a:solidFill>
              <a:schemeClr val="accent1"/>
            </a:solidFill>
            <a:prstDash val="solid"/>
          </a:ln>
        </p:spPr>
      </p:sp>
      <p:sp>
        <p:nvSpPr>
          <p:cNvPr id="53" name="Kante 14-13"/>
          <p:cNvSpPr/>
          <p:nvPr/>
        </p:nvSpPr>
        <p:spPr>
          <a:xfrm flipH="1">
            <a:off x="10604251" y="5280660"/>
            <a:ext cx="404059" cy="340614"/>
          </a:xfrm>
          <a:prstGeom prst="line">
            <a:avLst/>
          </a:prstGeom>
          <a:noFill/>
          <a:ln w="22225">
            <a:solidFill>
              <a:schemeClr val="accent1"/>
            </a:solidFill>
            <a:prstDash val="solid"/>
          </a:ln>
        </p:spPr>
      </p:sp>
      <p:sp>
        <p:nvSpPr>
          <p:cNvPr id="54" name="Kante 10-14"/>
          <p:cNvSpPr/>
          <p:nvPr/>
        </p:nvSpPr>
        <p:spPr>
          <a:xfrm>
            <a:off x="10402221" y="4940046"/>
            <a:ext cx="606089" cy="340614"/>
          </a:xfrm>
          <a:prstGeom prst="line">
            <a:avLst/>
          </a:prstGeom>
          <a:noFill/>
          <a:ln w="22225">
            <a:solidFill>
              <a:schemeClr val="accent1"/>
            </a:solidFill>
            <a:prstDash val="solid"/>
          </a:ln>
        </p:spPr>
      </p:sp>
      <p:sp>
        <p:nvSpPr>
          <p:cNvPr id="55" name="Kante 8-10"/>
          <p:cNvSpPr/>
          <p:nvPr/>
        </p:nvSpPr>
        <p:spPr>
          <a:xfrm>
            <a:off x="8875986" y="4599432"/>
            <a:ext cx="1526235" cy="340614"/>
          </a:xfrm>
          <a:prstGeom prst="line">
            <a:avLst/>
          </a:prstGeom>
          <a:noFill/>
          <a:ln w="22225">
            <a:solidFill>
              <a:schemeClr val="accent1"/>
            </a:solidFill>
            <a:prstDash val="solid"/>
          </a:ln>
        </p:spPr>
      </p:sp>
      <p:sp>
        <p:nvSpPr>
          <p:cNvPr id="56" name="Knoten 1"/>
          <p:cNvSpPr txBox="1"/>
          <p:nvPr/>
        </p:nvSpPr>
        <p:spPr>
          <a:xfrm>
            <a:off x="6235013" y="5116068"/>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a:t>
            </a:r>
            <a:endParaRPr lang="en-US" sz="1300" dirty="0"/>
          </a:p>
        </p:txBody>
      </p:sp>
      <p:sp>
        <p:nvSpPr>
          <p:cNvPr id="57" name="Knoten 5"/>
          <p:cNvSpPr txBox="1"/>
          <p:nvPr/>
        </p:nvSpPr>
        <p:spPr>
          <a:xfrm>
            <a:off x="7851250" y="5797296"/>
            <a:ext cx="329184" cy="32918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300" b="1" dirty="0">
                <a:solidFill>
                  <a:schemeClr val="accent3"/>
                </a:solidFill>
              </a:rPr>
              <a:t>5</a:t>
            </a:r>
            <a:endParaRPr lang="en-US" sz="1300" dirty="0"/>
          </a:p>
        </p:txBody>
      </p:sp>
      <p:sp>
        <p:nvSpPr>
          <p:cNvPr id="58" name="Knoten 4"/>
          <p:cNvSpPr txBox="1"/>
          <p:nvPr/>
        </p:nvSpPr>
        <p:spPr>
          <a:xfrm>
            <a:off x="7447190" y="5456682"/>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4</a:t>
            </a:r>
            <a:endParaRPr lang="en-US" sz="1300" dirty="0"/>
          </a:p>
        </p:txBody>
      </p:sp>
      <p:sp>
        <p:nvSpPr>
          <p:cNvPr id="59" name="Knoten 7"/>
          <p:cNvSpPr txBox="1"/>
          <p:nvPr/>
        </p:nvSpPr>
        <p:spPr>
          <a:xfrm>
            <a:off x="8823422" y="5456682"/>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7</a:t>
            </a:r>
            <a:endParaRPr lang="en-US" sz="1300" dirty="0"/>
          </a:p>
        </p:txBody>
      </p:sp>
      <p:sp>
        <p:nvSpPr>
          <p:cNvPr id="60" name="Knoten 6"/>
          <p:cNvSpPr txBox="1"/>
          <p:nvPr/>
        </p:nvSpPr>
        <p:spPr>
          <a:xfrm>
            <a:off x="8135306" y="5116068"/>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6</a:t>
            </a:r>
            <a:endParaRPr lang="en-US" sz="1300" dirty="0"/>
          </a:p>
        </p:txBody>
      </p:sp>
      <p:sp>
        <p:nvSpPr>
          <p:cNvPr id="61" name="Knoten 3"/>
          <p:cNvSpPr txBox="1"/>
          <p:nvPr/>
        </p:nvSpPr>
        <p:spPr>
          <a:xfrm>
            <a:off x="7185159" y="4775454"/>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62" name="Knoten 13"/>
          <p:cNvSpPr txBox="1"/>
          <p:nvPr/>
        </p:nvSpPr>
        <p:spPr>
          <a:xfrm>
            <a:off x="10439659" y="5456682"/>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13</a:t>
            </a:r>
            <a:endParaRPr lang="en-US" sz="1300" dirty="0"/>
          </a:p>
        </p:txBody>
      </p:sp>
      <p:sp>
        <p:nvSpPr>
          <p:cNvPr id="63" name="Knoten 14"/>
          <p:cNvSpPr txBox="1"/>
          <p:nvPr/>
        </p:nvSpPr>
        <p:spPr>
          <a:xfrm>
            <a:off x="10843718" y="5116068"/>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14</a:t>
            </a:r>
            <a:endParaRPr lang="en-US" sz="1300" dirty="0"/>
          </a:p>
        </p:txBody>
      </p:sp>
      <p:sp>
        <p:nvSpPr>
          <p:cNvPr id="64" name="Knoten 10"/>
          <p:cNvSpPr txBox="1"/>
          <p:nvPr/>
        </p:nvSpPr>
        <p:spPr>
          <a:xfrm>
            <a:off x="10237629" y="4775454"/>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10</a:t>
            </a:r>
            <a:endParaRPr lang="en-US" sz="1300" dirty="0"/>
          </a:p>
        </p:txBody>
      </p:sp>
      <p:sp>
        <p:nvSpPr>
          <p:cNvPr id="65" name="Knoten 8"/>
          <p:cNvSpPr txBox="1"/>
          <p:nvPr/>
        </p:nvSpPr>
        <p:spPr>
          <a:xfrm>
            <a:off x="8711394" y="4434840"/>
            <a:ext cx="329184" cy="32918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300" b="1" dirty="0">
                <a:solidFill>
                  <a:schemeClr val="accent1"/>
                </a:solidFill>
              </a:rPr>
              <a:t>8</a:t>
            </a:r>
            <a:endParaRPr lang="en-US" sz="1300" dirty="0"/>
          </a:p>
        </p:txBody>
      </p:sp>
      <p:sp>
        <p:nvSpPr>
          <p:cNvPr id="66" name="Text 64"/>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Einfügen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Löschen 1/3: Ein Blatt entfernen (lösche 4)</a:t>
            </a:r>
            <a:endParaRPr lang="en-US" sz="3600" dirty="0"/>
          </a:p>
        </p:txBody>
      </p:sp>
      <p:sp>
        <p:nvSpPr>
          <p:cNvPr id="3" name="Chip"/>
          <p:cNvSpPr txBox="1"/>
          <p:nvPr/>
        </p:nvSpPr>
        <p:spPr>
          <a:xfrm>
            <a:off x="548640" y="1325880"/>
            <a:ext cx="118872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Vorher</a:t>
            </a:r>
            <a:endParaRPr lang="en-US" sz="1400" dirty="0"/>
          </a:p>
        </p:txBody>
      </p:sp>
      <p:sp>
        <p:nvSpPr>
          <p:cNvPr id="4" name="Kante 3-1"/>
          <p:cNvSpPr/>
          <p:nvPr/>
        </p:nvSpPr>
        <p:spPr>
          <a:xfrm flipH="1">
            <a:off x="916768" y="2776728"/>
            <a:ext cx="743336" cy="755904"/>
          </a:xfrm>
          <a:prstGeom prst="line">
            <a:avLst/>
          </a:prstGeom>
          <a:noFill/>
          <a:ln w="22225">
            <a:solidFill>
              <a:schemeClr val="accent1"/>
            </a:solidFill>
            <a:prstDash val="solid"/>
          </a:ln>
        </p:spPr>
      </p:sp>
      <p:sp>
        <p:nvSpPr>
          <p:cNvPr id="5" name="Kante 6-4"/>
          <p:cNvSpPr/>
          <p:nvPr/>
        </p:nvSpPr>
        <p:spPr>
          <a:xfrm flipH="1">
            <a:off x="1907883" y="3532632"/>
            <a:ext cx="495557" cy="755904"/>
          </a:xfrm>
          <a:prstGeom prst="line">
            <a:avLst/>
          </a:prstGeom>
          <a:noFill/>
          <a:ln w="22225">
            <a:solidFill>
              <a:schemeClr val="accent1"/>
            </a:solidFill>
            <a:prstDash val="solid"/>
          </a:ln>
        </p:spPr>
      </p:sp>
      <p:sp>
        <p:nvSpPr>
          <p:cNvPr id="6" name="Kante 6-7"/>
          <p:cNvSpPr/>
          <p:nvPr/>
        </p:nvSpPr>
        <p:spPr>
          <a:xfrm>
            <a:off x="2403441" y="3532632"/>
            <a:ext cx="495557" cy="755904"/>
          </a:xfrm>
          <a:prstGeom prst="line">
            <a:avLst/>
          </a:prstGeom>
          <a:noFill/>
          <a:ln w="22225">
            <a:solidFill>
              <a:schemeClr val="accent1"/>
            </a:solidFill>
            <a:prstDash val="solid"/>
          </a:ln>
        </p:spPr>
      </p:sp>
      <p:sp>
        <p:nvSpPr>
          <p:cNvPr id="7" name="Kante 3-6"/>
          <p:cNvSpPr/>
          <p:nvPr/>
        </p:nvSpPr>
        <p:spPr>
          <a:xfrm>
            <a:off x="1660105" y="2776728"/>
            <a:ext cx="743336" cy="755904"/>
          </a:xfrm>
          <a:prstGeom prst="line">
            <a:avLst/>
          </a:prstGeom>
          <a:noFill/>
          <a:ln w="22225">
            <a:solidFill>
              <a:schemeClr val="accent1"/>
            </a:solidFill>
            <a:prstDash val="solid"/>
          </a:ln>
        </p:spPr>
      </p:sp>
      <p:sp>
        <p:nvSpPr>
          <p:cNvPr id="8" name="Kante 8-3"/>
          <p:cNvSpPr/>
          <p:nvPr/>
        </p:nvSpPr>
        <p:spPr>
          <a:xfrm flipH="1">
            <a:off x="1660105" y="2020824"/>
            <a:ext cx="1341722" cy="755904"/>
          </a:xfrm>
          <a:prstGeom prst="line">
            <a:avLst/>
          </a:prstGeom>
          <a:noFill/>
          <a:ln w="22225">
            <a:solidFill>
              <a:schemeClr val="accent1"/>
            </a:solidFill>
            <a:prstDash val="solid"/>
          </a:ln>
        </p:spPr>
      </p:sp>
      <p:sp>
        <p:nvSpPr>
          <p:cNvPr id="9" name="Kante 14-13"/>
          <p:cNvSpPr/>
          <p:nvPr/>
        </p:nvSpPr>
        <p:spPr>
          <a:xfrm flipH="1">
            <a:off x="4549912" y="3532632"/>
            <a:ext cx="412729" cy="755904"/>
          </a:xfrm>
          <a:prstGeom prst="line">
            <a:avLst/>
          </a:prstGeom>
          <a:noFill/>
          <a:ln w="22225">
            <a:solidFill>
              <a:schemeClr val="accent1"/>
            </a:solidFill>
            <a:prstDash val="solid"/>
          </a:ln>
        </p:spPr>
      </p:sp>
      <p:sp>
        <p:nvSpPr>
          <p:cNvPr id="10" name="Kante 10-14"/>
          <p:cNvSpPr/>
          <p:nvPr/>
        </p:nvSpPr>
        <p:spPr>
          <a:xfrm>
            <a:off x="4343548" y="2776728"/>
            <a:ext cx="619093" cy="755904"/>
          </a:xfrm>
          <a:prstGeom prst="line">
            <a:avLst/>
          </a:prstGeom>
          <a:noFill/>
          <a:ln w="22225">
            <a:solidFill>
              <a:schemeClr val="accent1"/>
            </a:solidFill>
            <a:prstDash val="solid"/>
          </a:ln>
        </p:spPr>
      </p:sp>
      <p:sp>
        <p:nvSpPr>
          <p:cNvPr id="11" name="Kante 8-10"/>
          <p:cNvSpPr/>
          <p:nvPr/>
        </p:nvSpPr>
        <p:spPr>
          <a:xfrm>
            <a:off x="3001826" y="2020824"/>
            <a:ext cx="1341722" cy="755904"/>
          </a:xfrm>
          <a:prstGeom prst="line">
            <a:avLst/>
          </a:prstGeom>
          <a:noFill/>
          <a:ln w="22225">
            <a:solidFill>
              <a:schemeClr val="accent1"/>
            </a:solidFill>
            <a:prstDash val="solid"/>
          </a:ln>
        </p:spPr>
      </p:sp>
      <p:sp>
        <p:nvSpPr>
          <p:cNvPr id="12" name="Knoten 1"/>
          <p:cNvSpPr txBox="1"/>
          <p:nvPr/>
        </p:nvSpPr>
        <p:spPr>
          <a:xfrm>
            <a:off x="679024"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a:t>
            </a:r>
            <a:endParaRPr lang="en-US" sz="1700" dirty="0"/>
          </a:p>
        </p:txBody>
      </p:sp>
      <p:sp>
        <p:nvSpPr>
          <p:cNvPr id="13" name="Knoten 4"/>
          <p:cNvSpPr txBox="1"/>
          <p:nvPr/>
        </p:nvSpPr>
        <p:spPr>
          <a:xfrm>
            <a:off x="1670139" y="4050792"/>
            <a:ext cx="475488" cy="475488"/>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700" b="1" dirty="0">
                <a:solidFill>
                  <a:schemeClr val="accent4"/>
                </a:solidFill>
              </a:rPr>
              <a:t>4</a:t>
            </a:r>
            <a:endParaRPr lang="en-US" sz="1700" dirty="0"/>
          </a:p>
        </p:txBody>
      </p:sp>
      <p:sp>
        <p:nvSpPr>
          <p:cNvPr id="14" name="Knoten 7"/>
          <p:cNvSpPr txBox="1"/>
          <p:nvPr/>
        </p:nvSpPr>
        <p:spPr>
          <a:xfrm>
            <a:off x="2661254"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15" name="Knoten 6"/>
          <p:cNvSpPr txBox="1"/>
          <p:nvPr/>
        </p:nvSpPr>
        <p:spPr>
          <a:xfrm>
            <a:off x="2165697" y="3294888"/>
            <a:ext cx="475488" cy="475488"/>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700" b="1" dirty="0">
                <a:solidFill>
                  <a:schemeClr val="accent1"/>
                </a:solidFill>
              </a:rPr>
              <a:t>6</a:t>
            </a:r>
            <a:endParaRPr lang="en-US" sz="1700" dirty="0"/>
          </a:p>
        </p:txBody>
      </p:sp>
      <p:sp>
        <p:nvSpPr>
          <p:cNvPr id="16" name="Knoten 3"/>
          <p:cNvSpPr txBox="1"/>
          <p:nvPr/>
        </p:nvSpPr>
        <p:spPr>
          <a:xfrm>
            <a:off x="1422361"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17" name="Knoten 13"/>
          <p:cNvSpPr txBox="1"/>
          <p:nvPr/>
        </p:nvSpPr>
        <p:spPr>
          <a:xfrm>
            <a:off x="4312168"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13</a:t>
            </a:r>
            <a:endParaRPr lang="en-US" sz="1700" dirty="0"/>
          </a:p>
        </p:txBody>
      </p:sp>
      <p:sp>
        <p:nvSpPr>
          <p:cNvPr id="18" name="Knoten 14"/>
          <p:cNvSpPr txBox="1"/>
          <p:nvPr/>
        </p:nvSpPr>
        <p:spPr>
          <a:xfrm>
            <a:off x="4724897"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14</a:t>
            </a:r>
            <a:endParaRPr lang="en-US" sz="1700" dirty="0"/>
          </a:p>
        </p:txBody>
      </p:sp>
      <p:sp>
        <p:nvSpPr>
          <p:cNvPr id="19" name="Knoten 10"/>
          <p:cNvSpPr txBox="1"/>
          <p:nvPr/>
        </p:nvSpPr>
        <p:spPr>
          <a:xfrm>
            <a:off x="4105804"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10</a:t>
            </a:r>
            <a:endParaRPr lang="en-US" sz="1700" dirty="0"/>
          </a:p>
        </p:txBody>
      </p:sp>
      <p:sp>
        <p:nvSpPr>
          <p:cNvPr id="20" name="Knoten 8"/>
          <p:cNvSpPr txBox="1"/>
          <p:nvPr/>
        </p:nvSpPr>
        <p:spPr>
          <a:xfrm>
            <a:off x="2764082" y="1783080"/>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8</a:t>
            </a:r>
            <a:endParaRPr lang="en-US" sz="1700" dirty="0"/>
          </a:p>
        </p:txBody>
      </p:sp>
      <p:sp>
        <p:nvSpPr>
          <p:cNvPr id="21" name="Pfeil loeschen"/>
          <p:cNvSpPr/>
          <p:nvPr/>
        </p:nvSpPr>
        <p:spPr>
          <a:xfrm>
            <a:off x="5715000" y="3017520"/>
            <a:ext cx="685800" cy="91"/>
          </a:xfrm>
          <a:prstGeom prst="line">
            <a:avLst/>
          </a:prstGeom>
          <a:noFill/>
          <a:ln w="44450">
            <a:solidFill>
              <a:schemeClr val="accent2"/>
            </a:solidFill>
            <a:prstDash val="solid"/>
            <a:tailEnd type="triangle"/>
          </a:ln>
        </p:spPr>
      </p:sp>
      <p:sp>
        <p:nvSpPr>
          <p:cNvPr id="22" name="Chip"/>
          <p:cNvSpPr txBox="1"/>
          <p:nvPr/>
        </p:nvSpPr>
        <p:spPr>
          <a:xfrm>
            <a:off x="6583680" y="1325880"/>
            <a:ext cx="128016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Nachher</a:t>
            </a:r>
            <a:endParaRPr lang="en-US" sz="1400" dirty="0"/>
          </a:p>
        </p:txBody>
      </p:sp>
      <p:sp>
        <p:nvSpPr>
          <p:cNvPr id="23" name="Kante 3-1"/>
          <p:cNvSpPr/>
          <p:nvPr/>
        </p:nvSpPr>
        <p:spPr>
          <a:xfrm flipH="1">
            <a:off x="6977770" y="2776728"/>
            <a:ext cx="662754" cy="755904"/>
          </a:xfrm>
          <a:prstGeom prst="line">
            <a:avLst/>
          </a:prstGeom>
          <a:noFill/>
          <a:ln w="22225">
            <a:solidFill>
              <a:schemeClr val="accent1"/>
            </a:solidFill>
            <a:prstDash val="solid"/>
          </a:ln>
        </p:spPr>
      </p:sp>
      <p:sp>
        <p:nvSpPr>
          <p:cNvPr id="24" name="Kante 6-7"/>
          <p:cNvSpPr/>
          <p:nvPr/>
        </p:nvSpPr>
        <p:spPr>
          <a:xfrm>
            <a:off x="8303278" y="3532632"/>
            <a:ext cx="441836" cy="755904"/>
          </a:xfrm>
          <a:prstGeom prst="line">
            <a:avLst/>
          </a:prstGeom>
          <a:noFill/>
          <a:ln w="22225">
            <a:solidFill>
              <a:schemeClr val="accent1"/>
            </a:solidFill>
            <a:prstDash val="solid"/>
          </a:ln>
        </p:spPr>
      </p:sp>
      <p:sp>
        <p:nvSpPr>
          <p:cNvPr id="25" name="Kante 3-6"/>
          <p:cNvSpPr/>
          <p:nvPr/>
        </p:nvSpPr>
        <p:spPr>
          <a:xfrm>
            <a:off x="7640524" y="2776728"/>
            <a:ext cx="662754" cy="755904"/>
          </a:xfrm>
          <a:prstGeom prst="line">
            <a:avLst/>
          </a:prstGeom>
          <a:noFill/>
          <a:ln w="22225">
            <a:solidFill>
              <a:schemeClr val="accent1"/>
            </a:solidFill>
            <a:prstDash val="solid"/>
          </a:ln>
        </p:spPr>
      </p:sp>
      <p:sp>
        <p:nvSpPr>
          <p:cNvPr id="26" name="Kante 8-3"/>
          <p:cNvSpPr/>
          <p:nvPr/>
        </p:nvSpPr>
        <p:spPr>
          <a:xfrm flipH="1">
            <a:off x="7640524" y="2020824"/>
            <a:ext cx="1325508" cy="755904"/>
          </a:xfrm>
          <a:prstGeom prst="line">
            <a:avLst/>
          </a:prstGeom>
          <a:noFill/>
          <a:ln w="22225">
            <a:solidFill>
              <a:schemeClr val="accent1"/>
            </a:solidFill>
            <a:prstDash val="solid"/>
          </a:ln>
        </p:spPr>
      </p:sp>
      <p:sp>
        <p:nvSpPr>
          <p:cNvPr id="27" name="Kante 14-13"/>
          <p:cNvSpPr/>
          <p:nvPr/>
        </p:nvSpPr>
        <p:spPr>
          <a:xfrm flipH="1">
            <a:off x="10512458" y="3532632"/>
            <a:ext cx="441836" cy="755904"/>
          </a:xfrm>
          <a:prstGeom prst="line">
            <a:avLst/>
          </a:prstGeom>
          <a:noFill/>
          <a:ln w="22225">
            <a:solidFill>
              <a:schemeClr val="accent1"/>
            </a:solidFill>
            <a:prstDash val="solid"/>
          </a:ln>
        </p:spPr>
      </p:sp>
      <p:sp>
        <p:nvSpPr>
          <p:cNvPr id="28" name="Kante 10-14"/>
          <p:cNvSpPr/>
          <p:nvPr/>
        </p:nvSpPr>
        <p:spPr>
          <a:xfrm>
            <a:off x="10291540" y="2776728"/>
            <a:ext cx="662754" cy="755904"/>
          </a:xfrm>
          <a:prstGeom prst="line">
            <a:avLst/>
          </a:prstGeom>
          <a:noFill/>
          <a:ln w="22225">
            <a:solidFill>
              <a:schemeClr val="accent1"/>
            </a:solidFill>
            <a:prstDash val="solid"/>
          </a:ln>
        </p:spPr>
      </p:sp>
      <p:sp>
        <p:nvSpPr>
          <p:cNvPr id="29" name="Kante 8-10"/>
          <p:cNvSpPr/>
          <p:nvPr/>
        </p:nvSpPr>
        <p:spPr>
          <a:xfrm>
            <a:off x="8966032" y="2020824"/>
            <a:ext cx="1325508" cy="755904"/>
          </a:xfrm>
          <a:prstGeom prst="line">
            <a:avLst/>
          </a:prstGeom>
          <a:noFill/>
          <a:ln w="22225">
            <a:solidFill>
              <a:schemeClr val="accent1"/>
            </a:solidFill>
            <a:prstDash val="solid"/>
          </a:ln>
        </p:spPr>
      </p:sp>
      <p:sp>
        <p:nvSpPr>
          <p:cNvPr id="30" name="Knoten 1"/>
          <p:cNvSpPr txBox="1"/>
          <p:nvPr/>
        </p:nvSpPr>
        <p:spPr>
          <a:xfrm>
            <a:off x="6740026"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a:t>
            </a:r>
            <a:endParaRPr lang="en-US" sz="1700" dirty="0"/>
          </a:p>
        </p:txBody>
      </p:sp>
      <p:sp>
        <p:nvSpPr>
          <p:cNvPr id="31" name="Knoten 7"/>
          <p:cNvSpPr txBox="1"/>
          <p:nvPr/>
        </p:nvSpPr>
        <p:spPr>
          <a:xfrm>
            <a:off x="8507370"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32" name="Knoten 6"/>
          <p:cNvSpPr txBox="1"/>
          <p:nvPr/>
        </p:nvSpPr>
        <p:spPr>
          <a:xfrm>
            <a:off x="8065534" y="3294888"/>
            <a:ext cx="475488" cy="475488"/>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700" b="1" dirty="0">
                <a:solidFill>
                  <a:schemeClr val="accent3"/>
                </a:solidFill>
              </a:rPr>
              <a:t>6</a:t>
            </a:r>
            <a:endParaRPr lang="en-US" sz="1700" dirty="0"/>
          </a:p>
        </p:txBody>
      </p:sp>
      <p:sp>
        <p:nvSpPr>
          <p:cNvPr id="33" name="Knoten 3"/>
          <p:cNvSpPr txBox="1"/>
          <p:nvPr/>
        </p:nvSpPr>
        <p:spPr>
          <a:xfrm>
            <a:off x="7402780"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34" name="Knoten 13"/>
          <p:cNvSpPr txBox="1"/>
          <p:nvPr/>
        </p:nvSpPr>
        <p:spPr>
          <a:xfrm>
            <a:off x="10274714"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13</a:t>
            </a:r>
            <a:endParaRPr lang="en-US" sz="1700" dirty="0"/>
          </a:p>
        </p:txBody>
      </p:sp>
      <p:sp>
        <p:nvSpPr>
          <p:cNvPr id="35" name="Knoten 14"/>
          <p:cNvSpPr txBox="1"/>
          <p:nvPr/>
        </p:nvSpPr>
        <p:spPr>
          <a:xfrm>
            <a:off x="10716550"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14</a:t>
            </a:r>
            <a:endParaRPr lang="en-US" sz="1700" dirty="0"/>
          </a:p>
        </p:txBody>
      </p:sp>
      <p:sp>
        <p:nvSpPr>
          <p:cNvPr id="36" name="Knoten 10"/>
          <p:cNvSpPr txBox="1"/>
          <p:nvPr/>
        </p:nvSpPr>
        <p:spPr>
          <a:xfrm>
            <a:off x="10053796"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10</a:t>
            </a:r>
            <a:endParaRPr lang="en-US" sz="1700" dirty="0"/>
          </a:p>
        </p:txBody>
      </p:sp>
      <p:sp>
        <p:nvSpPr>
          <p:cNvPr id="37" name="Knoten 8"/>
          <p:cNvSpPr txBox="1"/>
          <p:nvPr/>
        </p:nvSpPr>
        <p:spPr>
          <a:xfrm>
            <a:off x="8728288" y="1783080"/>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8</a:t>
            </a:r>
            <a:endParaRPr lang="en-US" sz="1700" dirty="0"/>
          </a:p>
        </p:txBody>
      </p:sp>
      <p:sp>
        <p:nvSpPr>
          <p:cNvPr id="38" name="Regel"/>
          <p:cNvSpPr/>
          <p:nvPr/>
        </p:nvSpPr>
        <p:spPr>
          <a:xfrm>
            <a:off x="548640" y="4800600"/>
            <a:ext cx="6949440" cy="1325880"/>
          </a:xfrm>
          <a:prstGeom prst="roundRect">
            <a:avLst>
              <a:gd name="adj" fmla="val 8276"/>
            </a:avLst>
          </a:prstGeom>
          <a:solidFill>
            <a:schemeClr val="bg2"/>
          </a:solidFill>
          <a:ln/>
        </p:spPr>
      </p:sp>
      <p:sp>
        <p:nvSpPr>
          <p:cNvPr id="39" name="Text 37"/>
          <p:cNvSpPr txBox="1"/>
          <p:nvPr/>
        </p:nvSpPr>
        <p:spPr>
          <a:xfrm>
            <a:off x="749808" y="4800600"/>
            <a:ext cx="6583680" cy="1325880"/>
          </a:xfrm>
          <a:prstGeom prst="rect">
            <a:avLst/>
          </a:prstGeom>
          <a:noFill/>
          <a:ln/>
        </p:spPr>
        <p:txBody>
          <a:bodyPr wrap="square" lIns="0" tIns="0" rIns="0" bIns="0" rtlCol="0" anchor="ctr"/>
          <a:lstStyle/>
          <a:p>
            <a:pPr indent="0" marL="0">
              <a:buNone/>
            </a:pPr>
            <a:r>
              <a:rPr lang="en-US" sz="1500" b="1" dirty="0">
                <a:solidFill>
                  <a:schemeClr val="accent1"/>
                </a:solidFill>
              </a:rPr>
              <a:t>Fall 1 – Blatt: </a:t>
            </a:r>
            <a:pPr indent="0" marL="0">
              <a:buNone/>
            </a:pPr>
            <a:r>
              <a:rPr lang="en-US" sz="1500" dirty="0">
                <a:solidFill>
                  <a:schemeClr val="tx1"/>
                </a:solidFill>
              </a:rPr>
              <a:t>einfach entfernen; der Elternknoten (6) bekommt dort einen leeren Teilbaum. In Java: </a:t>
            </a:r>
            <a:pPr indent="0" marL="0">
              <a:buNone/>
            </a:pPr>
            <a:r>
              <a:rPr lang="en-US" sz="1400" dirty="0">
                <a:solidFill>
                  <a:schemeClr val="tx1"/>
                </a:solidFill>
                <a:latin typeface="Consolas" pitchFamily="34" charset="0"/>
                <a:ea typeface="Consolas" pitchFamily="34" charset="-122"/>
                <a:cs typeface="Consolas" pitchFamily="34" charset="-120"/>
              </a:rPr>
              <a:t>k.setEmpty()</a:t>
            </a:r>
            <a:endParaRPr lang="en-US" sz="1500" dirty="0"/>
          </a:p>
        </p:txBody>
      </p:sp>
      <p:sp>
        <p:nvSpPr>
          <p:cNvPr id="40" name="Probe inorder"/>
          <p:cNvSpPr txBox="1"/>
          <p:nvPr/>
        </p:nvSpPr>
        <p:spPr>
          <a:xfrm>
            <a:off x="7726680" y="4800600"/>
            <a:ext cx="3886200" cy="1325880"/>
          </a:xfrm>
          <a:prstGeom prst="roundRect">
            <a:avLst>
              <a:gd name="adj" fmla="val 6897"/>
            </a:avLst>
          </a:prstGeom>
          <a:solidFill>
            <a:srgbClr val="E2EFDA"/>
          </a:solidFill>
          <a:ln w="25400">
            <a:solidFill>
              <a:schemeClr val="accent3"/>
            </a:solidFill>
          </a:ln>
        </p:spPr>
        <p:txBody>
          <a:bodyPr wrap="square" lIns="127000" tIns="0" rIns="127000" bIns="0" rtlCol="0" anchor="ctr"/>
          <a:lstStyle/>
          <a:p>
            <a:pPr indent="0" marL="0">
              <a:buNone/>
            </a:pPr>
            <a:r>
              <a:rPr lang="en-US" sz="1500" b="1" dirty="0">
                <a:solidFill>
                  <a:schemeClr val="accent3"/>
                </a:solidFill>
              </a:rPr>
              <a:t>Probe – inorder danach:</a:t>
            </a:r>
            <a:endParaRPr lang="en-US" sz="1500" dirty="0"/>
          </a:p>
          <a:p>
            <a:pPr indent="0" marL="0">
              <a:buNone/>
            </a:pPr>
            <a:r>
              <a:rPr lang="en-US" sz="1300" dirty="0">
                <a:solidFill>
                  <a:schemeClr val="tx1"/>
                </a:solidFill>
                <a:latin typeface="Consolas" pitchFamily="34" charset="0"/>
                <a:ea typeface="Consolas" pitchFamily="34" charset="-122"/>
                <a:cs typeface="Consolas" pitchFamily="34" charset="-120"/>
              </a:rPr>
              <a:t>"1 3 6 7 8 10 13 14"</a:t>
            </a:r>
            <a:pPr indent="0" marL="0">
              <a:buNone/>
            </a:pPr>
            <a:r>
              <a:rPr lang="en-US" sz="1500" b="1" dirty="0">
                <a:solidFill>
                  <a:schemeClr val="accent3"/>
                </a:solidFill>
              </a:rPr>
              <a:t>  sortiert ✓</a:t>
            </a:r>
            <a:endParaRPr lang="en-US" sz="1500" dirty="0"/>
          </a:p>
        </p:txBody>
      </p:sp>
      <p:sp>
        <p:nvSpPr>
          <p:cNvPr id="41" name="Text 39"/>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Löschen 1/3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Löschen 2/3: Knoten mit einem Kind (lösche 10)</a:t>
            </a:r>
            <a:endParaRPr lang="en-US" sz="3600" dirty="0"/>
          </a:p>
        </p:txBody>
      </p:sp>
      <p:sp>
        <p:nvSpPr>
          <p:cNvPr id="3" name="Chip"/>
          <p:cNvSpPr txBox="1"/>
          <p:nvPr/>
        </p:nvSpPr>
        <p:spPr>
          <a:xfrm>
            <a:off x="548640" y="1325880"/>
            <a:ext cx="118872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Vorher</a:t>
            </a:r>
            <a:endParaRPr lang="en-US" sz="1400" dirty="0"/>
          </a:p>
        </p:txBody>
      </p:sp>
      <p:sp>
        <p:nvSpPr>
          <p:cNvPr id="4" name="Kante 3-1"/>
          <p:cNvSpPr/>
          <p:nvPr/>
        </p:nvSpPr>
        <p:spPr>
          <a:xfrm flipH="1">
            <a:off x="916768" y="2776728"/>
            <a:ext cx="743336" cy="755904"/>
          </a:xfrm>
          <a:prstGeom prst="line">
            <a:avLst/>
          </a:prstGeom>
          <a:noFill/>
          <a:ln w="22225">
            <a:solidFill>
              <a:schemeClr val="accent1"/>
            </a:solidFill>
            <a:prstDash val="solid"/>
          </a:ln>
        </p:spPr>
      </p:sp>
      <p:sp>
        <p:nvSpPr>
          <p:cNvPr id="5" name="Kante 6-4"/>
          <p:cNvSpPr/>
          <p:nvPr/>
        </p:nvSpPr>
        <p:spPr>
          <a:xfrm flipH="1">
            <a:off x="1907883" y="3532632"/>
            <a:ext cx="495557" cy="755904"/>
          </a:xfrm>
          <a:prstGeom prst="line">
            <a:avLst/>
          </a:prstGeom>
          <a:noFill/>
          <a:ln w="22225">
            <a:solidFill>
              <a:schemeClr val="accent1"/>
            </a:solidFill>
            <a:prstDash val="solid"/>
          </a:ln>
        </p:spPr>
      </p:sp>
      <p:sp>
        <p:nvSpPr>
          <p:cNvPr id="6" name="Kante 6-7"/>
          <p:cNvSpPr/>
          <p:nvPr/>
        </p:nvSpPr>
        <p:spPr>
          <a:xfrm>
            <a:off x="2403441" y="3532632"/>
            <a:ext cx="495557" cy="755904"/>
          </a:xfrm>
          <a:prstGeom prst="line">
            <a:avLst/>
          </a:prstGeom>
          <a:noFill/>
          <a:ln w="22225">
            <a:solidFill>
              <a:schemeClr val="accent1"/>
            </a:solidFill>
            <a:prstDash val="solid"/>
          </a:ln>
        </p:spPr>
      </p:sp>
      <p:sp>
        <p:nvSpPr>
          <p:cNvPr id="7" name="Kante 3-6"/>
          <p:cNvSpPr/>
          <p:nvPr/>
        </p:nvSpPr>
        <p:spPr>
          <a:xfrm>
            <a:off x="1660105" y="2776728"/>
            <a:ext cx="743336" cy="755904"/>
          </a:xfrm>
          <a:prstGeom prst="line">
            <a:avLst/>
          </a:prstGeom>
          <a:noFill/>
          <a:ln w="22225">
            <a:solidFill>
              <a:schemeClr val="accent1"/>
            </a:solidFill>
            <a:prstDash val="solid"/>
          </a:ln>
        </p:spPr>
      </p:sp>
      <p:sp>
        <p:nvSpPr>
          <p:cNvPr id="8" name="Kante 8-3"/>
          <p:cNvSpPr/>
          <p:nvPr/>
        </p:nvSpPr>
        <p:spPr>
          <a:xfrm flipH="1">
            <a:off x="1660105" y="2020824"/>
            <a:ext cx="1341722" cy="755904"/>
          </a:xfrm>
          <a:prstGeom prst="line">
            <a:avLst/>
          </a:prstGeom>
          <a:noFill/>
          <a:ln w="22225">
            <a:solidFill>
              <a:schemeClr val="accent1"/>
            </a:solidFill>
            <a:prstDash val="solid"/>
          </a:ln>
        </p:spPr>
      </p:sp>
      <p:sp>
        <p:nvSpPr>
          <p:cNvPr id="9" name="Kante 14-13"/>
          <p:cNvSpPr/>
          <p:nvPr/>
        </p:nvSpPr>
        <p:spPr>
          <a:xfrm flipH="1">
            <a:off x="4549912" y="3532632"/>
            <a:ext cx="412729" cy="755904"/>
          </a:xfrm>
          <a:prstGeom prst="line">
            <a:avLst/>
          </a:prstGeom>
          <a:noFill/>
          <a:ln w="22225">
            <a:solidFill>
              <a:schemeClr val="accent1"/>
            </a:solidFill>
            <a:prstDash val="solid"/>
          </a:ln>
        </p:spPr>
      </p:sp>
      <p:sp>
        <p:nvSpPr>
          <p:cNvPr id="10" name="Kante 10-14"/>
          <p:cNvSpPr/>
          <p:nvPr/>
        </p:nvSpPr>
        <p:spPr>
          <a:xfrm>
            <a:off x="4343548" y="2776728"/>
            <a:ext cx="619093" cy="755904"/>
          </a:xfrm>
          <a:prstGeom prst="line">
            <a:avLst/>
          </a:prstGeom>
          <a:noFill/>
          <a:ln w="22225">
            <a:solidFill>
              <a:schemeClr val="accent1"/>
            </a:solidFill>
            <a:prstDash val="solid"/>
          </a:ln>
        </p:spPr>
      </p:sp>
      <p:sp>
        <p:nvSpPr>
          <p:cNvPr id="11" name="Kante 8-10"/>
          <p:cNvSpPr/>
          <p:nvPr/>
        </p:nvSpPr>
        <p:spPr>
          <a:xfrm>
            <a:off x="3001826" y="2020824"/>
            <a:ext cx="1341722" cy="755904"/>
          </a:xfrm>
          <a:prstGeom prst="line">
            <a:avLst/>
          </a:prstGeom>
          <a:noFill/>
          <a:ln w="22225">
            <a:solidFill>
              <a:schemeClr val="accent1"/>
            </a:solidFill>
            <a:prstDash val="solid"/>
          </a:ln>
        </p:spPr>
      </p:sp>
      <p:sp>
        <p:nvSpPr>
          <p:cNvPr id="12" name="Knoten 1"/>
          <p:cNvSpPr txBox="1"/>
          <p:nvPr/>
        </p:nvSpPr>
        <p:spPr>
          <a:xfrm>
            <a:off x="679024"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a:t>
            </a:r>
            <a:endParaRPr lang="en-US" sz="1700" dirty="0"/>
          </a:p>
        </p:txBody>
      </p:sp>
      <p:sp>
        <p:nvSpPr>
          <p:cNvPr id="13" name="Knoten 4"/>
          <p:cNvSpPr txBox="1"/>
          <p:nvPr/>
        </p:nvSpPr>
        <p:spPr>
          <a:xfrm>
            <a:off x="1670139"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4</a:t>
            </a:r>
            <a:endParaRPr lang="en-US" sz="1700" dirty="0"/>
          </a:p>
        </p:txBody>
      </p:sp>
      <p:sp>
        <p:nvSpPr>
          <p:cNvPr id="14" name="Knoten 7"/>
          <p:cNvSpPr txBox="1"/>
          <p:nvPr/>
        </p:nvSpPr>
        <p:spPr>
          <a:xfrm>
            <a:off x="2661254"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15" name="Knoten 6"/>
          <p:cNvSpPr txBox="1"/>
          <p:nvPr/>
        </p:nvSpPr>
        <p:spPr>
          <a:xfrm>
            <a:off x="2165697"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6</a:t>
            </a:r>
            <a:endParaRPr lang="en-US" sz="1700" dirty="0"/>
          </a:p>
        </p:txBody>
      </p:sp>
      <p:sp>
        <p:nvSpPr>
          <p:cNvPr id="16" name="Knoten 3"/>
          <p:cNvSpPr txBox="1"/>
          <p:nvPr/>
        </p:nvSpPr>
        <p:spPr>
          <a:xfrm>
            <a:off x="1422361"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17" name="Knoten 13"/>
          <p:cNvSpPr txBox="1"/>
          <p:nvPr/>
        </p:nvSpPr>
        <p:spPr>
          <a:xfrm>
            <a:off x="4312168" y="4050792"/>
            <a:ext cx="475488" cy="475488"/>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700" b="1" dirty="0">
                <a:solidFill>
                  <a:schemeClr val="accent1"/>
                </a:solidFill>
              </a:rPr>
              <a:t>13</a:t>
            </a:r>
            <a:endParaRPr lang="en-US" sz="1700" dirty="0"/>
          </a:p>
        </p:txBody>
      </p:sp>
      <p:sp>
        <p:nvSpPr>
          <p:cNvPr id="18" name="Knoten 14"/>
          <p:cNvSpPr txBox="1"/>
          <p:nvPr/>
        </p:nvSpPr>
        <p:spPr>
          <a:xfrm>
            <a:off x="4724897" y="3294888"/>
            <a:ext cx="475488" cy="475488"/>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700" b="1" dirty="0">
                <a:solidFill>
                  <a:schemeClr val="accent1"/>
                </a:solidFill>
              </a:rPr>
              <a:t>14</a:t>
            </a:r>
            <a:endParaRPr lang="en-US" sz="1700" dirty="0"/>
          </a:p>
        </p:txBody>
      </p:sp>
      <p:sp>
        <p:nvSpPr>
          <p:cNvPr id="19" name="Knoten 10"/>
          <p:cNvSpPr txBox="1"/>
          <p:nvPr/>
        </p:nvSpPr>
        <p:spPr>
          <a:xfrm>
            <a:off x="4105804" y="2538984"/>
            <a:ext cx="475488" cy="475488"/>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700" b="1" dirty="0">
                <a:solidFill>
                  <a:schemeClr val="accent4"/>
                </a:solidFill>
              </a:rPr>
              <a:t>10</a:t>
            </a:r>
            <a:endParaRPr lang="en-US" sz="1700" dirty="0"/>
          </a:p>
        </p:txBody>
      </p:sp>
      <p:sp>
        <p:nvSpPr>
          <p:cNvPr id="20" name="Knoten 8"/>
          <p:cNvSpPr txBox="1"/>
          <p:nvPr/>
        </p:nvSpPr>
        <p:spPr>
          <a:xfrm>
            <a:off x="2764082" y="1783080"/>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8</a:t>
            </a:r>
            <a:endParaRPr lang="en-US" sz="1700" dirty="0"/>
          </a:p>
        </p:txBody>
      </p:sp>
      <p:sp>
        <p:nvSpPr>
          <p:cNvPr id="21" name="Pfeil loeschen"/>
          <p:cNvSpPr/>
          <p:nvPr/>
        </p:nvSpPr>
        <p:spPr>
          <a:xfrm>
            <a:off x="5715000" y="3017520"/>
            <a:ext cx="685800" cy="91"/>
          </a:xfrm>
          <a:prstGeom prst="line">
            <a:avLst/>
          </a:prstGeom>
          <a:noFill/>
          <a:ln w="44450">
            <a:solidFill>
              <a:schemeClr val="accent2"/>
            </a:solidFill>
            <a:prstDash val="solid"/>
            <a:tailEnd type="triangle"/>
          </a:ln>
        </p:spPr>
      </p:sp>
      <p:sp>
        <p:nvSpPr>
          <p:cNvPr id="22" name="Chip"/>
          <p:cNvSpPr txBox="1"/>
          <p:nvPr/>
        </p:nvSpPr>
        <p:spPr>
          <a:xfrm>
            <a:off x="6583680" y="1325880"/>
            <a:ext cx="128016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Nachher</a:t>
            </a:r>
            <a:endParaRPr lang="en-US" sz="1400" dirty="0"/>
          </a:p>
        </p:txBody>
      </p:sp>
      <p:sp>
        <p:nvSpPr>
          <p:cNvPr id="23" name="Kante 3-1"/>
          <p:cNvSpPr/>
          <p:nvPr/>
        </p:nvSpPr>
        <p:spPr>
          <a:xfrm flipH="1">
            <a:off x="7007397" y="2776728"/>
            <a:ext cx="855583" cy="755904"/>
          </a:xfrm>
          <a:prstGeom prst="line">
            <a:avLst/>
          </a:prstGeom>
          <a:noFill/>
          <a:ln w="22225">
            <a:solidFill>
              <a:schemeClr val="accent1"/>
            </a:solidFill>
            <a:prstDash val="solid"/>
          </a:ln>
        </p:spPr>
      </p:sp>
      <p:sp>
        <p:nvSpPr>
          <p:cNvPr id="24" name="Kante 6-4"/>
          <p:cNvSpPr/>
          <p:nvPr/>
        </p:nvSpPr>
        <p:spPr>
          <a:xfrm flipH="1">
            <a:off x="8148175" y="3532632"/>
            <a:ext cx="570389" cy="755904"/>
          </a:xfrm>
          <a:prstGeom prst="line">
            <a:avLst/>
          </a:prstGeom>
          <a:noFill/>
          <a:ln w="22225">
            <a:solidFill>
              <a:schemeClr val="accent1"/>
            </a:solidFill>
            <a:prstDash val="solid"/>
          </a:ln>
        </p:spPr>
      </p:sp>
      <p:sp>
        <p:nvSpPr>
          <p:cNvPr id="25" name="Kante 6-7"/>
          <p:cNvSpPr/>
          <p:nvPr/>
        </p:nvSpPr>
        <p:spPr>
          <a:xfrm>
            <a:off x="8718564" y="3532632"/>
            <a:ext cx="570389" cy="755904"/>
          </a:xfrm>
          <a:prstGeom prst="line">
            <a:avLst/>
          </a:prstGeom>
          <a:noFill/>
          <a:ln w="22225">
            <a:solidFill>
              <a:schemeClr val="accent1"/>
            </a:solidFill>
            <a:prstDash val="solid"/>
          </a:ln>
        </p:spPr>
      </p:sp>
      <p:sp>
        <p:nvSpPr>
          <p:cNvPr id="26" name="Kante 3-6"/>
          <p:cNvSpPr/>
          <p:nvPr/>
        </p:nvSpPr>
        <p:spPr>
          <a:xfrm>
            <a:off x="7862981" y="2776728"/>
            <a:ext cx="855583" cy="755904"/>
          </a:xfrm>
          <a:prstGeom prst="line">
            <a:avLst/>
          </a:prstGeom>
          <a:noFill/>
          <a:ln w="22225">
            <a:solidFill>
              <a:schemeClr val="accent1"/>
            </a:solidFill>
            <a:prstDash val="solid"/>
          </a:ln>
        </p:spPr>
      </p:sp>
      <p:sp>
        <p:nvSpPr>
          <p:cNvPr id="27" name="Kante 8-3"/>
          <p:cNvSpPr/>
          <p:nvPr/>
        </p:nvSpPr>
        <p:spPr>
          <a:xfrm flipH="1">
            <a:off x="7862981" y="2020824"/>
            <a:ext cx="1520901" cy="755904"/>
          </a:xfrm>
          <a:prstGeom prst="line">
            <a:avLst/>
          </a:prstGeom>
          <a:noFill/>
          <a:ln w="22225">
            <a:solidFill>
              <a:schemeClr val="accent1"/>
            </a:solidFill>
            <a:prstDash val="solid"/>
          </a:ln>
        </p:spPr>
      </p:sp>
      <p:sp>
        <p:nvSpPr>
          <p:cNvPr id="28" name="Kante 14-13"/>
          <p:cNvSpPr/>
          <p:nvPr/>
        </p:nvSpPr>
        <p:spPr>
          <a:xfrm flipH="1">
            <a:off x="10429731" y="2776728"/>
            <a:ext cx="475052" cy="755904"/>
          </a:xfrm>
          <a:prstGeom prst="line">
            <a:avLst/>
          </a:prstGeom>
          <a:noFill/>
          <a:ln w="22225">
            <a:solidFill>
              <a:schemeClr val="accent1"/>
            </a:solidFill>
            <a:prstDash val="solid"/>
          </a:ln>
        </p:spPr>
      </p:sp>
      <p:sp>
        <p:nvSpPr>
          <p:cNvPr id="29" name="Kante 8-14"/>
          <p:cNvSpPr/>
          <p:nvPr/>
        </p:nvSpPr>
        <p:spPr>
          <a:xfrm>
            <a:off x="9383882" y="2020824"/>
            <a:ext cx="1520901" cy="755904"/>
          </a:xfrm>
          <a:prstGeom prst="line">
            <a:avLst/>
          </a:prstGeom>
          <a:noFill/>
          <a:ln w="22225">
            <a:solidFill>
              <a:schemeClr val="accent1"/>
            </a:solidFill>
            <a:prstDash val="solid"/>
          </a:ln>
        </p:spPr>
      </p:sp>
      <p:sp>
        <p:nvSpPr>
          <p:cNvPr id="30" name="Knoten 1"/>
          <p:cNvSpPr txBox="1"/>
          <p:nvPr/>
        </p:nvSpPr>
        <p:spPr>
          <a:xfrm>
            <a:off x="6769653"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a:t>
            </a:r>
            <a:endParaRPr lang="en-US" sz="1700" dirty="0"/>
          </a:p>
        </p:txBody>
      </p:sp>
      <p:sp>
        <p:nvSpPr>
          <p:cNvPr id="31" name="Knoten 4"/>
          <p:cNvSpPr txBox="1"/>
          <p:nvPr/>
        </p:nvSpPr>
        <p:spPr>
          <a:xfrm>
            <a:off x="7910431"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4</a:t>
            </a:r>
            <a:endParaRPr lang="en-US" sz="1700" dirty="0"/>
          </a:p>
        </p:txBody>
      </p:sp>
      <p:sp>
        <p:nvSpPr>
          <p:cNvPr id="32" name="Knoten 7"/>
          <p:cNvSpPr txBox="1"/>
          <p:nvPr/>
        </p:nvSpPr>
        <p:spPr>
          <a:xfrm>
            <a:off x="9051209"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33" name="Knoten 6"/>
          <p:cNvSpPr txBox="1"/>
          <p:nvPr/>
        </p:nvSpPr>
        <p:spPr>
          <a:xfrm>
            <a:off x="8480820"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6</a:t>
            </a:r>
            <a:endParaRPr lang="en-US" sz="1700" dirty="0"/>
          </a:p>
        </p:txBody>
      </p:sp>
      <p:sp>
        <p:nvSpPr>
          <p:cNvPr id="34" name="Knoten 3"/>
          <p:cNvSpPr txBox="1"/>
          <p:nvPr/>
        </p:nvSpPr>
        <p:spPr>
          <a:xfrm>
            <a:off x="7625237"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35" name="Knoten 13"/>
          <p:cNvSpPr txBox="1"/>
          <p:nvPr/>
        </p:nvSpPr>
        <p:spPr>
          <a:xfrm>
            <a:off x="10191987" y="3294888"/>
            <a:ext cx="475488" cy="475488"/>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700" b="1" dirty="0">
                <a:solidFill>
                  <a:schemeClr val="accent3"/>
                </a:solidFill>
              </a:rPr>
              <a:t>13</a:t>
            </a:r>
            <a:endParaRPr lang="en-US" sz="1700" dirty="0"/>
          </a:p>
        </p:txBody>
      </p:sp>
      <p:sp>
        <p:nvSpPr>
          <p:cNvPr id="36" name="Knoten 14"/>
          <p:cNvSpPr txBox="1"/>
          <p:nvPr/>
        </p:nvSpPr>
        <p:spPr>
          <a:xfrm>
            <a:off x="10667039" y="2538984"/>
            <a:ext cx="475488" cy="475488"/>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700" b="1" dirty="0">
                <a:solidFill>
                  <a:schemeClr val="accent3"/>
                </a:solidFill>
              </a:rPr>
              <a:t>14</a:t>
            </a:r>
            <a:endParaRPr lang="en-US" sz="1700" dirty="0"/>
          </a:p>
        </p:txBody>
      </p:sp>
      <p:sp>
        <p:nvSpPr>
          <p:cNvPr id="37" name="Knoten 8"/>
          <p:cNvSpPr txBox="1"/>
          <p:nvPr/>
        </p:nvSpPr>
        <p:spPr>
          <a:xfrm>
            <a:off x="9146138" y="1783080"/>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8</a:t>
            </a:r>
            <a:endParaRPr lang="en-US" sz="1700" dirty="0"/>
          </a:p>
        </p:txBody>
      </p:sp>
      <p:sp>
        <p:nvSpPr>
          <p:cNvPr id="38" name="Regel"/>
          <p:cNvSpPr/>
          <p:nvPr/>
        </p:nvSpPr>
        <p:spPr>
          <a:xfrm>
            <a:off x="548640" y="4800600"/>
            <a:ext cx="6949440" cy="1325880"/>
          </a:xfrm>
          <a:prstGeom prst="roundRect">
            <a:avLst>
              <a:gd name="adj" fmla="val 8276"/>
            </a:avLst>
          </a:prstGeom>
          <a:solidFill>
            <a:schemeClr val="bg2"/>
          </a:solidFill>
          <a:ln/>
        </p:spPr>
      </p:sp>
      <p:sp>
        <p:nvSpPr>
          <p:cNvPr id="39" name="Text 37"/>
          <p:cNvSpPr txBox="1"/>
          <p:nvPr/>
        </p:nvSpPr>
        <p:spPr>
          <a:xfrm>
            <a:off x="749808" y="4800600"/>
            <a:ext cx="6583680" cy="1325880"/>
          </a:xfrm>
          <a:prstGeom prst="rect">
            <a:avLst/>
          </a:prstGeom>
          <a:noFill/>
          <a:ln/>
        </p:spPr>
        <p:txBody>
          <a:bodyPr wrap="square" lIns="0" tIns="0" rIns="0" bIns="0" rtlCol="0" anchor="ctr"/>
          <a:lstStyle/>
          <a:p>
            <a:pPr indent="0" marL="0">
              <a:buNone/>
            </a:pPr>
            <a:r>
              <a:rPr lang="en-US" sz="1500" b="1" dirty="0">
                <a:solidFill>
                  <a:schemeClr val="accent1"/>
                </a:solidFill>
              </a:rPr>
              <a:t>Fall 2 – ein Kind: </a:t>
            </a:r>
            <a:pPr indent="0" marL="0">
              <a:buNone/>
            </a:pPr>
            <a:r>
              <a:rPr lang="en-US" sz="1500" dirty="0">
                <a:solidFill>
                  <a:schemeClr val="tx1"/>
                </a:solidFill>
              </a:rPr>
              <a:t>das einzige Kind rückt mit seinem ganzen Teilbaum an die frei gewordene Stelle. Die Ordnung bleibt: alles rechts von 8 bleibt rechts von 8.</a:t>
            </a:r>
            <a:endParaRPr lang="en-US" sz="1500" dirty="0"/>
          </a:p>
        </p:txBody>
      </p:sp>
      <p:sp>
        <p:nvSpPr>
          <p:cNvPr id="40" name="Probe inorder"/>
          <p:cNvSpPr txBox="1"/>
          <p:nvPr/>
        </p:nvSpPr>
        <p:spPr>
          <a:xfrm>
            <a:off x="7726680" y="4800600"/>
            <a:ext cx="3886200" cy="1325880"/>
          </a:xfrm>
          <a:prstGeom prst="roundRect">
            <a:avLst>
              <a:gd name="adj" fmla="val 6897"/>
            </a:avLst>
          </a:prstGeom>
          <a:solidFill>
            <a:srgbClr val="E2EFDA"/>
          </a:solidFill>
          <a:ln w="25400">
            <a:solidFill>
              <a:schemeClr val="accent3"/>
            </a:solidFill>
          </a:ln>
        </p:spPr>
        <p:txBody>
          <a:bodyPr wrap="square" lIns="127000" tIns="0" rIns="127000" bIns="0" rtlCol="0" anchor="ctr"/>
          <a:lstStyle/>
          <a:p>
            <a:pPr indent="0" marL="0">
              <a:buNone/>
            </a:pPr>
            <a:r>
              <a:rPr lang="en-US" sz="1500" b="1" dirty="0">
                <a:solidFill>
                  <a:schemeClr val="accent3"/>
                </a:solidFill>
              </a:rPr>
              <a:t>Probe – inorder danach:</a:t>
            </a:r>
            <a:endParaRPr lang="en-US" sz="1500" dirty="0"/>
          </a:p>
          <a:p>
            <a:pPr indent="0" marL="0">
              <a:buNone/>
            </a:pPr>
            <a:r>
              <a:rPr lang="en-US" sz="1300" dirty="0">
                <a:solidFill>
                  <a:schemeClr val="tx1"/>
                </a:solidFill>
                <a:latin typeface="Consolas" pitchFamily="34" charset="0"/>
                <a:ea typeface="Consolas" pitchFamily="34" charset="-122"/>
                <a:cs typeface="Consolas" pitchFamily="34" charset="-120"/>
              </a:rPr>
              <a:t>"1 3 4 6 7 8 13 14"</a:t>
            </a:r>
            <a:pPr indent="0" marL="0">
              <a:buNone/>
            </a:pPr>
            <a:r>
              <a:rPr lang="en-US" sz="1500" b="1" dirty="0">
                <a:solidFill>
                  <a:schemeClr val="accent3"/>
                </a:solidFill>
              </a:rPr>
              <a:t>  sortiert ✓</a:t>
            </a:r>
            <a:endParaRPr lang="en-US" sz="1500" dirty="0"/>
          </a:p>
        </p:txBody>
      </p:sp>
      <p:sp>
        <p:nvSpPr>
          <p:cNvPr id="41" name="Text 39"/>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Löschen 2/3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Löschen 3/3: Knoten mit zwei Kindern (lösche 8)</a:t>
            </a:r>
            <a:endParaRPr lang="en-US" sz="3600" dirty="0"/>
          </a:p>
        </p:txBody>
      </p:sp>
      <p:sp>
        <p:nvSpPr>
          <p:cNvPr id="3" name="Chip"/>
          <p:cNvSpPr txBox="1"/>
          <p:nvPr/>
        </p:nvSpPr>
        <p:spPr>
          <a:xfrm>
            <a:off x="548640" y="1325880"/>
            <a:ext cx="118872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Vorher</a:t>
            </a:r>
            <a:endParaRPr lang="en-US" sz="1400" dirty="0"/>
          </a:p>
        </p:txBody>
      </p:sp>
      <p:sp>
        <p:nvSpPr>
          <p:cNvPr id="4" name="Kante 3-1"/>
          <p:cNvSpPr/>
          <p:nvPr/>
        </p:nvSpPr>
        <p:spPr>
          <a:xfrm flipH="1">
            <a:off x="916768" y="2776728"/>
            <a:ext cx="743336" cy="755904"/>
          </a:xfrm>
          <a:prstGeom prst="line">
            <a:avLst/>
          </a:prstGeom>
          <a:noFill/>
          <a:ln w="22225">
            <a:solidFill>
              <a:schemeClr val="accent1"/>
            </a:solidFill>
            <a:prstDash val="solid"/>
          </a:ln>
        </p:spPr>
      </p:sp>
      <p:sp>
        <p:nvSpPr>
          <p:cNvPr id="5" name="Kante 6-4"/>
          <p:cNvSpPr/>
          <p:nvPr/>
        </p:nvSpPr>
        <p:spPr>
          <a:xfrm flipH="1">
            <a:off x="1907883" y="3532632"/>
            <a:ext cx="495557" cy="755904"/>
          </a:xfrm>
          <a:prstGeom prst="line">
            <a:avLst/>
          </a:prstGeom>
          <a:noFill/>
          <a:ln w="22225">
            <a:solidFill>
              <a:schemeClr val="accent1"/>
            </a:solidFill>
            <a:prstDash val="solid"/>
          </a:ln>
        </p:spPr>
      </p:sp>
      <p:sp>
        <p:nvSpPr>
          <p:cNvPr id="6" name="Kante 6-7"/>
          <p:cNvSpPr/>
          <p:nvPr/>
        </p:nvSpPr>
        <p:spPr>
          <a:xfrm>
            <a:off x="2403441" y="3532632"/>
            <a:ext cx="495557" cy="755904"/>
          </a:xfrm>
          <a:prstGeom prst="line">
            <a:avLst/>
          </a:prstGeom>
          <a:noFill/>
          <a:ln w="22225">
            <a:solidFill>
              <a:schemeClr val="accent1"/>
            </a:solidFill>
            <a:prstDash val="solid"/>
          </a:ln>
        </p:spPr>
      </p:sp>
      <p:sp>
        <p:nvSpPr>
          <p:cNvPr id="7" name="Kante 3-6"/>
          <p:cNvSpPr/>
          <p:nvPr/>
        </p:nvSpPr>
        <p:spPr>
          <a:xfrm>
            <a:off x="1660105" y="2776728"/>
            <a:ext cx="743336" cy="755904"/>
          </a:xfrm>
          <a:prstGeom prst="line">
            <a:avLst/>
          </a:prstGeom>
          <a:noFill/>
          <a:ln w="22225">
            <a:solidFill>
              <a:schemeClr val="accent1"/>
            </a:solidFill>
            <a:prstDash val="solid"/>
          </a:ln>
        </p:spPr>
      </p:sp>
      <p:sp>
        <p:nvSpPr>
          <p:cNvPr id="8" name="Kante 8-3"/>
          <p:cNvSpPr/>
          <p:nvPr/>
        </p:nvSpPr>
        <p:spPr>
          <a:xfrm flipH="1">
            <a:off x="1660105" y="2020824"/>
            <a:ext cx="1341722" cy="755904"/>
          </a:xfrm>
          <a:prstGeom prst="line">
            <a:avLst/>
          </a:prstGeom>
          <a:noFill/>
          <a:ln w="22225">
            <a:solidFill>
              <a:schemeClr val="accent1"/>
            </a:solidFill>
            <a:prstDash val="solid"/>
          </a:ln>
        </p:spPr>
      </p:sp>
      <p:sp>
        <p:nvSpPr>
          <p:cNvPr id="9" name="Kante 14-13"/>
          <p:cNvSpPr/>
          <p:nvPr/>
        </p:nvSpPr>
        <p:spPr>
          <a:xfrm flipH="1">
            <a:off x="4549912" y="3532632"/>
            <a:ext cx="412729" cy="755904"/>
          </a:xfrm>
          <a:prstGeom prst="line">
            <a:avLst/>
          </a:prstGeom>
          <a:noFill/>
          <a:ln w="22225">
            <a:solidFill>
              <a:schemeClr val="accent1"/>
            </a:solidFill>
            <a:prstDash val="solid"/>
          </a:ln>
        </p:spPr>
      </p:sp>
      <p:sp>
        <p:nvSpPr>
          <p:cNvPr id="10" name="Kante 10-14"/>
          <p:cNvSpPr/>
          <p:nvPr/>
        </p:nvSpPr>
        <p:spPr>
          <a:xfrm>
            <a:off x="4343548" y="2776728"/>
            <a:ext cx="619093" cy="755904"/>
          </a:xfrm>
          <a:prstGeom prst="line">
            <a:avLst/>
          </a:prstGeom>
          <a:noFill/>
          <a:ln w="22225">
            <a:solidFill>
              <a:schemeClr val="accent1"/>
            </a:solidFill>
            <a:prstDash val="solid"/>
          </a:ln>
        </p:spPr>
      </p:sp>
      <p:sp>
        <p:nvSpPr>
          <p:cNvPr id="11" name="Kante 8-10"/>
          <p:cNvSpPr/>
          <p:nvPr/>
        </p:nvSpPr>
        <p:spPr>
          <a:xfrm>
            <a:off x="3001826" y="2020824"/>
            <a:ext cx="1341722" cy="755904"/>
          </a:xfrm>
          <a:prstGeom prst="line">
            <a:avLst/>
          </a:prstGeom>
          <a:noFill/>
          <a:ln w="22225">
            <a:solidFill>
              <a:schemeClr val="accent1"/>
            </a:solidFill>
            <a:prstDash val="solid"/>
          </a:ln>
        </p:spPr>
      </p:sp>
      <p:sp>
        <p:nvSpPr>
          <p:cNvPr id="12" name="Knoten 1"/>
          <p:cNvSpPr txBox="1"/>
          <p:nvPr/>
        </p:nvSpPr>
        <p:spPr>
          <a:xfrm>
            <a:off x="679024"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a:t>
            </a:r>
            <a:endParaRPr lang="en-US" sz="1700" dirty="0"/>
          </a:p>
        </p:txBody>
      </p:sp>
      <p:sp>
        <p:nvSpPr>
          <p:cNvPr id="13" name="Knoten 4"/>
          <p:cNvSpPr txBox="1"/>
          <p:nvPr/>
        </p:nvSpPr>
        <p:spPr>
          <a:xfrm>
            <a:off x="1670139"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4</a:t>
            </a:r>
            <a:endParaRPr lang="en-US" sz="1700" dirty="0"/>
          </a:p>
        </p:txBody>
      </p:sp>
      <p:sp>
        <p:nvSpPr>
          <p:cNvPr id="14" name="Knoten 7"/>
          <p:cNvSpPr txBox="1"/>
          <p:nvPr/>
        </p:nvSpPr>
        <p:spPr>
          <a:xfrm>
            <a:off x="2661254"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15" name="Knoten 6"/>
          <p:cNvSpPr txBox="1"/>
          <p:nvPr/>
        </p:nvSpPr>
        <p:spPr>
          <a:xfrm>
            <a:off x="2165697"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6</a:t>
            </a:r>
            <a:endParaRPr lang="en-US" sz="1700" dirty="0"/>
          </a:p>
        </p:txBody>
      </p:sp>
      <p:sp>
        <p:nvSpPr>
          <p:cNvPr id="16" name="Knoten 3"/>
          <p:cNvSpPr txBox="1"/>
          <p:nvPr/>
        </p:nvSpPr>
        <p:spPr>
          <a:xfrm>
            <a:off x="1422361"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17" name="Knoten 13"/>
          <p:cNvSpPr txBox="1"/>
          <p:nvPr/>
        </p:nvSpPr>
        <p:spPr>
          <a:xfrm>
            <a:off x="4312168"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13</a:t>
            </a:r>
            <a:endParaRPr lang="en-US" sz="1700" dirty="0"/>
          </a:p>
        </p:txBody>
      </p:sp>
      <p:sp>
        <p:nvSpPr>
          <p:cNvPr id="18" name="Knoten 14"/>
          <p:cNvSpPr txBox="1"/>
          <p:nvPr/>
        </p:nvSpPr>
        <p:spPr>
          <a:xfrm>
            <a:off x="4724897"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14</a:t>
            </a:r>
            <a:endParaRPr lang="en-US" sz="1700" dirty="0"/>
          </a:p>
        </p:txBody>
      </p:sp>
      <p:sp>
        <p:nvSpPr>
          <p:cNvPr id="19" name="Knoten 10"/>
          <p:cNvSpPr txBox="1"/>
          <p:nvPr/>
        </p:nvSpPr>
        <p:spPr>
          <a:xfrm>
            <a:off x="4105804" y="2538984"/>
            <a:ext cx="475488" cy="475488"/>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700" b="1" dirty="0">
                <a:solidFill>
                  <a:schemeClr val="accent1"/>
                </a:solidFill>
              </a:rPr>
              <a:t>10</a:t>
            </a:r>
            <a:endParaRPr lang="en-US" sz="1700" dirty="0"/>
          </a:p>
        </p:txBody>
      </p:sp>
      <p:sp>
        <p:nvSpPr>
          <p:cNvPr id="20" name="Text 18"/>
          <p:cNvSpPr txBox="1"/>
          <p:nvPr/>
        </p:nvSpPr>
        <p:spPr>
          <a:xfrm>
            <a:off x="4617868" y="2630424"/>
            <a:ext cx="1005840" cy="292608"/>
          </a:xfrm>
          <a:prstGeom prst="rect">
            <a:avLst/>
          </a:prstGeom>
          <a:noFill/>
          <a:ln/>
        </p:spPr>
        <p:txBody>
          <a:bodyPr wrap="square" lIns="0" tIns="0" rIns="0" bIns="0" rtlCol="0" anchor="ctr"/>
          <a:lstStyle/>
          <a:p>
            <a:pPr algn="l" indent="0" marL="0">
              <a:buNone/>
            </a:pPr>
            <a:r>
              <a:rPr lang="en-US" sz="1200" b="1" dirty="0">
                <a:solidFill>
                  <a:schemeClr val="accent2"/>
                </a:solidFill>
              </a:rPr>
              <a:t>Nachfolger</a:t>
            </a:r>
            <a:endParaRPr lang="en-US" sz="1200" dirty="0"/>
          </a:p>
        </p:txBody>
      </p:sp>
      <p:sp>
        <p:nvSpPr>
          <p:cNvPr id="21" name="Knoten 8"/>
          <p:cNvSpPr txBox="1"/>
          <p:nvPr/>
        </p:nvSpPr>
        <p:spPr>
          <a:xfrm>
            <a:off x="2764082" y="1783080"/>
            <a:ext cx="475488" cy="475488"/>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700" b="1" dirty="0">
                <a:solidFill>
                  <a:schemeClr val="accent4"/>
                </a:solidFill>
              </a:rPr>
              <a:t>8</a:t>
            </a:r>
            <a:endParaRPr lang="en-US" sz="1700" dirty="0"/>
          </a:p>
        </p:txBody>
      </p:sp>
      <p:sp>
        <p:nvSpPr>
          <p:cNvPr id="22" name="Pfeil loeschen"/>
          <p:cNvSpPr/>
          <p:nvPr/>
        </p:nvSpPr>
        <p:spPr>
          <a:xfrm>
            <a:off x="5715000" y="3017520"/>
            <a:ext cx="685800" cy="91"/>
          </a:xfrm>
          <a:prstGeom prst="line">
            <a:avLst/>
          </a:prstGeom>
          <a:noFill/>
          <a:ln w="44450">
            <a:solidFill>
              <a:schemeClr val="accent2"/>
            </a:solidFill>
            <a:prstDash val="solid"/>
            <a:tailEnd type="triangle"/>
          </a:ln>
        </p:spPr>
      </p:sp>
      <p:sp>
        <p:nvSpPr>
          <p:cNvPr id="23" name="Chip"/>
          <p:cNvSpPr txBox="1"/>
          <p:nvPr/>
        </p:nvSpPr>
        <p:spPr>
          <a:xfrm>
            <a:off x="6583680" y="1325880"/>
            <a:ext cx="128016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Nachher</a:t>
            </a:r>
            <a:endParaRPr lang="en-US" sz="1400" dirty="0"/>
          </a:p>
        </p:txBody>
      </p:sp>
      <p:sp>
        <p:nvSpPr>
          <p:cNvPr id="24" name="Kante 3-1"/>
          <p:cNvSpPr/>
          <p:nvPr/>
        </p:nvSpPr>
        <p:spPr>
          <a:xfrm flipH="1">
            <a:off x="7007397" y="2776728"/>
            <a:ext cx="855583" cy="755904"/>
          </a:xfrm>
          <a:prstGeom prst="line">
            <a:avLst/>
          </a:prstGeom>
          <a:noFill/>
          <a:ln w="22225">
            <a:solidFill>
              <a:schemeClr val="accent1"/>
            </a:solidFill>
            <a:prstDash val="solid"/>
          </a:ln>
        </p:spPr>
      </p:sp>
      <p:sp>
        <p:nvSpPr>
          <p:cNvPr id="25" name="Kante 6-4"/>
          <p:cNvSpPr/>
          <p:nvPr/>
        </p:nvSpPr>
        <p:spPr>
          <a:xfrm flipH="1">
            <a:off x="8148175" y="3532632"/>
            <a:ext cx="570389" cy="755904"/>
          </a:xfrm>
          <a:prstGeom prst="line">
            <a:avLst/>
          </a:prstGeom>
          <a:noFill/>
          <a:ln w="22225">
            <a:solidFill>
              <a:schemeClr val="accent1"/>
            </a:solidFill>
            <a:prstDash val="solid"/>
          </a:ln>
        </p:spPr>
      </p:sp>
      <p:sp>
        <p:nvSpPr>
          <p:cNvPr id="26" name="Kante 6-7"/>
          <p:cNvSpPr/>
          <p:nvPr/>
        </p:nvSpPr>
        <p:spPr>
          <a:xfrm>
            <a:off x="8718564" y="3532632"/>
            <a:ext cx="570389" cy="755904"/>
          </a:xfrm>
          <a:prstGeom prst="line">
            <a:avLst/>
          </a:prstGeom>
          <a:noFill/>
          <a:ln w="22225">
            <a:solidFill>
              <a:schemeClr val="accent1"/>
            </a:solidFill>
            <a:prstDash val="solid"/>
          </a:ln>
        </p:spPr>
      </p:sp>
      <p:sp>
        <p:nvSpPr>
          <p:cNvPr id="27" name="Kante 3-6"/>
          <p:cNvSpPr/>
          <p:nvPr/>
        </p:nvSpPr>
        <p:spPr>
          <a:xfrm>
            <a:off x="7862981" y="2776728"/>
            <a:ext cx="855583" cy="755904"/>
          </a:xfrm>
          <a:prstGeom prst="line">
            <a:avLst/>
          </a:prstGeom>
          <a:noFill/>
          <a:ln w="22225">
            <a:solidFill>
              <a:schemeClr val="accent1"/>
            </a:solidFill>
            <a:prstDash val="solid"/>
          </a:ln>
        </p:spPr>
      </p:sp>
      <p:sp>
        <p:nvSpPr>
          <p:cNvPr id="28" name="Kante 10-3"/>
          <p:cNvSpPr/>
          <p:nvPr/>
        </p:nvSpPr>
        <p:spPr>
          <a:xfrm flipH="1">
            <a:off x="7862981" y="2020824"/>
            <a:ext cx="1520901" cy="755904"/>
          </a:xfrm>
          <a:prstGeom prst="line">
            <a:avLst/>
          </a:prstGeom>
          <a:noFill/>
          <a:ln w="22225">
            <a:solidFill>
              <a:schemeClr val="accent1"/>
            </a:solidFill>
            <a:prstDash val="solid"/>
          </a:ln>
        </p:spPr>
      </p:sp>
      <p:sp>
        <p:nvSpPr>
          <p:cNvPr id="29" name="Kante 14-13"/>
          <p:cNvSpPr/>
          <p:nvPr/>
        </p:nvSpPr>
        <p:spPr>
          <a:xfrm flipH="1">
            <a:off x="10429731" y="2776728"/>
            <a:ext cx="475052" cy="755904"/>
          </a:xfrm>
          <a:prstGeom prst="line">
            <a:avLst/>
          </a:prstGeom>
          <a:noFill/>
          <a:ln w="22225">
            <a:solidFill>
              <a:schemeClr val="accent1"/>
            </a:solidFill>
            <a:prstDash val="solid"/>
          </a:ln>
        </p:spPr>
      </p:sp>
      <p:sp>
        <p:nvSpPr>
          <p:cNvPr id="30" name="Kante 10-14"/>
          <p:cNvSpPr/>
          <p:nvPr/>
        </p:nvSpPr>
        <p:spPr>
          <a:xfrm>
            <a:off x="9383882" y="2020824"/>
            <a:ext cx="1520901" cy="755904"/>
          </a:xfrm>
          <a:prstGeom prst="line">
            <a:avLst/>
          </a:prstGeom>
          <a:noFill/>
          <a:ln w="22225">
            <a:solidFill>
              <a:schemeClr val="accent1"/>
            </a:solidFill>
            <a:prstDash val="solid"/>
          </a:ln>
        </p:spPr>
      </p:sp>
      <p:sp>
        <p:nvSpPr>
          <p:cNvPr id="31" name="Knoten 1"/>
          <p:cNvSpPr txBox="1"/>
          <p:nvPr/>
        </p:nvSpPr>
        <p:spPr>
          <a:xfrm>
            <a:off x="6769653"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1</a:t>
            </a:r>
            <a:endParaRPr lang="en-US" sz="1700" dirty="0"/>
          </a:p>
        </p:txBody>
      </p:sp>
      <p:sp>
        <p:nvSpPr>
          <p:cNvPr id="32" name="Knoten 4"/>
          <p:cNvSpPr txBox="1"/>
          <p:nvPr/>
        </p:nvSpPr>
        <p:spPr>
          <a:xfrm>
            <a:off x="7910431"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4</a:t>
            </a:r>
            <a:endParaRPr lang="en-US" sz="1700" dirty="0"/>
          </a:p>
        </p:txBody>
      </p:sp>
      <p:sp>
        <p:nvSpPr>
          <p:cNvPr id="33" name="Knoten 7"/>
          <p:cNvSpPr txBox="1"/>
          <p:nvPr/>
        </p:nvSpPr>
        <p:spPr>
          <a:xfrm>
            <a:off x="9051209" y="4050792"/>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7</a:t>
            </a:r>
            <a:endParaRPr lang="en-US" sz="1700" dirty="0"/>
          </a:p>
        </p:txBody>
      </p:sp>
      <p:sp>
        <p:nvSpPr>
          <p:cNvPr id="34" name="Knoten 6"/>
          <p:cNvSpPr txBox="1"/>
          <p:nvPr/>
        </p:nvSpPr>
        <p:spPr>
          <a:xfrm>
            <a:off x="8480820" y="3294888"/>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6</a:t>
            </a:r>
            <a:endParaRPr lang="en-US" sz="1700" dirty="0"/>
          </a:p>
        </p:txBody>
      </p:sp>
      <p:sp>
        <p:nvSpPr>
          <p:cNvPr id="35" name="Knoten 3"/>
          <p:cNvSpPr txBox="1"/>
          <p:nvPr/>
        </p:nvSpPr>
        <p:spPr>
          <a:xfrm>
            <a:off x="7625237" y="2538984"/>
            <a:ext cx="475488" cy="475488"/>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700" b="1" dirty="0">
                <a:solidFill>
                  <a:schemeClr val="accent1"/>
                </a:solidFill>
              </a:rPr>
              <a:t>3</a:t>
            </a:r>
            <a:endParaRPr lang="en-US" sz="1700" dirty="0"/>
          </a:p>
        </p:txBody>
      </p:sp>
      <p:sp>
        <p:nvSpPr>
          <p:cNvPr id="36" name="Knoten 13"/>
          <p:cNvSpPr txBox="1"/>
          <p:nvPr/>
        </p:nvSpPr>
        <p:spPr>
          <a:xfrm>
            <a:off x="10191987" y="3294888"/>
            <a:ext cx="475488" cy="475488"/>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700" b="1" dirty="0">
                <a:solidFill>
                  <a:schemeClr val="accent3"/>
                </a:solidFill>
              </a:rPr>
              <a:t>13</a:t>
            </a:r>
            <a:endParaRPr lang="en-US" sz="1700" dirty="0"/>
          </a:p>
        </p:txBody>
      </p:sp>
      <p:sp>
        <p:nvSpPr>
          <p:cNvPr id="37" name="Knoten 14"/>
          <p:cNvSpPr txBox="1"/>
          <p:nvPr/>
        </p:nvSpPr>
        <p:spPr>
          <a:xfrm>
            <a:off x="10667039" y="2538984"/>
            <a:ext cx="475488" cy="475488"/>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700" b="1" dirty="0">
                <a:solidFill>
                  <a:schemeClr val="accent3"/>
                </a:solidFill>
              </a:rPr>
              <a:t>14</a:t>
            </a:r>
            <a:endParaRPr lang="en-US" sz="1700" dirty="0"/>
          </a:p>
        </p:txBody>
      </p:sp>
      <p:sp>
        <p:nvSpPr>
          <p:cNvPr id="38" name="Knoten 10"/>
          <p:cNvSpPr txBox="1"/>
          <p:nvPr/>
        </p:nvSpPr>
        <p:spPr>
          <a:xfrm>
            <a:off x="9146138" y="1783080"/>
            <a:ext cx="475488" cy="475488"/>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700" b="1" dirty="0">
                <a:solidFill>
                  <a:schemeClr val="accent3"/>
                </a:solidFill>
              </a:rPr>
              <a:t>10</a:t>
            </a:r>
            <a:endParaRPr lang="en-US" sz="1700" dirty="0"/>
          </a:p>
        </p:txBody>
      </p:sp>
      <p:sp>
        <p:nvSpPr>
          <p:cNvPr id="39" name="Regel"/>
          <p:cNvSpPr/>
          <p:nvPr/>
        </p:nvSpPr>
        <p:spPr>
          <a:xfrm>
            <a:off x="548640" y="4800600"/>
            <a:ext cx="6949440" cy="1325880"/>
          </a:xfrm>
          <a:prstGeom prst="roundRect">
            <a:avLst>
              <a:gd name="adj" fmla="val 8276"/>
            </a:avLst>
          </a:prstGeom>
          <a:solidFill>
            <a:schemeClr val="bg2"/>
          </a:solidFill>
          <a:ln/>
        </p:spPr>
      </p:sp>
      <p:sp>
        <p:nvSpPr>
          <p:cNvPr id="40" name="Text 38"/>
          <p:cNvSpPr txBox="1"/>
          <p:nvPr/>
        </p:nvSpPr>
        <p:spPr>
          <a:xfrm>
            <a:off x="749808" y="4800600"/>
            <a:ext cx="6583680" cy="1325880"/>
          </a:xfrm>
          <a:prstGeom prst="rect">
            <a:avLst/>
          </a:prstGeom>
          <a:noFill/>
          <a:ln/>
        </p:spPr>
        <p:txBody>
          <a:bodyPr wrap="square" lIns="0" tIns="0" rIns="0" bIns="0" rtlCol="0" anchor="ctr"/>
          <a:lstStyle/>
          <a:p>
            <a:pPr indent="0" marL="0">
              <a:buNone/>
            </a:pPr>
            <a:r>
              <a:rPr lang="en-US" sz="1500" b="1" dirty="0">
                <a:solidFill>
                  <a:schemeClr val="accent1"/>
                </a:solidFill>
              </a:rPr>
              <a:t>Fall 3 – zwei Kinder: </a:t>
            </a:r>
            <a:pPr indent="0" marL="0">
              <a:buNone/>
            </a:pPr>
            <a:r>
              <a:rPr lang="en-US" sz="1500" dirty="0">
                <a:solidFill>
                  <a:schemeClr val="tx1"/>
                </a:solidFill>
              </a:rPr>
              <a:t>Nachfolger = kleinster Wert im rechten Teilbaum (einmal rechts, dann ganz links): 10. Seinen Wert in den Knoten kopieren, dann den Nachfolger löschen (Fall 1 oder 2). Alternativ: Vorgänger = größter links (7).</a:t>
            </a:r>
            <a:endParaRPr lang="en-US" sz="1500" dirty="0"/>
          </a:p>
        </p:txBody>
      </p:sp>
      <p:sp>
        <p:nvSpPr>
          <p:cNvPr id="41" name="Probe inorder"/>
          <p:cNvSpPr txBox="1"/>
          <p:nvPr/>
        </p:nvSpPr>
        <p:spPr>
          <a:xfrm>
            <a:off x="7726680" y="4800600"/>
            <a:ext cx="3886200" cy="1325880"/>
          </a:xfrm>
          <a:prstGeom prst="roundRect">
            <a:avLst>
              <a:gd name="adj" fmla="val 6897"/>
            </a:avLst>
          </a:prstGeom>
          <a:solidFill>
            <a:srgbClr val="E2EFDA"/>
          </a:solidFill>
          <a:ln w="25400">
            <a:solidFill>
              <a:schemeClr val="accent3"/>
            </a:solidFill>
          </a:ln>
        </p:spPr>
        <p:txBody>
          <a:bodyPr wrap="square" lIns="127000" tIns="0" rIns="127000" bIns="0" rtlCol="0" anchor="ctr"/>
          <a:lstStyle/>
          <a:p>
            <a:pPr indent="0" marL="0">
              <a:buNone/>
            </a:pPr>
            <a:r>
              <a:rPr lang="en-US" sz="1500" b="1" dirty="0">
                <a:solidFill>
                  <a:schemeClr val="accent3"/>
                </a:solidFill>
              </a:rPr>
              <a:t>Probe – inorder danach:</a:t>
            </a:r>
            <a:endParaRPr lang="en-US" sz="1500" dirty="0"/>
          </a:p>
          <a:p>
            <a:pPr indent="0" marL="0">
              <a:buNone/>
            </a:pPr>
            <a:r>
              <a:rPr lang="en-US" sz="1300" dirty="0">
                <a:solidFill>
                  <a:schemeClr val="tx1"/>
                </a:solidFill>
                <a:latin typeface="Consolas" pitchFamily="34" charset="0"/>
                <a:ea typeface="Consolas" pitchFamily="34" charset="-122"/>
                <a:cs typeface="Consolas" pitchFamily="34" charset="-120"/>
              </a:rPr>
              <a:t>"1 3 4 6 7 10 13 14"</a:t>
            </a:r>
            <a:pPr indent="0" marL="0">
              <a:buNone/>
            </a:pPr>
            <a:r>
              <a:rPr lang="en-US" sz="1500" b="1" dirty="0">
                <a:solidFill>
                  <a:schemeClr val="accent3"/>
                </a:solidFill>
              </a:rPr>
              <a:t>  sortiert ✓</a:t>
            </a:r>
            <a:endParaRPr lang="en-US" sz="1500" dirty="0"/>
          </a:p>
        </p:txBody>
      </p:sp>
      <p:sp>
        <p:nvSpPr>
          <p:cNvPr id="42" name="Text 4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Löschen 3/3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Online-IDE: Level 5.4 – class Suchbaum</a:t>
            </a:r>
            <a:endParaRPr lang="en-US" sz="3600" dirty="0"/>
          </a:p>
        </p:txBody>
      </p:sp>
      <p:sp>
        <p:nvSpPr>
          <p:cNvPr id="3" name="Level-Karte"/>
          <p:cNvSpPr/>
          <p:nvPr/>
        </p:nvSpPr>
        <p:spPr>
          <a:xfrm>
            <a:off x="548640" y="1325880"/>
            <a:ext cx="6720840" cy="4800600"/>
          </a:xfrm>
          <a:prstGeom prst="roundRect">
            <a:avLst>
              <a:gd name="adj" fmla="val 2286"/>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4" name="Level-Kopf"/>
          <p:cNvSpPr txBox="1"/>
          <p:nvPr/>
        </p:nvSpPr>
        <p:spPr>
          <a:xfrm>
            <a:off x="548640" y="1325880"/>
            <a:ext cx="6720840" cy="502920"/>
          </a:xfrm>
          <a:prstGeom prst="rect">
            <a:avLst/>
          </a:prstGeom>
          <a:solidFill>
            <a:schemeClr val="accent1"/>
          </a:solidFill>
          <a:ln/>
        </p:spPr>
        <p:txBody>
          <a:bodyPr wrap="square" lIns="127000" tIns="0" rIns="127000" bIns="0" rtlCol="0" anchor="ctr"/>
          <a:lstStyle/>
          <a:p>
            <a:pPr indent="0" marL="0">
              <a:buNone/>
            </a:pPr>
            <a:r>
              <a:rPr lang="en-US" sz="1800" b="1" dirty="0">
                <a:solidFill>
                  <a:schemeClr val="accent2"/>
                </a:solidFill>
              </a:rPr>
              <a:t>IDE-Level 5.4 · </a:t>
            </a:r>
            <a:pPr indent="0" marL="0">
              <a:buNone/>
            </a:pPr>
            <a:r>
              <a:rPr lang="en-US" sz="1800" b="1" dirty="0">
                <a:solidFill>
                  <a:schemeClr val="bg1"/>
                </a:solidFill>
                <a:latin typeface="Consolas" pitchFamily="34" charset="0"/>
                <a:ea typeface="Consolas" pitchFamily="34" charset="-122"/>
                <a:cs typeface="Consolas" pitchFamily="34" charset="-120"/>
              </a:rPr>
              <a:t>class Suchbaum</a:t>
            </a:r>
            <a:pPr indent="0" marL="0">
              <a:buNone/>
            </a:pPr>
            <a:r>
              <a:rPr lang="en-US" sz="1400" dirty="0">
                <a:solidFill>
                  <a:schemeClr val="bg2"/>
                </a:solidFill>
              </a:rPr>
              <a:t>   Testklasse L54SuchbaumTest</a:t>
            </a:r>
            <a:endParaRPr lang="en-US" sz="1800" dirty="0"/>
          </a:p>
        </p:txBody>
      </p:sp>
      <p:sp>
        <p:nvSpPr>
          <p:cNvPr id="5" name="Chip"/>
          <p:cNvSpPr txBox="1"/>
          <p:nvPr/>
        </p:nvSpPr>
        <p:spPr>
          <a:xfrm>
            <a:off x="731520" y="1984248"/>
            <a:ext cx="1600200" cy="347472"/>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Basis ★</a:t>
            </a:r>
            <a:endParaRPr lang="en-US" sz="1400" dirty="0"/>
          </a:p>
        </p:txBody>
      </p:sp>
      <p:sp>
        <p:nvSpPr>
          <p:cNvPr id="6" name="Text 4"/>
          <p:cNvSpPr txBox="1"/>
          <p:nvPr/>
        </p:nvSpPr>
        <p:spPr>
          <a:xfrm>
            <a:off x="731520" y="2377440"/>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basis_…</a:t>
            </a:r>
            <a:endParaRPr lang="en-US" sz="1200" dirty="0"/>
          </a:p>
        </p:txBody>
      </p:sp>
      <p:sp>
        <p:nvSpPr>
          <p:cNvPr id="7" name="Text 5"/>
          <p:cNvSpPr txBox="1"/>
          <p:nvPr/>
        </p:nvSpPr>
        <p:spPr>
          <a:xfrm>
            <a:off x="2514600" y="1965960"/>
            <a:ext cx="4663440" cy="905256"/>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suche(b, x): Wahrheitswert</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minimum(b): Ganzzahl   // leer: −1</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einfuegen(b, x): nichts</a:t>
            </a:r>
            <a:endParaRPr lang="en-US" sz="1800" dirty="0"/>
          </a:p>
        </p:txBody>
      </p:sp>
      <p:sp>
        <p:nvSpPr>
          <p:cNvPr id="8" name="Chip"/>
          <p:cNvSpPr txBox="1"/>
          <p:nvPr/>
        </p:nvSpPr>
        <p:spPr>
          <a:xfrm>
            <a:off x="731520" y="3236976"/>
            <a:ext cx="16002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Erweiterung ★★</a:t>
            </a:r>
            <a:endParaRPr lang="en-US" sz="1400" dirty="0"/>
          </a:p>
        </p:txBody>
      </p:sp>
      <p:sp>
        <p:nvSpPr>
          <p:cNvPr id="9" name="Text 7"/>
          <p:cNvSpPr txBox="1"/>
          <p:nvPr/>
        </p:nvSpPr>
        <p:spPr>
          <a:xfrm>
            <a:off x="731520" y="3630168"/>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erweiterung_…</a:t>
            </a:r>
            <a:endParaRPr lang="en-US" sz="1200" dirty="0"/>
          </a:p>
        </p:txBody>
      </p:sp>
      <p:sp>
        <p:nvSpPr>
          <p:cNvPr id="10" name="Text 8"/>
          <p:cNvSpPr txBox="1"/>
          <p:nvPr/>
        </p:nvSpPr>
        <p:spPr>
          <a:xfrm>
            <a:off x="2514600" y="3218688"/>
            <a:ext cx="4663440" cy="905256"/>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sucheIterativ(b, x): Wahrheitswert</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vergleiche(b, x): Ganzzahl</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baueAus(r: Reihung von Ganzzahl): BinTree</a:t>
            </a:r>
            <a:endParaRPr lang="en-US" sz="1800" dirty="0"/>
          </a:p>
        </p:txBody>
      </p:sp>
      <p:sp>
        <p:nvSpPr>
          <p:cNvPr id="11" name="Chip"/>
          <p:cNvSpPr txBox="1"/>
          <p:nvPr/>
        </p:nvSpPr>
        <p:spPr>
          <a:xfrm>
            <a:off x="731520" y="4489704"/>
            <a:ext cx="16002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Experte ★★★</a:t>
            </a:r>
            <a:endParaRPr lang="en-US" sz="1400" dirty="0"/>
          </a:p>
        </p:txBody>
      </p:sp>
      <p:sp>
        <p:nvSpPr>
          <p:cNvPr id="12" name="Text 10"/>
          <p:cNvSpPr txBox="1"/>
          <p:nvPr/>
        </p:nvSpPr>
        <p:spPr>
          <a:xfrm>
            <a:off x="731520" y="4882896"/>
            <a:ext cx="16002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onsolas" pitchFamily="34" charset="0"/>
                <a:ea typeface="Consolas" pitchFamily="34" charset="-122"/>
                <a:cs typeface="Consolas" pitchFamily="34" charset="-120"/>
              </a:rPr>
              <a:t>experte_… (DS 35)</a:t>
            </a:r>
            <a:endParaRPr lang="en-US" sz="1200" dirty="0"/>
          </a:p>
        </p:txBody>
      </p:sp>
      <p:sp>
        <p:nvSpPr>
          <p:cNvPr id="13" name="Text 11"/>
          <p:cNvSpPr txBox="1"/>
          <p:nvPr/>
        </p:nvSpPr>
        <p:spPr>
          <a:xfrm>
            <a:off x="2514600" y="4471416"/>
            <a:ext cx="4663440" cy="603504"/>
          </a:xfrm>
          <a:prstGeom prst="rect">
            <a:avLst/>
          </a:prstGeom>
          <a:noFill/>
          <a:ln/>
        </p:spPr>
        <p:txBody>
          <a:bodyPr wrap="square" lIns="0" tIns="0" rIns="0" bIns="0" rtlCol="0" anchor="t"/>
          <a:lstStyle/>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istBST(b) · ausgeglichenAus(sortiert)</a:t>
            </a:r>
            <a:endParaRPr lang="en-US" sz="1800" dirty="0"/>
          </a:p>
          <a:p>
            <a:pPr indent="0" marL="0">
              <a:lnSpc>
                <a:spcPts val="2350"/>
              </a:lnSpc>
              <a:buNone/>
            </a:pPr>
            <a:r>
              <a:rPr lang="en-US" sz="1300" dirty="0">
                <a:solidFill>
                  <a:schemeClr val="tx1"/>
                </a:solidFill>
                <a:latin typeface="Consolas" pitchFamily="34" charset="0"/>
                <a:ea typeface="Consolas" pitchFamily="34" charset="-122"/>
                <a:cs typeface="Consolas" pitchFamily="34" charset="-120"/>
              </a:rPr>
              <a:t>nachfolger(b, x): Ganzzahl  // −1: keiner</a:t>
            </a:r>
            <a:endParaRPr lang="en-US" sz="1800" dirty="0"/>
          </a:p>
        </p:txBody>
      </p:sp>
      <p:sp>
        <p:nvSpPr>
          <p:cNvPr id="14" name="Text 12"/>
          <p:cNvSpPr txBox="1"/>
          <p:nvPr/>
        </p:nvSpPr>
        <p:spPr>
          <a:xfrm>
            <a:off x="731520" y="5669280"/>
            <a:ext cx="6400800" cy="384048"/>
          </a:xfrm>
          <a:prstGeom prst="rect">
            <a:avLst/>
          </a:prstGeom>
          <a:noFill/>
          <a:ln/>
        </p:spPr>
        <p:txBody>
          <a:bodyPr wrap="square" lIns="0" tIns="0" rIns="0" bIns="0" rtlCol="0" anchor="ctr"/>
          <a:lstStyle/>
          <a:p>
            <a:pPr indent="0" marL="0">
              <a:buNone/>
            </a:pPr>
            <a:r>
              <a:rPr lang="en-US" sz="1300" i="1" dirty="0">
                <a:solidFill>
                  <a:schemeClr val="accent6"/>
                </a:solidFill>
              </a:rPr>
              <a:t>suche und einfuegen rekursiv, nur EIN Teilbaum je Schritt · Löschen: nur grafisch</a:t>
            </a:r>
            <a:endParaRPr lang="en-US" sz="1300" dirty="0"/>
          </a:p>
        </p:txBody>
      </p:sp>
      <p:sp>
        <p:nvSpPr>
          <p:cNvPr id="15" name="Text 13"/>
          <p:cNvSpPr txBox="1"/>
          <p:nvPr/>
        </p:nvSpPr>
        <p:spPr>
          <a:xfrm>
            <a:off x="7543800" y="1325880"/>
            <a:ext cx="4069080" cy="347472"/>
          </a:xfrm>
          <a:prstGeom prst="rect">
            <a:avLst/>
          </a:prstGeom>
          <a:noFill/>
          <a:ln/>
        </p:spPr>
        <p:txBody>
          <a:bodyPr wrap="square" lIns="0" tIns="0" rIns="0" bIns="0" rtlCol="0" anchor="t"/>
          <a:lstStyle/>
          <a:p>
            <a:pPr indent="0" marL="0">
              <a:buNone/>
            </a:pPr>
            <a:r>
              <a:rPr lang="en-US" sz="1800" b="1" dirty="0">
                <a:solidFill>
                  <a:schemeClr val="accent1"/>
                </a:solidFill>
              </a:rPr>
              <a:t>Testwerte beispielBST()</a:t>
            </a:r>
            <a:endParaRPr lang="en-US" sz="1800" dirty="0"/>
          </a:p>
        </p:txBody>
      </p:sp>
      <p:graphicFrame>
        <p:nvGraphicFramePr>
          <p:cNvPr id="33" name="Testwerte"/>
          <p:cNvGraphicFramePr>
            <a:graphicFrameLocks noGrp="1"/>
          </p:cNvGraphicFramePr>
          <p:nvPr>
            <p:extLst>
              <p:ext uri="{D42A27DB-BD31-4B8C-83A1-F6EECF244321}">
                <p14:modId xmlns:p14="http://schemas.microsoft.com/office/powerpoint/2010/main" val="1579011935"/>
              </p:ext>
            </p:extLst>
          </p:nvPr>
        </p:nvGraphicFramePr>
        <p:xfrm>
          <a:off x="7543800" y="1737360"/>
          <a:ext cx="4069080" cy="914400"/>
        </p:xfrm>
        <a:graphic>
          <a:graphicData uri="http://schemas.openxmlformats.org/drawingml/2006/table">
            <a:tbl>
              <a:tblPr/>
              <a:tblGrid>
                <a:gridCol w="2926080"/>
                <a:gridCol w="1143000"/>
              </a:tblGrid>
              <a:tr h="384048">
                <a:tc>
                  <a:txBody>
                    <a:bodyPr/>
                    <a:lstStyle/>
                    <a:p>
                      <a:pPr algn="l" indent="0" marL="0">
                        <a:buNone/>
                      </a:pPr>
                      <a:r>
                        <a:rPr lang="en-US" sz="1400" b="1" dirty="0">
                          <a:solidFill>
                            <a:schemeClr val="accent1"/>
                          </a:solidFill>
                          <a:latin typeface="Consolas" pitchFamily="34" charset="0"/>
                          <a:ea typeface="Consolas" pitchFamily="34" charset="-122"/>
                          <a:cs typeface="Consolas" pitchFamily="34" charset="-120"/>
                        </a:rPr>
                        <a:t>vergleiche(b, 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chemeClr val="accent1"/>
                          </a:solidFill>
                          <a:latin typeface="Consolas" pitchFamily="34" charset="0"/>
                          <a:ea typeface="Consolas" pitchFamily="34" charset="-122"/>
                          <a:cs typeface="Consolas" pitchFamily="34" charset="-120"/>
                        </a:rPr>
                        <a:t>vergleiche(b, 5)</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chemeClr val="accent1"/>
                          </a:solidFill>
                          <a:latin typeface="Consolas" pitchFamily="34" charset="0"/>
                          <a:ea typeface="Consolas" pitchFamily="34" charset="-122"/>
                          <a:cs typeface="Consolas" pitchFamily="34" charset="-120"/>
                        </a:rPr>
                        <a:t>nachfolger(b, 8)</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chemeClr val="accent1"/>
                          </a:solidFill>
                          <a:latin typeface="Consolas" pitchFamily="34" charset="0"/>
                          <a:ea typeface="Consolas" pitchFamily="34" charset="-122"/>
                          <a:cs typeface="Consolas" pitchFamily="34" charset="-120"/>
                        </a:rPr>
                        <a:t>nachfolger(b, 7)</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chemeClr val="accent1"/>
                          </a:solidFill>
                          <a:latin typeface="Consolas" pitchFamily="34" charset="0"/>
                          <a:ea typeface="Consolas" pitchFamily="34" charset="-122"/>
                          <a:cs typeface="Consolas" pitchFamily="34" charset="-120"/>
                        </a:rPr>
                        <a:t>nachfolger(b, 14)</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chemeClr val="accent1"/>
                          </a:solidFill>
                          <a:latin typeface="Consolas" pitchFamily="34" charset="0"/>
                          <a:ea typeface="Consolas" pitchFamily="34" charset="-122"/>
                          <a:cs typeface="Consolas" pitchFamily="34" charset="-120"/>
                        </a:rPr>
                        <a:t>minimum(b)</a:t>
                      </a:r>
                      <a:endParaRPr lang="en-US" sz="1400" dirty="0">
                        <a:latin typeface="Consolas" charset="0"/>
                        <a:ea typeface="Consolas" charset="0"/>
                        <a:cs typeface="Consolas"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17" name="Fehler"/>
          <p:cNvSpPr/>
          <p:nvPr/>
        </p:nvSpPr>
        <p:spPr>
          <a:xfrm>
            <a:off x="7543800" y="4297680"/>
            <a:ext cx="4069080" cy="1828800"/>
          </a:xfrm>
          <a:prstGeom prst="roundRect">
            <a:avLst>
              <a:gd name="adj" fmla="val 6000"/>
            </a:avLst>
          </a:prstGeom>
          <a:solidFill>
            <a:schemeClr val="bg1"/>
          </a:solidFill>
          <a:ln w="25400">
            <a:solidFill>
              <a:schemeClr val="accent4"/>
            </a:solidFill>
            <a:prstDash val="solid"/>
          </a:ln>
        </p:spPr>
      </p:sp>
      <p:sp>
        <p:nvSpPr>
          <p:cNvPr id="18" name="Text 15"/>
          <p:cNvSpPr txBox="1"/>
          <p:nvPr/>
        </p:nvSpPr>
        <p:spPr>
          <a:xfrm>
            <a:off x="7744968" y="4297680"/>
            <a:ext cx="3703320" cy="1828800"/>
          </a:xfrm>
          <a:prstGeom prst="rect">
            <a:avLst/>
          </a:prstGeom>
          <a:noFill/>
          <a:ln/>
        </p:spPr>
        <p:txBody>
          <a:bodyPr wrap="square" lIns="0" tIns="0" rIns="0" bIns="0" rtlCol="0" anchor="ctr"/>
          <a:lstStyle/>
          <a:p>
            <a:pPr indent="0" marL="0">
              <a:buNone/>
            </a:pPr>
            <a:r>
              <a:rPr lang="en-US" sz="1400" b="1" dirty="0">
                <a:solidFill>
                  <a:schemeClr val="accent4"/>
                </a:solidFill>
              </a:rPr>
              <a:t>Häufige Fehler: </a:t>
            </a:r>
            <a:pPr indent="0" marL="0">
              <a:buNone/>
            </a:pPr>
            <a:r>
              <a:rPr lang="en-US" sz="1400" dirty="0">
                <a:solidFill>
                  <a:schemeClr val="tx1"/>
                </a:solidFill>
              </a:rPr>
              <a:t>beide Teilbäume durchsuchen (kein BST-Vorteil) · b = new BinTree(x) statt b.setItem(x) · Duplikat doppelt eingefügt.</a:t>
            </a:r>
            <a:endParaRPr lang="en-US" sz="1400" dirty="0"/>
          </a:p>
        </p:txBody>
      </p:sp>
      <p:sp>
        <p:nvSpPr>
          <p:cNvPr id="19" name="Text 16"/>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IDE Level 5.4</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Exit-Ticket DS 34: beispielBST()</a:t>
            </a:r>
            <a:endParaRPr lang="en-US" sz="3600" dirty="0"/>
          </a:p>
        </p:txBody>
      </p:sp>
      <p:sp>
        <p:nvSpPr>
          <p:cNvPr id="3" name="Kante 3-1"/>
          <p:cNvSpPr/>
          <p:nvPr/>
        </p:nvSpPr>
        <p:spPr>
          <a:xfrm flipH="1">
            <a:off x="1075190" y="2648712"/>
            <a:ext cx="675490" cy="920496"/>
          </a:xfrm>
          <a:prstGeom prst="line">
            <a:avLst/>
          </a:prstGeom>
          <a:noFill/>
          <a:ln w="22225">
            <a:solidFill>
              <a:schemeClr val="bg2"/>
            </a:solidFill>
            <a:prstDash val="solid"/>
          </a:ln>
        </p:spPr>
      </p:sp>
      <p:sp>
        <p:nvSpPr>
          <p:cNvPr id="4" name="Kante 6-4"/>
          <p:cNvSpPr/>
          <p:nvPr/>
        </p:nvSpPr>
        <p:spPr>
          <a:xfrm flipH="1">
            <a:off x="1975843" y="3569208"/>
            <a:ext cx="450327" cy="920496"/>
          </a:xfrm>
          <a:prstGeom prst="line">
            <a:avLst/>
          </a:prstGeom>
          <a:noFill/>
          <a:ln w="22225">
            <a:solidFill>
              <a:schemeClr val="bg2"/>
            </a:solidFill>
            <a:prstDash val="solid"/>
          </a:ln>
        </p:spPr>
      </p:sp>
      <p:sp>
        <p:nvSpPr>
          <p:cNvPr id="5" name="Kante 6-7"/>
          <p:cNvSpPr/>
          <p:nvPr/>
        </p:nvSpPr>
        <p:spPr>
          <a:xfrm>
            <a:off x="2426170" y="3569208"/>
            <a:ext cx="450327" cy="920496"/>
          </a:xfrm>
          <a:prstGeom prst="line">
            <a:avLst/>
          </a:prstGeom>
          <a:noFill/>
          <a:ln w="22225">
            <a:solidFill>
              <a:schemeClr val="bg2"/>
            </a:solidFill>
            <a:prstDash val="solid"/>
          </a:ln>
        </p:spPr>
      </p:sp>
      <p:sp>
        <p:nvSpPr>
          <p:cNvPr id="6" name="Kante 3-6"/>
          <p:cNvSpPr/>
          <p:nvPr/>
        </p:nvSpPr>
        <p:spPr>
          <a:xfrm>
            <a:off x="1750680" y="2648712"/>
            <a:ext cx="675490" cy="920496"/>
          </a:xfrm>
          <a:prstGeom prst="line">
            <a:avLst/>
          </a:prstGeom>
          <a:noFill/>
          <a:ln w="22225">
            <a:solidFill>
              <a:schemeClr val="bg2"/>
            </a:solidFill>
            <a:prstDash val="solid"/>
          </a:ln>
        </p:spPr>
      </p:sp>
      <p:sp>
        <p:nvSpPr>
          <p:cNvPr id="7" name="Kante 8-3"/>
          <p:cNvSpPr/>
          <p:nvPr/>
        </p:nvSpPr>
        <p:spPr>
          <a:xfrm flipH="1">
            <a:off x="1750680" y="1728216"/>
            <a:ext cx="1215660" cy="920496"/>
          </a:xfrm>
          <a:prstGeom prst="line">
            <a:avLst/>
          </a:prstGeom>
          <a:noFill/>
          <a:ln w="22225">
            <a:solidFill>
              <a:schemeClr val="bg2"/>
            </a:solidFill>
            <a:prstDash val="solid"/>
          </a:ln>
        </p:spPr>
      </p:sp>
      <p:sp>
        <p:nvSpPr>
          <p:cNvPr id="8" name="Kante 14-13"/>
          <p:cNvSpPr/>
          <p:nvPr/>
        </p:nvSpPr>
        <p:spPr>
          <a:xfrm flipH="1">
            <a:off x="4368500" y="3569208"/>
            <a:ext cx="373001" cy="920496"/>
          </a:xfrm>
          <a:prstGeom prst="line">
            <a:avLst/>
          </a:prstGeom>
          <a:noFill/>
          <a:ln w="22225">
            <a:solidFill>
              <a:schemeClr val="bg2"/>
            </a:solidFill>
            <a:prstDash val="solid"/>
          </a:ln>
        </p:spPr>
      </p:sp>
      <p:sp>
        <p:nvSpPr>
          <p:cNvPr id="9" name="Kante 10-14"/>
          <p:cNvSpPr/>
          <p:nvPr/>
        </p:nvSpPr>
        <p:spPr>
          <a:xfrm>
            <a:off x="4181999" y="2648712"/>
            <a:ext cx="559501" cy="920496"/>
          </a:xfrm>
          <a:prstGeom prst="line">
            <a:avLst/>
          </a:prstGeom>
          <a:noFill/>
          <a:ln w="22225">
            <a:solidFill>
              <a:schemeClr val="bg2"/>
            </a:solidFill>
            <a:prstDash val="solid"/>
          </a:ln>
        </p:spPr>
      </p:sp>
      <p:sp>
        <p:nvSpPr>
          <p:cNvPr id="10" name="Kante 8-10"/>
          <p:cNvSpPr/>
          <p:nvPr/>
        </p:nvSpPr>
        <p:spPr>
          <a:xfrm>
            <a:off x="2966340" y="1728216"/>
            <a:ext cx="1215660" cy="920496"/>
          </a:xfrm>
          <a:prstGeom prst="line">
            <a:avLst/>
          </a:prstGeom>
          <a:noFill/>
          <a:ln w="22225">
            <a:solidFill>
              <a:schemeClr val="bg2"/>
            </a:solidFill>
            <a:prstDash val="solid"/>
          </a:ln>
        </p:spPr>
      </p:sp>
      <p:sp>
        <p:nvSpPr>
          <p:cNvPr id="11" name="Knoten 1"/>
          <p:cNvSpPr txBox="1"/>
          <p:nvPr/>
        </p:nvSpPr>
        <p:spPr>
          <a:xfrm>
            <a:off x="810014" y="3304032"/>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12" name="Knoten 4"/>
          <p:cNvSpPr txBox="1"/>
          <p:nvPr/>
        </p:nvSpPr>
        <p:spPr>
          <a:xfrm>
            <a:off x="1710667" y="4224528"/>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3" name="Knoten 7"/>
          <p:cNvSpPr txBox="1"/>
          <p:nvPr/>
        </p:nvSpPr>
        <p:spPr>
          <a:xfrm>
            <a:off x="2611321" y="4224528"/>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7</a:t>
            </a:r>
            <a:endParaRPr lang="en-US" sz="1800" dirty="0"/>
          </a:p>
        </p:txBody>
      </p:sp>
      <p:sp>
        <p:nvSpPr>
          <p:cNvPr id="14" name="Knoten 6"/>
          <p:cNvSpPr txBox="1"/>
          <p:nvPr/>
        </p:nvSpPr>
        <p:spPr>
          <a:xfrm>
            <a:off x="2160994" y="3304032"/>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6</a:t>
            </a:r>
            <a:endParaRPr lang="en-US" sz="1800" dirty="0"/>
          </a:p>
        </p:txBody>
      </p:sp>
      <p:sp>
        <p:nvSpPr>
          <p:cNvPr id="15" name="Knoten 3"/>
          <p:cNvSpPr txBox="1"/>
          <p:nvPr/>
        </p:nvSpPr>
        <p:spPr>
          <a:xfrm>
            <a:off x="1485504" y="2383536"/>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6" name="Knoten 13"/>
          <p:cNvSpPr txBox="1"/>
          <p:nvPr/>
        </p:nvSpPr>
        <p:spPr>
          <a:xfrm>
            <a:off x="4103324" y="4224528"/>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13</a:t>
            </a:r>
            <a:endParaRPr lang="en-US" sz="1800" dirty="0"/>
          </a:p>
        </p:txBody>
      </p:sp>
      <p:sp>
        <p:nvSpPr>
          <p:cNvPr id="17" name="Knoten 14"/>
          <p:cNvSpPr txBox="1"/>
          <p:nvPr/>
        </p:nvSpPr>
        <p:spPr>
          <a:xfrm>
            <a:off x="4476325" y="3304032"/>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14</a:t>
            </a:r>
            <a:endParaRPr lang="en-US" sz="1800" dirty="0"/>
          </a:p>
        </p:txBody>
      </p:sp>
      <p:sp>
        <p:nvSpPr>
          <p:cNvPr id="18" name="Knoten 10"/>
          <p:cNvSpPr txBox="1"/>
          <p:nvPr/>
        </p:nvSpPr>
        <p:spPr>
          <a:xfrm>
            <a:off x="3916823" y="2383536"/>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10</a:t>
            </a:r>
            <a:endParaRPr lang="en-US" sz="1800" dirty="0"/>
          </a:p>
        </p:txBody>
      </p:sp>
      <p:sp>
        <p:nvSpPr>
          <p:cNvPr id="19" name="Knoten 8"/>
          <p:cNvSpPr txBox="1"/>
          <p:nvPr/>
        </p:nvSpPr>
        <p:spPr>
          <a:xfrm>
            <a:off x="2701164" y="1463040"/>
            <a:ext cx="530352" cy="530352"/>
          </a:xfrm>
          <a:prstGeom prst="ellipse">
            <a:avLst/>
          </a:prstGeom>
          <a:solidFill>
            <a:schemeClr val="bg1"/>
          </a:solidFill>
          <a:ln w="19050">
            <a:solidFill>
              <a:schemeClr val="accent2"/>
            </a:solidFill>
            <a:prstDash val="solid"/>
          </a:ln>
        </p:spPr>
        <p:txBody>
          <a:bodyPr wrap="square" lIns="0" tIns="0" rIns="0" bIns="0" rtlCol="0" anchor="ctr"/>
          <a:lstStyle/>
          <a:p>
            <a:pPr algn="ctr" indent="0" marL="0">
              <a:buNone/>
            </a:pPr>
            <a:r>
              <a:rPr lang="en-US" sz="1800" b="1" dirty="0">
                <a:solidFill>
                  <a:schemeClr val="accent1"/>
                </a:solidFill>
              </a:rPr>
              <a:t>8</a:t>
            </a:r>
            <a:endParaRPr lang="en-US" sz="1800" dirty="0"/>
          </a:p>
        </p:txBody>
      </p:sp>
      <p:sp>
        <p:nvSpPr>
          <p:cNvPr id="20" name="Exit-Ticket"/>
          <p:cNvSpPr/>
          <p:nvPr/>
        </p:nvSpPr>
        <p:spPr>
          <a:xfrm>
            <a:off x="5943600" y="1325880"/>
            <a:ext cx="566928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21" name="Chip"/>
          <p:cNvSpPr txBox="1"/>
          <p:nvPr/>
        </p:nvSpPr>
        <p:spPr>
          <a:xfrm>
            <a:off x="6172200" y="1508760"/>
            <a:ext cx="18288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PAPIER · 6 min</a:t>
            </a:r>
            <a:endParaRPr lang="en-US" sz="1300" dirty="0"/>
          </a:p>
        </p:txBody>
      </p:sp>
      <p:sp>
        <p:nvSpPr>
          <p:cNvPr id="22" name="Text 20"/>
          <p:cNvSpPr txBox="1"/>
          <p:nvPr/>
        </p:nvSpPr>
        <p:spPr>
          <a:xfrm>
            <a:off x="6172200" y="2011680"/>
            <a:ext cx="5257800" cy="3017520"/>
          </a:xfrm>
          <a:prstGeom prst="rect">
            <a:avLst/>
          </a:prstGeom>
          <a:noFill/>
          <a:ln/>
        </p:spPr>
        <p:txBody>
          <a:bodyPr wrap="square" lIns="0" tIns="0" rIns="0" bIns="0" rtlCol="0" anchor="t"/>
          <a:lstStyle/>
          <a:p>
            <a:pPr indent="0" marL="0">
              <a:spcAft>
                <a:spcPts val="1000"/>
              </a:spcAft>
              <a:buNone/>
            </a:pPr>
            <a:r>
              <a:rPr lang="en-US" sz="1700" b="1" dirty="0">
                <a:solidFill>
                  <a:schemeClr val="accent2"/>
                </a:solidFill>
              </a:rPr>
              <a:t>1 </a:t>
            </a:r>
            <a:pPr indent="0" marL="0">
              <a:spcAft>
                <a:spcPts val="1000"/>
              </a:spcAft>
              <a:buNone/>
            </a:pPr>
            <a:r>
              <a:rPr lang="en-US" sz="1700" dirty="0">
                <a:solidFill>
                  <a:schemeClr val="tx1"/>
                </a:solidFill>
              </a:rPr>
              <a:t>Gib den Suchweg und die Anzahl der Vergleiche für suche(b, 13) an.</a:t>
            </a:r>
            <a:endParaRPr lang="en-US" sz="1700" dirty="0"/>
          </a:p>
          <a:p>
            <a:pPr indent="0" marL="0">
              <a:spcAft>
                <a:spcPts val="1000"/>
              </a:spcAft>
              <a:buNone/>
            </a:pPr>
            <a:r>
              <a:rPr lang="en-US" sz="1700" b="1" dirty="0">
                <a:solidFill>
                  <a:schemeClr val="accent2"/>
                </a:solidFill>
              </a:rPr>
              <a:t>2 </a:t>
            </a:r>
            <a:pPr indent="0" marL="0">
              <a:spcAft>
                <a:spcPts val="1000"/>
              </a:spcAft>
              <a:buNone/>
            </a:pPr>
            <a:r>
              <a:rPr lang="en-US" sz="1700" dirty="0">
                <a:solidFill>
                  <a:schemeClr val="tx1"/>
                </a:solidFill>
              </a:rPr>
              <a:t>Füge 9 ein. Wo landet sie? Begründe mit dem Suchweg.</a:t>
            </a:r>
            <a:endParaRPr lang="en-US" sz="1700" dirty="0"/>
          </a:p>
          <a:p>
            <a:pPr indent="0" marL="0">
              <a:spcAft>
                <a:spcPts val="1000"/>
              </a:spcAft>
              <a:buNone/>
            </a:pPr>
            <a:r>
              <a:rPr lang="en-US" sz="1700" b="1" dirty="0">
                <a:solidFill>
                  <a:schemeClr val="accent2"/>
                </a:solidFill>
              </a:rPr>
              <a:t>3 </a:t>
            </a:r>
            <a:pPr indent="0" marL="0">
              <a:spcAft>
                <a:spcPts val="1000"/>
              </a:spcAft>
              <a:buNone/>
            </a:pPr>
            <a:r>
              <a:rPr lang="en-US" sz="1700" dirty="0">
                <a:solidFill>
                  <a:schemeClr val="tx1"/>
                </a:solidFill>
              </a:rPr>
              <a:t>Lösche 6 aus dem ursprünglichen Baum mit dem Nachfolger. Zeichne den neuen Baum.</a:t>
            </a:r>
            <a:endParaRPr lang="en-US" sz="1700" dirty="0"/>
          </a:p>
        </p:txBody>
      </p:sp>
      <p:sp>
        <p:nvSpPr>
          <p:cNvPr id="23" name="Text 21"/>
          <p:cNvSpPr txBox="1"/>
          <p:nvPr/>
        </p:nvSpPr>
        <p:spPr>
          <a:xfrm>
            <a:off x="6172200" y="4937760"/>
            <a:ext cx="5257800" cy="1051560"/>
          </a:xfrm>
          <a:prstGeom prst="rect">
            <a:avLst/>
          </a:prstGeom>
          <a:noFill/>
          <a:ln/>
        </p:spPr>
        <p:txBody>
          <a:bodyPr wrap="square" lIns="0" tIns="0" rIns="0" bIns="0" rtlCol="0" anchor="ctr"/>
          <a:lstStyle/>
          <a:p>
            <a:pPr indent="0" marL="0">
              <a:buNone/>
            </a:pPr>
            <a:r>
              <a:rPr lang="en-US" sz="1500" b="1" dirty="0">
                <a:solidFill>
                  <a:schemeClr val="accent1"/>
                </a:solidFill>
              </a:rPr>
              <a:t>Selbstcheck: </a:t>
            </a:r>
            <a:pPr indent="0" marL="0">
              <a:buNone/>
            </a:pPr>
            <a:r>
              <a:rPr lang="en-US" sz="1500" dirty="0">
                <a:solidFill>
                  <a:schemeClr val="tx1"/>
                </a:solidFill>
              </a:rPr>
              <a:t>Ist die inorder deines neuen Baums sortiert?</a:t>
            </a:r>
            <a:endParaRPr lang="en-US" sz="1500" dirty="0"/>
          </a:p>
          <a:p>
            <a:pPr indent="0" marL="0">
              <a:buNone/>
            </a:pPr>
            <a:r>
              <a:rPr lang="en-US" sz="1500" b="1" dirty="0">
                <a:solidFill>
                  <a:schemeClr val="accent2"/>
                </a:solidFill>
              </a:rPr>
              <a:t>Sicherung: </a:t>
            </a:r>
            <a:pPr indent="0" marL="0">
              <a:buNone/>
            </a:pPr>
            <a:r>
              <a:rPr lang="en-US" sz="1500" dirty="0">
                <a:solidFill>
                  <a:schemeClr val="tx1"/>
                </a:solidFill>
              </a:rPr>
              <a:t>Warm-up W5-11 · W5-12</a:t>
            </a:r>
            <a:endParaRPr lang="en-US" sz="1500" dirty="0"/>
          </a:p>
        </p:txBody>
      </p:sp>
      <p:sp>
        <p:nvSpPr>
          <p:cNvPr id="24" name="Text 22"/>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34 · Exit-Ticket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Einstieg: Die Item-Datenbank wird langsam</a:t>
            </a:r>
            <a:endParaRPr lang="en-US" sz="3600" dirty="0"/>
          </a:p>
        </p:txBody>
      </p:sp>
      <p:sp>
        <p:nvSpPr>
          <p:cNvPr id="3" name="Papier-Kata"/>
          <p:cNvSpPr/>
          <p:nvPr/>
        </p:nvSpPr>
        <p:spPr>
          <a:xfrm>
            <a:off x="548640" y="1325880"/>
            <a:ext cx="640080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Chip"/>
          <p:cNvSpPr txBox="1"/>
          <p:nvPr/>
        </p:nvSpPr>
        <p:spPr>
          <a:xfrm>
            <a:off x="777240" y="1508760"/>
            <a:ext cx="301752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PAPIER · ohne Gerät · 10 min</a:t>
            </a:r>
            <a:endParaRPr lang="en-US" sz="1400" dirty="0"/>
          </a:p>
        </p:txBody>
      </p:sp>
      <p:sp>
        <p:nvSpPr>
          <p:cNvPr id="5" name="Text 3"/>
          <p:cNvSpPr txBox="1"/>
          <p:nvPr/>
        </p:nvSpPr>
        <p:spPr>
          <a:xfrm>
            <a:off x="777240" y="2011680"/>
            <a:ext cx="5943600" cy="384048"/>
          </a:xfrm>
          <a:prstGeom prst="rect">
            <a:avLst/>
          </a:prstGeom>
          <a:noFill/>
          <a:ln/>
        </p:spPr>
        <p:txBody>
          <a:bodyPr wrap="square" lIns="0" tIns="0" rIns="0" bIns="0" rtlCol="0" anchor="t"/>
          <a:lstStyle/>
          <a:p>
            <a:pPr indent="0" marL="0">
              <a:buNone/>
            </a:pPr>
            <a:r>
              <a:rPr lang="en-US" sz="2000" b="1" dirty="0">
                <a:solidFill>
                  <a:schemeClr val="accent1"/>
                </a:solidFill>
              </a:rPr>
              <a:t>Papier-Warm-up W5-13: Krumm oder buschig?</a:t>
            </a:r>
            <a:endParaRPr lang="en-US" sz="2000" dirty="0"/>
          </a:p>
        </p:txBody>
      </p:sp>
      <p:sp>
        <p:nvSpPr>
          <p:cNvPr id="6" name="Text 4"/>
          <p:cNvSpPr txBox="1"/>
          <p:nvPr/>
        </p:nvSpPr>
        <p:spPr>
          <a:xfrm>
            <a:off x="777240" y="2514600"/>
            <a:ext cx="5943600" cy="777240"/>
          </a:xfrm>
          <a:prstGeom prst="rect">
            <a:avLst/>
          </a:prstGeom>
          <a:noFill/>
          <a:ln/>
        </p:spPr>
        <p:txBody>
          <a:bodyPr wrap="square" lIns="0" tIns="0" rIns="0" bIns="0" rtlCol="0" anchor="t"/>
          <a:lstStyle/>
          <a:p>
            <a:pPr indent="0" marL="0">
              <a:buNone/>
            </a:pPr>
            <a:r>
              <a:rPr lang="en-US" sz="1600" dirty="0">
                <a:solidFill>
                  <a:schemeClr val="tx1"/>
                </a:solidFill>
              </a:rPr>
              <a:t>Die Items kommen sortiert an. Füge in einen leeren Suchbaum ein:</a:t>
            </a:r>
            <a:endParaRPr lang="en-US" sz="1600" dirty="0"/>
          </a:p>
          <a:p>
            <a:pPr indent="0" marL="0">
              <a:buNone/>
            </a:pPr>
            <a:r>
              <a:rPr lang="en-US" sz="1800" b="1" dirty="0">
                <a:solidFill>
                  <a:schemeClr val="accent1"/>
                </a:solidFill>
                <a:latin typeface="Consolas" pitchFamily="34" charset="0"/>
                <a:ea typeface="Consolas" pitchFamily="34" charset="-122"/>
                <a:cs typeface="Consolas" pitchFamily="34" charset="-120"/>
              </a:rPr>
              <a:t>1, 2, 3, 4, 5</a:t>
            </a:r>
            <a:endParaRPr lang="en-US" sz="1600" dirty="0"/>
          </a:p>
        </p:txBody>
      </p:sp>
      <p:sp>
        <p:nvSpPr>
          <p:cNvPr id="7" name="Text 5"/>
          <p:cNvSpPr txBox="1"/>
          <p:nvPr/>
        </p:nvSpPr>
        <p:spPr>
          <a:xfrm>
            <a:off x="777240" y="3429000"/>
            <a:ext cx="5943600" cy="256032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a) </a:t>
            </a:r>
            <a:pPr indent="0" marL="0">
              <a:spcAft>
                <a:spcPts val="600"/>
              </a:spcAft>
              <a:buNone/>
            </a:pPr>
            <a:r>
              <a:rPr lang="en-US" sz="1600" dirty="0">
                <a:solidFill>
                  <a:schemeClr val="tx1"/>
                </a:solidFill>
              </a:rPr>
              <a:t>Zeichne den entstehenden Baum und den Baum ausgeglichenAus für r = {1, 2, 3, 4, 5}. Gib jeweils die Höhe an.</a:t>
            </a:r>
            <a:endParaRPr lang="en-US" sz="1600" dirty="0"/>
          </a:p>
          <a:p>
            <a:pPr indent="0" marL="0">
              <a:spcAft>
                <a:spcPts val="600"/>
              </a:spcAft>
              <a:buNone/>
            </a:pPr>
            <a:r>
              <a:rPr lang="en-US" sz="1600" b="1" dirty="0">
                <a:solidFill>
                  <a:schemeClr val="accent2"/>
                </a:solidFill>
              </a:rPr>
              <a:t>b) </a:t>
            </a:r>
            <a:pPr indent="0" marL="0">
              <a:spcAft>
                <a:spcPts val="600"/>
              </a:spcAft>
              <a:buNone/>
            </a:pPr>
            <a:r>
              <a:rPr lang="en-US" sz="1600" dirty="0">
                <a:solidFill>
                  <a:schemeClr val="tx1"/>
                </a:solidFill>
              </a:rPr>
              <a:t>Die maximale Anzahl der Vergleiche ist die Höhe. Gib sie für n = 7, 15, 31 und 1023 an – entartet und ausgeglichen. Was bewirkt eine Verdopplung von n?</a:t>
            </a:r>
            <a:endParaRPr lang="en-US" sz="1600" dirty="0"/>
          </a:p>
        </p:txBody>
      </p:sp>
      <p:sp>
        <p:nvSpPr>
          <p:cNvPr id="8" name="Icon-Kreis"/>
          <p:cNvSpPr/>
          <p:nvPr/>
        </p:nvSpPr>
        <p:spPr>
          <a:xfrm>
            <a:off x="7909560" y="1463040"/>
            <a:ext cx="1463040" cy="1463040"/>
          </a:xfrm>
          <a:prstGeom prst="ellipse">
            <a:avLst/>
          </a:prstGeom>
          <a:solidFill>
            <a:schemeClr val="accent1"/>
          </a:solidFill>
          <a:ln w="38100">
            <a:solidFill>
              <a:schemeClr val="accent2"/>
            </a:solidFill>
            <a:prstDash val="solid"/>
          </a:ln>
        </p:spPr>
      </p:sp>
      <p:pic>
        <p:nvPicPr>
          <p:cNvPr id="9" name="Icon GiDeadWood" descr="preencoded.png">    </p:cNvPr>
          <p:cNvPicPr>
            <a:picLocks noChangeAspect="1"/>
          </p:cNvPicPr>
          <p:nvPr/>
        </p:nvPicPr>
        <p:blipFill>
          <a:blip r:embed="rId1"/>
          <a:stretch>
            <a:fillRect/>
          </a:stretch>
        </p:blipFill>
        <p:spPr>
          <a:xfrm>
            <a:off x="8231429" y="1784909"/>
            <a:ext cx="819302" cy="819302"/>
          </a:xfrm>
          <a:prstGeom prst="rect">
            <a:avLst/>
          </a:prstGeom>
        </p:spPr>
      </p:pic>
      <p:sp>
        <p:nvSpPr>
          <p:cNvPr id="10" name="Text 7"/>
          <p:cNvSpPr txBox="1"/>
          <p:nvPr/>
        </p:nvSpPr>
        <p:spPr>
          <a:xfrm>
            <a:off x="7269480" y="3108960"/>
            <a:ext cx="4343400" cy="1463040"/>
          </a:xfrm>
          <a:prstGeom prst="rect">
            <a:avLst/>
          </a:prstGeom>
          <a:noFill/>
          <a:ln/>
        </p:spPr>
        <p:txBody>
          <a:bodyPr wrap="square" lIns="0" tIns="0" rIns="0" bIns="0" rtlCol="0" anchor="t"/>
          <a:lstStyle/>
          <a:p>
            <a:pPr algn="ctr" indent="0" marL="0">
              <a:buNone/>
            </a:pPr>
            <a:r>
              <a:rPr lang="en-US" sz="1900" b="1" dirty="0">
                <a:solidFill>
                  <a:schemeClr val="accent1"/>
                </a:solidFill>
              </a:rPr>
              <a:t>Bug-Report der Spieler</a:t>
            </a:r>
            <a:endParaRPr lang="en-US" sz="1800" dirty="0"/>
          </a:p>
          <a:p>
            <a:pPr algn="ctr" indent="0" marL="0">
              <a:buNone/>
            </a:pPr>
            <a:r>
              <a:rPr lang="en-US" sz="1500" dirty="0">
                <a:solidFill>
                  <a:schemeClr val="tx1"/>
                </a:solidFill>
              </a:rPr>
              <a:t>„Seit dem Update dauert die Item-Suche ewig!“ – Das Update hat alle Items nach Nummer sortiert eingetragen.</a:t>
            </a:r>
            <a:endParaRPr lang="en-US" sz="1800" dirty="0"/>
          </a:p>
        </p:txBody>
      </p:sp>
      <p:sp>
        <p:nvSpPr>
          <p:cNvPr id="11" name="Leitfrage"/>
          <p:cNvSpPr/>
          <p:nvPr/>
        </p:nvSpPr>
        <p:spPr>
          <a:xfrm>
            <a:off x="7269480" y="4846320"/>
            <a:ext cx="4343400" cy="1280160"/>
          </a:xfrm>
          <a:prstGeom prst="roundRect">
            <a:avLst>
              <a:gd name="adj" fmla="val 8571"/>
            </a:avLst>
          </a:prstGeom>
          <a:solidFill>
            <a:schemeClr val="bg2"/>
          </a:solidFill>
          <a:ln/>
        </p:spPr>
      </p:sp>
      <p:sp>
        <p:nvSpPr>
          <p:cNvPr id="12" name="Text 9"/>
          <p:cNvSpPr txBox="1"/>
          <p:nvPr/>
        </p:nvSpPr>
        <p:spPr>
          <a:xfrm>
            <a:off x="7470648" y="4846320"/>
            <a:ext cx="3977640" cy="1280160"/>
          </a:xfrm>
          <a:prstGeom prst="rect">
            <a:avLst/>
          </a:prstGeom>
          <a:noFill/>
          <a:ln/>
        </p:spPr>
        <p:txBody>
          <a:bodyPr wrap="square" lIns="0" tIns="0" rIns="0" bIns="0" rtlCol="0" anchor="ctr"/>
          <a:lstStyle/>
          <a:p>
            <a:pPr indent="0" marL="0">
              <a:buNone/>
            </a:pPr>
            <a:r>
              <a:rPr lang="en-US" sz="1600" b="1" dirty="0">
                <a:solidFill>
                  <a:schemeClr val="accent1"/>
                </a:solidFill>
              </a:rPr>
              <a:t>Leitfrage: </a:t>
            </a:r>
            <a:pPr indent="0" marL="0">
              <a:buNone/>
            </a:pPr>
            <a:r>
              <a:rPr lang="en-US" sz="1600" dirty="0">
                <a:solidFill>
                  <a:schemeClr val="tx1"/>
                </a:solidFill>
              </a:rPr>
              <a:t>Hängt der Aufwand der Suche von der Anzahl der Items ab – oder von der Form des Baums?</a:t>
            </a:r>
            <a:endParaRPr lang="en-US" sz="1600" dirty="0"/>
          </a:p>
        </p:txBody>
      </p:sp>
      <p:sp>
        <p:nvSpPr>
          <p:cNvPr id="13" name="Text 1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35 · Einstieg · Warm-up W5-13</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Entartet oder ausgeglichen? Die Form entscheidet</a:t>
            </a:r>
            <a:endParaRPr lang="en-US" sz="3600" dirty="0"/>
          </a:p>
        </p:txBody>
      </p:sp>
      <p:sp>
        <p:nvSpPr>
          <p:cNvPr id="3" name="Chip"/>
          <p:cNvSpPr txBox="1"/>
          <p:nvPr/>
        </p:nvSpPr>
        <p:spPr>
          <a:xfrm>
            <a:off x="548640" y="1325880"/>
            <a:ext cx="274320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bg1"/>
                </a:solidFill>
              </a:rPr>
              <a:t>entartet() · Höhe 5</a:t>
            </a:r>
            <a:endParaRPr lang="en-US" sz="1400" dirty="0"/>
          </a:p>
        </p:txBody>
      </p:sp>
      <p:sp>
        <p:nvSpPr>
          <p:cNvPr id="4" name="Kante 4-5"/>
          <p:cNvSpPr/>
          <p:nvPr/>
        </p:nvSpPr>
        <p:spPr>
          <a:xfrm>
            <a:off x="2586225" y="4192524"/>
            <a:ext cx="312498" cy="717804"/>
          </a:xfrm>
          <a:prstGeom prst="line">
            <a:avLst/>
          </a:prstGeom>
          <a:noFill/>
          <a:ln w="22225">
            <a:solidFill>
              <a:schemeClr val="accent1"/>
            </a:solidFill>
            <a:prstDash val="solid"/>
          </a:ln>
        </p:spPr>
      </p:sp>
      <p:sp>
        <p:nvSpPr>
          <p:cNvPr id="5" name="Kante 3-4"/>
          <p:cNvSpPr/>
          <p:nvPr/>
        </p:nvSpPr>
        <p:spPr>
          <a:xfrm>
            <a:off x="2185355" y="3474720"/>
            <a:ext cx="400870" cy="717804"/>
          </a:xfrm>
          <a:prstGeom prst="line">
            <a:avLst/>
          </a:prstGeom>
          <a:noFill/>
          <a:ln w="22225">
            <a:solidFill>
              <a:schemeClr val="accent1"/>
            </a:solidFill>
            <a:prstDash val="solid"/>
          </a:ln>
        </p:spPr>
      </p:sp>
      <p:sp>
        <p:nvSpPr>
          <p:cNvPr id="6" name="Kante 2-3"/>
          <p:cNvSpPr/>
          <p:nvPr/>
        </p:nvSpPr>
        <p:spPr>
          <a:xfrm>
            <a:off x="1740299" y="2756916"/>
            <a:ext cx="445056" cy="717804"/>
          </a:xfrm>
          <a:prstGeom prst="line">
            <a:avLst/>
          </a:prstGeom>
          <a:noFill/>
          <a:ln w="22225">
            <a:solidFill>
              <a:schemeClr val="accent1"/>
            </a:solidFill>
            <a:prstDash val="solid"/>
          </a:ln>
        </p:spPr>
      </p:sp>
      <p:sp>
        <p:nvSpPr>
          <p:cNvPr id="7" name="Kante 1-2"/>
          <p:cNvSpPr/>
          <p:nvPr/>
        </p:nvSpPr>
        <p:spPr>
          <a:xfrm>
            <a:off x="1273151" y="2039112"/>
            <a:ext cx="467149" cy="717804"/>
          </a:xfrm>
          <a:prstGeom prst="line">
            <a:avLst/>
          </a:prstGeom>
          <a:noFill/>
          <a:ln w="22225">
            <a:solidFill>
              <a:schemeClr val="accent1"/>
            </a:solidFill>
            <a:prstDash val="solid"/>
          </a:ln>
        </p:spPr>
      </p:sp>
      <p:sp>
        <p:nvSpPr>
          <p:cNvPr id="8" name="Knoten 5"/>
          <p:cNvSpPr txBox="1"/>
          <p:nvPr/>
        </p:nvSpPr>
        <p:spPr>
          <a:xfrm>
            <a:off x="2688411" y="4700016"/>
            <a:ext cx="420624" cy="420624"/>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500" b="1" dirty="0">
                <a:solidFill>
                  <a:schemeClr val="accent4"/>
                </a:solidFill>
              </a:rPr>
              <a:t>5</a:t>
            </a:r>
            <a:endParaRPr lang="en-US" sz="1500" dirty="0"/>
          </a:p>
        </p:txBody>
      </p:sp>
      <p:sp>
        <p:nvSpPr>
          <p:cNvPr id="9" name="Knoten 4"/>
          <p:cNvSpPr txBox="1"/>
          <p:nvPr/>
        </p:nvSpPr>
        <p:spPr>
          <a:xfrm>
            <a:off x="2375913" y="3982212"/>
            <a:ext cx="420624" cy="420624"/>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500" b="1" dirty="0">
                <a:solidFill>
                  <a:schemeClr val="accent4"/>
                </a:solidFill>
              </a:rPr>
              <a:t>4</a:t>
            </a:r>
            <a:endParaRPr lang="en-US" sz="1500" dirty="0"/>
          </a:p>
        </p:txBody>
      </p:sp>
      <p:sp>
        <p:nvSpPr>
          <p:cNvPr id="10" name="Knoten 3"/>
          <p:cNvSpPr txBox="1"/>
          <p:nvPr/>
        </p:nvSpPr>
        <p:spPr>
          <a:xfrm>
            <a:off x="1975043" y="3264408"/>
            <a:ext cx="420624" cy="420624"/>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500" b="1" dirty="0">
                <a:solidFill>
                  <a:schemeClr val="accent4"/>
                </a:solidFill>
              </a:rPr>
              <a:t>3</a:t>
            </a:r>
            <a:endParaRPr lang="en-US" sz="1500" dirty="0"/>
          </a:p>
        </p:txBody>
      </p:sp>
      <p:sp>
        <p:nvSpPr>
          <p:cNvPr id="11" name="Knoten 2"/>
          <p:cNvSpPr txBox="1"/>
          <p:nvPr/>
        </p:nvSpPr>
        <p:spPr>
          <a:xfrm>
            <a:off x="1529987" y="2546604"/>
            <a:ext cx="420624" cy="420624"/>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500" b="1" dirty="0">
                <a:solidFill>
                  <a:schemeClr val="accent4"/>
                </a:solidFill>
              </a:rPr>
              <a:t>2</a:t>
            </a:r>
            <a:endParaRPr lang="en-US" sz="1500" dirty="0"/>
          </a:p>
        </p:txBody>
      </p:sp>
      <p:sp>
        <p:nvSpPr>
          <p:cNvPr id="12" name="Knoten 1"/>
          <p:cNvSpPr txBox="1"/>
          <p:nvPr/>
        </p:nvSpPr>
        <p:spPr>
          <a:xfrm>
            <a:off x="1062839" y="1828800"/>
            <a:ext cx="420624" cy="420624"/>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500" b="1" dirty="0">
                <a:solidFill>
                  <a:schemeClr val="accent4"/>
                </a:solidFill>
              </a:rPr>
              <a:t>1</a:t>
            </a:r>
            <a:endParaRPr lang="en-US" sz="1500" dirty="0"/>
          </a:p>
        </p:txBody>
      </p:sp>
      <p:sp>
        <p:nvSpPr>
          <p:cNvPr id="13" name="Chip"/>
          <p:cNvSpPr txBox="1"/>
          <p:nvPr/>
        </p:nvSpPr>
        <p:spPr>
          <a:xfrm>
            <a:off x="3520440" y="1325880"/>
            <a:ext cx="274320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ausgeglichen · Höhe 3</a:t>
            </a:r>
            <a:endParaRPr lang="en-US" sz="1400" dirty="0"/>
          </a:p>
        </p:txBody>
      </p:sp>
      <p:sp>
        <p:nvSpPr>
          <p:cNvPr id="14" name="Kante 1-2"/>
          <p:cNvSpPr/>
          <p:nvPr/>
        </p:nvSpPr>
        <p:spPr>
          <a:xfrm>
            <a:off x="4131642" y="2834640"/>
            <a:ext cx="344312" cy="795528"/>
          </a:xfrm>
          <a:prstGeom prst="line">
            <a:avLst/>
          </a:prstGeom>
          <a:noFill/>
          <a:ln w="22225">
            <a:solidFill>
              <a:schemeClr val="accent1"/>
            </a:solidFill>
            <a:prstDash val="solid"/>
          </a:ln>
        </p:spPr>
      </p:sp>
      <p:sp>
        <p:nvSpPr>
          <p:cNvPr id="15" name="Kante 3-1"/>
          <p:cNvSpPr/>
          <p:nvPr/>
        </p:nvSpPr>
        <p:spPr>
          <a:xfrm flipH="1">
            <a:off x="4131642" y="2039112"/>
            <a:ext cx="688623" cy="795528"/>
          </a:xfrm>
          <a:prstGeom prst="line">
            <a:avLst/>
          </a:prstGeom>
          <a:noFill/>
          <a:ln w="22225">
            <a:solidFill>
              <a:schemeClr val="accent1"/>
            </a:solidFill>
            <a:prstDash val="solid"/>
          </a:ln>
        </p:spPr>
      </p:sp>
      <p:sp>
        <p:nvSpPr>
          <p:cNvPr id="16" name="Kante 4-5"/>
          <p:cNvSpPr/>
          <p:nvPr/>
        </p:nvSpPr>
        <p:spPr>
          <a:xfrm>
            <a:off x="5508888" y="2834640"/>
            <a:ext cx="344312" cy="795528"/>
          </a:xfrm>
          <a:prstGeom prst="line">
            <a:avLst/>
          </a:prstGeom>
          <a:noFill/>
          <a:ln w="22225">
            <a:solidFill>
              <a:schemeClr val="accent1"/>
            </a:solidFill>
            <a:prstDash val="solid"/>
          </a:ln>
        </p:spPr>
      </p:sp>
      <p:sp>
        <p:nvSpPr>
          <p:cNvPr id="17" name="Kante 3-4"/>
          <p:cNvSpPr/>
          <p:nvPr/>
        </p:nvSpPr>
        <p:spPr>
          <a:xfrm>
            <a:off x="4820265" y="2039112"/>
            <a:ext cx="688623" cy="795528"/>
          </a:xfrm>
          <a:prstGeom prst="line">
            <a:avLst/>
          </a:prstGeom>
          <a:noFill/>
          <a:ln w="22225">
            <a:solidFill>
              <a:schemeClr val="accent1"/>
            </a:solidFill>
            <a:prstDash val="solid"/>
          </a:ln>
        </p:spPr>
      </p:sp>
      <p:sp>
        <p:nvSpPr>
          <p:cNvPr id="18" name="Knoten 2"/>
          <p:cNvSpPr txBox="1"/>
          <p:nvPr/>
        </p:nvSpPr>
        <p:spPr>
          <a:xfrm>
            <a:off x="4265641" y="34198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2</a:t>
            </a:r>
            <a:endParaRPr lang="en-US" sz="1500" dirty="0"/>
          </a:p>
        </p:txBody>
      </p:sp>
      <p:sp>
        <p:nvSpPr>
          <p:cNvPr id="19" name="Knoten 1"/>
          <p:cNvSpPr txBox="1"/>
          <p:nvPr/>
        </p:nvSpPr>
        <p:spPr>
          <a:xfrm>
            <a:off x="3921330" y="2624328"/>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20" name="Knoten 5"/>
          <p:cNvSpPr txBox="1"/>
          <p:nvPr/>
        </p:nvSpPr>
        <p:spPr>
          <a:xfrm>
            <a:off x="5642888" y="3419856"/>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5</a:t>
            </a:r>
            <a:endParaRPr lang="en-US" sz="1500" dirty="0"/>
          </a:p>
        </p:txBody>
      </p:sp>
      <p:sp>
        <p:nvSpPr>
          <p:cNvPr id="21" name="Knoten 4"/>
          <p:cNvSpPr txBox="1"/>
          <p:nvPr/>
        </p:nvSpPr>
        <p:spPr>
          <a:xfrm>
            <a:off x="5298576" y="2624328"/>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22" name="Knoten 3"/>
          <p:cNvSpPr txBox="1"/>
          <p:nvPr/>
        </p:nvSpPr>
        <p:spPr>
          <a:xfrm>
            <a:off x="4609953" y="1828800"/>
            <a:ext cx="420624" cy="420624"/>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23" name="Text 21"/>
          <p:cNvSpPr txBox="1"/>
          <p:nvPr/>
        </p:nvSpPr>
        <p:spPr>
          <a:xfrm>
            <a:off x="3520440" y="4023360"/>
            <a:ext cx="2743200" cy="640080"/>
          </a:xfrm>
          <a:prstGeom prst="rect">
            <a:avLst/>
          </a:prstGeom>
          <a:noFill/>
          <a:ln/>
        </p:spPr>
        <p:txBody>
          <a:bodyPr wrap="square" lIns="0" tIns="0" rIns="0" bIns="0" rtlCol="0" anchor="t"/>
          <a:lstStyle/>
          <a:p>
            <a:pPr algn="ctr" indent="0" marL="0">
              <a:buNone/>
            </a:pPr>
            <a:r>
              <a:rPr lang="en-US" sz="1300" i="1" dirty="0">
                <a:solidFill>
                  <a:schemeClr val="accent6"/>
                </a:solidFill>
              </a:rPr>
              <a:t>gleiche Werte 1 … 5, andere Einfügereihenfolge (3, 1, 4, 2, 5)</a:t>
            </a:r>
            <a:endParaRPr lang="en-US" sz="1300" dirty="0"/>
          </a:p>
        </p:txBody>
      </p:sp>
      <p:sp>
        <p:nvSpPr>
          <p:cNvPr id="24" name="Text 22"/>
          <p:cNvSpPr txBox="1"/>
          <p:nvPr/>
        </p:nvSpPr>
        <p:spPr>
          <a:xfrm>
            <a:off x="6583680" y="1325880"/>
            <a:ext cx="5029200" cy="365760"/>
          </a:xfrm>
          <a:prstGeom prst="rect">
            <a:avLst/>
          </a:prstGeom>
          <a:noFill/>
          <a:ln/>
        </p:spPr>
        <p:txBody>
          <a:bodyPr wrap="square" lIns="0" tIns="0" rIns="0" bIns="0" rtlCol="0" anchor="t"/>
          <a:lstStyle/>
          <a:p>
            <a:pPr indent="0" marL="0">
              <a:buNone/>
            </a:pPr>
            <a:r>
              <a:rPr lang="en-US" sz="1600" b="1" dirty="0">
                <a:solidFill>
                  <a:schemeClr val="accent1"/>
                </a:solidFill>
              </a:rPr>
              <a:t>höchstens nötige Vergleiche (= Höhe)</a:t>
            </a:r>
            <a:endParaRPr lang="en-US" sz="1600" dirty="0"/>
          </a:p>
        </p:txBody>
      </p:sp>
      <p:graphicFrame>
        <p:nvGraphicFramePr>
          <p:cNvPr id="36" name="Verdopplung"/>
          <p:cNvGraphicFramePr>
            <a:graphicFrameLocks noGrp="1"/>
          </p:cNvGraphicFramePr>
          <p:nvPr>
            <p:extLst>
              <p:ext uri="{D42A27DB-BD31-4B8C-83A1-F6EECF244321}">
                <p14:modId xmlns:p14="http://schemas.microsoft.com/office/powerpoint/2010/main" val="1579011935"/>
              </p:ext>
            </p:extLst>
          </p:nvPr>
        </p:nvGraphicFramePr>
        <p:xfrm>
          <a:off x="6583680" y="1737360"/>
          <a:ext cx="5029200" cy="914400"/>
        </p:xfrm>
        <a:graphic>
          <a:graphicData uri="http://schemas.openxmlformats.org/drawingml/2006/table">
            <a:tbl>
              <a:tblPr/>
              <a:tblGrid>
                <a:gridCol w="1737360"/>
                <a:gridCol w="1645920"/>
                <a:gridCol w="1645920"/>
              </a:tblGrid>
              <a:tr h="393192">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n Items</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ausgeglichen</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entartet</a:t>
                      </a:r>
                      <a:endParaRPr lang="en-US" sz="14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93192">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31</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31</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1 023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1 023</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2 047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2 047</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2CC"/>
                    </a:solidFill>
                  </a:tcPr>
                </a:tc>
              </a:tr>
              <a:tr h="393192">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4 095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4 095</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393192">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1 000 000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4"/>
                          </a:solidFill>
                          <a:latin typeface="Calibri" pitchFamily="34" charset="0"/>
                          <a:ea typeface="Calibri" pitchFamily="34" charset="-122"/>
                          <a:cs typeface="Calibri" pitchFamily="34" charset="-120"/>
                        </a:rPr>
                        <a:t>1 000 000</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26" name="Entartet"/>
          <p:cNvSpPr/>
          <p:nvPr/>
        </p:nvSpPr>
        <p:spPr>
          <a:xfrm>
            <a:off x="548640" y="5257800"/>
            <a:ext cx="5760720" cy="868680"/>
          </a:xfrm>
          <a:prstGeom prst="roundRect">
            <a:avLst>
              <a:gd name="adj" fmla="val 12632"/>
            </a:avLst>
          </a:prstGeom>
          <a:solidFill>
            <a:schemeClr val="bg1"/>
          </a:solidFill>
          <a:ln w="25400">
            <a:solidFill>
              <a:schemeClr val="accent4"/>
            </a:solidFill>
            <a:prstDash val="solid"/>
          </a:ln>
        </p:spPr>
      </p:sp>
      <p:sp>
        <p:nvSpPr>
          <p:cNvPr id="27" name="Text 24"/>
          <p:cNvSpPr txBox="1"/>
          <p:nvPr/>
        </p:nvSpPr>
        <p:spPr>
          <a:xfrm>
            <a:off x="749808" y="5257800"/>
            <a:ext cx="5394960" cy="868680"/>
          </a:xfrm>
          <a:prstGeom prst="rect">
            <a:avLst/>
          </a:prstGeom>
          <a:noFill/>
          <a:ln/>
        </p:spPr>
        <p:txBody>
          <a:bodyPr wrap="square" lIns="0" tIns="0" rIns="0" bIns="0" rtlCol="0" anchor="ctr"/>
          <a:lstStyle/>
          <a:p>
            <a:pPr indent="0" marL="0">
              <a:buNone/>
            </a:pPr>
            <a:r>
              <a:rPr lang="en-US" sz="1500" b="1" dirty="0">
                <a:solidFill>
                  <a:schemeClr val="accent4"/>
                </a:solidFill>
              </a:rPr>
              <a:t>Entartet = Liste: </a:t>
            </a:r>
            <a:pPr indent="0" marL="0">
              <a:buNone/>
            </a:pPr>
            <a:r>
              <a:rPr lang="en-US" sz="1500" dirty="0">
                <a:solidFill>
                  <a:schemeClr val="tx1"/>
                </a:solidFill>
              </a:rPr>
              <a:t>jeder Knoten hat höchstens ein Kind – Suchen wie in einer Reihung.</a:t>
            </a:r>
            <a:endParaRPr lang="en-US" sz="1500" dirty="0"/>
          </a:p>
        </p:txBody>
      </p:sp>
      <p:sp>
        <p:nvSpPr>
          <p:cNvPr id="28" name="Verdopplung"/>
          <p:cNvSpPr/>
          <p:nvPr/>
        </p:nvSpPr>
        <p:spPr>
          <a:xfrm>
            <a:off x="6583680" y="5074920"/>
            <a:ext cx="5029200" cy="1051560"/>
          </a:xfrm>
          <a:prstGeom prst="roundRect">
            <a:avLst>
              <a:gd name="adj" fmla="val 10435"/>
            </a:avLst>
          </a:prstGeom>
          <a:solidFill>
            <a:schemeClr val="bg1"/>
          </a:solidFill>
          <a:ln w="25400">
            <a:solidFill>
              <a:schemeClr val="accent3"/>
            </a:solidFill>
            <a:prstDash val="solid"/>
          </a:ln>
        </p:spPr>
      </p:sp>
      <p:sp>
        <p:nvSpPr>
          <p:cNvPr id="29" name="Text 26"/>
          <p:cNvSpPr txBox="1"/>
          <p:nvPr/>
        </p:nvSpPr>
        <p:spPr>
          <a:xfrm>
            <a:off x="6784848" y="5074920"/>
            <a:ext cx="4663440" cy="1051560"/>
          </a:xfrm>
          <a:prstGeom prst="rect">
            <a:avLst/>
          </a:prstGeom>
          <a:noFill/>
          <a:ln/>
        </p:spPr>
        <p:txBody>
          <a:bodyPr wrap="square" lIns="0" tIns="0" rIns="0" bIns="0" rtlCol="0" anchor="ctr"/>
          <a:lstStyle/>
          <a:p>
            <a:pPr indent="0" marL="0">
              <a:buNone/>
            </a:pPr>
            <a:r>
              <a:rPr lang="en-US" sz="1500" b="1" dirty="0">
                <a:solidFill>
                  <a:schemeClr val="accent3"/>
                </a:solidFill>
              </a:rPr>
              <a:t>Verdopplung von n → nur 1 Vergleich mehr. </a:t>
            </a:r>
            <a:pPr indent="0" marL="0">
              <a:buNone/>
            </a:pPr>
            <a:r>
              <a:rPr lang="en-US" sz="1500" dirty="0">
                <a:solidFill>
                  <a:schemeClr val="tx1"/>
                </a:solidFill>
              </a:rPr>
              <a:t>Höhe ≈ log₂ n statt n.</a:t>
            </a:r>
            <a:endParaRPr lang="en-US" sz="1500" dirty="0"/>
          </a:p>
        </p:txBody>
      </p:sp>
      <p:sp>
        <p:nvSpPr>
          <p:cNvPr id="30" name="Text 2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35 · Entartet vs. ausgeglichen</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ausgeglichenAus: Die Mitte wird Wurzel – rekursiv</a:t>
            </a:r>
            <a:endParaRPr lang="en-US" sz="3600" dirty="0"/>
          </a:p>
        </p:txBody>
      </p:sp>
      <p:sp>
        <p:nvSpPr>
          <p:cNvPr id="3" name="Code"/>
          <p:cNvSpPr txBox="1"/>
          <p:nvPr/>
        </p:nvSpPr>
        <p:spPr>
          <a:xfrm>
            <a:off x="548640" y="1325880"/>
            <a:ext cx="5577840" cy="2968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ausgeglichenAus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sortiert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ausgeglichenAus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sortiert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0,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sortiert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length</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- 1);</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ausgeglichenAus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&gt;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new</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Bereich leer</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mitte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2;</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new</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mitte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setLeft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ausgeglichenAus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lo</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mitte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- 1));</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setRight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ausgeglichenAus</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mitte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+ 1,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hi</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p:txBody>
      </p:sp>
      <p:sp>
        <p:nvSpPr>
          <p:cNvPr id="4" name="Text 2"/>
          <p:cNvSpPr txBox="1"/>
          <p:nvPr/>
        </p:nvSpPr>
        <p:spPr>
          <a:xfrm>
            <a:off x="6355080" y="1325880"/>
            <a:ext cx="5257800" cy="292608"/>
          </a:xfrm>
          <a:prstGeom prst="rect">
            <a:avLst/>
          </a:prstGeom>
          <a:noFill/>
          <a:ln/>
        </p:spPr>
        <p:txBody>
          <a:bodyPr wrap="square" lIns="0" tIns="0" rIns="0" bIns="0" rtlCol="0" anchor="t"/>
          <a:lstStyle/>
          <a:p>
            <a:pPr indent="0" marL="0">
              <a:buNone/>
            </a:pPr>
            <a:r>
              <a:rPr lang="en-US" sz="1400" b="1" dirty="0">
                <a:solidFill>
                  <a:schemeClr val="accent1"/>
                </a:solidFill>
              </a:rPr>
              <a:t>sortiert = inorder von beispielBST()</a:t>
            </a:r>
            <a:endParaRPr lang="en-US" sz="1400" dirty="0"/>
          </a:p>
        </p:txBody>
      </p:sp>
      <p:sp>
        <p:nvSpPr>
          <p:cNvPr id="5" name="Reihung sortiert 0"/>
          <p:cNvSpPr txBox="1"/>
          <p:nvPr/>
        </p:nvSpPr>
        <p:spPr>
          <a:xfrm>
            <a:off x="6355080" y="1664208"/>
            <a:ext cx="585216" cy="438912"/>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6" name="Reihung sortiert 1"/>
          <p:cNvSpPr txBox="1"/>
          <p:nvPr/>
        </p:nvSpPr>
        <p:spPr>
          <a:xfrm>
            <a:off x="6940296" y="1664208"/>
            <a:ext cx="585216" cy="438912"/>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7" name="Reihung sortiert 2"/>
          <p:cNvSpPr txBox="1"/>
          <p:nvPr/>
        </p:nvSpPr>
        <p:spPr>
          <a:xfrm>
            <a:off x="7525512" y="1664208"/>
            <a:ext cx="585216" cy="438912"/>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8" name="Reihung sortiert 3"/>
          <p:cNvSpPr txBox="1"/>
          <p:nvPr/>
        </p:nvSpPr>
        <p:spPr>
          <a:xfrm>
            <a:off x="8110728" y="1664208"/>
            <a:ext cx="585216" cy="438912"/>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9" name="Reihung sortiert 4"/>
          <p:cNvSpPr txBox="1"/>
          <p:nvPr/>
        </p:nvSpPr>
        <p:spPr>
          <a:xfrm>
            <a:off x="8695944" y="1664208"/>
            <a:ext cx="585216" cy="438912"/>
          </a:xfrm>
          <a:prstGeom prst="rect">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10" name="Reihung sortiert 5"/>
          <p:cNvSpPr txBox="1"/>
          <p:nvPr/>
        </p:nvSpPr>
        <p:spPr>
          <a:xfrm>
            <a:off x="9281160" y="1664208"/>
            <a:ext cx="585216" cy="438912"/>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11" name="Reihung sortiert 6"/>
          <p:cNvSpPr txBox="1"/>
          <p:nvPr/>
        </p:nvSpPr>
        <p:spPr>
          <a:xfrm>
            <a:off x="9866376" y="1664208"/>
            <a:ext cx="585216" cy="438912"/>
          </a:xfrm>
          <a:prstGeom prst="rect">
            <a:avLst/>
          </a:prstGeom>
          <a:solidFill>
            <a:srgbClr val="E2EFDA"/>
          </a:solidFill>
          <a:ln w="15875">
            <a:solidFill>
              <a:schemeClr val="accent3"/>
            </a:solidFill>
            <a:prstDash val="solid"/>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12" name="Reihung sortiert 7"/>
          <p:cNvSpPr txBox="1"/>
          <p:nvPr/>
        </p:nvSpPr>
        <p:spPr>
          <a:xfrm>
            <a:off x="10451592" y="1664208"/>
            <a:ext cx="585216" cy="438912"/>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13" name="Reihung sortiert 8"/>
          <p:cNvSpPr txBox="1"/>
          <p:nvPr/>
        </p:nvSpPr>
        <p:spPr>
          <a:xfrm>
            <a:off x="11036808" y="1664208"/>
            <a:ext cx="585216" cy="438912"/>
          </a:xfrm>
          <a:prstGeom prst="rect">
            <a:avLst/>
          </a:prstGeom>
          <a:solidFill>
            <a:schemeClr val="bg1"/>
          </a:solidFill>
          <a:ln w="15875">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14" name="Text 12"/>
          <p:cNvSpPr txBox="1"/>
          <p:nvPr/>
        </p:nvSpPr>
        <p:spPr>
          <a:xfrm>
            <a:off x="6355080"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15" name="Text 13"/>
          <p:cNvSpPr txBox="1"/>
          <p:nvPr/>
        </p:nvSpPr>
        <p:spPr>
          <a:xfrm>
            <a:off x="6940296"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6" name="Text 14"/>
          <p:cNvSpPr txBox="1"/>
          <p:nvPr/>
        </p:nvSpPr>
        <p:spPr>
          <a:xfrm>
            <a:off x="7525512"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7" name="Text 15"/>
          <p:cNvSpPr txBox="1"/>
          <p:nvPr/>
        </p:nvSpPr>
        <p:spPr>
          <a:xfrm>
            <a:off x="8110728"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8" name="Text 16"/>
          <p:cNvSpPr txBox="1"/>
          <p:nvPr/>
        </p:nvSpPr>
        <p:spPr>
          <a:xfrm>
            <a:off x="8695944"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9" name="Text 17"/>
          <p:cNvSpPr txBox="1"/>
          <p:nvPr/>
        </p:nvSpPr>
        <p:spPr>
          <a:xfrm>
            <a:off x="9281160"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5</a:t>
            </a:r>
            <a:endParaRPr lang="en-US" sz="1300" dirty="0"/>
          </a:p>
        </p:txBody>
      </p:sp>
      <p:sp>
        <p:nvSpPr>
          <p:cNvPr id="20" name="Text 18"/>
          <p:cNvSpPr txBox="1"/>
          <p:nvPr/>
        </p:nvSpPr>
        <p:spPr>
          <a:xfrm>
            <a:off x="9866376"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6</a:t>
            </a:r>
            <a:endParaRPr lang="en-US" sz="1300" dirty="0"/>
          </a:p>
        </p:txBody>
      </p:sp>
      <p:sp>
        <p:nvSpPr>
          <p:cNvPr id="21" name="Text 19"/>
          <p:cNvSpPr txBox="1"/>
          <p:nvPr/>
        </p:nvSpPr>
        <p:spPr>
          <a:xfrm>
            <a:off x="10451592"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7</a:t>
            </a:r>
            <a:endParaRPr lang="en-US" sz="1300" dirty="0"/>
          </a:p>
        </p:txBody>
      </p:sp>
      <p:sp>
        <p:nvSpPr>
          <p:cNvPr id="22" name="Text 20"/>
          <p:cNvSpPr txBox="1"/>
          <p:nvPr/>
        </p:nvSpPr>
        <p:spPr>
          <a:xfrm>
            <a:off x="11036808" y="2121408"/>
            <a:ext cx="585216" cy="256032"/>
          </a:xfrm>
          <a:prstGeom prst="rect">
            <a:avLst/>
          </a:prstGeom>
          <a:noFill/>
          <a:ln/>
        </p:spPr>
        <p:txBody>
          <a:bodyPr wrap="square" lIns="0" tIns="0" rIns="0" bIns="0" rtlCol="0" anchor="t"/>
          <a:lstStyle/>
          <a:p>
            <a:pPr algn="ctr" indent="0" marL="0">
              <a:buNone/>
            </a:pPr>
            <a:r>
              <a:rPr lang="en-US" sz="1300" dirty="0">
                <a:solidFill>
                  <a:schemeClr val="accent6"/>
                </a:solidFill>
              </a:rPr>
              <a:t>8</a:t>
            </a:r>
            <a:endParaRPr lang="en-US" sz="1300" dirty="0"/>
          </a:p>
        </p:txBody>
      </p:sp>
      <p:sp>
        <p:nvSpPr>
          <p:cNvPr id="23" name="Text 21"/>
          <p:cNvSpPr txBox="1"/>
          <p:nvPr/>
        </p:nvSpPr>
        <p:spPr>
          <a:xfrm>
            <a:off x="6355080" y="2423160"/>
            <a:ext cx="5257800" cy="320040"/>
          </a:xfrm>
          <a:prstGeom prst="rect">
            <a:avLst/>
          </a:prstGeom>
          <a:noFill/>
          <a:ln/>
        </p:spPr>
        <p:txBody>
          <a:bodyPr wrap="square" lIns="0" tIns="0" rIns="0" bIns="0" rtlCol="0" anchor="t"/>
          <a:lstStyle/>
          <a:p>
            <a:pPr indent="0" marL="0">
              <a:buNone/>
            </a:pPr>
            <a:r>
              <a:rPr lang="en-US" sz="1300" b="1" dirty="0">
                <a:solidFill>
                  <a:schemeClr val="accent2"/>
                </a:solidFill>
              </a:rPr>
              <a:t>Mitte: </a:t>
            </a:r>
            <a:pPr indent="0" marL="0">
              <a:buNone/>
            </a:pPr>
            <a:r>
              <a:rPr lang="en-US" sz="1200" dirty="0">
                <a:solidFill>
                  <a:schemeClr val="tx1"/>
                </a:solidFill>
                <a:latin typeface="Consolas" pitchFamily="34" charset="0"/>
                <a:ea typeface="Consolas" pitchFamily="34" charset="-122"/>
                <a:cs typeface="Consolas" pitchFamily="34" charset="-120"/>
              </a:rPr>
              <a:t>[0..8] → 7</a:t>
            </a:r>
            <a:pPr indent="0" marL="0">
              <a:buNone/>
            </a:pPr>
            <a:r>
              <a:rPr lang="en-US" sz="1300" b="1" dirty="0">
                <a:solidFill>
                  <a:schemeClr val="accent3"/>
                </a:solidFill>
              </a:rPr>
              <a:t>   dann: </a:t>
            </a:r>
            <a:pPr indent="0" marL="0">
              <a:buNone/>
            </a:pPr>
            <a:r>
              <a:rPr lang="en-US" sz="1200" dirty="0">
                <a:solidFill>
                  <a:schemeClr val="tx1"/>
                </a:solidFill>
                <a:latin typeface="Consolas" pitchFamily="34" charset="0"/>
                <a:ea typeface="Consolas" pitchFamily="34" charset="-122"/>
                <a:cs typeface="Consolas" pitchFamily="34" charset="-120"/>
              </a:rPr>
              <a:t>[0..3] → 3 · [5..8] → 10</a:t>
            </a:r>
            <a:endParaRPr lang="en-US" sz="1300" dirty="0"/>
          </a:p>
        </p:txBody>
      </p:sp>
      <p:sp>
        <p:nvSpPr>
          <p:cNvPr id="24" name="Kante 3-1"/>
          <p:cNvSpPr/>
          <p:nvPr/>
        </p:nvSpPr>
        <p:spPr>
          <a:xfrm flipH="1">
            <a:off x="6864647" y="3617976"/>
            <a:ext cx="610663" cy="536448"/>
          </a:xfrm>
          <a:prstGeom prst="line">
            <a:avLst/>
          </a:prstGeom>
          <a:noFill/>
          <a:ln w="22225">
            <a:solidFill>
              <a:schemeClr val="accent1"/>
            </a:solidFill>
            <a:prstDash val="solid"/>
          </a:ln>
        </p:spPr>
      </p:sp>
      <p:sp>
        <p:nvSpPr>
          <p:cNvPr id="25" name="Kante 4-6"/>
          <p:cNvSpPr/>
          <p:nvPr/>
        </p:nvSpPr>
        <p:spPr>
          <a:xfrm>
            <a:off x="8085972" y="4154424"/>
            <a:ext cx="407108" cy="536448"/>
          </a:xfrm>
          <a:prstGeom prst="line">
            <a:avLst/>
          </a:prstGeom>
          <a:noFill/>
          <a:ln w="22225">
            <a:solidFill>
              <a:schemeClr val="accent1"/>
            </a:solidFill>
            <a:prstDash val="solid"/>
          </a:ln>
        </p:spPr>
      </p:sp>
      <p:sp>
        <p:nvSpPr>
          <p:cNvPr id="26" name="Kante 3-4"/>
          <p:cNvSpPr/>
          <p:nvPr/>
        </p:nvSpPr>
        <p:spPr>
          <a:xfrm>
            <a:off x="7475309" y="3617976"/>
            <a:ext cx="610663" cy="536448"/>
          </a:xfrm>
          <a:prstGeom prst="line">
            <a:avLst/>
          </a:prstGeom>
          <a:noFill/>
          <a:ln w="22225">
            <a:solidFill>
              <a:schemeClr val="accent1"/>
            </a:solidFill>
            <a:prstDash val="solid"/>
          </a:ln>
        </p:spPr>
      </p:sp>
      <p:sp>
        <p:nvSpPr>
          <p:cNvPr id="27" name="Kante 7-3"/>
          <p:cNvSpPr/>
          <p:nvPr/>
        </p:nvSpPr>
        <p:spPr>
          <a:xfrm flipH="1">
            <a:off x="7475309" y="3081528"/>
            <a:ext cx="1305117" cy="536448"/>
          </a:xfrm>
          <a:prstGeom prst="line">
            <a:avLst/>
          </a:prstGeom>
          <a:noFill/>
          <a:ln w="22225">
            <a:solidFill>
              <a:schemeClr val="accent1"/>
            </a:solidFill>
            <a:prstDash val="solid"/>
          </a:ln>
        </p:spPr>
      </p:sp>
      <p:sp>
        <p:nvSpPr>
          <p:cNvPr id="28" name="Kante 10-8"/>
          <p:cNvSpPr/>
          <p:nvPr/>
        </p:nvSpPr>
        <p:spPr>
          <a:xfrm flipH="1">
            <a:off x="9474880" y="3617976"/>
            <a:ext cx="610663" cy="536448"/>
          </a:xfrm>
          <a:prstGeom prst="line">
            <a:avLst/>
          </a:prstGeom>
          <a:noFill/>
          <a:ln w="22225">
            <a:solidFill>
              <a:schemeClr val="accent1"/>
            </a:solidFill>
            <a:prstDash val="solid"/>
          </a:ln>
        </p:spPr>
      </p:sp>
      <p:sp>
        <p:nvSpPr>
          <p:cNvPr id="29" name="Kante 13-14"/>
          <p:cNvSpPr/>
          <p:nvPr/>
        </p:nvSpPr>
        <p:spPr>
          <a:xfrm>
            <a:off x="10696205" y="4154424"/>
            <a:ext cx="407108" cy="536448"/>
          </a:xfrm>
          <a:prstGeom prst="line">
            <a:avLst/>
          </a:prstGeom>
          <a:noFill/>
          <a:ln w="22225">
            <a:solidFill>
              <a:schemeClr val="accent1"/>
            </a:solidFill>
            <a:prstDash val="solid"/>
          </a:ln>
        </p:spPr>
      </p:sp>
      <p:sp>
        <p:nvSpPr>
          <p:cNvPr id="30" name="Kante 10-13"/>
          <p:cNvSpPr/>
          <p:nvPr/>
        </p:nvSpPr>
        <p:spPr>
          <a:xfrm>
            <a:off x="10085542" y="3617976"/>
            <a:ext cx="610663" cy="536448"/>
          </a:xfrm>
          <a:prstGeom prst="line">
            <a:avLst/>
          </a:prstGeom>
          <a:noFill/>
          <a:ln w="22225">
            <a:solidFill>
              <a:schemeClr val="accent1"/>
            </a:solidFill>
            <a:prstDash val="solid"/>
          </a:ln>
        </p:spPr>
      </p:sp>
      <p:sp>
        <p:nvSpPr>
          <p:cNvPr id="31" name="Kante 7-10"/>
          <p:cNvSpPr/>
          <p:nvPr/>
        </p:nvSpPr>
        <p:spPr>
          <a:xfrm>
            <a:off x="8780426" y="3081528"/>
            <a:ext cx="1305117" cy="536448"/>
          </a:xfrm>
          <a:prstGeom prst="line">
            <a:avLst/>
          </a:prstGeom>
          <a:noFill/>
          <a:ln w="22225">
            <a:solidFill>
              <a:schemeClr val="accent1"/>
            </a:solidFill>
            <a:prstDash val="solid"/>
          </a:ln>
        </p:spPr>
      </p:sp>
      <p:sp>
        <p:nvSpPr>
          <p:cNvPr id="32" name="Knoten 1"/>
          <p:cNvSpPr txBox="1"/>
          <p:nvPr/>
        </p:nvSpPr>
        <p:spPr>
          <a:xfrm>
            <a:off x="6663479" y="3953256"/>
            <a:ext cx="402336" cy="402336"/>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33" name="Knoten 6"/>
          <p:cNvSpPr txBox="1"/>
          <p:nvPr/>
        </p:nvSpPr>
        <p:spPr>
          <a:xfrm>
            <a:off x="8291912" y="4489704"/>
            <a:ext cx="402336" cy="402336"/>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6</a:t>
            </a:r>
            <a:endParaRPr lang="en-US" sz="1500" dirty="0"/>
          </a:p>
        </p:txBody>
      </p:sp>
      <p:sp>
        <p:nvSpPr>
          <p:cNvPr id="34" name="Knoten 4"/>
          <p:cNvSpPr txBox="1"/>
          <p:nvPr/>
        </p:nvSpPr>
        <p:spPr>
          <a:xfrm>
            <a:off x="7884804" y="3953256"/>
            <a:ext cx="402336" cy="402336"/>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35" name="Knoten 3"/>
          <p:cNvSpPr txBox="1"/>
          <p:nvPr/>
        </p:nvSpPr>
        <p:spPr>
          <a:xfrm>
            <a:off x="7274141" y="3416808"/>
            <a:ext cx="402336" cy="402336"/>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36" name="Knoten 8"/>
          <p:cNvSpPr txBox="1"/>
          <p:nvPr/>
        </p:nvSpPr>
        <p:spPr>
          <a:xfrm>
            <a:off x="9273712" y="3953256"/>
            <a:ext cx="402336" cy="402336"/>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8</a:t>
            </a:r>
            <a:endParaRPr lang="en-US" sz="1500" dirty="0"/>
          </a:p>
        </p:txBody>
      </p:sp>
      <p:sp>
        <p:nvSpPr>
          <p:cNvPr id="37" name="Knoten 14"/>
          <p:cNvSpPr txBox="1"/>
          <p:nvPr/>
        </p:nvSpPr>
        <p:spPr>
          <a:xfrm>
            <a:off x="10902145" y="4489704"/>
            <a:ext cx="402336" cy="402336"/>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14</a:t>
            </a:r>
            <a:endParaRPr lang="en-US" sz="1500" dirty="0"/>
          </a:p>
        </p:txBody>
      </p:sp>
      <p:sp>
        <p:nvSpPr>
          <p:cNvPr id="38" name="Knoten 13"/>
          <p:cNvSpPr txBox="1"/>
          <p:nvPr/>
        </p:nvSpPr>
        <p:spPr>
          <a:xfrm>
            <a:off x="10495037" y="3953256"/>
            <a:ext cx="402336" cy="402336"/>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500" b="1" dirty="0">
                <a:solidFill>
                  <a:schemeClr val="accent1"/>
                </a:solidFill>
              </a:rPr>
              <a:t>13</a:t>
            </a:r>
            <a:endParaRPr lang="en-US" sz="1500" dirty="0"/>
          </a:p>
        </p:txBody>
      </p:sp>
      <p:sp>
        <p:nvSpPr>
          <p:cNvPr id="39" name="Knoten 10"/>
          <p:cNvSpPr txBox="1"/>
          <p:nvPr/>
        </p:nvSpPr>
        <p:spPr>
          <a:xfrm>
            <a:off x="9884374" y="3416808"/>
            <a:ext cx="402336" cy="402336"/>
          </a:xfrm>
          <a:prstGeom prst="ellipse">
            <a:avLst/>
          </a:prstGeom>
          <a:solidFill>
            <a:srgbClr val="E2EFDA"/>
          </a:solidFill>
          <a:ln w="31750">
            <a:solidFill>
              <a:schemeClr val="accent3"/>
            </a:solidFill>
            <a:prstDash val="solid"/>
          </a:ln>
        </p:spPr>
        <p:txBody>
          <a:bodyPr wrap="square" lIns="0" tIns="0" rIns="0" bIns="0" rtlCol="0" anchor="ctr"/>
          <a:lstStyle/>
          <a:p>
            <a:pPr algn="ctr" indent="0" marL="0">
              <a:buNone/>
            </a:pPr>
            <a:r>
              <a:rPr lang="en-US" sz="1500" b="1" dirty="0">
                <a:solidFill>
                  <a:schemeClr val="accent3"/>
                </a:solidFill>
              </a:rPr>
              <a:t>10</a:t>
            </a:r>
            <a:endParaRPr lang="en-US" sz="1500" dirty="0"/>
          </a:p>
        </p:txBody>
      </p:sp>
      <p:sp>
        <p:nvSpPr>
          <p:cNvPr id="40" name="Knoten 7"/>
          <p:cNvSpPr txBox="1"/>
          <p:nvPr/>
        </p:nvSpPr>
        <p:spPr>
          <a:xfrm>
            <a:off x="8579258" y="2880360"/>
            <a:ext cx="402336" cy="402336"/>
          </a:xfrm>
          <a:prstGeom prst="ellipse">
            <a:avLst/>
          </a:prstGeom>
          <a:solidFill>
            <a:srgbClr val="FFF2CC"/>
          </a:solidFill>
          <a:ln w="38100">
            <a:solidFill>
              <a:schemeClr val="accent2"/>
            </a:solidFill>
            <a:prstDash val="solid"/>
          </a:ln>
        </p:spPr>
        <p:txBody>
          <a:bodyPr wrap="square" lIns="0" tIns="0" rIns="0" bIns="0" rtlCol="0" anchor="ctr"/>
          <a:lstStyle/>
          <a:p>
            <a:pPr algn="ctr" indent="0" marL="0">
              <a:buNone/>
            </a:pPr>
            <a:r>
              <a:rPr lang="en-US" sz="1500" b="1" dirty="0">
                <a:solidFill>
                  <a:schemeClr val="accent1"/>
                </a:solidFill>
              </a:rPr>
              <a:t>7</a:t>
            </a:r>
            <a:endParaRPr lang="en-US" sz="1500" dirty="0"/>
          </a:p>
        </p:txBody>
      </p:sp>
      <p:sp>
        <p:nvSpPr>
          <p:cNvPr id="41" name="Teile und herrsche"/>
          <p:cNvSpPr/>
          <p:nvPr/>
        </p:nvSpPr>
        <p:spPr>
          <a:xfrm>
            <a:off x="548640" y="4389120"/>
            <a:ext cx="5486400" cy="1737360"/>
          </a:xfrm>
          <a:prstGeom prst="roundRect">
            <a:avLst>
              <a:gd name="adj" fmla="val 6316"/>
            </a:avLst>
          </a:prstGeom>
          <a:solidFill>
            <a:schemeClr val="bg2"/>
          </a:solidFill>
          <a:ln/>
        </p:spPr>
      </p:sp>
      <p:sp>
        <p:nvSpPr>
          <p:cNvPr id="42" name="Text 40"/>
          <p:cNvSpPr txBox="1"/>
          <p:nvPr/>
        </p:nvSpPr>
        <p:spPr>
          <a:xfrm>
            <a:off x="749808" y="4389120"/>
            <a:ext cx="5120640" cy="1737360"/>
          </a:xfrm>
          <a:prstGeom prst="rect">
            <a:avLst/>
          </a:prstGeom>
          <a:noFill/>
          <a:ln/>
        </p:spPr>
        <p:txBody>
          <a:bodyPr wrap="square" lIns="0" tIns="0" rIns="0" bIns="0" rtlCol="0" anchor="ctr"/>
          <a:lstStyle/>
          <a:p>
            <a:pPr indent="0" marL="0">
              <a:buNone/>
            </a:pPr>
            <a:r>
              <a:rPr lang="en-US" sz="1500" b="1" dirty="0">
                <a:solidFill>
                  <a:schemeClr val="accent1"/>
                </a:solidFill>
              </a:rPr>
              <a:t>Teile und herrsche (Welt 3): </a:t>
            </a:r>
            <a:pPr indent="0" marL="0">
              <a:buNone/>
            </a:pPr>
            <a:r>
              <a:rPr lang="en-US" sz="1500" dirty="0">
                <a:solidFill>
                  <a:schemeClr val="tx1"/>
                </a:solidFill>
              </a:rPr>
              <a:t>mitte = (lo + hi) / 2 ganzzahlig – wie bei der binären Suche. Links von der Mitte entsteht der linke, rechts der rechte Teilbaum; leerer Bereich (lo &gt; hi) → leerer Baum.</a:t>
            </a:r>
            <a:endParaRPr lang="en-US" sz="1500" dirty="0"/>
          </a:p>
        </p:txBody>
      </p:sp>
      <p:sp>
        <p:nvSpPr>
          <p:cNvPr id="43" name="Hoehe minimal"/>
          <p:cNvSpPr/>
          <p:nvPr/>
        </p:nvSpPr>
        <p:spPr>
          <a:xfrm>
            <a:off x="6355080" y="5074920"/>
            <a:ext cx="5257800" cy="1051560"/>
          </a:xfrm>
          <a:prstGeom prst="roundRect">
            <a:avLst>
              <a:gd name="adj" fmla="val 10435"/>
            </a:avLst>
          </a:prstGeom>
          <a:solidFill>
            <a:schemeClr val="bg1"/>
          </a:solidFill>
          <a:ln w="25400">
            <a:solidFill>
              <a:schemeClr val="accent3"/>
            </a:solidFill>
            <a:prstDash val="solid"/>
          </a:ln>
        </p:spPr>
      </p:sp>
      <p:sp>
        <p:nvSpPr>
          <p:cNvPr id="44" name="Text 42"/>
          <p:cNvSpPr txBox="1"/>
          <p:nvPr/>
        </p:nvSpPr>
        <p:spPr>
          <a:xfrm>
            <a:off x="6556248" y="5074920"/>
            <a:ext cx="4892040" cy="1051560"/>
          </a:xfrm>
          <a:prstGeom prst="rect">
            <a:avLst/>
          </a:prstGeom>
          <a:noFill/>
          <a:ln/>
        </p:spPr>
        <p:txBody>
          <a:bodyPr wrap="square" lIns="0" tIns="0" rIns="0" bIns="0" rtlCol="0" anchor="ctr"/>
          <a:lstStyle/>
          <a:p>
            <a:pPr indent="0" marL="0">
              <a:buNone/>
            </a:pPr>
            <a:r>
              <a:rPr lang="en-US" sz="1500" b="1" dirty="0">
                <a:solidFill>
                  <a:schemeClr val="accent3"/>
                </a:solidFill>
              </a:rPr>
              <a:t>Höhe 4 = minimal: </a:t>
            </a:r>
            <a:pPr indent="0" marL="0">
              <a:buNone/>
            </a:pPr>
            <a:r>
              <a:rPr lang="en-US" sz="1500" dirty="0">
                <a:solidFill>
                  <a:schemeClr val="tx1"/>
                </a:solidFill>
              </a:rPr>
              <a:t>3 Ebenen fassen nur 7 Knoten, für 9 braucht man 4.</a:t>
            </a:r>
            <a:endParaRPr lang="en-US" sz="1500" dirty="0"/>
          </a:p>
        </p:txBody>
      </p:sp>
      <p:sp>
        <p:nvSpPr>
          <p:cNvPr id="45" name="Text 43"/>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35 · ausgeglichenAus</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isBST-Falle: Nur die Kinder prüfen reicht nicht</a:t>
            </a:r>
            <a:endParaRPr lang="en-US" sz="3600" dirty="0"/>
          </a:p>
        </p:txBody>
      </p:sp>
      <p:sp>
        <p:nvSpPr>
          <p:cNvPr id="3" name="Kante 3-1"/>
          <p:cNvSpPr/>
          <p:nvPr/>
        </p:nvSpPr>
        <p:spPr>
          <a:xfrm flipH="1">
            <a:off x="1232704" y="2770632"/>
            <a:ext cx="722694" cy="1005840"/>
          </a:xfrm>
          <a:prstGeom prst="line">
            <a:avLst/>
          </a:prstGeom>
          <a:noFill/>
          <a:ln w="22225">
            <a:solidFill>
              <a:schemeClr val="accent1"/>
            </a:solidFill>
            <a:prstDash val="solid"/>
          </a:ln>
        </p:spPr>
      </p:sp>
      <p:sp>
        <p:nvSpPr>
          <p:cNvPr id="4" name="Kante 3-9"/>
          <p:cNvSpPr/>
          <p:nvPr/>
        </p:nvSpPr>
        <p:spPr>
          <a:xfrm>
            <a:off x="1955398" y="2770632"/>
            <a:ext cx="722694" cy="1005840"/>
          </a:xfrm>
          <a:prstGeom prst="line">
            <a:avLst/>
          </a:prstGeom>
          <a:noFill/>
          <a:ln w="22225">
            <a:solidFill>
              <a:schemeClr val="accent1"/>
            </a:solidFill>
            <a:prstDash val="solid"/>
          </a:ln>
        </p:spPr>
      </p:sp>
      <p:sp>
        <p:nvSpPr>
          <p:cNvPr id="5" name="Kante 8-3"/>
          <p:cNvSpPr/>
          <p:nvPr/>
        </p:nvSpPr>
        <p:spPr>
          <a:xfrm flipH="1">
            <a:off x="1955398" y="1764792"/>
            <a:ext cx="1260809" cy="1005840"/>
          </a:xfrm>
          <a:prstGeom prst="line">
            <a:avLst/>
          </a:prstGeom>
          <a:noFill/>
          <a:ln w="22225">
            <a:solidFill>
              <a:schemeClr val="accent1"/>
            </a:solidFill>
            <a:prstDash val="solid"/>
          </a:ln>
        </p:spPr>
      </p:sp>
      <p:sp>
        <p:nvSpPr>
          <p:cNvPr id="6" name="Kante 10-14"/>
          <p:cNvSpPr/>
          <p:nvPr/>
        </p:nvSpPr>
        <p:spPr>
          <a:xfrm>
            <a:off x="4477015" y="2770632"/>
            <a:ext cx="599641" cy="1005840"/>
          </a:xfrm>
          <a:prstGeom prst="line">
            <a:avLst/>
          </a:prstGeom>
          <a:noFill/>
          <a:ln w="22225">
            <a:solidFill>
              <a:schemeClr val="accent1"/>
            </a:solidFill>
            <a:prstDash val="solid"/>
          </a:ln>
        </p:spPr>
      </p:sp>
      <p:sp>
        <p:nvSpPr>
          <p:cNvPr id="7" name="Kante 8-10"/>
          <p:cNvSpPr/>
          <p:nvPr/>
        </p:nvSpPr>
        <p:spPr>
          <a:xfrm>
            <a:off x="3216207" y="1764792"/>
            <a:ext cx="1260809" cy="1005840"/>
          </a:xfrm>
          <a:prstGeom prst="line">
            <a:avLst/>
          </a:prstGeom>
          <a:noFill/>
          <a:ln w="22225">
            <a:solidFill>
              <a:schemeClr val="accent1"/>
            </a:solidFill>
            <a:prstDash val="solid"/>
          </a:ln>
        </p:spPr>
      </p:sp>
      <p:sp>
        <p:nvSpPr>
          <p:cNvPr id="8" name="Knoten 1"/>
          <p:cNvSpPr txBox="1"/>
          <p:nvPr/>
        </p:nvSpPr>
        <p:spPr>
          <a:xfrm>
            <a:off x="976672" y="3520440"/>
            <a:ext cx="512064" cy="51206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9" name="Text 7"/>
          <p:cNvSpPr txBox="1"/>
          <p:nvPr/>
        </p:nvSpPr>
        <p:spPr>
          <a:xfrm>
            <a:off x="1525312" y="3630168"/>
            <a:ext cx="960120" cy="292608"/>
          </a:xfrm>
          <a:prstGeom prst="rect">
            <a:avLst/>
          </a:prstGeom>
          <a:noFill/>
          <a:ln/>
        </p:spPr>
        <p:txBody>
          <a:bodyPr wrap="square" lIns="0" tIns="0" rIns="0" bIns="0" rtlCol="0" anchor="ctr"/>
          <a:lstStyle/>
          <a:p>
            <a:pPr algn="l" indent="0" marL="0">
              <a:buNone/>
            </a:pPr>
            <a:r>
              <a:rPr lang="en-US" sz="1200" b="1" dirty="0">
                <a:solidFill>
                  <a:schemeClr val="accent6"/>
                </a:solidFill>
              </a:rPr>
              <a:t>(−1, 3)</a:t>
            </a:r>
            <a:endParaRPr lang="en-US" sz="1200" dirty="0"/>
          </a:p>
        </p:txBody>
      </p:sp>
      <p:sp>
        <p:nvSpPr>
          <p:cNvPr id="10" name="Knoten 9"/>
          <p:cNvSpPr txBox="1"/>
          <p:nvPr/>
        </p:nvSpPr>
        <p:spPr>
          <a:xfrm>
            <a:off x="2422060" y="3520440"/>
            <a:ext cx="512064" cy="512064"/>
          </a:xfrm>
          <a:prstGeom prst="ellipse">
            <a:avLst/>
          </a:prstGeom>
          <a:solidFill>
            <a:srgbClr val="FBE5E5"/>
          </a:solidFill>
          <a:ln w="31750">
            <a:solidFill>
              <a:schemeClr val="accent4"/>
            </a:solidFill>
            <a:prstDash val="solid"/>
          </a:ln>
        </p:spPr>
        <p:txBody>
          <a:bodyPr wrap="square" lIns="0" tIns="0" rIns="0" bIns="0" rtlCol="0" anchor="ctr"/>
          <a:lstStyle/>
          <a:p>
            <a:pPr algn="ctr" indent="0" marL="0">
              <a:buNone/>
            </a:pPr>
            <a:r>
              <a:rPr lang="en-US" sz="1800" b="1" dirty="0">
                <a:solidFill>
                  <a:schemeClr val="accent4"/>
                </a:solidFill>
              </a:rPr>
              <a:t>9</a:t>
            </a:r>
            <a:endParaRPr lang="en-US" sz="1800" dirty="0"/>
          </a:p>
        </p:txBody>
      </p:sp>
      <p:sp>
        <p:nvSpPr>
          <p:cNvPr id="11" name="Text 9"/>
          <p:cNvSpPr txBox="1"/>
          <p:nvPr/>
        </p:nvSpPr>
        <p:spPr>
          <a:xfrm>
            <a:off x="2970700" y="3630168"/>
            <a:ext cx="960120" cy="292608"/>
          </a:xfrm>
          <a:prstGeom prst="rect">
            <a:avLst/>
          </a:prstGeom>
          <a:noFill/>
          <a:ln/>
        </p:spPr>
        <p:txBody>
          <a:bodyPr wrap="square" lIns="0" tIns="0" rIns="0" bIns="0" rtlCol="0" anchor="ctr"/>
          <a:lstStyle/>
          <a:p>
            <a:pPr algn="l" indent="0" marL="0">
              <a:buNone/>
            </a:pPr>
            <a:r>
              <a:rPr lang="en-US" sz="1200" b="1" dirty="0">
                <a:solidFill>
                  <a:schemeClr val="accent4"/>
                </a:solidFill>
              </a:rPr>
              <a:t>(3, 8) ✗</a:t>
            </a:r>
            <a:endParaRPr lang="en-US" sz="1200" dirty="0"/>
          </a:p>
        </p:txBody>
      </p:sp>
      <p:sp>
        <p:nvSpPr>
          <p:cNvPr id="12" name="Knoten 3"/>
          <p:cNvSpPr txBox="1"/>
          <p:nvPr/>
        </p:nvSpPr>
        <p:spPr>
          <a:xfrm>
            <a:off x="1699366" y="2514600"/>
            <a:ext cx="512064" cy="51206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3" name="Text 11"/>
          <p:cNvSpPr txBox="1"/>
          <p:nvPr/>
        </p:nvSpPr>
        <p:spPr>
          <a:xfrm>
            <a:off x="2248006" y="2624328"/>
            <a:ext cx="960120" cy="292608"/>
          </a:xfrm>
          <a:prstGeom prst="rect">
            <a:avLst/>
          </a:prstGeom>
          <a:noFill/>
          <a:ln/>
        </p:spPr>
        <p:txBody>
          <a:bodyPr wrap="square" lIns="0" tIns="0" rIns="0" bIns="0" rtlCol="0" anchor="ctr"/>
          <a:lstStyle/>
          <a:p>
            <a:pPr algn="l" indent="0" marL="0">
              <a:buNone/>
            </a:pPr>
            <a:r>
              <a:rPr lang="en-US" sz="1200" b="1" dirty="0">
                <a:solidFill>
                  <a:schemeClr val="accent6"/>
                </a:solidFill>
              </a:rPr>
              <a:t>(−1, 8)</a:t>
            </a:r>
            <a:endParaRPr lang="en-US" sz="1200" dirty="0"/>
          </a:p>
        </p:txBody>
      </p:sp>
      <p:sp>
        <p:nvSpPr>
          <p:cNvPr id="14" name="Knoten 14"/>
          <p:cNvSpPr txBox="1"/>
          <p:nvPr/>
        </p:nvSpPr>
        <p:spPr>
          <a:xfrm>
            <a:off x="4820624" y="3520440"/>
            <a:ext cx="512064" cy="51206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14</a:t>
            </a:r>
            <a:endParaRPr lang="en-US" sz="1800" dirty="0"/>
          </a:p>
        </p:txBody>
      </p:sp>
      <p:sp>
        <p:nvSpPr>
          <p:cNvPr id="15" name="Text 13"/>
          <p:cNvSpPr txBox="1"/>
          <p:nvPr/>
        </p:nvSpPr>
        <p:spPr>
          <a:xfrm>
            <a:off x="5369264" y="3630168"/>
            <a:ext cx="960120" cy="292608"/>
          </a:xfrm>
          <a:prstGeom prst="rect">
            <a:avLst/>
          </a:prstGeom>
          <a:noFill/>
          <a:ln/>
        </p:spPr>
        <p:txBody>
          <a:bodyPr wrap="square" lIns="0" tIns="0" rIns="0" bIns="0" rtlCol="0" anchor="ctr"/>
          <a:lstStyle/>
          <a:p>
            <a:pPr algn="l" indent="0" marL="0">
              <a:buNone/>
            </a:pPr>
            <a:r>
              <a:rPr lang="en-US" sz="1200" b="1" dirty="0">
                <a:solidFill>
                  <a:schemeClr val="accent6"/>
                </a:solidFill>
              </a:rPr>
              <a:t>(10, −1)</a:t>
            </a:r>
            <a:endParaRPr lang="en-US" sz="1200" dirty="0"/>
          </a:p>
        </p:txBody>
      </p:sp>
      <p:sp>
        <p:nvSpPr>
          <p:cNvPr id="16" name="Knoten 10"/>
          <p:cNvSpPr txBox="1"/>
          <p:nvPr/>
        </p:nvSpPr>
        <p:spPr>
          <a:xfrm>
            <a:off x="4220983" y="2514600"/>
            <a:ext cx="512064" cy="51206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10</a:t>
            </a:r>
            <a:endParaRPr lang="en-US" sz="1800" dirty="0"/>
          </a:p>
        </p:txBody>
      </p:sp>
      <p:sp>
        <p:nvSpPr>
          <p:cNvPr id="17" name="Text 15"/>
          <p:cNvSpPr txBox="1"/>
          <p:nvPr/>
        </p:nvSpPr>
        <p:spPr>
          <a:xfrm>
            <a:off x="4769623" y="2624328"/>
            <a:ext cx="960120" cy="292608"/>
          </a:xfrm>
          <a:prstGeom prst="rect">
            <a:avLst/>
          </a:prstGeom>
          <a:noFill/>
          <a:ln/>
        </p:spPr>
        <p:txBody>
          <a:bodyPr wrap="square" lIns="0" tIns="0" rIns="0" bIns="0" rtlCol="0" anchor="ctr"/>
          <a:lstStyle/>
          <a:p>
            <a:pPr algn="l" indent="0" marL="0">
              <a:buNone/>
            </a:pPr>
            <a:r>
              <a:rPr lang="en-US" sz="1200" b="1" dirty="0">
                <a:solidFill>
                  <a:schemeClr val="accent6"/>
                </a:solidFill>
              </a:rPr>
              <a:t>(8, −1)</a:t>
            </a:r>
            <a:endParaRPr lang="en-US" sz="1200" dirty="0"/>
          </a:p>
        </p:txBody>
      </p:sp>
      <p:sp>
        <p:nvSpPr>
          <p:cNvPr id="18" name="Knoten 8"/>
          <p:cNvSpPr txBox="1"/>
          <p:nvPr/>
        </p:nvSpPr>
        <p:spPr>
          <a:xfrm>
            <a:off x="2960175" y="1508760"/>
            <a:ext cx="512064" cy="512064"/>
          </a:xfrm>
          <a:prstGeom prst="ellipse">
            <a:avLst/>
          </a:prstGeom>
          <a:solidFill>
            <a:schemeClr val="bg2"/>
          </a:solidFill>
          <a:ln w="19050">
            <a:solidFill>
              <a:schemeClr val="accent1"/>
            </a:solidFill>
            <a:prstDash val="solid"/>
          </a:ln>
        </p:spPr>
        <p:txBody>
          <a:bodyPr wrap="square" lIns="0" tIns="0" rIns="0" bIns="0" rtlCol="0" anchor="ctr"/>
          <a:lstStyle/>
          <a:p>
            <a:pPr algn="ctr" indent="0" marL="0">
              <a:buNone/>
            </a:pPr>
            <a:r>
              <a:rPr lang="en-US" sz="1800" b="1" dirty="0">
                <a:solidFill>
                  <a:schemeClr val="accent1"/>
                </a:solidFill>
              </a:rPr>
              <a:t>8</a:t>
            </a:r>
            <a:endParaRPr lang="en-US" sz="1800" dirty="0"/>
          </a:p>
        </p:txBody>
      </p:sp>
      <p:sp>
        <p:nvSpPr>
          <p:cNvPr id="19" name="Text 17"/>
          <p:cNvSpPr txBox="1"/>
          <p:nvPr/>
        </p:nvSpPr>
        <p:spPr>
          <a:xfrm>
            <a:off x="3508815" y="1618488"/>
            <a:ext cx="960120" cy="292608"/>
          </a:xfrm>
          <a:prstGeom prst="rect">
            <a:avLst/>
          </a:prstGeom>
          <a:noFill/>
          <a:ln/>
        </p:spPr>
        <p:txBody>
          <a:bodyPr wrap="square" lIns="0" tIns="0" rIns="0" bIns="0" rtlCol="0" anchor="ctr"/>
          <a:lstStyle/>
          <a:p>
            <a:pPr algn="l" indent="0" marL="0">
              <a:buNone/>
            </a:pPr>
            <a:r>
              <a:rPr lang="en-US" sz="1200" b="1" dirty="0">
                <a:solidFill>
                  <a:schemeClr val="accent6"/>
                </a:solidFill>
              </a:rPr>
              <a:t>(−1, −1)</a:t>
            </a:r>
            <a:endParaRPr lang="en-US" sz="1200" dirty="0"/>
          </a:p>
        </p:txBody>
      </p:sp>
      <p:sp>
        <p:nvSpPr>
          <p:cNvPr id="20" name="Text 18"/>
          <p:cNvSpPr txBox="1"/>
          <p:nvPr/>
        </p:nvSpPr>
        <p:spPr>
          <a:xfrm>
            <a:off x="548640" y="4206240"/>
            <a:ext cx="5303520" cy="274320"/>
          </a:xfrm>
          <a:prstGeom prst="rect">
            <a:avLst/>
          </a:prstGeom>
          <a:noFill/>
          <a:ln/>
        </p:spPr>
        <p:txBody>
          <a:bodyPr wrap="square" lIns="0" tIns="0" rIns="0" bIns="0" rtlCol="0" anchor="t"/>
          <a:lstStyle/>
          <a:p>
            <a:pPr algn="ctr" indent="0" marL="0">
              <a:buNone/>
            </a:pPr>
            <a:r>
              <a:rPr lang="en-US" sz="1300" i="1" dirty="0">
                <a:solidFill>
                  <a:schemeClr val="accent6"/>
                </a:solidFill>
              </a:rPr>
              <a:t>neben jedem Knoten: (min, max), exklusiv · −1 = keine Grenze</a:t>
            </a:r>
            <a:endParaRPr lang="en-US" sz="1300" dirty="0"/>
          </a:p>
        </p:txBody>
      </p:sp>
      <p:sp>
        <p:nvSpPr>
          <p:cNvPr id="21" name="Falle"/>
          <p:cNvSpPr/>
          <p:nvPr/>
        </p:nvSpPr>
        <p:spPr>
          <a:xfrm>
            <a:off x="548640" y="4617720"/>
            <a:ext cx="5303520" cy="1508760"/>
          </a:xfrm>
          <a:prstGeom prst="roundRect">
            <a:avLst>
              <a:gd name="adj" fmla="val 7273"/>
            </a:avLst>
          </a:prstGeom>
          <a:solidFill>
            <a:schemeClr val="bg1"/>
          </a:solidFill>
          <a:ln w="25400">
            <a:solidFill>
              <a:schemeClr val="accent4"/>
            </a:solidFill>
            <a:prstDash val="solid"/>
          </a:ln>
        </p:spPr>
      </p:sp>
      <p:sp>
        <p:nvSpPr>
          <p:cNvPr id="22" name="Text 20"/>
          <p:cNvSpPr txBox="1"/>
          <p:nvPr/>
        </p:nvSpPr>
        <p:spPr>
          <a:xfrm>
            <a:off x="749808" y="4617720"/>
            <a:ext cx="4937760" cy="1508760"/>
          </a:xfrm>
          <a:prstGeom prst="rect">
            <a:avLst/>
          </a:prstGeom>
          <a:noFill/>
          <a:ln/>
        </p:spPr>
        <p:txBody>
          <a:bodyPr wrap="square" lIns="0" tIns="0" rIns="0" bIns="0" rtlCol="0" anchor="ctr"/>
          <a:lstStyle/>
          <a:p>
            <a:pPr indent="0" marL="0">
              <a:buNone/>
            </a:pPr>
            <a:r>
              <a:rPr lang="en-US" sz="1400" b="1" dirty="0">
                <a:solidFill>
                  <a:schemeClr val="accent4"/>
                </a:solidFill>
              </a:rPr>
              <a:t>Jeder Knoten passt zu seinen Kindern </a:t>
            </a:r>
            <a:pPr indent="0" marL="0">
              <a:buNone/>
            </a:pPr>
            <a:r>
              <a:rPr lang="en-US" sz="1400" dirty="0">
                <a:solidFill>
                  <a:schemeClr val="tx1"/>
                </a:solidFill>
              </a:rPr>
              <a:t>(3 &lt; 9 ✓) – trotzdem kein BST: 9 liegt links von 8. suche(b, 9): 8 → 10 → leer → false, obwohl die 9 im Baum steht.</a:t>
            </a:r>
            <a:endParaRPr lang="en-US" sz="1400" dirty="0"/>
          </a:p>
        </p:txBody>
      </p:sp>
      <p:sp>
        <p:nvSpPr>
          <p:cNvPr id="23" name="Code"/>
          <p:cNvSpPr txBox="1"/>
          <p:nvPr/>
        </p:nvSpPr>
        <p:spPr>
          <a:xfrm>
            <a:off x="5943600" y="1325880"/>
            <a:ext cx="5669280" cy="3502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boolean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istBST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istBST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-1, -1);   </a:t>
            </a:r>
            <a:pPr algn="l" indent="0" marL="0">
              <a:lnSpc>
                <a:spcPts val="1400"/>
              </a:lnSpc>
              <a:buNone/>
            </a:pPr>
            <a:r>
              <a:rPr lang="en-US" sz="1100" i="1" dirty="0">
                <a:solidFill>
                  <a:schemeClr val="accent3"/>
                </a:solidFill>
                <a:latin typeface="Consolas" pitchFamily="34" charset="0"/>
                <a:ea typeface="Consolas" pitchFamily="34" charset="-122"/>
                <a:cs typeface="Consolas" pitchFamily="34" charset="-120"/>
              </a:rPr>
              <a:t>// keine obere Grenze</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public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static</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boolean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istBST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BinTree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max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isEmpty</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true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int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wert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Integer</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getItem</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wert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&lt;=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false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if</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max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 -1 &amp;&amp;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wert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&gt;=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max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false</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b="1" dirty="0">
                <a:solidFill>
                  <a:schemeClr val="accent1"/>
                </a:solidFill>
                <a:latin typeface="Consolas" pitchFamily="34" charset="0"/>
                <a:ea typeface="Consolas" pitchFamily="34" charset="-122"/>
                <a:cs typeface="Consolas" pitchFamily="34" charset="-120"/>
              </a:rPr>
              <a:t>return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istBST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getLeft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min</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wert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&amp;&amp;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istBST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b</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getRight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wert</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 </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max</a:t>
            </a:r>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a:p>
            <a:pPr algn="l" indent="0" marL="0">
              <a:lnSpc>
                <a:spcPts val="1400"/>
              </a:lnSpc>
              <a:buNone/>
            </a:pPr>
            <a:r>
              <a:rPr lang="en-US" sz="1100" dirty="0">
                <a:solidFill>
                  <a:schemeClr val="tx1"/>
                </a:solidFill>
                <a:latin typeface="Consolas" pitchFamily="34" charset="0"/>
                <a:ea typeface="Consolas" pitchFamily="34" charset="-122"/>
                <a:cs typeface="Consolas" pitchFamily="34" charset="-120"/>
              </a:rPr>
              <a:t>}</a:t>
            </a:r>
            <a:endParaRPr lang="en-US" sz="1100" dirty="0"/>
          </a:p>
        </p:txBody>
      </p:sp>
      <p:sp>
        <p:nvSpPr>
          <p:cNvPr id="24" name="Grenzen"/>
          <p:cNvSpPr/>
          <p:nvPr/>
        </p:nvSpPr>
        <p:spPr>
          <a:xfrm>
            <a:off x="5943600" y="5120640"/>
            <a:ext cx="5669280" cy="1005840"/>
          </a:xfrm>
          <a:prstGeom prst="roundRect">
            <a:avLst>
              <a:gd name="adj" fmla="val 10909"/>
            </a:avLst>
          </a:prstGeom>
          <a:solidFill>
            <a:schemeClr val="bg2"/>
          </a:solidFill>
          <a:ln/>
        </p:spPr>
      </p:sp>
      <p:sp>
        <p:nvSpPr>
          <p:cNvPr id="25" name="Text 23"/>
          <p:cNvSpPr txBox="1"/>
          <p:nvPr/>
        </p:nvSpPr>
        <p:spPr>
          <a:xfrm>
            <a:off x="6144768" y="5120640"/>
            <a:ext cx="5303520" cy="1005840"/>
          </a:xfrm>
          <a:prstGeom prst="rect">
            <a:avLst/>
          </a:prstGeom>
          <a:noFill/>
          <a:ln/>
        </p:spPr>
        <p:txBody>
          <a:bodyPr wrap="square" lIns="0" tIns="0" rIns="0" bIns="0" rtlCol="0" anchor="ctr"/>
          <a:lstStyle/>
          <a:p>
            <a:pPr indent="0" marL="0">
              <a:buNone/>
            </a:pPr>
            <a:r>
              <a:rPr lang="en-US" sz="1400" b="1" dirty="0">
                <a:solidFill>
                  <a:schemeClr val="accent1"/>
                </a:solidFill>
              </a:rPr>
              <a:t>Grenzen wandern mit: </a:t>
            </a:r>
            <a:pPr indent="0" marL="0">
              <a:buNone/>
            </a:pPr>
            <a:r>
              <a:rPr lang="en-US" sz="1400" dirty="0">
                <a:solidFill>
                  <a:schemeClr val="tx1"/>
                </a:solidFill>
              </a:rPr>
              <a:t>nach links wird wert die neue Obergrenze, nach rechts die neue Untergrenze.</a:t>
            </a:r>
            <a:endParaRPr lang="en-US" sz="1400" dirty="0"/>
          </a:p>
        </p:txBody>
      </p:sp>
      <p:sp>
        <p:nvSpPr>
          <p:cNvPr id="26" name="Text 24"/>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35 · isBST-Falle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Level 5.4 Experte · Exit-Ticket DS 35</a:t>
            </a:r>
            <a:endParaRPr lang="en-US" sz="3600" dirty="0"/>
          </a:p>
        </p:txBody>
      </p:sp>
      <p:sp>
        <p:nvSpPr>
          <p:cNvPr id="3" name="IDE Experte"/>
          <p:cNvSpPr/>
          <p:nvPr/>
        </p:nvSpPr>
        <p:spPr>
          <a:xfrm>
            <a:off x="548640" y="1325880"/>
            <a:ext cx="5394960" cy="4800600"/>
          </a:xfrm>
          <a:prstGeom prst="roundRect">
            <a:avLst>
              <a:gd name="adj" fmla="val 2286"/>
            </a:avLst>
          </a:prstGeom>
          <a:solidFill>
            <a:schemeClr val="bg1"/>
          </a:solidFill>
          <a:ln/>
        </p:spPr>
      </p:sp>
      <p:sp>
        <p:nvSpPr>
          <p:cNvPr id="4" name="Chip"/>
          <p:cNvSpPr txBox="1"/>
          <p:nvPr/>
        </p:nvSpPr>
        <p:spPr>
          <a:xfrm>
            <a:off x="777240" y="1508760"/>
            <a:ext cx="32918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IDE · Experte ★★★</a:t>
            </a:r>
            <a:endParaRPr lang="en-US" sz="1400" dirty="0"/>
          </a:p>
        </p:txBody>
      </p:sp>
      <p:sp>
        <p:nvSpPr>
          <p:cNvPr id="5" name="Text 3"/>
          <p:cNvSpPr txBox="1"/>
          <p:nvPr/>
        </p:nvSpPr>
        <p:spPr>
          <a:xfrm>
            <a:off x="777240" y="2057400"/>
            <a:ext cx="4937760" cy="1097280"/>
          </a:xfrm>
          <a:prstGeom prst="rect">
            <a:avLst/>
          </a:prstGeom>
          <a:noFill/>
          <a:ln/>
        </p:spPr>
        <p:txBody>
          <a:bodyPr wrap="square" lIns="0" tIns="0" rIns="0" bIns="0" rtlCol="0" anchor="t"/>
          <a:lstStyle/>
          <a:p>
            <a:pPr indent="0" marL="0">
              <a:lnSpc>
                <a:spcPts val="2600"/>
              </a:lnSpc>
              <a:buNone/>
            </a:pPr>
            <a:r>
              <a:rPr lang="en-US" sz="1400" b="1" dirty="0">
                <a:solidFill>
                  <a:schemeClr val="accent1"/>
                </a:solidFill>
                <a:latin typeface="Consolas" pitchFamily="34" charset="0"/>
                <a:ea typeface="Consolas" pitchFamily="34" charset="-122"/>
                <a:cs typeface="Consolas" pitchFamily="34" charset="-120"/>
              </a:rPr>
              <a:t>istBST(b): Wahrheitswert</a:t>
            </a:r>
            <a:endParaRPr lang="en-US" sz="1800" dirty="0"/>
          </a:p>
          <a:p>
            <a:pPr indent="0" marL="0">
              <a:lnSpc>
                <a:spcPts val="2600"/>
              </a:lnSpc>
              <a:buNone/>
            </a:pPr>
            <a:r>
              <a:rPr lang="en-US" sz="1400" b="1" dirty="0">
                <a:solidFill>
                  <a:schemeClr val="accent1"/>
                </a:solidFill>
                <a:latin typeface="Consolas" pitchFamily="34" charset="0"/>
                <a:ea typeface="Consolas" pitchFamily="34" charset="-122"/>
                <a:cs typeface="Consolas" pitchFamily="34" charset="-120"/>
              </a:rPr>
              <a:t>ausgeglichenAus(sortiert): BinTree</a:t>
            </a:r>
            <a:endParaRPr lang="en-US" sz="1800" dirty="0"/>
          </a:p>
          <a:p>
            <a:pPr indent="0" marL="0">
              <a:lnSpc>
                <a:spcPts val="2600"/>
              </a:lnSpc>
              <a:buNone/>
            </a:pPr>
            <a:r>
              <a:rPr lang="en-US" sz="1400" b="1" dirty="0">
                <a:solidFill>
                  <a:schemeClr val="accent1"/>
                </a:solidFill>
                <a:latin typeface="Consolas" pitchFamily="34" charset="0"/>
                <a:ea typeface="Consolas" pitchFamily="34" charset="-122"/>
                <a:cs typeface="Consolas" pitchFamily="34" charset="-120"/>
              </a:rPr>
              <a:t>nachfolger(b, x): Ganzzahl</a:t>
            </a:r>
            <a:endParaRPr lang="en-US" sz="1800" dirty="0"/>
          </a:p>
        </p:txBody>
      </p:sp>
      <p:sp>
        <p:nvSpPr>
          <p:cNvPr id="6" name="Icon-Kreis"/>
          <p:cNvSpPr/>
          <p:nvPr/>
        </p:nvSpPr>
        <p:spPr>
          <a:xfrm>
            <a:off x="777240" y="3364992"/>
            <a:ext cx="274320" cy="274320"/>
          </a:xfrm>
          <a:prstGeom prst="ellipse">
            <a:avLst/>
          </a:prstGeom>
          <a:solidFill>
            <a:schemeClr val="accent3"/>
          </a:solidFill>
          <a:ln/>
        </p:spPr>
      </p:sp>
      <p:pic>
        <p:nvPicPr>
          <p:cNvPr id="7" name="Icon GiCheckMark" descr="preencoded.png">    </p:cNvPr>
          <p:cNvPicPr>
            <a:picLocks noChangeAspect="1"/>
          </p:cNvPicPr>
          <p:nvPr/>
        </p:nvPicPr>
        <p:blipFill>
          <a:blip r:embed="rId1"/>
          <a:stretch>
            <a:fillRect/>
          </a:stretch>
        </p:blipFill>
        <p:spPr>
          <a:xfrm>
            <a:off x="821131" y="3408883"/>
            <a:ext cx="186538" cy="186538"/>
          </a:xfrm>
          <a:prstGeom prst="rect">
            <a:avLst/>
          </a:prstGeom>
        </p:spPr>
      </p:pic>
      <p:sp>
        <p:nvSpPr>
          <p:cNvPr id="8" name="Text 5"/>
          <p:cNvSpPr txBox="1"/>
          <p:nvPr/>
        </p:nvSpPr>
        <p:spPr>
          <a:xfrm>
            <a:off x="1188720" y="3337560"/>
            <a:ext cx="4526280" cy="438912"/>
          </a:xfrm>
          <a:prstGeom prst="rect">
            <a:avLst/>
          </a:prstGeom>
          <a:noFill/>
          <a:ln/>
        </p:spPr>
        <p:txBody>
          <a:bodyPr wrap="square" lIns="0" tIns="0" rIns="0" bIns="0" rtlCol="0" anchor="ctr"/>
          <a:lstStyle/>
          <a:p>
            <a:pPr indent="0" marL="0">
              <a:buNone/>
            </a:pPr>
            <a:r>
              <a:rPr lang="en-US" sz="1400" dirty="0">
                <a:solidFill>
                  <a:schemeClr val="tx1"/>
                </a:solidFill>
              </a:rPr>
              <a:t>istBST mit Grenzen – nicht nur Kinder</a:t>
            </a:r>
            <a:endParaRPr lang="en-US" sz="1400" dirty="0"/>
          </a:p>
        </p:txBody>
      </p:sp>
      <p:sp>
        <p:nvSpPr>
          <p:cNvPr id="9" name="Icon-Kreis"/>
          <p:cNvSpPr/>
          <p:nvPr/>
        </p:nvSpPr>
        <p:spPr>
          <a:xfrm>
            <a:off x="777240" y="3822192"/>
            <a:ext cx="274320" cy="274320"/>
          </a:xfrm>
          <a:prstGeom prst="ellipse">
            <a:avLst/>
          </a:prstGeom>
          <a:solidFill>
            <a:schemeClr val="accent3"/>
          </a:solidFill>
          <a:ln/>
        </p:spPr>
      </p:sp>
      <p:pic>
        <p:nvPicPr>
          <p:cNvPr id="10" name="Icon GiCheckMark" descr="preencoded.png">    </p:cNvPr>
          <p:cNvPicPr>
            <a:picLocks noChangeAspect="1"/>
          </p:cNvPicPr>
          <p:nvPr/>
        </p:nvPicPr>
        <p:blipFill>
          <a:blip r:embed="rId2"/>
          <a:stretch>
            <a:fillRect/>
          </a:stretch>
        </p:blipFill>
        <p:spPr>
          <a:xfrm>
            <a:off x="821131" y="3866083"/>
            <a:ext cx="186538" cy="186538"/>
          </a:xfrm>
          <a:prstGeom prst="rect">
            <a:avLst/>
          </a:prstGeom>
        </p:spPr>
      </p:pic>
      <p:sp>
        <p:nvSpPr>
          <p:cNvPr id="11" name="Text 7"/>
          <p:cNvSpPr txBox="1"/>
          <p:nvPr/>
        </p:nvSpPr>
        <p:spPr>
          <a:xfrm>
            <a:off x="1188720" y="3794760"/>
            <a:ext cx="4526280" cy="438912"/>
          </a:xfrm>
          <a:prstGeom prst="rect">
            <a:avLst/>
          </a:prstGeom>
          <a:noFill/>
          <a:ln/>
        </p:spPr>
        <p:txBody>
          <a:bodyPr wrap="square" lIns="0" tIns="0" rIns="0" bIns="0" rtlCol="0" anchor="ctr"/>
          <a:lstStyle/>
          <a:p>
            <a:pPr indent="0" marL="0">
              <a:buNone/>
            </a:pPr>
            <a:r>
              <a:rPr lang="en-US" sz="1400" dirty="0">
                <a:solidFill>
                  <a:schemeClr val="tx1"/>
                </a:solidFill>
              </a:rPr>
              <a:t>mitte = (lo + hi) / 2, leerer Bereich → leerer Baum</a:t>
            </a:r>
            <a:endParaRPr lang="en-US" sz="1400" dirty="0"/>
          </a:p>
        </p:txBody>
      </p:sp>
      <p:sp>
        <p:nvSpPr>
          <p:cNvPr id="12" name="Icon-Kreis"/>
          <p:cNvSpPr/>
          <p:nvPr/>
        </p:nvSpPr>
        <p:spPr>
          <a:xfrm>
            <a:off x="777240" y="4279392"/>
            <a:ext cx="274320" cy="274320"/>
          </a:xfrm>
          <a:prstGeom prst="ellipse">
            <a:avLst/>
          </a:prstGeom>
          <a:solidFill>
            <a:schemeClr val="accent3"/>
          </a:solidFill>
          <a:ln/>
        </p:spPr>
      </p:sp>
      <p:pic>
        <p:nvPicPr>
          <p:cNvPr id="13" name="Icon GiCheckMark" descr="preencoded.png">    </p:cNvPr>
          <p:cNvPicPr>
            <a:picLocks noChangeAspect="1"/>
          </p:cNvPicPr>
          <p:nvPr/>
        </p:nvPicPr>
        <p:blipFill>
          <a:blip r:embed="rId3"/>
          <a:stretch>
            <a:fillRect/>
          </a:stretch>
        </p:blipFill>
        <p:spPr>
          <a:xfrm>
            <a:off x="821131" y="4323283"/>
            <a:ext cx="186538" cy="186538"/>
          </a:xfrm>
          <a:prstGeom prst="rect">
            <a:avLst/>
          </a:prstGeom>
        </p:spPr>
      </p:pic>
      <p:sp>
        <p:nvSpPr>
          <p:cNvPr id="14" name="Text 9"/>
          <p:cNvSpPr txBox="1"/>
          <p:nvPr/>
        </p:nvSpPr>
        <p:spPr>
          <a:xfrm>
            <a:off x="1188720" y="4251960"/>
            <a:ext cx="4526280" cy="438912"/>
          </a:xfrm>
          <a:prstGeom prst="rect">
            <a:avLst/>
          </a:prstGeom>
          <a:noFill/>
          <a:ln/>
        </p:spPr>
        <p:txBody>
          <a:bodyPr wrap="square" lIns="0" tIns="0" rIns="0" bIns="0" rtlCol="0" anchor="ctr"/>
          <a:lstStyle/>
          <a:p>
            <a:pPr indent="0" marL="0">
              <a:buNone/>
            </a:pPr>
            <a:r>
              <a:rPr lang="en-US" sz="1400" dirty="0">
                <a:solidFill>
                  <a:schemeClr val="tx1"/>
                </a:solidFill>
              </a:rPr>
              <a:t>nachfolger: kleinster Wert &gt; x, sonst −1</a:t>
            </a:r>
            <a:endParaRPr lang="en-US" sz="1400" dirty="0"/>
          </a:p>
        </p:txBody>
      </p:sp>
      <p:sp>
        <p:nvSpPr>
          <p:cNvPr id="15" name="Icon-Kreis"/>
          <p:cNvSpPr/>
          <p:nvPr/>
        </p:nvSpPr>
        <p:spPr>
          <a:xfrm>
            <a:off x="777240" y="4736592"/>
            <a:ext cx="274320" cy="274320"/>
          </a:xfrm>
          <a:prstGeom prst="ellipse">
            <a:avLst/>
          </a:prstGeom>
          <a:solidFill>
            <a:schemeClr val="accent3"/>
          </a:solidFill>
          <a:ln/>
        </p:spPr>
      </p:sp>
      <p:pic>
        <p:nvPicPr>
          <p:cNvPr id="16" name="Icon GiCheckMark" descr="preencoded.png">    </p:cNvPr>
          <p:cNvPicPr>
            <a:picLocks noChangeAspect="1"/>
          </p:cNvPicPr>
          <p:nvPr/>
        </p:nvPicPr>
        <p:blipFill>
          <a:blip r:embed="rId4"/>
          <a:stretch>
            <a:fillRect/>
          </a:stretch>
        </p:blipFill>
        <p:spPr>
          <a:xfrm>
            <a:off x="821131" y="4780483"/>
            <a:ext cx="186538" cy="186538"/>
          </a:xfrm>
          <a:prstGeom prst="rect">
            <a:avLst/>
          </a:prstGeom>
        </p:spPr>
      </p:pic>
      <p:sp>
        <p:nvSpPr>
          <p:cNvPr id="17" name="Text 11"/>
          <p:cNvSpPr txBox="1"/>
          <p:nvPr/>
        </p:nvSpPr>
        <p:spPr>
          <a:xfrm>
            <a:off x="1188720" y="4709160"/>
            <a:ext cx="4526280" cy="438912"/>
          </a:xfrm>
          <a:prstGeom prst="rect">
            <a:avLst/>
          </a:prstGeom>
          <a:noFill/>
          <a:ln/>
        </p:spPr>
        <p:txBody>
          <a:bodyPr wrap="square" lIns="0" tIns="0" rIns="0" bIns="0" rtlCol="0" anchor="ctr"/>
          <a:lstStyle/>
          <a:p>
            <a:pPr indent="0" marL="0">
              <a:buNone/>
            </a:pPr>
            <a:r>
              <a:rPr lang="en-US" sz="1400" dirty="0">
                <a:solidFill>
                  <a:schemeClr val="tx1"/>
                </a:solidFill>
              </a:rPr>
              <a:t>Papier-Compiler: eine Methode erst auf Papier</a:t>
            </a:r>
            <a:endParaRPr lang="en-US" sz="1400" dirty="0"/>
          </a:p>
        </p:txBody>
      </p:sp>
      <p:sp>
        <p:nvSpPr>
          <p:cNvPr id="18" name="Text 12"/>
          <p:cNvSpPr txBox="1"/>
          <p:nvPr/>
        </p:nvSpPr>
        <p:spPr>
          <a:xfrm>
            <a:off x="777240" y="5623560"/>
            <a:ext cx="4937760" cy="320040"/>
          </a:xfrm>
          <a:prstGeom prst="rect">
            <a:avLst/>
          </a:prstGeom>
          <a:noFill/>
          <a:ln/>
        </p:spPr>
        <p:txBody>
          <a:bodyPr wrap="square" lIns="0" tIns="0" rIns="0" bIns="0" rtlCol="0" anchor="t"/>
          <a:lstStyle/>
          <a:p>
            <a:pPr indent="0" marL="0">
              <a:buNone/>
            </a:pPr>
            <a:r>
              <a:rPr lang="en-US" sz="1300" i="1" dirty="0">
                <a:solidFill>
                  <a:schemeClr val="accent6"/>
                </a:solidFill>
              </a:rPr>
              <a:t>Testklasse L54SuchbaumTest · experte_…</a:t>
            </a:r>
            <a:endParaRPr lang="en-US" sz="1300" dirty="0"/>
          </a:p>
        </p:txBody>
      </p:sp>
      <p:sp>
        <p:nvSpPr>
          <p:cNvPr id="19" name="Exit-Ticket"/>
          <p:cNvSpPr/>
          <p:nvPr/>
        </p:nvSpPr>
        <p:spPr>
          <a:xfrm>
            <a:off x="6217920" y="1325880"/>
            <a:ext cx="5394960" cy="4800600"/>
          </a:xfrm>
          <a:prstGeom prst="roundRect">
            <a:avLst>
              <a:gd name="adj" fmla="val 2286"/>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20" name="Chip"/>
          <p:cNvSpPr txBox="1"/>
          <p:nvPr/>
        </p:nvSpPr>
        <p:spPr>
          <a:xfrm>
            <a:off x="6446520" y="1508760"/>
            <a:ext cx="1828800" cy="347472"/>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PAPIER · 6 min</a:t>
            </a:r>
            <a:endParaRPr lang="en-US" sz="1300" dirty="0"/>
          </a:p>
        </p:txBody>
      </p:sp>
      <p:sp>
        <p:nvSpPr>
          <p:cNvPr id="21" name="Text 15"/>
          <p:cNvSpPr txBox="1"/>
          <p:nvPr/>
        </p:nvSpPr>
        <p:spPr>
          <a:xfrm>
            <a:off x="6446520" y="2011680"/>
            <a:ext cx="4983480" cy="3291840"/>
          </a:xfrm>
          <a:prstGeom prst="rect">
            <a:avLst/>
          </a:prstGeom>
          <a:noFill/>
          <a:ln/>
        </p:spPr>
        <p:txBody>
          <a:bodyPr wrap="square" lIns="0" tIns="0" rIns="0" bIns="0" rtlCol="0" anchor="t"/>
          <a:lstStyle/>
          <a:p>
            <a:pPr indent="0" marL="0">
              <a:spcAft>
                <a:spcPts val="1000"/>
              </a:spcAft>
              <a:buNone/>
            </a:pPr>
            <a:r>
              <a:rPr lang="en-US" sz="1600" b="1" dirty="0">
                <a:solidFill>
                  <a:schemeClr val="accent2"/>
                </a:solidFill>
              </a:rPr>
              <a:t>1 </a:t>
            </a:r>
            <a:pPr indent="0" marL="0">
              <a:spcAft>
                <a:spcPts val="1000"/>
              </a:spcAft>
              <a:buNone/>
            </a:pPr>
            <a:r>
              <a:rPr lang="en-US" sz="1600" dirty="0">
                <a:solidFill>
                  <a:schemeClr val="tx1"/>
                </a:solidFill>
              </a:rPr>
              <a:t>Ein ausgeglichener Suchbaum enthält 1 000 Items. Wie viele Vergleiche braucht eine Suche höchstens? Und bei 2 000?</a:t>
            </a:r>
            <a:endParaRPr lang="en-US" sz="1600" dirty="0"/>
          </a:p>
          <a:p>
            <a:pPr indent="0" marL="0">
              <a:spcAft>
                <a:spcPts val="1000"/>
              </a:spcAft>
              <a:buNone/>
            </a:pPr>
            <a:r>
              <a:rPr lang="en-US" sz="1600" b="1" dirty="0">
                <a:solidFill>
                  <a:schemeClr val="accent2"/>
                </a:solidFill>
              </a:rPr>
              <a:t>2 </a:t>
            </a:r>
            <a:pPr indent="0" marL="0">
              <a:spcAft>
                <a:spcPts val="1000"/>
              </a:spcAft>
              <a:buNone/>
            </a:pPr>
            <a:r>
              <a:rPr lang="en-US" sz="1600" dirty="0">
                <a:solidFill>
                  <a:schemeClr val="tx1"/>
                </a:solidFill>
              </a:rPr>
              <a:t>Zeichne ausgeglichenAus({2, 4, 6, 8, 10, 12, 14}).</a:t>
            </a:r>
            <a:endParaRPr lang="en-US" sz="1600" dirty="0"/>
          </a:p>
          <a:p>
            <a:pPr indent="0" marL="0">
              <a:spcAft>
                <a:spcPts val="1000"/>
              </a:spcAft>
              <a:buNone/>
            </a:pPr>
            <a:r>
              <a:rPr lang="en-US" sz="1600" b="1" dirty="0">
                <a:solidFill>
                  <a:schemeClr val="accent2"/>
                </a:solidFill>
              </a:rPr>
              <a:t>3 </a:t>
            </a:r>
            <a:pPr indent="0" marL="0">
              <a:spcAft>
                <a:spcPts val="1000"/>
              </a:spcAft>
              <a:buNone/>
            </a:pPr>
            <a:r>
              <a:rPr lang="en-US" sz="1600" dirty="0">
                <a:solidFill>
                  <a:schemeClr val="tx1"/>
                </a:solidFill>
              </a:rPr>
              <a:t>Begründe in einem Satz, warum istBST Grenzen braucht.</a:t>
            </a:r>
            <a:endParaRPr lang="en-US" sz="1600" dirty="0"/>
          </a:p>
        </p:txBody>
      </p:sp>
      <p:sp>
        <p:nvSpPr>
          <p:cNvPr id="22" name="Text 16"/>
          <p:cNvSpPr txBox="1"/>
          <p:nvPr/>
        </p:nvSpPr>
        <p:spPr>
          <a:xfrm>
            <a:off x="6446520" y="5303520"/>
            <a:ext cx="4983480" cy="685800"/>
          </a:xfrm>
          <a:prstGeom prst="rect">
            <a:avLst/>
          </a:prstGeom>
          <a:noFill/>
          <a:ln/>
        </p:spPr>
        <p:txBody>
          <a:bodyPr wrap="square" lIns="0" tIns="0" rIns="0" bIns="0" rtlCol="0" anchor="ctr"/>
          <a:lstStyle/>
          <a:p>
            <a:pPr indent="0" marL="0">
              <a:buNone/>
            </a:pPr>
            <a:r>
              <a:rPr lang="en-US" sz="1400" b="1" dirty="0">
                <a:solidFill>
                  <a:schemeClr val="accent2"/>
                </a:solidFill>
              </a:rPr>
              <a:t>Sicherung: </a:t>
            </a:r>
            <a:pPr indent="0" marL="0">
              <a:buNone/>
            </a:pPr>
            <a:r>
              <a:rPr lang="en-US" sz="1400" dirty="0">
                <a:solidFill>
                  <a:schemeClr val="tx1"/>
                </a:solidFill>
              </a:rPr>
              <a:t>Warm-up W5-14</a:t>
            </a:r>
            <a:endParaRPr lang="en-US" sz="1400" dirty="0"/>
          </a:p>
          <a:p>
            <a:pPr indent="0" marL="0">
              <a:buNone/>
            </a:pPr>
            <a:r>
              <a:rPr lang="en-US" sz="1400" b="1" dirty="0">
                <a:solidFill>
                  <a:schemeClr val="accent2"/>
                </a:solidFill>
              </a:rPr>
              <a:t>Boss-Training: </a:t>
            </a:r>
            <a:pPr indent="0" marL="0">
              <a:buNone/>
            </a:pPr>
            <a:r>
              <a:rPr lang="en-US" sz="1400" dirty="0">
                <a:solidFill>
                  <a:schemeClr val="tx1"/>
                </a:solidFill>
              </a:rPr>
              <a:t>W5-05 · W5-07 · W5-08 · W5-13 · W5-14</a:t>
            </a:r>
            <a:endParaRPr lang="en-US" sz="1400" dirty="0"/>
          </a:p>
        </p:txBody>
      </p:sp>
      <p:sp>
        <p:nvSpPr>
          <p:cNvPr id="23" name="Text 17"/>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35 · Experte + Exit</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Strategie: Eine unbekannte Baumart erschließen</a:t>
            </a:r>
            <a:endParaRPr lang="en-US" sz="3600" dirty="0"/>
          </a:p>
        </p:txBody>
      </p:sp>
      <p:sp>
        <p:nvSpPr>
          <p:cNvPr id="3" name="Schritt 1"/>
          <p:cNvSpPr/>
          <p:nvPr/>
        </p:nvSpPr>
        <p:spPr>
          <a:xfrm>
            <a:off x="548640" y="1325880"/>
            <a:ext cx="2651760" cy="379476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4" name="Nummer 1"/>
          <p:cNvSpPr txBox="1"/>
          <p:nvPr/>
        </p:nvSpPr>
        <p:spPr>
          <a:xfrm>
            <a:off x="685800"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5" name="Icon-Kreis"/>
          <p:cNvSpPr/>
          <p:nvPr/>
        </p:nvSpPr>
        <p:spPr>
          <a:xfrm>
            <a:off x="2331720" y="1463040"/>
            <a:ext cx="731520" cy="731520"/>
          </a:xfrm>
          <a:prstGeom prst="ellipse">
            <a:avLst/>
          </a:prstGeom>
          <a:solidFill>
            <a:schemeClr val="accent1"/>
          </a:solidFill>
          <a:ln/>
        </p:spPr>
      </p:sp>
      <p:pic>
        <p:nvPicPr>
          <p:cNvPr id="6" name="Icon GiSecretBook" descr="preencoded.png">    </p:cNvPr>
          <p:cNvPicPr>
            <a:picLocks noChangeAspect="1"/>
          </p:cNvPicPr>
          <p:nvPr/>
        </p:nvPicPr>
        <p:blipFill>
          <a:blip r:embed="rId1"/>
          <a:stretch>
            <a:fillRect/>
          </a:stretch>
        </p:blipFill>
        <p:spPr>
          <a:xfrm>
            <a:off x="2492654" y="1623974"/>
            <a:ext cx="409651" cy="409651"/>
          </a:xfrm>
          <a:prstGeom prst="rect">
            <a:avLst/>
          </a:prstGeom>
        </p:spPr>
      </p:pic>
      <p:sp>
        <p:nvSpPr>
          <p:cNvPr id="7" name="Text 4"/>
          <p:cNvSpPr txBox="1"/>
          <p:nvPr/>
        </p:nvSpPr>
        <p:spPr>
          <a:xfrm>
            <a:off x="685800" y="2286000"/>
            <a:ext cx="2377440" cy="365760"/>
          </a:xfrm>
          <a:prstGeom prst="rect">
            <a:avLst/>
          </a:prstGeom>
          <a:noFill/>
          <a:ln/>
        </p:spPr>
        <p:txBody>
          <a:bodyPr wrap="square" lIns="0" tIns="0" rIns="0" bIns="0" rtlCol="0" anchor="t"/>
          <a:lstStyle/>
          <a:p>
            <a:pPr indent="0" marL="0">
              <a:buNone/>
            </a:pPr>
            <a:r>
              <a:rPr lang="en-US" sz="1800" b="1" dirty="0">
                <a:solidFill>
                  <a:schemeClr val="accent1"/>
                </a:solidFill>
              </a:rPr>
              <a:t>Definition lesen</a:t>
            </a:r>
            <a:endParaRPr lang="en-US" sz="1800" dirty="0"/>
          </a:p>
        </p:txBody>
      </p:sp>
      <p:sp>
        <p:nvSpPr>
          <p:cNvPr id="8" name="Text 5"/>
          <p:cNvSpPr txBox="1"/>
          <p:nvPr/>
        </p:nvSpPr>
        <p:spPr>
          <a:xfrm>
            <a:off x="685800"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Begriffe markieren: Was ist ein Knoten, was steht darin, was ist erlaubt?</a:t>
            </a:r>
            <a:endParaRPr lang="en-US" sz="1500" dirty="0"/>
          </a:p>
        </p:txBody>
      </p:sp>
      <p:sp>
        <p:nvSpPr>
          <p:cNvPr id="9" name="Beispiel 1"/>
          <p:cNvSpPr txBox="1"/>
          <p:nvPr/>
        </p:nvSpPr>
        <p:spPr>
          <a:xfrm>
            <a:off x="685800" y="4206240"/>
            <a:ext cx="2377440" cy="74980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BST: „links kleiner, rechts größer“</a:t>
            </a:r>
            <a:endParaRPr lang="en-US" sz="1300" dirty="0"/>
          </a:p>
        </p:txBody>
      </p:sp>
      <p:sp>
        <p:nvSpPr>
          <p:cNvPr id="10" name="Pfeil Schritt"/>
          <p:cNvSpPr/>
          <p:nvPr/>
        </p:nvSpPr>
        <p:spPr>
          <a:xfrm>
            <a:off x="3209544" y="3108960"/>
            <a:ext cx="146304" cy="91"/>
          </a:xfrm>
          <a:prstGeom prst="line">
            <a:avLst/>
          </a:prstGeom>
          <a:noFill/>
          <a:ln w="31750">
            <a:solidFill>
              <a:schemeClr val="accent2"/>
            </a:solidFill>
            <a:prstDash val="solid"/>
            <a:tailEnd type="triangle"/>
          </a:ln>
        </p:spPr>
      </p:sp>
      <p:sp>
        <p:nvSpPr>
          <p:cNvPr id="11" name="Schritt 2"/>
          <p:cNvSpPr/>
          <p:nvPr/>
        </p:nvSpPr>
        <p:spPr>
          <a:xfrm>
            <a:off x="3364992" y="1325880"/>
            <a:ext cx="2651760" cy="379476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12" name="Nummer 2"/>
          <p:cNvSpPr txBox="1"/>
          <p:nvPr/>
        </p:nvSpPr>
        <p:spPr>
          <a:xfrm>
            <a:off x="3502152"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Icon-Kreis"/>
          <p:cNvSpPr/>
          <p:nvPr/>
        </p:nvSpPr>
        <p:spPr>
          <a:xfrm>
            <a:off x="5148072" y="1463040"/>
            <a:ext cx="731520" cy="731520"/>
          </a:xfrm>
          <a:prstGeom prst="ellipse">
            <a:avLst/>
          </a:prstGeom>
          <a:solidFill>
            <a:schemeClr val="accent1"/>
          </a:solidFill>
          <a:ln/>
        </p:spPr>
      </p:sp>
      <p:pic>
        <p:nvPicPr>
          <p:cNvPr id="14" name="Icon GiPencil" descr="preencoded.png">    </p:cNvPr>
          <p:cNvPicPr>
            <a:picLocks noChangeAspect="1"/>
          </p:cNvPicPr>
          <p:nvPr/>
        </p:nvPicPr>
        <p:blipFill>
          <a:blip r:embed="rId2"/>
          <a:stretch>
            <a:fillRect/>
          </a:stretch>
        </p:blipFill>
        <p:spPr>
          <a:xfrm>
            <a:off x="5309006" y="1623974"/>
            <a:ext cx="409651" cy="409651"/>
          </a:xfrm>
          <a:prstGeom prst="rect">
            <a:avLst/>
          </a:prstGeom>
        </p:spPr>
      </p:pic>
      <p:sp>
        <p:nvSpPr>
          <p:cNvPr id="15" name="Text 11"/>
          <p:cNvSpPr txBox="1"/>
          <p:nvPr/>
        </p:nvSpPr>
        <p:spPr>
          <a:xfrm>
            <a:off x="3502152" y="2286000"/>
            <a:ext cx="2377440" cy="365760"/>
          </a:xfrm>
          <a:prstGeom prst="rect">
            <a:avLst/>
          </a:prstGeom>
          <a:noFill/>
          <a:ln/>
        </p:spPr>
        <p:txBody>
          <a:bodyPr wrap="square" lIns="0" tIns="0" rIns="0" bIns="0" rtlCol="0" anchor="t"/>
          <a:lstStyle/>
          <a:p>
            <a:pPr indent="0" marL="0">
              <a:buNone/>
            </a:pPr>
            <a:r>
              <a:rPr lang="en-US" sz="1800" b="1" dirty="0">
                <a:solidFill>
                  <a:schemeClr val="accent1"/>
                </a:solidFill>
              </a:rPr>
              <a:t>Beispiel von Hand</a:t>
            </a:r>
            <a:endParaRPr lang="en-US" sz="1800" dirty="0"/>
          </a:p>
        </p:txBody>
      </p:sp>
      <p:sp>
        <p:nvSpPr>
          <p:cNvPr id="16" name="Text 12"/>
          <p:cNvSpPr txBox="1"/>
          <p:nvPr/>
        </p:nvSpPr>
        <p:spPr>
          <a:xfrm>
            <a:off x="3502152"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Kleines Beispiel zeichnen und jede Operation einmal durchspielen.</a:t>
            </a:r>
            <a:endParaRPr lang="en-US" sz="1500" dirty="0"/>
          </a:p>
        </p:txBody>
      </p:sp>
      <p:sp>
        <p:nvSpPr>
          <p:cNvPr id="17" name="Beispiel 2"/>
          <p:cNvSpPr txBox="1"/>
          <p:nvPr/>
        </p:nvSpPr>
        <p:spPr>
          <a:xfrm>
            <a:off x="3502152" y="4206240"/>
            <a:ext cx="2377440" cy="74980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BST: 8, 3, 10 einfügen</a:t>
            </a:r>
            <a:endParaRPr lang="en-US" sz="1300" dirty="0"/>
          </a:p>
        </p:txBody>
      </p:sp>
      <p:sp>
        <p:nvSpPr>
          <p:cNvPr id="18" name="Pfeil Schritt"/>
          <p:cNvSpPr/>
          <p:nvPr/>
        </p:nvSpPr>
        <p:spPr>
          <a:xfrm>
            <a:off x="6025896" y="3108960"/>
            <a:ext cx="146304" cy="91"/>
          </a:xfrm>
          <a:prstGeom prst="line">
            <a:avLst/>
          </a:prstGeom>
          <a:noFill/>
          <a:ln w="31750">
            <a:solidFill>
              <a:schemeClr val="accent2"/>
            </a:solidFill>
            <a:prstDash val="solid"/>
            <a:tailEnd type="triangle"/>
          </a:ln>
        </p:spPr>
      </p:sp>
      <p:sp>
        <p:nvSpPr>
          <p:cNvPr id="19" name="Schritt 3"/>
          <p:cNvSpPr/>
          <p:nvPr/>
        </p:nvSpPr>
        <p:spPr>
          <a:xfrm>
            <a:off x="6181344" y="1325880"/>
            <a:ext cx="2651760" cy="379476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0" name="Nummer 3"/>
          <p:cNvSpPr txBox="1"/>
          <p:nvPr/>
        </p:nvSpPr>
        <p:spPr>
          <a:xfrm>
            <a:off x="6318504"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Icon-Kreis"/>
          <p:cNvSpPr/>
          <p:nvPr/>
        </p:nvSpPr>
        <p:spPr>
          <a:xfrm>
            <a:off x="7964424" y="1463040"/>
            <a:ext cx="731520" cy="731520"/>
          </a:xfrm>
          <a:prstGeom prst="ellipse">
            <a:avLst/>
          </a:prstGeom>
          <a:solidFill>
            <a:schemeClr val="accent1"/>
          </a:solidFill>
          <a:ln/>
        </p:spPr>
      </p:sp>
      <p:pic>
        <p:nvPicPr>
          <p:cNvPr id="22" name="Icon GiTargeted" descr="preencoded.png">    </p:cNvPr>
          <p:cNvPicPr>
            <a:picLocks noChangeAspect="1"/>
          </p:cNvPicPr>
          <p:nvPr/>
        </p:nvPicPr>
        <p:blipFill>
          <a:blip r:embed="rId3"/>
          <a:stretch>
            <a:fillRect/>
          </a:stretch>
        </p:blipFill>
        <p:spPr>
          <a:xfrm>
            <a:off x="8125358" y="1623974"/>
            <a:ext cx="409651" cy="409651"/>
          </a:xfrm>
          <a:prstGeom prst="rect">
            <a:avLst/>
          </a:prstGeom>
        </p:spPr>
      </p:pic>
      <p:sp>
        <p:nvSpPr>
          <p:cNvPr id="23" name="Text 18"/>
          <p:cNvSpPr txBox="1"/>
          <p:nvPr/>
        </p:nvSpPr>
        <p:spPr>
          <a:xfrm>
            <a:off x="6318504" y="2286000"/>
            <a:ext cx="2377440" cy="365760"/>
          </a:xfrm>
          <a:prstGeom prst="rect">
            <a:avLst/>
          </a:prstGeom>
          <a:noFill/>
          <a:ln/>
        </p:spPr>
        <p:txBody>
          <a:bodyPr wrap="square" lIns="0" tIns="0" rIns="0" bIns="0" rtlCol="0" anchor="t"/>
          <a:lstStyle/>
          <a:p>
            <a:pPr indent="0" marL="0">
              <a:buNone/>
            </a:pPr>
            <a:r>
              <a:rPr lang="en-US" sz="1800" b="1" dirty="0">
                <a:solidFill>
                  <a:schemeClr val="accent1"/>
                </a:solidFill>
              </a:rPr>
              <a:t>Invariante formulieren</a:t>
            </a:r>
            <a:endParaRPr lang="en-US" sz="1800" dirty="0"/>
          </a:p>
        </p:txBody>
      </p:sp>
      <p:sp>
        <p:nvSpPr>
          <p:cNvPr id="24" name="Text 19"/>
          <p:cNvSpPr txBox="1"/>
          <p:nvPr/>
        </p:nvSpPr>
        <p:spPr>
          <a:xfrm>
            <a:off x="6318504"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Was gilt IMMER – vor und nach jeder Operation? Ein Satz mit „für jeden Knoten …“.</a:t>
            </a:r>
            <a:endParaRPr lang="en-US" sz="1500" dirty="0"/>
          </a:p>
        </p:txBody>
      </p:sp>
      <p:sp>
        <p:nvSpPr>
          <p:cNvPr id="25" name="Beispiel 3"/>
          <p:cNvSpPr txBox="1"/>
          <p:nvPr/>
        </p:nvSpPr>
        <p:spPr>
          <a:xfrm>
            <a:off x="6318504" y="4206240"/>
            <a:ext cx="2377440" cy="74980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BST: für jeden Knoten links &lt; w &lt; rechts</a:t>
            </a:r>
            <a:endParaRPr lang="en-US" sz="1300" dirty="0"/>
          </a:p>
        </p:txBody>
      </p:sp>
      <p:sp>
        <p:nvSpPr>
          <p:cNvPr id="26" name="Pfeil Schritt"/>
          <p:cNvSpPr/>
          <p:nvPr/>
        </p:nvSpPr>
        <p:spPr>
          <a:xfrm>
            <a:off x="8842248" y="3108960"/>
            <a:ext cx="146304" cy="91"/>
          </a:xfrm>
          <a:prstGeom prst="line">
            <a:avLst/>
          </a:prstGeom>
          <a:noFill/>
          <a:ln w="31750">
            <a:solidFill>
              <a:schemeClr val="accent2"/>
            </a:solidFill>
            <a:prstDash val="solid"/>
            <a:tailEnd type="triangle"/>
          </a:ln>
        </p:spPr>
      </p:sp>
      <p:sp>
        <p:nvSpPr>
          <p:cNvPr id="27" name="Schritt 4"/>
          <p:cNvSpPr/>
          <p:nvPr/>
        </p:nvSpPr>
        <p:spPr>
          <a:xfrm>
            <a:off x="8997696" y="1325880"/>
            <a:ext cx="2651760" cy="3794760"/>
          </a:xfrm>
          <a:prstGeom prst="roundRect">
            <a:avLst>
              <a:gd name="adj" fmla="val 4138"/>
            </a:avLst>
          </a:prstGeom>
          <a:solidFill>
            <a:schemeClr val="bg1"/>
          </a:solidFill>
          <a:ln w="19050">
            <a:solidFill>
              <a:schemeClr val="bg2"/>
            </a:solidFill>
            <a:prstDash val="solid"/>
          </a:ln>
          <a:effectLst>
            <a:outerShdw sx="100000" sy="100000" kx="0" ky="0" algn="bl" rotWithShape="0" blurRad="76200" dist="25400" dir="5400000">
              <a:srgbClr val="000000">
                <a:alpha val="18000"/>
              </a:srgbClr>
            </a:outerShdw>
          </a:effectLst>
        </p:spPr>
      </p:sp>
      <p:sp>
        <p:nvSpPr>
          <p:cNvPr id="28" name="Nummer 4"/>
          <p:cNvSpPr txBox="1"/>
          <p:nvPr/>
        </p:nvSpPr>
        <p:spPr>
          <a:xfrm>
            <a:off x="9134856" y="1463040"/>
            <a:ext cx="457200" cy="457200"/>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9" name="Icon-Kreis"/>
          <p:cNvSpPr/>
          <p:nvPr/>
        </p:nvSpPr>
        <p:spPr>
          <a:xfrm>
            <a:off x="10780776" y="1463040"/>
            <a:ext cx="731520" cy="731520"/>
          </a:xfrm>
          <a:prstGeom prst="ellipse">
            <a:avLst/>
          </a:prstGeom>
          <a:solidFill>
            <a:schemeClr val="accent1"/>
          </a:solidFill>
          <a:ln/>
        </p:spPr>
      </p:sp>
      <p:pic>
        <p:nvPicPr>
          <p:cNvPr id="30" name="Icon GiTreeBranch" descr="preencoded.png">    </p:cNvPr>
          <p:cNvPicPr>
            <a:picLocks noChangeAspect="1"/>
          </p:cNvPicPr>
          <p:nvPr/>
        </p:nvPicPr>
        <p:blipFill>
          <a:blip r:embed="rId4"/>
          <a:stretch>
            <a:fillRect/>
          </a:stretch>
        </p:blipFill>
        <p:spPr>
          <a:xfrm>
            <a:off x="10941710" y="1623974"/>
            <a:ext cx="409651" cy="409651"/>
          </a:xfrm>
          <a:prstGeom prst="rect">
            <a:avLst/>
          </a:prstGeom>
        </p:spPr>
      </p:pic>
      <p:sp>
        <p:nvSpPr>
          <p:cNvPr id="31" name="Text 25"/>
          <p:cNvSpPr txBox="1"/>
          <p:nvPr/>
        </p:nvSpPr>
        <p:spPr>
          <a:xfrm>
            <a:off x="9134856" y="2286000"/>
            <a:ext cx="2377440" cy="365760"/>
          </a:xfrm>
          <a:prstGeom prst="rect">
            <a:avLst/>
          </a:prstGeom>
          <a:noFill/>
          <a:ln/>
        </p:spPr>
        <p:txBody>
          <a:bodyPr wrap="square" lIns="0" tIns="0" rIns="0" bIns="0" rtlCol="0" anchor="t"/>
          <a:lstStyle/>
          <a:p>
            <a:pPr indent="0" marL="0">
              <a:buNone/>
            </a:pPr>
            <a:r>
              <a:rPr lang="en-US" sz="1800" b="1" dirty="0">
                <a:solidFill>
                  <a:schemeClr val="accent1"/>
                </a:solidFill>
              </a:rPr>
              <a:t>Auf BinTree abbilden</a:t>
            </a:r>
            <a:endParaRPr lang="en-US" sz="1800" dirty="0"/>
          </a:p>
        </p:txBody>
      </p:sp>
      <p:sp>
        <p:nvSpPr>
          <p:cNvPr id="32" name="Text 26"/>
          <p:cNvSpPr txBox="1"/>
          <p:nvPr/>
        </p:nvSpPr>
        <p:spPr>
          <a:xfrm>
            <a:off x="9134856" y="2697480"/>
            <a:ext cx="2377440" cy="1417320"/>
          </a:xfrm>
          <a:prstGeom prst="rect">
            <a:avLst/>
          </a:prstGeom>
          <a:noFill/>
          <a:ln/>
        </p:spPr>
        <p:txBody>
          <a:bodyPr wrap="square" lIns="0" tIns="0" rIns="0" bIns="0" rtlCol="0" anchor="t"/>
          <a:lstStyle/>
          <a:p>
            <a:pPr indent="0" marL="0">
              <a:buNone/>
            </a:pPr>
            <a:r>
              <a:rPr lang="en-US" sz="1500" dirty="0">
                <a:solidFill>
                  <a:schemeClr val="tx1"/>
                </a:solidFill>
              </a:rPr>
              <a:t>Was ist getItem()? Basisfall isEmpty()? Welche Teilbäume braucht die Operation?</a:t>
            </a:r>
            <a:endParaRPr lang="en-US" sz="1500" dirty="0"/>
          </a:p>
        </p:txBody>
      </p:sp>
      <p:sp>
        <p:nvSpPr>
          <p:cNvPr id="33" name="Beispiel 4"/>
          <p:cNvSpPr txBox="1"/>
          <p:nvPr/>
        </p:nvSpPr>
        <p:spPr>
          <a:xfrm>
            <a:off x="9134856" y="4206240"/>
            <a:ext cx="2377440" cy="749808"/>
          </a:xfrm>
          <a:prstGeom prst="rect">
            <a:avLst/>
          </a:prstGeom>
          <a:solidFill>
            <a:schemeClr val="bg2"/>
          </a:solidFill>
          <a:ln/>
        </p:spPr>
        <p:txBody>
          <a:bodyPr wrap="square" lIns="76200" tIns="0" rIns="76200" bIns="0" rtlCol="0" anchor="ctr"/>
          <a:lstStyle/>
          <a:p>
            <a:pPr indent="0" marL="0">
              <a:buNone/>
            </a:pPr>
            <a:r>
              <a:rPr lang="en-US" sz="1300" i="1" dirty="0">
                <a:solidFill>
                  <a:schemeClr val="accent1"/>
                </a:solidFill>
              </a:rPr>
              <a:t>BST: suche geht nur in EINEN Teilbaum</a:t>
            </a:r>
            <a:endParaRPr lang="en-US" sz="1300" dirty="0"/>
          </a:p>
        </p:txBody>
      </p:sp>
      <p:sp>
        <p:nvSpPr>
          <p:cNvPr id="34" name="Achtung Abi Transfer"/>
          <p:cNvSpPr/>
          <p:nvPr/>
        </p:nvSpPr>
        <p:spPr>
          <a:xfrm>
            <a:off x="548640" y="5349240"/>
            <a:ext cx="11064240" cy="777240"/>
          </a:xfrm>
          <a:prstGeom prst="roundRect">
            <a:avLst>
              <a:gd name="adj" fmla="val 14118"/>
            </a:avLst>
          </a:prstGeom>
          <a:solidFill>
            <a:schemeClr val="bg1"/>
          </a:solidFill>
          <a:ln w="25400">
            <a:solidFill>
              <a:schemeClr val="accent4"/>
            </a:solidFill>
            <a:prstDash val="solid"/>
          </a:ln>
        </p:spPr>
      </p:sp>
      <p:sp>
        <p:nvSpPr>
          <p:cNvPr id="35" name="Text 29"/>
          <p:cNvSpPr txBox="1"/>
          <p:nvPr/>
        </p:nvSpPr>
        <p:spPr>
          <a:xfrm>
            <a:off x="749808" y="5349240"/>
            <a:ext cx="10698480" cy="777240"/>
          </a:xfrm>
          <a:prstGeom prst="rect">
            <a:avLst/>
          </a:prstGeom>
          <a:noFill/>
          <a:ln/>
        </p:spPr>
        <p:txBody>
          <a:bodyPr wrap="square" lIns="0" tIns="0" rIns="0" bIns="0" rtlCol="0" anchor="ctr"/>
          <a:lstStyle/>
          <a:p>
            <a:pPr indent="0" marL="0">
              <a:buNone/>
            </a:pPr>
            <a:r>
              <a:rPr lang="en-US" sz="1600" b="1" dirty="0">
                <a:solidFill>
                  <a:schemeClr val="accent4"/>
                </a:solidFill>
              </a:rPr>
              <a:t>Achtung Abi: </a:t>
            </a:r>
            <a:pPr indent="0" marL="0">
              <a:buNone/>
            </a:pPr>
            <a:r>
              <a:rPr lang="en-US" sz="1600" dirty="0">
                <a:solidFill>
                  <a:schemeClr val="tx1"/>
                </a:solidFill>
              </a:rPr>
              <a:t>Unbekannte Bäume (Heap, Huffman, B-Baum, Trie …) werden im Material vollständig definiert – lesen schlägt auswendig lernen.</a:t>
            </a:r>
            <a:endParaRPr lang="en-US" sz="1600" dirty="0"/>
          </a:p>
        </p:txBody>
      </p:sp>
      <p:sp>
        <p:nvSpPr>
          <p:cNvPr id="36" name="Text 30"/>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36 · Strategie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Boss 5: Die drei Baumhüter</a:t>
            </a:r>
            <a:endParaRPr lang="en-US" sz="3600" dirty="0"/>
          </a:p>
        </p:txBody>
      </p:sp>
      <p:sp>
        <p:nvSpPr>
          <p:cNvPr id="3" name="Station A"/>
          <p:cNvSpPr/>
          <p:nvPr/>
        </p:nvSpPr>
        <p:spPr>
          <a:xfrm>
            <a:off x="548640" y="1325880"/>
            <a:ext cx="3566160" cy="2926080"/>
          </a:xfrm>
          <a:prstGeom prst="roundRect">
            <a:avLst>
              <a:gd name="adj" fmla="val 3750"/>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Icon-Kreis"/>
          <p:cNvSpPr/>
          <p:nvPr/>
        </p:nvSpPr>
        <p:spPr>
          <a:xfrm>
            <a:off x="777240" y="1508760"/>
            <a:ext cx="822960" cy="822960"/>
          </a:xfrm>
          <a:prstGeom prst="ellipse">
            <a:avLst/>
          </a:prstGeom>
          <a:solidFill>
            <a:schemeClr val="accent4"/>
          </a:solidFill>
          <a:ln w="31750">
            <a:solidFill>
              <a:schemeClr val="accent2"/>
            </a:solidFill>
            <a:prstDash val="solid"/>
          </a:ln>
        </p:spPr>
      </p:sp>
      <p:pic>
        <p:nvPicPr>
          <p:cNvPr id="5" name="Icon GiMountaintop" descr="preencoded.png">    </p:cNvPr>
          <p:cNvPicPr>
            <a:picLocks noChangeAspect="1"/>
          </p:cNvPicPr>
          <p:nvPr/>
        </p:nvPicPr>
        <p:blipFill>
          <a:blip r:embed="rId1"/>
          <a:stretch>
            <a:fillRect/>
          </a:stretch>
        </p:blipFill>
        <p:spPr>
          <a:xfrm>
            <a:off x="958291" y="1689811"/>
            <a:ext cx="460858" cy="460858"/>
          </a:xfrm>
          <a:prstGeom prst="rect">
            <a:avLst/>
          </a:prstGeom>
        </p:spPr>
      </p:pic>
      <p:sp>
        <p:nvSpPr>
          <p:cNvPr id="6" name="Text 3"/>
          <p:cNvSpPr txBox="1"/>
          <p:nvPr/>
        </p:nvSpPr>
        <p:spPr>
          <a:xfrm>
            <a:off x="1737360" y="1481328"/>
            <a:ext cx="2240280" cy="868680"/>
          </a:xfrm>
          <a:prstGeom prst="rect">
            <a:avLst/>
          </a:prstGeom>
          <a:noFill/>
          <a:ln/>
        </p:spPr>
        <p:txBody>
          <a:bodyPr wrap="square" lIns="0" tIns="0" rIns="0" bIns="0" rtlCol="0" anchor="ctr"/>
          <a:lstStyle/>
          <a:p>
            <a:pPr indent="0" marL="0">
              <a:buNone/>
            </a:pPr>
            <a:r>
              <a:rPr lang="en-US" sz="1500" b="1" dirty="0">
                <a:solidFill>
                  <a:schemeClr val="accent2"/>
                </a:solidFill>
              </a:rPr>
              <a:t>Station A</a:t>
            </a:r>
            <a:endParaRPr lang="en-US" sz="1800" dirty="0"/>
          </a:p>
          <a:p>
            <a:pPr indent="0" marL="0">
              <a:buNone/>
            </a:pPr>
            <a:r>
              <a:rPr lang="en-US" sz="2200" b="1" dirty="0">
                <a:solidFill>
                  <a:schemeClr val="accent1"/>
                </a:solidFill>
              </a:rPr>
              <a:t>Max-Heap</a:t>
            </a:r>
            <a:endParaRPr lang="en-US" sz="1800" dirty="0"/>
          </a:p>
        </p:txBody>
      </p:sp>
      <p:sp>
        <p:nvSpPr>
          <p:cNvPr id="7" name="Text 4"/>
          <p:cNvSpPr txBox="1"/>
          <p:nvPr/>
        </p:nvSpPr>
        <p:spPr>
          <a:xfrm>
            <a:off x="777240" y="2514600"/>
            <a:ext cx="3108960" cy="960120"/>
          </a:xfrm>
          <a:prstGeom prst="rect">
            <a:avLst/>
          </a:prstGeom>
          <a:noFill/>
          <a:ln/>
        </p:spPr>
        <p:txBody>
          <a:bodyPr wrap="square" lIns="0" tIns="0" rIns="0" bIns="0" rtlCol="0" anchor="t"/>
          <a:lstStyle/>
          <a:p>
            <a:pPr indent="0" marL="0">
              <a:buNone/>
            </a:pPr>
            <a:r>
              <a:rPr lang="en-US" sz="1500" dirty="0">
                <a:solidFill>
                  <a:schemeClr val="tx1"/>
                </a:solidFill>
              </a:rPr>
              <a:t>Ordnung erkennen, Heap von Hand, Vergleich mit dem Suchbaum</a:t>
            </a:r>
            <a:endParaRPr lang="en-US" sz="1500" dirty="0"/>
          </a:p>
        </p:txBody>
      </p:sp>
      <p:sp>
        <p:nvSpPr>
          <p:cNvPr id="8" name="Chip"/>
          <p:cNvSpPr txBox="1"/>
          <p:nvPr/>
        </p:nvSpPr>
        <p:spPr>
          <a:xfrm>
            <a:off x="777240" y="3611880"/>
            <a:ext cx="31089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 12 BE · unbekannte Baumart</a:t>
            </a:r>
            <a:endParaRPr lang="en-US" sz="1300" dirty="0"/>
          </a:p>
        </p:txBody>
      </p:sp>
      <p:sp>
        <p:nvSpPr>
          <p:cNvPr id="9" name="Station B"/>
          <p:cNvSpPr/>
          <p:nvPr/>
        </p:nvSpPr>
        <p:spPr>
          <a:xfrm>
            <a:off x="4297680" y="1325880"/>
            <a:ext cx="3566160" cy="2926080"/>
          </a:xfrm>
          <a:prstGeom prst="roundRect">
            <a:avLst>
              <a:gd name="adj" fmla="val 3750"/>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0" name="Icon-Kreis"/>
          <p:cNvSpPr/>
          <p:nvPr/>
        </p:nvSpPr>
        <p:spPr>
          <a:xfrm>
            <a:off x="4526280" y="1508760"/>
            <a:ext cx="822960" cy="822960"/>
          </a:xfrm>
          <a:prstGeom prst="ellipse">
            <a:avLst/>
          </a:prstGeom>
          <a:solidFill>
            <a:schemeClr val="accent4"/>
          </a:solidFill>
          <a:ln w="31750">
            <a:solidFill>
              <a:schemeClr val="accent2"/>
            </a:solidFill>
            <a:prstDash val="solid"/>
          </a:ln>
        </p:spPr>
      </p:sp>
      <p:pic>
        <p:nvPicPr>
          <p:cNvPr id="11" name="Icon GiSecretBook" descr="preencoded.png">    </p:cNvPr>
          <p:cNvPicPr>
            <a:picLocks noChangeAspect="1"/>
          </p:cNvPicPr>
          <p:nvPr/>
        </p:nvPicPr>
        <p:blipFill>
          <a:blip r:embed="rId2"/>
          <a:stretch>
            <a:fillRect/>
          </a:stretch>
        </p:blipFill>
        <p:spPr>
          <a:xfrm>
            <a:off x="4707331" y="1689811"/>
            <a:ext cx="460858" cy="460858"/>
          </a:xfrm>
          <a:prstGeom prst="rect">
            <a:avLst/>
          </a:prstGeom>
        </p:spPr>
      </p:pic>
      <p:sp>
        <p:nvSpPr>
          <p:cNvPr id="12" name="Text 8"/>
          <p:cNvSpPr txBox="1"/>
          <p:nvPr/>
        </p:nvSpPr>
        <p:spPr>
          <a:xfrm>
            <a:off x="5486400" y="1481328"/>
            <a:ext cx="2240280" cy="868680"/>
          </a:xfrm>
          <a:prstGeom prst="rect">
            <a:avLst/>
          </a:prstGeom>
          <a:noFill/>
          <a:ln/>
        </p:spPr>
        <p:txBody>
          <a:bodyPr wrap="square" lIns="0" tIns="0" rIns="0" bIns="0" rtlCol="0" anchor="ctr"/>
          <a:lstStyle/>
          <a:p>
            <a:pPr indent="0" marL="0">
              <a:buNone/>
            </a:pPr>
            <a:r>
              <a:rPr lang="en-US" sz="1500" b="1" dirty="0">
                <a:solidFill>
                  <a:schemeClr val="accent2"/>
                </a:solidFill>
              </a:rPr>
              <a:t>Station B</a:t>
            </a:r>
            <a:endParaRPr lang="en-US" sz="1800" dirty="0"/>
          </a:p>
          <a:p>
            <a:pPr indent="0" marL="0">
              <a:buNone/>
            </a:pPr>
            <a:r>
              <a:rPr lang="en-US" sz="2200" b="1" dirty="0">
                <a:solidFill>
                  <a:schemeClr val="accent1"/>
                </a:solidFill>
              </a:rPr>
              <a:t>Huffman-Baum</a:t>
            </a:r>
            <a:endParaRPr lang="en-US" sz="1800" dirty="0"/>
          </a:p>
        </p:txBody>
      </p:sp>
      <p:sp>
        <p:nvSpPr>
          <p:cNvPr id="13" name="Text 9"/>
          <p:cNvSpPr txBox="1"/>
          <p:nvPr/>
        </p:nvSpPr>
        <p:spPr>
          <a:xfrm>
            <a:off x="4526280" y="2514600"/>
            <a:ext cx="3108960" cy="960120"/>
          </a:xfrm>
          <a:prstGeom prst="rect">
            <a:avLst/>
          </a:prstGeom>
          <a:noFill/>
          <a:ln/>
        </p:spPr>
        <p:txBody>
          <a:bodyPr wrap="square" lIns="0" tIns="0" rIns="0" bIns="0" rtlCol="0" anchor="t"/>
          <a:lstStyle/>
          <a:p>
            <a:pPr indent="0" marL="0">
              <a:buNone/>
            </a:pPr>
            <a:r>
              <a:rPr lang="en-US" sz="1500" dirty="0">
                <a:solidFill>
                  <a:schemeClr val="tx1"/>
                </a:solidFill>
              </a:rPr>
              <a:t>Baum nach Verfahren aufbauen, codieren und decodieren</a:t>
            </a:r>
            <a:endParaRPr lang="en-US" sz="1500" dirty="0"/>
          </a:p>
        </p:txBody>
      </p:sp>
      <p:sp>
        <p:nvSpPr>
          <p:cNvPr id="14" name="Chip"/>
          <p:cNvSpPr txBox="1"/>
          <p:nvPr/>
        </p:nvSpPr>
        <p:spPr>
          <a:xfrm>
            <a:off x="4526280" y="3611880"/>
            <a:ext cx="31089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 12 BE · unbekannte Baumart</a:t>
            </a:r>
            <a:endParaRPr lang="en-US" sz="1300" dirty="0"/>
          </a:p>
        </p:txBody>
      </p:sp>
      <p:sp>
        <p:nvSpPr>
          <p:cNvPr id="15" name="Station C"/>
          <p:cNvSpPr/>
          <p:nvPr/>
        </p:nvSpPr>
        <p:spPr>
          <a:xfrm>
            <a:off x="8046720" y="1325880"/>
            <a:ext cx="3566160" cy="2926080"/>
          </a:xfrm>
          <a:prstGeom prst="roundRect">
            <a:avLst>
              <a:gd name="adj" fmla="val 3750"/>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6" name="Icon-Kreis"/>
          <p:cNvSpPr/>
          <p:nvPr/>
        </p:nvSpPr>
        <p:spPr>
          <a:xfrm>
            <a:off x="8275320" y="1508760"/>
            <a:ext cx="822960" cy="822960"/>
          </a:xfrm>
          <a:prstGeom prst="ellipse">
            <a:avLst/>
          </a:prstGeom>
          <a:solidFill>
            <a:schemeClr val="accent4"/>
          </a:solidFill>
          <a:ln w="31750">
            <a:solidFill>
              <a:schemeClr val="accent2"/>
            </a:solidFill>
            <a:prstDash val="solid"/>
          </a:ln>
        </p:spPr>
      </p:sp>
      <p:pic>
        <p:nvPicPr>
          <p:cNvPr id="17" name="Icon GiArchiveResearch" descr="preencoded.png">    </p:cNvPr>
          <p:cNvPicPr>
            <a:picLocks noChangeAspect="1"/>
          </p:cNvPicPr>
          <p:nvPr/>
        </p:nvPicPr>
        <p:blipFill>
          <a:blip r:embed="rId3"/>
          <a:stretch>
            <a:fillRect/>
          </a:stretch>
        </p:blipFill>
        <p:spPr>
          <a:xfrm>
            <a:off x="8456371" y="1689811"/>
            <a:ext cx="460858" cy="460858"/>
          </a:xfrm>
          <a:prstGeom prst="rect">
            <a:avLst/>
          </a:prstGeom>
        </p:spPr>
      </p:pic>
      <p:sp>
        <p:nvSpPr>
          <p:cNvPr id="18" name="Text 13"/>
          <p:cNvSpPr txBox="1"/>
          <p:nvPr/>
        </p:nvSpPr>
        <p:spPr>
          <a:xfrm>
            <a:off x="9235440" y="1481328"/>
            <a:ext cx="2240280" cy="868680"/>
          </a:xfrm>
          <a:prstGeom prst="rect">
            <a:avLst/>
          </a:prstGeom>
          <a:noFill/>
          <a:ln/>
        </p:spPr>
        <p:txBody>
          <a:bodyPr wrap="square" lIns="0" tIns="0" rIns="0" bIns="0" rtlCol="0" anchor="ctr"/>
          <a:lstStyle/>
          <a:p>
            <a:pPr indent="0" marL="0">
              <a:buNone/>
            </a:pPr>
            <a:r>
              <a:rPr lang="en-US" sz="1500" b="1" dirty="0">
                <a:solidFill>
                  <a:schemeClr val="accent2"/>
                </a:solidFill>
              </a:rPr>
              <a:t>Station C</a:t>
            </a:r>
            <a:endParaRPr lang="en-US" sz="1800" dirty="0"/>
          </a:p>
          <a:p>
            <a:pPr indent="0" marL="0">
              <a:buNone/>
            </a:pPr>
            <a:r>
              <a:rPr lang="en-US" sz="2200" b="1" dirty="0">
                <a:solidFill>
                  <a:schemeClr val="accent1"/>
                </a:solidFill>
              </a:rPr>
              <a:t>B-Baum</a:t>
            </a:r>
            <a:endParaRPr lang="en-US" sz="1800" dirty="0"/>
          </a:p>
        </p:txBody>
      </p:sp>
      <p:sp>
        <p:nvSpPr>
          <p:cNvPr id="19" name="Text 14"/>
          <p:cNvSpPr txBox="1"/>
          <p:nvPr/>
        </p:nvSpPr>
        <p:spPr>
          <a:xfrm>
            <a:off x="8275320" y="2514600"/>
            <a:ext cx="3108960" cy="960120"/>
          </a:xfrm>
          <a:prstGeom prst="rect">
            <a:avLst/>
          </a:prstGeom>
          <a:noFill/>
          <a:ln/>
        </p:spPr>
        <p:txBody>
          <a:bodyPr wrap="square" lIns="0" tIns="0" rIns="0" bIns="0" rtlCol="0" anchor="t"/>
          <a:lstStyle/>
          <a:p>
            <a:pPr indent="0" marL="0">
              <a:buNone/>
            </a:pPr>
            <a:r>
              <a:rPr lang="en-US" sz="1500" dirty="0">
                <a:solidFill>
                  <a:schemeClr val="tx1"/>
                </a:solidFill>
              </a:rPr>
              <a:t>Ordnungsprinzip, Einfügen mit Teilung, Suchaufwand</a:t>
            </a:r>
            <a:endParaRPr lang="en-US" sz="1500" dirty="0"/>
          </a:p>
        </p:txBody>
      </p:sp>
      <p:sp>
        <p:nvSpPr>
          <p:cNvPr id="20" name="Chip"/>
          <p:cNvSpPr txBox="1"/>
          <p:nvPr/>
        </p:nvSpPr>
        <p:spPr>
          <a:xfrm>
            <a:off x="8275320" y="3611880"/>
            <a:ext cx="310896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 12 BE · unbekannte Baumart</a:t>
            </a:r>
            <a:endParaRPr lang="en-US" sz="1300" dirty="0"/>
          </a:p>
        </p:txBody>
      </p:sp>
      <p:sp>
        <p:nvSpPr>
          <p:cNvPr id="21" name="Icon-Kreis"/>
          <p:cNvSpPr/>
          <p:nvPr/>
        </p:nvSpPr>
        <p:spPr>
          <a:xfrm>
            <a:off x="548640" y="4572000"/>
            <a:ext cx="685800" cy="685800"/>
          </a:xfrm>
          <a:prstGeom prst="ellipse">
            <a:avLst/>
          </a:prstGeom>
          <a:solidFill>
            <a:schemeClr val="bg1"/>
          </a:solidFill>
          <a:ln/>
        </p:spPr>
      </p:sp>
      <p:pic>
        <p:nvPicPr>
          <p:cNvPr id="22" name="Icon GiChecklist" descr="preencoded.png">    </p:cNvPr>
          <p:cNvPicPr>
            <a:picLocks noChangeAspect="1"/>
          </p:cNvPicPr>
          <p:nvPr/>
        </p:nvPicPr>
        <p:blipFill>
          <a:blip r:embed="rId4"/>
          <a:stretch>
            <a:fillRect/>
          </a:stretch>
        </p:blipFill>
        <p:spPr>
          <a:xfrm>
            <a:off x="699516" y="4722876"/>
            <a:ext cx="384048" cy="384048"/>
          </a:xfrm>
          <a:prstGeom prst="rect">
            <a:avLst/>
          </a:prstGeom>
        </p:spPr>
      </p:pic>
      <p:sp>
        <p:nvSpPr>
          <p:cNvPr id="23" name="Text 17"/>
          <p:cNvSpPr txBox="1"/>
          <p:nvPr/>
        </p:nvSpPr>
        <p:spPr>
          <a:xfrm>
            <a:off x="1371600" y="4498848"/>
            <a:ext cx="2834640" cy="868680"/>
          </a:xfrm>
          <a:prstGeom prst="rect">
            <a:avLst/>
          </a:prstGeom>
          <a:noFill/>
          <a:ln/>
        </p:spPr>
        <p:txBody>
          <a:bodyPr wrap="square" lIns="0" tIns="0" rIns="0" bIns="0" rtlCol="0" anchor="ctr"/>
          <a:lstStyle/>
          <a:p>
            <a:pPr indent="0" marL="0">
              <a:buNone/>
            </a:pPr>
            <a:r>
              <a:rPr lang="en-US" sz="1900" b="1" dirty="0">
                <a:solidFill>
                  <a:schemeClr val="accent2"/>
                </a:solidFill>
              </a:rPr>
              <a:t>Wähle 2 von 3</a:t>
            </a:r>
            <a:endParaRPr lang="en-US" sz="1800" dirty="0"/>
          </a:p>
          <a:p>
            <a:pPr indent="0" marL="0">
              <a:buNone/>
            </a:pPr>
            <a:r>
              <a:rPr lang="en-US" sz="1500" dirty="0">
                <a:solidFill>
                  <a:schemeClr val="bg1"/>
                </a:solidFill>
              </a:rPr>
              <a:t>Stationen in 60 min · 24 BE</a:t>
            </a:r>
            <a:endParaRPr lang="en-US" sz="1800" dirty="0"/>
          </a:p>
        </p:txBody>
      </p:sp>
      <p:sp>
        <p:nvSpPr>
          <p:cNvPr id="24" name="Icon-Kreis"/>
          <p:cNvSpPr/>
          <p:nvPr/>
        </p:nvSpPr>
        <p:spPr>
          <a:xfrm>
            <a:off x="4297680" y="4572000"/>
            <a:ext cx="685800" cy="685800"/>
          </a:xfrm>
          <a:prstGeom prst="ellipse">
            <a:avLst/>
          </a:prstGeom>
          <a:solidFill>
            <a:schemeClr val="bg1"/>
          </a:solidFill>
          <a:ln/>
        </p:spPr>
      </p:sp>
      <p:pic>
        <p:nvPicPr>
          <p:cNvPr id="25" name="Icon GiQuillInk" descr="preencoded.png">    </p:cNvPr>
          <p:cNvPicPr>
            <a:picLocks noChangeAspect="1"/>
          </p:cNvPicPr>
          <p:nvPr/>
        </p:nvPicPr>
        <p:blipFill>
          <a:blip r:embed="rId5"/>
          <a:stretch>
            <a:fillRect/>
          </a:stretch>
        </p:blipFill>
        <p:spPr>
          <a:xfrm>
            <a:off x="4448556" y="4722876"/>
            <a:ext cx="384048" cy="384048"/>
          </a:xfrm>
          <a:prstGeom prst="rect">
            <a:avLst/>
          </a:prstGeom>
        </p:spPr>
      </p:pic>
      <p:sp>
        <p:nvSpPr>
          <p:cNvPr id="26" name="Text 19"/>
          <p:cNvSpPr txBox="1"/>
          <p:nvPr/>
        </p:nvSpPr>
        <p:spPr>
          <a:xfrm>
            <a:off x="5120640" y="4498848"/>
            <a:ext cx="2834640" cy="868680"/>
          </a:xfrm>
          <a:prstGeom prst="rect">
            <a:avLst/>
          </a:prstGeom>
          <a:noFill/>
          <a:ln/>
        </p:spPr>
        <p:txBody>
          <a:bodyPr wrap="square" lIns="0" tIns="0" rIns="0" bIns="0" rtlCol="0" anchor="ctr"/>
          <a:lstStyle/>
          <a:p>
            <a:pPr indent="0" marL="0">
              <a:buNone/>
            </a:pPr>
            <a:r>
              <a:rPr lang="en-US" sz="1900" b="1" dirty="0">
                <a:solidFill>
                  <a:schemeClr val="accent2"/>
                </a:solidFill>
              </a:rPr>
              <a:t>Papier, ohne Gerät</a:t>
            </a:r>
            <a:endParaRPr lang="en-US" sz="1800" dirty="0"/>
          </a:p>
          <a:p>
            <a:pPr indent="0" marL="0">
              <a:buNone/>
            </a:pPr>
            <a:r>
              <a:rPr lang="en-US" sz="1500" dirty="0">
                <a:solidFill>
                  <a:schemeClr val="bg1"/>
                </a:solidFill>
              </a:rPr>
              <a:t>Alle Definitionen stehen im Material</a:t>
            </a:r>
            <a:endParaRPr lang="en-US" sz="1800" dirty="0"/>
          </a:p>
        </p:txBody>
      </p:sp>
      <p:sp>
        <p:nvSpPr>
          <p:cNvPr id="27" name="Icon-Kreis"/>
          <p:cNvSpPr/>
          <p:nvPr/>
        </p:nvSpPr>
        <p:spPr>
          <a:xfrm>
            <a:off x="8046720" y="4572000"/>
            <a:ext cx="685800" cy="685800"/>
          </a:xfrm>
          <a:prstGeom prst="ellipse">
            <a:avLst/>
          </a:prstGeom>
          <a:solidFill>
            <a:schemeClr val="bg1"/>
          </a:solidFill>
          <a:ln/>
        </p:spPr>
      </p:sp>
      <p:pic>
        <p:nvPicPr>
          <p:cNvPr id="28" name="Icon GiLaptop" descr="preencoded.png">    </p:cNvPr>
          <p:cNvPicPr>
            <a:picLocks noChangeAspect="1"/>
          </p:cNvPicPr>
          <p:nvPr/>
        </p:nvPicPr>
        <p:blipFill>
          <a:blip r:embed="rId6"/>
          <a:stretch>
            <a:fillRect/>
          </a:stretch>
        </p:blipFill>
        <p:spPr>
          <a:xfrm>
            <a:off x="8197596" y="4722876"/>
            <a:ext cx="384048" cy="384048"/>
          </a:xfrm>
          <a:prstGeom prst="rect">
            <a:avLst/>
          </a:prstGeom>
        </p:spPr>
      </p:pic>
      <p:sp>
        <p:nvSpPr>
          <p:cNvPr id="29" name="Text 21"/>
          <p:cNvSpPr txBox="1"/>
          <p:nvPr/>
        </p:nvSpPr>
        <p:spPr>
          <a:xfrm>
            <a:off x="8869680" y="4498848"/>
            <a:ext cx="2834640" cy="868680"/>
          </a:xfrm>
          <a:prstGeom prst="rect">
            <a:avLst/>
          </a:prstGeom>
          <a:noFill/>
          <a:ln/>
        </p:spPr>
        <p:txBody>
          <a:bodyPr wrap="square" lIns="0" tIns="0" rIns="0" bIns="0" rtlCol="0" anchor="ctr"/>
          <a:lstStyle/>
          <a:p>
            <a:pPr indent="0" marL="0">
              <a:buNone/>
            </a:pPr>
            <a:r>
              <a:rPr lang="en-US" sz="1900" b="1" dirty="0">
                <a:solidFill>
                  <a:schemeClr val="accent2"/>
                </a:solidFill>
              </a:rPr>
              <a:t>Zusätzlich im Lab</a:t>
            </a:r>
            <a:endParaRPr lang="en-US" sz="1800" dirty="0"/>
          </a:p>
          <a:p>
            <a:pPr indent="0" marL="0">
              <a:buNone/>
            </a:pPr>
            <a:r>
              <a:rPr lang="en-US" sz="1500" dirty="0">
                <a:solidFill>
                  <a:schemeClr val="bg1"/>
                </a:solidFill>
              </a:rPr>
              <a:t>Online-Boss „Die drei Baumhüter“ · 25 min</a:t>
            </a:r>
            <a:endParaRPr lang="en-US" sz="1800" dirty="0"/>
          </a:p>
        </p:txBody>
      </p:sp>
      <p:sp>
        <p:nvSpPr>
          <p:cNvPr id="30" name="Text 22"/>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600" b="1" dirty="0">
                <a:solidFill>
                  <a:schemeClr val="accent2"/>
                </a:solidFill>
              </a:rPr>
              <a:t>Vorbereitung: </a:t>
            </a:r>
            <a:pPr indent="0" marL="0">
              <a:buNone/>
            </a:pPr>
            <a:r>
              <a:rPr lang="en-US" sz="1600" dirty="0">
                <a:solidFill>
                  <a:schemeClr val="bg1"/>
                </a:solidFill>
              </a:rPr>
              <a:t>Warm-up W5-05, W5-07, W5-08, W5-13, W5-14 · AB3 „Unbekannte Bäume“ · Abi-Check isEmpty()</a:t>
            </a:r>
            <a:endParaRPr lang="en-US" sz="1600" dirty="0"/>
          </a:p>
        </p:txBody>
      </p:sp>
      <p:sp>
        <p:nvSpPr>
          <p:cNvPr id="31" name="Text 23"/>
          <p:cNvSpPr txBox="1"/>
          <p:nvPr/>
        </p:nvSpPr>
        <p:spPr>
          <a:xfrm>
            <a:off x="7498080" y="6419088"/>
            <a:ext cx="3474720" cy="274320"/>
          </a:xfrm>
          <a:prstGeom prst="rect">
            <a:avLst/>
          </a:prstGeom>
          <a:noFill/>
          <a:ln/>
        </p:spPr>
        <p:txBody>
          <a:bodyPr wrap="square" lIns="0" tIns="0" rIns="0" bIns="0" rtlCol="0" anchor="t"/>
          <a:lstStyle/>
          <a:p>
            <a:pPr algn="r" indent="0" marL="0">
              <a:buNone/>
            </a:pPr>
            <a:r>
              <a:rPr lang="en-US" sz="1100" b="1" dirty="0">
                <a:solidFill>
                  <a:schemeClr val="accent2"/>
                </a:solidFill>
              </a:rPr>
              <a:t>DS 36 · Boss 5</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Algo Quest">
  <a:themeElements>
    <a:clrScheme name="Algo Quest">
      <a:dk1>
        <a:srgbClr val="1A1A1A"/>
      </a:dk1>
      <a:lt1>
        <a:srgbClr val="FFFFFF"/>
      </a:lt1>
      <a:dk2>
        <a:srgbClr val="1F4E79"/>
      </a:dk2>
      <a:lt2>
        <a:srgbClr val="DBE7F5"/>
      </a:lt2>
      <a:accent1>
        <a:srgbClr val="1F4E79"/>
      </a:accent1>
      <a:accent2>
        <a:srgbClr val="B8860B"/>
      </a:accent2>
      <a:accent3>
        <a:srgbClr val="548235"/>
      </a:accent3>
      <a:accent4>
        <a:srgbClr val="C00000"/>
      </a:accent4>
      <a:accent5>
        <a:srgbClr val="F0F0F0"/>
      </a:accent5>
      <a:accent6>
        <a:srgbClr val="2E75B6"/>
      </a:accent6>
      <a:hlink>
        <a:srgbClr val="2E75B6"/>
      </a:hlink>
      <a:folHlink>
        <a:srgbClr val="7030A0"/>
      </a:folHlink>
    </a:clrScheme>
    <a:fontScheme name="Algo Qu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Max-Planck-Gymnasium Delmenhorst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 Welt 5: Der Wald</dc:title>
  <dc:subject>PptxGenJS Presentation</dc:subject>
  <dc:creator>Frank Juchim</dc:creator>
  <cp:lastModifiedBy>Frank Juchim</cp:lastModifiedBy>
  <cp:revision>1</cp:revision>
  <dcterms:created xsi:type="dcterms:W3CDTF">2026-10-08T18:24:55Z</dcterms:created>
  <dcterms:modified xsi:type="dcterms:W3CDTF">2026-10-08T18:24:55Z</dcterms:modified>
</cp:coreProperties>
</file>