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d5d5299c-3e91-29c9-5312-0daceb55772d}">
          <p14:sldIdLst>
            <p14:sldId id="256"/>
            <p14:sldId id="257"/>
          </p14:sldIdLst>
        </p14:section>
        <p14:section name="DS 18 Rekursion" id="{0f7a0b73-5234-f24f-54be-5898586aaae0}">
          <p14:sldIdLst>
            <p14:sldId id="258"/>
            <p14:sldId id="259"/>
            <p14:sldId id="260"/>
            <p14:sldId id="261"/>
            <p14:sldId id="262"/>
            <p14:sldId id="263"/>
            <p14:sldId id="264"/>
            <p14:sldId id="265"/>
            <p14:sldId id="266"/>
            <p14:sldId id="267"/>
            <p14:sldId id="268"/>
            <p14:sldId id="269"/>
          </p14:sldIdLst>
        </p14:section>
        <p14:section name="DS 19 Dungeon-Karte" id="{c038bbe2-896c-cb86-4af1-c05db2d45d88}">
          <p14:sldIdLst>
            <p14:sldId id="270"/>
            <p14:sldId id="271"/>
            <p14:sldId id="272"/>
            <p14:sldId id="273"/>
          </p14:sldIdLst>
        </p14:section>
        <p14:section name="DS 20 Backtracking (Kür)" id="{c3febec7-c035-9b97-df63-890a35162762}">
          <p14:sldIdLst>
            <p14:sldId id="274"/>
            <p14:sldId id="275"/>
            <p14:sldId id="276"/>
          </p14:sldIdLst>
        </p14:section>
        <p14:section name="DS 21 Teile und herrsche" id="{ff3cb26c-fdc6-3c0f-add2-62fcb79a685b}">
          <p14:sldIdLst>
            <p14:sldId id="277"/>
            <p14:sldId id="278"/>
            <p14:sldId id="279"/>
          </p14:sldIdLst>
        </p14:section>
        <p14:section name="DS 22 Quicksort und Transfer" id="{79c5410f-55b9-c1f8-481c-c7c9ee509d5a}">
          <p14:sldIdLst>
            <p14:sldId id="280"/>
            <p14:sldId id="281"/>
            <p14:sldId id="282"/>
            <p14:sldId id="283"/>
          </p14:sldIdLst>
        </p14:section>
        <p14:section name="DS 23 Boss 3" id="{b48db86e-118b-3568-c618-cf225b8b71d0}">
          <p14:sldIdLst>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in Welt 3 (ca. 1 min, Beginn DS 18): Das Studio steigt ins Labyrinth hinab. Drei Werkzeuge: Rekursion (ein Problem wird auf ein kleineres derselben Art zurückgeführt), die Dungeon-Karte als 2D-Reihung mit Nebel lüften und Wegsuche, und Teile und herrsche für schnelles Suchen und Sortieren. Rekursion steckt in 19 von 22 Abituraufgaben der Jahre 2022–2026 – das ist die abirelevanteste Welt. Die Präsentation begleitet DS 18 bis 23; je Stunde nur die passenden Folien zeigen (DS-Angabe unten rechts). Die letzte Folie (Referenzwerte Rennen) ist ausgeblendet und nur für die Lehrkraft.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Überblick (ca. 2 min): Drei IDE-Level in einer Gerüstdatei (AQ_W3_L3_Labyrinth_Geruest.txt; Testklassen L31RekursionTest, L32KarteTest, L33TeileHerrscheTest; Testpräfixe basis_/erweiterung_/experte_). Unten auf den Karten: die passenden Lab-Level im Algo Quest Lab (3.1–3.6) – dort werden die Aufgaben automatisch geprüft und Punkte automatisch vergeben; dazu der Online-Boss „Das Echo der Schlucht“. Dazu zwei Grafik-Gerüste ohne Tests: Fraktale (DS 18, Sichtprüfung) und Dungeon-Rennen (DS 19–20). DS 20 ist die Kür-Stunde mit Backtracking und dem Dungeon-Rennen (Team-Wettbewerb im Unterricht, ohne Lab-Wertung). Wichtige Regel für alle Level: Jede Methode mit „REKURSIV“ im Auftrag wird ohne Schleife geschrieben – die Tests können das nicht prüfen, das macht das Code-Review (ohne Rekursion gilt die Methode als nicht erfüllt). Boss 3 in DS 23 auf Papier, danach Papier-Compiler.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Unplugged-Einstieg, DS 18 (ca. 5 min): Wenn vorhanden, eine echte Matroschka mitbringen und eine Schülerin die Puppen zählen lassen – ohne alle auf einmal auszupacken: Sie öffnet eine Puppe und gibt die innere an den Nachbarn weiter („Wie viele sind da drin?“). Jeder antwortet erst, wenn die Antwort von innen zurückkommt, und zählt 1 dazu. Die kleinste Puppe lässt sich nicht öffnen – sie antwortet sofort mit 1 (Basisfall). Spiegel: Zwei Spiegel erzeugen „unendlich“ viele Bilder – genau das darf in der Informatik nicht passieren (Überleitung zu StackOverflowError). Merksatz an die Tafel: Rekursion = Selbstaufruf mit kleinerem Problem + Basisfall.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Basisfall und Rekursionsschritt, DS 18 (ca. 5 min): Die mathematische Definition links ist schon rekursiv – der Java-Code übersetzt sie Zeile für Zeile (Code wie in der Musterlösung zu Level 3.1, Basis). Drei Fragen für jede rekursive Methode: Was ist der Basisfall? Wie wird das Problem kleiner? Wie setze ich das Ergebnis zusammen? Der Denkanstoß ist der wichtigste Trick beim Entwerfen („rekursiver Glaubenssprung“): Beim Schreiben nimmt man an, der Selbstaufruf liefert schon das richtige Ergebnis für das kleinere Problem. Mit javac geprüft: fakultaet(4) = 24, fakultaet(5) = 120. Im IDE-Level folgen summeBis und potenz nach demselben Muster.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Aufrufstapel 1/4 – Abstieg, DS 18 (ca. 2 min): Die vier Folien gehören zusammen und werden nacheinander durchgeklickt (Code links bleibt stehen, gold umrandet ist die gerade ausgeführte Zeile). Jeder Aufruf bekommt einen eigenen Rahmen mit eigener Variable n – deshalb stören sich die vier n nicht. Unten liegt der Erstaufruf (Rekursionstiefe 0), oben der aktive Aufruf. Unplugged-Variante: Fünf Schüler stehen hintereinander, jeder hat einen Zettel mit seinem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Aufrufstapel 2/4 – Basisfall, DS 18 (ca. 1 min): fakultaet(0) erreicht den Basisfall und gibt 1 zurück, ohne sich selbst aufzurufen. Jetzt liegen fünf Rahmen übereinander – die größte Rekursionstiefe ist 4, denn der Erstaufruf hat die Tiefe 0 (Konvention wie im Abitur und im Boss). Frage an den Kurs: Was wäre ohne Basisfall? (Der Stapel wächst weiter, bis er überläuft – kommt gleich.)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Aufrufstapel 3/4 – Aufstieg, DS 18 (ca. 1 min): Erst jetzt wird gerechnet – in umgekehrter Reihenfolge. Der Rahmen von fakultaet(0) wird entfernt, fakultaet(1) setzt die 1 ein und liefert 1 · 1 = 1; dann rechnet fakultaet(2) = 2 · 1 = 2. Die gestrichelten Rahmen sind schon beendet. Die Multiplikation im Rekursionsschritt passiert also NACH dem Selbstaufruf.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Aufrufstapel 4/4 – Ergebnis, DS 18 (ca. 1 min): fakultaet(3) = 6, fakultaet(4) = 24 (mit javac geprüft). Zusammenfassung: 5 Aufrufe (allgemein n + 1), größte Tiefe 4 (allgemein n). Überleitung: Genau diesen Ablauf schreibt man im Abitur als Rekursionstabelle auf –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Rekursionstabelle, DS 18 (ca. 5 min): Das ist das Abi-Format (Rekursion in 19 von 22 Aufgaben 2022–2026): eine Zeile je Aufruf in der Reihenfolge ihres Beginns, mit Spalte Rekursionstiefe. Werte wie in der Musterlösung (Rekursionstabellen-Teil) und mit javac geprüft. Zwei Durchgänge: erst die Aufrufe nach unten (Abstieg), dann die Rückgaben von unten nach oben (Aufstieg). Konvention ausdrücklich festhalten: Erstaufruf = Tiefe 0 (so im Abitur, auf den ABs, Warm-up-Karten und im Boss). Übung dual(13) auf Papier, Lösung zum Vergleichen: Tiefe 0 dual(13) → "110" + 1 = "1101"; Tiefe 1 dual(6) → "11" + 0 = "110"; Tiefe 2 dual(3) → "1" + 1 = "11"; Tiefe 3 dual(1) → "1" (Basisfall). Mit javac geprüft: dual(13) = "1101".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Rekursive Struktogramme, DS 18 (ca. 4 min): In den Ergänzenden Hinweisen 2025 gibt es kein eigenes Symbol für Rekursion – der Selbstaufruf steht wie jeder andere Methodenaufruf in einem Anweisungsblock: entweder direkt in „gib … zurück“ oder als Zuweisung „maxRest ← maximumAb(r, i + 1)“. Der Basisfall steht als Verzweigung vorn. Beispiel rechts ist die Experten-Aufgabe maximumAb aus Level 3.1; mit javac geprüft: maximumAb({3, 8, 2, 5}, 0) = 8. Häufiger Fehler im Abitur: im Rekursionszweig fehlt das „gib … zurück“ (der Aufruf steht allein da, das Ergebnis geht verloren) – genau so ein Fehler kommt in den Warm-up-Karten (Fehler im Struktogramm) 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Rekursion vs. Schleife, DS 18 (ca. 4 min): Beide Methoden liefern dasselbe (mit javac geprüft: summeBis(10) = 55 = summeBisIterativ(10)). Jede einfache (lineare) Rekursion lässt sich als Schleife schreiben und umgekehrt. Die Schleife braucht weniger Speicher: Die Rekursion legt für jeden Aufruf einen Rahmen auf den Stapel – bei sehr großem n (Experiment summeBis(10000)) kann der Stapel überlaufen; wie tief die Online-IDE erlaubt, vor Einsatz prüfen. Rekursion lohnt sich, wo das Problem selbst rekursiv gebaut ist: Wege im Labyrinth, Bäume (Welt 5), Teile und herrsche. Abi-Operator „Vergleichen Sie …“ – Kriterien wie in der Tabelle nennen. Im IDE-Level gilt trotzdem: Methoden mit „REKURSIV“ ohne Schleife.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Fibonacci, DS 18 (ca. 6 min): Baumrekursion – im Rekursionsschritt ruft sich die Methode zweimal auf. Erst den Baum gemeinsam an der Tafel zeichnen lassen, dann die Folie zeigen. Mit javac geprüft (Zähler aufrufe aus Level 3.1, Experte): fibonacci(5) = 5 mit 15 Aufrufen (fib(5) 1x, fib(4) 1x, fib(3) 2x, fib(2) 3x, fib(1) 5x, fib(0) 3x); Tabelle bis n = 10: 177 Aufrufe. Rekursionsformel A(n) = A(n − 1) + A(n − 2) + 1, weil jeder Aufruf mit n ≥ 2 sich selbst plus die beiden Teilbäume zählt. Abi-Auftrag „Verhalten bei Vergrößerung abschätzen“: Wird n um 1 größer, wächst die Zahl der Aufrufe etwa um den Faktor 1,6 (exponentiell) – deshalb ist hier eine Schleife viel besser. Größte Rekursionstiefe 4 (Pfad fib(5) → fib(4) → fib(3) → fib(2) → fib(1), Erstaufruf = Tiefe 0). Der Test experte_fibonacci prüft aufrufe == 15 und verrät damit auch eine iterative Lösung.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StackOverflowError, DS 18 (ca. 4 min): Jeder Aufruf belegt einen Rahmen auf dem Stapel-Speicher. Endet die Rekursion nie, ist der Stapel irgendwann voll und Java bricht mit StackOverflowError ab. Drei typische Ursachen, alle mit javac ausgeführt: (1) Basisfall fehlt, (2) das Teilproblem wird nicht kleiner (fakultaet(n) statt fakultaet(n − 1)), (3) der Basisfall wird übersprungen – fakultaet(−1) zählt −1, −2, … und trifft n == 0 nie (Abhilfe: Vorbedingung n ≥ 0 bzw. Basisfall n &lt;= 0). Wie die Online-IDE den Fehler im Testrunner anzeigt, vor dem ersten Einsatz einmal prüfen (Lehrerhinweis in der LSG: Basisfall in fakultaet entfernen). Im Labyrinth kommt eine vierte Ursache dazu: fehlende Besucht-Markierung (DS 19). Warm-up-Karte W3-03 „Der endlose Abstieg“.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Fraktale, DS 18 (Input ca. 3 min, dann Gerüst AQ_W3_Fraktale_Geruest.txt): Die Bilder sind mit dem Code der Musterlösung erzeugt (Turtle-Strecken aufgezeichnet, gleiche Startpunkte wie die Werkstatt). In der Online-IDE dreht turn(+w) nach links; Sierpinski hat jetzt in Gerüst und Lösung dieselbe Drehung (keine Startdrehung, turn(120) in Basisfall und Rekursionsschritt) – Spitze nach oben. Die Werkstatt gibt „Aufrufe: …“ und „Striche: …“ aus; Werkstatt.tabelle(deko, bisTiefe) liefert alle Zahlen auf einmal. Erst vorhersagen lassen, dann messen. Werte mit javac nachgerechnet (identisch mit der Kennzahlen-Tabelle der LSG): Baum 1, 3, 7, 15, 31, 63; Koch 1, 5, 21, 85, 341, 1365; Sierpinski 1, 4, 13, 40, 121, 364. Striche: Baum 2^n − 1, Koch 4^n, Sierpinski 3^(n+1). Abi-Begründung: Jeder Aufruf mit Tiefe n &gt; 0 löst k Aufrufe mit Tiefe n − 1 aus, also A(n) = 1 + k · A(n − 1). Schnelle Schüler: Schneeflocke und H-Baum (Experte).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2D-Reihung, DS 19 (ca. 5 min): Eine Reihung von Reihungen von Zeichen (Abi-Typname „Reihung von Reihung von Zeichen“, Java char[][]). EH 2025 §3: Zugriff immer [Zeile][Spalte]. feld.length ist die Zahl der Zeilen, feld[0].length die Zahl der Spalten. Die Karte ist die Testkarte „Höhle“ aus dem Kartenbuch (gleiche Karte im Gerüst, auf AB 2 und in den Warm-up-Karten); mit javac geprüft: 5 Zeilen, 7 Spalten, feld[1][1] = S, feld[3][5] = Z, 21 Wände. Zeichen (char) vergleicht man mit ==, weil char ein primitiver Typ ist – Zeichenketten weiterhin mit equals (Abi-Falle). Durchlauf mit zwei geschachtelten Zählschleifen ist hier erlaubt (Basis: istImFeld, istBegehbar, anzahlWaende). Typischer Fehler: z und s vertauscht – fällt bei quadratischen Karten nicht auf, deshalb sind alle Testkarten nicht quadratisch.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Nachbarschaft und Rand, DS 19 (ca. 5 min): Testkarte „Lichtung“ – bewusst OHNE Randmauer, damit Randfehler sofort auffallen. 4er-Nachbarschaft in fester Reihenfolge oben (z − 1, s), rechts (z, s + 1), unten (z + 1, s), links (z, s − 1) – diese Reihenfolge gilt in allen Materialien (Flood-Fill, Backtracking, Rennen). Diagonalen zählen nur bei der 8er-Nachbarschaft (im Level nicht verlangt). Werte mit javac geprüft: anzahlBegehbareNachbarn (1, 1) = 4, (0, 0) = 2, (2, 3) = 2, (0, 3) = 1, (1, 2) = 3; mit Diagonalen hätte (1, 2) sieben begehbare Nachbarn. Der Trick in istBegehbar: zuerst den Rand prüfen, dann zugreifen – dann kann anzahlBegehbareNachbarn einfach alle vier Nachbarn abfragen, auch am Rand. Abi-Bezug: 22H-C und 22N-C (Randfälle in 2D-Reihungen).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lueften, DS 19 (ca. 5 min): Code wie in der Musterlösung zu Level 3.2 (Erweiterung), Struktogramm nach EH §5 – vier Selbstaufrufe als normale Anweisungen. Basisfall: Das Feld ist nicht begehbar (Rand, Wand oder schon gelüftet) – dann passiert nichts. Die rot markierte Zeile ist der Kern: Ohne Markierung VOR den Selbstaufrufen laufen zwei Nachbarn endlos hin und her (StackOverflowError). S und Z müssen am Ende sichtbar bleiben, gelten aber während der Rekursion als besucht – hier über die Hilfsvariable alt; andere Lösungen (eigener Buchstabe) sind erlaubt, die Tests prüfen nur die Endkarte. Für lueften gibt es bewusst keinen Zähler. Papier-Compiler-Kandidat (erst handschriftlich, dann abtippen).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Flood-Fill nachvollziehen, DS 19 (ca. 6 min): Die Folie enthält die Lösung von Warm-up-Karte W3-07 „Den Nebel lüften“ – erst nach dem Warm-up zeigen bzw. die leere Lichtung an die Tafel und die Teams die Nummern selbst eintragen lassen. Ablauf mit javac nachgezählt: Von S (1) geht es zuerst nach oben (2), dort ist oben Rand, rechts Wand, unten besucht, also links (3), von dort unten (4) – Sackgasse; zurück bis S, dann rechts (5), rechts (6), oben (7), zurück, unten zum Ziel (8), links (9), links (10). Markiert werden 10 Felder (8 Plus-Zeichen, dazu S und Z); lueften wird 41-mal aufgerufen = 4 · 10 + 1 (gleiches Gesetz: Höhle 14 Felder → 57 Aufrufe, Labyrinth 27 → 109). Rechts das Labyrinth: anzahlGelueftet = 25; die Kammer unten rechts ist nur diagonal mit dem Gang verbunden und bleibt bei der 4er-Nachbarschaft unberührt – Unterschied „frei“ vs. „erreichbar“. Größte Rekursionstiefe beim Labyrinth 16 (laut LSG-Lehrerhinweis).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Backtracking, Kür-DS 20 (ca. 8 min): Code wie in der Musterlösung zu Level 3.2 (Experte). Drei Schritte: (1) Feld vorläufig auf den Weg setzen, (2) die Nachbarn nacheinander versuchen – das || bricht beim ersten true ab, (3) führt kein Nachbar zum Ziel, wird der Schritt zurückgenommen: Das Feld wird Sackgasse x und die Methode meldet false an den Aufrufer, der dann den nächsten Nachbarn versucht. Abi-Auftrag 24N-B h/i: „Erläutern Sie die Bedeutung der Anweisung feld[z][s] = ‚x‘.“ Mit javac geprüft: Labyrinth findeWeg(1, 1) = true, schritte = 41, Weg 13 Felder, Sackgasse (1, 7)–(2, 7); die Felder links unten wurden nie besucht, weil vorher ein Weg gefunden wurde. Backtracking findet IRGENDEINEN Weg, nicht unbedingt den kürzesten. Zählregel für schritte: erste Anweisung, alle vier Nachbarn per Aufruf ohne Vorprüfung. Trace zum Mitmachen (Lichtung, findeWeg(1, 1)): 24 Aufrufe, Endkarte xx#x / xS** / #..Z, größte Tiefe 4 (Erstaufruf = Tiefe 0); ausführlich in der LSG und auf Warm-up-Karte W3-08.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Dungeon-Rennen, Kür-DS 20 (Regeln ca. 4 min, Rennen ca. 40 min): Gerüst AQ_W3_DungeonRennen_Geruest.txt. Erst Modus 1 (Nebel lüften mit Rennen.fackel, Prüfung mit Rennen.nebel(1–3, 0) „korrekt = ja“), dann Modus 2: suche(z, s) als Standard-Backtracking (oben, rechts, unten, links), testen mit Rennen.training(1–3, 0). Danach wird optimiert: Jedes Team schreibt MeinSolver.suche so sparsam wie möglich – nur über die Rennen-API, die Karte selbst ist private. Gewertet werden Schritte (Aufrufe von betrete), nicht die Laufzeit; Zurückgehen ist kostenlos, damit Backtracking nicht bestraft wird. Nebel-Regel: Ohne sie könnte man die ganze Karte abfragen und offline den kürzesten Weg berechnen. Die Kontrollkarten (gleiche Größe, S und Z an denselben Stellen, bei jedem Start neu) entlarven fest eingebaute Wege. Gültig nur, wenn alle sechs Karten gelöst sind. Referenzwerte für die Lehrkraft stehen auf der ausgeblendeten letzten Folie – nicht vorab nennen.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Ergebnisse an der Tafel (ca. 3 min, am Ende von DS 20): Die Tabelle Team | Strategie | Schritte | gültig an Tafel oder Folie vorbereiten. Jedes Team meldet genau eine Ergebniszeile „RENNEN-ERGEBNIS: Schritte = …, gueltig = ja/nein“; ungültige Ergebnisse werden markiert am Ende eingetragen, zählen aber nicht. Vor dem Eintragen den Code des Siegerteams kurz ansehen (keine Sonderregeln für die bekannten Karten). Nachbesserungen bis Ende DS 21 überschreiben das Ergebnis des Teams. Das Rennen ist ein Unterrichtsspiel: keine Punkte im Algo Quest Lab, keine Abzeichen. Siegerstrategie vorstellen lassen: Warum braucht sie weniger Schritte – und auf welcher Karte hat sie Pech?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Teile und herrsche, DS 21 (ca. 5 min): Das Prinzip in drei Wörtern – Teilen, Herrschen, Verbinden (Abi 23N-C e, 24H-A d, 26H-B g: „Erläutern Sie das Prinzip Teile und herrsche an …“). Beispiel ist die Erweiterung maximumTH aus Level 3.3: Bereich in der Mitte teilen, beide Hälften rekursiv, den größeren Wert zurückgeben. Mit javac geprüft: maximumTH({4, 9, 2, 7, 1}, 0, 4) = 9 mit 9 Aufrufen (jede der 5 Positionen wird einmal Basisfall, dazu 4 Teilungen = 2n − 1). Der Teilungsbaum ist das Muster für die Abi-Aufgabe „Stellen Sie die Aufrufe als Baum dar“. Häufiger Fehler: rechte Hälfte ab mitte statt mitte + 1 – bei zwei Elementen entsteht derselbe Bereich erneut, StackOverflowError. Gegenüber der Schleife ist maximumTH nicht schneller (gleich viele Vergleiche) – der Gewinn von Teile und herrsche zeigt sich erst bei binärer Suche und Mergesort.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Binäre Suche rekursiv, DS 21 (ca. 5 min): In Welt 2 iterativ mit Schleife, jetzt rekursiv: Statt lo und hi in einer Schleife zu verändern, ruft sich die Methode mit dem kleineren Bereich auf. Zwei Basisfälle (Bereich leer → −1, gefunden → mid). Code wie in der Musterlösung zu Level 3.3 (Basis). Trace mit javac geprüft: binaerRek(r, 50, 0, 8) liefert −1 nach 4 Aufrufen (größte Tiefe 3); die Suche nach 57 hätte bei Tiefe 2 den Index 5 geliefert. Nur EIN Selbstaufruf pro Aufruf (lineare Rekursion) – höchstens etwa log2(n) + 1 Aufrufe. Typische Fehler: mid statt mid + 1 (Bereich wird nicht kleiner → StackOverflowError bei fehlenden Werten), Basisfall lo &gt;= hi (Ein-Element-Bereiche werden nie geprüft), binaer startet mit hi = r.length (Indexfehler). Warm-up-Karte W3-09 „Die Schatzkammer-Suche“.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Mergesort von Hand, DS 21 (ca. 7 min): Links wird geteilt (mitte = Länge / 2, links r[0 … mitte − 1], rechts r[mitte … Ende]), bis nur noch einzelne Elemente übrig sind (grün, Basisfall). Rechts wird von unten nach oben verschmolzen: [2]+[9] → [2 9], [6]+[3] → [3 6], [5]+[2 9] → [2 5 9], [1]+[3 6] → [1 3 6], [2 5 9]+[1 3 6] → [1 2 3 5 6 9]. Genau diese beiden Bäume sind das Abi-Format (24H-A d, 26H-B g). Mit javac geprüft: 11 Aufrufe von mergeSort, 10 Vergleiche in verschmelze, Ergebnis {1, 2, 3, 5, 6, 9}. mergeSort liefert eine NEUE Reihung, r bleibt unverändert (teilstueck kopiert, bis exklusiv). Erst die leeren Bäume auf Papier ausfüllen lassen (Warm-up-Karte W3-10 „Der Spaltzauber“), dann vergleichen.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zerlege, DS 22 (ca. 7 min): Verfahren wie in der Musterlösung zu Level 3.3 (Experte): Pivot ist das LINKE Element r[lo]; grenze markiert das Ende des „kleiner“-Bereichs. Für jedes i: Ist r[i] kleiner als das Pivot, wird grenze erhöht und r[grenze] mit r[i] getauscht (bei i = 1 tauscht 3 mit sich selbst). Am Ende kommt das Pivot an die Stelle grenze. Alle Zustände mit javac geprüft: {5, 3, 8, 1, 9, 2} → {2, 3, 1, 5, 9, 8}, Rückgabe 3, 5 Vergleiche (Test experte_zerlege). Nur ECHT kleinere Werte wandern nach links (Test mit gleichen Werten {4, 4, 2, 4, 1}). Abi-Format 24H-A e/f und 24H-B h/i: „Geben Sie die Belegung der Reihung nach dem Aufruf von zerlege an.“ Warm-up-Karte W3-12 „Die Pivot-Wache“.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Quicksort rekursiv und Vergleich, DS 22 (ca. 6 min): quickSort zerlegt und sortiert dann links und rechts vom Pivot rekursiv; das Pivot steht danach schon an der richtigen Stelle. Verlauf mit javac geprüft: 4 zerlege-Aufrufe, 11 Vergleiche = 6 + 2 + 1 + 2 (Test experte_quickSort), größte Tiefe der zerlege-Aufrufe 2 (dazu Basisfall-Aufrufe quickSort(r, lo, hi) mit lo &gt;= hi). Tabelle rechts: Vergleiche bei 1000 Elementen, mit javac gemessen (aufsteigend sortiert bzw. gemischt per Pseudozufall wie in Welt 2, Startwert 2027): Selectionsort immer n(n − 1)/2 = 499 500; Mergesort 4 932 bzw. 8 716 (ungefähr n · log2 n ≈ 10 000); Quicksort gemischt 10 325, aber bei sortierter Eingabe 499 500 – Pivot links ist dann immer das Minimum. Abi-Auftrag „Beurteilen Sie die Effizienz …“: Teilen in (fast) gleich große Hälften ist entscheidend. Quicksort braucht dafür keinen Zusatzspeicher, Mergesort erzeugt neue Reihungen.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Unbekannte Verfahren analysieren, DS 22 (ca. 8 min): Im Abitur kommt regelmäßig ein unbekanntes rekursives Verfahren (24H-A e/f, 24H-B h/i, 23H-B c): erst tracen, dann Aufrufe zählen, dann deuten und beurteilen. Das Vorgehen in fünf Schritten an die Tafel. Beispiel: Die Teams sollen geheim erst selbst tracen, bevor die Tabelle gezeigt wird. Mit javac geprüft: geheim({5, 8, 2, 6}, 0) ergibt {2, 5, 6, 8}; 4 Aufrufe (n), 6 Vergleiche r[j] &lt; r[m] = n(n − 1)/2. Deutung: Jeder Aufruf sucht das Minimum ab Index i und tauscht es nach vorn – ein rekursiver Selectionsort; Basisfall: nur noch ein Element übrig. Die Rekursion ersetzt hier nur die äußere Schleife und bringt keinen Effizienzgewinn (keine Halbierung). Auf AB 3 Teil 2 folgt Stooge-Sort als zweites Beispiel – dort mit Aufrufe zählen für n = 1 bis 4 und Vergleich mit Mergesort. Zum Üben danach Warm-up-Karte W3-14 „Das Rätsel des Turmwächters“ – eine Variante (Maximum nach hinten, Parameter n), die Folie verrät deren Lösung nicht direkt.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Abi-Format, Ende DS 22 (ca. 6 min): So sind die Rekursions-Teilaufgaben im Abitur formuliert (Operator „dokumentieren“, Reihenfolge des Beginns, Spalte Rekursionstiefe) – und so auch in Boss 3. Erst die Aufgabe zeigen, die Teams 5 Minuten auf Papier arbeiten lassen (≈ 2,5 min pro BE), dann die Musterantwort aufdecken. Werte aus der Musterlösung (Rekursionstabellen) und mit javac geprüft: summeAb({3, 8, 2, 5}, 0) = 18. Typische Punktverluste: Tiefe ab 1 gezählt, Basisfall-Aufruf vergessen, Rückgaben in der falschen Reihenfolge, nur das Endergebnis ohne Zwischenwerte. summeAb ist auch ein Papier-Compiler-Kandidat (handschriftlich schreiben, dann unverändert abtippen).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Boss-Vorschau am Ende von DS 22 (ca. 2 min): Nur den Rahmen nennen, keine Aufgaben verraten. Boss 3 „Die Kristallhöhle“: 60 Minuten, 24 BE, AFB-Mischung wie im Abitur, nur Papier mit den Werkzeugkarten. Abgefragt wird das Handwerk von Welt 3 in einem neuen Kontext. Auf dem Deckblatt steht die Konvention „Erstaufruf = Tiefe 0“. Direkt danach der Papier-Compiler: Die Implementierung aus dem Boss wird unverändert in der Online-IDE abgetippt (Ergebnis im Heft ankreuzen; typische Fallen: fehlende Rand- und Besucht-Prüfungen). Zur Vorbereitung die Warm-up-Karten W3-01 bis W3-14 (auch im Warm-up-Trainer des Algo Quest Lab), die Lab-Level 3.1–3.6, der Online-Boss „Das Echo der Schlucht“ (25 min, bester Versuch zählt) und die Abi-Check-Karte: Basisfall vor dem Selbstaufruf, jeder Pfad mit return, Teilproblem echt kleiner, Randprüfung vor jedem Feldzugriff, besuchte Felder markieren.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Nur für die Lehrkraft (Folie ist ausgeblendet; ca. 2 min Vorbereitung vor DS 20). Referenzwerte aus AQ_W3_DungeonRennen_LSG.txt, dort mit Referenz.tabelle() und Rennen.nebel(...) gemessen (feste Karten, deterministisch, exakt reproduzierbar). Kein Verfahren gewinnt überall: Der Kompass ist auf Karte 1 und 3 besser, läuft auf Karte 2 aber in eine lange Sackgasse „in Richtung Ziel“ (53 statt 49). Keine feste Richtungsreihenfolge schafft weniger als 152 (alle 24 Reihenfolgen durchgerechnet: 152 bis 206), weil das Ziel auf Karte 1 rechts, auf Karte 2 und 3 links liegt. Das unveränderte Gerüst (suche liefert false) ist ungültig. Kontrollkarten wechseln bei jedem Start und zählen nicht. Beobachtungen für die Sicherung: Backtracking findet irgendeinen Weg, nicht den kürzesten; eine Heuristik ist eine Faustregel, keine Garantie.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Q Titel">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rtlCol="0"/>
          <a:lstStyle>
            <a:lvl1pPr indent="0" marL="0">
              <a:buNone/>
              <a:defRPr lang="en-US" sz="3000" dirty="0">
                <a:solidFill>
                  <a:schemeClr val="bg2"/>
                </a:solidFill>
              </a:defRPr>
            </a:lvl1pPr>
          </a:lstStyle>
          <a:p>
            <a:pP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Q 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accent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accent6"/>
                </a:solidFill>
              </a:rPr>
              <a:t>Informatik LK · Algo Quest · Welt 3 – Das Labyrinth</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Q Dunkel">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bg2"/>
                </a:solidFill>
              </a:rPr>
              <a:t>Informatik LK · Algo Quest · Welt 3 – Das Labyrinth</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3.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4.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lIns="0" tIns="0" rIns="0" bIns="0" rtlCol="0" anchor="t"/>
          <a:lstStyle/>
          <a:p>
            <a:pPr indent="0" marL="0">
              <a:buNone/>
            </a:pPr>
            <a:r>
              <a:rPr lang="en-US" sz="1800" b="1" spc="200" kern="0" dirty="0">
                <a:solidFill>
                  <a:schemeClr val="accent2"/>
                </a:solidFill>
              </a:rPr>
              <a:t>INFORMATIK LK · WELT 3 · DS 18–23</a:t>
            </a: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lIns="0" tIns="0" rIns="0" bIns="0" rtlCol="0" anchor="t"/>
          <a:lstStyle/>
          <a:p>
            <a:pPr algn="l" indent="0" marL="0">
              <a:buNone/>
            </a:pPr>
            <a:r>
              <a:rPr lang="en-US" sz="6000" b="1" dirty="0">
                <a:solidFill>
                  <a:schemeClr val="bg1"/>
                </a:solidFill>
              </a:rPr>
              <a:t>Das Labyrinth</a:t>
            </a: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lIns="0" tIns="0" rIns="0" bIns="0" rtlCol="0" anchor="t"/>
          <a:lstStyle/>
          <a:p>
            <a:pPr indent="0" marL="0">
              <a:buNone/>
            </a:pPr>
            <a:r>
              <a:rPr lang="en-US" sz="3000" dirty="0">
                <a:solidFill>
                  <a:schemeClr val="bg2"/>
                </a:solidFill>
              </a:rPr>
              <a:t>Rekursion, 2D-Karten, Teile und herrsche</a:t>
            </a:r>
            <a:endParaRPr lang="en-US" sz="3000" dirty="0"/>
          </a:p>
        </p:txBody>
      </p:sp>
      <p:sp>
        <p:nvSpPr>
          <p:cNvPr id="5" name="Icon-Kreis"/>
          <p:cNvSpPr/>
          <p:nvPr/>
        </p:nvSpPr>
        <p:spPr>
          <a:xfrm>
            <a:off x="8229600" y="1325880"/>
            <a:ext cx="3200400" cy="3200400"/>
          </a:xfrm>
          <a:prstGeom prst="ellipse">
            <a:avLst/>
          </a:prstGeom>
          <a:solidFill>
            <a:schemeClr val="accent1"/>
          </a:solidFill>
          <a:ln w="63500">
            <a:solidFill>
              <a:schemeClr val="accent2"/>
            </a:solidFill>
            <a:prstDash val="solid"/>
          </a:ln>
        </p:spPr>
      </p:sp>
      <p:pic>
        <p:nvPicPr>
          <p:cNvPr id="6" name="Icon GiMaze" descr="preencoded.png">    </p:cNvPr>
          <p:cNvPicPr>
            <a:picLocks noChangeAspect="1"/>
          </p:cNvPicPr>
          <p:nvPr/>
        </p:nvPicPr>
        <p:blipFill>
          <a:blip r:embed="rId1"/>
          <a:stretch>
            <a:fillRect/>
          </a:stretch>
        </p:blipFill>
        <p:spPr>
          <a:xfrm>
            <a:off x="8869680" y="1965960"/>
            <a:ext cx="1920240" cy="1920240"/>
          </a:xfrm>
          <a:prstGeom prst="rect">
            <a:avLst/>
          </a:prstGeom>
        </p:spPr>
      </p:pic>
      <p:sp>
        <p:nvSpPr>
          <p:cNvPr id="7" name="Linie"/>
          <p:cNvSpPr/>
          <p:nvPr/>
        </p:nvSpPr>
        <p:spPr>
          <a:xfrm>
            <a:off x="1600200" y="4983480"/>
            <a:ext cx="320040" cy="91"/>
          </a:xfrm>
          <a:prstGeom prst="line">
            <a:avLst/>
          </a:prstGeom>
          <a:noFill/>
          <a:ln w="31750">
            <a:solidFill>
              <a:schemeClr val="accent2"/>
            </a:solidFill>
            <a:prstDash val="sysDot"/>
          </a:ln>
        </p:spPr>
      </p:sp>
      <p:sp>
        <p:nvSpPr>
          <p:cNvPr id="8" name="Chip"/>
          <p:cNvSpPr txBox="1"/>
          <p:nvPr/>
        </p:nvSpPr>
        <p:spPr>
          <a:xfrm>
            <a:off x="73152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L3.1</a:t>
            </a:r>
            <a:endParaRPr lang="en-US" sz="1500" dirty="0"/>
          </a:p>
        </p:txBody>
      </p:sp>
      <p:sp>
        <p:nvSpPr>
          <p:cNvPr id="9" name="Linie"/>
          <p:cNvSpPr/>
          <p:nvPr/>
        </p:nvSpPr>
        <p:spPr>
          <a:xfrm>
            <a:off x="2788920" y="4983480"/>
            <a:ext cx="320040" cy="91"/>
          </a:xfrm>
          <a:prstGeom prst="line">
            <a:avLst/>
          </a:prstGeom>
          <a:noFill/>
          <a:ln w="31750">
            <a:solidFill>
              <a:schemeClr val="accent2"/>
            </a:solidFill>
            <a:prstDash val="sysDot"/>
          </a:ln>
        </p:spPr>
      </p:sp>
      <p:sp>
        <p:nvSpPr>
          <p:cNvPr id="10" name="Chip"/>
          <p:cNvSpPr txBox="1"/>
          <p:nvPr/>
        </p:nvSpPr>
        <p:spPr>
          <a:xfrm>
            <a:off x="192024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L3.2</a:t>
            </a:r>
            <a:endParaRPr lang="en-US" sz="1500" dirty="0"/>
          </a:p>
        </p:txBody>
      </p:sp>
      <p:sp>
        <p:nvSpPr>
          <p:cNvPr id="11" name="Linie"/>
          <p:cNvSpPr/>
          <p:nvPr/>
        </p:nvSpPr>
        <p:spPr>
          <a:xfrm>
            <a:off x="3977640" y="4983480"/>
            <a:ext cx="320040" cy="91"/>
          </a:xfrm>
          <a:prstGeom prst="line">
            <a:avLst/>
          </a:prstGeom>
          <a:noFill/>
          <a:ln w="31750">
            <a:solidFill>
              <a:schemeClr val="accent2"/>
            </a:solidFill>
            <a:prstDash val="sysDot"/>
          </a:ln>
        </p:spPr>
      </p:sp>
      <p:sp>
        <p:nvSpPr>
          <p:cNvPr id="12" name="Chip"/>
          <p:cNvSpPr txBox="1"/>
          <p:nvPr/>
        </p:nvSpPr>
        <p:spPr>
          <a:xfrm>
            <a:off x="3108960" y="4773168"/>
            <a:ext cx="868680" cy="420624"/>
          </a:xfrm>
          <a:prstGeom prst="roundRect">
            <a:avLst>
              <a:gd name="adj" fmla="val 50000"/>
            </a:avLst>
          </a:prstGeom>
          <a:solidFill>
            <a:schemeClr val="accent2"/>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Rennen</a:t>
            </a:r>
            <a:endParaRPr lang="en-US" sz="1500" dirty="0"/>
          </a:p>
        </p:txBody>
      </p:sp>
      <p:sp>
        <p:nvSpPr>
          <p:cNvPr id="13" name="Linie"/>
          <p:cNvSpPr/>
          <p:nvPr/>
        </p:nvSpPr>
        <p:spPr>
          <a:xfrm>
            <a:off x="5166360" y="4983480"/>
            <a:ext cx="320040" cy="91"/>
          </a:xfrm>
          <a:prstGeom prst="line">
            <a:avLst/>
          </a:prstGeom>
          <a:noFill/>
          <a:ln w="31750">
            <a:solidFill>
              <a:schemeClr val="accent2"/>
            </a:solidFill>
            <a:prstDash val="sysDot"/>
          </a:ln>
        </p:spPr>
      </p:sp>
      <p:sp>
        <p:nvSpPr>
          <p:cNvPr id="14" name="Chip"/>
          <p:cNvSpPr txBox="1"/>
          <p:nvPr/>
        </p:nvSpPr>
        <p:spPr>
          <a:xfrm>
            <a:off x="429768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L3.3</a:t>
            </a:r>
            <a:endParaRPr lang="en-US" sz="1500" dirty="0"/>
          </a:p>
        </p:txBody>
      </p:sp>
      <p:sp>
        <p:nvSpPr>
          <p:cNvPr id="15" name="Chip"/>
          <p:cNvSpPr txBox="1"/>
          <p:nvPr/>
        </p:nvSpPr>
        <p:spPr>
          <a:xfrm>
            <a:off x="5486400" y="4773168"/>
            <a:ext cx="868680" cy="420624"/>
          </a:xfrm>
          <a:prstGeom prst="roundRect">
            <a:avLst>
              <a:gd name="adj" fmla="val 50000"/>
            </a:avLst>
          </a:prstGeom>
          <a:solidFill>
            <a:schemeClr val="accent4"/>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BOSS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Das Labyrinth im Überblick</a:t>
            </a:r>
            <a:endParaRPr lang="en-US" sz="3600" dirty="0"/>
          </a:p>
        </p:txBody>
      </p:sp>
      <p:sp>
        <p:nvSpPr>
          <p:cNvPr id="3" name="IDE-Level 3.1"/>
          <p:cNvSpPr/>
          <p:nvPr/>
        </p:nvSpPr>
        <p:spPr>
          <a:xfrm>
            <a:off x="548640" y="1325880"/>
            <a:ext cx="1737360" cy="4023360"/>
          </a:xfrm>
          <a:prstGeom prst="roundRect">
            <a:avLst>
              <a:gd name="adj" fmla="val 6316"/>
            </a:avLst>
          </a:prstGeom>
          <a:solidFill>
            <a:schemeClr val="bg1"/>
          </a:solidFill>
          <a:ln/>
          <a:effectLst>
            <a:outerShdw sx="100000" sy="100000" kx="0" ky="0" algn="bl" rotWithShape="0" blurRad="76200" dist="25400" dir="5400000">
              <a:srgbClr val="000000">
                <a:alpha val="18000"/>
              </a:srgbClr>
            </a:outerShdw>
          </a:effectLst>
        </p:spPr>
      </p:sp>
      <p:sp>
        <p:nvSpPr>
          <p:cNvPr id="4" name="Icon-Kreis"/>
          <p:cNvSpPr/>
          <p:nvPr/>
        </p:nvSpPr>
        <p:spPr>
          <a:xfrm>
            <a:off x="960120" y="1508760"/>
            <a:ext cx="914400" cy="914400"/>
          </a:xfrm>
          <a:prstGeom prst="ellipse">
            <a:avLst/>
          </a:prstGeom>
          <a:solidFill>
            <a:schemeClr val="accent1"/>
          </a:solidFill>
          <a:ln/>
        </p:spPr>
      </p:sp>
      <p:pic>
        <p:nvPicPr>
          <p:cNvPr id="5" name="Icon GiMatryoshkaDolls" descr="preencoded.png">    </p:cNvPr>
          <p:cNvPicPr>
            <a:picLocks noChangeAspect="1"/>
          </p:cNvPicPr>
          <p:nvPr/>
        </p:nvPicPr>
        <p:blipFill>
          <a:blip r:embed="rId1"/>
          <a:stretch>
            <a:fillRect/>
          </a:stretch>
        </p:blipFill>
        <p:spPr>
          <a:xfrm>
            <a:off x="1161288" y="1709928"/>
            <a:ext cx="512064" cy="512064"/>
          </a:xfrm>
          <a:prstGeom prst="rect">
            <a:avLst/>
          </a:prstGeom>
        </p:spPr>
      </p:pic>
      <p:sp>
        <p:nvSpPr>
          <p:cNvPr id="6" name="Chip"/>
          <p:cNvSpPr txBox="1"/>
          <p:nvPr/>
        </p:nvSpPr>
        <p:spPr>
          <a:xfrm>
            <a:off x="777240" y="2560320"/>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18</a:t>
            </a:r>
            <a:endParaRPr lang="en-US" sz="1400" dirty="0"/>
          </a:p>
        </p:txBody>
      </p:sp>
      <p:sp>
        <p:nvSpPr>
          <p:cNvPr id="7" name="Text 4"/>
          <p:cNvSpPr txBox="1"/>
          <p:nvPr/>
        </p:nvSpPr>
        <p:spPr>
          <a:xfrm>
            <a:off x="621792" y="3017520"/>
            <a:ext cx="1591056" cy="914400"/>
          </a:xfrm>
          <a:prstGeom prst="rect">
            <a:avLst/>
          </a:prstGeom>
          <a:noFill/>
          <a:ln/>
        </p:spPr>
        <p:txBody>
          <a:bodyPr wrap="square" lIns="0" tIns="0" rIns="0" bIns="0" rtlCol="0" anchor="t"/>
          <a:lstStyle/>
          <a:p>
            <a:pPr algn="ctr" indent="0" marL="0">
              <a:buNone/>
            </a:pPr>
            <a:r>
              <a:rPr lang="en-US" sz="1400" b="1" dirty="0">
                <a:solidFill>
                  <a:schemeClr val="accent6"/>
                </a:solidFill>
              </a:rPr>
              <a:t>IDE-Level 3.1</a:t>
            </a:r>
            <a:endParaRPr lang="en-US" sz="1800" dirty="0"/>
          </a:p>
          <a:p>
            <a:pPr algn="ctr" indent="0" marL="0">
              <a:buNone/>
            </a:pPr>
            <a:r>
              <a:rPr lang="en-US" sz="1700" b="1" dirty="0">
                <a:solidFill>
                  <a:schemeClr val="accent1"/>
                </a:solidFill>
              </a:rPr>
              <a:t>Rekursion</a:t>
            </a:r>
            <a:endParaRPr lang="en-US" sz="1800" dirty="0"/>
          </a:p>
        </p:txBody>
      </p:sp>
      <p:sp>
        <p:nvSpPr>
          <p:cNvPr id="8" name="Text 5"/>
          <p:cNvSpPr txBox="1"/>
          <p:nvPr/>
        </p:nvSpPr>
        <p:spPr>
          <a:xfrm>
            <a:off x="658368" y="3977640"/>
            <a:ext cx="1517904" cy="868680"/>
          </a:xfrm>
          <a:prstGeom prst="rect">
            <a:avLst/>
          </a:prstGeom>
          <a:noFill/>
          <a:ln/>
        </p:spPr>
        <p:txBody>
          <a:bodyPr wrap="square" lIns="0" tIns="0" rIns="0" bIns="0" rtlCol="0" anchor="t"/>
          <a:lstStyle/>
          <a:p>
            <a:pPr algn="ctr" indent="0" marL="0">
              <a:buNone/>
            </a:pPr>
            <a:r>
              <a:rPr lang="en-US" sz="1400" dirty="0">
                <a:solidFill>
                  <a:schemeClr val="tx1"/>
                </a:solidFill>
              </a:rPr>
              <a:t>Basisfall, Aufrufstapel, Fibonacci, Fraktale</a:t>
            </a:r>
            <a:endParaRPr lang="en-US" sz="1400" dirty="0"/>
          </a:p>
        </p:txBody>
      </p:sp>
      <p:sp>
        <p:nvSpPr>
          <p:cNvPr id="9" name="Text 6"/>
          <p:cNvSpPr txBox="1"/>
          <p:nvPr/>
        </p:nvSpPr>
        <p:spPr>
          <a:xfrm>
            <a:off x="621792" y="4892040"/>
            <a:ext cx="1591056" cy="320040"/>
          </a:xfrm>
          <a:prstGeom prst="rect">
            <a:avLst/>
          </a:prstGeom>
          <a:noFill/>
          <a:ln/>
        </p:spPr>
        <p:txBody>
          <a:bodyPr wrap="square" lIns="0" tIns="0" rIns="0" bIns="0" rtlCol="0" anchor="t"/>
          <a:lstStyle/>
          <a:p>
            <a:pPr algn="ctr" indent="0" marL="0">
              <a:buNone/>
            </a:pPr>
            <a:r>
              <a:rPr lang="en-US" sz="1400" b="1" dirty="0">
                <a:solidFill>
                  <a:schemeClr val="accent2"/>
                </a:solidFill>
              </a:rPr>
              <a:t>Lab 3.1 · 3.2</a:t>
            </a:r>
            <a:endParaRPr lang="en-US" sz="1400" dirty="0"/>
          </a:p>
        </p:txBody>
      </p:sp>
      <p:sp>
        <p:nvSpPr>
          <p:cNvPr id="10" name="IDE-Level 3.2"/>
          <p:cNvSpPr/>
          <p:nvPr/>
        </p:nvSpPr>
        <p:spPr>
          <a:xfrm>
            <a:off x="2414016" y="1325880"/>
            <a:ext cx="1737360" cy="4023360"/>
          </a:xfrm>
          <a:prstGeom prst="roundRect">
            <a:avLst>
              <a:gd name="adj" fmla="val 6316"/>
            </a:avLst>
          </a:prstGeom>
          <a:solidFill>
            <a:schemeClr val="bg1"/>
          </a:solidFill>
          <a:ln/>
          <a:effectLst>
            <a:outerShdw sx="100000" sy="100000" kx="0" ky="0" algn="bl" rotWithShape="0" blurRad="76200" dist="25400" dir="5400000">
              <a:srgbClr val="000000">
                <a:alpha val="18000"/>
              </a:srgbClr>
            </a:outerShdw>
          </a:effectLst>
        </p:spPr>
      </p:sp>
      <p:sp>
        <p:nvSpPr>
          <p:cNvPr id="11" name="Icon-Kreis"/>
          <p:cNvSpPr/>
          <p:nvPr/>
        </p:nvSpPr>
        <p:spPr>
          <a:xfrm>
            <a:off x="2825496" y="1508760"/>
            <a:ext cx="914400" cy="914400"/>
          </a:xfrm>
          <a:prstGeom prst="ellipse">
            <a:avLst/>
          </a:prstGeom>
          <a:solidFill>
            <a:schemeClr val="accent1"/>
          </a:solidFill>
          <a:ln/>
        </p:spPr>
      </p:sp>
      <p:pic>
        <p:nvPicPr>
          <p:cNvPr id="12" name="Icon GiTreasureMap" descr="preencoded.png">    </p:cNvPr>
          <p:cNvPicPr>
            <a:picLocks noChangeAspect="1"/>
          </p:cNvPicPr>
          <p:nvPr/>
        </p:nvPicPr>
        <p:blipFill>
          <a:blip r:embed="rId2"/>
          <a:stretch>
            <a:fillRect/>
          </a:stretch>
        </p:blipFill>
        <p:spPr>
          <a:xfrm>
            <a:off x="3026664" y="1709928"/>
            <a:ext cx="512064" cy="512064"/>
          </a:xfrm>
          <a:prstGeom prst="rect">
            <a:avLst/>
          </a:prstGeom>
        </p:spPr>
      </p:pic>
      <p:sp>
        <p:nvSpPr>
          <p:cNvPr id="13" name="Chip"/>
          <p:cNvSpPr txBox="1"/>
          <p:nvPr/>
        </p:nvSpPr>
        <p:spPr>
          <a:xfrm>
            <a:off x="2642616" y="2560320"/>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19</a:t>
            </a:r>
            <a:endParaRPr lang="en-US" sz="1400" dirty="0"/>
          </a:p>
        </p:txBody>
      </p:sp>
      <p:sp>
        <p:nvSpPr>
          <p:cNvPr id="14" name="Text 10"/>
          <p:cNvSpPr txBox="1"/>
          <p:nvPr/>
        </p:nvSpPr>
        <p:spPr>
          <a:xfrm>
            <a:off x="2487168" y="3017520"/>
            <a:ext cx="1591056" cy="914400"/>
          </a:xfrm>
          <a:prstGeom prst="rect">
            <a:avLst/>
          </a:prstGeom>
          <a:noFill/>
          <a:ln/>
        </p:spPr>
        <p:txBody>
          <a:bodyPr wrap="square" lIns="0" tIns="0" rIns="0" bIns="0" rtlCol="0" anchor="t"/>
          <a:lstStyle/>
          <a:p>
            <a:pPr algn="ctr" indent="0" marL="0">
              <a:buNone/>
            </a:pPr>
            <a:r>
              <a:rPr lang="en-US" sz="1400" b="1" dirty="0">
                <a:solidFill>
                  <a:schemeClr val="accent6"/>
                </a:solidFill>
              </a:rPr>
              <a:t>IDE-Level 3.2</a:t>
            </a:r>
            <a:endParaRPr lang="en-US" sz="1800" dirty="0"/>
          </a:p>
          <a:p>
            <a:pPr algn="ctr" indent="0" marL="0">
              <a:buNone/>
            </a:pPr>
            <a:r>
              <a:rPr lang="en-US" sz="1700" b="1" dirty="0">
                <a:solidFill>
                  <a:schemeClr val="accent1"/>
                </a:solidFill>
              </a:rPr>
              <a:t>Dungeon-Karte</a:t>
            </a:r>
            <a:endParaRPr lang="en-US" sz="1800" dirty="0"/>
          </a:p>
        </p:txBody>
      </p:sp>
      <p:sp>
        <p:nvSpPr>
          <p:cNvPr id="15" name="Text 11"/>
          <p:cNvSpPr txBox="1"/>
          <p:nvPr/>
        </p:nvSpPr>
        <p:spPr>
          <a:xfrm>
            <a:off x="2523744" y="3977640"/>
            <a:ext cx="1517904" cy="868680"/>
          </a:xfrm>
          <a:prstGeom prst="rect">
            <a:avLst/>
          </a:prstGeom>
          <a:noFill/>
          <a:ln/>
        </p:spPr>
        <p:txBody>
          <a:bodyPr wrap="square" lIns="0" tIns="0" rIns="0" bIns="0" rtlCol="0" anchor="t"/>
          <a:lstStyle/>
          <a:p>
            <a:pPr algn="ctr" indent="0" marL="0">
              <a:buNone/>
            </a:pPr>
            <a:r>
              <a:rPr lang="en-US" sz="1400" dirty="0">
                <a:solidFill>
                  <a:schemeClr val="tx1"/>
                </a:solidFill>
              </a:rPr>
              <a:t>2D-Reihung, Nachbarn, Nebel lüften</a:t>
            </a:r>
            <a:endParaRPr lang="en-US" sz="1400" dirty="0"/>
          </a:p>
        </p:txBody>
      </p:sp>
      <p:sp>
        <p:nvSpPr>
          <p:cNvPr id="16" name="Text 12"/>
          <p:cNvSpPr txBox="1"/>
          <p:nvPr/>
        </p:nvSpPr>
        <p:spPr>
          <a:xfrm>
            <a:off x="2487168" y="4892040"/>
            <a:ext cx="1591056" cy="320040"/>
          </a:xfrm>
          <a:prstGeom prst="rect">
            <a:avLst/>
          </a:prstGeom>
          <a:noFill/>
          <a:ln/>
        </p:spPr>
        <p:txBody>
          <a:bodyPr wrap="square" lIns="0" tIns="0" rIns="0" bIns="0" rtlCol="0" anchor="t"/>
          <a:lstStyle/>
          <a:p>
            <a:pPr algn="ctr" indent="0" marL="0">
              <a:buNone/>
            </a:pPr>
            <a:r>
              <a:rPr lang="en-US" sz="1400" b="1" dirty="0">
                <a:solidFill>
                  <a:schemeClr val="accent2"/>
                </a:solidFill>
              </a:rPr>
              <a:t>Lab 3.3</a:t>
            </a:r>
            <a:endParaRPr lang="en-US" sz="1400" dirty="0"/>
          </a:p>
        </p:txBody>
      </p:sp>
      <p:sp>
        <p:nvSpPr>
          <p:cNvPr id="17" name="IDE 3.2 Experte"/>
          <p:cNvSpPr/>
          <p:nvPr/>
        </p:nvSpPr>
        <p:spPr>
          <a:xfrm>
            <a:off x="4279392" y="1325880"/>
            <a:ext cx="1737360" cy="4023360"/>
          </a:xfrm>
          <a:prstGeom prst="roundRect">
            <a:avLst>
              <a:gd name="adj" fmla="val 6316"/>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8" name="Icon-Kreis"/>
          <p:cNvSpPr/>
          <p:nvPr/>
        </p:nvSpPr>
        <p:spPr>
          <a:xfrm>
            <a:off x="4690872" y="1508760"/>
            <a:ext cx="914400" cy="914400"/>
          </a:xfrm>
          <a:prstGeom prst="ellipse">
            <a:avLst/>
          </a:prstGeom>
          <a:solidFill>
            <a:schemeClr val="accent2"/>
          </a:solidFill>
          <a:ln/>
        </p:spPr>
      </p:sp>
      <p:pic>
        <p:nvPicPr>
          <p:cNvPr id="19" name="Icon GiTorch" descr="preencoded.png">    </p:cNvPr>
          <p:cNvPicPr>
            <a:picLocks noChangeAspect="1"/>
          </p:cNvPicPr>
          <p:nvPr/>
        </p:nvPicPr>
        <p:blipFill>
          <a:blip r:embed="rId3"/>
          <a:stretch>
            <a:fillRect/>
          </a:stretch>
        </p:blipFill>
        <p:spPr>
          <a:xfrm>
            <a:off x="4892040" y="1709928"/>
            <a:ext cx="512064" cy="512064"/>
          </a:xfrm>
          <a:prstGeom prst="rect">
            <a:avLst/>
          </a:prstGeom>
        </p:spPr>
      </p:pic>
      <p:sp>
        <p:nvSpPr>
          <p:cNvPr id="20" name="Chip"/>
          <p:cNvSpPr txBox="1"/>
          <p:nvPr/>
        </p:nvSpPr>
        <p:spPr>
          <a:xfrm>
            <a:off x="4507992" y="2560320"/>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20 · Kür</a:t>
            </a:r>
            <a:endParaRPr lang="en-US" sz="1400" dirty="0"/>
          </a:p>
        </p:txBody>
      </p:sp>
      <p:sp>
        <p:nvSpPr>
          <p:cNvPr id="21" name="Text 16"/>
          <p:cNvSpPr txBox="1"/>
          <p:nvPr/>
        </p:nvSpPr>
        <p:spPr>
          <a:xfrm>
            <a:off x="4352544" y="3017520"/>
            <a:ext cx="1591056" cy="914400"/>
          </a:xfrm>
          <a:prstGeom prst="rect">
            <a:avLst/>
          </a:prstGeom>
          <a:noFill/>
          <a:ln/>
        </p:spPr>
        <p:txBody>
          <a:bodyPr wrap="square" lIns="0" tIns="0" rIns="0" bIns="0" rtlCol="0" anchor="t"/>
          <a:lstStyle/>
          <a:p>
            <a:pPr algn="ctr" indent="0" marL="0">
              <a:buNone/>
            </a:pPr>
            <a:r>
              <a:rPr lang="en-US" sz="1400" b="1" dirty="0">
                <a:solidFill>
                  <a:schemeClr val="accent6"/>
                </a:solidFill>
              </a:rPr>
              <a:t>IDE 3.2 Experte</a:t>
            </a:r>
            <a:endParaRPr lang="en-US" sz="1800" dirty="0"/>
          </a:p>
          <a:p>
            <a:pPr algn="ctr" indent="0" marL="0">
              <a:buNone/>
            </a:pPr>
            <a:r>
              <a:rPr lang="en-US" sz="1700" b="1" dirty="0">
                <a:solidFill>
                  <a:schemeClr val="accent1"/>
                </a:solidFill>
              </a:rPr>
              <a:t>Backtracking</a:t>
            </a:r>
            <a:endParaRPr lang="en-US" sz="1800" dirty="0"/>
          </a:p>
        </p:txBody>
      </p:sp>
      <p:sp>
        <p:nvSpPr>
          <p:cNvPr id="22" name="Text 17"/>
          <p:cNvSpPr txBox="1"/>
          <p:nvPr/>
        </p:nvSpPr>
        <p:spPr>
          <a:xfrm>
            <a:off x="4389120" y="3977640"/>
            <a:ext cx="1517904" cy="868680"/>
          </a:xfrm>
          <a:prstGeom prst="rect">
            <a:avLst/>
          </a:prstGeom>
          <a:noFill/>
          <a:ln/>
        </p:spPr>
        <p:txBody>
          <a:bodyPr wrap="square" lIns="0" tIns="0" rIns="0" bIns="0" rtlCol="0" anchor="t"/>
          <a:lstStyle/>
          <a:p>
            <a:pPr algn="ctr" indent="0" marL="0">
              <a:buNone/>
            </a:pPr>
            <a:r>
              <a:rPr lang="en-US" sz="1400" dirty="0">
                <a:solidFill>
                  <a:schemeClr val="tx1"/>
                </a:solidFill>
              </a:rPr>
              <a:t>Wegsuche und Dungeon-Rennen</a:t>
            </a:r>
            <a:endParaRPr lang="en-US" sz="1400" dirty="0"/>
          </a:p>
        </p:txBody>
      </p:sp>
      <p:sp>
        <p:nvSpPr>
          <p:cNvPr id="23" name="Text 18"/>
          <p:cNvSpPr txBox="1"/>
          <p:nvPr/>
        </p:nvSpPr>
        <p:spPr>
          <a:xfrm>
            <a:off x="4352544" y="4892040"/>
            <a:ext cx="1591056" cy="320040"/>
          </a:xfrm>
          <a:prstGeom prst="rect">
            <a:avLst/>
          </a:prstGeom>
          <a:noFill/>
          <a:ln/>
        </p:spPr>
        <p:txBody>
          <a:bodyPr wrap="square" lIns="0" tIns="0" rIns="0" bIns="0" rtlCol="0" anchor="t"/>
          <a:lstStyle/>
          <a:p>
            <a:pPr algn="ctr" indent="0" marL="0">
              <a:buNone/>
            </a:pPr>
            <a:r>
              <a:rPr lang="en-US" sz="1400" b="1" dirty="0">
                <a:solidFill>
                  <a:schemeClr val="accent2"/>
                </a:solidFill>
              </a:rPr>
              <a:t>Lab 3.4 · Rennen</a:t>
            </a:r>
            <a:endParaRPr lang="en-US" sz="1400" dirty="0"/>
          </a:p>
        </p:txBody>
      </p:sp>
      <p:sp>
        <p:nvSpPr>
          <p:cNvPr id="24" name="IDE-Level 3.3"/>
          <p:cNvSpPr/>
          <p:nvPr/>
        </p:nvSpPr>
        <p:spPr>
          <a:xfrm>
            <a:off x="6144768" y="1325880"/>
            <a:ext cx="1737360" cy="4023360"/>
          </a:xfrm>
          <a:prstGeom prst="roundRect">
            <a:avLst>
              <a:gd name="adj" fmla="val 6316"/>
            </a:avLst>
          </a:prstGeom>
          <a:solidFill>
            <a:schemeClr val="bg1"/>
          </a:solidFill>
          <a:ln/>
          <a:effectLst>
            <a:outerShdw sx="100000" sy="100000" kx="0" ky="0" algn="bl" rotWithShape="0" blurRad="76200" dist="25400" dir="5400000">
              <a:srgbClr val="000000">
                <a:alpha val="18000"/>
              </a:srgbClr>
            </a:outerShdw>
          </a:effectLst>
        </p:spPr>
      </p:sp>
      <p:sp>
        <p:nvSpPr>
          <p:cNvPr id="25" name="Icon-Kreis"/>
          <p:cNvSpPr/>
          <p:nvPr/>
        </p:nvSpPr>
        <p:spPr>
          <a:xfrm>
            <a:off x="6556248" y="1508760"/>
            <a:ext cx="914400" cy="914400"/>
          </a:xfrm>
          <a:prstGeom prst="ellipse">
            <a:avLst/>
          </a:prstGeom>
          <a:solidFill>
            <a:schemeClr val="accent1"/>
          </a:solidFill>
          <a:ln/>
        </p:spPr>
      </p:sp>
      <p:pic>
        <p:nvPicPr>
          <p:cNvPr id="26" name="Icon GiSplitArrows" descr="preencoded.png">    </p:cNvPr>
          <p:cNvPicPr>
            <a:picLocks noChangeAspect="1"/>
          </p:cNvPicPr>
          <p:nvPr/>
        </p:nvPicPr>
        <p:blipFill>
          <a:blip r:embed="rId4"/>
          <a:stretch>
            <a:fillRect/>
          </a:stretch>
        </p:blipFill>
        <p:spPr>
          <a:xfrm>
            <a:off x="6757416" y="1709928"/>
            <a:ext cx="512064" cy="512064"/>
          </a:xfrm>
          <a:prstGeom prst="rect">
            <a:avLst/>
          </a:prstGeom>
        </p:spPr>
      </p:pic>
      <p:sp>
        <p:nvSpPr>
          <p:cNvPr id="27" name="Chip"/>
          <p:cNvSpPr txBox="1"/>
          <p:nvPr/>
        </p:nvSpPr>
        <p:spPr>
          <a:xfrm>
            <a:off x="6373368" y="2560320"/>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21</a:t>
            </a:r>
            <a:endParaRPr lang="en-US" sz="1400" dirty="0"/>
          </a:p>
        </p:txBody>
      </p:sp>
      <p:sp>
        <p:nvSpPr>
          <p:cNvPr id="28" name="Text 22"/>
          <p:cNvSpPr txBox="1"/>
          <p:nvPr/>
        </p:nvSpPr>
        <p:spPr>
          <a:xfrm>
            <a:off x="6217920" y="3017520"/>
            <a:ext cx="1591056" cy="914400"/>
          </a:xfrm>
          <a:prstGeom prst="rect">
            <a:avLst/>
          </a:prstGeom>
          <a:noFill/>
          <a:ln/>
        </p:spPr>
        <p:txBody>
          <a:bodyPr wrap="square" lIns="0" tIns="0" rIns="0" bIns="0" rtlCol="0" anchor="t"/>
          <a:lstStyle/>
          <a:p>
            <a:pPr algn="ctr" indent="0" marL="0">
              <a:buNone/>
            </a:pPr>
            <a:r>
              <a:rPr lang="en-US" sz="1400" b="1" dirty="0">
                <a:solidFill>
                  <a:schemeClr val="accent6"/>
                </a:solidFill>
              </a:rPr>
              <a:t>IDE-Level 3.3</a:t>
            </a:r>
            <a:endParaRPr lang="en-US" sz="1800" dirty="0"/>
          </a:p>
          <a:p>
            <a:pPr algn="ctr" indent="0" marL="0">
              <a:buNone/>
            </a:pPr>
            <a:r>
              <a:rPr lang="en-US" sz="1700" b="1" dirty="0">
                <a:solidFill>
                  <a:schemeClr val="accent1"/>
                </a:solidFill>
              </a:rPr>
              <a:t>Teile und herrsche</a:t>
            </a:r>
            <a:endParaRPr lang="en-US" sz="1800" dirty="0"/>
          </a:p>
        </p:txBody>
      </p:sp>
      <p:sp>
        <p:nvSpPr>
          <p:cNvPr id="29" name="Text 23"/>
          <p:cNvSpPr txBox="1"/>
          <p:nvPr/>
        </p:nvSpPr>
        <p:spPr>
          <a:xfrm>
            <a:off x="6254496" y="3977640"/>
            <a:ext cx="1517904" cy="868680"/>
          </a:xfrm>
          <a:prstGeom prst="rect">
            <a:avLst/>
          </a:prstGeom>
          <a:noFill/>
          <a:ln/>
        </p:spPr>
        <p:txBody>
          <a:bodyPr wrap="square" lIns="0" tIns="0" rIns="0" bIns="0" rtlCol="0" anchor="t"/>
          <a:lstStyle/>
          <a:p>
            <a:pPr algn="ctr" indent="0" marL="0">
              <a:buNone/>
            </a:pPr>
            <a:r>
              <a:rPr lang="en-US" sz="1400" dirty="0">
                <a:solidFill>
                  <a:schemeClr val="tx1"/>
                </a:solidFill>
              </a:rPr>
              <a:t>binäre Suche, Maximum, Mergesort</a:t>
            </a:r>
            <a:endParaRPr lang="en-US" sz="1400" dirty="0"/>
          </a:p>
        </p:txBody>
      </p:sp>
      <p:sp>
        <p:nvSpPr>
          <p:cNvPr id="30" name="Text 24"/>
          <p:cNvSpPr txBox="1"/>
          <p:nvPr/>
        </p:nvSpPr>
        <p:spPr>
          <a:xfrm>
            <a:off x="6217920" y="4892040"/>
            <a:ext cx="1591056" cy="320040"/>
          </a:xfrm>
          <a:prstGeom prst="rect">
            <a:avLst/>
          </a:prstGeom>
          <a:noFill/>
          <a:ln/>
        </p:spPr>
        <p:txBody>
          <a:bodyPr wrap="square" lIns="0" tIns="0" rIns="0" bIns="0" rtlCol="0" anchor="t"/>
          <a:lstStyle/>
          <a:p>
            <a:pPr algn="ctr" indent="0" marL="0">
              <a:buNone/>
            </a:pPr>
            <a:r>
              <a:rPr lang="en-US" sz="1400" b="1" dirty="0">
                <a:solidFill>
                  <a:schemeClr val="accent2"/>
                </a:solidFill>
              </a:rPr>
              <a:t>Lab 3.5</a:t>
            </a:r>
            <a:endParaRPr lang="en-US" sz="1400" dirty="0"/>
          </a:p>
        </p:txBody>
      </p:sp>
      <p:sp>
        <p:nvSpPr>
          <p:cNvPr id="31" name="IDE 3.3 Experte"/>
          <p:cNvSpPr/>
          <p:nvPr/>
        </p:nvSpPr>
        <p:spPr>
          <a:xfrm>
            <a:off x="8010144" y="1325880"/>
            <a:ext cx="1737360" cy="4023360"/>
          </a:xfrm>
          <a:prstGeom prst="roundRect">
            <a:avLst>
              <a:gd name="adj" fmla="val 6316"/>
            </a:avLst>
          </a:prstGeom>
          <a:solidFill>
            <a:schemeClr val="bg1"/>
          </a:solidFill>
          <a:ln/>
          <a:effectLst>
            <a:outerShdw sx="100000" sy="100000" kx="0" ky="0" algn="bl" rotWithShape="0" blurRad="76200" dist="25400" dir="5400000">
              <a:srgbClr val="000000">
                <a:alpha val="18000"/>
              </a:srgbClr>
            </a:outerShdw>
          </a:effectLst>
        </p:spPr>
      </p:sp>
      <p:sp>
        <p:nvSpPr>
          <p:cNvPr id="32" name="Icon-Kreis"/>
          <p:cNvSpPr/>
          <p:nvPr/>
        </p:nvSpPr>
        <p:spPr>
          <a:xfrm>
            <a:off x="8421624" y="1508760"/>
            <a:ext cx="914400" cy="914400"/>
          </a:xfrm>
          <a:prstGeom prst="ellipse">
            <a:avLst/>
          </a:prstGeom>
          <a:solidFill>
            <a:schemeClr val="accent1"/>
          </a:solidFill>
          <a:ln/>
        </p:spPr>
      </p:sp>
      <p:pic>
        <p:nvPicPr>
          <p:cNvPr id="33" name="Icon GiCrossedSwords" descr="preencoded.png">    </p:cNvPr>
          <p:cNvPicPr>
            <a:picLocks noChangeAspect="1"/>
          </p:cNvPicPr>
          <p:nvPr/>
        </p:nvPicPr>
        <p:blipFill>
          <a:blip r:embed="rId5"/>
          <a:stretch>
            <a:fillRect/>
          </a:stretch>
        </p:blipFill>
        <p:spPr>
          <a:xfrm>
            <a:off x="8622792" y="1709928"/>
            <a:ext cx="512064" cy="512064"/>
          </a:xfrm>
          <a:prstGeom prst="rect">
            <a:avLst/>
          </a:prstGeom>
        </p:spPr>
      </p:pic>
      <p:sp>
        <p:nvSpPr>
          <p:cNvPr id="34" name="Chip"/>
          <p:cNvSpPr txBox="1"/>
          <p:nvPr/>
        </p:nvSpPr>
        <p:spPr>
          <a:xfrm>
            <a:off x="8238744" y="2560320"/>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22</a:t>
            </a:r>
            <a:endParaRPr lang="en-US" sz="1400" dirty="0"/>
          </a:p>
        </p:txBody>
      </p:sp>
      <p:sp>
        <p:nvSpPr>
          <p:cNvPr id="35" name="Text 28"/>
          <p:cNvSpPr txBox="1"/>
          <p:nvPr/>
        </p:nvSpPr>
        <p:spPr>
          <a:xfrm>
            <a:off x="8083296" y="3017520"/>
            <a:ext cx="1591056" cy="914400"/>
          </a:xfrm>
          <a:prstGeom prst="rect">
            <a:avLst/>
          </a:prstGeom>
          <a:noFill/>
          <a:ln/>
        </p:spPr>
        <p:txBody>
          <a:bodyPr wrap="square" lIns="0" tIns="0" rIns="0" bIns="0" rtlCol="0" anchor="t"/>
          <a:lstStyle/>
          <a:p>
            <a:pPr algn="ctr" indent="0" marL="0">
              <a:buNone/>
            </a:pPr>
            <a:r>
              <a:rPr lang="en-US" sz="1400" b="1" dirty="0">
                <a:solidFill>
                  <a:schemeClr val="accent6"/>
                </a:solidFill>
              </a:rPr>
              <a:t>IDE 3.3 Experte</a:t>
            </a:r>
            <a:endParaRPr lang="en-US" sz="1800" dirty="0"/>
          </a:p>
          <a:p>
            <a:pPr algn="ctr" indent="0" marL="0">
              <a:buNone/>
            </a:pPr>
            <a:r>
              <a:rPr lang="en-US" sz="1700" b="1" dirty="0">
                <a:solidFill>
                  <a:schemeClr val="accent1"/>
                </a:solidFill>
              </a:rPr>
              <a:t>Quicksort</a:t>
            </a:r>
            <a:endParaRPr lang="en-US" sz="1800" dirty="0"/>
          </a:p>
        </p:txBody>
      </p:sp>
      <p:sp>
        <p:nvSpPr>
          <p:cNvPr id="36" name="Text 29"/>
          <p:cNvSpPr txBox="1"/>
          <p:nvPr/>
        </p:nvSpPr>
        <p:spPr>
          <a:xfrm>
            <a:off x="8119872" y="3977640"/>
            <a:ext cx="1517904" cy="868680"/>
          </a:xfrm>
          <a:prstGeom prst="rect">
            <a:avLst/>
          </a:prstGeom>
          <a:noFill/>
          <a:ln/>
        </p:spPr>
        <p:txBody>
          <a:bodyPr wrap="square" lIns="0" tIns="0" rIns="0" bIns="0" rtlCol="0" anchor="t"/>
          <a:lstStyle/>
          <a:p>
            <a:pPr algn="ctr" indent="0" marL="0">
              <a:buNone/>
            </a:pPr>
            <a:r>
              <a:rPr lang="en-US" sz="1400" dirty="0">
                <a:solidFill>
                  <a:schemeClr val="tx1"/>
                </a:solidFill>
              </a:rPr>
              <a:t>zerlegen, fremde Verfahren analysieren</a:t>
            </a:r>
            <a:endParaRPr lang="en-US" sz="1400" dirty="0"/>
          </a:p>
        </p:txBody>
      </p:sp>
      <p:sp>
        <p:nvSpPr>
          <p:cNvPr id="37" name="Text 30"/>
          <p:cNvSpPr txBox="1"/>
          <p:nvPr/>
        </p:nvSpPr>
        <p:spPr>
          <a:xfrm>
            <a:off x="8083296" y="4892040"/>
            <a:ext cx="1591056" cy="320040"/>
          </a:xfrm>
          <a:prstGeom prst="rect">
            <a:avLst/>
          </a:prstGeom>
          <a:noFill/>
          <a:ln/>
        </p:spPr>
        <p:txBody>
          <a:bodyPr wrap="square" lIns="0" tIns="0" rIns="0" bIns="0" rtlCol="0" anchor="t"/>
          <a:lstStyle/>
          <a:p>
            <a:pPr algn="ctr" indent="0" marL="0">
              <a:buNone/>
            </a:pPr>
            <a:r>
              <a:rPr lang="en-US" sz="1400" b="1" dirty="0">
                <a:solidFill>
                  <a:schemeClr val="accent2"/>
                </a:solidFill>
              </a:rPr>
              <a:t>Lab 3.6</a:t>
            </a:r>
            <a:endParaRPr lang="en-US" sz="1400" dirty="0"/>
          </a:p>
        </p:txBody>
      </p:sp>
      <p:sp>
        <p:nvSpPr>
          <p:cNvPr id="38" name="Boss 3"/>
          <p:cNvSpPr/>
          <p:nvPr/>
        </p:nvSpPr>
        <p:spPr>
          <a:xfrm>
            <a:off x="9875520" y="1325880"/>
            <a:ext cx="1737360" cy="4023360"/>
          </a:xfrm>
          <a:prstGeom prst="roundRect">
            <a:avLst>
              <a:gd name="adj" fmla="val 6316"/>
            </a:avLst>
          </a:prstGeom>
          <a:solidFill>
            <a:schemeClr val="accent4"/>
          </a:solidFill>
          <a:ln/>
          <a:effectLst>
            <a:outerShdw sx="100000" sy="100000" kx="0" ky="0" algn="bl" rotWithShape="0" blurRad="76200" dist="25400" dir="5400000">
              <a:srgbClr val="000000">
                <a:alpha val="18000"/>
              </a:srgbClr>
            </a:outerShdw>
          </a:effectLst>
        </p:spPr>
      </p:sp>
      <p:sp>
        <p:nvSpPr>
          <p:cNvPr id="39" name="Icon-Kreis"/>
          <p:cNvSpPr/>
          <p:nvPr/>
        </p:nvSpPr>
        <p:spPr>
          <a:xfrm>
            <a:off x="10287000" y="1508760"/>
            <a:ext cx="914400" cy="914400"/>
          </a:xfrm>
          <a:prstGeom prst="ellipse">
            <a:avLst/>
          </a:prstGeom>
          <a:solidFill>
            <a:schemeClr val="bg1"/>
          </a:solidFill>
          <a:ln/>
        </p:spPr>
      </p:sp>
      <p:pic>
        <p:nvPicPr>
          <p:cNvPr id="40" name="Icon GiCrystalCluster" descr="preencoded.png">    </p:cNvPr>
          <p:cNvPicPr>
            <a:picLocks noChangeAspect="1"/>
          </p:cNvPicPr>
          <p:nvPr/>
        </p:nvPicPr>
        <p:blipFill>
          <a:blip r:embed="rId6"/>
          <a:stretch>
            <a:fillRect/>
          </a:stretch>
        </p:blipFill>
        <p:spPr>
          <a:xfrm>
            <a:off x="10488168" y="1709928"/>
            <a:ext cx="512064" cy="512064"/>
          </a:xfrm>
          <a:prstGeom prst="rect">
            <a:avLst/>
          </a:prstGeom>
        </p:spPr>
      </p:pic>
      <p:sp>
        <p:nvSpPr>
          <p:cNvPr id="41" name="Chip"/>
          <p:cNvSpPr txBox="1"/>
          <p:nvPr/>
        </p:nvSpPr>
        <p:spPr>
          <a:xfrm>
            <a:off x="10104120" y="2560320"/>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23</a:t>
            </a:r>
            <a:endParaRPr lang="en-US" sz="1400" dirty="0"/>
          </a:p>
        </p:txBody>
      </p:sp>
      <p:sp>
        <p:nvSpPr>
          <p:cNvPr id="42" name="Text 34"/>
          <p:cNvSpPr txBox="1"/>
          <p:nvPr/>
        </p:nvSpPr>
        <p:spPr>
          <a:xfrm>
            <a:off x="9948672" y="3017520"/>
            <a:ext cx="1591056" cy="914400"/>
          </a:xfrm>
          <a:prstGeom prst="rect">
            <a:avLst/>
          </a:prstGeom>
          <a:noFill/>
          <a:ln/>
        </p:spPr>
        <p:txBody>
          <a:bodyPr wrap="square" lIns="0" tIns="0" rIns="0" bIns="0" rtlCol="0" anchor="t"/>
          <a:lstStyle/>
          <a:p>
            <a:pPr algn="ctr" indent="0" marL="0">
              <a:buNone/>
            </a:pPr>
            <a:r>
              <a:rPr lang="en-US" sz="1400" b="1" dirty="0">
                <a:solidFill>
                  <a:schemeClr val="bg1"/>
                </a:solidFill>
              </a:rPr>
              <a:t>Boss 3</a:t>
            </a:r>
            <a:endParaRPr lang="en-US" sz="1800" dirty="0"/>
          </a:p>
          <a:p>
            <a:pPr algn="ctr" indent="0" marL="0">
              <a:buNone/>
            </a:pPr>
            <a:r>
              <a:rPr lang="en-US" sz="1700" b="1" dirty="0">
                <a:solidFill>
                  <a:schemeClr val="bg1"/>
                </a:solidFill>
              </a:rPr>
              <a:t>Kristallhöhle</a:t>
            </a:r>
            <a:endParaRPr lang="en-US" sz="1800" dirty="0"/>
          </a:p>
        </p:txBody>
      </p:sp>
      <p:sp>
        <p:nvSpPr>
          <p:cNvPr id="43" name="Text 35"/>
          <p:cNvSpPr txBox="1"/>
          <p:nvPr/>
        </p:nvSpPr>
        <p:spPr>
          <a:xfrm>
            <a:off x="9985248" y="3977640"/>
            <a:ext cx="1517904" cy="868680"/>
          </a:xfrm>
          <a:prstGeom prst="rect">
            <a:avLst/>
          </a:prstGeom>
          <a:noFill/>
          <a:ln/>
        </p:spPr>
        <p:txBody>
          <a:bodyPr wrap="square" lIns="0" tIns="0" rIns="0" bIns="0" rtlCol="0" anchor="t"/>
          <a:lstStyle/>
          <a:p>
            <a:pPr algn="ctr" indent="0" marL="0">
              <a:buNone/>
            </a:pPr>
            <a:r>
              <a:rPr lang="en-US" sz="1400" dirty="0">
                <a:solidFill>
                  <a:schemeClr val="bg1"/>
                </a:solidFill>
              </a:rPr>
              <a:t>Abi auf Zeit: 24 BE in 60 min</a:t>
            </a:r>
            <a:endParaRPr lang="en-US" sz="1400" dirty="0"/>
          </a:p>
        </p:txBody>
      </p:sp>
      <p:sp>
        <p:nvSpPr>
          <p:cNvPr id="44" name="Text 36"/>
          <p:cNvSpPr txBox="1"/>
          <p:nvPr/>
        </p:nvSpPr>
        <p:spPr>
          <a:xfrm>
            <a:off x="9948672" y="4892040"/>
            <a:ext cx="1591056" cy="320040"/>
          </a:xfrm>
          <a:prstGeom prst="rect">
            <a:avLst/>
          </a:prstGeom>
          <a:noFill/>
          <a:ln/>
        </p:spPr>
        <p:txBody>
          <a:bodyPr wrap="square" lIns="0" tIns="0" rIns="0" bIns="0" rtlCol="0" anchor="t"/>
          <a:lstStyle/>
          <a:p>
            <a:pPr algn="ctr" indent="0" marL="0">
              <a:buNone/>
            </a:pPr>
            <a:r>
              <a:rPr lang="en-US" sz="1400" b="1" dirty="0">
                <a:solidFill>
                  <a:schemeClr val="bg1"/>
                </a:solidFill>
              </a:rPr>
              <a:t>+ Online-Boss</a:t>
            </a:r>
            <a:endParaRPr lang="en-US" sz="1400" dirty="0"/>
          </a:p>
        </p:txBody>
      </p:sp>
      <p:sp>
        <p:nvSpPr>
          <p:cNvPr id="45" name="Roter Faden"/>
          <p:cNvSpPr/>
          <p:nvPr/>
        </p:nvSpPr>
        <p:spPr>
          <a:xfrm>
            <a:off x="548640" y="5532120"/>
            <a:ext cx="11064240" cy="594360"/>
          </a:xfrm>
          <a:prstGeom prst="roundRect">
            <a:avLst>
              <a:gd name="adj" fmla="val 18462"/>
            </a:avLst>
          </a:prstGeom>
          <a:solidFill>
            <a:schemeClr val="bg2"/>
          </a:solidFill>
          <a:ln/>
        </p:spPr>
      </p:sp>
      <p:sp>
        <p:nvSpPr>
          <p:cNvPr id="46" name="Text 38"/>
          <p:cNvSpPr txBox="1"/>
          <p:nvPr/>
        </p:nvSpPr>
        <p:spPr>
          <a:xfrm>
            <a:off x="777240" y="5532120"/>
            <a:ext cx="10698480" cy="594360"/>
          </a:xfrm>
          <a:prstGeom prst="rect">
            <a:avLst/>
          </a:prstGeom>
          <a:noFill/>
          <a:ln/>
        </p:spPr>
        <p:txBody>
          <a:bodyPr wrap="square" lIns="0" tIns="0" rIns="0" bIns="0" rtlCol="0" anchor="ctr"/>
          <a:lstStyle/>
          <a:p>
            <a:pPr indent="0" marL="0">
              <a:buNone/>
            </a:pPr>
            <a:r>
              <a:rPr lang="en-US" sz="1700" b="1" dirty="0">
                <a:solidFill>
                  <a:schemeClr val="accent1"/>
                </a:solidFill>
              </a:rPr>
              <a:t>Roter Faden: </a:t>
            </a:r>
            <a:pPr indent="0" marL="0">
              <a:buNone/>
            </a:pPr>
            <a:r>
              <a:rPr lang="en-US" sz="1700" dirty="0">
                <a:solidFill>
                  <a:schemeClr val="tx1"/>
                </a:solidFill>
              </a:rPr>
              <a:t>Ein großes Problem wird auf ein kleineres derselben Art zurückgeführt – bis es ganz einfach ist.</a:t>
            </a:r>
            <a:endParaRPr lang="en-US" sz="1700" dirty="0"/>
          </a:p>
        </p:txBody>
      </p:sp>
      <p:sp>
        <p:nvSpPr>
          <p:cNvPr id="47" name="Text 39"/>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Start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Rekursion unplugged: Puppe in der Puppe</a:t>
            </a:r>
            <a:endParaRPr lang="en-US" sz="3600" dirty="0"/>
          </a:p>
        </p:txBody>
      </p:sp>
      <p:sp>
        <p:nvSpPr>
          <p:cNvPr id="3" name="Puppe Koerper 1"/>
          <p:cNvSpPr/>
          <p:nvPr/>
        </p:nvSpPr>
        <p:spPr>
          <a:xfrm>
            <a:off x="731520" y="2185416"/>
            <a:ext cx="1133856" cy="1243584"/>
          </a:xfrm>
          <a:prstGeom prst="ellipse">
            <a:avLst/>
          </a:prstGeom>
          <a:solidFill>
            <a:schemeClr val="accent1"/>
          </a:solidFill>
          <a:ln/>
        </p:spPr>
      </p:sp>
      <p:sp>
        <p:nvSpPr>
          <p:cNvPr id="4" name="Puppe Kopf 1"/>
          <p:cNvSpPr/>
          <p:nvPr/>
        </p:nvSpPr>
        <p:spPr>
          <a:xfrm>
            <a:off x="901598" y="1600200"/>
            <a:ext cx="793699" cy="768096"/>
          </a:xfrm>
          <a:prstGeom prst="ellipse">
            <a:avLst/>
          </a:prstGeom>
          <a:solidFill>
            <a:schemeClr val="accent1"/>
          </a:solidFill>
          <a:ln w="19050">
            <a:solidFill>
              <a:schemeClr val="bg1"/>
            </a:solidFill>
            <a:prstDash val="solid"/>
          </a:ln>
        </p:spPr>
      </p:sp>
      <p:sp>
        <p:nvSpPr>
          <p:cNvPr id="5" name="Puppe Gesicht 1"/>
          <p:cNvSpPr/>
          <p:nvPr/>
        </p:nvSpPr>
        <p:spPr>
          <a:xfrm>
            <a:off x="1071677" y="1746504"/>
            <a:ext cx="453542" cy="475488"/>
          </a:xfrm>
          <a:prstGeom prst="ellipse">
            <a:avLst/>
          </a:prstGeom>
          <a:solidFill>
            <a:srgbClr val="FFF2CC"/>
          </a:solidFill>
          <a:ln/>
        </p:spPr>
      </p:sp>
      <p:sp>
        <p:nvSpPr>
          <p:cNvPr id="6" name="Linie"/>
          <p:cNvSpPr/>
          <p:nvPr/>
        </p:nvSpPr>
        <p:spPr>
          <a:xfrm>
            <a:off x="1929384" y="3017520"/>
            <a:ext cx="283464" cy="91"/>
          </a:xfrm>
          <a:prstGeom prst="line">
            <a:avLst/>
          </a:prstGeom>
          <a:noFill/>
          <a:ln w="25400">
            <a:solidFill>
              <a:schemeClr val="accent6"/>
            </a:solidFill>
            <a:prstDash val="solid"/>
            <a:tailEnd type="triangle"/>
          </a:ln>
        </p:spPr>
      </p:sp>
      <p:sp>
        <p:nvSpPr>
          <p:cNvPr id="7" name="Puppe Koerper 2"/>
          <p:cNvSpPr/>
          <p:nvPr/>
        </p:nvSpPr>
        <p:spPr>
          <a:xfrm>
            <a:off x="2276856" y="2403043"/>
            <a:ext cx="935431" cy="1025957"/>
          </a:xfrm>
          <a:prstGeom prst="ellipse">
            <a:avLst/>
          </a:prstGeom>
          <a:solidFill>
            <a:schemeClr val="accent2"/>
          </a:solidFill>
          <a:ln/>
        </p:spPr>
      </p:sp>
      <p:sp>
        <p:nvSpPr>
          <p:cNvPr id="8" name="Puppe Kopf 2"/>
          <p:cNvSpPr/>
          <p:nvPr/>
        </p:nvSpPr>
        <p:spPr>
          <a:xfrm>
            <a:off x="2417171" y="1920240"/>
            <a:ext cx="654802" cy="633679"/>
          </a:xfrm>
          <a:prstGeom prst="ellipse">
            <a:avLst/>
          </a:prstGeom>
          <a:solidFill>
            <a:schemeClr val="accent2"/>
          </a:solidFill>
          <a:ln w="19050">
            <a:solidFill>
              <a:schemeClr val="bg1"/>
            </a:solidFill>
            <a:prstDash val="solid"/>
          </a:ln>
        </p:spPr>
      </p:sp>
      <p:sp>
        <p:nvSpPr>
          <p:cNvPr id="9" name="Puppe Gesicht 2"/>
          <p:cNvSpPr/>
          <p:nvPr/>
        </p:nvSpPr>
        <p:spPr>
          <a:xfrm>
            <a:off x="2557485" y="2040941"/>
            <a:ext cx="374172" cy="392278"/>
          </a:xfrm>
          <a:prstGeom prst="ellipse">
            <a:avLst/>
          </a:prstGeom>
          <a:solidFill>
            <a:srgbClr val="FFF2CC"/>
          </a:solidFill>
          <a:ln/>
        </p:spPr>
      </p:sp>
      <p:sp>
        <p:nvSpPr>
          <p:cNvPr id="10" name="Linie"/>
          <p:cNvSpPr/>
          <p:nvPr/>
        </p:nvSpPr>
        <p:spPr>
          <a:xfrm>
            <a:off x="3276295" y="3017520"/>
            <a:ext cx="283464" cy="91"/>
          </a:xfrm>
          <a:prstGeom prst="line">
            <a:avLst/>
          </a:prstGeom>
          <a:noFill/>
          <a:ln w="25400">
            <a:solidFill>
              <a:schemeClr val="accent6"/>
            </a:solidFill>
            <a:prstDash val="solid"/>
            <a:tailEnd type="triangle"/>
          </a:ln>
        </p:spPr>
      </p:sp>
      <p:sp>
        <p:nvSpPr>
          <p:cNvPr id="11" name="Puppe Koerper 3"/>
          <p:cNvSpPr/>
          <p:nvPr/>
        </p:nvSpPr>
        <p:spPr>
          <a:xfrm>
            <a:off x="3623767" y="2620670"/>
            <a:ext cx="737006" cy="808330"/>
          </a:xfrm>
          <a:prstGeom prst="ellipse">
            <a:avLst/>
          </a:prstGeom>
          <a:solidFill>
            <a:schemeClr val="accent4"/>
          </a:solidFill>
          <a:ln/>
        </p:spPr>
      </p:sp>
      <p:sp>
        <p:nvSpPr>
          <p:cNvPr id="12" name="Puppe Kopf 3"/>
          <p:cNvSpPr/>
          <p:nvPr/>
        </p:nvSpPr>
        <p:spPr>
          <a:xfrm>
            <a:off x="3734318" y="2240280"/>
            <a:ext cx="515904" cy="499262"/>
          </a:xfrm>
          <a:prstGeom prst="ellipse">
            <a:avLst/>
          </a:prstGeom>
          <a:solidFill>
            <a:schemeClr val="accent4"/>
          </a:solidFill>
          <a:ln w="19050">
            <a:solidFill>
              <a:schemeClr val="bg1"/>
            </a:solidFill>
            <a:prstDash val="solid"/>
          </a:ln>
        </p:spPr>
      </p:sp>
      <p:sp>
        <p:nvSpPr>
          <p:cNvPr id="13" name="Puppe Gesicht 3"/>
          <p:cNvSpPr/>
          <p:nvPr/>
        </p:nvSpPr>
        <p:spPr>
          <a:xfrm>
            <a:off x="3844869" y="2335378"/>
            <a:ext cx="294803" cy="309067"/>
          </a:xfrm>
          <a:prstGeom prst="ellipse">
            <a:avLst/>
          </a:prstGeom>
          <a:solidFill>
            <a:srgbClr val="FFF2CC"/>
          </a:solidFill>
          <a:ln/>
        </p:spPr>
      </p:sp>
      <p:sp>
        <p:nvSpPr>
          <p:cNvPr id="14" name="Linie"/>
          <p:cNvSpPr/>
          <p:nvPr/>
        </p:nvSpPr>
        <p:spPr>
          <a:xfrm>
            <a:off x="4424782" y="3017520"/>
            <a:ext cx="283464" cy="91"/>
          </a:xfrm>
          <a:prstGeom prst="line">
            <a:avLst/>
          </a:prstGeom>
          <a:noFill/>
          <a:ln w="25400">
            <a:solidFill>
              <a:schemeClr val="accent6"/>
            </a:solidFill>
            <a:prstDash val="solid"/>
            <a:tailEnd type="triangle"/>
          </a:ln>
        </p:spPr>
      </p:sp>
      <p:sp>
        <p:nvSpPr>
          <p:cNvPr id="15" name="Puppe Koerper 4"/>
          <p:cNvSpPr/>
          <p:nvPr/>
        </p:nvSpPr>
        <p:spPr>
          <a:xfrm>
            <a:off x="4772254" y="2838298"/>
            <a:ext cx="538582" cy="590702"/>
          </a:xfrm>
          <a:prstGeom prst="ellipse">
            <a:avLst/>
          </a:prstGeom>
          <a:solidFill>
            <a:schemeClr val="accent6"/>
          </a:solidFill>
          <a:ln/>
        </p:spPr>
      </p:sp>
      <p:sp>
        <p:nvSpPr>
          <p:cNvPr id="16" name="Puppe Kopf 4"/>
          <p:cNvSpPr/>
          <p:nvPr/>
        </p:nvSpPr>
        <p:spPr>
          <a:xfrm>
            <a:off x="4853041" y="2560320"/>
            <a:ext cx="377007" cy="364846"/>
          </a:xfrm>
          <a:prstGeom prst="ellipse">
            <a:avLst/>
          </a:prstGeom>
          <a:solidFill>
            <a:schemeClr val="accent6"/>
          </a:solidFill>
          <a:ln w="19050">
            <a:solidFill>
              <a:schemeClr val="bg1"/>
            </a:solidFill>
            <a:prstDash val="solid"/>
          </a:ln>
        </p:spPr>
      </p:sp>
      <p:sp>
        <p:nvSpPr>
          <p:cNvPr id="17" name="Puppe Gesicht 4"/>
          <p:cNvSpPr/>
          <p:nvPr/>
        </p:nvSpPr>
        <p:spPr>
          <a:xfrm>
            <a:off x="4933828" y="2629814"/>
            <a:ext cx="215433" cy="225857"/>
          </a:xfrm>
          <a:prstGeom prst="ellipse">
            <a:avLst/>
          </a:prstGeom>
          <a:solidFill>
            <a:srgbClr val="FFF2CC"/>
          </a:solidFill>
          <a:ln/>
        </p:spPr>
      </p:sp>
      <p:sp>
        <p:nvSpPr>
          <p:cNvPr id="18" name="Linie"/>
          <p:cNvSpPr/>
          <p:nvPr/>
        </p:nvSpPr>
        <p:spPr>
          <a:xfrm>
            <a:off x="5374843" y="3017520"/>
            <a:ext cx="283464" cy="91"/>
          </a:xfrm>
          <a:prstGeom prst="line">
            <a:avLst/>
          </a:prstGeom>
          <a:noFill/>
          <a:ln w="25400">
            <a:solidFill>
              <a:schemeClr val="accent6"/>
            </a:solidFill>
            <a:prstDash val="solid"/>
            <a:tailEnd type="triangle"/>
          </a:ln>
        </p:spPr>
      </p:sp>
      <p:sp>
        <p:nvSpPr>
          <p:cNvPr id="19" name="Puppe Koerper 5"/>
          <p:cNvSpPr/>
          <p:nvPr/>
        </p:nvSpPr>
        <p:spPr>
          <a:xfrm>
            <a:off x="5722315" y="3055925"/>
            <a:ext cx="340157" cy="373075"/>
          </a:xfrm>
          <a:prstGeom prst="ellipse">
            <a:avLst/>
          </a:prstGeom>
          <a:solidFill>
            <a:schemeClr val="accent3"/>
          </a:solidFill>
          <a:ln/>
        </p:spPr>
      </p:sp>
      <p:sp>
        <p:nvSpPr>
          <p:cNvPr id="20" name="Puppe Kopf 5"/>
          <p:cNvSpPr/>
          <p:nvPr/>
        </p:nvSpPr>
        <p:spPr>
          <a:xfrm>
            <a:off x="5773339" y="2880360"/>
            <a:ext cx="238110" cy="230429"/>
          </a:xfrm>
          <a:prstGeom prst="ellipse">
            <a:avLst/>
          </a:prstGeom>
          <a:solidFill>
            <a:schemeClr val="accent3"/>
          </a:solidFill>
          <a:ln w="19050">
            <a:solidFill>
              <a:schemeClr val="bg1"/>
            </a:solidFill>
            <a:prstDash val="solid"/>
          </a:ln>
        </p:spPr>
      </p:sp>
      <p:sp>
        <p:nvSpPr>
          <p:cNvPr id="21" name="Puppe Gesicht 5"/>
          <p:cNvSpPr/>
          <p:nvPr/>
        </p:nvSpPr>
        <p:spPr>
          <a:xfrm>
            <a:off x="5824362" y="2924251"/>
            <a:ext cx="136063" cy="142646"/>
          </a:xfrm>
          <a:prstGeom prst="ellipse">
            <a:avLst/>
          </a:prstGeom>
          <a:solidFill>
            <a:srgbClr val="FFF2CC"/>
          </a:solidFill>
          <a:ln/>
        </p:spPr>
      </p:sp>
      <p:sp>
        <p:nvSpPr>
          <p:cNvPr id="22" name="Chip"/>
          <p:cNvSpPr txBox="1"/>
          <p:nvPr/>
        </p:nvSpPr>
        <p:spPr>
          <a:xfrm>
            <a:off x="731520" y="3611880"/>
            <a:ext cx="109728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öffnen</a:t>
            </a:r>
            <a:endParaRPr lang="en-US" sz="1300" dirty="0"/>
          </a:p>
        </p:txBody>
      </p:sp>
      <p:sp>
        <p:nvSpPr>
          <p:cNvPr id="23" name="Chip"/>
          <p:cNvSpPr txBox="1"/>
          <p:nvPr/>
        </p:nvSpPr>
        <p:spPr>
          <a:xfrm>
            <a:off x="4553712" y="3611880"/>
            <a:ext cx="205740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Basisfall: geht nicht auf</a:t>
            </a:r>
            <a:endParaRPr lang="en-US" sz="1300" dirty="0"/>
          </a:p>
        </p:txBody>
      </p:sp>
      <p:sp>
        <p:nvSpPr>
          <p:cNvPr id="24" name="Code"/>
          <p:cNvSpPr txBox="1"/>
          <p:nvPr/>
        </p:nvSpPr>
        <p:spPr>
          <a:xfrm>
            <a:off x="548640" y="4114800"/>
            <a:ext cx="5852160" cy="10256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anzahl</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puppe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falls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puppe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nicht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zu</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ö</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ffnen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gib</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1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zur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ü</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ck</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sonst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gib</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1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anzahl</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innere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Puppe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zur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ü</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ck</a:t>
            </a:r>
            <a:endParaRPr lang="en-US" sz="1500" dirty="0"/>
          </a:p>
        </p:txBody>
      </p:sp>
      <p:sp>
        <p:nvSpPr>
          <p:cNvPr id="25" name="Spiegelbild 1"/>
          <p:cNvSpPr/>
          <p:nvPr/>
        </p:nvSpPr>
        <p:spPr>
          <a:xfrm>
            <a:off x="7040880" y="1325880"/>
            <a:ext cx="4206240" cy="2743200"/>
          </a:xfrm>
          <a:prstGeom prst="rect">
            <a:avLst/>
          </a:prstGeom>
          <a:solidFill>
            <a:schemeClr val="bg2"/>
          </a:solidFill>
          <a:ln w="38100">
            <a:solidFill>
              <a:schemeClr val="accent1"/>
            </a:solidFill>
            <a:prstDash val="solid"/>
          </a:ln>
        </p:spPr>
      </p:sp>
      <p:sp>
        <p:nvSpPr>
          <p:cNvPr id="26" name="Spiegelbild 2"/>
          <p:cNvSpPr/>
          <p:nvPr/>
        </p:nvSpPr>
        <p:spPr>
          <a:xfrm>
            <a:off x="7545629" y="1655064"/>
            <a:ext cx="3196742" cy="2084832"/>
          </a:xfrm>
          <a:prstGeom prst="rect">
            <a:avLst/>
          </a:prstGeom>
          <a:solidFill>
            <a:schemeClr val="bg1"/>
          </a:solidFill>
          <a:ln w="15875">
            <a:solidFill>
              <a:schemeClr val="accent6"/>
            </a:solidFill>
            <a:prstDash val="solid"/>
          </a:ln>
        </p:spPr>
      </p:sp>
      <p:sp>
        <p:nvSpPr>
          <p:cNvPr id="27" name="Spiegelbild 3"/>
          <p:cNvSpPr/>
          <p:nvPr/>
        </p:nvSpPr>
        <p:spPr>
          <a:xfrm>
            <a:off x="7929238" y="1905244"/>
            <a:ext cx="2429524" cy="1584472"/>
          </a:xfrm>
          <a:prstGeom prst="rect">
            <a:avLst/>
          </a:prstGeom>
          <a:solidFill>
            <a:schemeClr val="bg2"/>
          </a:solidFill>
          <a:ln w="15875">
            <a:solidFill>
              <a:schemeClr val="accent6"/>
            </a:solidFill>
            <a:prstDash val="solid"/>
          </a:ln>
        </p:spPr>
      </p:sp>
      <p:sp>
        <p:nvSpPr>
          <p:cNvPr id="28" name="Spiegelbild 4"/>
          <p:cNvSpPr/>
          <p:nvPr/>
        </p:nvSpPr>
        <p:spPr>
          <a:xfrm>
            <a:off x="8220781" y="2095381"/>
            <a:ext cx="1846438" cy="1204199"/>
          </a:xfrm>
          <a:prstGeom prst="rect">
            <a:avLst/>
          </a:prstGeom>
          <a:solidFill>
            <a:schemeClr val="bg1"/>
          </a:solidFill>
          <a:ln w="15875">
            <a:solidFill>
              <a:schemeClr val="accent6"/>
            </a:solidFill>
            <a:prstDash val="solid"/>
          </a:ln>
        </p:spPr>
      </p:sp>
      <p:sp>
        <p:nvSpPr>
          <p:cNvPr id="29" name="Spiegelbild 5"/>
          <p:cNvSpPr/>
          <p:nvPr/>
        </p:nvSpPr>
        <p:spPr>
          <a:xfrm>
            <a:off x="8442353" y="2239884"/>
            <a:ext cx="1403293" cy="915191"/>
          </a:xfrm>
          <a:prstGeom prst="rect">
            <a:avLst/>
          </a:prstGeom>
          <a:solidFill>
            <a:schemeClr val="bg2"/>
          </a:solidFill>
          <a:ln w="15875">
            <a:solidFill>
              <a:schemeClr val="accent6"/>
            </a:solidFill>
            <a:prstDash val="solid"/>
          </a:ln>
        </p:spPr>
      </p:sp>
      <p:sp>
        <p:nvSpPr>
          <p:cNvPr id="30" name="Spiegelbild 6"/>
          <p:cNvSpPr/>
          <p:nvPr/>
        </p:nvSpPr>
        <p:spPr>
          <a:xfrm>
            <a:off x="8610749" y="2349707"/>
            <a:ext cx="1066503" cy="695545"/>
          </a:xfrm>
          <a:prstGeom prst="rect">
            <a:avLst/>
          </a:prstGeom>
          <a:solidFill>
            <a:schemeClr val="bg1"/>
          </a:solidFill>
          <a:ln w="15875">
            <a:solidFill>
              <a:schemeClr val="accent6"/>
            </a:solidFill>
            <a:prstDash val="solid"/>
          </a:ln>
        </p:spPr>
      </p:sp>
      <p:sp>
        <p:nvSpPr>
          <p:cNvPr id="31" name="Spiegelbild 7"/>
          <p:cNvSpPr/>
          <p:nvPr/>
        </p:nvSpPr>
        <p:spPr>
          <a:xfrm>
            <a:off x="8738729" y="2433173"/>
            <a:ext cx="810542" cy="528614"/>
          </a:xfrm>
          <a:prstGeom prst="rect">
            <a:avLst/>
          </a:prstGeom>
          <a:solidFill>
            <a:schemeClr val="bg2"/>
          </a:solidFill>
          <a:ln w="15875">
            <a:solidFill>
              <a:schemeClr val="accent6"/>
            </a:solidFill>
            <a:prstDash val="solid"/>
          </a:ln>
        </p:spPr>
      </p:sp>
      <p:sp>
        <p:nvSpPr>
          <p:cNvPr id="32" name="Text 30"/>
          <p:cNvSpPr txBox="1"/>
          <p:nvPr/>
        </p:nvSpPr>
        <p:spPr>
          <a:xfrm>
            <a:off x="7040880" y="4160520"/>
            <a:ext cx="4206240" cy="320040"/>
          </a:xfrm>
          <a:prstGeom prst="rect">
            <a:avLst/>
          </a:prstGeom>
          <a:noFill/>
          <a:ln/>
        </p:spPr>
        <p:txBody>
          <a:bodyPr wrap="square" lIns="0" tIns="0" rIns="0" bIns="0" rtlCol="0" anchor="t"/>
          <a:lstStyle/>
          <a:p>
            <a:pPr algn="ctr" indent="0" marL="0">
              <a:buNone/>
            </a:pPr>
            <a:r>
              <a:rPr lang="en-US" sz="1600" i="1" dirty="0">
                <a:solidFill>
                  <a:schemeClr val="accent6"/>
                </a:solidFill>
              </a:rPr>
              <a:t>Zwei Spiegel gegenüber: Bild im Bild im Bild …</a:t>
            </a:r>
            <a:endParaRPr lang="en-US" sz="1600" dirty="0"/>
          </a:p>
        </p:txBody>
      </p:sp>
      <p:sp>
        <p:nvSpPr>
          <p:cNvPr id="33" name="Achtung Spiegel"/>
          <p:cNvSpPr/>
          <p:nvPr/>
        </p:nvSpPr>
        <p:spPr>
          <a:xfrm>
            <a:off x="6766560" y="4572000"/>
            <a:ext cx="4846320" cy="685800"/>
          </a:xfrm>
          <a:prstGeom prst="roundRect">
            <a:avLst>
              <a:gd name="adj" fmla="val 16000"/>
            </a:avLst>
          </a:prstGeom>
          <a:solidFill>
            <a:schemeClr val="bg1"/>
          </a:solidFill>
          <a:ln w="25400">
            <a:solidFill>
              <a:schemeClr val="accent4"/>
            </a:solidFill>
            <a:prstDash val="solid"/>
          </a:ln>
        </p:spPr>
      </p:sp>
      <p:sp>
        <p:nvSpPr>
          <p:cNvPr id="34" name="Text 32"/>
          <p:cNvSpPr txBox="1"/>
          <p:nvPr/>
        </p:nvSpPr>
        <p:spPr>
          <a:xfrm>
            <a:off x="6967728" y="4572000"/>
            <a:ext cx="4480560" cy="685800"/>
          </a:xfrm>
          <a:prstGeom prst="rect">
            <a:avLst/>
          </a:prstGeom>
          <a:noFill/>
          <a:ln/>
        </p:spPr>
        <p:txBody>
          <a:bodyPr wrap="square" lIns="0" tIns="0" rIns="0" bIns="0" rtlCol="0" anchor="ctr"/>
          <a:lstStyle/>
          <a:p>
            <a:pPr indent="0" marL="0">
              <a:buNone/>
            </a:pPr>
            <a:r>
              <a:rPr lang="en-US" sz="1600" b="1" dirty="0">
                <a:solidFill>
                  <a:schemeClr val="accent4"/>
                </a:solidFill>
              </a:rPr>
              <a:t>Achtung: </a:t>
            </a:r>
            <a:pPr indent="0" marL="0">
              <a:buNone/>
            </a:pPr>
            <a:r>
              <a:rPr lang="en-US" sz="1600" dirty="0">
                <a:solidFill>
                  <a:schemeClr val="tx1"/>
                </a:solidFill>
              </a:rPr>
              <a:t>Der Spiegel hört nie auf – eine Rekursion muss enden.</a:t>
            </a:r>
            <a:endParaRPr lang="en-US" sz="1600" dirty="0"/>
          </a:p>
        </p:txBody>
      </p:sp>
      <p:sp>
        <p:nvSpPr>
          <p:cNvPr id="35" name="Definition Rekursion"/>
          <p:cNvSpPr/>
          <p:nvPr/>
        </p:nvSpPr>
        <p:spPr>
          <a:xfrm>
            <a:off x="548640" y="5440680"/>
            <a:ext cx="11064240" cy="685800"/>
          </a:xfrm>
          <a:prstGeom prst="roundRect">
            <a:avLst>
              <a:gd name="adj" fmla="val 16000"/>
            </a:avLst>
          </a:prstGeom>
          <a:solidFill>
            <a:schemeClr val="bg2"/>
          </a:solidFill>
          <a:ln/>
        </p:spPr>
      </p:sp>
      <p:sp>
        <p:nvSpPr>
          <p:cNvPr id="36" name="Text 34"/>
          <p:cNvSpPr txBox="1"/>
          <p:nvPr/>
        </p:nvSpPr>
        <p:spPr>
          <a:xfrm>
            <a:off x="749808" y="5440680"/>
            <a:ext cx="10698480" cy="685800"/>
          </a:xfrm>
          <a:prstGeom prst="rect">
            <a:avLst/>
          </a:prstGeom>
          <a:noFill/>
          <a:ln/>
        </p:spPr>
        <p:txBody>
          <a:bodyPr wrap="square" lIns="0" tIns="0" rIns="0" bIns="0" rtlCol="0" anchor="ctr"/>
          <a:lstStyle/>
          <a:p>
            <a:pPr indent="0" marL="0">
              <a:buNone/>
            </a:pPr>
            <a:r>
              <a:rPr lang="en-US" sz="1700" b="1" dirty="0">
                <a:solidFill>
                  <a:schemeClr val="accent1"/>
                </a:solidFill>
              </a:rPr>
              <a:t>Rekursion: </a:t>
            </a:r>
            <a:pPr indent="0" marL="0">
              <a:buNone/>
            </a:pPr>
            <a:r>
              <a:rPr lang="en-US" sz="1700" dirty="0">
                <a:solidFill>
                  <a:schemeClr val="tx1"/>
                </a:solidFill>
              </a:rPr>
              <a:t>Eine Methode löst ein Problem, indem sie sich selbst für ein kleineres Problem derselben Art aufruft.</a:t>
            </a:r>
            <a:endParaRPr lang="en-US" sz="1700" dirty="0"/>
          </a:p>
        </p:txBody>
      </p:sp>
      <p:sp>
        <p:nvSpPr>
          <p:cNvPr id="37" name="Text 35"/>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Rekursion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Basisfall und Rekursionsschritt</a:t>
            </a:r>
            <a:endParaRPr lang="en-US" sz="3600" dirty="0"/>
          </a:p>
        </p:txBody>
      </p:sp>
      <p:sp>
        <p:nvSpPr>
          <p:cNvPr id="3" name="Definition Fakultaet"/>
          <p:cNvSpPr/>
          <p:nvPr/>
        </p:nvSpPr>
        <p:spPr>
          <a:xfrm>
            <a:off x="548640" y="1325880"/>
            <a:ext cx="5852160" cy="1783080"/>
          </a:xfrm>
          <a:prstGeom prst="roundRect">
            <a:avLst>
              <a:gd name="adj" fmla="val 6154"/>
            </a:avLst>
          </a:prstGeom>
          <a:solidFill>
            <a:schemeClr val="bg2"/>
          </a:solidFill>
          <a:ln/>
        </p:spPr>
      </p:sp>
      <p:sp>
        <p:nvSpPr>
          <p:cNvPr id="4" name="Text 2"/>
          <p:cNvSpPr txBox="1"/>
          <p:nvPr/>
        </p:nvSpPr>
        <p:spPr>
          <a:xfrm>
            <a:off x="777240" y="1417320"/>
            <a:ext cx="5486400" cy="1645920"/>
          </a:xfrm>
          <a:prstGeom prst="rect">
            <a:avLst/>
          </a:prstGeom>
          <a:noFill/>
          <a:ln/>
        </p:spPr>
        <p:txBody>
          <a:bodyPr wrap="square" lIns="0" tIns="0" rIns="0" bIns="0" rtlCol="0" anchor="ctr"/>
          <a:lstStyle/>
          <a:p>
            <a:pPr indent="0" marL="0">
              <a:lnSpc>
                <a:spcPts val="3000"/>
              </a:lnSpc>
              <a:buNone/>
            </a:pPr>
            <a:r>
              <a:rPr lang="en-US" sz="2400" b="1" dirty="0">
                <a:solidFill>
                  <a:schemeClr val="accent3"/>
                </a:solidFill>
              </a:rPr>
              <a:t>0!  =  1</a:t>
            </a:r>
            <a:pPr indent="0" marL="0">
              <a:lnSpc>
                <a:spcPts val="3000"/>
              </a:lnSpc>
              <a:buNone/>
            </a:pPr>
            <a:r>
              <a:rPr lang="en-US" sz="1600" dirty="0">
                <a:solidFill>
                  <a:schemeClr val="accent3"/>
                </a:solidFill>
              </a:rPr>
              <a:t>      Basisfall</a:t>
            </a:r>
            <a:endParaRPr lang="en-US" sz="1800" dirty="0"/>
          </a:p>
          <a:p>
            <a:pPr indent="0" marL="0">
              <a:lnSpc>
                <a:spcPts val="3000"/>
              </a:lnSpc>
              <a:buNone/>
            </a:pPr>
            <a:r>
              <a:rPr lang="en-US" sz="2400" b="1" dirty="0">
                <a:solidFill>
                  <a:schemeClr val="accent2"/>
                </a:solidFill>
              </a:rPr>
              <a:t>n!  =  n · (n − 1)!</a:t>
            </a:r>
            <a:pPr indent="0" marL="0">
              <a:lnSpc>
                <a:spcPts val="3000"/>
              </a:lnSpc>
              <a:buNone/>
            </a:pPr>
            <a:r>
              <a:rPr lang="en-US" sz="1600" dirty="0">
                <a:solidFill>
                  <a:schemeClr val="accent2"/>
                </a:solidFill>
              </a:rPr>
              <a:t>      Rekursionsschritt (n ≥ 1)</a:t>
            </a:r>
            <a:endParaRPr lang="en-US" sz="1800" dirty="0"/>
          </a:p>
          <a:p>
            <a:pPr indent="0" marL="0">
              <a:lnSpc>
                <a:spcPts val="3000"/>
              </a:lnSpc>
              <a:buNone/>
            </a:pPr>
            <a:r>
              <a:rPr lang="en-US" sz="1500" dirty="0">
                <a:solidFill>
                  <a:schemeClr val="tx1"/>
                </a:solidFill>
              </a:rPr>
              <a:t>4! = 4 · 3! = 4 · 3 · 2! = 4 · 3 · 2 · 1! = 4 · 3 · 2 · 1 · 0! = 24</a:t>
            </a:r>
            <a:endParaRPr lang="en-US" sz="1800" dirty="0"/>
          </a:p>
        </p:txBody>
      </p:sp>
      <p:sp>
        <p:nvSpPr>
          <p:cNvPr id="5" name="Code"/>
          <p:cNvSpPr txBox="1"/>
          <p:nvPr/>
        </p:nvSpPr>
        <p:spPr>
          <a:xfrm>
            <a:off x="548640" y="3337560"/>
            <a:ext cx="5852160" cy="1520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fakultaet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0)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1;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Basisfall</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fakultaet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- 1);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Rekursionsschritt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6" name="Markierung Basisfall"/>
          <p:cNvSpPr/>
          <p:nvPr/>
        </p:nvSpPr>
        <p:spPr>
          <a:xfrm>
            <a:off x="594360" y="3668776"/>
            <a:ext cx="5760720" cy="406400"/>
          </a:xfrm>
          <a:prstGeom prst="rect">
            <a:avLst/>
          </a:prstGeom>
          <a:ln w="28575">
            <a:solidFill>
              <a:schemeClr val="accent3"/>
            </a:solidFill>
            <a:prstDash val="solid"/>
          </a:ln>
        </p:spPr>
      </p:sp>
      <p:sp>
        <p:nvSpPr>
          <p:cNvPr id="7" name="Markierung Rekursionsschritt"/>
          <p:cNvSpPr/>
          <p:nvPr/>
        </p:nvSpPr>
        <p:spPr>
          <a:xfrm>
            <a:off x="594360" y="4278376"/>
            <a:ext cx="5760720" cy="203200"/>
          </a:xfrm>
          <a:prstGeom prst="rect">
            <a:avLst/>
          </a:prstGeom>
          <a:ln w="28575">
            <a:solidFill>
              <a:schemeClr val="accent2"/>
            </a:solidFill>
            <a:prstDash val="solid"/>
          </a:ln>
        </p:spPr>
      </p:sp>
      <p:sp>
        <p:nvSpPr>
          <p:cNvPr id="8" name="Denkanstoss Vertrauen"/>
          <p:cNvSpPr/>
          <p:nvPr/>
        </p:nvSpPr>
        <p:spPr>
          <a:xfrm>
            <a:off x="548640" y="5166360"/>
            <a:ext cx="5852160" cy="960120"/>
          </a:xfrm>
          <a:prstGeom prst="roundRect">
            <a:avLst>
              <a:gd name="adj" fmla="val 11429"/>
            </a:avLst>
          </a:prstGeom>
          <a:solidFill>
            <a:schemeClr val="bg2"/>
          </a:solidFill>
          <a:ln/>
        </p:spPr>
      </p:sp>
      <p:sp>
        <p:nvSpPr>
          <p:cNvPr id="9" name="Text 7"/>
          <p:cNvSpPr txBox="1"/>
          <p:nvPr/>
        </p:nvSpPr>
        <p:spPr>
          <a:xfrm>
            <a:off x="749808" y="5166360"/>
            <a:ext cx="5486400" cy="960120"/>
          </a:xfrm>
          <a:prstGeom prst="rect">
            <a:avLst/>
          </a:prstGeom>
          <a:noFill/>
          <a:ln/>
        </p:spPr>
        <p:txBody>
          <a:bodyPr wrap="square" lIns="0" tIns="0" rIns="0" bIns="0" rtlCol="0" anchor="ctr"/>
          <a:lstStyle/>
          <a:p>
            <a:pPr indent="0" marL="0">
              <a:buNone/>
            </a:pPr>
            <a:r>
              <a:rPr lang="en-US" sz="1600" b="1" dirty="0">
                <a:solidFill>
                  <a:schemeClr val="accent1"/>
                </a:solidFill>
              </a:rPr>
              <a:t>Denkanstoß: </a:t>
            </a:r>
            <a:pPr indent="0" marL="0">
              <a:buNone/>
            </a:pPr>
            <a:r>
              <a:rPr lang="en-US" sz="1600" dirty="0">
                <a:solidFill>
                  <a:schemeClr val="tx1"/>
                </a:solidFill>
              </a:rPr>
              <a:t>Nicht in die Tiefe denken – vertraue darauf, dass fakultaet(n − 1) schon richtig rechnet.</a:t>
            </a:r>
            <a:endParaRPr lang="en-US" sz="1600" dirty="0"/>
          </a:p>
        </p:txBody>
      </p:sp>
      <p:sp>
        <p:nvSpPr>
          <p:cNvPr id="10" name="Regel 1"/>
          <p:cNvSpPr/>
          <p:nvPr/>
        </p:nvSpPr>
        <p:spPr>
          <a:xfrm>
            <a:off x="6766560" y="1325880"/>
            <a:ext cx="4846320" cy="1417320"/>
          </a:xfrm>
          <a:prstGeom prst="roundRect">
            <a:avLst>
              <a:gd name="adj" fmla="val 7742"/>
            </a:avLst>
          </a:prstGeom>
          <a:solidFill>
            <a:schemeClr val="bg1"/>
          </a:solidFill>
          <a:ln w="25400">
            <a:solidFill>
              <a:schemeClr val="accent3"/>
            </a:solidFill>
            <a:prstDash val="solid"/>
          </a:ln>
          <a:effectLst>
            <a:outerShdw sx="100000" sy="100000" kx="0" ky="0" algn="bl" rotWithShape="0" blurRad="76200" dist="25400" dir="5400000">
              <a:srgbClr val="000000">
                <a:alpha val="18000"/>
              </a:srgbClr>
            </a:outerShdw>
          </a:effectLst>
        </p:spPr>
      </p:sp>
      <p:sp>
        <p:nvSpPr>
          <p:cNvPr id="11" name="Nummer 1"/>
          <p:cNvSpPr txBox="1"/>
          <p:nvPr/>
        </p:nvSpPr>
        <p:spPr>
          <a:xfrm>
            <a:off x="6949440" y="1508760"/>
            <a:ext cx="502920" cy="502920"/>
          </a:xfrm>
          <a:prstGeom prst="ellipse">
            <a:avLst/>
          </a:prstGeom>
          <a:solidFill>
            <a:schemeClr val="accent3"/>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2" name="Text 10"/>
          <p:cNvSpPr txBox="1"/>
          <p:nvPr/>
        </p:nvSpPr>
        <p:spPr>
          <a:xfrm>
            <a:off x="7635240" y="1435608"/>
            <a:ext cx="3840480" cy="1234440"/>
          </a:xfrm>
          <a:prstGeom prst="rect">
            <a:avLst/>
          </a:prstGeom>
          <a:noFill/>
          <a:ln/>
        </p:spPr>
        <p:txBody>
          <a:bodyPr wrap="square" lIns="0" tIns="0" rIns="0" bIns="0" rtlCol="0" anchor="t"/>
          <a:lstStyle/>
          <a:p>
            <a:pPr indent="0" marL="0">
              <a:buNone/>
            </a:pPr>
            <a:r>
              <a:rPr lang="en-US" sz="1900" b="1" dirty="0">
                <a:solidFill>
                  <a:schemeClr val="accent3"/>
                </a:solidFill>
              </a:rPr>
              <a:t>Basisfall zuerst</a:t>
            </a:r>
            <a:endParaRPr lang="en-US" sz="1800" dirty="0"/>
          </a:p>
          <a:p>
            <a:pPr indent="0" marL="0">
              <a:buNone/>
            </a:pPr>
            <a:r>
              <a:rPr lang="en-US" sz="1600" dirty="0">
                <a:solidFill>
                  <a:schemeClr val="tx1"/>
                </a:solidFill>
              </a:rPr>
              <a:t>Wann steht die Antwort sofort fest? Dann „gib … zurück“ – ohne Selbstaufruf.</a:t>
            </a:r>
            <a:endParaRPr lang="en-US" sz="1800" dirty="0"/>
          </a:p>
        </p:txBody>
      </p:sp>
      <p:sp>
        <p:nvSpPr>
          <p:cNvPr id="13" name="Regel 2"/>
          <p:cNvSpPr/>
          <p:nvPr/>
        </p:nvSpPr>
        <p:spPr>
          <a:xfrm>
            <a:off x="6766560" y="2953512"/>
            <a:ext cx="4846320" cy="1417320"/>
          </a:xfrm>
          <a:prstGeom prst="roundRect">
            <a:avLst>
              <a:gd name="adj" fmla="val 7742"/>
            </a:avLst>
          </a:prstGeom>
          <a:solidFill>
            <a:schemeClr val="bg1"/>
          </a:solidFill>
          <a:ln w="25400">
            <a:solidFill>
              <a:schemeClr val="accent2"/>
            </a:solidFill>
            <a:prstDash val="solid"/>
          </a:ln>
          <a:effectLst>
            <a:outerShdw sx="100000" sy="100000" kx="0" ky="0" algn="bl" rotWithShape="0" blurRad="76200" dist="25400" dir="5400000">
              <a:srgbClr val="000000">
                <a:alpha val="18000"/>
              </a:srgbClr>
            </a:outerShdw>
          </a:effectLst>
        </p:spPr>
      </p:sp>
      <p:sp>
        <p:nvSpPr>
          <p:cNvPr id="14" name="Nummer 2"/>
          <p:cNvSpPr txBox="1"/>
          <p:nvPr/>
        </p:nvSpPr>
        <p:spPr>
          <a:xfrm>
            <a:off x="6949440" y="3136392"/>
            <a:ext cx="502920" cy="50292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5" name="Text 13"/>
          <p:cNvSpPr txBox="1"/>
          <p:nvPr/>
        </p:nvSpPr>
        <p:spPr>
          <a:xfrm>
            <a:off x="7635240" y="3063240"/>
            <a:ext cx="3840480" cy="1234440"/>
          </a:xfrm>
          <a:prstGeom prst="rect">
            <a:avLst/>
          </a:prstGeom>
          <a:noFill/>
          <a:ln/>
        </p:spPr>
        <p:txBody>
          <a:bodyPr wrap="square" lIns="0" tIns="0" rIns="0" bIns="0" rtlCol="0" anchor="t"/>
          <a:lstStyle/>
          <a:p>
            <a:pPr indent="0" marL="0">
              <a:buNone/>
            </a:pPr>
            <a:r>
              <a:rPr lang="en-US" sz="1900" b="1" dirty="0">
                <a:solidFill>
                  <a:schemeClr val="accent2"/>
                </a:solidFill>
              </a:rPr>
              <a:t>Problem wird kleiner</a:t>
            </a:r>
            <a:endParaRPr lang="en-US" sz="1800" dirty="0"/>
          </a:p>
          <a:p>
            <a:pPr indent="0" marL="0">
              <a:buNone/>
            </a:pPr>
            <a:r>
              <a:rPr lang="en-US" sz="1600" dirty="0">
                <a:solidFill>
                  <a:schemeClr val="tx1"/>
                </a:solidFill>
              </a:rPr>
              <a:t>Der Selbstaufruf bekommt ein echt kleineres Problem: n − 1, i + 1, halbe Reihung.</a:t>
            </a:r>
            <a:endParaRPr lang="en-US" sz="1800" dirty="0"/>
          </a:p>
        </p:txBody>
      </p:sp>
      <p:sp>
        <p:nvSpPr>
          <p:cNvPr id="16" name="Regel 3"/>
          <p:cNvSpPr/>
          <p:nvPr/>
        </p:nvSpPr>
        <p:spPr>
          <a:xfrm>
            <a:off x="6766560" y="4581144"/>
            <a:ext cx="4846320" cy="1417320"/>
          </a:xfrm>
          <a:prstGeom prst="roundRect">
            <a:avLst>
              <a:gd name="adj" fmla="val 7742"/>
            </a:avLst>
          </a:prstGeom>
          <a:solidFill>
            <a:schemeClr val="bg1"/>
          </a:solidFill>
          <a:ln w="25400">
            <a:solidFill>
              <a:schemeClr val="accent1"/>
            </a:solidFill>
            <a:prstDash val="solid"/>
          </a:ln>
          <a:effectLst>
            <a:outerShdw sx="100000" sy="100000" kx="0" ky="0" algn="bl" rotWithShape="0" blurRad="76200" dist="25400" dir="5400000">
              <a:srgbClr val="000000">
                <a:alpha val="18000"/>
              </a:srgbClr>
            </a:outerShdw>
          </a:effectLst>
        </p:spPr>
      </p:sp>
      <p:sp>
        <p:nvSpPr>
          <p:cNvPr id="17" name="Nummer 3"/>
          <p:cNvSpPr txBox="1"/>
          <p:nvPr/>
        </p:nvSpPr>
        <p:spPr>
          <a:xfrm>
            <a:off x="6949440" y="4764024"/>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8" name="Text 16"/>
          <p:cNvSpPr txBox="1"/>
          <p:nvPr/>
        </p:nvSpPr>
        <p:spPr>
          <a:xfrm>
            <a:off x="7635240" y="4690872"/>
            <a:ext cx="3840480" cy="1234440"/>
          </a:xfrm>
          <a:prstGeom prst="rect">
            <a:avLst/>
          </a:prstGeom>
          <a:noFill/>
          <a:ln/>
        </p:spPr>
        <p:txBody>
          <a:bodyPr wrap="square" lIns="0" tIns="0" rIns="0" bIns="0" rtlCol="0" anchor="t"/>
          <a:lstStyle/>
          <a:p>
            <a:pPr indent="0" marL="0">
              <a:buNone/>
            </a:pPr>
            <a:r>
              <a:rPr lang="en-US" sz="1900" b="1" dirty="0">
                <a:solidFill>
                  <a:schemeClr val="accent1"/>
                </a:solidFill>
              </a:rPr>
              <a:t>Ergebnis zusammensetzen</a:t>
            </a:r>
            <a:endParaRPr lang="en-US" sz="1800" dirty="0"/>
          </a:p>
          <a:p>
            <a:pPr indent="0" marL="0">
              <a:buNone/>
            </a:pPr>
            <a:r>
              <a:rPr lang="en-US" sz="1600" dirty="0">
                <a:solidFill>
                  <a:schemeClr val="tx1"/>
                </a:solidFill>
              </a:rPr>
              <a:t>Was macht dieser Aufruf aus dem Teilergebnis? Hier: n · fakultaet(n − 1).</a:t>
            </a:r>
            <a:endParaRPr lang="en-US" sz="1800" dirty="0"/>
          </a:p>
        </p:txBody>
      </p:sp>
      <p:sp>
        <p:nvSpPr>
          <p:cNvPr id="19" name="Text 17"/>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Rekursion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Der Aufrufstapel: fakultaet(4)</a:t>
            </a:r>
            <a:endParaRPr lang="en-US" sz="3600" dirty="0"/>
          </a:p>
        </p:txBody>
      </p:sp>
      <p:sp>
        <p:nvSpPr>
          <p:cNvPr id="3" name="Code"/>
          <p:cNvSpPr txBox="1"/>
          <p:nvPr/>
        </p:nvSpPr>
        <p:spPr>
          <a:xfrm>
            <a:off x="548640" y="1325880"/>
            <a:ext cx="5486400" cy="1520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fakultaet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0)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1;                 </a:t>
            </a:r>
            <a:pPr algn="l" indent="0" marL="0">
              <a:lnSpc>
                <a:spcPts val="1600"/>
              </a:lnSpc>
              <a:buNone/>
            </a:pPr>
            <a:r>
              <a:rPr lang="en-US" sz="1250" i="1" dirty="0">
                <a:solidFill>
                  <a:schemeClr val="accent3"/>
                </a:solidFill>
                <a:latin typeface="Consolas" pitchFamily="34" charset="0"/>
                <a:ea typeface="Consolas" pitchFamily="34" charset="-122"/>
                <a:cs typeface="Consolas" pitchFamily="34" charset="-120"/>
              </a:rPr>
              <a:t>// Basisfall</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fakultaet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- 1);  </a:t>
            </a:r>
            <a:pPr algn="l" indent="0" marL="0">
              <a:lnSpc>
                <a:spcPts val="1600"/>
              </a:lnSpc>
              <a:buNone/>
            </a:pPr>
            <a:r>
              <a:rPr lang="en-US" sz="1250" i="1" dirty="0">
                <a:solidFill>
                  <a:schemeClr val="accent3"/>
                </a:solidFill>
                <a:latin typeface="Consolas" pitchFamily="34" charset="0"/>
                <a:ea typeface="Consolas" pitchFamily="34" charset="-122"/>
                <a:cs typeface="Consolas" pitchFamily="34" charset="-120"/>
              </a:rPr>
              <a:t>// Rekursionsschritt</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endParaRPr lang="en-US" sz="1250" dirty="0"/>
          </a:p>
        </p:txBody>
      </p:sp>
      <p:sp>
        <p:nvSpPr>
          <p:cNvPr id="4" name="aktive Zeile"/>
          <p:cNvSpPr/>
          <p:nvPr/>
        </p:nvSpPr>
        <p:spPr>
          <a:xfrm>
            <a:off x="594360" y="2266696"/>
            <a:ext cx="5394960" cy="203200"/>
          </a:xfrm>
          <a:prstGeom prst="rect">
            <a:avLst/>
          </a:prstGeom>
          <a:ln w="34925">
            <a:solidFill>
              <a:schemeClr val="accent2"/>
            </a:solidFill>
            <a:prstDash val="solid"/>
          </a:ln>
        </p:spPr>
      </p:sp>
      <p:sp>
        <p:nvSpPr>
          <p:cNvPr id="5" name="Chip"/>
          <p:cNvSpPr txBox="1"/>
          <p:nvPr/>
        </p:nvSpPr>
        <p:spPr>
          <a:xfrm>
            <a:off x="548640" y="3108960"/>
            <a:ext cx="1280160" cy="384048"/>
          </a:xfrm>
          <a:prstGeom prst="roundRect">
            <a:avLst>
              <a:gd name="adj" fmla="val 50000"/>
            </a:avLst>
          </a:prstGeom>
          <a:solidFill>
            <a:schemeClr val="accent1"/>
          </a:solidFill>
          <a:ln w="15875">
            <a:solidFill>
              <a:schemeClr val="accent1"/>
            </a:solidFill>
          </a:ln>
        </p:spPr>
        <p:txBody>
          <a:bodyPr wrap="square" lIns="0" tIns="0" rIns="0" bIns="0" rtlCol="0" anchor="ctr"/>
          <a:lstStyle/>
          <a:p>
            <a:pPr algn="ctr" indent="0" marL="0">
              <a:buNone/>
            </a:pPr>
            <a:r>
              <a:rPr lang="en-US" sz="1400" b="1" dirty="0">
                <a:solidFill>
                  <a:schemeClr val="bg1"/>
                </a:solidFill>
              </a:rPr>
              <a:t>1 Abstieg</a:t>
            </a:r>
            <a:endParaRPr lang="en-US" sz="1400" dirty="0"/>
          </a:p>
        </p:txBody>
      </p:sp>
      <p:sp>
        <p:nvSpPr>
          <p:cNvPr id="6" name="Linie"/>
          <p:cNvSpPr/>
          <p:nvPr/>
        </p:nvSpPr>
        <p:spPr>
          <a:xfrm>
            <a:off x="1837944" y="3300984"/>
            <a:ext cx="100584" cy="91"/>
          </a:xfrm>
          <a:prstGeom prst="line">
            <a:avLst/>
          </a:prstGeom>
          <a:noFill/>
          <a:ln w="19050">
            <a:solidFill>
              <a:schemeClr val="accent1"/>
            </a:solidFill>
            <a:prstDash val="solid"/>
          </a:ln>
        </p:spPr>
      </p:sp>
      <p:sp>
        <p:nvSpPr>
          <p:cNvPr id="7" name="Chip"/>
          <p:cNvSpPr txBox="1"/>
          <p:nvPr/>
        </p:nvSpPr>
        <p:spPr>
          <a:xfrm>
            <a:off x="1947672"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2 Basisfall</a:t>
            </a:r>
            <a:endParaRPr lang="en-US" sz="1400" dirty="0"/>
          </a:p>
        </p:txBody>
      </p:sp>
      <p:sp>
        <p:nvSpPr>
          <p:cNvPr id="8" name="Linie"/>
          <p:cNvSpPr/>
          <p:nvPr/>
        </p:nvSpPr>
        <p:spPr>
          <a:xfrm>
            <a:off x="3236976" y="3300984"/>
            <a:ext cx="100584" cy="91"/>
          </a:xfrm>
          <a:prstGeom prst="line">
            <a:avLst/>
          </a:prstGeom>
          <a:noFill/>
          <a:ln w="19050">
            <a:solidFill>
              <a:schemeClr val="accent1"/>
            </a:solidFill>
            <a:prstDash val="solid"/>
          </a:ln>
        </p:spPr>
      </p:sp>
      <p:sp>
        <p:nvSpPr>
          <p:cNvPr id="9" name="Chip"/>
          <p:cNvSpPr txBox="1"/>
          <p:nvPr/>
        </p:nvSpPr>
        <p:spPr>
          <a:xfrm>
            <a:off x="3346704"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3 Aufstieg</a:t>
            </a:r>
            <a:endParaRPr lang="en-US" sz="1400" dirty="0"/>
          </a:p>
        </p:txBody>
      </p:sp>
      <p:sp>
        <p:nvSpPr>
          <p:cNvPr id="10" name="Linie"/>
          <p:cNvSpPr/>
          <p:nvPr/>
        </p:nvSpPr>
        <p:spPr>
          <a:xfrm>
            <a:off x="4636008" y="3300984"/>
            <a:ext cx="100584" cy="91"/>
          </a:xfrm>
          <a:prstGeom prst="line">
            <a:avLst/>
          </a:prstGeom>
          <a:noFill/>
          <a:ln w="19050">
            <a:solidFill>
              <a:schemeClr val="accent1"/>
            </a:solidFill>
            <a:prstDash val="solid"/>
          </a:ln>
        </p:spPr>
      </p:sp>
      <p:sp>
        <p:nvSpPr>
          <p:cNvPr id="11" name="Chip"/>
          <p:cNvSpPr txBox="1"/>
          <p:nvPr/>
        </p:nvSpPr>
        <p:spPr>
          <a:xfrm>
            <a:off x="4745736"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4 Ergebnis</a:t>
            </a:r>
            <a:endParaRPr lang="en-US" sz="1400" dirty="0"/>
          </a:p>
        </p:txBody>
      </p:sp>
      <p:sp>
        <p:nvSpPr>
          <p:cNvPr id="12" name="Erklaerung Abstieg"/>
          <p:cNvSpPr/>
          <p:nvPr/>
        </p:nvSpPr>
        <p:spPr>
          <a:xfrm>
            <a:off x="548640" y="3749040"/>
            <a:ext cx="5486400" cy="1463040"/>
          </a:xfrm>
          <a:prstGeom prst="roundRect">
            <a:avLst>
              <a:gd name="adj" fmla="val 7500"/>
            </a:avLst>
          </a:prstGeom>
          <a:solidFill>
            <a:schemeClr val="bg2"/>
          </a:solidFill>
          <a:ln/>
        </p:spPr>
      </p:sp>
      <p:sp>
        <p:nvSpPr>
          <p:cNvPr id="13" name="Text 11"/>
          <p:cNvSpPr txBox="1"/>
          <p:nvPr/>
        </p:nvSpPr>
        <p:spPr>
          <a:xfrm>
            <a:off x="749808" y="3749040"/>
            <a:ext cx="5120640" cy="1463040"/>
          </a:xfrm>
          <a:prstGeom prst="rect">
            <a:avLst/>
          </a:prstGeom>
          <a:noFill/>
          <a:ln/>
        </p:spPr>
        <p:txBody>
          <a:bodyPr wrap="square" lIns="0" tIns="0" rIns="0" bIns="0" rtlCol="0" anchor="ctr"/>
          <a:lstStyle/>
          <a:p>
            <a:pPr indent="0" marL="0">
              <a:buNone/>
            </a:pPr>
            <a:r>
              <a:rPr lang="en-US" sz="1700" b="1" dirty="0">
                <a:solidFill>
                  <a:schemeClr val="accent1"/>
                </a:solidFill>
              </a:rPr>
              <a:t>Abstieg: </a:t>
            </a:r>
            <a:pPr indent="0" marL="0">
              <a:buNone/>
            </a:pPr>
            <a:r>
              <a:rPr lang="en-US" sz="1700" dirty="0">
                <a:solidFill>
                  <a:schemeClr val="tx1"/>
                </a:solidFill>
              </a:rPr>
              <a:t>Jeder Aufruf legt oben einen neuen Rahmen mit eigenem n auf den Stapel. fakultaet(4) kann noch nicht rechnen – es wartet auf fakultaet(3).</a:t>
            </a:r>
            <a:endParaRPr lang="en-US" sz="1700" dirty="0"/>
          </a:p>
        </p:txBody>
      </p:sp>
      <p:sp>
        <p:nvSpPr>
          <p:cNvPr id="14" name="Text 12"/>
          <p:cNvSpPr txBox="1"/>
          <p:nvPr/>
        </p:nvSpPr>
        <p:spPr>
          <a:xfrm>
            <a:off x="548640" y="5486400"/>
            <a:ext cx="5486400" cy="320040"/>
          </a:xfrm>
          <a:prstGeom prst="rect">
            <a:avLst/>
          </a:prstGeom>
          <a:noFill/>
          <a:ln/>
        </p:spPr>
        <p:txBody>
          <a:bodyPr wrap="square" lIns="0" tIns="0" rIns="0" bIns="0" rtlCol="0" anchor="t"/>
          <a:lstStyle/>
          <a:p>
            <a:pPr indent="0" marL="0">
              <a:buNone/>
            </a:pPr>
            <a:r>
              <a:rPr lang="en-US" sz="1400" i="1" dirty="0">
                <a:solidFill>
                  <a:schemeClr val="accent6"/>
                </a:solidFill>
              </a:rPr>
              <a:t>gold umrandet: die Zeile, die gerade ausgeführt wird</a:t>
            </a:r>
            <a:endParaRPr lang="en-US" sz="1400" dirty="0"/>
          </a:p>
        </p:txBody>
      </p:sp>
      <p:sp>
        <p:nvSpPr>
          <p:cNvPr id="15" name="Text 13"/>
          <p:cNvSpPr txBox="1"/>
          <p:nvPr/>
        </p:nvSpPr>
        <p:spPr>
          <a:xfrm>
            <a:off x="6583680" y="1325880"/>
            <a:ext cx="5029200" cy="365760"/>
          </a:xfrm>
          <a:prstGeom prst="rect">
            <a:avLst/>
          </a:prstGeom>
          <a:noFill/>
          <a:ln/>
        </p:spPr>
        <p:txBody>
          <a:bodyPr wrap="square" lIns="0" tIns="0" rIns="0" bIns="0" rtlCol="0" anchor="t"/>
          <a:lstStyle/>
          <a:p>
            <a:pPr indent="0" marL="0">
              <a:buNone/>
            </a:pPr>
            <a:r>
              <a:rPr lang="en-US" sz="1800" b="1" dirty="0">
                <a:solidFill>
                  <a:schemeClr val="accent1"/>
                </a:solidFill>
              </a:rPr>
              <a:t>Aufrufstapel (oben: aktiver Aufruf)</a:t>
            </a:r>
            <a:endParaRPr lang="en-US" sz="1800" dirty="0"/>
          </a:p>
        </p:txBody>
      </p:sp>
      <p:sp>
        <p:nvSpPr>
          <p:cNvPr id="16" name="Text 14"/>
          <p:cNvSpPr txBox="1"/>
          <p:nvPr/>
        </p:nvSpPr>
        <p:spPr>
          <a:xfrm>
            <a:off x="6583680" y="5394960"/>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0</a:t>
            </a:r>
            <a:endParaRPr lang="en-US" sz="1400" dirty="0"/>
          </a:p>
        </p:txBody>
      </p:sp>
      <p:sp>
        <p:nvSpPr>
          <p:cNvPr id="17" name="Rahmen Tiefe 0"/>
          <p:cNvSpPr/>
          <p:nvPr/>
        </p:nvSpPr>
        <p:spPr>
          <a:xfrm>
            <a:off x="7498080" y="5394960"/>
            <a:ext cx="4114800" cy="713232"/>
          </a:xfrm>
          <a:prstGeom prst="roundRect">
            <a:avLst>
              <a:gd name="adj" fmla="val 10256"/>
            </a:avLst>
          </a:prstGeom>
          <a:solidFill>
            <a:schemeClr val="bg1"/>
          </a:solidFill>
          <a:ln w="22225">
            <a:solidFill>
              <a:schemeClr val="accent1"/>
            </a:solidFill>
            <a:prstDash val="solid"/>
          </a:ln>
        </p:spPr>
      </p:sp>
      <p:sp>
        <p:nvSpPr>
          <p:cNvPr id="18" name="Text 16"/>
          <p:cNvSpPr txBox="1"/>
          <p:nvPr/>
        </p:nvSpPr>
        <p:spPr>
          <a:xfrm>
            <a:off x="7680960" y="5394960"/>
            <a:ext cx="3840480" cy="713232"/>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fakultaet(4)</a:t>
            </a:r>
            <a:endParaRPr lang="en-US" sz="1800" dirty="0"/>
          </a:p>
          <a:p>
            <a:pPr indent="0" marL="0">
              <a:buNone/>
            </a:pPr>
            <a:r>
              <a:rPr lang="en-US" sz="1400" dirty="0">
                <a:solidFill>
                  <a:schemeClr val="accent1"/>
                </a:solidFill>
              </a:rPr>
              <a:t>wartet auf 4 · fakultaet(3)</a:t>
            </a:r>
            <a:endParaRPr lang="en-US" sz="1800" dirty="0"/>
          </a:p>
        </p:txBody>
      </p:sp>
      <p:sp>
        <p:nvSpPr>
          <p:cNvPr id="19" name="Text 17"/>
          <p:cNvSpPr txBox="1"/>
          <p:nvPr/>
        </p:nvSpPr>
        <p:spPr>
          <a:xfrm>
            <a:off x="6583680" y="4553712"/>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1</a:t>
            </a:r>
            <a:endParaRPr lang="en-US" sz="1400" dirty="0"/>
          </a:p>
        </p:txBody>
      </p:sp>
      <p:sp>
        <p:nvSpPr>
          <p:cNvPr id="20" name="Rahmen Tiefe 1"/>
          <p:cNvSpPr/>
          <p:nvPr/>
        </p:nvSpPr>
        <p:spPr>
          <a:xfrm>
            <a:off x="7498080" y="4553712"/>
            <a:ext cx="4114800" cy="713232"/>
          </a:xfrm>
          <a:prstGeom prst="roundRect">
            <a:avLst>
              <a:gd name="adj" fmla="val 10256"/>
            </a:avLst>
          </a:prstGeom>
          <a:solidFill>
            <a:schemeClr val="bg1"/>
          </a:solidFill>
          <a:ln w="22225">
            <a:solidFill>
              <a:schemeClr val="accent1"/>
            </a:solidFill>
            <a:prstDash val="solid"/>
          </a:ln>
        </p:spPr>
      </p:sp>
      <p:sp>
        <p:nvSpPr>
          <p:cNvPr id="21" name="Text 19"/>
          <p:cNvSpPr txBox="1"/>
          <p:nvPr/>
        </p:nvSpPr>
        <p:spPr>
          <a:xfrm>
            <a:off x="7680960" y="4553712"/>
            <a:ext cx="3840480" cy="713232"/>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fakultaet(3)</a:t>
            </a:r>
            <a:endParaRPr lang="en-US" sz="1800" dirty="0"/>
          </a:p>
          <a:p>
            <a:pPr indent="0" marL="0">
              <a:buNone/>
            </a:pPr>
            <a:r>
              <a:rPr lang="en-US" sz="1400" dirty="0">
                <a:solidFill>
                  <a:schemeClr val="accent1"/>
                </a:solidFill>
              </a:rPr>
              <a:t>wartet auf 3 · fakultaet(2)</a:t>
            </a:r>
            <a:endParaRPr lang="en-US" sz="1800" dirty="0"/>
          </a:p>
        </p:txBody>
      </p:sp>
      <p:sp>
        <p:nvSpPr>
          <p:cNvPr id="22" name="Text 20"/>
          <p:cNvSpPr txBox="1"/>
          <p:nvPr/>
        </p:nvSpPr>
        <p:spPr>
          <a:xfrm>
            <a:off x="6583680" y="3712464"/>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2</a:t>
            </a:r>
            <a:endParaRPr lang="en-US" sz="1400" dirty="0"/>
          </a:p>
        </p:txBody>
      </p:sp>
      <p:sp>
        <p:nvSpPr>
          <p:cNvPr id="23" name="Rahmen Tiefe 2"/>
          <p:cNvSpPr/>
          <p:nvPr/>
        </p:nvSpPr>
        <p:spPr>
          <a:xfrm>
            <a:off x="7498080" y="3712464"/>
            <a:ext cx="4114800" cy="713232"/>
          </a:xfrm>
          <a:prstGeom prst="roundRect">
            <a:avLst>
              <a:gd name="adj" fmla="val 10256"/>
            </a:avLst>
          </a:prstGeom>
          <a:solidFill>
            <a:schemeClr val="accent1"/>
          </a:solidFill>
          <a:ln w="15875">
            <a:solidFill>
              <a:schemeClr val="accent1"/>
            </a:solidFill>
            <a:prstDash val="solid"/>
          </a:ln>
        </p:spPr>
      </p:sp>
      <p:sp>
        <p:nvSpPr>
          <p:cNvPr id="24" name="Text 22"/>
          <p:cNvSpPr txBox="1"/>
          <p:nvPr/>
        </p:nvSpPr>
        <p:spPr>
          <a:xfrm>
            <a:off x="7680960" y="3712464"/>
            <a:ext cx="3840480" cy="713232"/>
          </a:xfrm>
          <a:prstGeom prst="rect">
            <a:avLst/>
          </a:prstGeom>
          <a:noFill/>
          <a:ln/>
        </p:spPr>
        <p:txBody>
          <a:bodyPr wrap="square" lIns="0" tIns="0" rIns="0" bIns="0" rtlCol="0" anchor="ctr"/>
          <a:lstStyle/>
          <a:p>
            <a:pPr indent="0" marL="0">
              <a:buNone/>
            </a:pPr>
            <a:r>
              <a:rPr lang="en-US" sz="1500" b="1" dirty="0">
                <a:solidFill>
                  <a:schemeClr val="bg1"/>
                </a:solidFill>
                <a:latin typeface="Consolas" pitchFamily="34" charset="0"/>
                <a:ea typeface="Consolas" pitchFamily="34" charset="-122"/>
                <a:cs typeface="Consolas" pitchFamily="34" charset="-120"/>
              </a:rPr>
              <a:t>fakultaet(2)</a:t>
            </a:r>
            <a:endParaRPr lang="en-US" sz="1800" dirty="0"/>
          </a:p>
          <a:p>
            <a:pPr indent="0" marL="0">
              <a:buNone/>
            </a:pPr>
            <a:r>
              <a:rPr lang="en-US" sz="1400" dirty="0">
                <a:solidFill>
                  <a:schemeClr val="bg1"/>
                </a:solidFill>
              </a:rPr>
              <a:t>ruft fakultaet(1) auf …</a:t>
            </a:r>
            <a:endParaRPr lang="en-US" sz="1800" dirty="0"/>
          </a:p>
        </p:txBody>
      </p:sp>
      <p:sp>
        <p:nvSpPr>
          <p:cNvPr id="25" name="Text 23"/>
          <p:cNvSpPr txBox="1"/>
          <p:nvPr/>
        </p:nvSpPr>
        <p:spPr>
          <a:xfrm>
            <a:off x="6583680" y="2871216"/>
            <a:ext cx="868680" cy="713232"/>
          </a:xfrm>
          <a:prstGeom prst="rect">
            <a:avLst/>
          </a:prstGeom>
          <a:noFill/>
          <a:ln/>
        </p:spPr>
        <p:txBody>
          <a:bodyPr wrap="square" lIns="0" tIns="0" rIns="0" bIns="0" rtlCol="0" anchor="ctr"/>
          <a:lstStyle/>
          <a:p>
            <a:pPr indent="0" marL="0">
              <a:buNone/>
            </a:pPr>
            <a:r>
              <a:rPr lang="en-US" sz="1400" b="1" dirty="0">
                <a:solidFill>
                  <a:srgbClr val="BFBFBF"/>
                </a:solidFill>
              </a:rPr>
              <a:t>Tiefe 3</a:t>
            </a:r>
            <a:endParaRPr lang="en-US" sz="1400" dirty="0"/>
          </a:p>
        </p:txBody>
      </p:sp>
      <p:sp>
        <p:nvSpPr>
          <p:cNvPr id="26" name="Rahmen Tiefe 3"/>
          <p:cNvSpPr/>
          <p:nvPr/>
        </p:nvSpPr>
        <p:spPr>
          <a:xfrm>
            <a:off x="7498080" y="2871216"/>
            <a:ext cx="4114800" cy="713232"/>
          </a:xfrm>
          <a:prstGeom prst="roundRect">
            <a:avLst>
              <a:gd name="adj" fmla="val 10256"/>
            </a:avLst>
          </a:prstGeom>
          <a:solidFill>
            <a:schemeClr val="bg1"/>
          </a:solidFill>
          <a:ln w="15875">
            <a:solidFill>
              <a:srgbClr val="D9D9D9"/>
            </a:solidFill>
            <a:prstDash val="dash"/>
          </a:ln>
        </p:spPr>
      </p:sp>
      <p:sp>
        <p:nvSpPr>
          <p:cNvPr id="27" name="Text 25"/>
          <p:cNvSpPr txBox="1"/>
          <p:nvPr/>
        </p:nvSpPr>
        <p:spPr>
          <a:xfrm>
            <a:off x="6583680" y="2029968"/>
            <a:ext cx="868680" cy="713232"/>
          </a:xfrm>
          <a:prstGeom prst="rect">
            <a:avLst/>
          </a:prstGeom>
          <a:noFill/>
          <a:ln/>
        </p:spPr>
        <p:txBody>
          <a:bodyPr wrap="square" lIns="0" tIns="0" rIns="0" bIns="0" rtlCol="0" anchor="ctr"/>
          <a:lstStyle/>
          <a:p>
            <a:pPr indent="0" marL="0">
              <a:buNone/>
            </a:pPr>
            <a:r>
              <a:rPr lang="en-US" sz="1400" b="1" dirty="0">
                <a:solidFill>
                  <a:srgbClr val="BFBFBF"/>
                </a:solidFill>
              </a:rPr>
              <a:t>Tiefe 4</a:t>
            </a:r>
            <a:endParaRPr lang="en-US" sz="1400" dirty="0"/>
          </a:p>
        </p:txBody>
      </p:sp>
      <p:sp>
        <p:nvSpPr>
          <p:cNvPr id="28" name="Rahmen Tiefe 4"/>
          <p:cNvSpPr/>
          <p:nvPr/>
        </p:nvSpPr>
        <p:spPr>
          <a:xfrm>
            <a:off x="7498080" y="2029968"/>
            <a:ext cx="4114800" cy="713232"/>
          </a:xfrm>
          <a:prstGeom prst="roundRect">
            <a:avLst>
              <a:gd name="adj" fmla="val 10256"/>
            </a:avLst>
          </a:prstGeom>
          <a:solidFill>
            <a:schemeClr val="bg1"/>
          </a:solidFill>
          <a:ln w="15875">
            <a:solidFill>
              <a:srgbClr val="D9D9D9"/>
            </a:solidFill>
            <a:prstDash val="dash"/>
          </a:ln>
        </p:spPr>
      </p:sp>
      <p:sp>
        <p:nvSpPr>
          <p:cNvPr id="29" name="Text 27"/>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Rekursion · 1/4</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Der Aufrufstapel: fakultaet(4)</a:t>
            </a:r>
            <a:endParaRPr lang="en-US" sz="3600" dirty="0"/>
          </a:p>
        </p:txBody>
      </p:sp>
      <p:sp>
        <p:nvSpPr>
          <p:cNvPr id="3" name="Code"/>
          <p:cNvSpPr txBox="1"/>
          <p:nvPr/>
        </p:nvSpPr>
        <p:spPr>
          <a:xfrm>
            <a:off x="548640" y="1325880"/>
            <a:ext cx="5486400" cy="1520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fakultaet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0)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1;                 </a:t>
            </a:r>
            <a:pPr algn="l" indent="0" marL="0">
              <a:lnSpc>
                <a:spcPts val="1600"/>
              </a:lnSpc>
              <a:buNone/>
            </a:pPr>
            <a:r>
              <a:rPr lang="en-US" sz="1250" i="1" dirty="0">
                <a:solidFill>
                  <a:schemeClr val="accent3"/>
                </a:solidFill>
                <a:latin typeface="Consolas" pitchFamily="34" charset="0"/>
                <a:ea typeface="Consolas" pitchFamily="34" charset="-122"/>
                <a:cs typeface="Consolas" pitchFamily="34" charset="-120"/>
              </a:rPr>
              <a:t>// Basisfall</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fakultaet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- 1);  </a:t>
            </a:r>
            <a:pPr algn="l" indent="0" marL="0">
              <a:lnSpc>
                <a:spcPts val="1600"/>
              </a:lnSpc>
              <a:buNone/>
            </a:pPr>
            <a:r>
              <a:rPr lang="en-US" sz="1250" i="1" dirty="0">
                <a:solidFill>
                  <a:schemeClr val="accent3"/>
                </a:solidFill>
                <a:latin typeface="Consolas" pitchFamily="34" charset="0"/>
                <a:ea typeface="Consolas" pitchFamily="34" charset="-122"/>
                <a:cs typeface="Consolas" pitchFamily="34" charset="-120"/>
              </a:rPr>
              <a:t>// Rekursionsschritt</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endParaRPr lang="en-US" sz="1250" dirty="0"/>
          </a:p>
        </p:txBody>
      </p:sp>
      <p:sp>
        <p:nvSpPr>
          <p:cNvPr id="4" name="aktive Zeile"/>
          <p:cNvSpPr/>
          <p:nvPr/>
        </p:nvSpPr>
        <p:spPr>
          <a:xfrm>
            <a:off x="594360" y="1860296"/>
            <a:ext cx="5394960" cy="203200"/>
          </a:xfrm>
          <a:prstGeom prst="rect">
            <a:avLst/>
          </a:prstGeom>
          <a:ln w="34925">
            <a:solidFill>
              <a:schemeClr val="accent2"/>
            </a:solidFill>
            <a:prstDash val="solid"/>
          </a:ln>
        </p:spPr>
      </p:sp>
      <p:sp>
        <p:nvSpPr>
          <p:cNvPr id="5" name="Chip"/>
          <p:cNvSpPr txBox="1"/>
          <p:nvPr/>
        </p:nvSpPr>
        <p:spPr>
          <a:xfrm>
            <a:off x="548640"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1 Abstieg</a:t>
            </a:r>
            <a:endParaRPr lang="en-US" sz="1400" dirty="0"/>
          </a:p>
        </p:txBody>
      </p:sp>
      <p:sp>
        <p:nvSpPr>
          <p:cNvPr id="6" name="Linie"/>
          <p:cNvSpPr/>
          <p:nvPr/>
        </p:nvSpPr>
        <p:spPr>
          <a:xfrm>
            <a:off x="1837944" y="3300984"/>
            <a:ext cx="100584" cy="91"/>
          </a:xfrm>
          <a:prstGeom prst="line">
            <a:avLst/>
          </a:prstGeom>
          <a:noFill/>
          <a:ln w="19050">
            <a:solidFill>
              <a:schemeClr val="accent1"/>
            </a:solidFill>
            <a:prstDash val="solid"/>
          </a:ln>
        </p:spPr>
      </p:sp>
      <p:sp>
        <p:nvSpPr>
          <p:cNvPr id="7" name="Chip"/>
          <p:cNvSpPr txBox="1"/>
          <p:nvPr/>
        </p:nvSpPr>
        <p:spPr>
          <a:xfrm>
            <a:off x="1947672" y="3108960"/>
            <a:ext cx="1280160" cy="384048"/>
          </a:xfrm>
          <a:prstGeom prst="roundRect">
            <a:avLst>
              <a:gd name="adj" fmla="val 50000"/>
            </a:avLst>
          </a:prstGeom>
          <a:solidFill>
            <a:schemeClr val="accent1"/>
          </a:solidFill>
          <a:ln w="15875">
            <a:solidFill>
              <a:schemeClr val="accent1"/>
            </a:solidFill>
          </a:ln>
        </p:spPr>
        <p:txBody>
          <a:bodyPr wrap="square" lIns="0" tIns="0" rIns="0" bIns="0" rtlCol="0" anchor="ctr"/>
          <a:lstStyle/>
          <a:p>
            <a:pPr algn="ctr" indent="0" marL="0">
              <a:buNone/>
            </a:pPr>
            <a:r>
              <a:rPr lang="en-US" sz="1400" b="1" dirty="0">
                <a:solidFill>
                  <a:schemeClr val="bg1"/>
                </a:solidFill>
              </a:rPr>
              <a:t>2 Basisfall</a:t>
            </a:r>
            <a:endParaRPr lang="en-US" sz="1400" dirty="0"/>
          </a:p>
        </p:txBody>
      </p:sp>
      <p:sp>
        <p:nvSpPr>
          <p:cNvPr id="8" name="Linie"/>
          <p:cNvSpPr/>
          <p:nvPr/>
        </p:nvSpPr>
        <p:spPr>
          <a:xfrm>
            <a:off x="3236976" y="3300984"/>
            <a:ext cx="100584" cy="91"/>
          </a:xfrm>
          <a:prstGeom prst="line">
            <a:avLst/>
          </a:prstGeom>
          <a:noFill/>
          <a:ln w="19050">
            <a:solidFill>
              <a:schemeClr val="accent1"/>
            </a:solidFill>
            <a:prstDash val="solid"/>
          </a:ln>
        </p:spPr>
      </p:sp>
      <p:sp>
        <p:nvSpPr>
          <p:cNvPr id="9" name="Chip"/>
          <p:cNvSpPr txBox="1"/>
          <p:nvPr/>
        </p:nvSpPr>
        <p:spPr>
          <a:xfrm>
            <a:off x="3346704"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3 Aufstieg</a:t>
            </a:r>
            <a:endParaRPr lang="en-US" sz="1400" dirty="0"/>
          </a:p>
        </p:txBody>
      </p:sp>
      <p:sp>
        <p:nvSpPr>
          <p:cNvPr id="10" name="Linie"/>
          <p:cNvSpPr/>
          <p:nvPr/>
        </p:nvSpPr>
        <p:spPr>
          <a:xfrm>
            <a:off x="4636008" y="3300984"/>
            <a:ext cx="100584" cy="91"/>
          </a:xfrm>
          <a:prstGeom prst="line">
            <a:avLst/>
          </a:prstGeom>
          <a:noFill/>
          <a:ln w="19050">
            <a:solidFill>
              <a:schemeClr val="accent1"/>
            </a:solidFill>
            <a:prstDash val="solid"/>
          </a:ln>
        </p:spPr>
      </p:sp>
      <p:sp>
        <p:nvSpPr>
          <p:cNvPr id="11" name="Chip"/>
          <p:cNvSpPr txBox="1"/>
          <p:nvPr/>
        </p:nvSpPr>
        <p:spPr>
          <a:xfrm>
            <a:off x="4745736"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4 Ergebnis</a:t>
            </a:r>
            <a:endParaRPr lang="en-US" sz="1400" dirty="0"/>
          </a:p>
        </p:txBody>
      </p:sp>
      <p:sp>
        <p:nvSpPr>
          <p:cNvPr id="12" name="Erklaerung Basisfall"/>
          <p:cNvSpPr/>
          <p:nvPr/>
        </p:nvSpPr>
        <p:spPr>
          <a:xfrm>
            <a:off x="548640" y="3749040"/>
            <a:ext cx="5486400" cy="1463040"/>
          </a:xfrm>
          <a:prstGeom prst="roundRect">
            <a:avLst>
              <a:gd name="adj" fmla="val 7500"/>
            </a:avLst>
          </a:prstGeom>
          <a:solidFill>
            <a:schemeClr val="bg2"/>
          </a:solidFill>
          <a:ln/>
        </p:spPr>
      </p:sp>
      <p:sp>
        <p:nvSpPr>
          <p:cNvPr id="13" name="Text 11"/>
          <p:cNvSpPr txBox="1"/>
          <p:nvPr/>
        </p:nvSpPr>
        <p:spPr>
          <a:xfrm>
            <a:off x="749808" y="3749040"/>
            <a:ext cx="5120640" cy="1463040"/>
          </a:xfrm>
          <a:prstGeom prst="rect">
            <a:avLst/>
          </a:prstGeom>
          <a:noFill/>
          <a:ln/>
        </p:spPr>
        <p:txBody>
          <a:bodyPr wrap="square" lIns="0" tIns="0" rIns="0" bIns="0" rtlCol="0" anchor="ctr"/>
          <a:lstStyle/>
          <a:p>
            <a:pPr indent="0" marL="0">
              <a:buNone/>
            </a:pPr>
            <a:r>
              <a:rPr lang="en-US" sz="1700" b="1" dirty="0">
                <a:solidFill>
                  <a:schemeClr val="accent3"/>
                </a:solidFill>
              </a:rPr>
              <a:t>Basisfall: </a:t>
            </a:r>
            <a:pPr indent="0" marL="0">
              <a:buNone/>
            </a:pPr>
            <a:r>
              <a:rPr lang="en-US" sz="1700" dirty="0">
                <a:solidFill>
                  <a:schemeClr val="tx1"/>
                </a:solidFill>
              </a:rPr>
              <a:t>fakultaet(0) ruft niemanden mehr auf und liefert sofort 1. Hier ist der Stapel am höchsten: Rekursionstiefe 4.</a:t>
            </a:r>
            <a:endParaRPr lang="en-US" sz="1700" dirty="0"/>
          </a:p>
        </p:txBody>
      </p:sp>
      <p:sp>
        <p:nvSpPr>
          <p:cNvPr id="14" name="Text 12"/>
          <p:cNvSpPr txBox="1"/>
          <p:nvPr/>
        </p:nvSpPr>
        <p:spPr>
          <a:xfrm>
            <a:off x="548640" y="5486400"/>
            <a:ext cx="5486400" cy="320040"/>
          </a:xfrm>
          <a:prstGeom prst="rect">
            <a:avLst/>
          </a:prstGeom>
          <a:noFill/>
          <a:ln/>
        </p:spPr>
        <p:txBody>
          <a:bodyPr wrap="square" lIns="0" tIns="0" rIns="0" bIns="0" rtlCol="0" anchor="t"/>
          <a:lstStyle/>
          <a:p>
            <a:pPr indent="0" marL="0">
              <a:buNone/>
            </a:pPr>
            <a:r>
              <a:rPr lang="en-US" sz="1400" i="1" dirty="0">
                <a:solidFill>
                  <a:schemeClr val="accent6"/>
                </a:solidFill>
              </a:rPr>
              <a:t>gold umrandet: die Zeile, die gerade ausgeführt wird</a:t>
            </a:r>
            <a:endParaRPr lang="en-US" sz="1400" dirty="0"/>
          </a:p>
        </p:txBody>
      </p:sp>
      <p:sp>
        <p:nvSpPr>
          <p:cNvPr id="15" name="Text 13"/>
          <p:cNvSpPr txBox="1"/>
          <p:nvPr/>
        </p:nvSpPr>
        <p:spPr>
          <a:xfrm>
            <a:off x="6583680" y="1325880"/>
            <a:ext cx="5029200" cy="365760"/>
          </a:xfrm>
          <a:prstGeom prst="rect">
            <a:avLst/>
          </a:prstGeom>
          <a:noFill/>
          <a:ln/>
        </p:spPr>
        <p:txBody>
          <a:bodyPr wrap="square" lIns="0" tIns="0" rIns="0" bIns="0" rtlCol="0" anchor="t"/>
          <a:lstStyle/>
          <a:p>
            <a:pPr indent="0" marL="0">
              <a:buNone/>
            </a:pPr>
            <a:r>
              <a:rPr lang="en-US" sz="1800" b="1" dirty="0">
                <a:solidFill>
                  <a:schemeClr val="accent1"/>
                </a:solidFill>
              </a:rPr>
              <a:t>Aufrufstapel (oben: aktiver Aufruf)</a:t>
            </a:r>
            <a:endParaRPr lang="en-US" sz="1800" dirty="0"/>
          </a:p>
        </p:txBody>
      </p:sp>
      <p:sp>
        <p:nvSpPr>
          <p:cNvPr id="16" name="Text 14"/>
          <p:cNvSpPr txBox="1"/>
          <p:nvPr/>
        </p:nvSpPr>
        <p:spPr>
          <a:xfrm>
            <a:off x="6583680" y="5394960"/>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0</a:t>
            </a:r>
            <a:endParaRPr lang="en-US" sz="1400" dirty="0"/>
          </a:p>
        </p:txBody>
      </p:sp>
      <p:sp>
        <p:nvSpPr>
          <p:cNvPr id="17" name="Rahmen Tiefe 0"/>
          <p:cNvSpPr/>
          <p:nvPr/>
        </p:nvSpPr>
        <p:spPr>
          <a:xfrm>
            <a:off x="7498080" y="5394960"/>
            <a:ext cx="4114800" cy="713232"/>
          </a:xfrm>
          <a:prstGeom prst="roundRect">
            <a:avLst>
              <a:gd name="adj" fmla="val 10256"/>
            </a:avLst>
          </a:prstGeom>
          <a:solidFill>
            <a:schemeClr val="bg1"/>
          </a:solidFill>
          <a:ln w="22225">
            <a:solidFill>
              <a:schemeClr val="accent1"/>
            </a:solidFill>
            <a:prstDash val="solid"/>
          </a:ln>
        </p:spPr>
      </p:sp>
      <p:sp>
        <p:nvSpPr>
          <p:cNvPr id="18" name="Text 16"/>
          <p:cNvSpPr txBox="1"/>
          <p:nvPr/>
        </p:nvSpPr>
        <p:spPr>
          <a:xfrm>
            <a:off x="7680960" y="5394960"/>
            <a:ext cx="3840480" cy="713232"/>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fakultaet(4)</a:t>
            </a:r>
            <a:endParaRPr lang="en-US" sz="1800" dirty="0"/>
          </a:p>
          <a:p>
            <a:pPr indent="0" marL="0">
              <a:buNone/>
            </a:pPr>
            <a:r>
              <a:rPr lang="en-US" sz="1400" dirty="0">
                <a:solidFill>
                  <a:schemeClr val="accent1"/>
                </a:solidFill>
              </a:rPr>
              <a:t>wartet auf 4 · fakultaet(3)</a:t>
            </a:r>
            <a:endParaRPr lang="en-US" sz="1800" dirty="0"/>
          </a:p>
        </p:txBody>
      </p:sp>
      <p:sp>
        <p:nvSpPr>
          <p:cNvPr id="19" name="Text 17"/>
          <p:cNvSpPr txBox="1"/>
          <p:nvPr/>
        </p:nvSpPr>
        <p:spPr>
          <a:xfrm>
            <a:off x="6583680" y="4553712"/>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1</a:t>
            </a:r>
            <a:endParaRPr lang="en-US" sz="1400" dirty="0"/>
          </a:p>
        </p:txBody>
      </p:sp>
      <p:sp>
        <p:nvSpPr>
          <p:cNvPr id="20" name="Rahmen Tiefe 1"/>
          <p:cNvSpPr/>
          <p:nvPr/>
        </p:nvSpPr>
        <p:spPr>
          <a:xfrm>
            <a:off x="7498080" y="4553712"/>
            <a:ext cx="4114800" cy="713232"/>
          </a:xfrm>
          <a:prstGeom prst="roundRect">
            <a:avLst>
              <a:gd name="adj" fmla="val 10256"/>
            </a:avLst>
          </a:prstGeom>
          <a:solidFill>
            <a:schemeClr val="bg1"/>
          </a:solidFill>
          <a:ln w="22225">
            <a:solidFill>
              <a:schemeClr val="accent1"/>
            </a:solidFill>
            <a:prstDash val="solid"/>
          </a:ln>
        </p:spPr>
      </p:sp>
      <p:sp>
        <p:nvSpPr>
          <p:cNvPr id="21" name="Text 19"/>
          <p:cNvSpPr txBox="1"/>
          <p:nvPr/>
        </p:nvSpPr>
        <p:spPr>
          <a:xfrm>
            <a:off x="7680960" y="4553712"/>
            <a:ext cx="3840480" cy="713232"/>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fakultaet(3)</a:t>
            </a:r>
            <a:endParaRPr lang="en-US" sz="1800" dirty="0"/>
          </a:p>
          <a:p>
            <a:pPr indent="0" marL="0">
              <a:buNone/>
            </a:pPr>
            <a:r>
              <a:rPr lang="en-US" sz="1400" dirty="0">
                <a:solidFill>
                  <a:schemeClr val="accent1"/>
                </a:solidFill>
              </a:rPr>
              <a:t>wartet auf 3 · fakultaet(2)</a:t>
            </a:r>
            <a:endParaRPr lang="en-US" sz="1800" dirty="0"/>
          </a:p>
        </p:txBody>
      </p:sp>
      <p:sp>
        <p:nvSpPr>
          <p:cNvPr id="22" name="Text 20"/>
          <p:cNvSpPr txBox="1"/>
          <p:nvPr/>
        </p:nvSpPr>
        <p:spPr>
          <a:xfrm>
            <a:off x="6583680" y="3712464"/>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2</a:t>
            </a:r>
            <a:endParaRPr lang="en-US" sz="1400" dirty="0"/>
          </a:p>
        </p:txBody>
      </p:sp>
      <p:sp>
        <p:nvSpPr>
          <p:cNvPr id="23" name="Rahmen Tiefe 2"/>
          <p:cNvSpPr/>
          <p:nvPr/>
        </p:nvSpPr>
        <p:spPr>
          <a:xfrm>
            <a:off x="7498080" y="3712464"/>
            <a:ext cx="4114800" cy="713232"/>
          </a:xfrm>
          <a:prstGeom prst="roundRect">
            <a:avLst>
              <a:gd name="adj" fmla="val 10256"/>
            </a:avLst>
          </a:prstGeom>
          <a:solidFill>
            <a:schemeClr val="bg1"/>
          </a:solidFill>
          <a:ln w="22225">
            <a:solidFill>
              <a:schemeClr val="accent1"/>
            </a:solidFill>
            <a:prstDash val="solid"/>
          </a:ln>
        </p:spPr>
      </p:sp>
      <p:sp>
        <p:nvSpPr>
          <p:cNvPr id="24" name="Text 22"/>
          <p:cNvSpPr txBox="1"/>
          <p:nvPr/>
        </p:nvSpPr>
        <p:spPr>
          <a:xfrm>
            <a:off x="7680960" y="3712464"/>
            <a:ext cx="3840480" cy="713232"/>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fakultaet(2)</a:t>
            </a:r>
            <a:endParaRPr lang="en-US" sz="1800" dirty="0"/>
          </a:p>
          <a:p>
            <a:pPr indent="0" marL="0">
              <a:buNone/>
            </a:pPr>
            <a:r>
              <a:rPr lang="en-US" sz="1400" dirty="0">
                <a:solidFill>
                  <a:schemeClr val="accent1"/>
                </a:solidFill>
              </a:rPr>
              <a:t>wartet auf 2 · fakultaet(1)</a:t>
            </a:r>
            <a:endParaRPr lang="en-US" sz="1800" dirty="0"/>
          </a:p>
        </p:txBody>
      </p:sp>
      <p:sp>
        <p:nvSpPr>
          <p:cNvPr id="25" name="Text 23"/>
          <p:cNvSpPr txBox="1"/>
          <p:nvPr/>
        </p:nvSpPr>
        <p:spPr>
          <a:xfrm>
            <a:off x="6583680" y="2871216"/>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3</a:t>
            </a:r>
            <a:endParaRPr lang="en-US" sz="1400" dirty="0"/>
          </a:p>
        </p:txBody>
      </p:sp>
      <p:sp>
        <p:nvSpPr>
          <p:cNvPr id="26" name="Rahmen Tiefe 3"/>
          <p:cNvSpPr/>
          <p:nvPr/>
        </p:nvSpPr>
        <p:spPr>
          <a:xfrm>
            <a:off x="7498080" y="2871216"/>
            <a:ext cx="4114800" cy="713232"/>
          </a:xfrm>
          <a:prstGeom prst="roundRect">
            <a:avLst>
              <a:gd name="adj" fmla="val 10256"/>
            </a:avLst>
          </a:prstGeom>
          <a:solidFill>
            <a:schemeClr val="bg1"/>
          </a:solidFill>
          <a:ln w="22225">
            <a:solidFill>
              <a:schemeClr val="accent1"/>
            </a:solidFill>
            <a:prstDash val="solid"/>
          </a:ln>
        </p:spPr>
      </p:sp>
      <p:sp>
        <p:nvSpPr>
          <p:cNvPr id="27" name="Text 25"/>
          <p:cNvSpPr txBox="1"/>
          <p:nvPr/>
        </p:nvSpPr>
        <p:spPr>
          <a:xfrm>
            <a:off x="7680960" y="2871216"/>
            <a:ext cx="3840480" cy="713232"/>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fakultaet(1)</a:t>
            </a:r>
            <a:endParaRPr lang="en-US" sz="1800" dirty="0"/>
          </a:p>
          <a:p>
            <a:pPr indent="0" marL="0">
              <a:buNone/>
            </a:pPr>
            <a:r>
              <a:rPr lang="en-US" sz="1400" dirty="0">
                <a:solidFill>
                  <a:schemeClr val="accent1"/>
                </a:solidFill>
              </a:rPr>
              <a:t>wartet auf 1 · fakultaet(0)</a:t>
            </a:r>
            <a:endParaRPr lang="en-US" sz="1800" dirty="0"/>
          </a:p>
        </p:txBody>
      </p:sp>
      <p:sp>
        <p:nvSpPr>
          <p:cNvPr id="28" name="Text 26"/>
          <p:cNvSpPr txBox="1"/>
          <p:nvPr/>
        </p:nvSpPr>
        <p:spPr>
          <a:xfrm>
            <a:off x="6583680" y="2029968"/>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4</a:t>
            </a:r>
            <a:endParaRPr lang="en-US" sz="1400" dirty="0"/>
          </a:p>
        </p:txBody>
      </p:sp>
      <p:sp>
        <p:nvSpPr>
          <p:cNvPr id="29" name="Rahmen Tiefe 4"/>
          <p:cNvSpPr/>
          <p:nvPr/>
        </p:nvSpPr>
        <p:spPr>
          <a:xfrm>
            <a:off x="7498080" y="2029968"/>
            <a:ext cx="4114800" cy="713232"/>
          </a:xfrm>
          <a:prstGeom prst="roundRect">
            <a:avLst>
              <a:gd name="adj" fmla="val 10256"/>
            </a:avLst>
          </a:prstGeom>
          <a:solidFill>
            <a:schemeClr val="accent3"/>
          </a:solidFill>
          <a:ln w="15875">
            <a:solidFill>
              <a:schemeClr val="accent3"/>
            </a:solidFill>
            <a:prstDash val="solid"/>
          </a:ln>
        </p:spPr>
      </p:sp>
      <p:sp>
        <p:nvSpPr>
          <p:cNvPr id="30" name="Text 28"/>
          <p:cNvSpPr txBox="1"/>
          <p:nvPr/>
        </p:nvSpPr>
        <p:spPr>
          <a:xfrm>
            <a:off x="7680960" y="2029968"/>
            <a:ext cx="3840480" cy="713232"/>
          </a:xfrm>
          <a:prstGeom prst="rect">
            <a:avLst/>
          </a:prstGeom>
          <a:noFill/>
          <a:ln/>
        </p:spPr>
        <p:txBody>
          <a:bodyPr wrap="square" lIns="0" tIns="0" rIns="0" bIns="0" rtlCol="0" anchor="ctr"/>
          <a:lstStyle/>
          <a:p>
            <a:pPr indent="0" marL="0">
              <a:buNone/>
            </a:pPr>
            <a:r>
              <a:rPr lang="en-US" sz="1500" b="1" dirty="0">
                <a:solidFill>
                  <a:schemeClr val="bg1"/>
                </a:solidFill>
                <a:latin typeface="Consolas" pitchFamily="34" charset="0"/>
                <a:ea typeface="Consolas" pitchFamily="34" charset="-122"/>
                <a:cs typeface="Consolas" pitchFamily="34" charset="-120"/>
              </a:rPr>
              <a:t>fakultaet(0)</a:t>
            </a:r>
            <a:endParaRPr lang="en-US" sz="1800" dirty="0"/>
          </a:p>
          <a:p>
            <a:pPr indent="0" marL="0">
              <a:buNone/>
            </a:pPr>
            <a:r>
              <a:rPr lang="en-US" sz="1400" dirty="0">
                <a:solidFill>
                  <a:schemeClr val="bg1"/>
                </a:solidFill>
              </a:rPr>
              <a:t>n = 0  →  gib 1 zurück</a:t>
            </a:r>
            <a:endParaRPr lang="en-US" sz="1800" dirty="0"/>
          </a:p>
        </p:txBody>
      </p:sp>
      <p:sp>
        <p:nvSpPr>
          <p:cNvPr id="31" name="Text 29"/>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Rekursion · 2/4</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Der Aufrufstapel: fakultaet(4)</a:t>
            </a:r>
            <a:endParaRPr lang="en-US" sz="3600" dirty="0"/>
          </a:p>
        </p:txBody>
      </p:sp>
      <p:sp>
        <p:nvSpPr>
          <p:cNvPr id="3" name="Code"/>
          <p:cNvSpPr txBox="1"/>
          <p:nvPr/>
        </p:nvSpPr>
        <p:spPr>
          <a:xfrm>
            <a:off x="548640" y="1325880"/>
            <a:ext cx="5486400" cy="1520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fakultaet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0)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1;                 </a:t>
            </a:r>
            <a:pPr algn="l" indent="0" marL="0">
              <a:lnSpc>
                <a:spcPts val="1600"/>
              </a:lnSpc>
              <a:buNone/>
            </a:pPr>
            <a:r>
              <a:rPr lang="en-US" sz="1250" i="1" dirty="0">
                <a:solidFill>
                  <a:schemeClr val="accent3"/>
                </a:solidFill>
                <a:latin typeface="Consolas" pitchFamily="34" charset="0"/>
                <a:ea typeface="Consolas" pitchFamily="34" charset="-122"/>
                <a:cs typeface="Consolas" pitchFamily="34" charset="-120"/>
              </a:rPr>
              <a:t>// Basisfall</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fakultaet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- 1);  </a:t>
            </a:r>
            <a:pPr algn="l" indent="0" marL="0">
              <a:lnSpc>
                <a:spcPts val="1600"/>
              </a:lnSpc>
              <a:buNone/>
            </a:pPr>
            <a:r>
              <a:rPr lang="en-US" sz="1250" i="1" dirty="0">
                <a:solidFill>
                  <a:schemeClr val="accent3"/>
                </a:solidFill>
                <a:latin typeface="Consolas" pitchFamily="34" charset="0"/>
                <a:ea typeface="Consolas" pitchFamily="34" charset="-122"/>
                <a:cs typeface="Consolas" pitchFamily="34" charset="-120"/>
              </a:rPr>
              <a:t>// Rekursionsschritt</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endParaRPr lang="en-US" sz="1250" dirty="0"/>
          </a:p>
        </p:txBody>
      </p:sp>
      <p:sp>
        <p:nvSpPr>
          <p:cNvPr id="4" name="aktive Zeile"/>
          <p:cNvSpPr/>
          <p:nvPr/>
        </p:nvSpPr>
        <p:spPr>
          <a:xfrm>
            <a:off x="594360" y="2266696"/>
            <a:ext cx="5394960" cy="203200"/>
          </a:xfrm>
          <a:prstGeom prst="rect">
            <a:avLst/>
          </a:prstGeom>
          <a:ln w="34925">
            <a:solidFill>
              <a:schemeClr val="accent2"/>
            </a:solidFill>
            <a:prstDash val="solid"/>
          </a:ln>
        </p:spPr>
      </p:sp>
      <p:sp>
        <p:nvSpPr>
          <p:cNvPr id="5" name="Chip"/>
          <p:cNvSpPr txBox="1"/>
          <p:nvPr/>
        </p:nvSpPr>
        <p:spPr>
          <a:xfrm>
            <a:off x="548640"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1 Abstieg</a:t>
            </a:r>
            <a:endParaRPr lang="en-US" sz="1400" dirty="0"/>
          </a:p>
        </p:txBody>
      </p:sp>
      <p:sp>
        <p:nvSpPr>
          <p:cNvPr id="6" name="Linie"/>
          <p:cNvSpPr/>
          <p:nvPr/>
        </p:nvSpPr>
        <p:spPr>
          <a:xfrm>
            <a:off x="1837944" y="3300984"/>
            <a:ext cx="100584" cy="91"/>
          </a:xfrm>
          <a:prstGeom prst="line">
            <a:avLst/>
          </a:prstGeom>
          <a:noFill/>
          <a:ln w="19050">
            <a:solidFill>
              <a:schemeClr val="accent1"/>
            </a:solidFill>
            <a:prstDash val="solid"/>
          </a:ln>
        </p:spPr>
      </p:sp>
      <p:sp>
        <p:nvSpPr>
          <p:cNvPr id="7" name="Chip"/>
          <p:cNvSpPr txBox="1"/>
          <p:nvPr/>
        </p:nvSpPr>
        <p:spPr>
          <a:xfrm>
            <a:off x="1947672"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2 Basisfall</a:t>
            </a:r>
            <a:endParaRPr lang="en-US" sz="1400" dirty="0"/>
          </a:p>
        </p:txBody>
      </p:sp>
      <p:sp>
        <p:nvSpPr>
          <p:cNvPr id="8" name="Linie"/>
          <p:cNvSpPr/>
          <p:nvPr/>
        </p:nvSpPr>
        <p:spPr>
          <a:xfrm>
            <a:off x="3236976" y="3300984"/>
            <a:ext cx="100584" cy="91"/>
          </a:xfrm>
          <a:prstGeom prst="line">
            <a:avLst/>
          </a:prstGeom>
          <a:noFill/>
          <a:ln w="19050">
            <a:solidFill>
              <a:schemeClr val="accent1"/>
            </a:solidFill>
            <a:prstDash val="solid"/>
          </a:ln>
        </p:spPr>
      </p:sp>
      <p:sp>
        <p:nvSpPr>
          <p:cNvPr id="9" name="Chip"/>
          <p:cNvSpPr txBox="1"/>
          <p:nvPr/>
        </p:nvSpPr>
        <p:spPr>
          <a:xfrm>
            <a:off x="3346704" y="3108960"/>
            <a:ext cx="1280160" cy="384048"/>
          </a:xfrm>
          <a:prstGeom prst="roundRect">
            <a:avLst>
              <a:gd name="adj" fmla="val 50000"/>
            </a:avLst>
          </a:prstGeom>
          <a:solidFill>
            <a:schemeClr val="accent1"/>
          </a:solidFill>
          <a:ln w="15875">
            <a:solidFill>
              <a:schemeClr val="accent1"/>
            </a:solidFill>
          </a:ln>
        </p:spPr>
        <p:txBody>
          <a:bodyPr wrap="square" lIns="0" tIns="0" rIns="0" bIns="0" rtlCol="0" anchor="ctr"/>
          <a:lstStyle/>
          <a:p>
            <a:pPr algn="ctr" indent="0" marL="0">
              <a:buNone/>
            </a:pPr>
            <a:r>
              <a:rPr lang="en-US" sz="1400" b="1" dirty="0">
                <a:solidFill>
                  <a:schemeClr val="bg1"/>
                </a:solidFill>
              </a:rPr>
              <a:t>3 Aufstieg</a:t>
            </a:r>
            <a:endParaRPr lang="en-US" sz="1400" dirty="0"/>
          </a:p>
        </p:txBody>
      </p:sp>
      <p:sp>
        <p:nvSpPr>
          <p:cNvPr id="10" name="Linie"/>
          <p:cNvSpPr/>
          <p:nvPr/>
        </p:nvSpPr>
        <p:spPr>
          <a:xfrm>
            <a:off x="4636008" y="3300984"/>
            <a:ext cx="100584" cy="91"/>
          </a:xfrm>
          <a:prstGeom prst="line">
            <a:avLst/>
          </a:prstGeom>
          <a:noFill/>
          <a:ln w="19050">
            <a:solidFill>
              <a:schemeClr val="accent1"/>
            </a:solidFill>
            <a:prstDash val="solid"/>
          </a:ln>
        </p:spPr>
      </p:sp>
      <p:sp>
        <p:nvSpPr>
          <p:cNvPr id="11" name="Chip"/>
          <p:cNvSpPr txBox="1"/>
          <p:nvPr/>
        </p:nvSpPr>
        <p:spPr>
          <a:xfrm>
            <a:off x="4745736"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4 Ergebnis</a:t>
            </a:r>
            <a:endParaRPr lang="en-US" sz="1400" dirty="0"/>
          </a:p>
        </p:txBody>
      </p:sp>
      <p:sp>
        <p:nvSpPr>
          <p:cNvPr id="12" name="Erklaerung Aufstieg"/>
          <p:cNvSpPr/>
          <p:nvPr/>
        </p:nvSpPr>
        <p:spPr>
          <a:xfrm>
            <a:off x="548640" y="3749040"/>
            <a:ext cx="5486400" cy="1463040"/>
          </a:xfrm>
          <a:prstGeom prst="roundRect">
            <a:avLst>
              <a:gd name="adj" fmla="val 7500"/>
            </a:avLst>
          </a:prstGeom>
          <a:solidFill>
            <a:schemeClr val="bg2"/>
          </a:solidFill>
          <a:ln/>
        </p:spPr>
      </p:sp>
      <p:sp>
        <p:nvSpPr>
          <p:cNvPr id="13" name="Text 11"/>
          <p:cNvSpPr txBox="1"/>
          <p:nvPr/>
        </p:nvSpPr>
        <p:spPr>
          <a:xfrm>
            <a:off x="749808" y="3749040"/>
            <a:ext cx="5120640" cy="1463040"/>
          </a:xfrm>
          <a:prstGeom prst="rect">
            <a:avLst/>
          </a:prstGeom>
          <a:noFill/>
          <a:ln/>
        </p:spPr>
        <p:txBody>
          <a:bodyPr wrap="square" lIns="0" tIns="0" rIns="0" bIns="0" rtlCol="0" anchor="ctr"/>
          <a:lstStyle/>
          <a:p>
            <a:pPr indent="0" marL="0">
              <a:buNone/>
            </a:pPr>
            <a:r>
              <a:rPr lang="en-US" sz="1700" b="1" dirty="0">
                <a:solidFill>
                  <a:schemeClr val="accent2"/>
                </a:solidFill>
              </a:rPr>
              <a:t>Aufstieg: </a:t>
            </a:r>
            <a:pPr indent="0" marL="0">
              <a:buNone/>
            </a:pPr>
            <a:r>
              <a:rPr lang="en-US" sz="1700" dirty="0">
                <a:solidFill>
                  <a:schemeClr val="tx1"/>
                </a:solidFill>
              </a:rPr>
              <a:t>Der oberste Rahmen verschwindet, sein Ergebnis wird unten eingesetzt: fakultaet(1) = 1 · 1 = 1, dann fakultaet(2) = 2 · 1 = 2.</a:t>
            </a:r>
            <a:endParaRPr lang="en-US" sz="1700" dirty="0"/>
          </a:p>
        </p:txBody>
      </p:sp>
      <p:sp>
        <p:nvSpPr>
          <p:cNvPr id="14" name="Text 12"/>
          <p:cNvSpPr txBox="1"/>
          <p:nvPr/>
        </p:nvSpPr>
        <p:spPr>
          <a:xfrm>
            <a:off x="548640" y="5486400"/>
            <a:ext cx="5486400" cy="320040"/>
          </a:xfrm>
          <a:prstGeom prst="rect">
            <a:avLst/>
          </a:prstGeom>
          <a:noFill/>
          <a:ln/>
        </p:spPr>
        <p:txBody>
          <a:bodyPr wrap="square" lIns="0" tIns="0" rIns="0" bIns="0" rtlCol="0" anchor="t"/>
          <a:lstStyle/>
          <a:p>
            <a:pPr indent="0" marL="0">
              <a:buNone/>
            </a:pPr>
            <a:r>
              <a:rPr lang="en-US" sz="1400" i="1" dirty="0">
                <a:solidFill>
                  <a:schemeClr val="accent6"/>
                </a:solidFill>
              </a:rPr>
              <a:t>gold umrandet: die Zeile, die gerade ausgeführt wird</a:t>
            </a:r>
            <a:endParaRPr lang="en-US" sz="1400" dirty="0"/>
          </a:p>
        </p:txBody>
      </p:sp>
      <p:sp>
        <p:nvSpPr>
          <p:cNvPr id="15" name="Text 13"/>
          <p:cNvSpPr txBox="1"/>
          <p:nvPr/>
        </p:nvSpPr>
        <p:spPr>
          <a:xfrm>
            <a:off x="6583680" y="1325880"/>
            <a:ext cx="5029200" cy="365760"/>
          </a:xfrm>
          <a:prstGeom prst="rect">
            <a:avLst/>
          </a:prstGeom>
          <a:noFill/>
          <a:ln/>
        </p:spPr>
        <p:txBody>
          <a:bodyPr wrap="square" lIns="0" tIns="0" rIns="0" bIns="0" rtlCol="0" anchor="t"/>
          <a:lstStyle/>
          <a:p>
            <a:pPr indent="0" marL="0">
              <a:buNone/>
            </a:pPr>
            <a:r>
              <a:rPr lang="en-US" sz="1800" b="1" dirty="0">
                <a:solidFill>
                  <a:schemeClr val="accent1"/>
                </a:solidFill>
              </a:rPr>
              <a:t>Aufrufstapel (oben: aktiver Aufruf)</a:t>
            </a:r>
            <a:endParaRPr lang="en-US" sz="1800" dirty="0"/>
          </a:p>
        </p:txBody>
      </p:sp>
      <p:sp>
        <p:nvSpPr>
          <p:cNvPr id="16" name="Text 14"/>
          <p:cNvSpPr txBox="1"/>
          <p:nvPr/>
        </p:nvSpPr>
        <p:spPr>
          <a:xfrm>
            <a:off x="6583680" y="5394960"/>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0</a:t>
            </a:r>
            <a:endParaRPr lang="en-US" sz="1400" dirty="0"/>
          </a:p>
        </p:txBody>
      </p:sp>
      <p:sp>
        <p:nvSpPr>
          <p:cNvPr id="17" name="Rahmen Tiefe 0"/>
          <p:cNvSpPr/>
          <p:nvPr/>
        </p:nvSpPr>
        <p:spPr>
          <a:xfrm>
            <a:off x="7498080" y="5394960"/>
            <a:ext cx="4114800" cy="713232"/>
          </a:xfrm>
          <a:prstGeom prst="roundRect">
            <a:avLst>
              <a:gd name="adj" fmla="val 10256"/>
            </a:avLst>
          </a:prstGeom>
          <a:solidFill>
            <a:schemeClr val="bg1"/>
          </a:solidFill>
          <a:ln w="22225">
            <a:solidFill>
              <a:schemeClr val="accent1"/>
            </a:solidFill>
            <a:prstDash val="solid"/>
          </a:ln>
        </p:spPr>
      </p:sp>
      <p:sp>
        <p:nvSpPr>
          <p:cNvPr id="18" name="Text 16"/>
          <p:cNvSpPr txBox="1"/>
          <p:nvPr/>
        </p:nvSpPr>
        <p:spPr>
          <a:xfrm>
            <a:off x="7680960" y="5394960"/>
            <a:ext cx="3840480" cy="713232"/>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fakultaet(4)</a:t>
            </a:r>
            <a:endParaRPr lang="en-US" sz="1800" dirty="0"/>
          </a:p>
          <a:p>
            <a:pPr indent="0" marL="0">
              <a:buNone/>
            </a:pPr>
            <a:r>
              <a:rPr lang="en-US" sz="1400" dirty="0">
                <a:solidFill>
                  <a:schemeClr val="accent1"/>
                </a:solidFill>
              </a:rPr>
              <a:t>wartet auf 4 · fakultaet(3)</a:t>
            </a:r>
            <a:endParaRPr lang="en-US" sz="1800" dirty="0"/>
          </a:p>
        </p:txBody>
      </p:sp>
      <p:sp>
        <p:nvSpPr>
          <p:cNvPr id="19" name="Text 17"/>
          <p:cNvSpPr txBox="1"/>
          <p:nvPr/>
        </p:nvSpPr>
        <p:spPr>
          <a:xfrm>
            <a:off x="6583680" y="4553712"/>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1</a:t>
            </a:r>
            <a:endParaRPr lang="en-US" sz="1400" dirty="0"/>
          </a:p>
        </p:txBody>
      </p:sp>
      <p:sp>
        <p:nvSpPr>
          <p:cNvPr id="20" name="Rahmen Tiefe 1"/>
          <p:cNvSpPr/>
          <p:nvPr/>
        </p:nvSpPr>
        <p:spPr>
          <a:xfrm>
            <a:off x="7498080" y="4553712"/>
            <a:ext cx="4114800" cy="713232"/>
          </a:xfrm>
          <a:prstGeom prst="roundRect">
            <a:avLst>
              <a:gd name="adj" fmla="val 10256"/>
            </a:avLst>
          </a:prstGeom>
          <a:solidFill>
            <a:schemeClr val="bg1"/>
          </a:solidFill>
          <a:ln w="22225">
            <a:solidFill>
              <a:schemeClr val="accent1"/>
            </a:solidFill>
            <a:prstDash val="solid"/>
          </a:ln>
        </p:spPr>
      </p:sp>
      <p:sp>
        <p:nvSpPr>
          <p:cNvPr id="21" name="Text 19"/>
          <p:cNvSpPr txBox="1"/>
          <p:nvPr/>
        </p:nvSpPr>
        <p:spPr>
          <a:xfrm>
            <a:off x="7680960" y="4553712"/>
            <a:ext cx="3840480" cy="713232"/>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fakultaet(3)</a:t>
            </a:r>
            <a:endParaRPr lang="en-US" sz="1800" dirty="0"/>
          </a:p>
          <a:p>
            <a:pPr indent="0" marL="0">
              <a:buNone/>
            </a:pPr>
            <a:r>
              <a:rPr lang="en-US" sz="1400" dirty="0">
                <a:solidFill>
                  <a:schemeClr val="accent1"/>
                </a:solidFill>
              </a:rPr>
              <a:t>wartet auf 3 · fakultaet(2)</a:t>
            </a:r>
            <a:endParaRPr lang="en-US" sz="1800" dirty="0"/>
          </a:p>
        </p:txBody>
      </p:sp>
      <p:sp>
        <p:nvSpPr>
          <p:cNvPr id="22" name="Text 20"/>
          <p:cNvSpPr txBox="1"/>
          <p:nvPr/>
        </p:nvSpPr>
        <p:spPr>
          <a:xfrm>
            <a:off x="6583680" y="3712464"/>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2</a:t>
            </a:r>
            <a:endParaRPr lang="en-US" sz="1400" dirty="0"/>
          </a:p>
        </p:txBody>
      </p:sp>
      <p:sp>
        <p:nvSpPr>
          <p:cNvPr id="23" name="Rahmen Tiefe 2"/>
          <p:cNvSpPr/>
          <p:nvPr/>
        </p:nvSpPr>
        <p:spPr>
          <a:xfrm>
            <a:off x="7498080" y="3712464"/>
            <a:ext cx="4114800" cy="713232"/>
          </a:xfrm>
          <a:prstGeom prst="roundRect">
            <a:avLst>
              <a:gd name="adj" fmla="val 10256"/>
            </a:avLst>
          </a:prstGeom>
          <a:solidFill>
            <a:schemeClr val="accent1"/>
          </a:solidFill>
          <a:ln w="15875">
            <a:solidFill>
              <a:schemeClr val="accent1"/>
            </a:solidFill>
            <a:prstDash val="solid"/>
          </a:ln>
        </p:spPr>
      </p:sp>
      <p:sp>
        <p:nvSpPr>
          <p:cNvPr id="24" name="Text 22"/>
          <p:cNvSpPr txBox="1"/>
          <p:nvPr/>
        </p:nvSpPr>
        <p:spPr>
          <a:xfrm>
            <a:off x="7680960" y="3712464"/>
            <a:ext cx="3840480" cy="713232"/>
          </a:xfrm>
          <a:prstGeom prst="rect">
            <a:avLst/>
          </a:prstGeom>
          <a:noFill/>
          <a:ln/>
        </p:spPr>
        <p:txBody>
          <a:bodyPr wrap="square" lIns="0" tIns="0" rIns="0" bIns="0" rtlCol="0" anchor="ctr"/>
          <a:lstStyle/>
          <a:p>
            <a:pPr indent="0" marL="0">
              <a:buNone/>
            </a:pPr>
            <a:r>
              <a:rPr lang="en-US" sz="1500" b="1" dirty="0">
                <a:solidFill>
                  <a:schemeClr val="bg1"/>
                </a:solidFill>
                <a:latin typeface="Consolas" pitchFamily="34" charset="0"/>
                <a:ea typeface="Consolas" pitchFamily="34" charset="-122"/>
                <a:cs typeface="Consolas" pitchFamily="34" charset="-120"/>
              </a:rPr>
              <a:t>fakultaet(2)</a:t>
            </a:r>
            <a:endParaRPr lang="en-US" sz="1800" dirty="0"/>
          </a:p>
          <a:p>
            <a:pPr indent="0" marL="0">
              <a:buNone/>
            </a:pPr>
            <a:r>
              <a:rPr lang="en-US" sz="1400" dirty="0">
                <a:solidFill>
                  <a:schemeClr val="bg1"/>
                </a:solidFill>
              </a:rPr>
              <a:t>2 · 1 = 2  →  gib 2 zurück</a:t>
            </a:r>
            <a:endParaRPr lang="en-US" sz="1800" dirty="0"/>
          </a:p>
        </p:txBody>
      </p:sp>
      <p:sp>
        <p:nvSpPr>
          <p:cNvPr id="25" name="Text 23"/>
          <p:cNvSpPr txBox="1"/>
          <p:nvPr/>
        </p:nvSpPr>
        <p:spPr>
          <a:xfrm>
            <a:off x="6583680" y="2871216"/>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3</a:t>
            </a:r>
            <a:endParaRPr lang="en-US" sz="1400" dirty="0"/>
          </a:p>
        </p:txBody>
      </p:sp>
      <p:sp>
        <p:nvSpPr>
          <p:cNvPr id="26" name="Rahmen Tiefe 3"/>
          <p:cNvSpPr/>
          <p:nvPr/>
        </p:nvSpPr>
        <p:spPr>
          <a:xfrm>
            <a:off x="7498080" y="2871216"/>
            <a:ext cx="4114800" cy="713232"/>
          </a:xfrm>
          <a:prstGeom prst="roundRect">
            <a:avLst>
              <a:gd name="adj" fmla="val 10256"/>
            </a:avLst>
          </a:prstGeom>
          <a:solidFill>
            <a:schemeClr val="accent5"/>
          </a:solidFill>
          <a:ln w="15875">
            <a:solidFill>
              <a:srgbClr val="A6A6A6"/>
            </a:solidFill>
            <a:prstDash val="dash"/>
          </a:ln>
        </p:spPr>
      </p:sp>
      <p:sp>
        <p:nvSpPr>
          <p:cNvPr id="27" name="Text 25"/>
          <p:cNvSpPr txBox="1"/>
          <p:nvPr/>
        </p:nvSpPr>
        <p:spPr>
          <a:xfrm>
            <a:off x="7680960" y="2871216"/>
            <a:ext cx="3840480" cy="713232"/>
          </a:xfrm>
          <a:prstGeom prst="rect">
            <a:avLst/>
          </a:prstGeom>
          <a:noFill/>
          <a:ln/>
        </p:spPr>
        <p:txBody>
          <a:bodyPr wrap="square" lIns="0" tIns="0" rIns="0" bIns="0" rtlCol="0" anchor="ctr"/>
          <a:lstStyle/>
          <a:p>
            <a:pPr indent="0" marL="0">
              <a:buNone/>
            </a:pPr>
            <a:r>
              <a:rPr lang="en-US" sz="1500" b="1" dirty="0">
                <a:solidFill>
                  <a:srgbClr val="7F7F7F"/>
                </a:solidFill>
                <a:latin typeface="Consolas" pitchFamily="34" charset="0"/>
                <a:ea typeface="Consolas" pitchFamily="34" charset="-122"/>
                <a:cs typeface="Consolas" pitchFamily="34" charset="-120"/>
              </a:rPr>
              <a:t>fakultaet(1)</a:t>
            </a:r>
            <a:endParaRPr lang="en-US" sz="1800" dirty="0"/>
          </a:p>
          <a:p>
            <a:pPr indent="0" marL="0">
              <a:buNone/>
            </a:pPr>
            <a:r>
              <a:rPr lang="en-US" sz="1400" dirty="0">
                <a:solidFill>
                  <a:srgbClr val="7F7F7F"/>
                </a:solidFill>
              </a:rPr>
              <a:t>beendet: lieferte 1 · 1 = 1</a:t>
            </a:r>
            <a:endParaRPr lang="en-US" sz="1800" dirty="0"/>
          </a:p>
        </p:txBody>
      </p:sp>
      <p:sp>
        <p:nvSpPr>
          <p:cNvPr id="28" name="Text 26"/>
          <p:cNvSpPr txBox="1"/>
          <p:nvPr/>
        </p:nvSpPr>
        <p:spPr>
          <a:xfrm>
            <a:off x="6583680" y="2029968"/>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4</a:t>
            </a:r>
            <a:endParaRPr lang="en-US" sz="1400" dirty="0"/>
          </a:p>
        </p:txBody>
      </p:sp>
      <p:sp>
        <p:nvSpPr>
          <p:cNvPr id="29" name="Rahmen Tiefe 4"/>
          <p:cNvSpPr/>
          <p:nvPr/>
        </p:nvSpPr>
        <p:spPr>
          <a:xfrm>
            <a:off x="7498080" y="2029968"/>
            <a:ext cx="4114800" cy="713232"/>
          </a:xfrm>
          <a:prstGeom prst="roundRect">
            <a:avLst>
              <a:gd name="adj" fmla="val 10256"/>
            </a:avLst>
          </a:prstGeom>
          <a:solidFill>
            <a:schemeClr val="accent5"/>
          </a:solidFill>
          <a:ln w="15875">
            <a:solidFill>
              <a:srgbClr val="A6A6A6"/>
            </a:solidFill>
            <a:prstDash val="dash"/>
          </a:ln>
        </p:spPr>
      </p:sp>
      <p:sp>
        <p:nvSpPr>
          <p:cNvPr id="30" name="Text 28"/>
          <p:cNvSpPr txBox="1"/>
          <p:nvPr/>
        </p:nvSpPr>
        <p:spPr>
          <a:xfrm>
            <a:off x="7680960" y="2029968"/>
            <a:ext cx="3840480" cy="713232"/>
          </a:xfrm>
          <a:prstGeom prst="rect">
            <a:avLst/>
          </a:prstGeom>
          <a:noFill/>
          <a:ln/>
        </p:spPr>
        <p:txBody>
          <a:bodyPr wrap="square" lIns="0" tIns="0" rIns="0" bIns="0" rtlCol="0" anchor="ctr"/>
          <a:lstStyle/>
          <a:p>
            <a:pPr indent="0" marL="0">
              <a:buNone/>
            </a:pPr>
            <a:r>
              <a:rPr lang="en-US" sz="1500" b="1" dirty="0">
                <a:solidFill>
                  <a:srgbClr val="7F7F7F"/>
                </a:solidFill>
                <a:latin typeface="Consolas" pitchFamily="34" charset="0"/>
                <a:ea typeface="Consolas" pitchFamily="34" charset="-122"/>
                <a:cs typeface="Consolas" pitchFamily="34" charset="-120"/>
              </a:rPr>
              <a:t>fakultaet(0)</a:t>
            </a:r>
            <a:endParaRPr lang="en-US" sz="1800" dirty="0"/>
          </a:p>
          <a:p>
            <a:pPr indent="0" marL="0">
              <a:buNone/>
            </a:pPr>
            <a:r>
              <a:rPr lang="en-US" sz="1400" dirty="0">
                <a:solidFill>
                  <a:srgbClr val="7F7F7F"/>
                </a:solidFill>
              </a:rPr>
              <a:t>beendet: lieferte 1</a:t>
            </a:r>
            <a:endParaRPr lang="en-US" sz="1800" dirty="0"/>
          </a:p>
        </p:txBody>
      </p:sp>
      <p:sp>
        <p:nvSpPr>
          <p:cNvPr id="31" name="Text 29"/>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Rekursion · 3/4</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Der Aufrufstapel: fakultaet(4)</a:t>
            </a:r>
            <a:endParaRPr lang="en-US" sz="3600" dirty="0"/>
          </a:p>
        </p:txBody>
      </p:sp>
      <p:sp>
        <p:nvSpPr>
          <p:cNvPr id="3" name="Code"/>
          <p:cNvSpPr txBox="1"/>
          <p:nvPr/>
        </p:nvSpPr>
        <p:spPr>
          <a:xfrm>
            <a:off x="548640" y="1325880"/>
            <a:ext cx="5486400" cy="1520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fakultaet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0)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1;                 </a:t>
            </a:r>
            <a:pPr algn="l" indent="0" marL="0">
              <a:lnSpc>
                <a:spcPts val="1600"/>
              </a:lnSpc>
              <a:buNone/>
            </a:pPr>
            <a:r>
              <a:rPr lang="en-US" sz="1250" i="1" dirty="0">
                <a:solidFill>
                  <a:schemeClr val="accent3"/>
                </a:solidFill>
                <a:latin typeface="Consolas" pitchFamily="34" charset="0"/>
                <a:ea typeface="Consolas" pitchFamily="34" charset="-122"/>
                <a:cs typeface="Consolas" pitchFamily="34" charset="-120"/>
              </a:rPr>
              <a:t>// Basisfall</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fakultaet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 - 1);  </a:t>
            </a:r>
            <a:pPr algn="l" indent="0" marL="0">
              <a:lnSpc>
                <a:spcPts val="1600"/>
              </a:lnSpc>
              <a:buNone/>
            </a:pPr>
            <a:r>
              <a:rPr lang="en-US" sz="1250" i="1" dirty="0">
                <a:solidFill>
                  <a:schemeClr val="accent3"/>
                </a:solidFill>
                <a:latin typeface="Consolas" pitchFamily="34" charset="0"/>
                <a:ea typeface="Consolas" pitchFamily="34" charset="-122"/>
                <a:cs typeface="Consolas" pitchFamily="34" charset="-120"/>
              </a:rPr>
              <a:t>// Rekursionsschritt</a:t>
            </a:r>
            <a:endParaRPr lang="en-US" sz="1250" dirty="0"/>
          </a:p>
          <a:p>
            <a:pPr algn="l" indent="0" marL="0">
              <a:lnSpc>
                <a:spcPts val="1600"/>
              </a:lnSpc>
              <a:buNone/>
            </a:pPr>
            <a:r>
              <a:rPr lang="en-US" sz="1250" dirty="0">
                <a:solidFill>
                  <a:schemeClr val="tx1"/>
                </a:solidFill>
                <a:latin typeface="Consolas" pitchFamily="34" charset="0"/>
                <a:ea typeface="Consolas" pitchFamily="34" charset="-122"/>
                <a:cs typeface="Consolas" pitchFamily="34" charset="-120"/>
              </a:rPr>
              <a:t>}</a:t>
            </a:r>
            <a:endParaRPr lang="en-US" sz="1250" dirty="0"/>
          </a:p>
        </p:txBody>
      </p:sp>
      <p:sp>
        <p:nvSpPr>
          <p:cNvPr id="4" name="aktive Zeile"/>
          <p:cNvSpPr/>
          <p:nvPr/>
        </p:nvSpPr>
        <p:spPr>
          <a:xfrm>
            <a:off x="594360" y="2266696"/>
            <a:ext cx="5394960" cy="203200"/>
          </a:xfrm>
          <a:prstGeom prst="rect">
            <a:avLst/>
          </a:prstGeom>
          <a:ln w="34925">
            <a:solidFill>
              <a:schemeClr val="accent2"/>
            </a:solidFill>
            <a:prstDash val="solid"/>
          </a:ln>
        </p:spPr>
      </p:sp>
      <p:sp>
        <p:nvSpPr>
          <p:cNvPr id="5" name="Chip"/>
          <p:cNvSpPr txBox="1"/>
          <p:nvPr/>
        </p:nvSpPr>
        <p:spPr>
          <a:xfrm>
            <a:off x="548640"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1 Abstieg</a:t>
            </a:r>
            <a:endParaRPr lang="en-US" sz="1400" dirty="0"/>
          </a:p>
        </p:txBody>
      </p:sp>
      <p:sp>
        <p:nvSpPr>
          <p:cNvPr id="6" name="Linie"/>
          <p:cNvSpPr/>
          <p:nvPr/>
        </p:nvSpPr>
        <p:spPr>
          <a:xfrm>
            <a:off x="1837944" y="3300984"/>
            <a:ext cx="100584" cy="91"/>
          </a:xfrm>
          <a:prstGeom prst="line">
            <a:avLst/>
          </a:prstGeom>
          <a:noFill/>
          <a:ln w="19050">
            <a:solidFill>
              <a:schemeClr val="accent1"/>
            </a:solidFill>
            <a:prstDash val="solid"/>
          </a:ln>
        </p:spPr>
      </p:sp>
      <p:sp>
        <p:nvSpPr>
          <p:cNvPr id="7" name="Chip"/>
          <p:cNvSpPr txBox="1"/>
          <p:nvPr/>
        </p:nvSpPr>
        <p:spPr>
          <a:xfrm>
            <a:off x="1947672"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2 Basisfall</a:t>
            </a:r>
            <a:endParaRPr lang="en-US" sz="1400" dirty="0"/>
          </a:p>
        </p:txBody>
      </p:sp>
      <p:sp>
        <p:nvSpPr>
          <p:cNvPr id="8" name="Linie"/>
          <p:cNvSpPr/>
          <p:nvPr/>
        </p:nvSpPr>
        <p:spPr>
          <a:xfrm>
            <a:off x="3236976" y="3300984"/>
            <a:ext cx="100584" cy="91"/>
          </a:xfrm>
          <a:prstGeom prst="line">
            <a:avLst/>
          </a:prstGeom>
          <a:noFill/>
          <a:ln w="19050">
            <a:solidFill>
              <a:schemeClr val="accent1"/>
            </a:solidFill>
            <a:prstDash val="solid"/>
          </a:ln>
        </p:spPr>
      </p:sp>
      <p:sp>
        <p:nvSpPr>
          <p:cNvPr id="9" name="Chip"/>
          <p:cNvSpPr txBox="1"/>
          <p:nvPr/>
        </p:nvSpPr>
        <p:spPr>
          <a:xfrm>
            <a:off x="3346704" y="3108960"/>
            <a:ext cx="1280160" cy="384048"/>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3 Aufstieg</a:t>
            </a:r>
            <a:endParaRPr lang="en-US" sz="1400" dirty="0"/>
          </a:p>
        </p:txBody>
      </p:sp>
      <p:sp>
        <p:nvSpPr>
          <p:cNvPr id="10" name="Linie"/>
          <p:cNvSpPr/>
          <p:nvPr/>
        </p:nvSpPr>
        <p:spPr>
          <a:xfrm>
            <a:off x="4636008" y="3300984"/>
            <a:ext cx="100584" cy="91"/>
          </a:xfrm>
          <a:prstGeom prst="line">
            <a:avLst/>
          </a:prstGeom>
          <a:noFill/>
          <a:ln w="19050">
            <a:solidFill>
              <a:schemeClr val="accent1"/>
            </a:solidFill>
            <a:prstDash val="solid"/>
          </a:ln>
        </p:spPr>
      </p:sp>
      <p:sp>
        <p:nvSpPr>
          <p:cNvPr id="11" name="Chip"/>
          <p:cNvSpPr txBox="1"/>
          <p:nvPr/>
        </p:nvSpPr>
        <p:spPr>
          <a:xfrm>
            <a:off x="4745736" y="3108960"/>
            <a:ext cx="1280160" cy="384048"/>
          </a:xfrm>
          <a:prstGeom prst="roundRect">
            <a:avLst>
              <a:gd name="adj" fmla="val 50000"/>
            </a:avLst>
          </a:prstGeom>
          <a:solidFill>
            <a:schemeClr val="accent1"/>
          </a:solidFill>
          <a:ln w="15875">
            <a:solidFill>
              <a:schemeClr val="accent1"/>
            </a:solidFill>
          </a:ln>
        </p:spPr>
        <p:txBody>
          <a:bodyPr wrap="square" lIns="0" tIns="0" rIns="0" bIns="0" rtlCol="0" anchor="ctr"/>
          <a:lstStyle/>
          <a:p>
            <a:pPr algn="ctr" indent="0" marL="0">
              <a:buNone/>
            </a:pPr>
            <a:r>
              <a:rPr lang="en-US" sz="1400" b="1" dirty="0">
                <a:solidFill>
                  <a:schemeClr val="bg1"/>
                </a:solidFill>
              </a:rPr>
              <a:t>4 Ergebnis</a:t>
            </a:r>
            <a:endParaRPr lang="en-US" sz="1400" dirty="0"/>
          </a:p>
        </p:txBody>
      </p:sp>
      <p:sp>
        <p:nvSpPr>
          <p:cNvPr id="12" name="Erklaerung Ergebnis"/>
          <p:cNvSpPr/>
          <p:nvPr/>
        </p:nvSpPr>
        <p:spPr>
          <a:xfrm>
            <a:off x="548640" y="3749040"/>
            <a:ext cx="5486400" cy="1463040"/>
          </a:xfrm>
          <a:prstGeom prst="roundRect">
            <a:avLst>
              <a:gd name="adj" fmla="val 7500"/>
            </a:avLst>
          </a:prstGeom>
          <a:solidFill>
            <a:schemeClr val="bg2"/>
          </a:solidFill>
          <a:ln/>
        </p:spPr>
      </p:sp>
      <p:sp>
        <p:nvSpPr>
          <p:cNvPr id="13" name="Text 11"/>
          <p:cNvSpPr txBox="1"/>
          <p:nvPr/>
        </p:nvSpPr>
        <p:spPr>
          <a:xfrm>
            <a:off x="749808" y="3749040"/>
            <a:ext cx="5120640" cy="1463040"/>
          </a:xfrm>
          <a:prstGeom prst="rect">
            <a:avLst/>
          </a:prstGeom>
          <a:noFill/>
          <a:ln/>
        </p:spPr>
        <p:txBody>
          <a:bodyPr wrap="square" lIns="0" tIns="0" rIns="0" bIns="0" rtlCol="0" anchor="ctr"/>
          <a:lstStyle/>
          <a:p>
            <a:pPr indent="0" marL="0">
              <a:buNone/>
            </a:pPr>
            <a:r>
              <a:rPr lang="en-US" sz="1700" b="1" dirty="0">
                <a:solidFill>
                  <a:schemeClr val="accent1"/>
                </a:solidFill>
              </a:rPr>
              <a:t>Ergebnis: </a:t>
            </a:r>
            <a:pPr indent="0" marL="0">
              <a:buNone/>
            </a:pPr>
            <a:r>
              <a:rPr lang="en-US" sz="1700" dirty="0">
                <a:solidFill>
                  <a:schemeClr val="tx1"/>
                </a:solidFill>
              </a:rPr>
              <a:t>fakultaet(3) = 3 · 2 = 6, fakultaet(4) = 4 · 6 = 24. Insgesamt 5 Aufrufe, größte Rekursionstiefe 4.</a:t>
            </a:r>
            <a:endParaRPr lang="en-US" sz="1700" dirty="0"/>
          </a:p>
        </p:txBody>
      </p:sp>
      <p:sp>
        <p:nvSpPr>
          <p:cNvPr id="14" name="Chip"/>
          <p:cNvSpPr txBox="1"/>
          <p:nvPr/>
        </p:nvSpPr>
        <p:spPr>
          <a:xfrm>
            <a:off x="548640" y="5440680"/>
            <a:ext cx="5486400" cy="502920"/>
          </a:xfrm>
          <a:prstGeom prst="roundRect">
            <a:avLst>
              <a:gd name="adj" fmla="val 50000"/>
            </a:avLst>
          </a:prstGeom>
          <a:solidFill>
            <a:schemeClr val="accent2"/>
          </a:solidFill>
          <a:ln/>
        </p:spPr>
        <p:txBody>
          <a:bodyPr wrap="square" lIns="0" tIns="0" rIns="0" bIns="0" rtlCol="0" anchor="ctr"/>
          <a:lstStyle/>
          <a:p>
            <a:pPr algn="ctr" indent="0" marL="0">
              <a:buNone/>
            </a:pPr>
            <a:r>
              <a:rPr lang="en-US" sz="1700" b="1" dirty="0">
                <a:solidFill>
                  <a:schemeClr val="bg1"/>
                </a:solidFill>
              </a:rPr>
              <a:t>fakultaet(4) = 24 · 5 Aufrufe · größte Tiefe 4</a:t>
            </a:r>
            <a:endParaRPr lang="en-US" sz="1700" dirty="0"/>
          </a:p>
        </p:txBody>
      </p:sp>
      <p:sp>
        <p:nvSpPr>
          <p:cNvPr id="15" name="Text 13"/>
          <p:cNvSpPr txBox="1"/>
          <p:nvPr/>
        </p:nvSpPr>
        <p:spPr>
          <a:xfrm>
            <a:off x="6583680" y="1325880"/>
            <a:ext cx="5029200" cy="365760"/>
          </a:xfrm>
          <a:prstGeom prst="rect">
            <a:avLst/>
          </a:prstGeom>
          <a:noFill/>
          <a:ln/>
        </p:spPr>
        <p:txBody>
          <a:bodyPr wrap="square" lIns="0" tIns="0" rIns="0" bIns="0" rtlCol="0" anchor="t"/>
          <a:lstStyle/>
          <a:p>
            <a:pPr indent="0" marL="0">
              <a:buNone/>
            </a:pPr>
            <a:r>
              <a:rPr lang="en-US" sz="1800" b="1" dirty="0">
                <a:solidFill>
                  <a:schemeClr val="accent1"/>
                </a:solidFill>
              </a:rPr>
              <a:t>Aufrufstapel (oben: aktiver Aufruf)</a:t>
            </a:r>
            <a:endParaRPr lang="en-US" sz="1800" dirty="0"/>
          </a:p>
        </p:txBody>
      </p:sp>
      <p:sp>
        <p:nvSpPr>
          <p:cNvPr id="16" name="Text 14"/>
          <p:cNvSpPr txBox="1"/>
          <p:nvPr/>
        </p:nvSpPr>
        <p:spPr>
          <a:xfrm>
            <a:off x="6583680" y="5394960"/>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0</a:t>
            </a:r>
            <a:endParaRPr lang="en-US" sz="1400" dirty="0"/>
          </a:p>
        </p:txBody>
      </p:sp>
      <p:sp>
        <p:nvSpPr>
          <p:cNvPr id="17" name="Rahmen Tiefe 0"/>
          <p:cNvSpPr/>
          <p:nvPr/>
        </p:nvSpPr>
        <p:spPr>
          <a:xfrm>
            <a:off x="7498080" y="5394960"/>
            <a:ext cx="4114800" cy="713232"/>
          </a:xfrm>
          <a:prstGeom prst="roundRect">
            <a:avLst>
              <a:gd name="adj" fmla="val 10256"/>
            </a:avLst>
          </a:prstGeom>
          <a:solidFill>
            <a:schemeClr val="accent2"/>
          </a:solidFill>
          <a:ln w="15875">
            <a:solidFill>
              <a:schemeClr val="accent2"/>
            </a:solidFill>
            <a:prstDash val="solid"/>
          </a:ln>
        </p:spPr>
      </p:sp>
      <p:sp>
        <p:nvSpPr>
          <p:cNvPr id="18" name="Text 16"/>
          <p:cNvSpPr txBox="1"/>
          <p:nvPr/>
        </p:nvSpPr>
        <p:spPr>
          <a:xfrm>
            <a:off x="7680960" y="5394960"/>
            <a:ext cx="3840480" cy="713232"/>
          </a:xfrm>
          <a:prstGeom prst="rect">
            <a:avLst/>
          </a:prstGeom>
          <a:noFill/>
          <a:ln/>
        </p:spPr>
        <p:txBody>
          <a:bodyPr wrap="square" lIns="0" tIns="0" rIns="0" bIns="0" rtlCol="0" anchor="ctr"/>
          <a:lstStyle/>
          <a:p>
            <a:pPr indent="0" marL="0">
              <a:buNone/>
            </a:pPr>
            <a:r>
              <a:rPr lang="en-US" sz="1500" b="1" dirty="0">
                <a:solidFill>
                  <a:schemeClr val="bg1"/>
                </a:solidFill>
                <a:latin typeface="Consolas" pitchFamily="34" charset="0"/>
                <a:ea typeface="Consolas" pitchFamily="34" charset="-122"/>
                <a:cs typeface="Consolas" pitchFamily="34" charset="-120"/>
              </a:rPr>
              <a:t>fakultaet(4)</a:t>
            </a:r>
            <a:endParaRPr lang="en-US" sz="1800" dirty="0"/>
          </a:p>
          <a:p>
            <a:pPr indent="0" marL="0">
              <a:buNone/>
            </a:pPr>
            <a:r>
              <a:rPr lang="en-US" sz="1400" dirty="0">
                <a:solidFill>
                  <a:schemeClr val="bg1"/>
                </a:solidFill>
              </a:rPr>
              <a:t>4 · 6 = 24  →  gib 24 zurück</a:t>
            </a:r>
            <a:endParaRPr lang="en-US" sz="1800" dirty="0"/>
          </a:p>
        </p:txBody>
      </p:sp>
      <p:sp>
        <p:nvSpPr>
          <p:cNvPr id="19" name="Text 17"/>
          <p:cNvSpPr txBox="1"/>
          <p:nvPr/>
        </p:nvSpPr>
        <p:spPr>
          <a:xfrm>
            <a:off x="6583680" y="4553712"/>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1</a:t>
            </a:r>
            <a:endParaRPr lang="en-US" sz="1400" dirty="0"/>
          </a:p>
        </p:txBody>
      </p:sp>
      <p:sp>
        <p:nvSpPr>
          <p:cNvPr id="20" name="Rahmen Tiefe 1"/>
          <p:cNvSpPr/>
          <p:nvPr/>
        </p:nvSpPr>
        <p:spPr>
          <a:xfrm>
            <a:off x="7498080" y="4553712"/>
            <a:ext cx="4114800" cy="713232"/>
          </a:xfrm>
          <a:prstGeom prst="roundRect">
            <a:avLst>
              <a:gd name="adj" fmla="val 10256"/>
            </a:avLst>
          </a:prstGeom>
          <a:solidFill>
            <a:schemeClr val="accent5"/>
          </a:solidFill>
          <a:ln w="15875">
            <a:solidFill>
              <a:srgbClr val="A6A6A6"/>
            </a:solidFill>
            <a:prstDash val="dash"/>
          </a:ln>
        </p:spPr>
      </p:sp>
      <p:sp>
        <p:nvSpPr>
          <p:cNvPr id="21" name="Text 19"/>
          <p:cNvSpPr txBox="1"/>
          <p:nvPr/>
        </p:nvSpPr>
        <p:spPr>
          <a:xfrm>
            <a:off x="7680960" y="4553712"/>
            <a:ext cx="3840480" cy="713232"/>
          </a:xfrm>
          <a:prstGeom prst="rect">
            <a:avLst/>
          </a:prstGeom>
          <a:noFill/>
          <a:ln/>
        </p:spPr>
        <p:txBody>
          <a:bodyPr wrap="square" lIns="0" tIns="0" rIns="0" bIns="0" rtlCol="0" anchor="ctr"/>
          <a:lstStyle/>
          <a:p>
            <a:pPr indent="0" marL="0">
              <a:buNone/>
            </a:pPr>
            <a:r>
              <a:rPr lang="en-US" sz="1500" b="1" dirty="0">
                <a:solidFill>
                  <a:srgbClr val="7F7F7F"/>
                </a:solidFill>
                <a:latin typeface="Consolas" pitchFamily="34" charset="0"/>
                <a:ea typeface="Consolas" pitchFamily="34" charset="-122"/>
                <a:cs typeface="Consolas" pitchFamily="34" charset="-120"/>
              </a:rPr>
              <a:t>fakultaet(3)</a:t>
            </a:r>
            <a:endParaRPr lang="en-US" sz="1800" dirty="0"/>
          </a:p>
          <a:p>
            <a:pPr indent="0" marL="0">
              <a:buNone/>
            </a:pPr>
            <a:r>
              <a:rPr lang="en-US" sz="1400" dirty="0">
                <a:solidFill>
                  <a:srgbClr val="7F7F7F"/>
                </a:solidFill>
              </a:rPr>
              <a:t>beendet: lieferte 3 · 2 = 6</a:t>
            </a:r>
            <a:endParaRPr lang="en-US" sz="1800" dirty="0"/>
          </a:p>
        </p:txBody>
      </p:sp>
      <p:sp>
        <p:nvSpPr>
          <p:cNvPr id="22" name="Text 20"/>
          <p:cNvSpPr txBox="1"/>
          <p:nvPr/>
        </p:nvSpPr>
        <p:spPr>
          <a:xfrm>
            <a:off x="6583680" y="3712464"/>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2</a:t>
            </a:r>
            <a:endParaRPr lang="en-US" sz="1400" dirty="0"/>
          </a:p>
        </p:txBody>
      </p:sp>
      <p:sp>
        <p:nvSpPr>
          <p:cNvPr id="23" name="Rahmen Tiefe 2"/>
          <p:cNvSpPr/>
          <p:nvPr/>
        </p:nvSpPr>
        <p:spPr>
          <a:xfrm>
            <a:off x="7498080" y="3712464"/>
            <a:ext cx="4114800" cy="713232"/>
          </a:xfrm>
          <a:prstGeom prst="roundRect">
            <a:avLst>
              <a:gd name="adj" fmla="val 10256"/>
            </a:avLst>
          </a:prstGeom>
          <a:solidFill>
            <a:schemeClr val="accent5"/>
          </a:solidFill>
          <a:ln w="15875">
            <a:solidFill>
              <a:srgbClr val="A6A6A6"/>
            </a:solidFill>
            <a:prstDash val="dash"/>
          </a:ln>
        </p:spPr>
      </p:sp>
      <p:sp>
        <p:nvSpPr>
          <p:cNvPr id="24" name="Text 22"/>
          <p:cNvSpPr txBox="1"/>
          <p:nvPr/>
        </p:nvSpPr>
        <p:spPr>
          <a:xfrm>
            <a:off x="7680960" y="3712464"/>
            <a:ext cx="3840480" cy="713232"/>
          </a:xfrm>
          <a:prstGeom prst="rect">
            <a:avLst/>
          </a:prstGeom>
          <a:noFill/>
          <a:ln/>
        </p:spPr>
        <p:txBody>
          <a:bodyPr wrap="square" lIns="0" tIns="0" rIns="0" bIns="0" rtlCol="0" anchor="ctr"/>
          <a:lstStyle/>
          <a:p>
            <a:pPr indent="0" marL="0">
              <a:buNone/>
            </a:pPr>
            <a:r>
              <a:rPr lang="en-US" sz="1500" b="1" dirty="0">
                <a:solidFill>
                  <a:srgbClr val="7F7F7F"/>
                </a:solidFill>
                <a:latin typeface="Consolas" pitchFamily="34" charset="0"/>
                <a:ea typeface="Consolas" pitchFamily="34" charset="-122"/>
                <a:cs typeface="Consolas" pitchFamily="34" charset="-120"/>
              </a:rPr>
              <a:t>fakultaet(2)</a:t>
            </a:r>
            <a:endParaRPr lang="en-US" sz="1800" dirty="0"/>
          </a:p>
          <a:p>
            <a:pPr indent="0" marL="0">
              <a:buNone/>
            </a:pPr>
            <a:r>
              <a:rPr lang="en-US" sz="1400" dirty="0">
                <a:solidFill>
                  <a:srgbClr val="7F7F7F"/>
                </a:solidFill>
              </a:rPr>
              <a:t>beendet: lieferte 2</a:t>
            </a:r>
            <a:endParaRPr lang="en-US" sz="1800" dirty="0"/>
          </a:p>
        </p:txBody>
      </p:sp>
      <p:sp>
        <p:nvSpPr>
          <p:cNvPr id="25" name="Text 23"/>
          <p:cNvSpPr txBox="1"/>
          <p:nvPr/>
        </p:nvSpPr>
        <p:spPr>
          <a:xfrm>
            <a:off x="6583680" y="2871216"/>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3</a:t>
            </a:r>
            <a:endParaRPr lang="en-US" sz="1400" dirty="0"/>
          </a:p>
        </p:txBody>
      </p:sp>
      <p:sp>
        <p:nvSpPr>
          <p:cNvPr id="26" name="Rahmen Tiefe 3"/>
          <p:cNvSpPr/>
          <p:nvPr/>
        </p:nvSpPr>
        <p:spPr>
          <a:xfrm>
            <a:off x="7498080" y="2871216"/>
            <a:ext cx="4114800" cy="713232"/>
          </a:xfrm>
          <a:prstGeom prst="roundRect">
            <a:avLst>
              <a:gd name="adj" fmla="val 10256"/>
            </a:avLst>
          </a:prstGeom>
          <a:solidFill>
            <a:schemeClr val="accent5"/>
          </a:solidFill>
          <a:ln w="15875">
            <a:solidFill>
              <a:srgbClr val="A6A6A6"/>
            </a:solidFill>
            <a:prstDash val="dash"/>
          </a:ln>
        </p:spPr>
      </p:sp>
      <p:sp>
        <p:nvSpPr>
          <p:cNvPr id="27" name="Text 25"/>
          <p:cNvSpPr txBox="1"/>
          <p:nvPr/>
        </p:nvSpPr>
        <p:spPr>
          <a:xfrm>
            <a:off x="7680960" y="2871216"/>
            <a:ext cx="3840480" cy="713232"/>
          </a:xfrm>
          <a:prstGeom prst="rect">
            <a:avLst/>
          </a:prstGeom>
          <a:noFill/>
          <a:ln/>
        </p:spPr>
        <p:txBody>
          <a:bodyPr wrap="square" lIns="0" tIns="0" rIns="0" bIns="0" rtlCol="0" anchor="ctr"/>
          <a:lstStyle/>
          <a:p>
            <a:pPr indent="0" marL="0">
              <a:buNone/>
            </a:pPr>
            <a:r>
              <a:rPr lang="en-US" sz="1500" b="1" dirty="0">
                <a:solidFill>
                  <a:srgbClr val="7F7F7F"/>
                </a:solidFill>
                <a:latin typeface="Consolas" pitchFamily="34" charset="0"/>
                <a:ea typeface="Consolas" pitchFamily="34" charset="-122"/>
                <a:cs typeface="Consolas" pitchFamily="34" charset="-120"/>
              </a:rPr>
              <a:t>fakultaet(1)</a:t>
            </a:r>
            <a:endParaRPr lang="en-US" sz="1800" dirty="0"/>
          </a:p>
          <a:p>
            <a:pPr indent="0" marL="0">
              <a:buNone/>
            </a:pPr>
            <a:r>
              <a:rPr lang="en-US" sz="1400" dirty="0">
                <a:solidFill>
                  <a:srgbClr val="7F7F7F"/>
                </a:solidFill>
              </a:rPr>
              <a:t>beendet: lieferte 1</a:t>
            </a:r>
            <a:endParaRPr lang="en-US" sz="1800" dirty="0"/>
          </a:p>
        </p:txBody>
      </p:sp>
      <p:sp>
        <p:nvSpPr>
          <p:cNvPr id="28" name="Text 26"/>
          <p:cNvSpPr txBox="1"/>
          <p:nvPr/>
        </p:nvSpPr>
        <p:spPr>
          <a:xfrm>
            <a:off x="6583680" y="2029968"/>
            <a:ext cx="868680" cy="713232"/>
          </a:xfrm>
          <a:prstGeom prst="rect">
            <a:avLst/>
          </a:prstGeom>
          <a:noFill/>
          <a:ln/>
        </p:spPr>
        <p:txBody>
          <a:bodyPr wrap="square" lIns="0" tIns="0" rIns="0" bIns="0" rtlCol="0" anchor="ctr"/>
          <a:lstStyle/>
          <a:p>
            <a:pPr indent="0" marL="0">
              <a:buNone/>
            </a:pPr>
            <a:r>
              <a:rPr lang="en-US" sz="1400" b="1" dirty="0">
                <a:solidFill>
                  <a:schemeClr val="accent6"/>
                </a:solidFill>
              </a:rPr>
              <a:t>Tiefe 4</a:t>
            </a:r>
            <a:endParaRPr lang="en-US" sz="1400" dirty="0"/>
          </a:p>
        </p:txBody>
      </p:sp>
      <p:sp>
        <p:nvSpPr>
          <p:cNvPr id="29" name="Rahmen Tiefe 4"/>
          <p:cNvSpPr/>
          <p:nvPr/>
        </p:nvSpPr>
        <p:spPr>
          <a:xfrm>
            <a:off x="7498080" y="2029968"/>
            <a:ext cx="4114800" cy="713232"/>
          </a:xfrm>
          <a:prstGeom prst="roundRect">
            <a:avLst>
              <a:gd name="adj" fmla="val 10256"/>
            </a:avLst>
          </a:prstGeom>
          <a:solidFill>
            <a:schemeClr val="accent5"/>
          </a:solidFill>
          <a:ln w="15875">
            <a:solidFill>
              <a:srgbClr val="A6A6A6"/>
            </a:solidFill>
            <a:prstDash val="dash"/>
          </a:ln>
        </p:spPr>
      </p:sp>
      <p:sp>
        <p:nvSpPr>
          <p:cNvPr id="30" name="Text 28"/>
          <p:cNvSpPr txBox="1"/>
          <p:nvPr/>
        </p:nvSpPr>
        <p:spPr>
          <a:xfrm>
            <a:off x="7680960" y="2029968"/>
            <a:ext cx="3840480" cy="713232"/>
          </a:xfrm>
          <a:prstGeom prst="rect">
            <a:avLst/>
          </a:prstGeom>
          <a:noFill/>
          <a:ln/>
        </p:spPr>
        <p:txBody>
          <a:bodyPr wrap="square" lIns="0" tIns="0" rIns="0" bIns="0" rtlCol="0" anchor="ctr"/>
          <a:lstStyle/>
          <a:p>
            <a:pPr indent="0" marL="0">
              <a:buNone/>
            </a:pPr>
            <a:r>
              <a:rPr lang="en-US" sz="1500" b="1" dirty="0">
                <a:solidFill>
                  <a:srgbClr val="7F7F7F"/>
                </a:solidFill>
                <a:latin typeface="Consolas" pitchFamily="34" charset="0"/>
                <a:ea typeface="Consolas" pitchFamily="34" charset="-122"/>
                <a:cs typeface="Consolas" pitchFamily="34" charset="-120"/>
              </a:rPr>
              <a:t>fakultaet(0)</a:t>
            </a:r>
            <a:endParaRPr lang="en-US" sz="1800" dirty="0"/>
          </a:p>
          <a:p>
            <a:pPr indent="0" marL="0">
              <a:buNone/>
            </a:pPr>
            <a:r>
              <a:rPr lang="en-US" sz="1400" dirty="0">
                <a:solidFill>
                  <a:srgbClr val="7F7F7F"/>
                </a:solidFill>
              </a:rPr>
              <a:t>beendet: lieferte 1</a:t>
            </a:r>
            <a:endParaRPr lang="en-US" sz="1800" dirty="0"/>
          </a:p>
        </p:txBody>
      </p:sp>
      <p:sp>
        <p:nvSpPr>
          <p:cNvPr id="31" name="Text 29"/>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Rekursion · 4/4</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Rekursionstabelle mit Rekursionstiefe</a:t>
            </a:r>
            <a:endParaRPr lang="en-US" sz="3600" dirty="0"/>
          </a:p>
        </p:txBody>
      </p:sp>
      <p:graphicFrame>
        <p:nvGraphicFramePr>
          <p:cNvPr id="10" name="Rekursionstabelle fakultaet"/>
          <p:cNvGraphicFramePr>
            <a:graphicFrameLocks noGrp="1"/>
          </p:cNvGraphicFramePr>
          <p:nvPr>
            <p:extLst>
              <p:ext uri="{D42A27DB-BD31-4B8C-83A1-F6EECF244321}">
                <p14:modId xmlns:p14="http://schemas.microsoft.com/office/powerpoint/2010/main" val="1579011935"/>
              </p:ext>
            </p:extLst>
          </p:nvPr>
        </p:nvGraphicFramePr>
        <p:xfrm>
          <a:off x="1325880" y="1371600"/>
          <a:ext cx="6035040" cy="914400"/>
        </p:xfrm>
        <a:graphic>
          <a:graphicData uri="http://schemas.openxmlformats.org/drawingml/2006/table">
            <a:tbl>
              <a:tblPr/>
              <a:tblGrid>
                <a:gridCol w="1645920"/>
                <a:gridCol w="1737360"/>
                <a:gridCol w="731520"/>
                <a:gridCol w="1920240"/>
              </a:tblGrid>
              <a:tr h="475488">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Rekursionstiefe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Aufruf</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Rückgabe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75488">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fakultaet(4)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4 · 6 = 24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fakultaet(3)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3 · 2 = 6</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fakultaet(2)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2 · 1 = 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fakultaet(1)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1 · 1 = 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fakultaet(0)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500" b="1" dirty="0">
                          <a:solidFill>
                            <a:schemeClr val="accent3"/>
                          </a:solidFill>
                          <a:latin typeface="Consolas" pitchFamily="34" charset="0"/>
                          <a:ea typeface="Consolas" pitchFamily="34" charset="-122"/>
                          <a:cs typeface="Consolas" pitchFamily="34" charset="-120"/>
                        </a:rPr>
                        <a:t>1  (Basisfall)</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r>
            </a:tbl>
          </a:graphicData>
        </a:graphic>
      </p:graphicFrame>
      <p:sp>
        <p:nvSpPr>
          <p:cNvPr id="4" name="Pfeil Abstieg"/>
          <p:cNvSpPr/>
          <p:nvPr/>
        </p:nvSpPr>
        <p:spPr>
          <a:xfrm>
            <a:off x="914400" y="1920240"/>
            <a:ext cx="91" cy="2240280"/>
          </a:xfrm>
          <a:prstGeom prst="line">
            <a:avLst/>
          </a:prstGeom>
          <a:noFill/>
          <a:ln w="38100">
            <a:solidFill>
              <a:schemeClr val="accent1"/>
            </a:solidFill>
            <a:prstDash val="solid"/>
            <a:tailEnd type="triangle"/>
          </a:ln>
        </p:spPr>
      </p:sp>
      <p:sp>
        <p:nvSpPr>
          <p:cNvPr id="5" name="Pfeil Aufstieg"/>
          <p:cNvSpPr/>
          <p:nvPr/>
        </p:nvSpPr>
        <p:spPr>
          <a:xfrm flipV="1">
            <a:off x="7726680" y="1920240"/>
            <a:ext cx="91" cy="2240280"/>
          </a:xfrm>
          <a:prstGeom prst="line">
            <a:avLst/>
          </a:prstGeom>
          <a:noFill/>
          <a:ln w="38100">
            <a:solidFill>
              <a:schemeClr val="accent2"/>
            </a:solidFill>
            <a:prstDash val="solid"/>
            <a:tailEnd type="triangle"/>
          </a:ln>
        </p:spPr>
      </p:sp>
      <p:sp>
        <p:nvSpPr>
          <p:cNvPr id="6" name="Text 3"/>
          <p:cNvSpPr txBox="1"/>
          <p:nvPr/>
        </p:nvSpPr>
        <p:spPr>
          <a:xfrm>
            <a:off x="548640" y="4434840"/>
            <a:ext cx="7223760" cy="731520"/>
          </a:xfrm>
          <a:prstGeom prst="rect">
            <a:avLst/>
          </a:prstGeom>
          <a:noFill/>
          <a:ln/>
        </p:spPr>
        <p:txBody>
          <a:bodyPr wrap="square" lIns="0" tIns="0" rIns="0" bIns="0" rtlCol="0" anchor="t"/>
          <a:lstStyle/>
          <a:p>
            <a:pPr indent="0" marL="0">
              <a:buNone/>
            </a:pPr>
            <a:r>
              <a:rPr lang="en-US" sz="1700" b="1" dirty="0">
                <a:solidFill>
                  <a:schemeClr val="accent1"/>
                </a:solidFill>
              </a:rPr>
              <a:t>1. Abstieg: </a:t>
            </a:r>
            <a:pPr indent="0" marL="0">
              <a:buNone/>
            </a:pPr>
            <a:r>
              <a:rPr lang="en-US" sz="1700" dirty="0">
                <a:solidFill>
                  <a:schemeClr val="tx1"/>
                </a:solidFill>
              </a:rPr>
              <a:t>Aufrufe von oben nach unten eintragen – bis zum Basisfall.</a:t>
            </a:r>
            <a:endParaRPr lang="en-US" sz="1700" dirty="0"/>
          </a:p>
          <a:p>
            <a:pPr indent="0" marL="0">
              <a:buNone/>
            </a:pPr>
            <a:r>
              <a:rPr lang="en-US" sz="1700" b="1" dirty="0">
                <a:solidFill>
                  <a:schemeClr val="accent2"/>
                </a:solidFill>
              </a:rPr>
              <a:t>2. Aufstieg: </a:t>
            </a:r>
            <a:pPr indent="0" marL="0">
              <a:buNone/>
            </a:pPr>
            <a:r>
              <a:rPr lang="en-US" sz="1700" dirty="0">
                <a:solidFill>
                  <a:schemeClr val="tx1"/>
                </a:solidFill>
              </a:rPr>
              <a:t>Rückgaben von unten nach oben ausrechnen.</a:t>
            </a:r>
            <a:endParaRPr lang="en-US" sz="1700" dirty="0"/>
          </a:p>
        </p:txBody>
      </p:sp>
      <p:sp>
        <p:nvSpPr>
          <p:cNvPr id="7" name="Aufrufe zaehlen"/>
          <p:cNvSpPr/>
          <p:nvPr/>
        </p:nvSpPr>
        <p:spPr>
          <a:xfrm>
            <a:off x="548640" y="5349240"/>
            <a:ext cx="7223760" cy="777240"/>
          </a:xfrm>
          <a:prstGeom prst="roundRect">
            <a:avLst>
              <a:gd name="adj" fmla="val 14118"/>
            </a:avLst>
          </a:prstGeom>
          <a:solidFill>
            <a:schemeClr val="bg2"/>
          </a:solidFill>
          <a:ln/>
        </p:spPr>
      </p:sp>
      <p:sp>
        <p:nvSpPr>
          <p:cNvPr id="8" name="Text 5"/>
          <p:cNvSpPr txBox="1"/>
          <p:nvPr/>
        </p:nvSpPr>
        <p:spPr>
          <a:xfrm>
            <a:off x="749808" y="5349240"/>
            <a:ext cx="6858000" cy="777240"/>
          </a:xfrm>
          <a:prstGeom prst="rect">
            <a:avLst/>
          </a:prstGeom>
          <a:noFill/>
          <a:ln/>
        </p:spPr>
        <p:txBody>
          <a:bodyPr wrap="square" lIns="0" tIns="0" rIns="0" bIns="0" rtlCol="0" anchor="ctr"/>
          <a:lstStyle/>
          <a:p>
            <a:pPr indent="0" marL="0">
              <a:buNone/>
            </a:pPr>
            <a:r>
              <a:rPr lang="en-US" sz="1600" b="1" dirty="0">
                <a:solidFill>
                  <a:schemeClr val="accent1"/>
                </a:solidFill>
              </a:rPr>
              <a:t>Aufrufe zählen: </a:t>
            </a:r>
            <a:pPr indent="0" marL="0">
              <a:buNone/>
            </a:pPr>
            <a:r>
              <a:rPr lang="en-US" sz="1600" dirty="0">
                <a:solidFill>
                  <a:schemeClr val="tx1"/>
                </a:solidFill>
              </a:rPr>
              <a:t>5 Aufrufe, größte Tiefe 4 – allgemein: n + 1 Aufrufe, Tiefe n</a:t>
            </a:r>
            <a:endParaRPr lang="en-US" sz="1600" dirty="0"/>
          </a:p>
        </p:txBody>
      </p:sp>
      <p:sp>
        <p:nvSpPr>
          <p:cNvPr id="9" name="Konvention Tiefe"/>
          <p:cNvSpPr/>
          <p:nvPr/>
        </p:nvSpPr>
        <p:spPr>
          <a:xfrm>
            <a:off x="8138160" y="1371600"/>
            <a:ext cx="3474720" cy="2103120"/>
          </a:xfrm>
          <a:prstGeom prst="roundRect">
            <a:avLst>
              <a:gd name="adj" fmla="val 5217"/>
            </a:avLst>
          </a:prstGeom>
          <a:solidFill>
            <a:schemeClr val="bg1"/>
          </a:solidFill>
          <a:ln w="25400">
            <a:solidFill>
              <a:schemeClr val="accent4"/>
            </a:solidFill>
            <a:prstDash val="solid"/>
          </a:ln>
        </p:spPr>
      </p:sp>
      <p:sp>
        <p:nvSpPr>
          <p:cNvPr id="10" name="Text 7"/>
          <p:cNvSpPr txBox="1"/>
          <p:nvPr/>
        </p:nvSpPr>
        <p:spPr>
          <a:xfrm>
            <a:off x="8339328" y="1371600"/>
            <a:ext cx="3108960" cy="2103120"/>
          </a:xfrm>
          <a:prstGeom prst="rect">
            <a:avLst/>
          </a:prstGeom>
          <a:noFill/>
          <a:ln/>
        </p:spPr>
        <p:txBody>
          <a:bodyPr wrap="square" lIns="0" tIns="0" rIns="0" bIns="0" rtlCol="0" anchor="ctr"/>
          <a:lstStyle/>
          <a:p>
            <a:pPr indent="0" marL="0">
              <a:buNone/>
            </a:pPr>
            <a:r>
              <a:rPr lang="en-US" sz="1700" b="1" dirty="0">
                <a:solidFill>
                  <a:schemeClr val="accent4"/>
                </a:solidFill>
              </a:rPr>
              <a:t>Achtung Abi: </a:t>
            </a:r>
            <a:endParaRPr lang="en-US" sz="1700" dirty="0"/>
          </a:p>
          <a:p>
            <a:pPr indent="0" marL="0">
              <a:buNone/>
            </a:pPr>
            <a:r>
              <a:rPr lang="en-US" sz="1700" dirty="0">
                <a:solidFill>
                  <a:schemeClr val="tx1"/>
                </a:solidFill>
              </a:rPr>
              <a:t>Der Erstaufruf hat die Rekursionstiefe 0. Jeder Selbstaufruf erhöht die Tiefe um 1.</a:t>
            </a:r>
            <a:endParaRPr lang="en-US" sz="1700" dirty="0"/>
          </a:p>
        </p:txBody>
      </p:sp>
      <p:sp>
        <p:nvSpPr>
          <p:cNvPr id="11" name="Jetzt du"/>
          <p:cNvSpPr/>
          <p:nvPr/>
        </p:nvSpPr>
        <p:spPr>
          <a:xfrm>
            <a:off x="8138160" y="3749040"/>
            <a:ext cx="3474720" cy="2377440"/>
          </a:xfrm>
          <a:prstGeom prst="roundRect">
            <a:avLst>
              <a:gd name="adj" fmla="val 4615"/>
            </a:avLst>
          </a:prstGeom>
          <a:solidFill>
            <a:schemeClr val="accent1"/>
          </a:solidFill>
          <a:ln/>
          <a:effectLst>
            <a:outerShdw sx="100000" sy="100000" kx="0" ky="0" algn="bl" rotWithShape="0" blurRad="76200" dist="25400" dir="5400000">
              <a:srgbClr val="000000">
                <a:alpha val="18000"/>
              </a:srgbClr>
            </a:outerShdw>
          </a:effectLst>
        </p:spPr>
      </p:sp>
      <p:sp>
        <p:nvSpPr>
          <p:cNvPr id="12" name="Text 9"/>
          <p:cNvSpPr txBox="1"/>
          <p:nvPr/>
        </p:nvSpPr>
        <p:spPr>
          <a:xfrm>
            <a:off x="8321040" y="3840480"/>
            <a:ext cx="3154680" cy="2194560"/>
          </a:xfrm>
          <a:prstGeom prst="rect">
            <a:avLst/>
          </a:prstGeom>
          <a:noFill/>
          <a:ln/>
        </p:spPr>
        <p:txBody>
          <a:bodyPr wrap="square" lIns="0" tIns="0" rIns="0" bIns="0" rtlCol="0" anchor="ctr"/>
          <a:lstStyle/>
          <a:p>
            <a:pPr indent="0" marL="0">
              <a:buNone/>
            </a:pPr>
            <a:r>
              <a:rPr lang="en-US" sz="1900" b="1" dirty="0">
                <a:solidFill>
                  <a:schemeClr val="accent2"/>
                </a:solidFill>
              </a:rPr>
              <a:t>Jetzt du (Papier)</a:t>
            </a:r>
            <a:endParaRPr lang="en-US" sz="1800" dirty="0"/>
          </a:p>
          <a:p>
            <a:pPr indent="0" marL="0">
              <a:buNone/>
            </a:pPr>
            <a:r>
              <a:rPr lang="en-US" sz="1600" dirty="0">
                <a:solidFill>
                  <a:schemeClr val="bg1"/>
                </a:solidFill>
              </a:rPr>
              <a:t>Rekursionstabelle für dual(13): Tiefe, Aufruf, n, n / 2, n % 2, Rückgabe.</a:t>
            </a:r>
            <a:endParaRPr lang="en-US" sz="1800" dirty="0"/>
          </a:p>
        </p:txBody>
      </p:sp>
      <p:sp>
        <p:nvSpPr>
          <p:cNvPr id="13" name="Text 10"/>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Rekursion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Rekursive Struktogramme nach EH §5</a:t>
            </a:r>
            <a:endParaRPr lang="en-US" sz="3600" dirty="0"/>
          </a:p>
        </p:txBody>
      </p:sp>
      <p:pic>
        <p:nvPicPr>
          <p:cNvPr id="3" name="Struktogramm sg_fak" descr="Struktogramm sg_fak">    </p:cNvPr>
          <p:cNvPicPr>
            <a:picLocks noChangeAspect="1"/>
          </p:cNvPicPr>
          <p:nvPr/>
        </p:nvPicPr>
        <p:blipFill>
          <a:blip r:embed="rId1"/>
          <a:stretch>
            <a:fillRect/>
          </a:stretch>
        </p:blipFill>
        <p:spPr>
          <a:xfrm>
            <a:off x="548640" y="1371600"/>
            <a:ext cx="5120640" cy="1939190"/>
          </a:xfrm>
          <a:prstGeom prst="rect">
            <a:avLst/>
          </a:prstGeom>
        </p:spPr>
      </p:pic>
      <p:pic>
        <p:nvPicPr>
          <p:cNvPr id="4" name="Struktogramm sg_maxab" descr="Struktogramm sg_maxab">    </p:cNvPr>
          <p:cNvPicPr>
            <a:picLocks noChangeAspect="1"/>
          </p:cNvPicPr>
          <p:nvPr/>
        </p:nvPicPr>
        <p:blipFill>
          <a:blip r:embed="rId2"/>
          <a:stretch>
            <a:fillRect/>
          </a:stretch>
        </p:blipFill>
        <p:spPr>
          <a:xfrm>
            <a:off x="6035040" y="1371600"/>
            <a:ext cx="5577840" cy="2490906"/>
          </a:xfrm>
          <a:prstGeom prst="rect">
            <a:avLst/>
          </a:prstGeom>
        </p:spPr>
      </p:pic>
      <p:sp>
        <p:nvSpPr>
          <p:cNvPr id="5" name="Text 1"/>
          <p:cNvSpPr txBox="1"/>
          <p:nvPr/>
        </p:nvSpPr>
        <p:spPr>
          <a:xfrm>
            <a:off x="548640" y="3383942"/>
            <a:ext cx="5120640" cy="274320"/>
          </a:xfrm>
          <a:prstGeom prst="rect">
            <a:avLst/>
          </a:prstGeom>
          <a:noFill/>
          <a:ln/>
        </p:spPr>
        <p:txBody>
          <a:bodyPr wrap="square" lIns="0" tIns="0" rIns="0" bIns="0" rtlCol="0" anchor="t"/>
          <a:lstStyle/>
          <a:p>
            <a:pPr indent="0" marL="0">
              <a:buNone/>
            </a:pPr>
            <a:r>
              <a:rPr lang="en-US" sz="1400" i="1" dirty="0">
                <a:solidFill>
                  <a:schemeClr val="accent6"/>
                </a:solidFill>
              </a:rPr>
              <a:t>Selbstaufruf im „gib … zurück“</a:t>
            </a:r>
            <a:endParaRPr lang="en-US" sz="1400" dirty="0"/>
          </a:p>
        </p:txBody>
      </p:sp>
      <p:sp>
        <p:nvSpPr>
          <p:cNvPr id="6" name="Text 2"/>
          <p:cNvSpPr txBox="1"/>
          <p:nvPr/>
        </p:nvSpPr>
        <p:spPr>
          <a:xfrm>
            <a:off x="6035040" y="3935658"/>
            <a:ext cx="5577840" cy="274320"/>
          </a:xfrm>
          <a:prstGeom prst="rect">
            <a:avLst/>
          </a:prstGeom>
          <a:noFill/>
          <a:ln/>
        </p:spPr>
        <p:txBody>
          <a:bodyPr wrap="square" lIns="0" tIns="0" rIns="0" bIns="0" rtlCol="0" anchor="t"/>
          <a:lstStyle/>
          <a:p>
            <a:pPr indent="0" marL="0">
              <a:buNone/>
            </a:pPr>
            <a:r>
              <a:rPr lang="en-US" sz="1400" i="1" dirty="0">
                <a:solidFill>
                  <a:schemeClr val="accent6"/>
                </a:solidFill>
              </a:rPr>
              <a:t>Selbstaufruf als Zuweisung – maximumAb({3, 8, 2, 5}, 0) liefert 8</a:t>
            </a:r>
            <a:endParaRPr lang="en-US" sz="1400" dirty="0"/>
          </a:p>
        </p:txBody>
      </p:sp>
      <p:sp>
        <p:nvSpPr>
          <p:cNvPr id="7" name="Merke Selbstaufruf"/>
          <p:cNvSpPr/>
          <p:nvPr/>
        </p:nvSpPr>
        <p:spPr>
          <a:xfrm>
            <a:off x="548640" y="3886200"/>
            <a:ext cx="5120640" cy="1143000"/>
          </a:xfrm>
          <a:prstGeom prst="roundRect">
            <a:avLst>
              <a:gd name="adj" fmla="val 9600"/>
            </a:avLst>
          </a:prstGeom>
          <a:solidFill>
            <a:schemeClr val="bg2"/>
          </a:solidFill>
          <a:ln/>
        </p:spPr>
      </p:sp>
      <p:sp>
        <p:nvSpPr>
          <p:cNvPr id="8" name="Text 4"/>
          <p:cNvSpPr txBox="1"/>
          <p:nvPr/>
        </p:nvSpPr>
        <p:spPr>
          <a:xfrm>
            <a:off x="749808" y="3886200"/>
            <a:ext cx="4754880" cy="1143000"/>
          </a:xfrm>
          <a:prstGeom prst="rect">
            <a:avLst/>
          </a:prstGeom>
          <a:noFill/>
          <a:ln/>
        </p:spPr>
        <p:txBody>
          <a:bodyPr wrap="square" lIns="0" tIns="0" rIns="0" bIns="0" rtlCol="0" anchor="ctr"/>
          <a:lstStyle/>
          <a:p>
            <a:pPr indent="0" marL="0">
              <a:buNone/>
            </a:pPr>
            <a:r>
              <a:rPr lang="en-US" sz="1700" b="1" dirty="0">
                <a:solidFill>
                  <a:schemeClr val="accent1"/>
                </a:solidFill>
              </a:rPr>
              <a:t>Merke: </a:t>
            </a:r>
            <a:pPr indent="0" marL="0">
              <a:buNone/>
            </a:pPr>
            <a:r>
              <a:rPr lang="en-US" sz="1700" dirty="0">
                <a:solidFill>
                  <a:schemeClr val="tx1"/>
                </a:solidFill>
              </a:rPr>
              <a:t>Kein Sondersymbol – der Selbstaufruf ist eine ganz normale Anweisung.</a:t>
            </a:r>
            <a:endParaRPr lang="en-US" sz="1700" dirty="0"/>
          </a:p>
        </p:txBody>
      </p:sp>
      <p:sp>
        <p:nvSpPr>
          <p:cNvPr id="9" name="Achtung Struktogramm"/>
          <p:cNvSpPr/>
          <p:nvPr/>
        </p:nvSpPr>
        <p:spPr>
          <a:xfrm>
            <a:off x="548640" y="5212080"/>
            <a:ext cx="11064240" cy="914400"/>
          </a:xfrm>
          <a:prstGeom prst="roundRect">
            <a:avLst>
              <a:gd name="adj" fmla="val 12000"/>
            </a:avLst>
          </a:prstGeom>
          <a:solidFill>
            <a:schemeClr val="bg1"/>
          </a:solidFill>
          <a:ln w="25400">
            <a:solidFill>
              <a:schemeClr val="accent4"/>
            </a:solidFill>
            <a:prstDash val="solid"/>
          </a:ln>
        </p:spPr>
      </p:sp>
      <p:sp>
        <p:nvSpPr>
          <p:cNvPr id="10" name="Text 6"/>
          <p:cNvSpPr txBox="1"/>
          <p:nvPr/>
        </p:nvSpPr>
        <p:spPr>
          <a:xfrm>
            <a:off x="749808" y="5212080"/>
            <a:ext cx="10698480" cy="914400"/>
          </a:xfrm>
          <a:prstGeom prst="rect">
            <a:avLst/>
          </a:prstGeom>
          <a:noFill/>
          <a:ln/>
        </p:spPr>
        <p:txBody>
          <a:bodyPr wrap="square" lIns="0" tIns="0" rIns="0" bIns="0" rtlCol="0" anchor="ctr"/>
          <a:lstStyle/>
          <a:p>
            <a:pPr indent="0" marL="0">
              <a:buNone/>
            </a:pPr>
            <a:r>
              <a:rPr lang="en-US" sz="1700" b="1" dirty="0">
                <a:solidFill>
                  <a:schemeClr val="accent4"/>
                </a:solidFill>
              </a:rPr>
              <a:t>Achtung Abi: </a:t>
            </a:r>
            <a:pPr indent="0" marL="0">
              <a:buNone/>
            </a:pPr>
            <a:r>
              <a:rPr lang="en-US" sz="1700" dirty="0">
                <a:solidFill>
                  <a:schemeClr val="tx1"/>
                </a:solidFill>
              </a:rPr>
              <a:t>Kopf mit Signatur · Basisfall als Verzweigung zuerst · jeder Pfad endet mit „gib … zurück“ · Teilproblem echt kleiner.</a:t>
            </a:r>
            <a:endParaRPr lang="en-US" sz="1700" dirty="0"/>
          </a:p>
        </p:txBody>
      </p:sp>
      <p:sp>
        <p:nvSpPr>
          <p:cNvPr id="11" name="Text 7"/>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Rekursion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Rekursion oder Schleife?</a:t>
            </a:r>
            <a:endParaRPr lang="en-US" sz="3600" dirty="0"/>
          </a:p>
        </p:txBody>
      </p:sp>
      <p:sp>
        <p:nvSpPr>
          <p:cNvPr id="3" name="Text 1"/>
          <p:cNvSpPr txBox="1"/>
          <p:nvPr/>
        </p:nvSpPr>
        <p:spPr>
          <a:xfrm>
            <a:off x="548640" y="1280160"/>
            <a:ext cx="5394960" cy="347472"/>
          </a:xfrm>
          <a:prstGeom prst="rect">
            <a:avLst/>
          </a:prstGeom>
          <a:noFill/>
          <a:ln/>
        </p:spPr>
        <p:txBody>
          <a:bodyPr wrap="square" lIns="0" tIns="0" rIns="0" bIns="0" rtlCol="0" anchor="t"/>
          <a:lstStyle/>
          <a:p>
            <a:pPr indent="0" marL="0">
              <a:buNone/>
            </a:pPr>
            <a:r>
              <a:rPr lang="en-US" sz="1900" b="1" dirty="0">
                <a:solidFill>
                  <a:schemeClr val="accent1"/>
                </a:solidFill>
              </a:rPr>
              <a:t>rekursiv</a:t>
            </a:r>
            <a:endParaRPr lang="en-US" sz="1900" dirty="0"/>
          </a:p>
        </p:txBody>
      </p:sp>
      <p:sp>
        <p:nvSpPr>
          <p:cNvPr id="4" name="Text 2"/>
          <p:cNvSpPr txBox="1"/>
          <p:nvPr/>
        </p:nvSpPr>
        <p:spPr>
          <a:xfrm>
            <a:off x="6217920" y="1280160"/>
            <a:ext cx="5394960" cy="347472"/>
          </a:xfrm>
          <a:prstGeom prst="rect">
            <a:avLst/>
          </a:prstGeom>
          <a:noFill/>
          <a:ln/>
        </p:spPr>
        <p:txBody>
          <a:bodyPr wrap="square" lIns="0" tIns="0" rIns="0" bIns="0" rtlCol="0" anchor="t"/>
          <a:lstStyle/>
          <a:p>
            <a:pPr indent="0" marL="0">
              <a:buNone/>
            </a:pPr>
            <a:r>
              <a:rPr lang="en-US" sz="1900" b="1" dirty="0">
                <a:solidFill>
                  <a:schemeClr val="accent1"/>
                </a:solidFill>
              </a:rPr>
              <a:t>iterativ (mit Schleife)</a:t>
            </a:r>
            <a:endParaRPr lang="en-US" sz="1900" dirty="0"/>
          </a:p>
        </p:txBody>
      </p:sp>
      <p:sp>
        <p:nvSpPr>
          <p:cNvPr id="5" name="Code"/>
          <p:cNvSpPr txBox="1"/>
          <p:nvPr/>
        </p:nvSpPr>
        <p:spPr>
          <a:xfrm>
            <a:off x="548640" y="1691640"/>
            <a:ext cx="5394960" cy="17241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summeBis</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0)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0;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Basisfall</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summeBis</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- 1);</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p:txBody>
      </p:sp>
      <p:sp>
        <p:nvSpPr>
          <p:cNvPr id="6" name="Code"/>
          <p:cNvSpPr txBox="1"/>
          <p:nvPr/>
        </p:nvSpPr>
        <p:spPr>
          <a:xfrm>
            <a:off x="6217920" y="1691640"/>
            <a:ext cx="5394960" cy="17241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summeBisIterativ</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summe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0;</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for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1;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&lt;=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summe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summe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summe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7" name="Chip"/>
          <p:cNvSpPr txBox="1"/>
          <p:nvPr/>
        </p:nvSpPr>
        <p:spPr>
          <a:xfrm>
            <a:off x="548640" y="3429000"/>
            <a:ext cx="23774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summeBis(10) = 55</a:t>
            </a:r>
            <a:endParaRPr lang="en-US" sz="1500" dirty="0"/>
          </a:p>
        </p:txBody>
      </p:sp>
      <p:sp>
        <p:nvSpPr>
          <p:cNvPr id="8" name="Chip"/>
          <p:cNvSpPr txBox="1"/>
          <p:nvPr/>
        </p:nvSpPr>
        <p:spPr>
          <a:xfrm>
            <a:off x="6217920" y="3429000"/>
            <a:ext cx="31089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summeBisIterativ(10) = 55</a:t>
            </a:r>
            <a:endParaRPr lang="en-US" sz="1500" dirty="0"/>
          </a:p>
        </p:txBody>
      </p:sp>
      <p:graphicFrame>
        <p:nvGraphicFramePr>
          <p:cNvPr id="12" name="Vergleich Rekursion Schleife"/>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2103120"/>
                <a:gridCol w="4480560"/>
                <a:gridCol w="4480560"/>
              </a:tblGrid>
              <a:tr h="356616">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Rekursion</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Schleife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56616">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Wiederholung</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Selbstaufruf</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Schleifenrumpf</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56616">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Abbruch</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Basisfall</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Schleifenbedingung</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56616">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Zwischenstand</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je Aufruf ein Rahmen auf dem Stapel</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eine Variable (summe)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56616">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Fehlerbild</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StackOverflowError</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Endlosschleife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56616">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stark bei</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Labyrinth, Bäume, Teile und herrsche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einfachem Zählen und Summieren</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0" name="Text 7"/>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Rekursion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Baumrekursion: der Aufrufbaum von fibonacci(5)</a:t>
            </a:r>
            <a:endParaRPr lang="en-US" sz="3600" dirty="0"/>
          </a:p>
        </p:txBody>
      </p:sp>
      <p:sp>
        <p:nvSpPr>
          <p:cNvPr id="3" name="Kante"/>
          <p:cNvSpPr/>
          <p:nvPr/>
        </p:nvSpPr>
        <p:spPr>
          <a:xfrm flipH="1">
            <a:off x="994410" y="4114800"/>
            <a:ext cx="445770" cy="402336"/>
          </a:xfrm>
          <a:prstGeom prst="line">
            <a:avLst/>
          </a:prstGeom>
          <a:noFill/>
          <a:ln w="19050">
            <a:solidFill>
              <a:srgbClr val="A6A6A6"/>
            </a:solidFill>
            <a:prstDash val="solid"/>
          </a:ln>
        </p:spPr>
      </p:sp>
      <p:sp>
        <p:nvSpPr>
          <p:cNvPr id="4" name="Kante"/>
          <p:cNvSpPr/>
          <p:nvPr/>
        </p:nvSpPr>
        <p:spPr>
          <a:xfrm>
            <a:off x="1440180" y="4114800"/>
            <a:ext cx="445770" cy="402336"/>
          </a:xfrm>
          <a:prstGeom prst="line">
            <a:avLst/>
          </a:prstGeom>
          <a:noFill/>
          <a:ln w="19050">
            <a:solidFill>
              <a:srgbClr val="A6A6A6"/>
            </a:solidFill>
            <a:prstDash val="solid"/>
          </a:ln>
        </p:spPr>
      </p:sp>
      <p:sp>
        <p:nvSpPr>
          <p:cNvPr id="5" name="Kante"/>
          <p:cNvSpPr/>
          <p:nvPr/>
        </p:nvSpPr>
        <p:spPr>
          <a:xfrm flipH="1">
            <a:off x="1440180" y="3328416"/>
            <a:ext cx="668655" cy="402336"/>
          </a:xfrm>
          <a:prstGeom prst="line">
            <a:avLst/>
          </a:prstGeom>
          <a:noFill/>
          <a:ln w="19050">
            <a:solidFill>
              <a:srgbClr val="A6A6A6"/>
            </a:solidFill>
            <a:prstDash val="solid"/>
          </a:ln>
        </p:spPr>
      </p:sp>
      <p:sp>
        <p:nvSpPr>
          <p:cNvPr id="6" name="Kante"/>
          <p:cNvSpPr/>
          <p:nvPr/>
        </p:nvSpPr>
        <p:spPr>
          <a:xfrm>
            <a:off x="2108835" y="3328416"/>
            <a:ext cx="668655" cy="402336"/>
          </a:xfrm>
          <a:prstGeom prst="line">
            <a:avLst/>
          </a:prstGeom>
          <a:noFill/>
          <a:ln w="19050">
            <a:solidFill>
              <a:srgbClr val="A6A6A6"/>
            </a:solidFill>
            <a:prstDash val="solid"/>
          </a:ln>
        </p:spPr>
      </p:sp>
      <p:sp>
        <p:nvSpPr>
          <p:cNvPr id="7" name="Kante"/>
          <p:cNvSpPr/>
          <p:nvPr/>
        </p:nvSpPr>
        <p:spPr>
          <a:xfrm flipH="1">
            <a:off x="3669030" y="3328416"/>
            <a:ext cx="445770" cy="402336"/>
          </a:xfrm>
          <a:prstGeom prst="line">
            <a:avLst/>
          </a:prstGeom>
          <a:noFill/>
          <a:ln w="19050">
            <a:solidFill>
              <a:srgbClr val="A6A6A6"/>
            </a:solidFill>
            <a:prstDash val="solid"/>
          </a:ln>
        </p:spPr>
      </p:sp>
      <p:sp>
        <p:nvSpPr>
          <p:cNvPr id="8" name="Kante"/>
          <p:cNvSpPr/>
          <p:nvPr/>
        </p:nvSpPr>
        <p:spPr>
          <a:xfrm>
            <a:off x="4114800" y="3328416"/>
            <a:ext cx="445770" cy="402336"/>
          </a:xfrm>
          <a:prstGeom prst="line">
            <a:avLst/>
          </a:prstGeom>
          <a:noFill/>
          <a:ln w="19050">
            <a:solidFill>
              <a:srgbClr val="A6A6A6"/>
            </a:solidFill>
            <a:prstDash val="solid"/>
          </a:ln>
        </p:spPr>
      </p:sp>
      <p:sp>
        <p:nvSpPr>
          <p:cNvPr id="9" name="Kante"/>
          <p:cNvSpPr/>
          <p:nvPr/>
        </p:nvSpPr>
        <p:spPr>
          <a:xfrm flipH="1">
            <a:off x="2108835" y="2542032"/>
            <a:ext cx="1002983" cy="402336"/>
          </a:xfrm>
          <a:prstGeom prst="line">
            <a:avLst/>
          </a:prstGeom>
          <a:noFill/>
          <a:ln w="19050">
            <a:solidFill>
              <a:srgbClr val="A6A6A6"/>
            </a:solidFill>
            <a:prstDash val="solid"/>
          </a:ln>
        </p:spPr>
      </p:sp>
      <p:sp>
        <p:nvSpPr>
          <p:cNvPr id="10" name="Kante"/>
          <p:cNvSpPr/>
          <p:nvPr/>
        </p:nvSpPr>
        <p:spPr>
          <a:xfrm>
            <a:off x="3111818" y="2542032"/>
            <a:ext cx="1002982" cy="402336"/>
          </a:xfrm>
          <a:prstGeom prst="line">
            <a:avLst/>
          </a:prstGeom>
          <a:noFill/>
          <a:ln w="19050">
            <a:solidFill>
              <a:srgbClr val="A6A6A6"/>
            </a:solidFill>
            <a:prstDash val="solid"/>
          </a:ln>
        </p:spPr>
      </p:sp>
      <p:sp>
        <p:nvSpPr>
          <p:cNvPr id="11" name="Kante"/>
          <p:cNvSpPr/>
          <p:nvPr/>
        </p:nvSpPr>
        <p:spPr>
          <a:xfrm flipH="1">
            <a:off x="5452110" y="3328416"/>
            <a:ext cx="445770" cy="402336"/>
          </a:xfrm>
          <a:prstGeom prst="line">
            <a:avLst/>
          </a:prstGeom>
          <a:noFill/>
          <a:ln w="19050">
            <a:solidFill>
              <a:srgbClr val="A6A6A6"/>
            </a:solidFill>
            <a:prstDash val="solid"/>
          </a:ln>
        </p:spPr>
      </p:sp>
      <p:sp>
        <p:nvSpPr>
          <p:cNvPr id="12" name="Kante"/>
          <p:cNvSpPr/>
          <p:nvPr/>
        </p:nvSpPr>
        <p:spPr>
          <a:xfrm>
            <a:off x="5897880" y="3328416"/>
            <a:ext cx="445770" cy="402336"/>
          </a:xfrm>
          <a:prstGeom prst="line">
            <a:avLst/>
          </a:prstGeom>
          <a:noFill/>
          <a:ln w="19050">
            <a:solidFill>
              <a:srgbClr val="A6A6A6"/>
            </a:solidFill>
            <a:prstDash val="solid"/>
          </a:ln>
        </p:spPr>
      </p:sp>
      <p:sp>
        <p:nvSpPr>
          <p:cNvPr id="13" name="Kante"/>
          <p:cNvSpPr/>
          <p:nvPr/>
        </p:nvSpPr>
        <p:spPr>
          <a:xfrm flipH="1">
            <a:off x="5897880" y="2542032"/>
            <a:ext cx="668655" cy="402336"/>
          </a:xfrm>
          <a:prstGeom prst="line">
            <a:avLst/>
          </a:prstGeom>
          <a:noFill/>
          <a:ln w="19050">
            <a:solidFill>
              <a:srgbClr val="A6A6A6"/>
            </a:solidFill>
            <a:prstDash val="solid"/>
          </a:ln>
        </p:spPr>
      </p:sp>
      <p:sp>
        <p:nvSpPr>
          <p:cNvPr id="14" name="Kante"/>
          <p:cNvSpPr/>
          <p:nvPr/>
        </p:nvSpPr>
        <p:spPr>
          <a:xfrm>
            <a:off x="6566535" y="2542032"/>
            <a:ext cx="668655" cy="402336"/>
          </a:xfrm>
          <a:prstGeom prst="line">
            <a:avLst/>
          </a:prstGeom>
          <a:noFill/>
          <a:ln w="19050">
            <a:solidFill>
              <a:srgbClr val="A6A6A6"/>
            </a:solidFill>
            <a:prstDash val="solid"/>
          </a:ln>
        </p:spPr>
      </p:sp>
      <p:sp>
        <p:nvSpPr>
          <p:cNvPr id="15" name="Kante"/>
          <p:cNvSpPr/>
          <p:nvPr/>
        </p:nvSpPr>
        <p:spPr>
          <a:xfrm flipH="1">
            <a:off x="3111818" y="1755648"/>
            <a:ext cx="1727359" cy="402336"/>
          </a:xfrm>
          <a:prstGeom prst="line">
            <a:avLst/>
          </a:prstGeom>
          <a:noFill/>
          <a:ln w="19050">
            <a:solidFill>
              <a:srgbClr val="A6A6A6"/>
            </a:solidFill>
            <a:prstDash val="solid"/>
          </a:ln>
        </p:spPr>
      </p:sp>
      <p:sp>
        <p:nvSpPr>
          <p:cNvPr id="16" name="Kante"/>
          <p:cNvSpPr/>
          <p:nvPr/>
        </p:nvSpPr>
        <p:spPr>
          <a:xfrm>
            <a:off x="4839176" y="1755648"/>
            <a:ext cx="1727359" cy="402336"/>
          </a:xfrm>
          <a:prstGeom prst="line">
            <a:avLst/>
          </a:prstGeom>
          <a:noFill/>
          <a:ln w="19050">
            <a:solidFill>
              <a:srgbClr val="A6A6A6"/>
            </a:solidFill>
            <a:prstDash val="solid"/>
          </a:ln>
        </p:spPr>
      </p:sp>
      <p:sp>
        <p:nvSpPr>
          <p:cNvPr id="17" name="Knoten fib(1)"/>
          <p:cNvSpPr txBox="1"/>
          <p:nvPr/>
        </p:nvSpPr>
        <p:spPr>
          <a:xfrm>
            <a:off x="601218" y="4517136"/>
            <a:ext cx="786384" cy="384048"/>
          </a:xfrm>
          <a:prstGeom prst="roundRect">
            <a:avLst>
              <a:gd name="adj" fmla="val 14286"/>
            </a:avLst>
          </a:prstGeom>
          <a:solidFill>
            <a:srgbClr val="E2EFDA"/>
          </a:solidFill>
          <a:ln w="19050">
            <a:solidFill>
              <a:schemeClr val="accent3"/>
            </a:solidFill>
          </a:ln>
        </p:spPr>
        <p:txBody>
          <a:bodyPr wrap="square" lIns="0" tIns="0" rIns="0" bIns="0" rtlCol="0" anchor="ctr"/>
          <a:lstStyle/>
          <a:p>
            <a:pPr algn="ctr" indent="0" marL="0">
              <a:buNone/>
            </a:pPr>
            <a:r>
              <a:rPr lang="en-US" sz="1300" b="1" dirty="0">
                <a:solidFill>
                  <a:schemeClr val="accent3"/>
                </a:solidFill>
                <a:latin typeface="Consolas" pitchFamily="34" charset="0"/>
                <a:ea typeface="Consolas" pitchFamily="34" charset="-122"/>
                <a:cs typeface="Consolas" pitchFamily="34" charset="-120"/>
              </a:rPr>
              <a:t>fib(1)</a:t>
            </a:r>
            <a:endParaRPr lang="en-US" sz="1300" dirty="0"/>
          </a:p>
        </p:txBody>
      </p:sp>
      <p:sp>
        <p:nvSpPr>
          <p:cNvPr id="18" name="Knoten fib(0)"/>
          <p:cNvSpPr txBox="1"/>
          <p:nvPr/>
        </p:nvSpPr>
        <p:spPr>
          <a:xfrm>
            <a:off x="1492758" y="4517136"/>
            <a:ext cx="786384" cy="384048"/>
          </a:xfrm>
          <a:prstGeom prst="roundRect">
            <a:avLst>
              <a:gd name="adj" fmla="val 14286"/>
            </a:avLst>
          </a:prstGeom>
          <a:solidFill>
            <a:srgbClr val="E2EFDA"/>
          </a:solidFill>
          <a:ln w="19050">
            <a:solidFill>
              <a:schemeClr val="accent3"/>
            </a:solidFill>
          </a:ln>
        </p:spPr>
        <p:txBody>
          <a:bodyPr wrap="square" lIns="0" tIns="0" rIns="0" bIns="0" rtlCol="0" anchor="ctr"/>
          <a:lstStyle/>
          <a:p>
            <a:pPr algn="ctr" indent="0" marL="0">
              <a:buNone/>
            </a:pPr>
            <a:r>
              <a:rPr lang="en-US" sz="1300" b="1" dirty="0">
                <a:solidFill>
                  <a:schemeClr val="accent3"/>
                </a:solidFill>
                <a:latin typeface="Consolas" pitchFamily="34" charset="0"/>
                <a:ea typeface="Consolas" pitchFamily="34" charset="-122"/>
                <a:cs typeface="Consolas" pitchFamily="34" charset="-120"/>
              </a:rPr>
              <a:t>fib(0)</a:t>
            </a:r>
            <a:endParaRPr lang="en-US" sz="1300" dirty="0"/>
          </a:p>
        </p:txBody>
      </p:sp>
      <p:sp>
        <p:nvSpPr>
          <p:cNvPr id="19" name="Knoten fib(2)"/>
          <p:cNvSpPr txBox="1"/>
          <p:nvPr/>
        </p:nvSpPr>
        <p:spPr>
          <a:xfrm>
            <a:off x="1046988" y="3730752"/>
            <a:ext cx="786384" cy="384048"/>
          </a:xfrm>
          <a:prstGeom prst="roundRect">
            <a:avLst>
              <a:gd name="adj" fmla="val 14286"/>
            </a:avLst>
          </a:prstGeom>
          <a:solidFill>
            <a:srgbClr val="FFF2CC"/>
          </a:solidFill>
          <a:ln w="19050">
            <a:solidFill>
              <a:schemeClr val="accent2"/>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fib(2)</a:t>
            </a:r>
            <a:endParaRPr lang="en-US" sz="1300" dirty="0"/>
          </a:p>
        </p:txBody>
      </p:sp>
      <p:sp>
        <p:nvSpPr>
          <p:cNvPr id="20" name="Knoten fib(1)"/>
          <p:cNvSpPr txBox="1"/>
          <p:nvPr/>
        </p:nvSpPr>
        <p:spPr>
          <a:xfrm>
            <a:off x="2384298" y="3730752"/>
            <a:ext cx="786384" cy="384048"/>
          </a:xfrm>
          <a:prstGeom prst="roundRect">
            <a:avLst>
              <a:gd name="adj" fmla="val 14286"/>
            </a:avLst>
          </a:prstGeom>
          <a:solidFill>
            <a:srgbClr val="E2EFDA"/>
          </a:solidFill>
          <a:ln w="19050">
            <a:solidFill>
              <a:schemeClr val="accent3"/>
            </a:solidFill>
          </a:ln>
        </p:spPr>
        <p:txBody>
          <a:bodyPr wrap="square" lIns="0" tIns="0" rIns="0" bIns="0" rtlCol="0" anchor="ctr"/>
          <a:lstStyle/>
          <a:p>
            <a:pPr algn="ctr" indent="0" marL="0">
              <a:buNone/>
            </a:pPr>
            <a:r>
              <a:rPr lang="en-US" sz="1300" b="1" dirty="0">
                <a:solidFill>
                  <a:schemeClr val="accent3"/>
                </a:solidFill>
                <a:latin typeface="Consolas" pitchFamily="34" charset="0"/>
                <a:ea typeface="Consolas" pitchFamily="34" charset="-122"/>
                <a:cs typeface="Consolas" pitchFamily="34" charset="-120"/>
              </a:rPr>
              <a:t>fib(1)</a:t>
            </a:r>
            <a:endParaRPr lang="en-US" sz="1300" dirty="0"/>
          </a:p>
        </p:txBody>
      </p:sp>
      <p:sp>
        <p:nvSpPr>
          <p:cNvPr id="21" name="Knoten fib(3)"/>
          <p:cNvSpPr txBox="1"/>
          <p:nvPr/>
        </p:nvSpPr>
        <p:spPr>
          <a:xfrm>
            <a:off x="1715643" y="2944368"/>
            <a:ext cx="786384" cy="384048"/>
          </a:xfrm>
          <a:prstGeom prst="roundRect">
            <a:avLst>
              <a:gd name="adj" fmla="val 14286"/>
            </a:avLst>
          </a:prstGeom>
          <a:solidFill>
            <a:schemeClr val="bg1"/>
          </a:solidFill>
          <a:ln w="19050">
            <a:solidFill>
              <a:schemeClr val="accent1"/>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fib(3)</a:t>
            </a:r>
            <a:endParaRPr lang="en-US" sz="1300" dirty="0"/>
          </a:p>
        </p:txBody>
      </p:sp>
      <p:sp>
        <p:nvSpPr>
          <p:cNvPr id="22" name="Knoten fib(1)"/>
          <p:cNvSpPr txBox="1"/>
          <p:nvPr/>
        </p:nvSpPr>
        <p:spPr>
          <a:xfrm>
            <a:off x="3275838" y="3730752"/>
            <a:ext cx="786384" cy="384048"/>
          </a:xfrm>
          <a:prstGeom prst="roundRect">
            <a:avLst>
              <a:gd name="adj" fmla="val 14286"/>
            </a:avLst>
          </a:prstGeom>
          <a:solidFill>
            <a:srgbClr val="E2EFDA"/>
          </a:solidFill>
          <a:ln w="19050">
            <a:solidFill>
              <a:schemeClr val="accent3"/>
            </a:solidFill>
          </a:ln>
        </p:spPr>
        <p:txBody>
          <a:bodyPr wrap="square" lIns="0" tIns="0" rIns="0" bIns="0" rtlCol="0" anchor="ctr"/>
          <a:lstStyle/>
          <a:p>
            <a:pPr algn="ctr" indent="0" marL="0">
              <a:buNone/>
            </a:pPr>
            <a:r>
              <a:rPr lang="en-US" sz="1300" b="1" dirty="0">
                <a:solidFill>
                  <a:schemeClr val="accent3"/>
                </a:solidFill>
                <a:latin typeface="Consolas" pitchFamily="34" charset="0"/>
                <a:ea typeface="Consolas" pitchFamily="34" charset="-122"/>
                <a:cs typeface="Consolas" pitchFamily="34" charset="-120"/>
              </a:rPr>
              <a:t>fib(1)</a:t>
            </a:r>
            <a:endParaRPr lang="en-US" sz="1300" dirty="0"/>
          </a:p>
        </p:txBody>
      </p:sp>
      <p:sp>
        <p:nvSpPr>
          <p:cNvPr id="23" name="Knoten fib(0)"/>
          <p:cNvSpPr txBox="1"/>
          <p:nvPr/>
        </p:nvSpPr>
        <p:spPr>
          <a:xfrm>
            <a:off x="4167378" y="3730752"/>
            <a:ext cx="786384" cy="384048"/>
          </a:xfrm>
          <a:prstGeom prst="roundRect">
            <a:avLst>
              <a:gd name="adj" fmla="val 14286"/>
            </a:avLst>
          </a:prstGeom>
          <a:solidFill>
            <a:srgbClr val="E2EFDA"/>
          </a:solidFill>
          <a:ln w="19050">
            <a:solidFill>
              <a:schemeClr val="accent3"/>
            </a:solidFill>
          </a:ln>
        </p:spPr>
        <p:txBody>
          <a:bodyPr wrap="square" lIns="0" tIns="0" rIns="0" bIns="0" rtlCol="0" anchor="ctr"/>
          <a:lstStyle/>
          <a:p>
            <a:pPr algn="ctr" indent="0" marL="0">
              <a:buNone/>
            </a:pPr>
            <a:r>
              <a:rPr lang="en-US" sz="1300" b="1" dirty="0">
                <a:solidFill>
                  <a:schemeClr val="accent3"/>
                </a:solidFill>
                <a:latin typeface="Consolas" pitchFamily="34" charset="0"/>
                <a:ea typeface="Consolas" pitchFamily="34" charset="-122"/>
                <a:cs typeface="Consolas" pitchFamily="34" charset="-120"/>
              </a:rPr>
              <a:t>fib(0)</a:t>
            </a:r>
            <a:endParaRPr lang="en-US" sz="1300" dirty="0"/>
          </a:p>
        </p:txBody>
      </p:sp>
      <p:sp>
        <p:nvSpPr>
          <p:cNvPr id="24" name="Knoten fib(2)"/>
          <p:cNvSpPr txBox="1"/>
          <p:nvPr/>
        </p:nvSpPr>
        <p:spPr>
          <a:xfrm>
            <a:off x="3721608" y="2944368"/>
            <a:ext cx="786384" cy="384048"/>
          </a:xfrm>
          <a:prstGeom prst="roundRect">
            <a:avLst>
              <a:gd name="adj" fmla="val 14286"/>
            </a:avLst>
          </a:prstGeom>
          <a:solidFill>
            <a:srgbClr val="FFF2CC"/>
          </a:solidFill>
          <a:ln w="19050">
            <a:solidFill>
              <a:schemeClr val="accent2"/>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fib(2)</a:t>
            </a:r>
            <a:endParaRPr lang="en-US" sz="1300" dirty="0"/>
          </a:p>
        </p:txBody>
      </p:sp>
      <p:sp>
        <p:nvSpPr>
          <p:cNvPr id="25" name="Knoten fib(4)"/>
          <p:cNvSpPr txBox="1"/>
          <p:nvPr/>
        </p:nvSpPr>
        <p:spPr>
          <a:xfrm>
            <a:off x="2718626" y="2157984"/>
            <a:ext cx="786384" cy="384048"/>
          </a:xfrm>
          <a:prstGeom prst="roundRect">
            <a:avLst>
              <a:gd name="adj" fmla="val 14286"/>
            </a:avLst>
          </a:prstGeom>
          <a:solidFill>
            <a:schemeClr val="bg1"/>
          </a:solidFill>
          <a:ln w="19050">
            <a:solidFill>
              <a:schemeClr val="accent1"/>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fib(4)</a:t>
            </a:r>
            <a:endParaRPr lang="en-US" sz="1300" dirty="0"/>
          </a:p>
        </p:txBody>
      </p:sp>
      <p:sp>
        <p:nvSpPr>
          <p:cNvPr id="26" name="Knoten fib(1)"/>
          <p:cNvSpPr txBox="1"/>
          <p:nvPr/>
        </p:nvSpPr>
        <p:spPr>
          <a:xfrm>
            <a:off x="5058918" y="3730752"/>
            <a:ext cx="786384" cy="384048"/>
          </a:xfrm>
          <a:prstGeom prst="roundRect">
            <a:avLst>
              <a:gd name="adj" fmla="val 14286"/>
            </a:avLst>
          </a:prstGeom>
          <a:solidFill>
            <a:srgbClr val="E2EFDA"/>
          </a:solidFill>
          <a:ln w="19050">
            <a:solidFill>
              <a:schemeClr val="accent3"/>
            </a:solidFill>
          </a:ln>
        </p:spPr>
        <p:txBody>
          <a:bodyPr wrap="square" lIns="0" tIns="0" rIns="0" bIns="0" rtlCol="0" anchor="ctr"/>
          <a:lstStyle/>
          <a:p>
            <a:pPr algn="ctr" indent="0" marL="0">
              <a:buNone/>
            </a:pPr>
            <a:r>
              <a:rPr lang="en-US" sz="1300" b="1" dirty="0">
                <a:solidFill>
                  <a:schemeClr val="accent3"/>
                </a:solidFill>
                <a:latin typeface="Consolas" pitchFamily="34" charset="0"/>
                <a:ea typeface="Consolas" pitchFamily="34" charset="-122"/>
                <a:cs typeface="Consolas" pitchFamily="34" charset="-120"/>
              </a:rPr>
              <a:t>fib(1)</a:t>
            </a:r>
            <a:endParaRPr lang="en-US" sz="1300" dirty="0"/>
          </a:p>
        </p:txBody>
      </p:sp>
      <p:sp>
        <p:nvSpPr>
          <p:cNvPr id="27" name="Knoten fib(0)"/>
          <p:cNvSpPr txBox="1"/>
          <p:nvPr/>
        </p:nvSpPr>
        <p:spPr>
          <a:xfrm>
            <a:off x="5950458" y="3730752"/>
            <a:ext cx="786384" cy="384048"/>
          </a:xfrm>
          <a:prstGeom prst="roundRect">
            <a:avLst>
              <a:gd name="adj" fmla="val 14286"/>
            </a:avLst>
          </a:prstGeom>
          <a:solidFill>
            <a:srgbClr val="E2EFDA"/>
          </a:solidFill>
          <a:ln w="19050">
            <a:solidFill>
              <a:schemeClr val="accent3"/>
            </a:solidFill>
          </a:ln>
        </p:spPr>
        <p:txBody>
          <a:bodyPr wrap="square" lIns="0" tIns="0" rIns="0" bIns="0" rtlCol="0" anchor="ctr"/>
          <a:lstStyle/>
          <a:p>
            <a:pPr algn="ctr" indent="0" marL="0">
              <a:buNone/>
            </a:pPr>
            <a:r>
              <a:rPr lang="en-US" sz="1300" b="1" dirty="0">
                <a:solidFill>
                  <a:schemeClr val="accent3"/>
                </a:solidFill>
                <a:latin typeface="Consolas" pitchFamily="34" charset="0"/>
                <a:ea typeface="Consolas" pitchFamily="34" charset="-122"/>
                <a:cs typeface="Consolas" pitchFamily="34" charset="-120"/>
              </a:rPr>
              <a:t>fib(0)</a:t>
            </a:r>
            <a:endParaRPr lang="en-US" sz="1300" dirty="0"/>
          </a:p>
        </p:txBody>
      </p:sp>
      <p:sp>
        <p:nvSpPr>
          <p:cNvPr id="28" name="Knoten fib(2)"/>
          <p:cNvSpPr txBox="1"/>
          <p:nvPr/>
        </p:nvSpPr>
        <p:spPr>
          <a:xfrm>
            <a:off x="5504688" y="2944368"/>
            <a:ext cx="786384" cy="384048"/>
          </a:xfrm>
          <a:prstGeom prst="roundRect">
            <a:avLst>
              <a:gd name="adj" fmla="val 14286"/>
            </a:avLst>
          </a:prstGeom>
          <a:solidFill>
            <a:srgbClr val="FFF2CC"/>
          </a:solidFill>
          <a:ln w="19050">
            <a:solidFill>
              <a:schemeClr val="accent2"/>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fib(2)</a:t>
            </a:r>
            <a:endParaRPr lang="en-US" sz="1300" dirty="0"/>
          </a:p>
        </p:txBody>
      </p:sp>
      <p:sp>
        <p:nvSpPr>
          <p:cNvPr id="29" name="Knoten fib(1)"/>
          <p:cNvSpPr txBox="1"/>
          <p:nvPr/>
        </p:nvSpPr>
        <p:spPr>
          <a:xfrm>
            <a:off x="6841998" y="2944368"/>
            <a:ext cx="786384" cy="384048"/>
          </a:xfrm>
          <a:prstGeom prst="roundRect">
            <a:avLst>
              <a:gd name="adj" fmla="val 14286"/>
            </a:avLst>
          </a:prstGeom>
          <a:solidFill>
            <a:srgbClr val="E2EFDA"/>
          </a:solidFill>
          <a:ln w="19050">
            <a:solidFill>
              <a:schemeClr val="accent3"/>
            </a:solidFill>
          </a:ln>
        </p:spPr>
        <p:txBody>
          <a:bodyPr wrap="square" lIns="0" tIns="0" rIns="0" bIns="0" rtlCol="0" anchor="ctr"/>
          <a:lstStyle/>
          <a:p>
            <a:pPr algn="ctr" indent="0" marL="0">
              <a:buNone/>
            </a:pPr>
            <a:r>
              <a:rPr lang="en-US" sz="1300" b="1" dirty="0">
                <a:solidFill>
                  <a:schemeClr val="accent3"/>
                </a:solidFill>
                <a:latin typeface="Consolas" pitchFamily="34" charset="0"/>
                <a:ea typeface="Consolas" pitchFamily="34" charset="-122"/>
                <a:cs typeface="Consolas" pitchFamily="34" charset="-120"/>
              </a:rPr>
              <a:t>fib(1)</a:t>
            </a:r>
            <a:endParaRPr lang="en-US" sz="1300" dirty="0"/>
          </a:p>
        </p:txBody>
      </p:sp>
      <p:sp>
        <p:nvSpPr>
          <p:cNvPr id="30" name="Knoten fib(3)"/>
          <p:cNvSpPr txBox="1"/>
          <p:nvPr/>
        </p:nvSpPr>
        <p:spPr>
          <a:xfrm>
            <a:off x="6173343" y="2157984"/>
            <a:ext cx="786384" cy="384048"/>
          </a:xfrm>
          <a:prstGeom prst="roundRect">
            <a:avLst>
              <a:gd name="adj" fmla="val 14286"/>
            </a:avLst>
          </a:prstGeom>
          <a:solidFill>
            <a:schemeClr val="bg1"/>
          </a:solidFill>
          <a:ln w="19050">
            <a:solidFill>
              <a:schemeClr val="accent1"/>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fib(3)</a:t>
            </a:r>
            <a:endParaRPr lang="en-US" sz="1300" dirty="0"/>
          </a:p>
        </p:txBody>
      </p:sp>
      <p:sp>
        <p:nvSpPr>
          <p:cNvPr id="31" name="Knoten fib(5)"/>
          <p:cNvSpPr txBox="1"/>
          <p:nvPr/>
        </p:nvSpPr>
        <p:spPr>
          <a:xfrm>
            <a:off x="4445984" y="1371600"/>
            <a:ext cx="786384" cy="384048"/>
          </a:xfrm>
          <a:prstGeom prst="roundRect">
            <a:avLst>
              <a:gd name="adj" fmla="val 14286"/>
            </a:avLst>
          </a:prstGeom>
          <a:solidFill>
            <a:schemeClr val="bg1"/>
          </a:solidFill>
          <a:ln w="19050">
            <a:solidFill>
              <a:schemeClr val="accent1"/>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fib(5)</a:t>
            </a:r>
            <a:endParaRPr lang="en-US" sz="1300" dirty="0"/>
          </a:p>
        </p:txBody>
      </p:sp>
      <p:sp>
        <p:nvSpPr>
          <p:cNvPr id="32" name="Text 30"/>
          <p:cNvSpPr txBox="1"/>
          <p:nvPr/>
        </p:nvSpPr>
        <p:spPr>
          <a:xfrm>
            <a:off x="548640" y="4937760"/>
            <a:ext cx="7132320" cy="274320"/>
          </a:xfrm>
          <a:prstGeom prst="rect">
            <a:avLst/>
          </a:prstGeom>
          <a:noFill/>
          <a:ln/>
        </p:spPr>
        <p:txBody>
          <a:bodyPr wrap="square" lIns="0" tIns="0" rIns="0" bIns="0" rtlCol="0" anchor="t"/>
          <a:lstStyle/>
          <a:p>
            <a:pPr indent="0" marL="0">
              <a:buNone/>
            </a:pPr>
            <a:r>
              <a:rPr lang="en-US" sz="1400" b="1" dirty="0">
                <a:solidFill>
                  <a:schemeClr val="accent3"/>
                </a:solidFill>
              </a:rPr>
              <a:t>grün: Basisfall</a:t>
            </a:r>
            <a:pPr indent="0" marL="0">
              <a:buNone/>
            </a:pPr>
            <a:r>
              <a:rPr lang="en-US" sz="1400" b="1" dirty="0">
                <a:solidFill>
                  <a:schemeClr val="accent2"/>
                </a:solidFill>
              </a:rPr>
              <a:t>   ·   gold: fib(2) wird 3-mal neu berechnet</a:t>
            </a:r>
            <a:endParaRPr lang="en-US" sz="1400" dirty="0"/>
          </a:p>
        </p:txBody>
      </p:sp>
      <p:graphicFrame>
        <p:nvGraphicFramePr>
          <p:cNvPr id="13" name="Aufrufe fibonacci"/>
          <p:cNvGraphicFramePr>
            <a:graphicFrameLocks noGrp="1"/>
          </p:cNvGraphicFramePr>
          <p:nvPr>
            <p:extLst>
              <p:ext uri="{D42A27DB-BD31-4B8C-83A1-F6EECF244321}">
                <p14:modId xmlns:p14="http://schemas.microsoft.com/office/powerpoint/2010/main" val="1579011935"/>
              </p:ext>
            </p:extLst>
          </p:nvPr>
        </p:nvGraphicFramePr>
        <p:xfrm>
          <a:off x="548640" y="5303520"/>
          <a:ext cx="7132320" cy="914400"/>
        </p:xfrm>
        <a:graphic>
          <a:graphicData uri="http://schemas.openxmlformats.org/drawingml/2006/table">
            <a:tbl>
              <a:tblPr/>
              <a:tblGrid>
                <a:gridCol w="987552"/>
                <a:gridCol w="558607"/>
                <a:gridCol w="558607"/>
                <a:gridCol w="558607"/>
                <a:gridCol w="558607"/>
                <a:gridCol w="558607"/>
                <a:gridCol w="558607"/>
                <a:gridCol w="558607"/>
                <a:gridCol w="558607"/>
                <a:gridCol w="558607"/>
                <a:gridCol w="558607"/>
                <a:gridCol w="558607"/>
              </a:tblGrid>
              <a:tr h="384048">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84048">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Aufrufe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3</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5</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9</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onsolas" pitchFamily="34" charset="0"/>
                          <a:ea typeface="Consolas" pitchFamily="34" charset="-122"/>
                          <a:cs typeface="Consolas" pitchFamily="34" charset="-120"/>
                        </a:rPr>
                        <a:t>15</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25</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41</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67</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109</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177</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34" name="Code"/>
          <p:cNvSpPr txBox="1"/>
          <p:nvPr/>
        </p:nvSpPr>
        <p:spPr>
          <a:xfrm>
            <a:off x="8001000" y="1325880"/>
            <a:ext cx="3611880" cy="17241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400"/>
              </a:lnSpc>
              <a:buNone/>
            </a:pPr>
            <a:r>
              <a:rPr lang="en-US" sz="1150" b="1" dirty="0">
                <a:solidFill>
                  <a:schemeClr val="accent1"/>
                </a:solidFill>
                <a:latin typeface="Consolas" pitchFamily="34" charset="0"/>
                <a:ea typeface="Consolas" pitchFamily="34" charset="-122"/>
                <a:cs typeface="Consolas" pitchFamily="34" charset="-120"/>
              </a:rPr>
              <a:t>public</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50" b="1" dirty="0">
                <a:solidFill>
                  <a:schemeClr val="accent1"/>
                </a:solidFill>
                <a:latin typeface="Consolas" pitchFamily="34" charset="0"/>
                <a:ea typeface="Consolas" pitchFamily="34" charset="-122"/>
                <a:cs typeface="Consolas" pitchFamily="34" charset="-120"/>
              </a:rPr>
              <a:t>static</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5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fibonacci</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5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n</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endParaRPr lang="en-US" sz="1150" dirty="0"/>
          </a:p>
          <a:p>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aufrufe</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a:t>
            </a:r>
            <a:endParaRPr lang="en-US" sz="1150" dirty="0"/>
          </a:p>
          <a:p>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5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n</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&lt; 2) {</a:t>
            </a:r>
            <a:endParaRPr lang="en-US" sz="1150" dirty="0"/>
          </a:p>
          <a:p>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5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n</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a:t>
            </a:r>
            <a:endParaRPr lang="en-US" sz="1150" dirty="0"/>
          </a:p>
          <a:p>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endParaRPr lang="en-US" sz="1150" dirty="0"/>
          </a:p>
          <a:p>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5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fibonacci</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n</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- 1)</a:t>
            </a:r>
            <a:endParaRPr lang="en-US" sz="1150" dirty="0"/>
          </a:p>
          <a:p>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fibonacci</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n</a:t>
            </a:r>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 - 2);</a:t>
            </a:r>
            <a:endParaRPr lang="en-US" sz="1150" dirty="0"/>
          </a:p>
          <a:p>
            <a:pPr algn="l" indent="0" marL="0">
              <a:lnSpc>
                <a:spcPts val="1400"/>
              </a:lnSpc>
              <a:buNone/>
            </a:pPr>
            <a:r>
              <a:rPr lang="en-US" sz="1150" dirty="0">
                <a:solidFill>
                  <a:schemeClr val="tx1"/>
                </a:solidFill>
                <a:latin typeface="Consolas" pitchFamily="34" charset="0"/>
                <a:ea typeface="Consolas" pitchFamily="34" charset="-122"/>
                <a:cs typeface="Consolas" pitchFamily="34" charset="-120"/>
              </a:rPr>
              <a:t>}</a:t>
            </a:r>
            <a:endParaRPr lang="en-US" sz="1150" dirty="0"/>
          </a:p>
        </p:txBody>
      </p:sp>
      <p:sp>
        <p:nvSpPr>
          <p:cNvPr id="35" name="Aufrufe bestimmen"/>
          <p:cNvSpPr/>
          <p:nvPr/>
        </p:nvSpPr>
        <p:spPr>
          <a:xfrm>
            <a:off x="8001000" y="3200400"/>
            <a:ext cx="3611880" cy="1600200"/>
          </a:xfrm>
          <a:prstGeom prst="roundRect">
            <a:avLst>
              <a:gd name="adj" fmla="val 6857"/>
            </a:avLst>
          </a:prstGeom>
          <a:solidFill>
            <a:schemeClr val="bg2"/>
          </a:solidFill>
          <a:ln/>
        </p:spPr>
      </p:sp>
      <p:sp>
        <p:nvSpPr>
          <p:cNvPr id="36" name="Text 33"/>
          <p:cNvSpPr txBox="1"/>
          <p:nvPr/>
        </p:nvSpPr>
        <p:spPr>
          <a:xfrm>
            <a:off x="8202168" y="3200400"/>
            <a:ext cx="3246120" cy="1600200"/>
          </a:xfrm>
          <a:prstGeom prst="rect">
            <a:avLst/>
          </a:prstGeom>
          <a:noFill/>
          <a:ln/>
        </p:spPr>
        <p:txBody>
          <a:bodyPr wrap="square" lIns="0" tIns="0" rIns="0" bIns="0" rtlCol="0" anchor="ctr"/>
          <a:lstStyle/>
          <a:p>
            <a:pPr indent="0" marL="0">
              <a:buNone/>
            </a:pPr>
            <a:r>
              <a:rPr lang="en-US" sz="1600" b="1" dirty="0">
                <a:solidFill>
                  <a:schemeClr val="accent1"/>
                </a:solidFill>
              </a:rPr>
              <a:t>Aufrufe bestimmen</a:t>
            </a:r>
            <a:endParaRPr lang="en-US" sz="1600" dirty="0"/>
          </a:p>
          <a:p>
            <a:pPr indent="0" marL="0">
              <a:buNone/>
            </a:pPr>
            <a:r>
              <a:rPr lang="en-US" sz="1600" dirty="0">
                <a:solidFill>
                  <a:schemeClr val="tx1"/>
                </a:solidFill>
              </a:rPr>
              <a:t>A(0) = A(1) = 1</a:t>
            </a:r>
            <a:endParaRPr lang="en-US" sz="1600" dirty="0"/>
          </a:p>
          <a:p>
            <a:pPr indent="0" marL="0">
              <a:buNone/>
            </a:pPr>
            <a:r>
              <a:rPr lang="en-US" sz="1600" dirty="0">
                <a:solidFill>
                  <a:schemeClr val="tx1"/>
                </a:solidFill>
              </a:rPr>
              <a:t>A(n) = A(n − 1) + A(n − 2) + 1</a:t>
            </a:r>
            <a:endParaRPr lang="en-US" sz="1600" dirty="0"/>
          </a:p>
          <a:p>
            <a:pPr indent="0" marL="0">
              <a:buNone/>
            </a:pPr>
            <a:r>
              <a:rPr lang="en-US" sz="1600" b="1" dirty="0">
                <a:solidFill>
                  <a:schemeClr val="tx1"/>
                </a:solidFill>
              </a:rPr>
              <a:t>A(5) = 9 + 5 + 1 = 15</a:t>
            </a:r>
            <a:endParaRPr lang="en-US" sz="1600" dirty="0"/>
          </a:p>
        </p:txBody>
      </p:sp>
      <p:sp>
        <p:nvSpPr>
          <p:cNvPr id="37" name="Verschwendung"/>
          <p:cNvSpPr/>
          <p:nvPr/>
        </p:nvSpPr>
        <p:spPr>
          <a:xfrm>
            <a:off x="8001000" y="4937760"/>
            <a:ext cx="3611880" cy="1188720"/>
          </a:xfrm>
          <a:prstGeom prst="roundRect">
            <a:avLst>
              <a:gd name="adj" fmla="val 9231"/>
            </a:avLst>
          </a:prstGeom>
          <a:solidFill>
            <a:schemeClr val="bg1"/>
          </a:solidFill>
          <a:ln w="25400">
            <a:solidFill>
              <a:schemeClr val="accent4"/>
            </a:solidFill>
            <a:prstDash val="solid"/>
          </a:ln>
        </p:spPr>
      </p:sp>
      <p:sp>
        <p:nvSpPr>
          <p:cNvPr id="38" name="Text 35"/>
          <p:cNvSpPr txBox="1"/>
          <p:nvPr/>
        </p:nvSpPr>
        <p:spPr>
          <a:xfrm>
            <a:off x="8202168" y="4937760"/>
            <a:ext cx="3246120" cy="1188720"/>
          </a:xfrm>
          <a:prstGeom prst="rect">
            <a:avLst/>
          </a:prstGeom>
          <a:noFill/>
          <a:ln/>
        </p:spPr>
        <p:txBody>
          <a:bodyPr wrap="square" lIns="0" tIns="0" rIns="0" bIns="0" rtlCol="0" anchor="ctr"/>
          <a:lstStyle/>
          <a:p>
            <a:pPr indent="0" marL="0">
              <a:buNone/>
            </a:pPr>
            <a:r>
              <a:rPr lang="en-US" sz="1500" b="1" dirty="0">
                <a:solidFill>
                  <a:schemeClr val="accent4"/>
                </a:solidFill>
              </a:rPr>
              <a:t>Verschwendung: </a:t>
            </a:r>
            <a:pPr indent="0" marL="0">
              <a:buNone/>
            </a:pPr>
            <a:r>
              <a:rPr lang="en-US" sz="1500" dirty="0">
                <a:solidFill>
                  <a:schemeClr val="tx1"/>
                </a:solidFill>
              </a:rPr>
              <a:t>n + 1 → etwa 1,6-mal so viele Aufrufe. Größte Tiefe: n − 1 = 4.</a:t>
            </a:r>
            <a:endParaRPr lang="en-US" sz="1500" dirty="0"/>
          </a:p>
        </p:txBody>
      </p:sp>
      <p:sp>
        <p:nvSpPr>
          <p:cNvPr id="39" name="Text 36"/>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Rekursion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Wenn der Stapel überläuft: StackOverflowError</a:t>
            </a:r>
            <a:endParaRPr lang="en-US" sz="3600" dirty="0"/>
          </a:p>
        </p:txBody>
      </p:sp>
      <p:sp>
        <p:nvSpPr>
          <p:cNvPr id="3" name="Nummer 1"/>
          <p:cNvSpPr txBox="1"/>
          <p:nvPr/>
        </p:nvSpPr>
        <p:spPr>
          <a:xfrm>
            <a:off x="548640" y="1325880"/>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4" name="Text 2"/>
          <p:cNvSpPr txBox="1"/>
          <p:nvPr/>
        </p:nvSpPr>
        <p:spPr>
          <a:xfrm>
            <a:off x="1097280" y="1325880"/>
            <a:ext cx="5120640" cy="411480"/>
          </a:xfrm>
          <a:prstGeom prst="rect">
            <a:avLst/>
          </a:prstGeom>
          <a:noFill/>
          <a:ln/>
        </p:spPr>
        <p:txBody>
          <a:bodyPr wrap="square" lIns="0" tIns="0" rIns="0" bIns="0" rtlCol="0" anchor="ctr"/>
          <a:lstStyle/>
          <a:p>
            <a:pPr indent="0" marL="0">
              <a:buNone/>
            </a:pPr>
            <a:r>
              <a:rPr lang="en-US" sz="1800" b="1" dirty="0">
                <a:solidFill>
                  <a:schemeClr val="accent4"/>
                </a:solidFill>
              </a:rPr>
              <a:t>Basisfall fehlt</a:t>
            </a:r>
            <a:endParaRPr lang="en-US" sz="1800" dirty="0"/>
          </a:p>
        </p:txBody>
      </p:sp>
      <p:sp>
        <p:nvSpPr>
          <p:cNvPr id="5" name="Code"/>
          <p:cNvSpPr txBox="1"/>
          <p:nvPr/>
        </p:nvSpPr>
        <p:spPr>
          <a:xfrm>
            <a:off x="1097280" y="1783080"/>
            <a:ext cx="5120640" cy="873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fakultaet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fakultaet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6" name="Nummer 2"/>
          <p:cNvSpPr txBox="1"/>
          <p:nvPr/>
        </p:nvSpPr>
        <p:spPr>
          <a:xfrm>
            <a:off x="548640" y="2802636"/>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7" name="Text 5"/>
          <p:cNvSpPr txBox="1"/>
          <p:nvPr/>
        </p:nvSpPr>
        <p:spPr>
          <a:xfrm>
            <a:off x="1097280" y="2802636"/>
            <a:ext cx="5120640" cy="411480"/>
          </a:xfrm>
          <a:prstGeom prst="rect">
            <a:avLst/>
          </a:prstGeom>
          <a:noFill/>
          <a:ln/>
        </p:spPr>
        <p:txBody>
          <a:bodyPr wrap="square" lIns="0" tIns="0" rIns="0" bIns="0" rtlCol="0" anchor="ctr"/>
          <a:lstStyle/>
          <a:p>
            <a:pPr indent="0" marL="0">
              <a:buNone/>
            </a:pPr>
            <a:r>
              <a:rPr lang="en-US" sz="1800" b="1" dirty="0">
                <a:solidFill>
                  <a:schemeClr val="accent4"/>
                </a:solidFill>
              </a:rPr>
              <a:t>Problem wird nicht kleiner</a:t>
            </a:r>
            <a:endParaRPr lang="en-US" sz="1800" dirty="0"/>
          </a:p>
        </p:txBody>
      </p:sp>
      <p:sp>
        <p:nvSpPr>
          <p:cNvPr id="8" name="Code"/>
          <p:cNvSpPr txBox="1"/>
          <p:nvPr/>
        </p:nvSpPr>
        <p:spPr>
          <a:xfrm>
            <a:off x="1097280" y="3259836"/>
            <a:ext cx="5120640" cy="492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fakultaet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9" name="Nummer 3"/>
          <p:cNvSpPr txBox="1"/>
          <p:nvPr/>
        </p:nvSpPr>
        <p:spPr>
          <a:xfrm>
            <a:off x="548640" y="3898392"/>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0" name="Text 8"/>
          <p:cNvSpPr txBox="1"/>
          <p:nvPr/>
        </p:nvSpPr>
        <p:spPr>
          <a:xfrm>
            <a:off x="1097280" y="3898392"/>
            <a:ext cx="5120640" cy="411480"/>
          </a:xfrm>
          <a:prstGeom prst="rect">
            <a:avLst/>
          </a:prstGeom>
          <a:noFill/>
          <a:ln/>
        </p:spPr>
        <p:txBody>
          <a:bodyPr wrap="square" lIns="0" tIns="0" rIns="0" bIns="0" rtlCol="0" anchor="ctr"/>
          <a:lstStyle/>
          <a:p>
            <a:pPr indent="0" marL="0">
              <a:buNone/>
            </a:pPr>
            <a:r>
              <a:rPr lang="en-US" sz="1800" b="1" dirty="0">
                <a:solidFill>
                  <a:schemeClr val="accent4"/>
                </a:solidFill>
              </a:rPr>
              <a:t>Basisfall wird übersprungen</a:t>
            </a:r>
            <a:endParaRPr lang="en-US" sz="1800" dirty="0"/>
          </a:p>
        </p:txBody>
      </p:sp>
      <p:sp>
        <p:nvSpPr>
          <p:cNvPr id="11" name="Code"/>
          <p:cNvSpPr txBox="1"/>
          <p:nvPr/>
        </p:nvSpPr>
        <p:spPr>
          <a:xfrm>
            <a:off x="1097280" y="4355592"/>
            <a:ext cx="5120640" cy="492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fakultaet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n: -1, -2, -3, … nie 0</a:t>
            </a:r>
            <a:endParaRPr lang="en-US" sz="1200" dirty="0"/>
          </a:p>
        </p:txBody>
      </p:sp>
      <p:sp>
        <p:nvSpPr>
          <p:cNvPr id="12" name="Text 10"/>
          <p:cNvSpPr txBox="1"/>
          <p:nvPr/>
        </p:nvSpPr>
        <p:spPr>
          <a:xfrm>
            <a:off x="548640" y="5029200"/>
            <a:ext cx="5669280" cy="411480"/>
          </a:xfrm>
          <a:prstGeom prst="rect">
            <a:avLst/>
          </a:prstGeom>
          <a:solidFill>
            <a:srgbClr val="2E2A28"/>
          </a:solidFill>
          <a:ln/>
        </p:spPr>
        <p:txBody>
          <a:bodyPr wrap="square" lIns="101600" tIns="0" rIns="76200" bIns="0" rtlCol="0" anchor="ctr"/>
          <a:lstStyle/>
          <a:p>
            <a:pPr indent="0" marL="0">
              <a:buNone/>
            </a:pPr>
            <a:r>
              <a:rPr lang="en-US" sz="1200" dirty="0">
                <a:solidFill>
                  <a:srgbClr val="FF8080"/>
                </a:solidFill>
                <a:latin typeface="Consolas" pitchFamily="34" charset="0"/>
                <a:ea typeface="Consolas" pitchFamily="34" charset="-122"/>
                <a:cs typeface="Consolas" pitchFamily="34" charset="-120"/>
              </a:rPr>
              <a:t>Exception in thread "main" java.lang.StackOverflowError</a:t>
            </a:r>
            <a:endParaRPr lang="en-US" sz="1200" dirty="0"/>
          </a:p>
        </p:txBody>
      </p:sp>
      <p:sp>
        <p:nvSpPr>
          <p:cNvPr id="13" name="Text 11"/>
          <p:cNvSpPr txBox="1"/>
          <p:nvPr/>
        </p:nvSpPr>
        <p:spPr>
          <a:xfrm>
            <a:off x="548640" y="5468112"/>
            <a:ext cx="5669280" cy="256032"/>
          </a:xfrm>
          <a:prstGeom prst="rect">
            <a:avLst/>
          </a:prstGeom>
          <a:noFill/>
          <a:ln/>
        </p:spPr>
        <p:txBody>
          <a:bodyPr wrap="square" lIns="0" tIns="0" rIns="0" bIns="0" rtlCol="0" anchor="t"/>
          <a:lstStyle/>
          <a:p>
            <a:pPr indent="0" marL="0">
              <a:buNone/>
            </a:pPr>
            <a:r>
              <a:rPr lang="en-US" sz="1300" i="1" dirty="0">
                <a:solidFill>
                  <a:schemeClr val="accent6"/>
                </a:solidFill>
              </a:rPr>
              <a:t>alle drei Fälle mit javac ausgeführt</a:t>
            </a:r>
            <a:endParaRPr lang="en-US" sz="1300" dirty="0"/>
          </a:p>
        </p:txBody>
      </p:sp>
      <p:sp>
        <p:nvSpPr>
          <p:cNvPr id="14" name="Stapelspeicher"/>
          <p:cNvSpPr/>
          <p:nvPr/>
        </p:nvSpPr>
        <p:spPr>
          <a:xfrm>
            <a:off x="7498080" y="2103120"/>
            <a:ext cx="3108960" cy="4023360"/>
          </a:xfrm>
          <a:prstGeom prst="rect">
            <a:avLst/>
          </a:prstGeom>
          <a:solidFill>
            <a:schemeClr val="accent5"/>
          </a:solidFill>
          <a:ln w="31750">
            <a:solidFill>
              <a:schemeClr val="accent1"/>
            </a:solidFill>
            <a:prstDash val="solid"/>
          </a:ln>
        </p:spPr>
      </p:sp>
      <p:sp>
        <p:nvSpPr>
          <p:cNvPr id="15" name="Text 13"/>
          <p:cNvSpPr txBox="1"/>
          <p:nvPr/>
        </p:nvSpPr>
        <p:spPr>
          <a:xfrm>
            <a:off x="7498080" y="6144768"/>
            <a:ext cx="3108960" cy="256032"/>
          </a:xfrm>
          <a:prstGeom prst="rect">
            <a:avLst/>
          </a:prstGeom>
          <a:noFill/>
          <a:ln/>
        </p:spPr>
        <p:txBody>
          <a:bodyPr wrap="square" lIns="0" tIns="0" rIns="0" bIns="0" rtlCol="0" anchor="t"/>
          <a:lstStyle/>
          <a:p>
            <a:pPr algn="ctr" indent="0" marL="0">
              <a:buNone/>
            </a:pPr>
            <a:r>
              <a:rPr lang="en-US" sz="1300" b="1" dirty="0">
                <a:solidFill>
                  <a:schemeClr val="accent1"/>
                </a:solidFill>
              </a:rPr>
              <a:t>Stapel-Speicher</a:t>
            </a:r>
            <a:endParaRPr lang="en-US" sz="1300" dirty="0"/>
          </a:p>
        </p:txBody>
      </p:sp>
      <p:sp>
        <p:nvSpPr>
          <p:cNvPr id="16" name="Rahmen fakultaet(4)"/>
          <p:cNvSpPr txBox="1"/>
          <p:nvPr/>
        </p:nvSpPr>
        <p:spPr>
          <a:xfrm>
            <a:off x="7680960" y="5623560"/>
            <a:ext cx="2743200" cy="393192"/>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fakultaet(4)</a:t>
            </a:r>
            <a:endParaRPr lang="en-US" sz="1300" dirty="0"/>
          </a:p>
        </p:txBody>
      </p:sp>
      <p:sp>
        <p:nvSpPr>
          <p:cNvPr id="17" name="Rahmen fakultaet(3)"/>
          <p:cNvSpPr txBox="1"/>
          <p:nvPr/>
        </p:nvSpPr>
        <p:spPr>
          <a:xfrm>
            <a:off x="7680960" y="5166360"/>
            <a:ext cx="2743200" cy="393192"/>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fakultaet(3)</a:t>
            </a:r>
            <a:endParaRPr lang="en-US" sz="1300" dirty="0"/>
          </a:p>
        </p:txBody>
      </p:sp>
      <p:sp>
        <p:nvSpPr>
          <p:cNvPr id="18" name="Rahmen fakultaet(2)"/>
          <p:cNvSpPr txBox="1"/>
          <p:nvPr/>
        </p:nvSpPr>
        <p:spPr>
          <a:xfrm>
            <a:off x="7680960" y="4709160"/>
            <a:ext cx="2743200" cy="393192"/>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fakultaet(2)</a:t>
            </a:r>
            <a:endParaRPr lang="en-US" sz="1300" dirty="0"/>
          </a:p>
        </p:txBody>
      </p:sp>
      <p:sp>
        <p:nvSpPr>
          <p:cNvPr id="19" name="Rahmen fakultaet(1)"/>
          <p:cNvSpPr txBox="1"/>
          <p:nvPr/>
        </p:nvSpPr>
        <p:spPr>
          <a:xfrm>
            <a:off x="7680960" y="4251960"/>
            <a:ext cx="2743200" cy="393192"/>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fakultaet(1)</a:t>
            </a:r>
            <a:endParaRPr lang="en-US" sz="1300" dirty="0"/>
          </a:p>
        </p:txBody>
      </p:sp>
      <p:sp>
        <p:nvSpPr>
          <p:cNvPr id="20" name="Rahmen fakultaet(0)"/>
          <p:cNvSpPr txBox="1"/>
          <p:nvPr/>
        </p:nvSpPr>
        <p:spPr>
          <a:xfrm>
            <a:off x="7680960" y="3794760"/>
            <a:ext cx="2743200" cy="393192"/>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fakultaet(0)</a:t>
            </a:r>
            <a:endParaRPr lang="en-US" sz="1300" dirty="0"/>
          </a:p>
        </p:txBody>
      </p:sp>
      <p:sp>
        <p:nvSpPr>
          <p:cNvPr id="21" name="Rahmen fakultaet(-1)"/>
          <p:cNvSpPr txBox="1"/>
          <p:nvPr/>
        </p:nvSpPr>
        <p:spPr>
          <a:xfrm>
            <a:off x="7680960" y="3337560"/>
            <a:ext cx="2743200" cy="393192"/>
          </a:xfrm>
          <a:prstGeom prst="rect">
            <a:avLst/>
          </a:prstGeom>
          <a:solidFill>
            <a:srgbClr val="FBE5E5"/>
          </a:solidFill>
          <a:ln w="15875">
            <a:solidFill>
              <a:schemeClr val="accent4"/>
            </a:solidFill>
          </a:ln>
        </p:spPr>
        <p:txBody>
          <a:bodyPr wrap="square" lIns="0" tIns="0" rIns="0" bIns="0" rtlCol="0" anchor="ctr"/>
          <a:lstStyle/>
          <a:p>
            <a:pPr algn="ctr" indent="0" marL="0">
              <a:buNone/>
            </a:pPr>
            <a:r>
              <a:rPr lang="en-US" sz="1300" b="1" dirty="0">
                <a:solidFill>
                  <a:schemeClr val="accent4"/>
                </a:solidFill>
                <a:latin typeface="Consolas" pitchFamily="34" charset="0"/>
                <a:ea typeface="Consolas" pitchFamily="34" charset="-122"/>
                <a:cs typeface="Consolas" pitchFamily="34" charset="-120"/>
              </a:rPr>
              <a:t>fakultaet(-1)</a:t>
            </a:r>
            <a:endParaRPr lang="en-US" sz="1300" dirty="0"/>
          </a:p>
        </p:txBody>
      </p:sp>
      <p:sp>
        <p:nvSpPr>
          <p:cNvPr id="22" name="Rahmen fakultaet(-2)"/>
          <p:cNvSpPr txBox="1"/>
          <p:nvPr/>
        </p:nvSpPr>
        <p:spPr>
          <a:xfrm>
            <a:off x="7680960" y="2880360"/>
            <a:ext cx="2743200" cy="393192"/>
          </a:xfrm>
          <a:prstGeom prst="rect">
            <a:avLst/>
          </a:prstGeom>
          <a:solidFill>
            <a:srgbClr val="FBE5E5"/>
          </a:solidFill>
          <a:ln w="15875">
            <a:solidFill>
              <a:schemeClr val="accent4"/>
            </a:solidFill>
          </a:ln>
        </p:spPr>
        <p:txBody>
          <a:bodyPr wrap="square" lIns="0" tIns="0" rIns="0" bIns="0" rtlCol="0" anchor="ctr"/>
          <a:lstStyle/>
          <a:p>
            <a:pPr algn="ctr" indent="0" marL="0">
              <a:buNone/>
            </a:pPr>
            <a:r>
              <a:rPr lang="en-US" sz="1300" b="1" dirty="0">
                <a:solidFill>
                  <a:schemeClr val="accent4"/>
                </a:solidFill>
                <a:latin typeface="Consolas" pitchFamily="34" charset="0"/>
                <a:ea typeface="Consolas" pitchFamily="34" charset="-122"/>
                <a:cs typeface="Consolas" pitchFamily="34" charset="-120"/>
              </a:rPr>
              <a:t>fakultaet(-2)</a:t>
            </a:r>
            <a:endParaRPr lang="en-US" sz="1300" dirty="0"/>
          </a:p>
        </p:txBody>
      </p:sp>
      <p:sp>
        <p:nvSpPr>
          <p:cNvPr id="23" name="Rahmen fakultaet(-3)"/>
          <p:cNvSpPr txBox="1"/>
          <p:nvPr/>
        </p:nvSpPr>
        <p:spPr>
          <a:xfrm>
            <a:off x="7680960" y="2423160"/>
            <a:ext cx="2743200" cy="393192"/>
          </a:xfrm>
          <a:prstGeom prst="rect">
            <a:avLst/>
          </a:prstGeom>
          <a:solidFill>
            <a:srgbClr val="FBE5E5"/>
          </a:solidFill>
          <a:ln w="15875">
            <a:solidFill>
              <a:schemeClr val="accent4"/>
            </a:solidFill>
          </a:ln>
        </p:spPr>
        <p:txBody>
          <a:bodyPr wrap="square" lIns="0" tIns="0" rIns="0" bIns="0" rtlCol="0" anchor="ctr"/>
          <a:lstStyle/>
          <a:p>
            <a:pPr algn="ctr" indent="0" marL="0">
              <a:buNone/>
            </a:pPr>
            <a:r>
              <a:rPr lang="en-US" sz="1300" b="1" dirty="0">
                <a:solidFill>
                  <a:schemeClr val="accent4"/>
                </a:solidFill>
                <a:latin typeface="Consolas" pitchFamily="34" charset="0"/>
                <a:ea typeface="Consolas" pitchFamily="34" charset="-122"/>
                <a:cs typeface="Consolas" pitchFamily="34" charset="-120"/>
              </a:rPr>
              <a:t>fakultaet(-3)</a:t>
            </a:r>
            <a:endParaRPr lang="en-US" sz="1300" dirty="0"/>
          </a:p>
        </p:txBody>
      </p:sp>
      <p:sp>
        <p:nvSpPr>
          <p:cNvPr id="24" name="Rahmen fakultaet(-4)"/>
          <p:cNvSpPr txBox="1"/>
          <p:nvPr/>
        </p:nvSpPr>
        <p:spPr>
          <a:xfrm>
            <a:off x="7571232" y="1965960"/>
            <a:ext cx="2743200" cy="393192"/>
          </a:xfrm>
          <a:prstGeom prst="rect">
            <a:avLst/>
          </a:prstGeom>
          <a:solidFill>
            <a:srgbClr val="FBE5E5"/>
          </a:solidFill>
          <a:ln w="15875">
            <a:solidFill>
              <a:schemeClr val="accent4"/>
            </a:solidFill>
          </a:ln>
        </p:spPr>
        <p:txBody>
          <a:bodyPr wrap="square" lIns="0" tIns="0" rIns="0" bIns="0" rtlCol="0" anchor="ctr"/>
          <a:lstStyle/>
          <a:p>
            <a:pPr algn="ctr" indent="0" marL="0">
              <a:buNone/>
            </a:pPr>
            <a:r>
              <a:rPr lang="en-US" sz="1300" b="1" dirty="0">
                <a:solidFill>
                  <a:schemeClr val="accent4"/>
                </a:solidFill>
                <a:latin typeface="Consolas" pitchFamily="34" charset="0"/>
                <a:ea typeface="Consolas" pitchFamily="34" charset="-122"/>
                <a:cs typeface="Consolas" pitchFamily="34" charset="-120"/>
              </a:rPr>
              <a:t>fakultaet(-4)</a:t>
            </a:r>
            <a:endParaRPr lang="en-US" sz="1300" dirty="0"/>
          </a:p>
        </p:txBody>
      </p:sp>
      <p:sp>
        <p:nvSpPr>
          <p:cNvPr id="25" name="Icon-Kreis"/>
          <p:cNvSpPr/>
          <p:nvPr/>
        </p:nvSpPr>
        <p:spPr>
          <a:xfrm>
            <a:off x="10744200" y="1188720"/>
            <a:ext cx="822960" cy="822960"/>
          </a:xfrm>
          <a:prstGeom prst="ellipse">
            <a:avLst/>
          </a:prstGeom>
          <a:solidFill>
            <a:schemeClr val="accent4"/>
          </a:solidFill>
          <a:ln/>
        </p:spPr>
      </p:sp>
      <p:pic>
        <p:nvPicPr>
          <p:cNvPr id="26" name="Icon GiExplosionRays" descr="preencoded.png">    </p:cNvPr>
          <p:cNvPicPr>
            <a:picLocks noChangeAspect="1"/>
          </p:cNvPicPr>
          <p:nvPr/>
        </p:nvPicPr>
        <p:blipFill>
          <a:blip r:embed="rId1"/>
          <a:stretch>
            <a:fillRect/>
          </a:stretch>
        </p:blipFill>
        <p:spPr>
          <a:xfrm>
            <a:off x="10925251" y="1369771"/>
            <a:ext cx="460858" cy="460858"/>
          </a:xfrm>
          <a:prstGeom prst="rect">
            <a:avLst/>
          </a:prstGeom>
        </p:spPr>
      </p:pic>
      <p:sp>
        <p:nvSpPr>
          <p:cNvPr id="27" name="Text 24"/>
          <p:cNvSpPr txBox="1"/>
          <p:nvPr/>
        </p:nvSpPr>
        <p:spPr>
          <a:xfrm>
            <a:off x="6583680" y="1261872"/>
            <a:ext cx="4023360" cy="640080"/>
          </a:xfrm>
          <a:prstGeom prst="rect">
            <a:avLst/>
          </a:prstGeom>
          <a:noFill/>
          <a:ln/>
        </p:spPr>
        <p:txBody>
          <a:bodyPr wrap="square" lIns="0" tIns="0" rIns="0" bIns="0" rtlCol="0" anchor="t"/>
          <a:lstStyle/>
          <a:p>
            <a:pPr indent="0" marL="0">
              <a:buNone/>
            </a:pPr>
            <a:r>
              <a:rPr lang="en-US" sz="1500" i="1" dirty="0">
                <a:solidFill>
                  <a:schemeClr val="accent4"/>
                </a:solidFill>
              </a:rPr>
              <a:t>Basisfall n = 0 wurde verpasst – der Stapel wächst, bis er voll ist.</a:t>
            </a:r>
            <a:endParaRPr lang="en-US" sz="1500" dirty="0"/>
          </a:p>
        </p:txBody>
      </p:sp>
      <p:sp>
        <p:nvSpPr>
          <p:cNvPr id="28" name="Merke Stapel"/>
          <p:cNvSpPr/>
          <p:nvPr/>
        </p:nvSpPr>
        <p:spPr>
          <a:xfrm>
            <a:off x="548640" y="5760720"/>
            <a:ext cx="5669280" cy="411480"/>
          </a:xfrm>
          <a:prstGeom prst="roundRect">
            <a:avLst>
              <a:gd name="adj" fmla="val 26667"/>
            </a:avLst>
          </a:prstGeom>
          <a:solidFill>
            <a:schemeClr val="bg2"/>
          </a:solidFill>
          <a:ln/>
        </p:spPr>
      </p:sp>
      <p:sp>
        <p:nvSpPr>
          <p:cNvPr id="29" name="Text 26"/>
          <p:cNvSpPr txBox="1"/>
          <p:nvPr/>
        </p:nvSpPr>
        <p:spPr>
          <a:xfrm>
            <a:off x="749808" y="5760720"/>
            <a:ext cx="5303520" cy="411480"/>
          </a:xfrm>
          <a:prstGeom prst="rect">
            <a:avLst/>
          </a:prstGeom>
          <a:noFill/>
          <a:ln/>
        </p:spPr>
        <p:txBody>
          <a:bodyPr wrap="square" lIns="0" tIns="0" rIns="0" bIns="0" rtlCol="0" anchor="ctr"/>
          <a:lstStyle/>
          <a:p>
            <a:pPr indent="0" marL="0">
              <a:buNone/>
            </a:pPr>
            <a:r>
              <a:rPr lang="en-US" sz="1500" b="1" dirty="0">
                <a:solidFill>
                  <a:schemeClr val="accent1"/>
                </a:solidFill>
              </a:rPr>
              <a:t>Merke: </a:t>
            </a:r>
            <a:pPr indent="0" marL="0">
              <a:buNone/>
            </a:pPr>
            <a:r>
              <a:rPr lang="en-US" sz="1500" dirty="0">
                <a:solidFill>
                  <a:schemeClr val="tx1"/>
                </a:solidFill>
              </a:rPr>
              <a:t>Jeder Aufruf belegt Platz auf dem Stapel.</a:t>
            </a:r>
            <a:endParaRPr lang="en-US" sz="1500" dirty="0"/>
          </a:p>
        </p:txBody>
      </p:sp>
      <p:sp>
        <p:nvSpPr>
          <p:cNvPr id="30" name="Text 27"/>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Rekursion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Deko für den Dungeon: rekursive Fraktale</a:t>
            </a:r>
            <a:endParaRPr lang="en-US" sz="3600" dirty="0"/>
          </a:p>
        </p:txBody>
      </p:sp>
      <p:sp>
        <p:nvSpPr>
          <p:cNvPr id="3" name="Rahmen Fraktal-Baum"/>
          <p:cNvSpPr/>
          <p:nvPr/>
        </p:nvSpPr>
        <p:spPr>
          <a:xfrm>
            <a:off x="548640" y="1325880"/>
            <a:ext cx="3474720" cy="2194560"/>
          </a:xfrm>
          <a:prstGeom prst="roundRect">
            <a:avLst>
              <a:gd name="adj" fmla="val 5000"/>
            </a:avLst>
          </a:prstGeom>
          <a:solidFill>
            <a:schemeClr val="bg1"/>
          </a:solidFill>
          <a:ln w="12700">
            <a:solidFill>
              <a:srgbClr val="D9D9D9"/>
            </a:solidFill>
            <a:prstDash val="solid"/>
          </a:ln>
        </p:spPr>
      </p:sp>
      <p:pic>
        <p:nvPicPr>
          <p:cNvPr id="4" name="Fraktal-Baum (Turtle-Grafik aus der Musterlösung)" descr="Fraktal-Baum (Turtle-Grafik aus der Musterlösung)">    </p:cNvPr>
          <p:cNvPicPr>
            <a:picLocks noChangeAspect="1"/>
          </p:cNvPicPr>
          <p:nvPr/>
        </p:nvPicPr>
        <p:blipFill>
          <a:blip r:embed="rId1"/>
          <a:stretch>
            <a:fillRect/>
          </a:stretch>
        </p:blipFill>
        <p:spPr>
          <a:xfrm>
            <a:off x="1157237" y="1417320"/>
            <a:ext cx="2257526" cy="2011680"/>
          </a:xfrm>
          <a:prstGeom prst="rect">
            <a:avLst/>
          </a:prstGeom>
        </p:spPr>
      </p:pic>
      <p:sp>
        <p:nvSpPr>
          <p:cNvPr id="5" name="Text 2"/>
          <p:cNvSpPr txBox="1"/>
          <p:nvPr/>
        </p:nvSpPr>
        <p:spPr>
          <a:xfrm>
            <a:off x="548640" y="3584448"/>
            <a:ext cx="3474720" cy="594360"/>
          </a:xfrm>
          <a:prstGeom prst="rect">
            <a:avLst/>
          </a:prstGeom>
          <a:noFill/>
          <a:ln/>
        </p:spPr>
        <p:txBody>
          <a:bodyPr wrap="square" lIns="0" tIns="0" rIns="0" bIns="0" rtlCol="0" anchor="t"/>
          <a:lstStyle/>
          <a:p>
            <a:pPr algn="ctr" indent="0" marL="0">
              <a:buNone/>
            </a:pPr>
            <a:r>
              <a:rPr lang="en-US" sz="1700" b="1" dirty="0">
                <a:solidFill>
                  <a:schemeClr val="accent1"/>
                </a:solidFill>
              </a:rPr>
              <a:t>Fraktal-Baum</a:t>
            </a:r>
            <a:endParaRPr lang="en-US" sz="1800" dirty="0"/>
          </a:p>
          <a:p>
            <a:pPr algn="ctr" indent="0" marL="0">
              <a:buNone/>
            </a:pPr>
            <a:r>
              <a:rPr lang="en-US" sz="1400" dirty="0">
                <a:solidFill>
                  <a:schemeClr val="accent6"/>
                </a:solidFill>
              </a:rPr>
              <a:t>Tiefe 8 · 2 Selbstaufrufe je Aufruf</a:t>
            </a:r>
            <a:endParaRPr lang="en-US" sz="1800" dirty="0"/>
          </a:p>
        </p:txBody>
      </p:sp>
      <p:sp>
        <p:nvSpPr>
          <p:cNvPr id="6" name="Rahmen Koch-Kurve („Eiszapfen“)"/>
          <p:cNvSpPr/>
          <p:nvPr/>
        </p:nvSpPr>
        <p:spPr>
          <a:xfrm>
            <a:off x="4343400" y="1325880"/>
            <a:ext cx="3474720" cy="2194560"/>
          </a:xfrm>
          <a:prstGeom prst="roundRect">
            <a:avLst>
              <a:gd name="adj" fmla="val 5000"/>
            </a:avLst>
          </a:prstGeom>
          <a:solidFill>
            <a:schemeClr val="bg1"/>
          </a:solidFill>
          <a:ln w="12700">
            <a:solidFill>
              <a:srgbClr val="D9D9D9"/>
            </a:solidFill>
            <a:prstDash val="solid"/>
          </a:ln>
        </p:spPr>
      </p:sp>
      <p:pic>
        <p:nvPicPr>
          <p:cNvPr id="7" name="Koch-Kurve („Eiszapfen“) (Turtle-Grafik aus der Musterlösung)" descr="Koch-Kurve („Eiszapfen“) (Turtle-Grafik aus der Musterlösung)">    </p:cNvPr>
          <p:cNvPicPr>
            <a:picLocks noChangeAspect="1"/>
          </p:cNvPicPr>
          <p:nvPr/>
        </p:nvPicPr>
        <p:blipFill>
          <a:blip r:embed="rId2"/>
          <a:stretch>
            <a:fillRect/>
          </a:stretch>
        </p:blipFill>
        <p:spPr>
          <a:xfrm>
            <a:off x="4480560" y="1896792"/>
            <a:ext cx="3200400" cy="1052736"/>
          </a:xfrm>
          <a:prstGeom prst="rect">
            <a:avLst/>
          </a:prstGeom>
        </p:spPr>
      </p:pic>
      <p:sp>
        <p:nvSpPr>
          <p:cNvPr id="8" name="Text 4"/>
          <p:cNvSpPr txBox="1"/>
          <p:nvPr/>
        </p:nvSpPr>
        <p:spPr>
          <a:xfrm>
            <a:off x="4343400" y="3584448"/>
            <a:ext cx="3474720" cy="594360"/>
          </a:xfrm>
          <a:prstGeom prst="rect">
            <a:avLst/>
          </a:prstGeom>
          <a:noFill/>
          <a:ln/>
        </p:spPr>
        <p:txBody>
          <a:bodyPr wrap="square" lIns="0" tIns="0" rIns="0" bIns="0" rtlCol="0" anchor="t"/>
          <a:lstStyle/>
          <a:p>
            <a:pPr algn="ctr" indent="0" marL="0">
              <a:buNone/>
            </a:pPr>
            <a:r>
              <a:rPr lang="en-US" sz="1700" b="1" dirty="0">
                <a:solidFill>
                  <a:schemeClr val="accent1"/>
                </a:solidFill>
              </a:rPr>
              <a:t>Koch-Kurve („Eiszapfen“)</a:t>
            </a:r>
            <a:endParaRPr lang="en-US" sz="1800" dirty="0"/>
          </a:p>
          <a:p>
            <a:pPr algn="ctr" indent="0" marL="0">
              <a:buNone/>
            </a:pPr>
            <a:r>
              <a:rPr lang="en-US" sz="1400" dirty="0">
                <a:solidFill>
                  <a:schemeClr val="accent6"/>
                </a:solidFill>
              </a:rPr>
              <a:t>Tiefe 4 · 4 Selbstaufrufe je Aufruf</a:t>
            </a:r>
            <a:endParaRPr lang="en-US" sz="1800" dirty="0"/>
          </a:p>
        </p:txBody>
      </p:sp>
      <p:sp>
        <p:nvSpPr>
          <p:cNvPr id="9" name="Rahmen Sierpinski-Dreieck"/>
          <p:cNvSpPr/>
          <p:nvPr/>
        </p:nvSpPr>
        <p:spPr>
          <a:xfrm>
            <a:off x="8138160" y="1325880"/>
            <a:ext cx="3474720" cy="2194560"/>
          </a:xfrm>
          <a:prstGeom prst="roundRect">
            <a:avLst>
              <a:gd name="adj" fmla="val 5000"/>
            </a:avLst>
          </a:prstGeom>
          <a:solidFill>
            <a:schemeClr val="bg1"/>
          </a:solidFill>
          <a:ln w="12700">
            <a:solidFill>
              <a:srgbClr val="D9D9D9"/>
            </a:solidFill>
            <a:prstDash val="solid"/>
          </a:ln>
        </p:spPr>
      </p:sp>
      <p:pic>
        <p:nvPicPr>
          <p:cNvPr id="10" name="Sierpinski-Dreieck (Turtle-Grafik aus der Musterlösung)" descr="Sierpinski-Dreieck (Turtle-Grafik aus der Musterlösung)">    </p:cNvPr>
          <p:cNvPicPr>
            <a:picLocks noChangeAspect="1"/>
          </p:cNvPicPr>
          <p:nvPr/>
        </p:nvPicPr>
        <p:blipFill>
          <a:blip r:embed="rId3"/>
          <a:stretch>
            <a:fillRect/>
          </a:stretch>
        </p:blipFill>
        <p:spPr>
          <a:xfrm>
            <a:off x="8724158" y="1417320"/>
            <a:ext cx="2302724" cy="2011680"/>
          </a:xfrm>
          <a:prstGeom prst="rect">
            <a:avLst/>
          </a:prstGeom>
        </p:spPr>
      </p:pic>
      <p:sp>
        <p:nvSpPr>
          <p:cNvPr id="11" name="Text 6"/>
          <p:cNvSpPr txBox="1"/>
          <p:nvPr/>
        </p:nvSpPr>
        <p:spPr>
          <a:xfrm>
            <a:off x="8138160" y="3584448"/>
            <a:ext cx="3474720" cy="594360"/>
          </a:xfrm>
          <a:prstGeom prst="rect">
            <a:avLst/>
          </a:prstGeom>
          <a:noFill/>
          <a:ln/>
        </p:spPr>
        <p:txBody>
          <a:bodyPr wrap="square" lIns="0" tIns="0" rIns="0" bIns="0" rtlCol="0" anchor="t"/>
          <a:lstStyle/>
          <a:p>
            <a:pPr algn="ctr" indent="0" marL="0">
              <a:buNone/>
            </a:pPr>
            <a:r>
              <a:rPr lang="en-US" sz="1700" b="1" dirty="0">
                <a:solidFill>
                  <a:schemeClr val="accent1"/>
                </a:solidFill>
              </a:rPr>
              <a:t>Sierpinski-Dreieck</a:t>
            </a:r>
            <a:endParaRPr lang="en-US" sz="1800" dirty="0"/>
          </a:p>
          <a:p>
            <a:pPr algn="ctr" indent="0" marL="0">
              <a:buNone/>
            </a:pPr>
            <a:r>
              <a:rPr lang="en-US" sz="1400" dirty="0">
                <a:solidFill>
                  <a:schemeClr val="accent6"/>
                </a:solidFill>
              </a:rPr>
              <a:t>Tiefe 5 · 3 Selbstaufrufe je Aufruf</a:t>
            </a:r>
            <a:endParaRPr lang="en-US" sz="1800" dirty="0"/>
          </a:p>
        </p:txBody>
      </p:sp>
      <p:graphicFrame>
        <p:nvGraphicFramePr>
          <p:cNvPr id="15" name="Aufrufe Fraktale"/>
          <p:cNvGraphicFramePr>
            <a:graphicFrameLocks noGrp="1"/>
          </p:cNvGraphicFramePr>
          <p:nvPr>
            <p:extLst>
              <p:ext uri="{D42A27DB-BD31-4B8C-83A1-F6EECF244321}">
                <p14:modId xmlns:p14="http://schemas.microsoft.com/office/powerpoint/2010/main" val="1579011935"/>
              </p:ext>
            </p:extLst>
          </p:nvPr>
        </p:nvGraphicFramePr>
        <p:xfrm>
          <a:off x="548640" y="4297680"/>
          <a:ext cx="11064240" cy="914400"/>
        </p:xfrm>
        <a:graphic>
          <a:graphicData uri="http://schemas.openxmlformats.org/drawingml/2006/table">
            <a:tbl>
              <a:tblPr/>
              <a:tblGrid>
                <a:gridCol w="1554480"/>
                <a:gridCol w="548640"/>
                <a:gridCol w="1097280"/>
                <a:gridCol w="1097280"/>
                <a:gridCol w="1097280"/>
                <a:gridCol w="1097280"/>
                <a:gridCol w="1097280"/>
                <a:gridCol w="1097280"/>
                <a:gridCol w="2377440"/>
              </a:tblGrid>
              <a:tr h="365760">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Aufrufe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k</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Tiefe 0</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Tiefe 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Tiefe 2</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Tiefe 3</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Tiefe 4</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Tiefe 5</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Formel A(n)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65760">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Baum</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3</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7</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15</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31</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63</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latin typeface="Consolas" pitchFamily="34" charset="0"/>
                          <a:ea typeface="Consolas" pitchFamily="34" charset="-122"/>
                          <a:cs typeface="Consolas" pitchFamily="34" charset="-120"/>
                        </a:rPr>
                        <a:t>2^(n+1) − 1</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65760">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Koch-Kurve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5</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21</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85</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341</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1365</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latin typeface="Consolas" pitchFamily="34" charset="0"/>
                          <a:ea typeface="Consolas" pitchFamily="34" charset="-122"/>
                          <a:cs typeface="Consolas" pitchFamily="34" charset="-120"/>
                        </a:rPr>
                        <a:t>(4^(n+1) − 1) / 3</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65760">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Sierpinski</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4</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13</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40</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121</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onsolas" pitchFamily="34" charset="0"/>
                          <a:ea typeface="Consolas" pitchFamily="34" charset="-122"/>
                          <a:cs typeface="Consolas" pitchFamily="34" charset="-120"/>
                        </a:rPr>
                        <a:t>364</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latin typeface="Consolas" pitchFamily="34" charset="0"/>
                          <a:ea typeface="Consolas" pitchFamily="34" charset="-122"/>
                          <a:cs typeface="Consolas" pitchFamily="34" charset="-120"/>
                        </a:rPr>
                        <a:t>(3^(n+1) − 1) / 2</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3" name="Text 7"/>
          <p:cNvSpPr txBox="1"/>
          <p:nvPr/>
        </p:nvSpPr>
        <p:spPr>
          <a:xfrm>
            <a:off x="548640" y="5852160"/>
            <a:ext cx="11064240" cy="320040"/>
          </a:xfrm>
          <a:prstGeom prst="rect">
            <a:avLst/>
          </a:prstGeom>
          <a:noFill/>
          <a:ln/>
        </p:spPr>
        <p:txBody>
          <a:bodyPr wrap="square" lIns="0" tIns="0" rIns="0" bIns="0" rtlCol="0" anchor="t"/>
          <a:lstStyle/>
          <a:p>
            <a:pPr indent="0" marL="0">
              <a:buNone/>
            </a:pPr>
            <a:r>
              <a:rPr lang="en-US" sz="1600" b="1" dirty="0">
                <a:solidFill>
                  <a:schemeClr val="accent1"/>
                </a:solidFill>
              </a:rPr>
              <a:t>A(0) = 1,  A(n) = 1 + k · A(n − 1): </a:t>
            </a:r>
            <a:pPr indent="0" marL="0">
              <a:buNone/>
            </a:pPr>
            <a:r>
              <a:rPr lang="en-US" sz="1600" dirty="0">
                <a:solidFill>
                  <a:schemeClr val="tx1"/>
                </a:solidFill>
              </a:rPr>
              <a:t>Tiefe + 1 → etwa k-mal so viele Aufrufe (exponentiell).</a:t>
            </a:r>
            <a:endParaRPr lang="en-US" sz="1600" dirty="0"/>
          </a:p>
        </p:txBody>
      </p:sp>
      <p:sp>
        <p:nvSpPr>
          <p:cNvPr id="14" name="Text 8"/>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18 · Fraktale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Dungeon-Karte als 2D-Reihung</a:t>
            </a:r>
            <a:endParaRPr lang="en-US" sz="3600" dirty="0"/>
          </a:p>
        </p:txBody>
      </p:sp>
      <p:sp>
        <p:nvSpPr>
          <p:cNvPr id="3" name="Text 1"/>
          <p:cNvSpPr txBox="1"/>
          <p:nvPr/>
        </p:nvSpPr>
        <p:spPr>
          <a:xfrm>
            <a:off x="1005840" y="1280160"/>
            <a:ext cx="3968496" cy="274320"/>
          </a:xfrm>
          <a:prstGeom prst="rect">
            <a:avLst/>
          </a:prstGeom>
          <a:noFill/>
          <a:ln/>
        </p:spPr>
        <p:txBody>
          <a:bodyPr wrap="square" lIns="0" tIns="0" rIns="0" bIns="0" rtlCol="0" anchor="t"/>
          <a:lstStyle/>
          <a:p>
            <a:pPr algn="ctr" indent="0" marL="0">
              <a:buNone/>
            </a:pPr>
            <a:r>
              <a:rPr lang="en-US" sz="1400" b="1" dirty="0">
                <a:solidFill>
                  <a:schemeClr val="accent6"/>
                </a:solidFill>
              </a:rPr>
              <a:t>Spalte s →</a:t>
            </a:r>
            <a:endParaRPr lang="en-US" sz="1400" dirty="0"/>
          </a:p>
        </p:txBody>
      </p:sp>
      <p:sp>
        <p:nvSpPr>
          <p:cNvPr id="4" name="Text 2"/>
          <p:cNvSpPr txBox="1"/>
          <p:nvPr/>
        </p:nvSpPr>
        <p:spPr>
          <a:xfrm>
            <a:off x="548640" y="1280160"/>
            <a:ext cx="1005840" cy="274320"/>
          </a:xfrm>
          <a:prstGeom prst="rect">
            <a:avLst/>
          </a:prstGeom>
          <a:noFill/>
          <a:ln/>
        </p:spPr>
        <p:txBody>
          <a:bodyPr wrap="square" lIns="0" tIns="0" rIns="0" bIns="0" rtlCol="0" anchor="t"/>
          <a:lstStyle/>
          <a:p>
            <a:pPr indent="0" marL="0">
              <a:buNone/>
            </a:pPr>
            <a:r>
              <a:rPr lang="en-US" sz="1400" b="1" dirty="0">
                <a:solidFill>
                  <a:schemeClr val="accent6"/>
                </a:solidFill>
              </a:rPr>
              <a:t>Zeile z ↓</a:t>
            </a:r>
            <a:endParaRPr lang="en-US" sz="1400" dirty="0"/>
          </a:p>
        </p:txBody>
      </p:sp>
      <p:sp>
        <p:nvSpPr>
          <p:cNvPr id="5" name="Feld 0,0"/>
          <p:cNvSpPr txBox="1"/>
          <p:nvPr/>
        </p:nvSpPr>
        <p:spPr>
          <a:xfrm>
            <a:off x="1005840" y="187452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6" name="Feld 0,1"/>
          <p:cNvSpPr txBox="1"/>
          <p:nvPr/>
        </p:nvSpPr>
        <p:spPr>
          <a:xfrm>
            <a:off x="1572768" y="187452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7" name="Feld 0,2"/>
          <p:cNvSpPr txBox="1"/>
          <p:nvPr/>
        </p:nvSpPr>
        <p:spPr>
          <a:xfrm>
            <a:off x="2139696" y="187452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8" name="Feld 0,3"/>
          <p:cNvSpPr txBox="1"/>
          <p:nvPr/>
        </p:nvSpPr>
        <p:spPr>
          <a:xfrm>
            <a:off x="2706624" y="187452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9" name="Feld 0,4"/>
          <p:cNvSpPr txBox="1"/>
          <p:nvPr/>
        </p:nvSpPr>
        <p:spPr>
          <a:xfrm>
            <a:off x="3273552" y="187452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10" name="Feld 0,5"/>
          <p:cNvSpPr txBox="1"/>
          <p:nvPr/>
        </p:nvSpPr>
        <p:spPr>
          <a:xfrm>
            <a:off x="3840480" y="187452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11" name="Feld 0,6"/>
          <p:cNvSpPr txBox="1"/>
          <p:nvPr/>
        </p:nvSpPr>
        <p:spPr>
          <a:xfrm>
            <a:off x="4407408" y="187452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12" name="Feld 1,0"/>
          <p:cNvSpPr txBox="1"/>
          <p:nvPr/>
        </p:nvSpPr>
        <p:spPr>
          <a:xfrm>
            <a:off x="1005840" y="2441448"/>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13" name="Feld 1,1"/>
          <p:cNvSpPr txBox="1"/>
          <p:nvPr/>
        </p:nvSpPr>
        <p:spPr>
          <a:xfrm>
            <a:off x="1572768" y="2441448"/>
            <a:ext cx="566928" cy="566928"/>
          </a:xfrm>
          <a:prstGeom prst="rect">
            <a:avLst/>
          </a:prstGeom>
          <a:solidFill>
            <a:srgbClr val="1F4E79"/>
          </a:solidFill>
          <a:ln w="38100">
            <a:solidFill>
              <a:schemeClr val="accent2"/>
            </a:solid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S</a:t>
            </a:r>
            <a:endParaRPr lang="en-US" sz="1800" dirty="0"/>
          </a:p>
        </p:txBody>
      </p:sp>
      <p:sp>
        <p:nvSpPr>
          <p:cNvPr id="14" name="Feld 1,2"/>
          <p:cNvSpPr txBox="1"/>
          <p:nvPr/>
        </p:nvSpPr>
        <p:spPr>
          <a:xfrm>
            <a:off x="2139696" y="2441448"/>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15" name="Feld 1,3"/>
          <p:cNvSpPr txBox="1"/>
          <p:nvPr/>
        </p:nvSpPr>
        <p:spPr>
          <a:xfrm>
            <a:off x="2706624" y="2441448"/>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16" name="Feld 1,4"/>
          <p:cNvSpPr txBox="1"/>
          <p:nvPr/>
        </p:nvSpPr>
        <p:spPr>
          <a:xfrm>
            <a:off x="3273552" y="2441448"/>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17" name="Feld 1,5"/>
          <p:cNvSpPr txBox="1"/>
          <p:nvPr/>
        </p:nvSpPr>
        <p:spPr>
          <a:xfrm>
            <a:off x="3840480" y="2441448"/>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18" name="Feld 1,6"/>
          <p:cNvSpPr txBox="1"/>
          <p:nvPr/>
        </p:nvSpPr>
        <p:spPr>
          <a:xfrm>
            <a:off x="4407408" y="2441448"/>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19" name="Feld 2,0"/>
          <p:cNvSpPr txBox="1"/>
          <p:nvPr/>
        </p:nvSpPr>
        <p:spPr>
          <a:xfrm>
            <a:off x="1005840" y="3008376"/>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20" name="Feld 2,1"/>
          <p:cNvSpPr txBox="1"/>
          <p:nvPr/>
        </p:nvSpPr>
        <p:spPr>
          <a:xfrm>
            <a:off x="1572768" y="3008376"/>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21" name="Feld 2,2"/>
          <p:cNvSpPr txBox="1"/>
          <p:nvPr/>
        </p:nvSpPr>
        <p:spPr>
          <a:xfrm>
            <a:off x="2139696" y="3008376"/>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22" name="Feld 2,3"/>
          <p:cNvSpPr txBox="1"/>
          <p:nvPr/>
        </p:nvSpPr>
        <p:spPr>
          <a:xfrm>
            <a:off x="2706624" y="3008376"/>
            <a:ext cx="566928" cy="566928"/>
          </a:xfrm>
          <a:prstGeom prst="rect">
            <a:avLst/>
          </a:prstGeom>
          <a:solidFill>
            <a:srgbClr val="3A3A3A"/>
          </a:solidFill>
          <a:ln w="38100">
            <a:solidFill>
              <a:schemeClr val="accent4"/>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23" name="Feld 2,4"/>
          <p:cNvSpPr txBox="1"/>
          <p:nvPr/>
        </p:nvSpPr>
        <p:spPr>
          <a:xfrm>
            <a:off x="3273552" y="3008376"/>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24" name="Feld 2,5"/>
          <p:cNvSpPr txBox="1"/>
          <p:nvPr/>
        </p:nvSpPr>
        <p:spPr>
          <a:xfrm>
            <a:off x="3840480" y="3008376"/>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25" name="Feld 2,6"/>
          <p:cNvSpPr txBox="1"/>
          <p:nvPr/>
        </p:nvSpPr>
        <p:spPr>
          <a:xfrm>
            <a:off x="4407408" y="3008376"/>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26" name="Feld 3,0"/>
          <p:cNvSpPr txBox="1"/>
          <p:nvPr/>
        </p:nvSpPr>
        <p:spPr>
          <a:xfrm>
            <a:off x="1005840" y="3575304"/>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27" name="Feld 3,1"/>
          <p:cNvSpPr txBox="1"/>
          <p:nvPr/>
        </p:nvSpPr>
        <p:spPr>
          <a:xfrm>
            <a:off x="1572768" y="3575304"/>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28" name="Feld 3,2"/>
          <p:cNvSpPr txBox="1"/>
          <p:nvPr/>
        </p:nvSpPr>
        <p:spPr>
          <a:xfrm>
            <a:off x="2139696" y="3575304"/>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29" name="Feld 3,3"/>
          <p:cNvSpPr txBox="1"/>
          <p:nvPr/>
        </p:nvSpPr>
        <p:spPr>
          <a:xfrm>
            <a:off x="2706624" y="3575304"/>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30" name="Feld 3,4"/>
          <p:cNvSpPr txBox="1"/>
          <p:nvPr/>
        </p:nvSpPr>
        <p:spPr>
          <a:xfrm>
            <a:off x="3273552" y="3575304"/>
            <a:ext cx="566928" cy="56692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31" name="Feld 3,5"/>
          <p:cNvSpPr txBox="1"/>
          <p:nvPr/>
        </p:nvSpPr>
        <p:spPr>
          <a:xfrm>
            <a:off x="3840480" y="3575304"/>
            <a:ext cx="566928" cy="566928"/>
          </a:xfrm>
          <a:prstGeom prst="rect">
            <a:avLst/>
          </a:prstGeom>
          <a:solidFill>
            <a:srgbClr val="548235"/>
          </a:solidFill>
          <a:ln w="38100">
            <a:solidFill>
              <a:schemeClr val="accent2"/>
            </a:solid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Z</a:t>
            </a:r>
            <a:endParaRPr lang="en-US" sz="1800" dirty="0"/>
          </a:p>
        </p:txBody>
      </p:sp>
      <p:sp>
        <p:nvSpPr>
          <p:cNvPr id="32" name="Feld 3,6"/>
          <p:cNvSpPr txBox="1"/>
          <p:nvPr/>
        </p:nvSpPr>
        <p:spPr>
          <a:xfrm>
            <a:off x="4407408" y="3575304"/>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33" name="Feld 4,0"/>
          <p:cNvSpPr txBox="1"/>
          <p:nvPr/>
        </p:nvSpPr>
        <p:spPr>
          <a:xfrm>
            <a:off x="1005840" y="414223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34" name="Feld 4,1"/>
          <p:cNvSpPr txBox="1"/>
          <p:nvPr/>
        </p:nvSpPr>
        <p:spPr>
          <a:xfrm>
            <a:off x="1572768" y="414223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35" name="Feld 4,2"/>
          <p:cNvSpPr txBox="1"/>
          <p:nvPr/>
        </p:nvSpPr>
        <p:spPr>
          <a:xfrm>
            <a:off x="2139696" y="414223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36" name="Feld 4,3"/>
          <p:cNvSpPr txBox="1"/>
          <p:nvPr/>
        </p:nvSpPr>
        <p:spPr>
          <a:xfrm>
            <a:off x="2706624" y="414223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37" name="Feld 4,4"/>
          <p:cNvSpPr txBox="1"/>
          <p:nvPr/>
        </p:nvSpPr>
        <p:spPr>
          <a:xfrm>
            <a:off x="3273552" y="414223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38" name="Feld 4,5"/>
          <p:cNvSpPr txBox="1"/>
          <p:nvPr/>
        </p:nvSpPr>
        <p:spPr>
          <a:xfrm>
            <a:off x="3840480" y="414223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39" name="Feld 4,6"/>
          <p:cNvSpPr txBox="1"/>
          <p:nvPr/>
        </p:nvSpPr>
        <p:spPr>
          <a:xfrm>
            <a:off x="4407408" y="414223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40" name="Text 38"/>
          <p:cNvSpPr txBox="1"/>
          <p:nvPr/>
        </p:nvSpPr>
        <p:spPr>
          <a:xfrm>
            <a:off x="1005840" y="1600200"/>
            <a:ext cx="566928" cy="237744"/>
          </a:xfrm>
          <a:prstGeom prst="rect">
            <a:avLst/>
          </a:prstGeom>
          <a:noFill/>
          <a:ln/>
        </p:spPr>
        <p:txBody>
          <a:bodyPr wrap="square" lIns="0" tIns="0" rIns="0" bIns="0" rtlCol="0" anchor="t"/>
          <a:lstStyle/>
          <a:p>
            <a:pPr algn="ctr" indent="0" marL="0">
              <a:buNone/>
            </a:pPr>
            <a:r>
              <a:rPr lang="en-US" sz="1300" b="1" dirty="0">
                <a:solidFill>
                  <a:schemeClr val="accent6"/>
                </a:solidFill>
              </a:rPr>
              <a:t>0</a:t>
            </a:r>
            <a:endParaRPr lang="en-US" sz="1300" dirty="0"/>
          </a:p>
        </p:txBody>
      </p:sp>
      <p:sp>
        <p:nvSpPr>
          <p:cNvPr id="41" name="Text 39"/>
          <p:cNvSpPr txBox="1"/>
          <p:nvPr/>
        </p:nvSpPr>
        <p:spPr>
          <a:xfrm>
            <a:off x="1572768" y="1600200"/>
            <a:ext cx="566928" cy="237744"/>
          </a:xfrm>
          <a:prstGeom prst="rect">
            <a:avLst/>
          </a:prstGeom>
          <a:noFill/>
          <a:ln/>
        </p:spPr>
        <p:txBody>
          <a:bodyPr wrap="square" lIns="0" tIns="0" rIns="0" bIns="0" rtlCol="0" anchor="t"/>
          <a:lstStyle/>
          <a:p>
            <a:pPr algn="ctr" indent="0" marL="0">
              <a:buNone/>
            </a:pPr>
            <a:r>
              <a:rPr lang="en-US" sz="1300" b="1" dirty="0">
                <a:solidFill>
                  <a:schemeClr val="accent6"/>
                </a:solidFill>
              </a:rPr>
              <a:t>1</a:t>
            </a:r>
            <a:endParaRPr lang="en-US" sz="1300" dirty="0"/>
          </a:p>
        </p:txBody>
      </p:sp>
      <p:sp>
        <p:nvSpPr>
          <p:cNvPr id="42" name="Text 40"/>
          <p:cNvSpPr txBox="1"/>
          <p:nvPr/>
        </p:nvSpPr>
        <p:spPr>
          <a:xfrm>
            <a:off x="2139696" y="1600200"/>
            <a:ext cx="566928" cy="237744"/>
          </a:xfrm>
          <a:prstGeom prst="rect">
            <a:avLst/>
          </a:prstGeom>
          <a:noFill/>
          <a:ln/>
        </p:spPr>
        <p:txBody>
          <a:bodyPr wrap="square" lIns="0" tIns="0" rIns="0" bIns="0" rtlCol="0" anchor="t"/>
          <a:lstStyle/>
          <a:p>
            <a:pPr algn="ctr" indent="0" marL="0">
              <a:buNone/>
            </a:pPr>
            <a:r>
              <a:rPr lang="en-US" sz="1300" b="1" dirty="0">
                <a:solidFill>
                  <a:schemeClr val="accent6"/>
                </a:solidFill>
              </a:rPr>
              <a:t>2</a:t>
            </a:r>
            <a:endParaRPr lang="en-US" sz="1300" dirty="0"/>
          </a:p>
        </p:txBody>
      </p:sp>
      <p:sp>
        <p:nvSpPr>
          <p:cNvPr id="43" name="Text 41"/>
          <p:cNvSpPr txBox="1"/>
          <p:nvPr/>
        </p:nvSpPr>
        <p:spPr>
          <a:xfrm>
            <a:off x="2706624" y="1600200"/>
            <a:ext cx="566928" cy="237744"/>
          </a:xfrm>
          <a:prstGeom prst="rect">
            <a:avLst/>
          </a:prstGeom>
          <a:noFill/>
          <a:ln/>
        </p:spPr>
        <p:txBody>
          <a:bodyPr wrap="square" lIns="0" tIns="0" rIns="0" bIns="0" rtlCol="0" anchor="t"/>
          <a:lstStyle/>
          <a:p>
            <a:pPr algn="ctr" indent="0" marL="0">
              <a:buNone/>
            </a:pPr>
            <a:r>
              <a:rPr lang="en-US" sz="1300" b="1" dirty="0">
                <a:solidFill>
                  <a:schemeClr val="accent6"/>
                </a:solidFill>
              </a:rPr>
              <a:t>3</a:t>
            </a:r>
            <a:endParaRPr lang="en-US" sz="1300" dirty="0"/>
          </a:p>
        </p:txBody>
      </p:sp>
      <p:sp>
        <p:nvSpPr>
          <p:cNvPr id="44" name="Text 42"/>
          <p:cNvSpPr txBox="1"/>
          <p:nvPr/>
        </p:nvSpPr>
        <p:spPr>
          <a:xfrm>
            <a:off x="3273552" y="1600200"/>
            <a:ext cx="566928" cy="237744"/>
          </a:xfrm>
          <a:prstGeom prst="rect">
            <a:avLst/>
          </a:prstGeom>
          <a:noFill/>
          <a:ln/>
        </p:spPr>
        <p:txBody>
          <a:bodyPr wrap="square" lIns="0" tIns="0" rIns="0" bIns="0" rtlCol="0" anchor="t"/>
          <a:lstStyle/>
          <a:p>
            <a:pPr algn="ctr" indent="0" marL="0">
              <a:buNone/>
            </a:pPr>
            <a:r>
              <a:rPr lang="en-US" sz="1300" b="1" dirty="0">
                <a:solidFill>
                  <a:schemeClr val="accent6"/>
                </a:solidFill>
              </a:rPr>
              <a:t>4</a:t>
            </a:r>
            <a:endParaRPr lang="en-US" sz="1300" dirty="0"/>
          </a:p>
        </p:txBody>
      </p:sp>
      <p:sp>
        <p:nvSpPr>
          <p:cNvPr id="45" name="Text 43"/>
          <p:cNvSpPr txBox="1"/>
          <p:nvPr/>
        </p:nvSpPr>
        <p:spPr>
          <a:xfrm>
            <a:off x="3840480" y="1600200"/>
            <a:ext cx="566928" cy="237744"/>
          </a:xfrm>
          <a:prstGeom prst="rect">
            <a:avLst/>
          </a:prstGeom>
          <a:noFill/>
          <a:ln/>
        </p:spPr>
        <p:txBody>
          <a:bodyPr wrap="square" lIns="0" tIns="0" rIns="0" bIns="0" rtlCol="0" anchor="t"/>
          <a:lstStyle/>
          <a:p>
            <a:pPr algn="ctr" indent="0" marL="0">
              <a:buNone/>
            </a:pPr>
            <a:r>
              <a:rPr lang="en-US" sz="1300" b="1" dirty="0">
                <a:solidFill>
                  <a:schemeClr val="accent6"/>
                </a:solidFill>
              </a:rPr>
              <a:t>5</a:t>
            </a:r>
            <a:endParaRPr lang="en-US" sz="1300" dirty="0"/>
          </a:p>
        </p:txBody>
      </p:sp>
      <p:sp>
        <p:nvSpPr>
          <p:cNvPr id="46" name="Text 44"/>
          <p:cNvSpPr txBox="1"/>
          <p:nvPr/>
        </p:nvSpPr>
        <p:spPr>
          <a:xfrm>
            <a:off x="4407408" y="1600200"/>
            <a:ext cx="566928" cy="237744"/>
          </a:xfrm>
          <a:prstGeom prst="rect">
            <a:avLst/>
          </a:prstGeom>
          <a:noFill/>
          <a:ln/>
        </p:spPr>
        <p:txBody>
          <a:bodyPr wrap="square" lIns="0" tIns="0" rIns="0" bIns="0" rtlCol="0" anchor="t"/>
          <a:lstStyle/>
          <a:p>
            <a:pPr algn="ctr" indent="0" marL="0">
              <a:buNone/>
            </a:pPr>
            <a:r>
              <a:rPr lang="en-US" sz="1300" b="1" dirty="0">
                <a:solidFill>
                  <a:schemeClr val="accent6"/>
                </a:solidFill>
              </a:rPr>
              <a:t>6</a:t>
            </a:r>
            <a:endParaRPr lang="en-US" sz="1300" dirty="0"/>
          </a:p>
        </p:txBody>
      </p:sp>
      <p:sp>
        <p:nvSpPr>
          <p:cNvPr id="47" name="Text 45"/>
          <p:cNvSpPr txBox="1"/>
          <p:nvPr/>
        </p:nvSpPr>
        <p:spPr>
          <a:xfrm>
            <a:off x="694944" y="1874520"/>
            <a:ext cx="237744" cy="566928"/>
          </a:xfrm>
          <a:prstGeom prst="rect">
            <a:avLst/>
          </a:prstGeom>
          <a:noFill/>
          <a:ln/>
        </p:spPr>
        <p:txBody>
          <a:bodyPr wrap="square" lIns="0" tIns="0" rIns="0" bIns="0" rtlCol="0" anchor="ctr"/>
          <a:lstStyle/>
          <a:p>
            <a:pPr algn="r" indent="0" marL="0">
              <a:buNone/>
            </a:pPr>
            <a:r>
              <a:rPr lang="en-US" sz="1300" b="1" dirty="0">
                <a:solidFill>
                  <a:schemeClr val="accent6"/>
                </a:solidFill>
              </a:rPr>
              <a:t>0</a:t>
            </a:r>
            <a:endParaRPr lang="en-US" sz="1300" dirty="0"/>
          </a:p>
        </p:txBody>
      </p:sp>
      <p:sp>
        <p:nvSpPr>
          <p:cNvPr id="48" name="Text 46"/>
          <p:cNvSpPr txBox="1"/>
          <p:nvPr/>
        </p:nvSpPr>
        <p:spPr>
          <a:xfrm>
            <a:off x="694944" y="2441448"/>
            <a:ext cx="237744" cy="566928"/>
          </a:xfrm>
          <a:prstGeom prst="rect">
            <a:avLst/>
          </a:prstGeom>
          <a:noFill/>
          <a:ln/>
        </p:spPr>
        <p:txBody>
          <a:bodyPr wrap="square" lIns="0" tIns="0" rIns="0" bIns="0" rtlCol="0" anchor="ctr"/>
          <a:lstStyle/>
          <a:p>
            <a:pPr algn="r" indent="0" marL="0">
              <a:buNone/>
            </a:pPr>
            <a:r>
              <a:rPr lang="en-US" sz="1300" b="1" dirty="0">
                <a:solidFill>
                  <a:schemeClr val="accent6"/>
                </a:solidFill>
              </a:rPr>
              <a:t>1</a:t>
            </a:r>
            <a:endParaRPr lang="en-US" sz="1300" dirty="0"/>
          </a:p>
        </p:txBody>
      </p:sp>
      <p:sp>
        <p:nvSpPr>
          <p:cNvPr id="49" name="Text 47"/>
          <p:cNvSpPr txBox="1"/>
          <p:nvPr/>
        </p:nvSpPr>
        <p:spPr>
          <a:xfrm>
            <a:off x="694944" y="3008376"/>
            <a:ext cx="237744" cy="566928"/>
          </a:xfrm>
          <a:prstGeom prst="rect">
            <a:avLst/>
          </a:prstGeom>
          <a:noFill/>
          <a:ln/>
        </p:spPr>
        <p:txBody>
          <a:bodyPr wrap="square" lIns="0" tIns="0" rIns="0" bIns="0" rtlCol="0" anchor="ctr"/>
          <a:lstStyle/>
          <a:p>
            <a:pPr algn="r" indent="0" marL="0">
              <a:buNone/>
            </a:pPr>
            <a:r>
              <a:rPr lang="en-US" sz="1300" b="1" dirty="0">
                <a:solidFill>
                  <a:schemeClr val="accent6"/>
                </a:solidFill>
              </a:rPr>
              <a:t>2</a:t>
            </a:r>
            <a:endParaRPr lang="en-US" sz="1300" dirty="0"/>
          </a:p>
        </p:txBody>
      </p:sp>
      <p:sp>
        <p:nvSpPr>
          <p:cNvPr id="50" name="Text 48"/>
          <p:cNvSpPr txBox="1"/>
          <p:nvPr/>
        </p:nvSpPr>
        <p:spPr>
          <a:xfrm>
            <a:off x="694944" y="3575304"/>
            <a:ext cx="237744" cy="566928"/>
          </a:xfrm>
          <a:prstGeom prst="rect">
            <a:avLst/>
          </a:prstGeom>
          <a:noFill/>
          <a:ln/>
        </p:spPr>
        <p:txBody>
          <a:bodyPr wrap="square" lIns="0" tIns="0" rIns="0" bIns="0" rtlCol="0" anchor="ctr"/>
          <a:lstStyle/>
          <a:p>
            <a:pPr algn="r" indent="0" marL="0">
              <a:buNone/>
            </a:pPr>
            <a:r>
              <a:rPr lang="en-US" sz="1300" b="1" dirty="0">
                <a:solidFill>
                  <a:schemeClr val="accent6"/>
                </a:solidFill>
              </a:rPr>
              <a:t>3</a:t>
            </a:r>
            <a:endParaRPr lang="en-US" sz="1300" dirty="0"/>
          </a:p>
        </p:txBody>
      </p:sp>
      <p:sp>
        <p:nvSpPr>
          <p:cNvPr id="51" name="Text 49"/>
          <p:cNvSpPr txBox="1"/>
          <p:nvPr/>
        </p:nvSpPr>
        <p:spPr>
          <a:xfrm>
            <a:off x="694944" y="4142232"/>
            <a:ext cx="237744" cy="566928"/>
          </a:xfrm>
          <a:prstGeom prst="rect">
            <a:avLst/>
          </a:prstGeom>
          <a:noFill/>
          <a:ln/>
        </p:spPr>
        <p:txBody>
          <a:bodyPr wrap="square" lIns="0" tIns="0" rIns="0" bIns="0" rtlCol="0" anchor="ctr"/>
          <a:lstStyle/>
          <a:p>
            <a:pPr algn="r" indent="0" marL="0">
              <a:buNone/>
            </a:pPr>
            <a:r>
              <a:rPr lang="en-US" sz="1300" b="1" dirty="0">
                <a:solidFill>
                  <a:schemeClr val="accent6"/>
                </a:solidFill>
              </a:rPr>
              <a:t>4</a:t>
            </a:r>
            <a:endParaRPr lang="en-US" sz="1300" dirty="0"/>
          </a:p>
        </p:txBody>
      </p:sp>
      <p:sp>
        <p:nvSpPr>
          <p:cNvPr id="52" name="Text 50"/>
          <p:cNvSpPr txBox="1"/>
          <p:nvPr/>
        </p:nvSpPr>
        <p:spPr>
          <a:xfrm>
            <a:off x="548640" y="4937760"/>
            <a:ext cx="1600200" cy="411480"/>
          </a:xfrm>
          <a:prstGeom prst="roundRect">
            <a:avLst>
              <a:gd name="adj" fmla="val 13333"/>
            </a:avLst>
          </a:prstGeom>
          <a:solidFill>
            <a:schemeClr val="bg1"/>
          </a:solidFill>
          <a:ln w="22225">
            <a:solidFill>
              <a:schemeClr val="accent1"/>
            </a:solid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feld[1][1] = 'S'</a:t>
            </a:r>
            <a:endParaRPr lang="en-US" sz="1200" dirty="0"/>
          </a:p>
        </p:txBody>
      </p:sp>
      <p:sp>
        <p:nvSpPr>
          <p:cNvPr id="53" name="Text 51"/>
          <p:cNvSpPr txBox="1"/>
          <p:nvPr/>
        </p:nvSpPr>
        <p:spPr>
          <a:xfrm>
            <a:off x="2221992" y="4937760"/>
            <a:ext cx="1600200" cy="411480"/>
          </a:xfrm>
          <a:prstGeom prst="roundRect">
            <a:avLst>
              <a:gd name="adj" fmla="val 13333"/>
            </a:avLst>
          </a:prstGeom>
          <a:solidFill>
            <a:schemeClr val="bg1"/>
          </a:solidFill>
          <a:ln w="22225">
            <a:solidFill>
              <a:schemeClr val="accent3"/>
            </a:solidFill>
          </a:ln>
        </p:spPr>
        <p:txBody>
          <a:bodyPr wrap="square" lIns="0" tIns="0" rIns="0" bIns="0" rtlCol="0" anchor="ctr"/>
          <a:lstStyle/>
          <a:p>
            <a:pPr algn="ctr" indent="0" marL="0">
              <a:buNone/>
            </a:pPr>
            <a:r>
              <a:rPr lang="en-US" sz="1200" b="1" dirty="0">
                <a:solidFill>
                  <a:schemeClr val="accent3"/>
                </a:solidFill>
                <a:latin typeface="Consolas" pitchFamily="34" charset="0"/>
                <a:ea typeface="Consolas" pitchFamily="34" charset="-122"/>
                <a:cs typeface="Consolas" pitchFamily="34" charset="-120"/>
              </a:rPr>
              <a:t>feld[3][5] = 'Z'</a:t>
            </a:r>
            <a:endParaRPr lang="en-US" sz="1200" dirty="0"/>
          </a:p>
        </p:txBody>
      </p:sp>
      <p:sp>
        <p:nvSpPr>
          <p:cNvPr id="54" name="Text 52"/>
          <p:cNvSpPr txBox="1"/>
          <p:nvPr/>
        </p:nvSpPr>
        <p:spPr>
          <a:xfrm>
            <a:off x="3895344" y="4937760"/>
            <a:ext cx="1600200" cy="411480"/>
          </a:xfrm>
          <a:prstGeom prst="roundRect">
            <a:avLst>
              <a:gd name="adj" fmla="val 13333"/>
            </a:avLst>
          </a:prstGeom>
          <a:solidFill>
            <a:schemeClr val="bg1"/>
          </a:solidFill>
          <a:ln w="22225">
            <a:solidFill>
              <a:schemeClr val="accent4"/>
            </a:solidFill>
          </a:ln>
        </p:spPr>
        <p:txBody>
          <a:bodyPr wrap="square" lIns="0" tIns="0" rIns="0" bIns="0" rtlCol="0" anchor="ctr"/>
          <a:lstStyle/>
          <a:p>
            <a:pPr algn="ctr" indent="0" marL="0">
              <a:buNone/>
            </a:pPr>
            <a:r>
              <a:rPr lang="en-US" sz="1200" b="1" dirty="0">
                <a:solidFill>
                  <a:schemeClr val="accent4"/>
                </a:solidFill>
                <a:latin typeface="Consolas" pitchFamily="34" charset="0"/>
                <a:ea typeface="Consolas" pitchFamily="34" charset="-122"/>
                <a:cs typeface="Consolas" pitchFamily="34" charset="-120"/>
              </a:rPr>
              <a:t>feld[2][3] = '#'</a:t>
            </a:r>
            <a:endParaRPr lang="en-US" sz="1200" dirty="0"/>
          </a:p>
        </p:txBody>
      </p:sp>
      <p:sp>
        <p:nvSpPr>
          <p:cNvPr id="55" name="Text 53"/>
          <p:cNvSpPr txBox="1"/>
          <p:nvPr/>
        </p:nvSpPr>
        <p:spPr>
          <a:xfrm>
            <a:off x="548640" y="5458968"/>
            <a:ext cx="4937760" cy="274320"/>
          </a:xfrm>
          <a:prstGeom prst="rect">
            <a:avLst/>
          </a:prstGeom>
          <a:noFill/>
          <a:ln/>
        </p:spPr>
        <p:txBody>
          <a:bodyPr wrap="square" lIns="0" tIns="0" rIns="0" bIns="0" rtlCol="0" anchor="t"/>
          <a:lstStyle/>
          <a:p>
            <a:pPr indent="0" marL="0">
              <a:buNone/>
            </a:pPr>
            <a:r>
              <a:rPr lang="en-US" sz="1400" i="1" dirty="0">
                <a:solidFill>
                  <a:schemeClr val="accent6"/>
                </a:solidFill>
              </a:rPr>
              <a:t>Testkarte „Höhle“: 5 Zeilen, 7 Spalten</a:t>
            </a:r>
            <a:endParaRPr lang="en-US" sz="1400" dirty="0"/>
          </a:p>
        </p:txBody>
      </p:sp>
      <p:sp>
        <p:nvSpPr>
          <p:cNvPr id="56" name="Code"/>
          <p:cNvSpPr txBox="1"/>
          <p:nvPr/>
        </p:nvSpPr>
        <p:spPr>
          <a:xfrm>
            <a:off x="5760720" y="1325880"/>
            <a:ext cx="5852160" cy="911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private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char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feld</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feld[z][s]</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feld</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length</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5 Zeilen</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feld</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[0].</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length</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7 Spalten</a:t>
            </a:r>
            <a:endParaRPr lang="en-US" sz="1300" dirty="0"/>
          </a:p>
        </p:txBody>
      </p:sp>
      <p:sp>
        <p:nvSpPr>
          <p:cNvPr id="57" name="Code"/>
          <p:cNvSpPr txBox="1"/>
          <p:nvPr/>
        </p:nvSpPr>
        <p:spPr>
          <a:xfrm>
            <a:off x="5760720" y="2286000"/>
            <a:ext cx="5852160" cy="2397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anzahlWaende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for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feld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length</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for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feld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length</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feld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58" name="Chip"/>
          <p:cNvSpPr txBox="1"/>
          <p:nvPr/>
        </p:nvSpPr>
        <p:spPr>
          <a:xfrm>
            <a:off x="8503920" y="4572000"/>
            <a:ext cx="31089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Höhle: anzahlWaende() = 21</a:t>
            </a:r>
            <a:endParaRPr lang="en-US" sz="1400" dirty="0"/>
          </a:p>
        </p:txBody>
      </p:sp>
      <p:sp>
        <p:nvSpPr>
          <p:cNvPr id="59" name="Achtung Zeile Spalte"/>
          <p:cNvSpPr/>
          <p:nvPr/>
        </p:nvSpPr>
        <p:spPr>
          <a:xfrm>
            <a:off x="5760720" y="5120640"/>
            <a:ext cx="5852160" cy="1005840"/>
          </a:xfrm>
          <a:prstGeom prst="roundRect">
            <a:avLst>
              <a:gd name="adj" fmla="val 10909"/>
            </a:avLst>
          </a:prstGeom>
          <a:solidFill>
            <a:schemeClr val="bg1"/>
          </a:solidFill>
          <a:ln w="25400">
            <a:solidFill>
              <a:schemeClr val="accent4"/>
            </a:solidFill>
            <a:prstDash val="solid"/>
          </a:ln>
        </p:spPr>
      </p:sp>
      <p:sp>
        <p:nvSpPr>
          <p:cNvPr id="60" name="Text 58"/>
          <p:cNvSpPr txBox="1"/>
          <p:nvPr/>
        </p:nvSpPr>
        <p:spPr>
          <a:xfrm>
            <a:off x="5961888" y="5120640"/>
            <a:ext cx="5486400" cy="1005840"/>
          </a:xfrm>
          <a:prstGeom prst="rect">
            <a:avLst/>
          </a:prstGeom>
          <a:noFill/>
          <a:ln/>
        </p:spPr>
        <p:txBody>
          <a:bodyPr wrap="square" lIns="0" tIns="0" rIns="0" bIns="0" rtlCol="0" anchor="ctr"/>
          <a:lstStyle/>
          <a:p>
            <a:pPr indent="0" marL="0">
              <a:buNone/>
            </a:pPr>
            <a:r>
              <a:rPr lang="en-US" sz="1600" b="1" dirty="0">
                <a:solidFill>
                  <a:schemeClr val="accent4"/>
                </a:solidFill>
              </a:rPr>
              <a:t>Achtung Abi: </a:t>
            </a:r>
            <a:pPr indent="0" marL="0">
              <a:buNone/>
            </a:pPr>
            <a:r>
              <a:rPr lang="en-US" sz="1600" dirty="0">
                <a:solidFill>
                  <a:schemeClr val="tx1"/>
                </a:solidFill>
              </a:rPr>
              <a:t>erst Zeile, dann Spalte: feld[z][s] – nicht x, y! Zeichen vergleicht man mit ==.</a:t>
            </a:r>
            <a:endParaRPr lang="en-US" sz="1600" dirty="0"/>
          </a:p>
        </p:txBody>
      </p:sp>
      <p:sp>
        <p:nvSpPr>
          <p:cNvPr id="61" name="Text 59"/>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19 · Dungeon-Karte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Nachbarn und Rand: die Lichtung ohne Randmauer</a:t>
            </a:r>
            <a:endParaRPr lang="en-US" sz="3600" dirty="0"/>
          </a:p>
        </p:txBody>
      </p:sp>
      <p:sp>
        <p:nvSpPr>
          <p:cNvPr id="3" name="Feld 0,0"/>
          <p:cNvSpPr txBox="1"/>
          <p:nvPr/>
        </p:nvSpPr>
        <p:spPr>
          <a:xfrm>
            <a:off x="914400" y="19659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4" name="Feld 0,1"/>
          <p:cNvSpPr txBox="1"/>
          <p:nvPr/>
        </p:nvSpPr>
        <p:spPr>
          <a:xfrm>
            <a:off x="1600200" y="19659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5" name="Feld 0,2"/>
          <p:cNvSpPr txBox="1"/>
          <p:nvPr/>
        </p:nvSpPr>
        <p:spPr>
          <a:xfrm>
            <a:off x="2286000" y="1965960"/>
            <a:ext cx="685800" cy="685800"/>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6" name="Feld 0,3"/>
          <p:cNvSpPr txBox="1"/>
          <p:nvPr/>
        </p:nvSpPr>
        <p:spPr>
          <a:xfrm>
            <a:off x="2971800" y="19659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7" name="Feld 1,0"/>
          <p:cNvSpPr txBox="1"/>
          <p:nvPr/>
        </p:nvSpPr>
        <p:spPr>
          <a:xfrm>
            <a:off x="914400" y="26517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8" name="Feld 1,1"/>
          <p:cNvSpPr txBox="1"/>
          <p:nvPr/>
        </p:nvSpPr>
        <p:spPr>
          <a:xfrm>
            <a:off x="1600200" y="2651760"/>
            <a:ext cx="685800" cy="685800"/>
          </a:xfrm>
          <a:prstGeom prst="rect">
            <a:avLst/>
          </a:prstGeom>
          <a:solidFill>
            <a:srgbClr val="1F4E79"/>
          </a:solidFill>
          <a:ln w="9525">
            <a:solidFill>
              <a:srgbClr val="BFBFBF"/>
            </a:solid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S</a:t>
            </a:r>
            <a:endParaRPr lang="en-US" sz="1800" dirty="0"/>
          </a:p>
        </p:txBody>
      </p:sp>
      <p:sp>
        <p:nvSpPr>
          <p:cNvPr id="9" name="Feld 1,2"/>
          <p:cNvSpPr txBox="1"/>
          <p:nvPr/>
        </p:nvSpPr>
        <p:spPr>
          <a:xfrm>
            <a:off x="2286000" y="26517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10" name="Feld 1,3"/>
          <p:cNvSpPr txBox="1"/>
          <p:nvPr/>
        </p:nvSpPr>
        <p:spPr>
          <a:xfrm>
            <a:off x="2971800" y="26517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11" name="Feld 2,0"/>
          <p:cNvSpPr txBox="1"/>
          <p:nvPr/>
        </p:nvSpPr>
        <p:spPr>
          <a:xfrm>
            <a:off x="914400" y="3337560"/>
            <a:ext cx="685800" cy="685800"/>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12" name="Feld 2,1"/>
          <p:cNvSpPr txBox="1"/>
          <p:nvPr/>
        </p:nvSpPr>
        <p:spPr>
          <a:xfrm>
            <a:off x="1600200" y="33375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13" name="Feld 2,2"/>
          <p:cNvSpPr txBox="1"/>
          <p:nvPr/>
        </p:nvSpPr>
        <p:spPr>
          <a:xfrm>
            <a:off x="2286000" y="33375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14" name="Feld 2,3"/>
          <p:cNvSpPr txBox="1"/>
          <p:nvPr/>
        </p:nvSpPr>
        <p:spPr>
          <a:xfrm>
            <a:off x="2971800" y="3337560"/>
            <a:ext cx="685800" cy="685800"/>
          </a:xfrm>
          <a:prstGeom prst="rect">
            <a:avLst/>
          </a:prstGeom>
          <a:solidFill>
            <a:srgbClr val="548235"/>
          </a:solidFill>
          <a:ln w="9525">
            <a:solidFill>
              <a:srgbClr val="BFBFBF"/>
            </a:solid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Z</a:t>
            </a:r>
            <a:endParaRPr lang="en-US" sz="1800" dirty="0"/>
          </a:p>
        </p:txBody>
      </p:sp>
      <p:sp>
        <p:nvSpPr>
          <p:cNvPr id="15" name="Text 13"/>
          <p:cNvSpPr txBox="1"/>
          <p:nvPr/>
        </p:nvSpPr>
        <p:spPr>
          <a:xfrm>
            <a:off x="914400" y="1691640"/>
            <a:ext cx="685800" cy="237744"/>
          </a:xfrm>
          <a:prstGeom prst="rect">
            <a:avLst/>
          </a:prstGeom>
          <a:noFill/>
          <a:ln/>
        </p:spPr>
        <p:txBody>
          <a:bodyPr wrap="square" lIns="0" tIns="0" rIns="0" bIns="0" rtlCol="0" anchor="t"/>
          <a:lstStyle/>
          <a:p>
            <a:pPr algn="ctr" indent="0" marL="0">
              <a:buNone/>
            </a:pPr>
            <a:r>
              <a:rPr lang="en-US" sz="1300" b="1" dirty="0">
                <a:solidFill>
                  <a:schemeClr val="accent6"/>
                </a:solidFill>
              </a:rPr>
              <a:t>0</a:t>
            </a:r>
            <a:endParaRPr lang="en-US" sz="1300" dirty="0"/>
          </a:p>
        </p:txBody>
      </p:sp>
      <p:sp>
        <p:nvSpPr>
          <p:cNvPr id="16" name="Text 14"/>
          <p:cNvSpPr txBox="1"/>
          <p:nvPr/>
        </p:nvSpPr>
        <p:spPr>
          <a:xfrm>
            <a:off x="1600200" y="1691640"/>
            <a:ext cx="685800" cy="237744"/>
          </a:xfrm>
          <a:prstGeom prst="rect">
            <a:avLst/>
          </a:prstGeom>
          <a:noFill/>
          <a:ln/>
        </p:spPr>
        <p:txBody>
          <a:bodyPr wrap="square" lIns="0" tIns="0" rIns="0" bIns="0" rtlCol="0" anchor="t"/>
          <a:lstStyle/>
          <a:p>
            <a:pPr algn="ctr" indent="0" marL="0">
              <a:buNone/>
            </a:pPr>
            <a:r>
              <a:rPr lang="en-US" sz="1300" b="1" dirty="0">
                <a:solidFill>
                  <a:schemeClr val="accent6"/>
                </a:solidFill>
              </a:rPr>
              <a:t>1</a:t>
            </a:r>
            <a:endParaRPr lang="en-US" sz="1300" dirty="0"/>
          </a:p>
        </p:txBody>
      </p:sp>
      <p:sp>
        <p:nvSpPr>
          <p:cNvPr id="17" name="Text 15"/>
          <p:cNvSpPr txBox="1"/>
          <p:nvPr/>
        </p:nvSpPr>
        <p:spPr>
          <a:xfrm>
            <a:off x="2286000" y="1691640"/>
            <a:ext cx="685800" cy="237744"/>
          </a:xfrm>
          <a:prstGeom prst="rect">
            <a:avLst/>
          </a:prstGeom>
          <a:noFill/>
          <a:ln/>
        </p:spPr>
        <p:txBody>
          <a:bodyPr wrap="square" lIns="0" tIns="0" rIns="0" bIns="0" rtlCol="0" anchor="t"/>
          <a:lstStyle/>
          <a:p>
            <a:pPr algn="ctr" indent="0" marL="0">
              <a:buNone/>
            </a:pPr>
            <a:r>
              <a:rPr lang="en-US" sz="1300" b="1" dirty="0">
                <a:solidFill>
                  <a:schemeClr val="accent6"/>
                </a:solidFill>
              </a:rPr>
              <a:t>2</a:t>
            </a:r>
            <a:endParaRPr lang="en-US" sz="1300" dirty="0"/>
          </a:p>
        </p:txBody>
      </p:sp>
      <p:sp>
        <p:nvSpPr>
          <p:cNvPr id="18" name="Text 16"/>
          <p:cNvSpPr txBox="1"/>
          <p:nvPr/>
        </p:nvSpPr>
        <p:spPr>
          <a:xfrm>
            <a:off x="2971800" y="1691640"/>
            <a:ext cx="685800" cy="237744"/>
          </a:xfrm>
          <a:prstGeom prst="rect">
            <a:avLst/>
          </a:prstGeom>
          <a:noFill/>
          <a:ln/>
        </p:spPr>
        <p:txBody>
          <a:bodyPr wrap="square" lIns="0" tIns="0" rIns="0" bIns="0" rtlCol="0" anchor="t"/>
          <a:lstStyle/>
          <a:p>
            <a:pPr algn="ctr" indent="0" marL="0">
              <a:buNone/>
            </a:pPr>
            <a:r>
              <a:rPr lang="en-US" sz="1300" b="1" dirty="0">
                <a:solidFill>
                  <a:schemeClr val="accent6"/>
                </a:solidFill>
              </a:rPr>
              <a:t>3</a:t>
            </a:r>
            <a:endParaRPr lang="en-US" sz="1300" dirty="0"/>
          </a:p>
        </p:txBody>
      </p:sp>
      <p:sp>
        <p:nvSpPr>
          <p:cNvPr id="19" name="Text 17"/>
          <p:cNvSpPr txBox="1"/>
          <p:nvPr/>
        </p:nvSpPr>
        <p:spPr>
          <a:xfrm>
            <a:off x="603504" y="1965960"/>
            <a:ext cx="237744" cy="685800"/>
          </a:xfrm>
          <a:prstGeom prst="rect">
            <a:avLst/>
          </a:prstGeom>
          <a:noFill/>
          <a:ln/>
        </p:spPr>
        <p:txBody>
          <a:bodyPr wrap="square" lIns="0" tIns="0" rIns="0" bIns="0" rtlCol="0" anchor="ctr"/>
          <a:lstStyle/>
          <a:p>
            <a:pPr algn="r" indent="0" marL="0">
              <a:buNone/>
            </a:pPr>
            <a:r>
              <a:rPr lang="en-US" sz="1300" b="1" dirty="0">
                <a:solidFill>
                  <a:schemeClr val="accent6"/>
                </a:solidFill>
              </a:rPr>
              <a:t>0</a:t>
            </a:r>
            <a:endParaRPr lang="en-US" sz="1300" dirty="0"/>
          </a:p>
        </p:txBody>
      </p:sp>
      <p:sp>
        <p:nvSpPr>
          <p:cNvPr id="20" name="Text 18"/>
          <p:cNvSpPr txBox="1"/>
          <p:nvPr/>
        </p:nvSpPr>
        <p:spPr>
          <a:xfrm>
            <a:off x="603504" y="2651760"/>
            <a:ext cx="237744" cy="685800"/>
          </a:xfrm>
          <a:prstGeom prst="rect">
            <a:avLst/>
          </a:prstGeom>
          <a:noFill/>
          <a:ln/>
        </p:spPr>
        <p:txBody>
          <a:bodyPr wrap="square" lIns="0" tIns="0" rIns="0" bIns="0" rtlCol="0" anchor="ctr"/>
          <a:lstStyle/>
          <a:p>
            <a:pPr algn="r" indent="0" marL="0">
              <a:buNone/>
            </a:pPr>
            <a:r>
              <a:rPr lang="en-US" sz="1300" b="1" dirty="0">
                <a:solidFill>
                  <a:schemeClr val="accent6"/>
                </a:solidFill>
              </a:rPr>
              <a:t>1</a:t>
            </a:r>
            <a:endParaRPr lang="en-US" sz="1300" dirty="0"/>
          </a:p>
        </p:txBody>
      </p:sp>
      <p:sp>
        <p:nvSpPr>
          <p:cNvPr id="21" name="Text 19"/>
          <p:cNvSpPr txBox="1"/>
          <p:nvPr/>
        </p:nvSpPr>
        <p:spPr>
          <a:xfrm>
            <a:off x="603504" y="3337560"/>
            <a:ext cx="237744" cy="685800"/>
          </a:xfrm>
          <a:prstGeom prst="rect">
            <a:avLst/>
          </a:prstGeom>
          <a:noFill/>
          <a:ln/>
        </p:spPr>
        <p:txBody>
          <a:bodyPr wrap="square" lIns="0" tIns="0" rIns="0" bIns="0" rtlCol="0" anchor="ctr"/>
          <a:lstStyle/>
          <a:p>
            <a:pPr algn="r" indent="0" marL="0">
              <a:buNone/>
            </a:pPr>
            <a:r>
              <a:rPr lang="en-US" sz="1300" b="1" dirty="0">
                <a:solidFill>
                  <a:schemeClr val="accent6"/>
                </a:solidFill>
              </a:rPr>
              <a:t>2</a:t>
            </a:r>
            <a:endParaRPr lang="en-US" sz="1300" dirty="0"/>
          </a:p>
        </p:txBody>
      </p:sp>
      <p:sp>
        <p:nvSpPr>
          <p:cNvPr id="22" name="Nummer 1"/>
          <p:cNvSpPr txBox="1"/>
          <p:nvPr/>
        </p:nvSpPr>
        <p:spPr>
          <a:xfrm>
            <a:off x="2029968" y="2002536"/>
            <a:ext cx="237744" cy="237744"/>
          </a:xfrm>
          <a:prstGeom prst="ellipse">
            <a:avLst/>
          </a:prstGeom>
          <a:solidFill>
            <a:schemeClr val="accent2"/>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3" name="Nummer 2"/>
          <p:cNvSpPr txBox="1"/>
          <p:nvPr/>
        </p:nvSpPr>
        <p:spPr>
          <a:xfrm>
            <a:off x="2715768" y="2688336"/>
            <a:ext cx="237744" cy="237744"/>
          </a:xfrm>
          <a:prstGeom prst="ellipse">
            <a:avLst/>
          </a:prstGeom>
          <a:solidFill>
            <a:schemeClr val="accent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4" name="Nummer 3"/>
          <p:cNvSpPr txBox="1"/>
          <p:nvPr/>
        </p:nvSpPr>
        <p:spPr>
          <a:xfrm>
            <a:off x="2029968" y="3374136"/>
            <a:ext cx="237744" cy="237744"/>
          </a:xfrm>
          <a:prstGeom prst="ellipse">
            <a:avLst/>
          </a:prstGeom>
          <a:solidFill>
            <a:schemeClr val="accent2"/>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5" name="Nummer 4"/>
          <p:cNvSpPr txBox="1"/>
          <p:nvPr/>
        </p:nvSpPr>
        <p:spPr>
          <a:xfrm>
            <a:off x="1344168" y="2688336"/>
            <a:ext cx="237744" cy="237744"/>
          </a:xfrm>
          <a:prstGeom prst="ellipse">
            <a:avLst/>
          </a:prstGeom>
          <a:solidFill>
            <a:schemeClr val="accent2"/>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26" name="Diagonale"/>
          <p:cNvSpPr/>
          <p:nvPr/>
        </p:nvSpPr>
        <p:spPr>
          <a:xfrm>
            <a:off x="969264" y="2020824"/>
            <a:ext cx="576072" cy="576072"/>
          </a:xfrm>
          <a:prstGeom prst="rect">
            <a:avLst/>
          </a:prstGeom>
          <a:ln w="19050">
            <a:solidFill>
              <a:schemeClr val="accent6"/>
            </a:solidFill>
            <a:prstDash val="dash"/>
          </a:ln>
        </p:spPr>
      </p:sp>
      <p:sp>
        <p:nvSpPr>
          <p:cNvPr id="27" name="Diagonale"/>
          <p:cNvSpPr/>
          <p:nvPr/>
        </p:nvSpPr>
        <p:spPr>
          <a:xfrm>
            <a:off x="2340864" y="2020824"/>
            <a:ext cx="576072" cy="576072"/>
          </a:xfrm>
          <a:prstGeom prst="rect">
            <a:avLst/>
          </a:prstGeom>
          <a:ln w="19050">
            <a:solidFill>
              <a:schemeClr val="accent6"/>
            </a:solidFill>
            <a:prstDash val="dash"/>
          </a:ln>
        </p:spPr>
      </p:sp>
      <p:sp>
        <p:nvSpPr>
          <p:cNvPr id="28" name="Diagonale"/>
          <p:cNvSpPr/>
          <p:nvPr/>
        </p:nvSpPr>
        <p:spPr>
          <a:xfrm>
            <a:off x="969264" y="3392424"/>
            <a:ext cx="576072" cy="576072"/>
          </a:xfrm>
          <a:prstGeom prst="rect">
            <a:avLst/>
          </a:prstGeom>
          <a:ln w="19050">
            <a:solidFill>
              <a:schemeClr val="accent6"/>
            </a:solidFill>
            <a:prstDash val="dash"/>
          </a:ln>
        </p:spPr>
      </p:sp>
      <p:sp>
        <p:nvSpPr>
          <p:cNvPr id="29" name="Diagonale"/>
          <p:cNvSpPr/>
          <p:nvPr/>
        </p:nvSpPr>
        <p:spPr>
          <a:xfrm>
            <a:off x="2340864" y="3392424"/>
            <a:ext cx="576072" cy="576072"/>
          </a:xfrm>
          <a:prstGeom prst="rect">
            <a:avLst/>
          </a:prstGeom>
          <a:ln w="19050">
            <a:solidFill>
              <a:schemeClr val="accent6"/>
            </a:solidFill>
            <a:prstDash val="dash"/>
          </a:ln>
        </p:spPr>
      </p:sp>
      <p:sp>
        <p:nvSpPr>
          <p:cNvPr id="30" name="Text 28"/>
          <p:cNvSpPr txBox="1"/>
          <p:nvPr/>
        </p:nvSpPr>
        <p:spPr>
          <a:xfrm>
            <a:off x="548640" y="4069080"/>
            <a:ext cx="3840480" cy="502920"/>
          </a:xfrm>
          <a:prstGeom prst="rect">
            <a:avLst/>
          </a:prstGeom>
          <a:noFill/>
          <a:ln/>
        </p:spPr>
        <p:txBody>
          <a:bodyPr wrap="square" lIns="0" tIns="0" rIns="0" bIns="0" rtlCol="0" anchor="t"/>
          <a:lstStyle/>
          <a:p>
            <a:pPr indent="0" marL="0">
              <a:buNone/>
            </a:pPr>
            <a:r>
              <a:rPr lang="en-US" sz="1400" b="1" dirty="0">
                <a:solidFill>
                  <a:schemeClr val="accent2"/>
                </a:solidFill>
              </a:rPr>
              <a:t>4er: 1 oben, 2 rechts, 3 unten, 4 links</a:t>
            </a:r>
            <a:endParaRPr lang="en-US" sz="1400" dirty="0"/>
          </a:p>
          <a:p>
            <a:pPr indent="0" marL="0">
              <a:buNone/>
            </a:pPr>
            <a:r>
              <a:rPr lang="en-US" sz="1400" dirty="0">
                <a:solidFill>
                  <a:schemeClr val="accent6"/>
                </a:solidFill>
              </a:rPr>
              <a:t>8er: dazu die Diagonalen (gestrichelt)</a:t>
            </a:r>
            <a:endParaRPr lang="en-US" sz="1400" dirty="0"/>
          </a:p>
        </p:txBody>
      </p:sp>
      <p:sp>
        <p:nvSpPr>
          <p:cNvPr id="31" name="Feld 0,0"/>
          <p:cNvSpPr txBox="1"/>
          <p:nvPr/>
        </p:nvSpPr>
        <p:spPr>
          <a:xfrm>
            <a:off x="5257800" y="1965960"/>
            <a:ext cx="685800" cy="685800"/>
          </a:xfrm>
          <a:prstGeom prst="rect">
            <a:avLst/>
          </a:prstGeom>
          <a:solidFill>
            <a:srgbClr val="FFFFFF"/>
          </a:solidFill>
          <a:ln w="38100">
            <a:solidFill>
              <a:schemeClr val="accent2"/>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32" name="Feld 0,1"/>
          <p:cNvSpPr txBox="1"/>
          <p:nvPr/>
        </p:nvSpPr>
        <p:spPr>
          <a:xfrm>
            <a:off x="5943600" y="19659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33" name="Feld 0,2"/>
          <p:cNvSpPr txBox="1"/>
          <p:nvPr/>
        </p:nvSpPr>
        <p:spPr>
          <a:xfrm>
            <a:off x="6629400" y="1965960"/>
            <a:ext cx="685800" cy="685800"/>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34" name="Feld 0,3"/>
          <p:cNvSpPr txBox="1"/>
          <p:nvPr/>
        </p:nvSpPr>
        <p:spPr>
          <a:xfrm>
            <a:off x="7315200" y="19659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35" name="Feld 1,0"/>
          <p:cNvSpPr txBox="1"/>
          <p:nvPr/>
        </p:nvSpPr>
        <p:spPr>
          <a:xfrm>
            <a:off x="5257800" y="26517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36" name="Feld 1,1"/>
          <p:cNvSpPr txBox="1"/>
          <p:nvPr/>
        </p:nvSpPr>
        <p:spPr>
          <a:xfrm>
            <a:off x="5943600" y="2651760"/>
            <a:ext cx="685800" cy="685800"/>
          </a:xfrm>
          <a:prstGeom prst="rect">
            <a:avLst/>
          </a:prstGeom>
          <a:solidFill>
            <a:srgbClr val="1F4E79"/>
          </a:solidFill>
          <a:ln w="9525">
            <a:solidFill>
              <a:srgbClr val="BFBFBF"/>
            </a:solid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S</a:t>
            </a:r>
            <a:endParaRPr lang="en-US" sz="1800" dirty="0"/>
          </a:p>
        </p:txBody>
      </p:sp>
      <p:sp>
        <p:nvSpPr>
          <p:cNvPr id="37" name="Feld 1,2"/>
          <p:cNvSpPr txBox="1"/>
          <p:nvPr/>
        </p:nvSpPr>
        <p:spPr>
          <a:xfrm>
            <a:off x="6629400" y="26517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38" name="Feld 1,3"/>
          <p:cNvSpPr txBox="1"/>
          <p:nvPr/>
        </p:nvSpPr>
        <p:spPr>
          <a:xfrm>
            <a:off x="7315200" y="26517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39" name="Feld 2,0"/>
          <p:cNvSpPr txBox="1"/>
          <p:nvPr/>
        </p:nvSpPr>
        <p:spPr>
          <a:xfrm>
            <a:off x="5257800" y="3337560"/>
            <a:ext cx="685800" cy="685800"/>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800" b="1" dirty="0">
                <a:solidFill>
                  <a:srgbClr val="8C8C8C"/>
                </a:solidFill>
                <a:latin typeface="Consolas" pitchFamily="34" charset="0"/>
                <a:ea typeface="Consolas" pitchFamily="34" charset="-122"/>
                <a:cs typeface="Consolas" pitchFamily="34" charset="-120"/>
              </a:rPr>
              <a:t>#</a:t>
            </a:r>
            <a:endParaRPr lang="en-US" sz="1800" dirty="0"/>
          </a:p>
        </p:txBody>
      </p:sp>
      <p:sp>
        <p:nvSpPr>
          <p:cNvPr id="40" name="Feld 2,1"/>
          <p:cNvSpPr txBox="1"/>
          <p:nvPr/>
        </p:nvSpPr>
        <p:spPr>
          <a:xfrm>
            <a:off x="5943600" y="33375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41" name="Feld 2,2"/>
          <p:cNvSpPr txBox="1"/>
          <p:nvPr/>
        </p:nvSpPr>
        <p:spPr>
          <a:xfrm>
            <a:off x="6629400" y="3337560"/>
            <a:ext cx="685800" cy="685800"/>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800" b="1" dirty="0">
                <a:solidFill>
                  <a:srgbClr val="A6A6A6"/>
                </a:solidFill>
                <a:latin typeface="Consolas" pitchFamily="34" charset="0"/>
                <a:ea typeface="Consolas" pitchFamily="34" charset="-122"/>
                <a:cs typeface="Consolas" pitchFamily="34" charset="-120"/>
              </a:rPr>
              <a:t>.</a:t>
            </a:r>
            <a:endParaRPr lang="en-US" sz="1800" dirty="0"/>
          </a:p>
        </p:txBody>
      </p:sp>
      <p:sp>
        <p:nvSpPr>
          <p:cNvPr id="42" name="Feld 2,3"/>
          <p:cNvSpPr txBox="1"/>
          <p:nvPr/>
        </p:nvSpPr>
        <p:spPr>
          <a:xfrm>
            <a:off x="7315200" y="3337560"/>
            <a:ext cx="685800" cy="685800"/>
          </a:xfrm>
          <a:prstGeom prst="rect">
            <a:avLst/>
          </a:prstGeom>
          <a:solidFill>
            <a:srgbClr val="548235"/>
          </a:solidFill>
          <a:ln w="9525">
            <a:solidFill>
              <a:srgbClr val="BFBFBF"/>
            </a:solid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Z</a:t>
            </a:r>
            <a:endParaRPr lang="en-US" sz="1800" dirty="0"/>
          </a:p>
        </p:txBody>
      </p:sp>
      <p:sp>
        <p:nvSpPr>
          <p:cNvPr id="43" name="ausserhalb (−1, 0)"/>
          <p:cNvSpPr txBox="1"/>
          <p:nvPr/>
        </p:nvSpPr>
        <p:spPr>
          <a:xfrm>
            <a:off x="5257800" y="1280160"/>
            <a:ext cx="685800" cy="685800"/>
          </a:xfrm>
          <a:prstGeom prst="rect">
            <a:avLst/>
          </a:prstGeom>
          <a:solidFill>
            <a:srgbClr val="FBE5E5"/>
          </a:solidFill>
          <a:ln w="19050">
            <a:solidFill>
              <a:schemeClr val="accent4"/>
            </a:solidFill>
            <a:prstDash val="dash"/>
          </a:ln>
        </p:spPr>
        <p:txBody>
          <a:bodyPr wrap="square" lIns="0" tIns="0" rIns="0" bIns="0" rtlCol="0" anchor="ctr"/>
          <a:lstStyle/>
          <a:p>
            <a:pPr algn="ctr" indent="0" marL="0">
              <a:buNone/>
            </a:pPr>
            <a:r>
              <a:rPr lang="en-US" sz="1000" b="1" dirty="0">
                <a:solidFill>
                  <a:schemeClr val="accent4"/>
                </a:solidFill>
              </a:rPr>
              <a:t>(−1, 0)</a:t>
            </a:r>
            <a:endParaRPr lang="en-US" sz="1000" dirty="0"/>
          </a:p>
        </p:txBody>
      </p:sp>
      <p:sp>
        <p:nvSpPr>
          <p:cNvPr id="44" name="ausserhalb (0, −1)"/>
          <p:cNvSpPr txBox="1"/>
          <p:nvPr/>
        </p:nvSpPr>
        <p:spPr>
          <a:xfrm>
            <a:off x="4572000" y="1965960"/>
            <a:ext cx="685800" cy="685800"/>
          </a:xfrm>
          <a:prstGeom prst="rect">
            <a:avLst/>
          </a:prstGeom>
          <a:solidFill>
            <a:srgbClr val="FBE5E5"/>
          </a:solidFill>
          <a:ln w="19050">
            <a:solidFill>
              <a:schemeClr val="accent4"/>
            </a:solidFill>
            <a:prstDash val="dash"/>
          </a:ln>
        </p:spPr>
        <p:txBody>
          <a:bodyPr wrap="square" lIns="0" tIns="0" rIns="0" bIns="0" rtlCol="0" anchor="ctr"/>
          <a:lstStyle/>
          <a:p>
            <a:pPr algn="ctr" indent="0" marL="0">
              <a:buNone/>
            </a:pPr>
            <a:r>
              <a:rPr lang="en-US" sz="1000" b="1" dirty="0">
                <a:solidFill>
                  <a:schemeClr val="accent4"/>
                </a:solidFill>
              </a:rPr>
              <a:t>(0, −1)</a:t>
            </a:r>
            <a:endParaRPr lang="en-US" sz="1000" dirty="0"/>
          </a:p>
        </p:txBody>
      </p:sp>
      <p:sp>
        <p:nvSpPr>
          <p:cNvPr id="45" name="Text 43"/>
          <p:cNvSpPr txBox="1"/>
          <p:nvPr/>
        </p:nvSpPr>
        <p:spPr>
          <a:xfrm>
            <a:off x="4572000" y="4069080"/>
            <a:ext cx="3566160" cy="502920"/>
          </a:xfrm>
          <a:prstGeom prst="rect">
            <a:avLst/>
          </a:prstGeom>
          <a:noFill/>
          <a:ln/>
        </p:spPr>
        <p:txBody>
          <a:bodyPr wrap="square" lIns="0" tIns="0" rIns="0" bIns="0" rtlCol="0" anchor="t"/>
          <a:lstStyle/>
          <a:p>
            <a:pPr indent="0" marL="0">
              <a:buNone/>
            </a:pPr>
            <a:r>
              <a:rPr lang="en-US" sz="1400" b="1" dirty="0">
                <a:solidFill>
                  <a:schemeClr val="accent4"/>
                </a:solidFill>
              </a:rPr>
              <a:t>Ecke (0, 0): oben und links liegen außerhalb</a:t>
            </a:r>
            <a:endParaRPr lang="en-US" sz="1400" dirty="0"/>
          </a:p>
        </p:txBody>
      </p:sp>
      <p:sp>
        <p:nvSpPr>
          <p:cNvPr id="46" name="Text 44"/>
          <p:cNvSpPr txBox="1"/>
          <p:nvPr/>
        </p:nvSpPr>
        <p:spPr>
          <a:xfrm>
            <a:off x="8595360" y="1371600"/>
            <a:ext cx="3017520" cy="292608"/>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anzahlBegehbareNachbarn</a:t>
            </a:r>
            <a:endParaRPr lang="en-US" sz="1400" dirty="0"/>
          </a:p>
        </p:txBody>
      </p:sp>
      <p:graphicFrame>
        <p:nvGraphicFramePr>
          <p:cNvPr id="17" name="Nachbarn Lichtung"/>
          <p:cNvGraphicFramePr>
            <a:graphicFrameLocks noGrp="1"/>
          </p:cNvGraphicFramePr>
          <p:nvPr>
            <p:extLst>
              <p:ext uri="{D42A27DB-BD31-4B8C-83A1-F6EECF244321}">
                <p14:modId xmlns:p14="http://schemas.microsoft.com/office/powerpoint/2010/main" val="1579011935"/>
              </p:ext>
            </p:extLst>
          </p:nvPr>
        </p:nvGraphicFramePr>
        <p:xfrm>
          <a:off x="8595360" y="1737360"/>
          <a:ext cx="3017520" cy="914400"/>
        </p:xfrm>
        <a:graphic>
          <a:graphicData uri="http://schemas.openxmlformats.org/drawingml/2006/table">
            <a:tbl>
              <a:tblPr/>
              <a:tblGrid>
                <a:gridCol w="1188720"/>
                <a:gridCol w="1828800"/>
              </a:tblGrid>
              <a:tr h="384048">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Feld</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Nachbarn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84048">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(0, 0)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(2, 3)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(0, 3)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3  (8er: 7)</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48" name="Code"/>
          <p:cNvSpPr txBox="1"/>
          <p:nvPr/>
        </p:nvSpPr>
        <p:spPr>
          <a:xfrm>
            <a:off x="548640" y="4663440"/>
            <a:ext cx="6309360" cy="1546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boolean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istBegehbar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z</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s</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istImFeld</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z</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s</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false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i="1" dirty="0">
                <a:solidFill>
                  <a:schemeClr val="accent3"/>
                </a:solidFill>
                <a:latin typeface="Consolas" pitchFamily="34" charset="0"/>
                <a:ea typeface="Consolas" pitchFamily="34" charset="-122"/>
                <a:cs typeface="Consolas" pitchFamily="34" charset="-120"/>
              </a:rPr>
              <a:t>// zuerst den Rand pruefen!</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char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feld</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z</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s</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S</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Z</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p:txBody>
      </p:sp>
      <p:sp>
        <p:nvSpPr>
          <p:cNvPr id="49" name="Achtung Rand"/>
          <p:cNvSpPr/>
          <p:nvPr/>
        </p:nvSpPr>
        <p:spPr>
          <a:xfrm>
            <a:off x="7132320" y="4663440"/>
            <a:ext cx="4480560" cy="1463040"/>
          </a:xfrm>
          <a:prstGeom prst="roundRect">
            <a:avLst>
              <a:gd name="adj" fmla="val 7500"/>
            </a:avLst>
          </a:prstGeom>
          <a:solidFill>
            <a:schemeClr val="bg1"/>
          </a:solidFill>
          <a:ln w="25400">
            <a:solidFill>
              <a:schemeClr val="accent4"/>
            </a:solidFill>
            <a:prstDash val="solid"/>
          </a:ln>
        </p:spPr>
      </p:sp>
      <p:sp>
        <p:nvSpPr>
          <p:cNvPr id="50" name="Text 47"/>
          <p:cNvSpPr txBox="1"/>
          <p:nvPr/>
        </p:nvSpPr>
        <p:spPr>
          <a:xfrm>
            <a:off x="7333488" y="4663440"/>
            <a:ext cx="4114800" cy="1463040"/>
          </a:xfrm>
          <a:prstGeom prst="rect">
            <a:avLst/>
          </a:prstGeom>
          <a:noFill/>
          <a:ln/>
        </p:spPr>
        <p:txBody>
          <a:bodyPr wrap="square" lIns="0" tIns="0" rIns="0" bIns="0" rtlCol="0" anchor="ctr"/>
          <a:lstStyle/>
          <a:p>
            <a:pPr indent="0" marL="0">
              <a:buNone/>
            </a:pPr>
            <a:r>
              <a:rPr lang="en-US" sz="1500" b="1" dirty="0">
                <a:solidFill>
                  <a:schemeClr val="accent4"/>
                </a:solidFill>
              </a:rPr>
              <a:t>Achtung: </a:t>
            </a:r>
            <a:pPr indent="0" marL="0">
              <a:buNone/>
            </a:pPr>
            <a:r>
              <a:rPr lang="en-US" sz="1500" dirty="0">
                <a:solidFill>
                  <a:schemeClr val="tx1"/>
                </a:solidFill>
              </a:rPr>
              <a:t>feld[−1][0] gibt es nicht → ArrayIndexOutOfBoundsException. Erst istImFeld, dann zugreifen.</a:t>
            </a:r>
            <a:endParaRPr lang="en-US" sz="1500" dirty="0"/>
          </a:p>
        </p:txBody>
      </p:sp>
      <p:sp>
        <p:nvSpPr>
          <p:cNvPr id="51" name="Text 48"/>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19 · Dungeon-Karte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Nebel lüften: rekursiver Flood-Fill</a:t>
            </a:r>
            <a:endParaRPr lang="en-US" sz="3600" dirty="0"/>
          </a:p>
        </p:txBody>
      </p:sp>
      <p:sp>
        <p:nvSpPr>
          <p:cNvPr id="3" name="Code"/>
          <p:cNvSpPr txBox="1"/>
          <p:nvPr/>
        </p:nvSpPr>
        <p:spPr>
          <a:xfrm>
            <a:off x="548640" y="1325880"/>
            <a:ext cx="5943600" cy="2968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void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lueften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istBegehbar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Basisfall: Rand, Wand oder schon besucht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char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alt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feld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feld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ZUERST als besucht markieren</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lueften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oben</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lueften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rechts</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lueften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unten</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lueften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links</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alt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alt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feld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alt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S und Z wieder sichtbar machen</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4" name="Markierung besucht"/>
          <p:cNvSpPr/>
          <p:nvPr/>
        </p:nvSpPr>
        <p:spPr>
          <a:xfrm>
            <a:off x="594360" y="2406396"/>
            <a:ext cx="5852160" cy="190500"/>
          </a:xfrm>
          <a:prstGeom prst="rect">
            <a:avLst/>
          </a:prstGeom>
          <a:ln w="28575">
            <a:solidFill>
              <a:schemeClr val="accent4"/>
            </a:solidFill>
            <a:prstDash val="solid"/>
          </a:ln>
        </p:spPr>
      </p:sp>
      <p:pic>
        <p:nvPicPr>
          <p:cNvPr id="5" name="Struktogramm sg_lueften" descr="Struktogramm sg_lueften">    </p:cNvPr>
          <p:cNvPicPr>
            <a:picLocks noChangeAspect="1"/>
          </p:cNvPicPr>
          <p:nvPr/>
        </p:nvPicPr>
        <p:blipFill>
          <a:blip r:embed="rId1"/>
          <a:stretch>
            <a:fillRect/>
          </a:stretch>
        </p:blipFill>
        <p:spPr>
          <a:xfrm>
            <a:off x="6766560" y="1325880"/>
            <a:ext cx="4846320" cy="3739110"/>
          </a:xfrm>
          <a:prstGeom prst="rect">
            <a:avLst/>
          </a:prstGeom>
        </p:spPr>
      </p:pic>
      <p:sp>
        <p:nvSpPr>
          <p:cNvPr id="6" name="Besucht-Markierung"/>
          <p:cNvSpPr/>
          <p:nvPr/>
        </p:nvSpPr>
        <p:spPr>
          <a:xfrm>
            <a:off x="548640" y="4572000"/>
            <a:ext cx="5943600" cy="1554480"/>
          </a:xfrm>
          <a:prstGeom prst="roundRect">
            <a:avLst>
              <a:gd name="adj" fmla="val 7059"/>
            </a:avLst>
          </a:prstGeom>
          <a:solidFill>
            <a:schemeClr val="bg1"/>
          </a:solidFill>
          <a:ln w="25400">
            <a:solidFill>
              <a:schemeClr val="accent4"/>
            </a:solidFill>
            <a:prstDash val="solid"/>
          </a:ln>
        </p:spPr>
      </p:sp>
      <p:sp>
        <p:nvSpPr>
          <p:cNvPr id="7" name="Text 4"/>
          <p:cNvSpPr txBox="1"/>
          <p:nvPr/>
        </p:nvSpPr>
        <p:spPr>
          <a:xfrm>
            <a:off x="749808" y="4572000"/>
            <a:ext cx="5577840" cy="1554480"/>
          </a:xfrm>
          <a:prstGeom prst="rect">
            <a:avLst/>
          </a:prstGeom>
          <a:noFill/>
          <a:ln/>
        </p:spPr>
        <p:txBody>
          <a:bodyPr wrap="square" lIns="0" tIns="0" rIns="0" bIns="0" rtlCol="0" anchor="ctr"/>
          <a:lstStyle/>
          <a:p>
            <a:pPr indent="0" marL="0">
              <a:buNone/>
            </a:pPr>
            <a:r>
              <a:rPr lang="en-US" sz="1600" b="1" dirty="0">
                <a:solidFill>
                  <a:schemeClr val="accent4"/>
                </a:solidFill>
              </a:rPr>
              <a:t>Besucht-Markierung: </a:t>
            </a:r>
            <a:pPr indent="0" marL="0">
              <a:buNone/>
            </a:pPr>
            <a:r>
              <a:rPr lang="en-US" sz="1600" dirty="0">
                <a:solidFill>
                  <a:schemeClr val="tx1"/>
                </a:solidFill>
              </a:rPr>
              <a:t>erst markieren, dann die Nachbarn lüften. Sonst ruft (1, 1) den Nachbarn (1, 2) auf, der wieder (1, 1) … → StackOverflowError.</a:t>
            </a:r>
            <a:endParaRPr lang="en-US" sz="1600" dirty="0"/>
          </a:p>
        </p:txBody>
      </p:sp>
      <p:sp>
        <p:nvSpPr>
          <p:cNvPr id="8" name="S und Z"/>
          <p:cNvSpPr/>
          <p:nvPr/>
        </p:nvSpPr>
        <p:spPr>
          <a:xfrm>
            <a:off x="6766560" y="5349240"/>
            <a:ext cx="4846320" cy="777240"/>
          </a:xfrm>
          <a:prstGeom prst="roundRect">
            <a:avLst>
              <a:gd name="adj" fmla="val 14118"/>
            </a:avLst>
          </a:prstGeom>
          <a:solidFill>
            <a:schemeClr val="bg2"/>
          </a:solidFill>
          <a:ln/>
        </p:spPr>
      </p:sp>
      <p:sp>
        <p:nvSpPr>
          <p:cNvPr id="9" name="Text 6"/>
          <p:cNvSpPr txBox="1"/>
          <p:nvPr/>
        </p:nvSpPr>
        <p:spPr>
          <a:xfrm>
            <a:off x="6967728" y="5349240"/>
            <a:ext cx="4480560" cy="777240"/>
          </a:xfrm>
          <a:prstGeom prst="rect">
            <a:avLst/>
          </a:prstGeom>
          <a:noFill/>
          <a:ln/>
        </p:spPr>
        <p:txBody>
          <a:bodyPr wrap="square" lIns="0" tIns="0" rIns="0" bIns="0" rtlCol="0" anchor="ctr"/>
          <a:lstStyle/>
          <a:p>
            <a:pPr indent="0" marL="0">
              <a:buNone/>
            </a:pPr>
            <a:r>
              <a:rPr lang="en-US" sz="1500" b="1" dirty="0">
                <a:solidFill>
                  <a:schemeClr val="accent1"/>
                </a:solidFill>
              </a:rPr>
              <a:t>S und Z </a:t>
            </a:r>
            <a:pPr indent="0" marL="0">
              <a:buNone/>
            </a:pPr>
            <a:r>
              <a:rPr lang="en-US" sz="1500" dirty="0">
                <a:solidFill>
                  <a:schemeClr val="tx1"/>
                </a:solidFill>
              </a:rPr>
              <a:t>gelten kurz als '+' und werden am Ende zurückgesetzt.</a:t>
            </a:r>
            <a:endParaRPr lang="en-US" sz="1500" dirty="0"/>
          </a:p>
        </p:txBody>
      </p:sp>
      <p:sp>
        <p:nvSpPr>
          <p:cNvPr id="10" name="Text 7"/>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19 · Dungeon-Karte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Flood-Fill Schritt für Schritt: lueften(1, 1)</a:t>
            </a:r>
            <a:endParaRPr lang="en-US" sz="3600" dirty="0"/>
          </a:p>
        </p:txBody>
      </p:sp>
      <p:sp>
        <p:nvSpPr>
          <p:cNvPr id="3" name="Feld 0,0"/>
          <p:cNvSpPr txBox="1"/>
          <p:nvPr/>
        </p:nvSpPr>
        <p:spPr>
          <a:xfrm>
            <a:off x="914400" y="1691640"/>
            <a:ext cx="914400" cy="914400"/>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2400" b="1" dirty="0">
                <a:solidFill>
                  <a:srgbClr val="B8860B"/>
                </a:solidFill>
                <a:latin typeface="Consolas" pitchFamily="34" charset="0"/>
                <a:ea typeface="Consolas" pitchFamily="34" charset="-122"/>
                <a:cs typeface="Consolas" pitchFamily="34" charset="-120"/>
              </a:rPr>
              <a:t>+</a:t>
            </a:r>
            <a:endParaRPr lang="en-US" sz="2400" dirty="0"/>
          </a:p>
        </p:txBody>
      </p:sp>
      <p:sp>
        <p:nvSpPr>
          <p:cNvPr id="4" name="Feld 0,1"/>
          <p:cNvSpPr txBox="1"/>
          <p:nvPr/>
        </p:nvSpPr>
        <p:spPr>
          <a:xfrm>
            <a:off x="1828800" y="1691640"/>
            <a:ext cx="914400" cy="914400"/>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2400" b="1" dirty="0">
                <a:solidFill>
                  <a:srgbClr val="B8860B"/>
                </a:solidFill>
                <a:latin typeface="Consolas" pitchFamily="34" charset="0"/>
                <a:ea typeface="Consolas" pitchFamily="34" charset="-122"/>
                <a:cs typeface="Consolas" pitchFamily="34" charset="-120"/>
              </a:rPr>
              <a:t>+</a:t>
            </a:r>
            <a:endParaRPr lang="en-US" sz="2400" dirty="0"/>
          </a:p>
        </p:txBody>
      </p:sp>
      <p:sp>
        <p:nvSpPr>
          <p:cNvPr id="5" name="Feld 0,2"/>
          <p:cNvSpPr txBox="1"/>
          <p:nvPr/>
        </p:nvSpPr>
        <p:spPr>
          <a:xfrm>
            <a:off x="2743200" y="1691640"/>
            <a:ext cx="914400" cy="914400"/>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2400" b="1" dirty="0">
                <a:solidFill>
                  <a:srgbClr val="8C8C8C"/>
                </a:solidFill>
                <a:latin typeface="Consolas" pitchFamily="34" charset="0"/>
                <a:ea typeface="Consolas" pitchFamily="34" charset="-122"/>
                <a:cs typeface="Consolas" pitchFamily="34" charset="-120"/>
              </a:rPr>
              <a:t>#</a:t>
            </a:r>
            <a:endParaRPr lang="en-US" sz="2400" dirty="0"/>
          </a:p>
        </p:txBody>
      </p:sp>
      <p:sp>
        <p:nvSpPr>
          <p:cNvPr id="6" name="Feld 0,3"/>
          <p:cNvSpPr txBox="1"/>
          <p:nvPr/>
        </p:nvSpPr>
        <p:spPr>
          <a:xfrm>
            <a:off x="3657600" y="1691640"/>
            <a:ext cx="914400" cy="914400"/>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2400" b="1" dirty="0">
                <a:solidFill>
                  <a:srgbClr val="B8860B"/>
                </a:solidFill>
                <a:latin typeface="Consolas" pitchFamily="34" charset="0"/>
                <a:ea typeface="Consolas" pitchFamily="34" charset="-122"/>
                <a:cs typeface="Consolas" pitchFamily="34" charset="-120"/>
              </a:rPr>
              <a:t>+</a:t>
            </a:r>
            <a:endParaRPr lang="en-US" sz="2400" dirty="0"/>
          </a:p>
        </p:txBody>
      </p:sp>
      <p:sp>
        <p:nvSpPr>
          <p:cNvPr id="7" name="Feld 1,0"/>
          <p:cNvSpPr txBox="1"/>
          <p:nvPr/>
        </p:nvSpPr>
        <p:spPr>
          <a:xfrm>
            <a:off x="914400" y="2606040"/>
            <a:ext cx="914400" cy="914400"/>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2400" b="1" dirty="0">
                <a:solidFill>
                  <a:srgbClr val="B8860B"/>
                </a:solidFill>
                <a:latin typeface="Consolas" pitchFamily="34" charset="0"/>
                <a:ea typeface="Consolas" pitchFamily="34" charset="-122"/>
                <a:cs typeface="Consolas" pitchFamily="34" charset="-120"/>
              </a:rPr>
              <a:t>+</a:t>
            </a:r>
            <a:endParaRPr lang="en-US" sz="2400" dirty="0"/>
          </a:p>
        </p:txBody>
      </p:sp>
      <p:sp>
        <p:nvSpPr>
          <p:cNvPr id="8" name="Feld 1,1"/>
          <p:cNvSpPr txBox="1"/>
          <p:nvPr/>
        </p:nvSpPr>
        <p:spPr>
          <a:xfrm>
            <a:off x="1828800" y="2606040"/>
            <a:ext cx="914400" cy="914400"/>
          </a:xfrm>
          <a:prstGeom prst="rect">
            <a:avLst/>
          </a:prstGeom>
          <a:solidFill>
            <a:srgbClr val="1F4E79"/>
          </a:solidFill>
          <a:ln w="9525">
            <a:solidFill>
              <a:srgbClr val="BFBFB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S</a:t>
            </a:r>
            <a:endParaRPr lang="en-US" sz="2400" dirty="0"/>
          </a:p>
        </p:txBody>
      </p:sp>
      <p:sp>
        <p:nvSpPr>
          <p:cNvPr id="9" name="Feld 1,2"/>
          <p:cNvSpPr txBox="1"/>
          <p:nvPr/>
        </p:nvSpPr>
        <p:spPr>
          <a:xfrm>
            <a:off x="2743200" y="2606040"/>
            <a:ext cx="914400" cy="914400"/>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2400" b="1" dirty="0">
                <a:solidFill>
                  <a:srgbClr val="B8860B"/>
                </a:solidFill>
                <a:latin typeface="Consolas" pitchFamily="34" charset="0"/>
                <a:ea typeface="Consolas" pitchFamily="34" charset="-122"/>
                <a:cs typeface="Consolas" pitchFamily="34" charset="-120"/>
              </a:rPr>
              <a:t>+</a:t>
            </a:r>
            <a:endParaRPr lang="en-US" sz="2400" dirty="0"/>
          </a:p>
        </p:txBody>
      </p:sp>
      <p:sp>
        <p:nvSpPr>
          <p:cNvPr id="10" name="Feld 1,3"/>
          <p:cNvSpPr txBox="1"/>
          <p:nvPr/>
        </p:nvSpPr>
        <p:spPr>
          <a:xfrm>
            <a:off x="3657600" y="2606040"/>
            <a:ext cx="914400" cy="914400"/>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2400" b="1" dirty="0">
                <a:solidFill>
                  <a:srgbClr val="B8860B"/>
                </a:solidFill>
                <a:latin typeface="Consolas" pitchFamily="34" charset="0"/>
                <a:ea typeface="Consolas" pitchFamily="34" charset="-122"/>
                <a:cs typeface="Consolas" pitchFamily="34" charset="-120"/>
              </a:rPr>
              <a:t>+</a:t>
            </a:r>
            <a:endParaRPr lang="en-US" sz="2400" dirty="0"/>
          </a:p>
        </p:txBody>
      </p:sp>
      <p:sp>
        <p:nvSpPr>
          <p:cNvPr id="11" name="Feld 2,0"/>
          <p:cNvSpPr txBox="1"/>
          <p:nvPr/>
        </p:nvSpPr>
        <p:spPr>
          <a:xfrm>
            <a:off x="914400" y="3520440"/>
            <a:ext cx="914400" cy="914400"/>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2400" b="1" dirty="0">
                <a:solidFill>
                  <a:srgbClr val="8C8C8C"/>
                </a:solidFill>
                <a:latin typeface="Consolas" pitchFamily="34" charset="0"/>
                <a:ea typeface="Consolas" pitchFamily="34" charset="-122"/>
                <a:cs typeface="Consolas" pitchFamily="34" charset="-120"/>
              </a:rPr>
              <a:t>#</a:t>
            </a:r>
            <a:endParaRPr lang="en-US" sz="2400" dirty="0"/>
          </a:p>
        </p:txBody>
      </p:sp>
      <p:sp>
        <p:nvSpPr>
          <p:cNvPr id="12" name="Feld 2,1"/>
          <p:cNvSpPr txBox="1"/>
          <p:nvPr/>
        </p:nvSpPr>
        <p:spPr>
          <a:xfrm>
            <a:off x="1828800" y="3520440"/>
            <a:ext cx="914400" cy="914400"/>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2400" b="1" dirty="0">
                <a:solidFill>
                  <a:srgbClr val="B8860B"/>
                </a:solidFill>
                <a:latin typeface="Consolas" pitchFamily="34" charset="0"/>
                <a:ea typeface="Consolas" pitchFamily="34" charset="-122"/>
                <a:cs typeface="Consolas" pitchFamily="34" charset="-120"/>
              </a:rPr>
              <a:t>+</a:t>
            </a:r>
            <a:endParaRPr lang="en-US" sz="2400" dirty="0"/>
          </a:p>
        </p:txBody>
      </p:sp>
      <p:sp>
        <p:nvSpPr>
          <p:cNvPr id="13" name="Feld 2,2"/>
          <p:cNvSpPr txBox="1"/>
          <p:nvPr/>
        </p:nvSpPr>
        <p:spPr>
          <a:xfrm>
            <a:off x="2743200" y="3520440"/>
            <a:ext cx="914400" cy="914400"/>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2400" b="1" dirty="0">
                <a:solidFill>
                  <a:srgbClr val="B8860B"/>
                </a:solidFill>
                <a:latin typeface="Consolas" pitchFamily="34" charset="0"/>
                <a:ea typeface="Consolas" pitchFamily="34" charset="-122"/>
                <a:cs typeface="Consolas" pitchFamily="34" charset="-120"/>
              </a:rPr>
              <a:t>+</a:t>
            </a:r>
            <a:endParaRPr lang="en-US" sz="2400" dirty="0"/>
          </a:p>
        </p:txBody>
      </p:sp>
      <p:sp>
        <p:nvSpPr>
          <p:cNvPr id="14" name="Feld 2,3"/>
          <p:cNvSpPr txBox="1"/>
          <p:nvPr/>
        </p:nvSpPr>
        <p:spPr>
          <a:xfrm>
            <a:off x="3657600" y="3520440"/>
            <a:ext cx="914400" cy="914400"/>
          </a:xfrm>
          <a:prstGeom prst="rect">
            <a:avLst/>
          </a:prstGeom>
          <a:solidFill>
            <a:srgbClr val="548235"/>
          </a:solidFill>
          <a:ln w="9525">
            <a:solidFill>
              <a:srgbClr val="BFBFB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Z</a:t>
            </a:r>
            <a:endParaRPr lang="en-US" sz="2400" dirty="0"/>
          </a:p>
        </p:txBody>
      </p:sp>
      <p:sp>
        <p:nvSpPr>
          <p:cNvPr id="15" name="Text 13"/>
          <p:cNvSpPr txBox="1"/>
          <p:nvPr/>
        </p:nvSpPr>
        <p:spPr>
          <a:xfrm>
            <a:off x="914400" y="1417320"/>
            <a:ext cx="914400" cy="237744"/>
          </a:xfrm>
          <a:prstGeom prst="rect">
            <a:avLst/>
          </a:prstGeom>
          <a:noFill/>
          <a:ln/>
        </p:spPr>
        <p:txBody>
          <a:bodyPr wrap="square" lIns="0" tIns="0" rIns="0" bIns="0" rtlCol="0" anchor="t"/>
          <a:lstStyle/>
          <a:p>
            <a:pPr algn="ctr" indent="0" marL="0">
              <a:buNone/>
            </a:pPr>
            <a:r>
              <a:rPr lang="en-US" sz="1300" b="1" dirty="0">
                <a:solidFill>
                  <a:schemeClr val="accent6"/>
                </a:solidFill>
              </a:rPr>
              <a:t>0</a:t>
            </a:r>
            <a:endParaRPr lang="en-US" sz="1300" dirty="0"/>
          </a:p>
        </p:txBody>
      </p:sp>
      <p:sp>
        <p:nvSpPr>
          <p:cNvPr id="16" name="Text 14"/>
          <p:cNvSpPr txBox="1"/>
          <p:nvPr/>
        </p:nvSpPr>
        <p:spPr>
          <a:xfrm>
            <a:off x="1828800" y="1417320"/>
            <a:ext cx="914400" cy="237744"/>
          </a:xfrm>
          <a:prstGeom prst="rect">
            <a:avLst/>
          </a:prstGeom>
          <a:noFill/>
          <a:ln/>
        </p:spPr>
        <p:txBody>
          <a:bodyPr wrap="square" lIns="0" tIns="0" rIns="0" bIns="0" rtlCol="0" anchor="t"/>
          <a:lstStyle/>
          <a:p>
            <a:pPr algn="ctr" indent="0" marL="0">
              <a:buNone/>
            </a:pPr>
            <a:r>
              <a:rPr lang="en-US" sz="1300" b="1" dirty="0">
                <a:solidFill>
                  <a:schemeClr val="accent6"/>
                </a:solidFill>
              </a:rPr>
              <a:t>1</a:t>
            </a:r>
            <a:endParaRPr lang="en-US" sz="1300" dirty="0"/>
          </a:p>
        </p:txBody>
      </p:sp>
      <p:sp>
        <p:nvSpPr>
          <p:cNvPr id="17" name="Text 15"/>
          <p:cNvSpPr txBox="1"/>
          <p:nvPr/>
        </p:nvSpPr>
        <p:spPr>
          <a:xfrm>
            <a:off x="2743200" y="1417320"/>
            <a:ext cx="914400" cy="237744"/>
          </a:xfrm>
          <a:prstGeom prst="rect">
            <a:avLst/>
          </a:prstGeom>
          <a:noFill/>
          <a:ln/>
        </p:spPr>
        <p:txBody>
          <a:bodyPr wrap="square" lIns="0" tIns="0" rIns="0" bIns="0" rtlCol="0" anchor="t"/>
          <a:lstStyle/>
          <a:p>
            <a:pPr algn="ctr" indent="0" marL="0">
              <a:buNone/>
            </a:pPr>
            <a:r>
              <a:rPr lang="en-US" sz="1300" b="1" dirty="0">
                <a:solidFill>
                  <a:schemeClr val="accent6"/>
                </a:solidFill>
              </a:rPr>
              <a:t>2</a:t>
            </a:r>
            <a:endParaRPr lang="en-US" sz="1300" dirty="0"/>
          </a:p>
        </p:txBody>
      </p:sp>
      <p:sp>
        <p:nvSpPr>
          <p:cNvPr id="18" name="Text 16"/>
          <p:cNvSpPr txBox="1"/>
          <p:nvPr/>
        </p:nvSpPr>
        <p:spPr>
          <a:xfrm>
            <a:off x="3657600" y="1417320"/>
            <a:ext cx="914400" cy="237744"/>
          </a:xfrm>
          <a:prstGeom prst="rect">
            <a:avLst/>
          </a:prstGeom>
          <a:noFill/>
          <a:ln/>
        </p:spPr>
        <p:txBody>
          <a:bodyPr wrap="square" lIns="0" tIns="0" rIns="0" bIns="0" rtlCol="0" anchor="t"/>
          <a:lstStyle/>
          <a:p>
            <a:pPr algn="ctr" indent="0" marL="0">
              <a:buNone/>
            </a:pPr>
            <a:r>
              <a:rPr lang="en-US" sz="1300" b="1" dirty="0">
                <a:solidFill>
                  <a:schemeClr val="accent6"/>
                </a:solidFill>
              </a:rPr>
              <a:t>3</a:t>
            </a:r>
            <a:endParaRPr lang="en-US" sz="1300" dirty="0"/>
          </a:p>
        </p:txBody>
      </p:sp>
      <p:sp>
        <p:nvSpPr>
          <p:cNvPr id="19" name="Text 17"/>
          <p:cNvSpPr txBox="1"/>
          <p:nvPr/>
        </p:nvSpPr>
        <p:spPr>
          <a:xfrm>
            <a:off x="603504" y="1691640"/>
            <a:ext cx="237744" cy="914400"/>
          </a:xfrm>
          <a:prstGeom prst="rect">
            <a:avLst/>
          </a:prstGeom>
          <a:noFill/>
          <a:ln/>
        </p:spPr>
        <p:txBody>
          <a:bodyPr wrap="square" lIns="0" tIns="0" rIns="0" bIns="0" rtlCol="0" anchor="ctr"/>
          <a:lstStyle/>
          <a:p>
            <a:pPr algn="r" indent="0" marL="0">
              <a:buNone/>
            </a:pPr>
            <a:r>
              <a:rPr lang="en-US" sz="1300" b="1" dirty="0">
                <a:solidFill>
                  <a:schemeClr val="accent6"/>
                </a:solidFill>
              </a:rPr>
              <a:t>0</a:t>
            </a:r>
            <a:endParaRPr lang="en-US" sz="1300" dirty="0"/>
          </a:p>
        </p:txBody>
      </p:sp>
      <p:sp>
        <p:nvSpPr>
          <p:cNvPr id="20" name="Text 18"/>
          <p:cNvSpPr txBox="1"/>
          <p:nvPr/>
        </p:nvSpPr>
        <p:spPr>
          <a:xfrm>
            <a:off x="603504" y="2606040"/>
            <a:ext cx="237744" cy="914400"/>
          </a:xfrm>
          <a:prstGeom prst="rect">
            <a:avLst/>
          </a:prstGeom>
          <a:noFill/>
          <a:ln/>
        </p:spPr>
        <p:txBody>
          <a:bodyPr wrap="square" lIns="0" tIns="0" rIns="0" bIns="0" rtlCol="0" anchor="ctr"/>
          <a:lstStyle/>
          <a:p>
            <a:pPr algn="r" indent="0" marL="0">
              <a:buNone/>
            </a:pPr>
            <a:r>
              <a:rPr lang="en-US" sz="1300" b="1" dirty="0">
                <a:solidFill>
                  <a:schemeClr val="accent6"/>
                </a:solidFill>
              </a:rPr>
              <a:t>1</a:t>
            </a:r>
            <a:endParaRPr lang="en-US" sz="1300" dirty="0"/>
          </a:p>
        </p:txBody>
      </p:sp>
      <p:sp>
        <p:nvSpPr>
          <p:cNvPr id="21" name="Text 19"/>
          <p:cNvSpPr txBox="1"/>
          <p:nvPr/>
        </p:nvSpPr>
        <p:spPr>
          <a:xfrm>
            <a:off x="603504" y="3520440"/>
            <a:ext cx="237744" cy="914400"/>
          </a:xfrm>
          <a:prstGeom prst="rect">
            <a:avLst/>
          </a:prstGeom>
          <a:noFill/>
          <a:ln/>
        </p:spPr>
        <p:txBody>
          <a:bodyPr wrap="square" lIns="0" tIns="0" rIns="0" bIns="0" rtlCol="0" anchor="ctr"/>
          <a:lstStyle/>
          <a:p>
            <a:pPr algn="r" indent="0" marL="0">
              <a:buNone/>
            </a:pPr>
            <a:r>
              <a:rPr lang="en-US" sz="1300" b="1" dirty="0">
                <a:solidFill>
                  <a:schemeClr val="accent6"/>
                </a:solidFill>
              </a:rPr>
              <a:t>2</a:t>
            </a:r>
            <a:endParaRPr lang="en-US" sz="1300" dirty="0"/>
          </a:p>
        </p:txBody>
      </p:sp>
      <p:sp>
        <p:nvSpPr>
          <p:cNvPr id="22" name="Nummer 3"/>
          <p:cNvSpPr txBox="1"/>
          <p:nvPr/>
        </p:nvSpPr>
        <p:spPr>
          <a:xfrm>
            <a:off x="1417320" y="174650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Nummer 2"/>
          <p:cNvSpPr txBox="1"/>
          <p:nvPr/>
        </p:nvSpPr>
        <p:spPr>
          <a:xfrm>
            <a:off x="2331720" y="174650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4" name="Nummer 7"/>
          <p:cNvSpPr txBox="1"/>
          <p:nvPr/>
        </p:nvSpPr>
        <p:spPr>
          <a:xfrm>
            <a:off x="4160520" y="174650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5" name="Nummer 4"/>
          <p:cNvSpPr txBox="1"/>
          <p:nvPr/>
        </p:nvSpPr>
        <p:spPr>
          <a:xfrm>
            <a:off x="1417320" y="266090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Nummer 1"/>
          <p:cNvSpPr txBox="1"/>
          <p:nvPr/>
        </p:nvSpPr>
        <p:spPr>
          <a:xfrm>
            <a:off x="2331720" y="266090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7" name="Nummer 5"/>
          <p:cNvSpPr txBox="1"/>
          <p:nvPr/>
        </p:nvSpPr>
        <p:spPr>
          <a:xfrm>
            <a:off x="3246120" y="266090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Nummer 6"/>
          <p:cNvSpPr txBox="1"/>
          <p:nvPr/>
        </p:nvSpPr>
        <p:spPr>
          <a:xfrm>
            <a:off x="4160520" y="266090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9" name="Nummer 10"/>
          <p:cNvSpPr txBox="1"/>
          <p:nvPr/>
        </p:nvSpPr>
        <p:spPr>
          <a:xfrm>
            <a:off x="2331720" y="357530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30" name="Nummer 9"/>
          <p:cNvSpPr txBox="1"/>
          <p:nvPr/>
        </p:nvSpPr>
        <p:spPr>
          <a:xfrm>
            <a:off x="3246120" y="357530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31" name="Nummer 8"/>
          <p:cNvSpPr txBox="1"/>
          <p:nvPr/>
        </p:nvSpPr>
        <p:spPr>
          <a:xfrm>
            <a:off x="4160520" y="357530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32" name="Text 30"/>
          <p:cNvSpPr txBox="1"/>
          <p:nvPr/>
        </p:nvSpPr>
        <p:spPr>
          <a:xfrm>
            <a:off x="548640" y="4526280"/>
            <a:ext cx="4206240" cy="548640"/>
          </a:xfrm>
          <a:prstGeom prst="rect">
            <a:avLst/>
          </a:prstGeom>
          <a:noFill/>
          <a:ln/>
        </p:spPr>
        <p:txBody>
          <a:bodyPr wrap="square" lIns="0" tIns="0" rIns="0" bIns="0" rtlCol="0" anchor="t"/>
          <a:lstStyle/>
          <a:p>
            <a:pPr indent="0" marL="0">
              <a:buNone/>
            </a:pPr>
            <a:r>
              <a:rPr lang="en-US" sz="1400" i="1" dirty="0">
                <a:solidFill>
                  <a:schemeClr val="accent6"/>
                </a:solidFill>
              </a:rPr>
              <a:t>Lichtung nach lueften(1, 1) · Nummer = Reihenfolge der Markierung</a:t>
            </a:r>
            <a:endParaRPr lang="en-US" sz="1400" dirty="0"/>
          </a:p>
        </p:txBody>
      </p:sp>
      <p:sp>
        <p:nvSpPr>
          <p:cNvPr id="33" name="Chip"/>
          <p:cNvSpPr txBox="1"/>
          <p:nvPr/>
        </p:nvSpPr>
        <p:spPr>
          <a:xfrm>
            <a:off x="548640" y="5074920"/>
            <a:ext cx="420624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10 markiert · 41 Aufrufe = 4 · 10 + 1</a:t>
            </a:r>
            <a:endParaRPr lang="en-US" sz="1500" dirty="0"/>
          </a:p>
        </p:txBody>
      </p:sp>
      <p:graphicFrame>
        <p:nvGraphicFramePr>
          <p:cNvPr id="19" name="Reihenfolge Lichtung"/>
          <p:cNvGraphicFramePr>
            <a:graphicFrameLocks noGrp="1"/>
          </p:cNvGraphicFramePr>
          <p:nvPr>
            <p:extLst>
              <p:ext uri="{D42A27DB-BD31-4B8C-83A1-F6EECF244321}">
                <p14:modId xmlns:p14="http://schemas.microsoft.com/office/powerpoint/2010/main" val="1579011935"/>
              </p:ext>
            </p:extLst>
          </p:nvPr>
        </p:nvGraphicFramePr>
        <p:xfrm>
          <a:off x="5074920" y="1371600"/>
          <a:ext cx="3108960" cy="914400"/>
        </p:xfrm>
        <a:graphic>
          <a:graphicData uri="http://schemas.openxmlformats.org/drawingml/2006/table">
            <a:tbl>
              <a:tblPr/>
              <a:tblGrid>
                <a:gridCol w="502920"/>
                <a:gridCol w="960120"/>
                <a:gridCol w="1645920"/>
              </a:tblGrid>
              <a:tr h="329184">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Nr</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Feld</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Weg</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29184">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(1, 1)</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Start 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(0, 1)</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von 1 oben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(0, 0)</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von 2 links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(1, 0)</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von 3 unten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(1, 2)</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von 1 rechts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(1, 3)</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von 5 rechts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(0, 3)</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von 6 oben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(2, 3)</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von 6 unten: Z</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(2, 2)</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von 8 links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(2, 1)</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von 9 links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35" name="Feld 0,0"/>
          <p:cNvSpPr txBox="1"/>
          <p:nvPr/>
        </p:nvSpPr>
        <p:spPr>
          <a:xfrm>
            <a:off x="8549640" y="137160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36" name="Feld 0,1"/>
          <p:cNvSpPr txBox="1"/>
          <p:nvPr/>
        </p:nvSpPr>
        <p:spPr>
          <a:xfrm>
            <a:off x="8851392" y="137160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37" name="Feld 0,2"/>
          <p:cNvSpPr txBox="1"/>
          <p:nvPr/>
        </p:nvSpPr>
        <p:spPr>
          <a:xfrm>
            <a:off x="9153144" y="137160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38" name="Feld 0,3"/>
          <p:cNvSpPr txBox="1"/>
          <p:nvPr/>
        </p:nvSpPr>
        <p:spPr>
          <a:xfrm>
            <a:off x="9454896" y="137160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39" name="Feld 0,4"/>
          <p:cNvSpPr txBox="1"/>
          <p:nvPr/>
        </p:nvSpPr>
        <p:spPr>
          <a:xfrm>
            <a:off x="9756648" y="137160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40" name="Feld 0,5"/>
          <p:cNvSpPr txBox="1"/>
          <p:nvPr/>
        </p:nvSpPr>
        <p:spPr>
          <a:xfrm>
            <a:off x="10058400" y="137160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41" name="Feld 0,6"/>
          <p:cNvSpPr txBox="1"/>
          <p:nvPr/>
        </p:nvSpPr>
        <p:spPr>
          <a:xfrm>
            <a:off x="10360152" y="137160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42" name="Feld 0,7"/>
          <p:cNvSpPr txBox="1"/>
          <p:nvPr/>
        </p:nvSpPr>
        <p:spPr>
          <a:xfrm>
            <a:off x="10661904" y="137160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43" name="Feld 0,8"/>
          <p:cNvSpPr txBox="1"/>
          <p:nvPr/>
        </p:nvSpPr>
        <p:spPr>
          <a:xfrm>
            <a:off x="10963656" y="137160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44" name="Feld 1,0"/>
          <p:cNvSpPr txBox="1"/>
          <p:nvPr/>
        </p:nvSpPr>
        <p:spPr>
          <a:xfrm>
            <a:off x="8549640" y="1673352"/>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45" name="Feld 1,1"/>
          <p:cNvSpPr txBox="1"/>
          <p:nvPr/>
        </p:nvSpPr>
        <p:spPr>
          <a:xfrm>
            <a:off x="8851392" y="1673352"/>
            <a:ext cx="301752" cy="301752"/>
          </a:xfrm>
          <a:prstGeom prst="rect">
            <a:avLst/>
          </a:prstGeom>
          <a:solidFill>
            <a:srgbClr val="1F4E79"/>
          </a:solidFill>
          <a:ln w="9525">
            <a:solidFill>
              <a:srgbClr val="BFBFB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S</a:t>
            </a:r>
            <a:endParaRPr lang="en-US" sz="900" dirty="0"/>
          </a:p>
        </p:txBody>
      </p:sp>
      <p:sp>
        <p:nvSpPr>
          <p:cNvPr id="46" name="Feld 1,2"/>
          <p:cNvSpPr txBox="1"/>
          <p:nvPr/>
        </p:nvSpPr>
        <p:spPr>
          <a:xfrm>
            <a:off x="9153144" y="1673352"/>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47" name="Feld 1,3"/>
          <p:cNvSpPr txBox="1"/>
          <p:nvPr/>
        </p:nvSpPr>
        <p:spPr>
          <a:xfrm>
            <a:off x="9454896" y="1673352"/>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48" name="Feld 1,4"/>
          <p:cNvSpPr txBox="1"/>
          <p:nvPr/>
        </p:nvSpPr>
        <p:spPr>
          <a:xfrm>
            <a:off x="9756648" y="1673352"/>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49" name="Feld 1,5"/>
          <p:cNvSpPr txBox="1"/>
          <p:nvPr/>
        </p:nvSpPr>
        <p:spPr>
          <a:xfrm>
            <a:off x="10058400" y="1673352"/>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50" name="Feld 1,6"/>
          <p:cNvSpPr txBox="1"/>
          <p:nvPr/>
        </p:nvSpPr>
        <p:spPr>
          <a:xfrm>
            <a:off x="10360152" y="1673352"/>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51" name="Feld 1,7"/>
          <p:cNvSpPr txBox="1"/>
          <p:nvPr/>
        </p:nvSpPr>
        <p:spPr>
          <a:xfrm>
            <a:off x="10661904" y="1673352"/>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52" name="Feld 1,8"/>
          <p:cNvSpPr txBox="1"/>
          <p:nvPr/>
        </p:nvSpPr>
        <p:spPr>
          <a:xfrm>
            <a:off x="10963656" y="1673352"/>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53" name="Feld 2,0"/>
          <p:cNvSpPr txBox="1"/>
          <p:nvPr/>
        </p:nvSpPr>
        <p:spPr>
          <a:xfrm>
            <a:off x="8549640" y="1975104"/>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54" name="Feld 2,1"/>
          <p:cNvSpPr txBox="1"/>
          <p:nvPr/>
        </p:nvSpPr>
        <p:spPr>
          <a:xfrm>
            <a:off x="8851392" y="1975104"/>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55" name="Feld 2,2"/>
          <p:cNvSpPr txBox="1"/>
          <p:nvPr/>
        </p:nvSpPr>
        <p:spPr>
          <a:xfrm>
            <a:off x="9153144" y="1975104"/>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56" name="Feld 2,3"/>
          <p:cNvSpPr txBox="1"/>
          <p:nvPr/>
        </p:nvSpPr>
        <p:spPr>
          <a:xfrm>
            <a:off x="9454896" y="1975104"/>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57" name="Feld 2,4"/>
          <p:cNvSpPr txBox="1"/>
          <p:nvPr/>
        </p:nvSpPr>
        <p:spPr>
          <a:xfrm>
            <a:off x="9756648" y="1975104"/>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58" name="Feld 2,5"/>
          <p:cNvSpPr txBox="1"/>
          <p:nvPr/>
        </p:nvSpPr>
        <p:spPr>
          <a:xfrm>
            <a:off x="10058400" y="1975104"/>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59" name="Feld 2,6"/>
          <p:cNvSpPr txBox="1"/>
          <p:nvPr/>
        </p:nvSpPr>
        <p:spPr>
          <a:xfrm>
            <a:off x="10360152" y="1975104"/>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60" name="Feld 2,7"/>
          <p:cNvSpPr txBox="1"/>
          <p:nvPr/>
        </p:nvSpPr>
        <p:spPr>
          <a:xfrm>
            <a:off x="10661904" y="1975104"/>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61" name="Feld 2,8"/>
          <p:cNvSpPr txBox="1"/>
          <p:nvPr/>
        </p:nvSpPr>
        <p:spPr>
          <a:xfrm>
            <a:off x="10963656" y="1975104"/>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62" name="Feld 3,0"/>
          <p:cNvSpPr txBox="1"/>
          <p:nvPr/>
        </p:nvSpPr>
        <p:spPr>
          <a:xfrm>
            <a:off x="8549640" y="227685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63" name="Feld 3,1"/>
          <p:cNvSpPr txBox="1"/>
          <p:nvPr/>
        </p:nvSpPr>
        <p:spPr>
          <a:xfrm>
            <a:off x="8851392" y="2276856"/>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64" name="Feld 3,2"/>
          <p:cNvSpPr txBox="1"/>
          <p:nvPr/>
        </p:nvSpPr>
        <p:spPr>
          <a:xfrm>
            <a:off x="9153144" y="2276856"/>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65" name="Feld 3,3"/>
          <p:cNvSpPr txBox="1"/>
          <p:nvPr/>
        </p:nvSpPr>
        <p:spPr>
          <a:xfrm>
            <a:off x="9454896" y="2276856"/>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66" name="Feld 3,4"/>
          <p:cNvSpPr txBox="1"/>
          <p:nvPr/>
        </p:nvSpPr>
        <p:spPr>
          <a:xfrm>
            <a:off x="9756648" y="227685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67" name="Feld 3,5"/>
          <p:cNvSpPr txBox="1"/>
          <p:nvPr/>
        </p:nvSpPr>
        <p:spPr>
          <a:xfrm>
            <a:off x="10058400" y="2276856"/>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68" name="Feld 3,6"/>
          <p:cNvSpPr txBox="1"/>
          <p:nvPr/>
        </p:nvSpPr>
        <p:spPr>
          <a:xfrm>
            <a:off x="10360152" y="2276856"/>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69" name="Feld 3,7"/>
          <p:cNvSpPr txBox="1"/>
          <p:nvPr/>
        </p:nvSpPr>
        <p:spPr>
          <a:xfrm>
            <a:off x="10661904" y="2276856"/>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70" name="Feld 3,8"/>
          <p:cNvSpPr txBox="1"/>
          <p:nvPr/>
        </p:nvSpPr>
        <p:spPr>
          <a:xfrm>
            <a:off x="10963656" y="227685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71" name="Feld 4,0"/>
          <p:cNvSpPr txBox="1"/>
          <p:nvPr/>
        </p:nvSpPr>
        <p:spPr>
          <a:xfrm>
            <a:off x="8549640" y="2578608"/>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72" name="Feld 4,1"/>
          <p:cNvSpPr txBox="1"/>
          <p:nvPr/>
        </p:nvSpPr>
        <p:spPr>
          <a:xfrm>
            <a:off x="8851392" y="2578608"/>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73" name="Feld 4,2"/>
          <p:cNvSpPr txBox="1"/>
          <p:nvPr/>
        </p:nvSpPr>
        <p:spPr>
          <a:xfrm>
            <a:off x="9153144" y="2578608"/>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74" name="Feld 4,3"/>
          <p:cNvSpPr txBox="1"/>
          <p:nvPr/>
        </p:nvSpPr>
        <p:spPr>
          <a:xfrm>
            <a:off x="9454896" y="2578608"/>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75" name="Feld 4,4"/>
          <p:cNvSpPr txBox="1"/>
          <p:nvPr/>
        </p:nvSpPr>
        <p:spPr>
          <a:xfrm>
            <a:off x="9756648" y="2578608"/>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76" name="Feld 4,5"/>
          <p:cNvSpPr txBox="1"/>
          <p:nvPr/>
        </p:nvSpPr>
        <p:spPr>
          <a:xfrm>
            <a:off x="10058400" y="2578608"/>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77" name="Feld 4,6"/>
          <p:cNvSpPr txBox="1"/>
          <p:nvPr/>
        </p:nvSpPr>
        <p:spPr>
          <a:xfrm>
            <a:off x="10360152" y="2578608"/>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78" name="Feld 4,7"/>
          <p:cNvSpPr txBox="1"/>
          <p:nvPr/>
        </p:nvSpPr>
        <p:spPr>
          <a:xfrm>
            <a:off x="10661904" y="2578608"/>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79" name="Feld 4,8"/>
          <p:cNvSpPr txBox="1"/>
          <p:nvPr/>
        </p:nvSpPr>
        <p:spPr>
          <a:xfrm>
            <a:off x="10963656" y="2578608"/>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80" name="Feld 5,0"/>
          <p:cNvSpPr txBox="1"/>
          <p:nvPr/>
        </p:nvSpPr>
        <p:spPr>
          <a:xfrm>
            <a:off x="8549640" y="288036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81" name="Feld 5,1"/>
          <p:cNvSpPr txBox="1"/>
          <p:nvPr/>
        </p:nvSpPr>
        <p:spPr>
          <a:xfrm>
            <a:off x="8851392" y="2880360"/>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82" name="Feld 5,2"/>
          <p:cNvSpPr txBox="1"/>
          <p:nvPr/>
        </p:nvSpPr>
        <p:spPr>
          <a:xfrm>
            <a:off x="9153144" y="2880360"/>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83" name="Feld 5,3"/>
          <p:cNvSpPr txBox="1"/>
          <p:nvPr/>
        </p:nvSpPr>
        <p:spPr>
          <a:xfrm>
            <a:off x="9454896" y="2880360"/>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84" name="Feld 5,4"/>
          <p:cNvSpPr txBox="1"/>
          <p:nvPr/>
        </p:nvSpPr>
        <p:spPr>
          <a:xfrm>
            <a:off x="9756648" y="288036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85" name="Feld 5,5"/>
          <p:cNvSpPr txBox="1"/>
          <p:nvPr/>
        </p:nvSpPr>
        <p:spPr>
          <a:xfrm>
            <a:off x="10058400" y="2880360"/>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86" name="Feld 5,6"/>
          <p:cNvSpPr txBox="1"/>
          <p:nvPr/>
        </p:nvSpPr>
        <p:spPr>
          <a:xfrm>
            <a:off x="10360152" y="288036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87" name="Feld 5,7"/>
          <p:cNvSpPr txBox="1"/>
          <p:nvPr/>
        </p:nvSpPr>
        <p:spPr>
          <a:xfrm>
            <a:off x="10661904" y="2880360"/>
            <a:ext cx="301752" cy="301752"/>
          </a:xfrm>
          <a:prstGeom prst="rect">
            <a:avLst/>
          </a:prstGeom>
          <a:solidFill>
            <a:srgbClr val="548235"/>
          </a:solidFill>
          <a:ln w="9525">
            <a:solidFill>
              <a:srgbClr val="BFBFB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Z</a:t>
            </a:r>
            <a:endParaRPr lang="en-US" sz="900" dirty="0"/>
          </a:p>
        </p:txBody>
      </p:sp>
      <p:sp>
        <p:nvSpPr>
          <p:cNvPr id="88" name="Feld 5,8"/>
          <p:cNvSpPr txBox="1"/>
          <p:nvPr/>
        </p:nvSpPr>
        <p:spPr>
          <a:xfrm>
            <a:off x="10963656" y="2880360"/>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89" name="Feld 6,0"/>
          <p:cNvSpPr txBox="1"/>
          <p:nvPr/>
        </p:nvSpPr>
        <p:spPr>
          <a:xfrm>
            <a:off x="8549640" y="3182112"/>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90" name="Feld 6,1"/>
          <p:cNvSpPr txBox="1"/>
          <p:nvPr/>
        </p:nvSpPr>
        <p:spPr>
          <a:xfrm>
            <a:off x="8851392" y="3182112"/>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91" name="Feld 6,2"/>
          <p:cNvSpPr txBox="1"/>
          <p:nvPr/>
        </p:nvSpPr>
        <p:spPr>
          <a:xfrm>
            <a:off x="9153144" y="3182112"/>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92" name="Feld 6,3"/>
          <p:cNvSpPr txBox="1"/>
          <p:nvPr/>
        </p:nvSpPr>
        <p:spPr>
          <a:xfrm>
            <a:off x="9454896" y="3182112"/>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93" name="Feld 6,4"/>
          <p:cNvSpPr txBox="1"/>
          <p:nvPr/>
        </p:nvSpPr>
        <p:spPr>
          <a:xfrm>
            <a:off x="9756648" y="3182112"/>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94" name="Feld 6,5"/>
          <p:cNvSpPr txBox="1"/>
          <p:nvPr/>
        </p:nvSpPr>
        <p:spPr>
          <a:xfrm>
            <a:off x="10058400" y="3182112"/>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95" name="Feld 6,6"/>
          <p:cNvSpPr txBox="1"/>
          <p:nvPr/>
        </p:nvSpPr>
        <p:spPr>
          <a:xfrm>
            <a:off x="10360152" y="3182112"/>
            <a:ext cx="301752" cy="301752"/>
          </a:xfrm>
          <a:prstGeom prst="rect">
            <a:avLst/>
          </a:prstGeom>
          <a:solidFill>
            <a:srgbClr val="FFFFFF"/>
          </a:solidFill>
          <a:ln w="38100">
            <a:solidFill>
              <a:schemeClr val="accent4"/>
            </a:solidFill>
          </a:ln>
        </p:spPr>
        <p:txBody>
          <a:bodyPr wrap="square" lIns="0" tIns="0" rIns="0" bIns="0" rtlCol="0" anchor="ctr"/>
          <a:lstStyle/>
          <a:p>
            <a:pPr algn="ctr" indent="0" marL="0">
              <a:buNone/>
            </a:pPr>
            <a:r>
              <a:rPr lang="en-US" sz="900" b="1" dirty="0">
                <a:solidFill>
                  <a:srgbClr val="A6A6A6"/>
                </a:solidFill>
                <a:latin typeface="Consolas" pitchFamily="34" charset="0"/>
                <a:ea typeface="Consolas" pitchFamily="34" charset="-122"/>
                <a:cs typeface="Consolas" pitchFamily="34" charset="-120"/>
              </a:rPr>
              <a:t>.</a:t>
            </a:r>
            <a:endParaRPr lang="en-US" sz="900" dirty="0"/>
          </a:p>
        </p:txBody>
      </p:sp>
      <p:sp>
        <p:nvSpPr>
          <p:cNvPr id="96" name="Feld 6,7"/>
          <p:cNvSpPr txBox="1"/>
          <p:nvPr/>
        </p:nvSpPr>
        <p:spPr>
          <a:xfrm>
            <a:off x="10661904" y="3182112"/>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97" name="Feld 6,8"/>
          <p:cNvSpPr txBox="1"/>
          <p:nvPr/>
        </p:nvSpPr>
        <p:spPr>
          <a:xfrm>
            <a:off x="10963656" y="3182112"/>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98" name="Feld 7,0"/>
          <p:cNvSpPr txBox="1"/>
          <p:nvPr/>
        </p:nvSpPr>
        <p:spPr>
          <a:xfrm>
            <a:off x="8549640" y="3483864"/>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99" name="Feld 7,1"/>
          <p:cNvSpPr txBox="1"/>
          <p:nvPr/>
        </p:nvSpPr>
        <p:spPr>
          <a:xfrm>
            <a:off x="8851392" y="3483864"/>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100" name="Feld 7,2"/>
          <p:cNvSpPr txBox="1"/>
          <p:nvPr/>
        </p:nvSpPr>
        <p:spPr>
          <a:xfrm>
            <a:off x="9153144" y="3483864"/>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101" name="Feld 7,3"/>
          <p:cNvSpPr txBox="1"/>
          <p:nvPr/>
        </p:nvSpPr>
        <p:spPr>
          <a:xfrm>
            <a:off x="9454896" y="3483864"/>
            <a:ext cx="301752" cy="301752"/>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900" b="1" dirty="0">
                <a:solidFill>
                  <a:srgbClr val="B8860B"/>
                </a:solidFill>
                <a:latin typeface="Consolas" pitchFamily="34" charset="0"/>
                <a:ea typeface="Consolas" pitchFamily="34" charset="-122"/>
                <a:cs typeface="Consolas" pitchFamily="34" charset="-120"/>
              </a:rPr>
              <a:t>+</a:t>
            </a:r>
            <a:endParaRPr lang="en-US" sz="900" dirty="0"/>
          </a:p>
        </p:txBody>
      </p:sp>
      <p:sp>
        <p:nvSpPr>
          <p:cNvPr id="102" name="Feld 7,4"/>
          <p:cNvSpPr txBox="1"/>
          <p:nvPr/>
        </p:nvSpPr>
        <p:spPr>
          <a:xfrm>
            <a:off x="9756648" y="3483864"/>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103" name="Feld 7,5"/>
          <p:cNvSpPr txBox="1"/>
          <p:nvPr/>
        </p:nvSpPr>
        <p:spPr>
          <a:xfrm>
            <a:off x="10058400" y="3483864"/>
            <a:ext cx="301752" cy="301752"/>
          </a:xfrm>
          <a:prstGeom prst="rect">
            <a:avLst/>
          </a:prstGeom>
          <a:solidFill>
            <a:srgbClr val="FFFFFF"/>
          </a:solidFill>
          <a:ln w="38100">
            <a:solidFill>
              <a:schemeClr val="accent4"/>
            </a:solidFill>
          </a:ln>
        </p:spPr>
        <p:txBody>
          <a:bodyPr wrap="square" lIns="0" tIns="0" rIns="0" bIns="0" rtlCol="0" anchor="ctr"/>
          <a:lstStyle/>
          <a:p>
            <a:pPr algn="ctr" indent="0" marL="0">
              <a:buNone/>
            </a:pPr>
            <a:r>
              <a:rPr lang="en-US" sz="900" b="1" dirty="0">
                <a:solidFill>
                  <a:srgbClr val="A6A6A6"/>
                </a:solidFill>
                <a:latin typeface="Consolas" pitchFamily="34" charset="0"/>
                <a:ea typeface="Consolas" pitchFamily="34" charset="-122"/>
                <a:cs typeface="Consolas" pitchFamily="34" charset="-120"/>
              </a:rPr>
              <a:t>.</a:t>
            </a:r>
            <a:endParaRPr lang="en-US" sz="900" dirty="0"/>
          </a:p>
        </p:txBody>
      </p:sp>
      <p:sp>
        <p:nvSpPr>
          <p:cNvPr id="104" name="Feld 7,6"/>
          <p:cNvSpPr txBox="1"/>
          <p:nvPr/>
        </p:nvSpPr>
        <p:spPr>
          <a:xfrm>
            <a:off x="10360152" y="3483864"/>
            <a:ext cx="301752" cy="301752"/>
          </a:xfrm>
          <a:prstGeom prst="rect">
            <a:avLst/>
          </a:prstGeom>
          <a:solidFill>
            <a:srgbClr val="FFFFFF"/>
          </a:solidFill>
          <a:ln w="38100">
            <a:solidFill>
              <a:schemeClr val="accent4"/>
            </a:solidFill>
          </a:ln>
        </p:spPr>
        <p:txBody>
          <a:bodyPr wrap="square" lIns="0" tIns="0" rIns="0" bIns="0" rtlCol="0" anchor="ctr"/>
          <a:lstStyle/>
          <a:p>
            <a:pPr algn="ctr" indent="0" marL="0">
              <a:buNone/>
            </a:pPr>
            <a:r>
              <a:rPr lang="en-US" sz="900" b="1" dirty="0">
                <a:solidFill>
                  <a:srgbClr val="A6A6A6"/>
                </a:solidFill>
                <a:latin typeface="Consolas" pitchFamily="34" charset="0"/>
                <a:ea typeface="Consolas" pitchFamily="34" charset="-122"/>
                <a:cs typeface="Consolas" pitchFamily="34" charset="-120"/>
              </a:rPr>
              <a:t>.</a:t>
            </a:r>
            <a:endParaRPr lang="en-US" sz="900" dirty="0"/>
          </a:p>
        </p:txBody>
      </p:sp>
      <p:sp>
        <p:nvSpPr>
          <p:cNvPr id="105" name="Feld 7,7"/>
          <p:cNvSpPr txBox="1"/>
          <p:nvPr/>
        </p:nvSpPr>
        <p:spPr>
          <a:xfrm>
            <a:off x="10661904" y="3483864"/>
            <a:ext cx="301752" cy="301752"/>
          </a:xfrm>
          <a:prstGeom prst="rect">
            <a:avLst/>
          </a:prstGeom>
          <a:solidFill>
            <a:srgbClr val="FFFFFF"/>
          </a:solidFill>
          <a:ln w="38100">
            <a:solidFill>
              <a:schemeClr val="accent4"/>
            </a:solidFill>
          </a:ln>
        </p:spPr>
        <p:txBody>
          <a:bodyPr wrap="square" lIns="0" tIns="0" rIns="0" bIns="0" rtlCol="0" anchor="ctr"/>
          <a:lstStyle/>
          <a:p>
            <a:pPr algn="ctr" indent="0" marL="0">
              <a:buNone/>
            </a:pPr>
            <a:r>
              <a:rPr lang="en-US" sz="900" b="1" dirty="0">
                <a:solidFill>
                  <a:srgbClr val="A6A6A6"/>
                </a:solidFill>
                <a:latin typeface="Consolas" pitchFamily="34" charset="0"/>
                <a:ea typeface="Consolas" pitchFamily="34" charset="-122"/>
                <a:cs typeface="Consolas" pitchFamily="34" charset="-120"/>
              </a:rPr>
              <a:t>.</a:t>
            </a:r>
            <a:endParaRPr lang="en-US" sz="900" dirty="0"/>
          </a:p>
        </p:txBody>
      </p:sp>
      <p:sp>
        <p:nvSpPr>
          <p:cNvPr id="106" name="Feld 7,8"/>
          <p:cNvSpPr txBox="1"/>
          <p:nvPr/>
        </p:nvSpPr>
        <p:spPr>
          <a:xfrm>
            <a:off x="10963656" y="3483864"/>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107" name="Feld 8,0"/>
          <p:cNvSpPr txBox="1"/>
          <p:nvPr/>
        </p:nvSpPr>
        <p:spPr>
          <a:xfrm>
            <a:off x="8549640" y="378561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108" name="Feld 8,1"/>
          <p:cNvSpPr txBox="1"/>
          <p:nvPr/>
        </p:nvSpPr>
        <p:spPr>
          <a:xfrm>
            <a:off x="8851392" y="378561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109" name="Feld 8,2"/>
          <p:cNvSpPr txBox="1"/>
          <p:nvPr/>
        </p:nvSpPr>
        <p:spPr>
          <a:xfrm>
            <a:off x="9153144" y="378561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110" name="Feld 8,3"/>
          <p:cNvSpPr txBox="1"/>
          <p:nvPr/>
        </p:nvSpPr>
        <p:spPr>
          <a:xfrm>
            <a:off x="9454896" y="378561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111" name="Feld 8,4"/>
          <p:cNvSpPr txBox="1"/>
          <p:nvPr/>
        </p:nvSpPr>
        <p:spPr>
          <a:xfrm>
            <a:off x="9756648" y="378561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112" name="Feld 8,5"/>
          <p:cNvSpPr txBox="1"/>
          <p:nvPr/>
        </p:nvSpPr>
        <p:spPr>
          <a:xfrm>
            <a:off x="10058400" y="378561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113" name="Feld 8,6"/>
          <p:cNvSpPr txBox="1"/>
          <p:nvPr/>
        </p:nvSpPr>
        <p:spPr>
          <a:xfrm>
            <a:off x="10360152" y="378561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114" name="Feld 8,7"/>
          <p:cNvSpPr txBox="1"/>
          <p:nvPr/>
        </p:nvSpPr>
        <p:spPr>
          <a:xfrm>
            <a:off x="10661904" y="378561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115" name="Feld 8,8"/>
          <p:cNvSpPr txBox="1"/>
          <p:nvPr/>
        </p:nvSpPr>
        <p:spPr>
          <a:xfrm>
            <a:off x="10963656" y="3785616"/>
            <a:ext cx="301752" cy="30175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900" b="1" dirty="0">
                <a:solidFill>
                  <a:srgbClr val="8C8C8C"/>
                </a:solidFill>
                <a:latin typeface="Consolas" pitchFamily="34" charset="0"/>
                <a:ea typeface="Consolas" pitchFamily="34" charset="-122"/>
                <a:cs typeface="Consolas" pitchFamily="34" charset="-120"/>
              </a:rPr>
              <a:t>#</a:t>
            </a:r>
            <a:endParaRPr lang="en-US" sz="900" dirty="0"/>
          </a:p>
        </p:txBody>
      </p:sp>
      <p:sp>
        <p:nvSpPr>
          <p:cNvPr id="116" name="Text 113"/>
          <p:cNvSpPr txBox="1"/>
          <p:nvPr/>
        </p:nvSpPr>
        <p:spPr>
          <a:xfrm>
            <a:off x="8549640" y="4160520"/>
            <a:ext cx="3063240" cy="868680"/>
          </a:xfrm>
          <a:prstGeom prst="rect">
            <a:avLst/>
          </a:prstGeom>
          <a:noFill/>
          <a:ln/>
        </p:spPr>
        <p:txBody>
          <a:bodyPr wrap="square" lIns="0" tIns="0" rIns="0" bIns="0" rtlCol="0" anchor="t"/>
          <a:lstStyle/>
          <a:p>
            <a:pPr indent="0" marL="0">
              <a:buNone/>
            </a:pPr>
            <a:r>
              <a:rPr lang="en-US" sz="1300" dirty="0">
                <a:solidFill>
                  <a:schemeClr val="tx1"/>
                </a:solidFill>
              </a:rPr>
              <a:t>Labyrinth: 25 gelüftet – die Kammer unten rechts hängt nur über Eck am Gang und bleibt im Nebel.</a:t>
            </a:r>
            <a:endParaRPr lang="en-US" sz="1300" dirty="0"/>
          </a:p>
        </p:txBody>
      </p:sp>
      <p:sp>
        <p:nvSpPr>
          <p:cNvPr id="117" name="Merke Flood-Fill"/>
          <p:cNvSpPr/>
          <p:nvPr/>
        </p:nvSpPr>
        <p:spPr>
          <a:xfrm>
            <a:off x="5074920" y="5074920"/>
            <a:ext cx="6537960" cy="1051560"/>
          </a:xfrm>
          <a:prstGeom prst="roundRect">
            <a:avLst>
              <a:gd name="adj" fmla="val 10435"/>
            </a:avLst>
          </a:prstGeom>
          <a:solidFill>
            <a:schemeClr val="bg2"/>
          </a:solidFill>
          <a:ln/>
        </p:spPr>
      </p:sp>
      <p:sp>
        <p:nvSpPr>
          <p:cNvPr id="118" name="Text 115"/>
          <p:cNvSpPr txBox="1"/>
          <p:nvPr/>
        </p:nvSpPr>
        <p:spPr>
          <a:xfrm>
            <a:off x="5276088" y="5074920"/>
            <a:ext cx="6172200" cy="1051560"/>
          </a:xfrm>
          <a:prstGeom prst="rect">
            <a:avLst/>
          </a:prstGeom>
          <a:noFill/>
          <a:ln/>
        </p:spPr>
        <p:txBody>
          <a:bodyPr wrap="square" lIns="0" tIns="0" rIns="0" bIns="0" rtlCol="0" anchor="ctr"/>
          <a:lstStyle/>
          <a:p>
            <a:pPr indent="0" marL="0">
              <a:buNone/>
            </a:pPr>
            <a:r>
              <a:rPr lang="en-US" sz="1500" b="1" dirty="0">
                <a:solidFill>
                  <a:schemeClr val="accent1"/>
                </a:solidFill>
              </a:rPr>
              <a:t>Merke: </a:t>
            </a:r>
            <a:pPr indent="0" marL="0">
              <a:buNone/>
            </a:pPr>
            <a:r>
              <a:rPr lang="en-US" sz="1500" dirty="0">
                <a:solidFill>
                  <a:schemeClr val="tx1"/>
                </a:solidFill>
              </a:rPr>
              <a:t>Jedes markierte Feld ruft vier Nachbarn auf, dazu der Erstaufruf. Die Reihenfolge ändert nur die Nummern, nicht das Ergebnis.</a:t>
            </a:r>
            <a:endParaRPr lang="en-US" sz="1500" dirty="0"/>
          </a:p>
        </p:txBody>
      </p:sp>
      <p:sp>
        <p:nvSpPr>
          <p:cNvPr id="119" name="Text 116"/>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19 · Dungeon-Karte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Backtracking: Weg suchen, Sackgasse zurücknehmen</a:t>
            </a:r>
            <a:endParaRPr lang="en-US" sz="3600" dirty="0"/>
          </a:p>
        </p:txBody>
      </p:sp>
      <p:sp>
        <p:nvSpPr>
          <p:cNvPr id="3" name="Code"/>
          <p:cNvSpPr txBox="1"/>
          <p:nvPr/>
        </p:nvSpPr>
        <p:spPr>
          <a:xfrm>
            <a:off x="548640" y="1280160"/>
            <a:ext cx="5577840" cy="4594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public</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boolean</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findeWeg</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schritte</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if</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istImFeld</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return</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false</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i="1" dirty="0">
                <a:solidFill>
                  <a:schemeClr val="accent3"/>
                </a:solidFill>
                <a:latin typeface="Consolas" pitchFamily="34" charset="0"/>
                <a:ea typeface="Consolas" pitchFamily="34" charset="-122"/>
                <a:cs typeface="Consolas" pitchFamily="34" charset="-120"/>
              </a:rPr>
              <a:t>// Basisfall: ausserhalb</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char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alt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feld</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if</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alt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return</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true</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i="1" dirty="0">
                <a:solidFill>
                  <a:schemeClr val="accent3"/>
                </a:solidFill>
                <a:latin typeface="Consolas" pitchFamily="34" charset="0"/>
                <a:ea typeface="Consolas" pitchFamily="34" charset="-122"/>
                <a:cs typeface="Consolas" pitchFamily="34" charset="-120"/>
              </a:rPr>
              <a:t>// Basisfall: Ziel gefunden</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if</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alt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 &amp;&amp;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alt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return</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false</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i="1" dirty="0">
                <a:solidFill>
                  <a:schemeClr val="accent3"/>
                </a:solidFill>
                <a:latin typeface="Consolas" pitchFamily="34" charset="0"/>
                <a:ea typeface="Consolas" pitchFamily="34" charset="-122"/>
                <a:cs typeface="Consolas" pitchFamily="34" charset="-120"/>
              </a:rPr>
              <a:t>// Basisfall: Wand oder schon besucht</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feld</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      </a:t>
            </a:r>
            <a:pPr algn="l" indent="0" marL="0">
              <a:lnSpc>
                <a:spcPts val="1300"/>
              </a:lnSpc>
              <a:buNone/>
            </a:pPr>
            <a:r>
              <a:rPr lang="en-US" sz="1050" i="1" dirty="0">
                <a:solidFill>
                  <a:schemeClr val="accent3"/>
                </a:solidFill>
                <a:latin typeface="Consolas" pitchFamily="34" charset="0"/>
                <a:ea typeface="Consolas" pitchFamily="34" charset="-122"/>
                <a:cs typeface="Consolas" pitchFamily="34" charset="-120"/>
              </a:rPr>
              <a:t>// vorlaeufig auf den Weg setzen</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if</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findeWeg</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- 1,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findeWeg</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+ 1)</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findeWeg</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+ 1,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findeWeg</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- 1))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if</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alt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feld</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i="1" dirty="0">
                <a:solidFill>
                  <a:schemeClr val="accent3"/>
                </a:solidFill>
                <a:latin typeface="Consolas" pitchFamily="34" charset="0"/>
                <a:ea typeface="Consolas" pitchFamily="34" charset="-122"/>
                <a:cs typeface="Consolas" pitchFamily="34" charset="-120"/>
              </a:rPr>
              <a:t>// Start bleibt sichtbar</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return</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true</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feld</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x</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i="1" dirty="0">
                <a:solidFill>
                  <a:schemeClr val="accent3"/>
                </a:solidFill>
                <a:latin typeface="Consolas" pitchFamily="34" charset="0"/>
                <a:ea typeface="Consolas" pitchFamily="34" charset="-122"/>
                <a:cs typeface="Consolas" pitchFamily="34" charset="-120"/>
              </a:rPr>
              <a:t>// Schritt zuruecknehmen: Sackgasse</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if</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alt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feld</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z</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S</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return</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false</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p:txBody>
      </p:sp>
      <p:sp>
        <p:nvSpPr>
          <p:cNvPr id="4" name="Nummer 1"/>
          <p:cNvSpPr txBox="1"/>
          <p:nvPr/>
        </p:nvSpPr>
        <p:spPr>
          <a:xfrm>
            <a:off x="5788152" y="3343910"/>
            <a:ext cx="256032" cy="256032"/>
          </a:xfrm>
          <a:prstGeom prst="ellipse">
            <a:avLst/>
          </a:prstGeom>
          <a:solidFill>
            <a:schemeClr val="accent2"/>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5" name="Nummer 2"/>
          <p:cNvSpPr txBox="1"/>
          <p:nvPr/>
        </p:nvSpPr>
        <p:spPr>
          <a:xfrm>
            <a:off x="5788152" y="3509010"/>
            <a:ext cx="256032" cy="256032"/>
          </a:xfrm>
          <a:prstGeom prst="ellipse">
            <a:avLst/>
          </a:prstGeom>
          <a:solidFill>
            <a:schemeClr val="accent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6" name="Nummer 3"/>
          <p:cNvSpPr txBox="1"/>
          <p:nvPr/>
        </p:nvSpPr>
        <p:spPr>
          <a:xfrm>
            <a:off x="5788152" y="4664710"/>
            <a:ext cx="256032" cy="256032"/>
          </a:xfrm>
          <a:prstGeom prst="ellipse">
            <a:avLst/>
          </a:prstGeom>
          <a:solidFill>
            <a:schemeClr val="accent4"/>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7" name="Feld 0,0"/>
          <p:cNvSpPr txBox="1"/>
          <p:nvPr/>
        </p:nvSpPr>
        <p:spPr>
          <a:xfrm>
            <a:off x="6446520" y="132588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8" name="Feld 0,1"/>
          <p:cNvSpPr txBox="1"/>
          <p:nvPr/>
        </p:nvSpPr>
        <p:spPr>
          <a:xfrm>
            <a:off x="6830568" y="132588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9" name="Feld 0,2"/>
          <p:cNvSpPr txBox="1"/>
          <p:nvPr/>
        </p:nvSpPr>
        <p:spPr>
          <a:xfrm>
            <a:off x="7214616" y="132588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10" name="Feld 0,3"/>
          <p:cNvSpPr txBox="1"/>
          <p:nvPr/>
        </p:nvSpPr>
        <p:spPr>
          <a:xfrm>
            <a:off x="7598664" y="132588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11" name="Feld 0,4"/>
          <p:cNvSpPr txBox="1"/>
          <p:nvPr/>
        </p:nvSpPr>
        <p:spPr>
          <a:xfrm>
            <a:off x="7982712" y="132588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12" name="Feld 0,5"/>
          <p:cNvSpPr txBox="1"/>
          <p:nvPr/>
        </p:nvSpPr>
        <p:spPr>
          <a:xfrm>
            <a:off x="8366760" y="132588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13" name="Feld 0,6"/>
          <p:cNvSpPr txBox="1"/>
          <p:nvPr/>
        </p:nvSpPr>
        <p:spPr>
          <a:xfrm>
            <a:off x="8750808" y="132588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14" name="Feld 0,7"/>
          <p:cNvSpPr txBox="1"/>
          <p:nvPr/>
        </p:nvSpPr>
        <p:spPr>
          <a:xfrm>
            <a:off x="9134856" y="132588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15" name="Feld 0,8"/>
          <p:cNvSpPr txBox="1"/>
          <p:nvPr/>
        </p:nvSpPr>
        <p:spPr>
          <a:xfrm>
            <a:off x="9518904" y="132588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16" name="Feld 1,0"/>
          <p:cNvSpPr txBox="1"/>
          <p:nvPr/>
        </p:nvSpPr>
        <p:spPr>
          <a:xfrm>
            <a:off x="6446520" y="1709928"/>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17" name="Feld 1,1"/>
          <p:cNvSpPr txBox="1"/>
          <p:nvPr/>
        </p:nvSpPr>
        <p:spPr>
          <a:xfrm>
            <a:off x="6830568" y="1709928"/>
            <a:ext cx="384048" cy="384048"/>
          </a:xfrm>
          <a:prstGeom prst="rect">
            <a:avLst/>
          </a:prstGeom>
          <a:solidFill>
            <a:srgbClr val="1F4E79"/>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S</a:t>
            </a:r>
            <a:endParaRPr lang="en-US" sz="1200" dirty="0"/>
          </a:p>
        </p:txBody>
      </p:sp>
      <p:sp>
        <p:nvSpPr>
          <p:cNvPr id="18" name="Feld 1,2"/>
          <p:cNvSpPr txBox="1"/>
          <p:nvPr/>
        </p:nvSpPr>
        <p:spPr>
          <a:xfrm>
            <a:off x="7214616" y="1709928"/>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19" name="Feld 1,3"/>
          <p:cNvSpPr txBox="1"/>
          <p:nvPr/>
        </p:nvSpPr>
        <p:spPr>
          <a:xfrm>
            <a:off x="7598664" y="1709928"/>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20" name="Feld 1,4"/>
          <p:cNvSpPr txBox="1"/>
          <p:nvPr/>
        </p:nvSpPr>
        <p:spPr>
          <a:xfrm>
            <a:off x="7982712" y="1709928"/>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21" name="Feld 1,5"/>
          <p:cNvSpPr txBox="1"/>
          <p:nvPr/>
        </p:nvSpPr>
        <p:spPr>
          <a:xfrm>
            <a:off x="8366760" y="1709928"/>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22" name="Feld 1,6"/>
          <p:cNvSpPr txBox="1"/>
          <p:nvPr/>
        </p:nvSpPr>
        <p:spPr>
          <a:xfrm>
            <a:off x="8750808" y="1709928"/>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23" name="Feld 1,7"/>
          <p:cNvSpPr txBox="1"/>
          <p:nvPr/>
        </p:nvSpPr>
        <p:spPr>
          <a:xfrm>
            <a:off x="9134856" y="1709928"/>
            <a:ext cx="384048" cy="384048"/>
          </a:xfrm>
          <a:prstGeom prst="rect">
            <a:avLst/>
          </a:prstGeom>
          <a:solidFill>
            <a:srgbClr val="FBE5E5"/>
          </a:solidFill>
          <a:ln w="9525">
            <a:solidFill>
              <a:srgbClr val="BFBFBF"/>
            </a:solidFill>
          </a:ln>
        </p:spPr>
        <p:txBody>
          <a:bodyPr wrap="square" lIns="0" tIns="0" rIns="0" bIns="0" rtlCol="0" anchor="ctr"/>
          <a:lstStyle/>
          <a:p>
            <a:pPr algn="ctr" indent="0" marL="0">
              <a:buNone/>
            </a:pPr>
            <a:r>
              <a:rPr lang="en-US" sz="1200" b="1" dirty="0">
                <a:solidFill>
                  <a:srgbClr val="C00000"/>
                </a:solidFill>
                <a:latin typeface="Consolas" pitchFamily="34" charset="0"/>
                <a:ea typeface="Consolas" pitchFamily="34" charset="-122"/>
                <a:cs typeface="Consolas" pitchFamily="34" charset="-120"/>
              </a:rPr>
              <a:t>x</a:t>
            </a:r>
            <a:endParaRPr lang="en-US" sz="1200" dirty="0"/>
          </a:p>
        </p:txBody>
      </p:sp>
      <p:sp>
        <p:nvSpPr>
          <p:cNvPr id="24" name="Feld 1,8"/>
          <p:cNvSpPr txBox="1"/>
          <p:nvPr/>
        </p:nvSpPr>
        <p:spPr>
          <a:xfrm>
            <a:off x="9518904" y="1709928"/>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25" name="Feld 2,0"/>
          <p:cNvSpPr txBox="1"/>
          <p:nvPr/>
        </p:nvSpPr>
        <p:spPr>
          <a:xfrm>
            <a:off x="6446520" y="2093976"/>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26" name="Feld 2,1"/>
          <p:cNvSpPr txBox="1"/>
          <p:nvPr/>
        </p:nvSpPr>
        <p:spPr>
          <a:xfrm>
            <a:off x="6830568" y="2093976"/>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27" name="Feld 2,2"/>
          <p:cNvSpPr txBox="1"/>
          <p:nvPr/>
        </p:nvSpPr>
        <p:spPr>
          <a:xfrm>
            <a:off x="7214616" y="2093976"/>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28" name="Feld 2,3"/>
          <p:cNvSpPr txBox="1"/>
          <p:nvPr/>
        </p:nvSpPr>
        <p:spPr>
          <a:xfrm>
            <a:off x="7598664" y="2093976"/>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29" name="Feld 2,4"/>
          <p:cNvSpPr txBox="1"/>
          <p:nvPr/>
        </p:nvSpPr>
        <p:spPr>
          <a:xfrm>
            <a:off x="7982712" y="2093976"/>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30" name="Feld 2,5"/>
          <p:cNvSpPr txBox="1"/>
          <p:nvPr/>
        </p:nvSpPr>
        <p:spPr>
          <a:xfrm>
            <a:off x="8366760" y="2093976"/>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31" name="Feld 2,6"/>
          <p:cNvSpPr txBox="1"/>
          <p:nvPr/>
        </p:nvSpPr>
        <p:spPr>
          <a:xfrm>
            <a:off x="8750808" y="2093976"/>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32" name="Feld 2,7"/>
          <p:cNvSpPr txBox="1"/>
          <p:nvPr/>
        </p:nvSpPr>
        <p:spPr>
          <a:xfrm>
            <a:off x="9134856" y="2093976"/>
            <a:ext cx="384048" cy="384048"/>
          </a:xfrm>
          <a:prstGeom prst="rect">
            <a:avLst/>
          </a:prstGeom>
          <a:solidFill>
            <a:srgbClr val="FBE5E5"/>
          </a:solidFill>
          <a:ln w="9525">
            <a:solidFill>
              <a:srgbClr val="BFBFBF"/>
            </a:solidFill>
          </a:ln>
        </p:spPr>
        <p:txBody>
          <a:bodyPr wrap="square" lIns="0" tIns="0" rIns="0" bIns="0" rtlCol="0" anchor="ctr"/>
          <a:lstStyle/>
          <a:p>
            <a:pPr algn="ctr" indent="0" marL="0">
              <a:buNone/>
            </a:pPr>
            <a:r>
              <a:rPr lang="en-US" sz="1200" b="1" dirty="0">
                <a:solidFill>
                  <a:srgbClr val="C00000"/>
                </a:solidFill>
                <a:latin typeface="Consolas" pitchFamily="34" charset="0"/>
                <a:ea typeface="Consolas" pitchFamily="34" charset="-122"/>
                <a:cs typeface="Consolas" pitchFamily="34" charset="-120"/>
              </a:rPr>
              <a:t>x</a:t>
            </a:r>
            <a:endParaRPr lang="en-US" sz="1200" dirty="0"/>
          </a:p>
        </p:txBody>
      </p:sp>
      <p:sp>
        <p:nvSpPr>
          <p:cNvPr id="33" name="Feld 2,8"/>
          <p:cNvSpPr txBox="1"/>
          <p:nvPr/>
        </p:nvSpPr>
        <p:spPr>
          <a:xfrm>
            <a:off x="9518904" y="2093976"/>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34" name="Feld 3,0"/>
          <p:cNvSpPr txBox="1"/>
          <p:nvPr/>
        </p:nvSpPr>
        <p:spPr>
          <a:xfrm>
            <a:off x="6446520" y="247802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35" name="Feld 3,1"/>
          <p:cNvSpPr txBox="1"/>
          <p:nvPr/>
        </p:nvSpPr>
        <p:spPr>
          <a:xfrm>
            <a:off x="6830568" y="2478024"/>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36" name="Feld 3,2"/>
          <p:cNvSpPr txBox="1"/>
          <p:nvPr/>
        </p:nvSpPr>
        <p:spPr>
          <a:xfrm>
            <a:off x="7214616" y="2478024"/>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37" name="Feld 3,3"/>
          <p:cNvSpPr txBox="1"/>
          <p:nvPr/>
        </p:nvSpPr>
        <p:spPr>
          <a:xfrm>
            <a:off x="7598664" y="2478024"/>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38" name="Feld 3,4"/>
          <p:cNvSpPr txBox="1"/>
          <p:nvPr/>
        </p:nvSpPr>
        <p:spPr>
          <a:xfrm>
            <a:off x="7982712" y="247802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39" name="Feld 3,5"/>
          <p:cNvSpPr txBox="1"/>
          <p:nvPr/>
        </p:nvSpPr>
        <p:spPr>
          <a:xfrm>
            <a:off x="8366760" y="2478024"/>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40" name="Feld 3,6"/>
          <p:cNvSpPr txBox="1"/>
          <p:nvPr/>
        </p:nvSpPr>
        <p:spPr>
          <a:xfrm>
            <a:off x="8750808" y="2478024"/>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41" name="Feld 3,7"/>
          <p:cNvSpPr txBox="1"/>
          <p:nvPr/>
        </p:nvSpPr>
        <p:spPr>
          <a:xfrm>
            <a:off x="9134856" y="2478024"/>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42" name="Feld 3,8"/>
          <p:cNvSpPr txBox="1"/>
          <p:nvPr/>
        </p:nvSpPr>
        <p:spPr>
          <a:xfrm>
            <a:off x="9518904" y="247802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43" name="Feld 4,0"/>
          <p:cNvSpPr txBox="1"/>
          <p:nvPr/>
        </p:nvSpPr>
        <p:spPr>
          <a:xfrm>
            <a:off x="6446520" y="2862072"/>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44" name="Feld 4,1"/>
          <p:cNvSpPr txBox="1"/>
          <p:nvPr/>
        </p:nvSpPr>
        <p:spPr>
          <a:xfrm>
            <a:off x="6830568" y="2862072"/>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45" name="Feld 4,2"/>
          <p:cNvSpPr txBox="1"/>
          <p:nvPr/>
        </p:nvSpPr>
        <p:spPr>
          <a:xfrm>
            <a:off x="7214616" y="2862072"/>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46" name="Feld 4,3"/>
          <p:cNvSpPr txBox="1"/>
          <p:nvPr/>
        </p:nvSpPr>
        <p:spPr>
          <a:xfrm>
            <a:off x="7598664" y="2862072"/>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47" name="Feld 4,4"/>
          <p:cNvSpPr txBox="1"/>
          <p:nvPr/>
        </p:nvSpPr>
        <p:spPr>
          <a:xfrm>
            <a:off x="7982712" y="2862072"/>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48" name="Feld 4,5"/>
          <p:cNvSpPr txBox="1"/>
          <p:nvPr/>
        </p:nvSpPr>
        <p:spPr>
          <a:xfrm>
            <a:off x="8366760" y="2862072"/>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49" name="Feld 4,6"/>
          <p:cNvSpPr txBox="1"/>
          <p:nvPr/>
        </p:nvSpPr>
        <p:spPr>
          <a:xfrm>
            <a:off x="8750808" y="2862072"/>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50" name="Feld 4,7"/>
          <p:cNvSpPr txBox="1"/>
          <p:nvPr/>
        </p:nvSpPr>
        <p:spPr>
          <a:xfrm>
            <a:off x="9134856" y="2862072"/>
            <a:ext cx="384048" cy="384048"/>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51" name="Feld 4,8"/>
          <p:cNvSpPr txBox="1"/>
          <p:nvPr/>
        </p:nvSpPr>
        <p:spPr>
          <a:xfrm>
            <a:off x="9518904" y="2862072"/>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52" name="Feld 5,0"/>
          <p:cNvSpPr txBox="1"/>
          <p:nvPr/>
        </p:nvSpPr>
        <p:spPr>
          <a:xfrm>
            <a:off x="6446520" y="324612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53" name="Feld 5,1"/>
          <p:cNvSpPr txBox="1"/>
          <p:nvPr/>
        </p:nvSpPr>
        <p:spPr>
          <a:xfrm>
            <a:off x="6830568" y="3246120"/>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54" name="Feld 5,2"/>
          <p:cNvSpPr txBox="1"/>
          <p:nvPr/>
        </p:nvSpPr>
        <p:spPr>
          <a:xfrm>
            <a:off x="7214616" y="3246120"/>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55" name="Feld 5,3"/>
          <p:cNvSpPr txBox="1"/>
          <p:nvPr/>
        </p:nvSpPr>
        <p:spPr>
          <a:xfrm>
            <a:off x="7598664" y="3246120"/>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56" name="Feld 5,4"/>
          <p:cNvSpPr txBox="1"/>
          <p:nvPr/>
        </p:nvSpPr>
        <p:spPr>
          <a:xfrm>
            <a:off x="7982712" y="324612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57" name="Feld 5,5"/>
          <p:cNvSpPr txBox="1"/>
          <p:nvPr/>
        </p:nvSpPr>
        <p:spPr>
          <a:xfrm>
            <a:off x="8366760" y="3246120"/>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58" name="Feld 5,6"/>
          <p:cNvSpPr txBox="1"/>
          <p:nvPr/>
        </p:nvSpPr>
        <p:spPr>
          <a:xfrm>
            <a:off x="8750808" y="324612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59" name="Feld 5,7"/>
          <p:cNvSpPr txBox="1"/>
          <p:nvPr/>
        </p:nvSpPr>
        <p:spPr>
          <a:xfrm>
            <a:off x="9134856" y="3246120"/>
            <a:ext cx="384048" cy="384048"/>
          </a:xfrm>
          <a:prstGeom prst="rect">
            <a:avLst/>
          </a:prstGeom>
          <a:solidFill>
            <a:srgbClr val="548235"/>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Z</a:t>
            </a:r>
            <a:endParaRPr lang="en-US" sz="1200" dirty="0"/>
          </a:p>
        </p:txBody>
      </p:sp>
      <p:sp>
        <p:nvSpPr>
          <p:cNvPr id="60" name="Feld 5,8"/>
          <p:cNvSpPr txBox="1"/>
          <p:nvPr/>
        </p:nvSpPr>
        <p:spPr>
          <a:xfrm>
            <a:off x="9518904" y="3246120"/>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61" name="Feld 6,0"/>
          <p:cNvSpPr txBox="1"/>
          <p:nvPr/>
        </p:nvSpPr>
        <p:spPr>
          <a:xfrm>
            <a:off x="6446520" y="3630168"/>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62" name="Feld 6,1"/>
          <p:cNvSpPr txBox="1"/>
          <p:nvPr/>
        </p:nvSpPr>
        <p:spPr>
          <a:xfrm>
            <a:off x="6830568" y="3630168"/>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63" name="Feld 6,2"/>
          <p:cNvSpPr txBox="1"/>
          <p:nvPr/>
        </p:nvSpPr>
        <p:spPr>
          <a:xfrm>
            <a:off x="7214616" y="3630168"/>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64" name="Feld 6,3"/>
          <p:cNvSpPr txBox="1"/>
          <p:nvPr/>
        </p:nvSpPr>
        <p:spPr>
          <a:xfrm>
            <a:off x="7598664" y="3630168"/>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65" name="Feld 6,4"/>
          <p:cNvSpPr txBox="1"/>
          <p:nvPr/>
        </p:nvSpPr>
        <p:spPr>
          <a:xfrm>
            <a:off x="7982712" y="3630168"/>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66" name="Feld 6,5"/>
          <p:cNvSpPr txBox="1"/>
          <p:nvPr/>
        </p:nvSpPr>
        <p:spPr>
          <a:xfrm>
            <a:off x="8366760" y="3630168"/>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67" name="Feld 6,6"/>
          <p:cNvSpPr txBox="1"/>
          <p:nvPr/>
        </p:nvSpPr>
        <p:spPr>
          <a:xfrm>
            <a:off x="8750808" y="3630168"/>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68" name="Feld 6,7"/>
          <p:cNvSpPr txBox="1"/>
          <p:nvPr/>
        </p:nvSpPr>
        <p:spPr>
          <a:xfrm>
            <a:off x="9134856" y="3630168"/>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69" name="Feld 6,8"/>
          <p:cNvSpPr txBox="1"/>
          <p:nvPr/>
        </p:nvSpPr>
        <p:spPr>
          <a:xfrm>
            <a:off x="9518904" y="3630168"/>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70" name="Feld 7,0"/>
          <p:cNvSpPr txBox="1"/>
          <p:nvPr/>
        </p:nvSpPr>
        <p:spPr>
          <a:xfrm>
            <a:off x="6446520" y="4014216"/>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71" name="Feld 7,1"/>
          <p:cNvSpPr txBox="1"/>
          <p:nvPr/>
        </p:nvSpPr>
        <p:spPr>
          <a:xfrm>
            <a:off x="6830568" y="4014216"/>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72" name="Feld 7,2"/>
          <p:cNvSpPr txBox="1"/>
          <p:nvPr/>
        </p:nvSpPr>
        <p:spPr>
          <a:xfrm>
            <a:off x="7214616" y="4014216"/>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73" name="Feld 7,3"/>
          <p:cNvSpPr txBox="1"/>
          <p:nvPr/>
        </p:nvSpPr>
        <p:spPr>
          <a:xfrm>
            <a:off x="7598664" y="4014216"/>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74" name="Feld 7,4"/>
          <p:cNvSpPr txBox="1"/>
          <p:nvPr/>
        </p:nvSpPr>
        <p:spPr>
          <a:xfrm>
            <a:off x="7982712" y="4014216"/>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75" name="Feld 7,5"/>
          <p:cNvSpPr txBox="1"/>
          <p:nvPr/>
        </p:nvSpPr>
        <p:spPr>
          <a:xfrm>
            <a:off x="8366760" y="4014216"/>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76" name="Feld 7,6"/>
          <p:cNvSpPr txBox="1"/>
          <p:nvPr/>
        </p:nvSpPr>
        <p:spPr>
          <a:xfrm>
            <a:off x="8750808" y="4014216"/>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77" name="Feld 7,7"/>
          <p:cNvSpPr txBox="1"/>
          <p:nvPr/>
        </p:nvSpPr>
        <p:spPr>
          <a:xfrm>
            <a:off x="9134856" y="4014216"/>
            <a:ext cx="384048" cy="384048"/>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78" name="Feld 7,8"/>
          <p:cNvSpPr txBox="1"/>
          <p:nvPr/>
        </p:nvSpPr>
        <p:spPr>
          <a:xfrm>
            <a:off x="9518904" y="4014216"/>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79" name="Feld 8,0"/>
          <p:cNvSpPr txBox="1"/>
          <p:nvPr/>
        </p:nvSpPr>
        <p:spPr>
          <a:xfrm>
            <a:off x="6446520" y="439826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80" name="Feld 8,1"/>
          <p:cNvSpPr txBox="1"/>
          <p:nvPr/>
        </p:nvSpPr>
        <p:spPr>
          <a:xfrm>
            <a:off x="6830568" y="439826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81" name="Feld 8,2"/>
          <p:cNvSpPr txBox="1"/>
          <p:nvPr/>
        </p:nvSpPr>
        <p:spPr>
          <a:xfrm>
            <a:off x="7214616" y="439826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82" name="Feld 8,3"/>
          <p:cNvSpPr txBox="1"/>
          <p:nvPr/>
        </p:nvSpPr>
        <p:spPr>
          <a:xfrm>
            <a:off x="7598664" y="439826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83" name="Feld 8,4"/>
          <p:cNvSpPr txBox="1"/>
          <p:nvPr/>
        </p:nvSpPr>
        <p:spPr>
          <a:xfrm>
            <a:off x="7982712" y="439826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84" name="Feld 8,5"/>
          <p:cNvSpPr txBox="1"/>
          <p:nvPr/>
        </p:nvSpPr>
        <p:spPr>
          <a:xfrm>
            <a:off x="8366760" y="439826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85" name="Feld 8,6"/>
          <p:cNvSpPr txBox="1"/>
          <p:nvPr/>
        </p:nvSpPr>
        <p:spPr>
          <a:xfrm>
            <a:off x="8750808" y="439826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86" name="Feld 8,7"/>
          <p:cNvSpPr txBox="1"/>
          <p:nvPr/>
        </p:nvSpPr>
        <p:spPr>
          <a:xfrm>
            <a:off x="9134856" y="439826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87" name="Feld 8,8"/>
          <p:cNvSpPr txBox="1"/>
          <p:nvPr/>
        </p:nvSpPr>
        <p:spPr>
          <a:xfrm>
            <a:off x="9518904" y="4398264"/>
            <a:ext cx="384048" cy="384048"/>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200" b="1" dirty="0">
                <a:solidFill>
                  <a:srgbClr val="8C8C8C"/>
                </a:solidFill>
                <a:latin typeface="Consolas" pitchFamily="34" charset="0"/>
                <a:ea typeface="Consolas" pitchFamily="34" charset="-122"/>
                <a:cs typeface="Consolas" pitchFamily="34" charset="-120"/>
              </a:rPr>
              <a:t>#</a:t>
            </a:r>
            <a:endParaRPr lang="en-US" sz="1200" dirty="0"/>
          </a:p>
        </p:txBody>
      </p:sp>
      <p:sp>
        <p:nvSpPr>
          <p:cNvPr id="88" name="Feld 0,0"/>
          <p:cNvSpPr txBox="1"/>
          <p:nvPr/>
        </p:nvSpPr>
        <p:spPr>
          <a:xfrm>
            <a:off x="10058400" y="1371600"/>
            <a:ext cx="329184" cy="329184"/>
          </a:xfrm>
          <a:prstGeom prst="rect">
            <a:avLst/>
          </a:prstGeom>
          <a:solidFill>
            <a:srgbClr val="B8860B"/>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a:t>
            </a:r>
            <a:endParaRPr lang="en-US" sz="1200" dirty="0"/>
          </a:p>
        </p:txBody>
      </p:sp>
      <p:sp>
        <p:nvSpPr>
          <p:cNvPr id="89" name="Text 87"/>
          <p:cNvSpPr txBox="1"/>
          <p:nvPr/>
        </p:nvSpPr>
        <p:spPr>
          <a:xfrm>
            <a:off x="10469880" y="1371600"/>
            <a:ext cx="1188720" cy="329184"/>
          </a:xfrm>
          <a:prstGeom prst="rect">
            <a:avLst/>
          </a:prstGeom>
          <a:noFill/>
          <a:ln/>
        </p:spPr>
        <p:txBody>
          <a:bodyPr wrap="square" lIns="0" tIns="0" rIns="0" bIns="0" rtlCol="0" anchor="ctr"/>
          <a:lstStyle/>
          <a:p>
            <a:pPr indent="0" marL="0">
              <a:buNone/>
            </a:pPr>
            <a:r>
              <a:rPr lang="en-US" sz="1300" dirty="0">
                <a:solidFill>
                  <a:schemeClr val="tx1"/>
                </a:solidFill>
              </a:rPr>
              <a:t>Weg: 13 Felder</a:t>
            </a:r>
            <a:endParaRPr lang="en-US" sz="1300" dirty="0"/>
          </a:p>
        </p:txBody>
      </p:sp>
      <p:sp>
        <p:nvSpPr>
          <p:cNvPr id="90" name="Feld 0,0"/>
          <p:cNvSpPr txBox="1"/>
          <p:nvPr/>
        </p:nvSpPr>
        <p:spPr>
          <a:xfrm>
            <a:off x="10058400" y="1828800"/>
            <a:ext cx="329184" cy="329184"/>
          </a:xfrm>
          <a:prstGeom prst="rect">
            <a:avLst/>
          </a:prstGeom>
          <a:solidFill>
            <a:srgbClr val="FBE5E5"/>
          </a:solidFill>
          <a:ln w="9525">
            <a:solidFill>
              <a:srgbClr val="BFBFBF"/>
            </a:solidFill>
          </a:ln>
        </p:spPr>
        <p:txBody>
          <a:bodyPr wrap="square" lIns="0" tIns="0" rIns="0" bIns="0" rtlCol="0" anchor="ctr"/>
          <a:lstStyle/>
          <a:p>
            <a:pPr algn="ctr" indent="0" marL="0">
              <a:buNone/>
            </a:pPr>
            <a:r>
              <a:rPr lang="en-US" sz="1200" b="1" dirty="0">
                <a:solidFill>
                  <a:srgbClr val="C00000"/>
                </a:solidFill>
                <a:latin typeface="Consolas" pitchFamily="34" charset="0"/>
                <a:ea typeface="Consolas" pitchFamily="34" charset="-122"/>
                <a:cs typeface="Consolas" pitchFamily="34" charset="-120"/>
              </a:rPr>
              <a:t>x</a:t>
            </a:r>
            <a:endParaRPr lang="en-US" sz="1200" dirty="0"/>
          </a:p>
        </p:txBody>
      </p:sp>
      <p:sp>
        <p:nvSpPr>
          <p:cNvPr id="91" name="Text 89"/>
          <p:cNvSpPr txBox="1"/>
          <p:nvPr/>
        </p:nvSpPr>
        <p:spPr>
          <a:xfrm>
            <a:off x="10469880" y="1828800"/>
            <a:ext cx="1188720" cy="329184"/>
          </a:xfrm>
          <a:prstGeom prst="rect">
            <a:avLst/>
          </a:prstGeom>
          <a:noFill/>
          <a:ln/>
        </p:spPr>
        <p:txBody>
          <a:bodyPr wrap="square" lIns="0" tIns="0" rIns="0" bIns="0" rtlCol="0" anchor="ctr"/>
          <a:lstStyle/>
          <a:p>
            <a:pPr indent="0" marL="0">
              <a:buNone/>
            </a:pPr>
            <a:r>
              <a:rPr lang="en-US" sz="1300" dirty="0">
                <a:solidFill>
                  <a:schemeClr val="tx1"/>
                </a:solidFill>
              </a:rPr>
              <a:t>Sackgasse</a:t>
            </a:r>
            <a:endParaRPr lang="en-US" sz="1300" dirty="0"/>
          </a:p>
        </p:txBody>
      </p:sp>
      <p:sp>
        <p:nvSpPr>
          <p:cNvPr id="92" name="Feld 0,0"/>
          <p:cNvSpPr txBox="1"/>
          <p:nvPr/>
        </p:nvSpPr>
        <p:spPr>
          <a:xfrm>
            <a:off x="10058400" y="2286000"/>
            <a:ext cx="329184" cy="329184"/>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200" b="1" dirty="0">
                <a:solidFill>
                  <a:srgbClr val="A6A6A6"/>
                </a:solidFill>
                <a:latin typeface="Consolas" pitchFamily="34" charset="0"/>
                <a:ea typeface="Consolas" pitchFamily="34" charset="-122"/>
                <a:cs typeface="Consolas" pitchFamily="34" charset="-120"/>
              </a:rPr>
              <a:t>.</a:t>
            </a:r>
            <a:endParaRPr lang="en-US" sz="1200" dirty="0"/>
          </a:p>
        </p:txBody>
      </p:sp>
      <p:sp>
        <p:nvSpPr>
          <p:cNvPr id="93" name="Text 91"/>
          <p:cNvSpPr txBox="1"/>
          <p:nvPr/>
        </p:nvSpPr>
        <p:spPr>
          <a:xfrm>
            <a:off x="10469880" y="2286000"/>
            <a:ext cx="1188720" cy="329184"/>
          </a:xfrm>
          <a:prstGeom prst="rect">
            <a:avLst/>
          </a:prstGeom>
          <a:noFill/>
          <a:ln/>
        </p:spPr>
        <p:txBody>
          <a:bodyPr wrap="square" lIns="0" tIns="0" rIns="0" bIns="0" rtlCol="0" anchor="ctr"/>
          <a:lstStyle/>
          <a:p>
            <a:pPr indent="0" marL="0">
              <a:buNone/>
            </a:pPr>
            <a:r>
              <a:rPr lang="en-US" sz="1300" dirty="0">
                <a:solidFill>
                  <a:schemeClr val="tx1"/>
                </a:solidFill>
              </a:rPr>
              <a:t>nie besucht</a:t>
            </a:r>
            <a:endParaRPr lang="en-US" sz="1300" dirty="0"/>
          </a:p>
        </p:txBody>
      </p:sp>
      <p:sp>
        <p:nvSpPr>
          <p:cNvPr id="94" name="Feld 0,0"/>
          <p:cNvSpPr txBox="1"/>
          <p:nvPr/>
        </p:nvSpPr>
        <p:spPr>
          <a:xfrm>
            <a:off x="10058400" y="2743200"/>
            <a:ext cx="329184" cy="329184"/>
          </a:xfrm>
          <a:prstGeom prst="rect">
            <a:avLst/>
          </a:prstGeom>
          <a:solidFill>
            <a:srgbClr val="1F4E79"/>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S</a:t>
            </a:r>
            <a:endParaRPr lang="en-US" sz="1200" dirty="0"/>
          </a:p>
        </p:txBody>
      </p:sp>
      <p:sp>
        <p:nvSpPr>
          <p:cNvPr id="95" name="Text 93"/>
          <p:cNvSpPr txBox="1"/>
          <p:nvPr/>
        </p:nvSpPr>
        <p:spPr>
          <a:xfrm>
            <a:off x="10469880" y="2743200"/>
            <a:ext cx="1188720" cy="329184"/>
          </a:xfrm>
          <a:prstGeom prst="rect">
            <a:avLst/>
          </a:prstGeom>
          <a:noFill/>
          <a:ln/>
        </p:spPr>
        <p:txBody>
          <a:bodyPr wrap="square" lIns="0" tIns="0" rIns="0" bIns="0" rtlCol="0" anchor="ctr"/>
          <a:lstStyle/>
          <a:p>
            <a:pPr indent="0" marL="0">
              <a:buNone/>
            </a:pPr>
            <a:r>
              <a:rPr lang="en-US" sz="1300" dirty="0">
                <a:solidFill>
                  <a:schemeClr val="tx1"/>
                </a:solidFill>
              </a:rPr>
              <a:t>Start</a:t>
            </a:r>
            <a:endParaRPr lang="en-US" sz="1300" dirty="0"/>
          </a:p>
        </p:txBody>
      </p:sp>
      <p:sp>
        <p:nvSpPr>
          <p:cNvPr id="96" name="Feld 0,0"/>
          <p:cNvSpPr txBox="1"/>
          <p:nvPr/>
        </p:nvSpPr>
        <p:spPr>
          <a:xfrm>
            <a:off x="10058400" y="3200400"/>
            <a:ext cx="329184" cy="329184"/>
          </a:xfrm>
          <a:prstGeom prst="rect">
            <a:avLst/>
          </a:prstGeom>
          <a:solidFill>
            <a:srgbClr val="548235"/>
          </a:solidFill>
          <a:ln w="9525">
            <a:solidFill>
              <a:srgbClr val="BFBFBF"/>
            </a:solid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Z</a:t>
            </a:r>
            <a:endParaRPr lang="en-US" sz="1200" dirty="0"/>
          </a:p>
        </p:txBody>
      </p:sp>
      <p:sp>
        <p:nvSpPr>
          <p:cNvPr id="97" name="Text 95"/>
          <p:cNvSpPr txBox="1"/>
          <p:nvPr/>
        </p:nvSpPr>
        <p:spPr>
          <a:xfrm>
            <a:off x="10469880" y="3200400"/>
            <a:ext cx="1188720" cy="329184"/>
          </a:xfrm>
          <a:prstGeom prst="rect">
            <a:avLst/>
          </a:prstGeom>
          <a:noFill/>
          <a:ln/>
        </p:spPr>
        <p:txBody>
          <a:bodyPr wrap="square" lIns="0" tIns="0" rIns="0" bIns="0" rtlCol="0" anchor="ctr"/>
          <a:lstStyle/>
          <a:p>
            <a:pPr indent="0" marL="0">
              <a:buNone/>
            </a:pPr>
            <a:r>
              <a:rPr lang="en-US" sz="1300" dirty="0">
                <a:solidFill>
                  <a:schemeClr val="tx1"/>
                </a:solidFill>
              </a:rPr>
              <a:t>Ziel</a:t>
            </a:r>
            <a:endParaRPr lang="en-US" sz="1300" dirty="0"/>
          </a:p>
        </p:txBody>
      </p:sp>
      <p:sp>
        <p:nvSpPr>
          <p:cNvPr id="98" name="Text 96"/>
          <p:cNvSpPr txBox="1"/>
          <p:nvPr/>
        </p:nvSpPr>
        <p:spPr>
          <a:xfrm>
            <a:off x="10058400" y="3886200"/>
            <a:ext cx="1600200" cy="54864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findeWeg(1, 1)</a:t>
            </a:r>
            <a:endParaRPr lang="en-US" sz="1300" dirty="0"/>
          </a:p>
          <a:p>
            <a:pPr indent="0" marL="0">
              <a:buNone/>
            </a:pPr>
            <a:r>
              <a:rPr lang="en-US" sz="1300" b="1" dirty="0">
                <a:solidFill>
                  <a:schemeClr val="accent1"/>
                </a:solidFill>
              </a:rPr>
              <a:t>= true · 41 Aufrufe</a:t>
            </a:r>
            <a:endParaRPr lang="en-US" sz="1300" dirty="0"/>
          </a:p>
        </p:txBody>
      </p:sp>
      <p:sp>
        <p:nvSpPr>
          <p:cNvPr id="99" name="Schritt 1"/>
          <p:cNvSpPr/>
          <p:nvPr/>
        </p:nvSpPr>
        <p:spPr>
          <a:xfrm>
            <a:off x="6446520" y="5120640"/>
            <a:ext cx="1645920" cy="1051560"/>
          </a:xfrm>
          <a:prstGeom prst="roundRect">
            <a:avLst>
              <a:gd name="adj" fmla="val 10435"/>
            </a:avLst>
          </a:prstGeom>
          <a:solidFill>
            <a:schemeClr val="bg1"/>
          </a:solidFill>
          <a:ln w="22225">
            <a:solidFill>
              <a:schemeClr val="accent2"/>
            </a:solidFill>
            <a:prstDash val="solid"/>
          </a:ln>
        </p:spPr>
      </p:sp>
      <p:sp>
        <p:nvSpPr>
          <p:cNvPr id="100" name="Nummer 1"/>
          <p:cNvSpPr txBox="1"/>
          <p:nvPr/>
        </p:nvSpPr>
        <p:spPr>
          <a:xfrm>
            <a:off x="6519672" y="5193792"/>
            <a:ext cx="292608" cy="292608"/>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01" name="Text 99"/>
          <p:cNvSpPr txBox="1"/>
          <p:nvPr/>
        </p:nvSpPr>
        <p:spPr>
          <a:xfrm>
            <a:off x="6858000" y="5175504"/>
            <a:ext cx="1188720" cy="960120"/>
          </a:xfrm>
          <a:prstGeom prst="rect">
            <a:avLst/>
          </a:prstGeom>
          <a:noFill/>
          <a:ln/>
        </p:spPr>
        <p:txBody>
          <a:bodyPr wrap="square" lIns="0" tIns="0" rIns="0" bIns="0" rtlCol="0" anchor="t"/>
          <a:lstStyle/>
          <a:p>
            <a:pPr indent="0" marL="0">
              <a:buNone/>
            </a:pPr>
            <a:r>
              <a:rPr lang="en-US" sz="1300" b="1" dirty="0">
                <a:solidFill>
                  <a:schemeClr val="accent2"/>
                </a:solidFill>
              </a:rPr>
              <a:t>vorläufig markieren</a:t>
            </a:r>
            <a:endParaRPr lang="en-US" sz="1800" dirty="0"/>
          </a:p>
          <a:p>
            <a:pPr indent="0" marL="0">
              <a:buNone/>
            </a:pPr>
            <a:r>
              <a:rPr lang="en-US" sz="1200" dirty="0">
                <a:solidFill>
                  <a:schemeClr val="tx1"/>
                </a:solidFill>
              </a:rPr>
              <a:t>Feld wird '*'</a:t>
            </a:r>
            <a:endParaRPr lang="en-US" sz="1800" dirty="0"/>
          </a:p>
        </p:txBody>
      </p:sp>
      <p:sp>
        <p:nvSpPr>
          <p:cNvPr id="102" name="Schritt 2"/>
          <p:cNvSpPr/>
          <p:nvPr/>
        </p:nvSpPr>
        <p:spPr>
          <a:xfrm>
            <a:off x="8202168" y="5120640"/>
            <a:ext cx="1645920" cy="1051560"/>
          </a:xfrm>
          <a:prstGeom prst="roundRect">
            <a:avLst>
              <a:gd name="adj" fmla="val 10435"/>
            </a:avLst>
          </a:prstGeom>
          <a:solidFill>
            <a:schemeClr val="bg1"/>
          </a:solidFill>
          <a:ln w="22225">
            <a:solidFill>
              <a:schemeClr val="accent2"/>
            </a:solidFill>
            <a:prstDash val="solid"/>
          </a:ln>
        </p:spPr>
      </p:sp>
      <p:sp>
        <p:nvSpPr>
          <p:cNvPr id="103" name="Nummer 2"/>
          <p:cNvSpPr txBox="1"/>
          <p:nvPr/>
        </p:nvSpPr>
        <p:spPr>
          <a:xfrm>
            <a:off x="8275320" y="5193792"/>
            <a:ext cx="292608" cy="292608"/>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04" name="Text 102"/>
          <p:cNvSpPr txBox="1"/>
          <p:nvPr/>
        </p:nvSpPr>
        <p:spPr>
          <a:xfrm>
            <a:off x="8613648" y="5175504"/>
            <a:ext cx="1188720" cy="960120"/>
          </a:xfrm>
          <a:prstGeom prst="rect">
            <a:avLst/>
          </a:prstGeom>
          <a:noFill/>
          <a:ln/>
        </p:spPr>
        <p:txBody>
          <a:bodyPr wrap="square" lIns="0" tIns="0" rIns="0" bIns="0" rtlCol="0" anchor="t"/>
          <a:lstStyle/>
          <a:p>
            <a:pPr indent="0" marL="0">
              <a:buNone/>
            </a:pPr>
            <a:r>
              <a:rPr lang="en-US" sz="1300" b="1" dirty="0">
                <a:solidFill>
                  <a:schemeClr val="accent2"/>
                </a:solidFill>
              </a:rPr>
              <a:t>Nachbarn versuchen</a:t>
            </a:r>
            <a:endParaRPr lang="en-US" sz="1800" dirty="0"/>
          </a:p>
          <a:p>
            <a:pPr indent="0" marL="0">
              <a:buNone/>
            </a:pPr>
            <a:r>
              <a:rPr lang="en-US" sz="1200" dirty="0">
                <a:solidFill>
                  <a:schemeClr val="tx1"/>
                </a:solidFill>
              </a:rPr>
              <a:t>oben, rechts, unten, links – beim ersten true fertig</a:t>
            </a:r>
            <a:endParaRPr lang="en-US" sz="1800" dirty="0"/>
          </a:p>
        </p:txBody>
      </p:sp>
      <p:sp>
        <p:nvSpPr>
          <p:cNvPr id="105" name="Schritt 3"/>
          <p:cNvSpPr/>
          <p:nvPr/>
        </p:nvSpPr>
        <p:spPr>
          <a:xfrm>
            <a:off x="9957816" y="5120640"/>
            <a:ext cx="1645920" cy="1051560"/>
          </a:xfrm>
          <a:prstGeom prst="roundRect">
            <a:avLst>
              <a:gd name="adj" fmla="val 10435"/>
            </a:avLst>
          </a:prstGeom>
          <a:solidFill>
            <a:schemeClr val="bg1"/>
          </a:solidFill>
          <a:ln w="22225">
            <a:solidFill>
              <a:schemeClr val="accent4"/>
            </a:solidFill>
            <a:prstDash val="solid"/>
          </a:ln>
        </p:spPr>
      </p:sp>
      <p:sp>
        <p:nvSpPr>
          <p:cNvPr id="106" name="Nummer 3"/>
          <p:cNvSpPr txBox="1"/>
          <p:nvPr/>
        </p:nvSpPr>
        <p:spPr>
          <a:xfrm>
            <a:off x="10030968" y="5193792"/>
            <a:ext cx="292608" cy="292608"/>
          </a:xfrm>
          <a:prstGeom prst="ellipse">
            <a:avLst/>
          </a:prstGeom>
          <a:solidFill>
            <a:schemeClr val="accent4"/>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07" name="Text 105"/>
          <p:cNvSpPr txBox="1"/>
          <p:nvPr/>
        </p:nvSpPr>
        <p:spPr>
          <a:xfrm>
            <a:off x="10369296" y="5175504"/>
            <a:ext cx="1188720" cy="960120"/>
          </a:xfrm>
          <a:prstGeom prst="rect">
            <a:avLst/>
          </a:prstGeom>
          <a:noFill/>
          <a:ln/>
        </p:spPr>
        <p:txBody>
          <a:bodyPr wrap="square" lIns="0" tIns="0" rIns="0" bIns="0" rtlCol="0" anchor="t"/>
          <a:lstStyle/>
          <a:p>
            <a:pPr indent="0" marL="0">
              <a:buNone/>
            </a:pPr>
            <a:r>
              <a:rPr lang="en-US" sz="1300" b="1" dirty="0">
                <a:solidFill>
                  <a:schemeClr val="accent4"/>
                </a:solidFill>
              </a:rPr>
              <a:t>zurücknehmen</a:t>
            </a:r>
            <a:endParaRPr lang="en-US" sz="1800" dirty="0"/>
          </a:p>
          <a:p>
            <a:pPr indent="0" marL="0">
              <a:buNone/>
            </a:pPr>
            <a:r>
              <a:rPr lang="en-US" sz="1200" dirty="0">
                <a:solidFill>
                  <a:schemeClr val="tx1"/>
                </a:solidFill>
              </a:rPr>
              <a:t>kein Nachbar führt zum Ziel: 'x', false</a:t>
            </a:r>
            <a:endParaRPr lang="en-US" sz="1800" dirty="0"/>
          </a:p>
        </p:txBody>
      </p:sp>
      <p:sp>
        <p:nvSpPr>
          <p:cNvPr id="108" name="Text 106"/>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20 · Backtracking</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Das Dungeon-Rennen</a:t>
            </a:r>
            <a:endParaRPr lang="en-US" sz="3600" dirty="0"/>
          </a:p>
        </p:txBody>
      </p:sp>
      <p:sp>
        <p:nvSpPr>
          <p:cNvPr id="3" name="Feld 0,0"/>
          <p:cNvSpPr txBox="1"/>
          <p:nvPr/>
        </p:nvSpPr>
        <p:spPr>
          <a:xfrm>
            <a:off x="548640" y="137160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4" name="Feld 0,1"/>
          <p:cNvSpPr txBox="1"/>
          <p:nvPr/>
        </p:nvSpPr>
        <p:spPr>
          <a:xfrm>
            <a:off x="987552" y="137160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5" name="Feld 0,2"/>
          <p:cNvSpPr txBox="1"/>
          <p:nvPr/>
        </p:nvSpPr>
        <p:spPr>
          <a:xfrm>
            <a:off x="1426464" y="137160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6" name="Feld 0,3"/>
          <p:cNvSpPr txBox="1"/>
          <p:nvPr/>
        </p:nvSpPr>
        <p:spPr>
          <a:xfrm>
            <a:off x="1865376" y="137160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7" name="Feld 0,4"/>
          <p:cNvSpPr txBox="1"/>
          <p:nvPr/>
        </p:nvSpPr>
        <p:spPr>
          <a:xfrm>
            <a:off x="2304288" y="137160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8" name="Feld 0,5"/>
          <p:cNvSpPr txBox="1"/>
          <p:nvPr/>
        </p:nvSpPr>
        <p:spPr>
          <a:xfrm>
            <a:off x="2743200" y="137160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9" name="Feld 0,6"/>
          <p:cNvSpPr txBox="1"/>
          <p:nvPr/>
        </p:nvSpPr>
        <p:spPr>
          <a:xfrm>
            <a:off x="3182112" y="137160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10" name="Feld 0,7"/>
          <p:cNvSpPr txBox="1"/>
          <p:nvPr/>
        </p:nvSpPr>
        <p:spPr>
          <a:xfrm>
            <a:off x="3621024" y="137160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11" name="Feld 0,8"/>
          <p:cNvSpPr txBox="1"/>
          <p:nvPr/>
        </p:nvSpPr>
        <p:spPr>
          <a:xfrm>
            <a:off x="4059936" y="137160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12" name="Feld 0,9"/>
          <p:cNvSpPr txBox="1"/>
          <p:nvPr/>
        </p:nvSpPr>
        <p:spPr>
          <a:xfrm>
            <a:off x="4498848" y="137160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13" name="Feld 0,10"/>
          <p:cNvSpPr txBox="1"/>
          <p:nvPr/>
        </p:nvSpPr>
        <p:spPr>
          <a:xfrm>
            <a:off x="4937760" y="137160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14" name="Feld 1,0"/>
          <p:cNvSpPr txBox="1"/>
          <p:nvPr/>
        </p:nvSpPr>
        <p:spPr>
          <a:xfrm>
            <a:off x="548640" y="181051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15" name="Feld 1,1"/>
          <p:cNvSpPr txBox="1"/>
          <p:nvPr/>
        </p:nvSpPr>
        <p:spPr>
          <a:xfrm>
            <a:off x="987552" y="1810512"/>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16" name="Feld 1,2"/>
          <p:cNvSpPr txBox="1"/>
          <p:nvPr/>
        </p:nvSpPr>
        <p:spPr>
          <a:xfrm>
            <a:off x="1426464" y="1810512"/>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17" name="Feld 1,3"/>
          <p:cNvSpPr txBox="1"/>
          <p:nvPr/>
        </p:nvSpPr>
        <p:spPr>
          <a:xfrm>
            <a:off x="1865376" y="1810512"/>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18" name="Feld 1,4"/>
          <p:cNvSpPr txBox="1"/>
          <p:nvPr/>
        </p:nvSpPr>
        <p:spPr>
          <a:xfrm>
            <a:off x="2304288" y="181051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19" name="Feld 1,5"/>
          <p:cNvSpPr txBox="1"/>
          <p:nvPr/>
        </p:nvSpPr>
        <p:spPr>
          <a:xfrm>
            <a:off x="2743200" y="1810512"/>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20" name="Feld 1,6"/>
          <p:cNvSpPr txBox="1"/>
          <p:nvPr/>
        </p:nvSpPr>
        <p:spPr>
          <a:xfrm>
            <a:off x="3182112" y="1810512"/>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21" name="Feld 1,7"/>
          <p:cNvSpPr txBox="1"/>
          <p:nvPr/>
        </p:nvSpPr>
        <p:spPr>
          <a:xfrm>
            <a:off x="3621024" y="1810512"/>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22" name="Feld 1,8"/>
          <p:cNvSpPr txBox="1"/>
          <p:nvPr/>
        </p:nvSpPr>
        <p:spPr>
          <a:xfrm>
            <a:off x="4059936" y="181051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23" name="Feld 1,9"/>
          <p:cNvSpPr txBox="1"/>
          <p:nvPr/>
        </p:nvSpPr>
        <p:spPr>
          <a:xfrm>
            <a:off x="4498848" y="1810512"/>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24" name="Feld 1,10"/>
          <p:cNvSpPr txBox="1"/>
          <p:nvPr/>
        </p:nvSpPr>
        <p:spPr>
          <a:xfrm>
            <a:off x="4937760" y="181051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25" name="Feld 2,0"/>
          <p:cNvSpPr txBox="1"/>
          <p:nvPr/>
        </p:nvSpPr>
        <p:spPr>
          <a:xfrm>
            <a:off x="548640" y="2249424"/>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26" name="Feld 2,1"/>
          <p:cNvSpPr txBox="1"/>
          <p:nvPr/>
        </p:nvSpPr>
        <p:spPr>
          <a:xfrm>
            <a:off x="987552" y="2249424"/>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27" name="Feld 2,2"/>
          <p:cNvSpPr txBox="1"/>
          <p:nvPr/>
        </p:nvSpPr>
        <p:spPr>
          <a:xfrm>
            <a:off x="1426464" y="2249424"/>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28" name="Feld 2,3"/>
          <p:cNvSpPr txBox="1"/>
          <p:nvPr/>
        </p:nvSpPr>
        <p:spPr>
          <a:xfrm>
            <a:off x="1865376" y="2249424"/>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29" name="Feld 2,4"/>
          <p:cNvSpPr txBox="1"/>
          <p:nvPr/>
        </p:nvSpPr>
        <p:spPr>
          <a:xfrm>
            <a:off x="2304288" y="2249424"/>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30" name="Feld 2,5"/>
          <p:cNvSpPr txBox="1"/>
          <p:nvPr/>
        </p:nvSpPr>
        <p:spPr>
          <a:xfrm>
            <a:off x="2743200" y="2249424"/>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31" name="Feld 2,6"/>
          <p:cNvSpPr txBox="1"/>
          <p:nvPr/>
        </p:nvSpPr>
        <p:spPr>
          <a:xfrm>
            <a:off x="3182112" y="2249424"/>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32" name="Feld 2,7"/>
          <p:cNvSpPr txBox="1"/>
          <p:nvPr/>
        </p:nvSpPr>
        <p:spPr>
          <a:xfrm>
            <a:off x="3621024" y="2249424"/>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33" name="Feld 2,8"/>
          <p:cNvSpPr txBox="1"/>
          <p:nvPr/>
        </p:nvSpPr>
        <p:spPr>
          <a:xfrm>
            <a:off x="4059936" y="2249424"/>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34" name="Feld 2,9"/>
          <p:cNvSpPr txBox="1"/>
          <p:nvPr/>
        </p:nvSpPr>
        <p:spPr>
          <a:xfrm>
            <a:off x="4498848" y="2249424"/>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35" name="Feld 2,10"/>
          <p:cNvSpPr txBox="1"/>
          <p:nvPr/>
        </p:nvSpPr>
        <p:spPr>
          <a:xfrm>
            <a:off x="4937760" y="2249424"/>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36" name="Feld 3,0"/>
          <p:cNvSpPr txBox="1"/>
          <p:nvPr/>
        </p:nvSpPr>
        <p:spPr>
          <a:xfrm>
            <a:off x="548640" y="2688336"/>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37" name="Feld 3,1"/>
          <p:cNvSpPr txBox="1"/>
          <p:nvPr/>
        </p:nvSpPr>
        <p:spPr>
          <a:xfrm>
            <a:off x="987552" y="2688336"/>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38" name="Feld 3,2"/>
          <p:cNvSpPr txBox="1"/>
          <p:nvPr/>
        </p:nvSpPr>
        <p:spPr>
          <a:xfrm>
            <a:off x="1426464" y="2688336"/>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39" name="Feld 3,3"/>
          <p:cNvSpPr txBox="1"/>
          <p:nvPr/>
        </p:nvSpPr>
        <p:spPr>
          <a:xfrm>
            <a:off x="1865376" y="2688336"/>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40" name="Feld 3,4"/>
          <p:cNvSpPr txBox="1"/>
          <p:nvPr/>
        </p:nvSpPr>
        <p:spPr>
          <a:xfrm>
            <a:off x="2304288" y="2688336"/>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41" name="Feld 3,5"/>
          <p:cNvSpPr txBox="1"/>
          <p:nvPr/>
        </p:nvSpPr>
        <p:spPr>
          <a:xfrm>
            <a:off x="2743200" y="2688336"/>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42" name="Feld 3,6"/>
          <p:cNvSpPr txBox="1"/>
          <p:nvPr/>
        </p:nvSpPr>
        <p:spPr>
          <a:xfrm>
            <a:off x="3182112" y="2688336"/>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43" name="Feld 3,7"/>
          <p:cNvSpPr txBox="1"/>
          <p:nvPr/>
        </p:nvSpPr>
        <p:spPr>
          <a:xfrm>
            <a:off x="3621024" y="2688336"/>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44" name="Feld 3,8"/>
          <p:cNvSpPr txBox="1"/>
          <p:nvPr/>
        </p:nvSpPr>
        <p:spPr>
          <a:xfrm>
            <a:off x="4059936" y="2688336"/>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45" name="Feld 3,9"/>
          <p:cNvSpPr txBox="1"/>
          <p:nvPr/>
        </p:nvSpPr>
        <p:spPr>
          <a:xfrm>
            <a:off x="4498848" y="2688336"/>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46" name="Feld 3,10"/>
          <p:cNvSpPr txBox="1"/>
          <p:nvPr/>
        </p:nvSpPr>
        <p:spPr>
          <a:xfrm>
            <a:off x="4937760" y="2688336"/>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47" name="Feld 4,0"/>
          <p:cNvSpPr txBox="1"/>
          <p:nvPr/>
        </p:nvSpPr>
        <p:spPr>
          <a:xfrm>
            <a:off x="548640" y="3127248"/>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48" name="Feld 4,1"/>
          <p:cNvSpPr txBox="1"/>
          <p:nvPr/>
        </p:nvSpPr>
        <p:spPr>
          <a:xfrm>
            <a:off x="987552" y="3127248"/>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49" name="Feld 4,2"/>
          <p:cNvSpPr txBox="1"/>
          <p:nvPr/>
        </p:nvSpPr>
        <p:spPr>
          <a:xfrm>
            <a:off x="1426464" y="3127248"/>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50" name="Feld 4,3"/>
          <p:cNvSpPr txBox="1"/>
          <p:nvPr/>
        </p:nvSpPr>
        <p:spPr>
          <a:xfrm>
            <a:off x="1865376" y="3127248"/>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51" name="Feld 4,4"/>
          <p:cNvSpPr txBox="1"/>
          <p:nvPr/>
        </p:nvSpPr>
        <p:spPr>
          <a:xfrm>
            <a:off x="2304288" y="3127248"/>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52" name="Feld 4,5"/>
          <p:cNvSpPr txBox="1"/>
          <p:nvPr/>
        </p:nvSpPr>
        <p:spPr>
          <a:xfrm>
            <a:off x="2743200" y="3127248"/>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53" name="Feld 4,6"/>
          <p:cNvSpPr txBox="1"/>
          <p:nvPr/>
        </p:nvSpPr>
        <p:spPr>
          <a:xfrm>
            <a:off x="3182112" y="3127248"/>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54" name="Feld 4,7"/>
          <p:cNvSpPr txBox="1"/>
          <p:nvPr/>
        </p:nvSpPr>
        <p:spPr>
          <a:xfrm>
            <a:off x="3621024" y="3127248"/>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55" name="Feld 4,8"/>
          <p:cNvSpPr txBox="1"/>
          <p:nvPr/>
        </p:nvSpPr>
        <p:spPr>
          <a:xfrm>
            <a:off x="4059936" y="3127248"/>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56" name="Feld 4,9"/>
          <p:cNvSpPr txBox="1"/>
          <p:nvPr/>
        </p:nvSpPr>
        <p:spPr>
          <a:xfrm>
            <a:off x="4498848" y="3127248"/>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57" name="Feld 4,10"/>
          <p:cNvSpPr txBox="1"/>
          <p:nvPr/>
        </p:nvSpPr>
        <p:spPr>
          <a:xfrm>
            <a:off x="4937760" y="3127248"/>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58" name="Feld 5,0"/>
          <p:cNvSpPr txBox="1"/>
          <p:nvPr/>
        </p:nvSpPr>
        <p:spPr>
          <a:xfrm>
            <a:off x="548640" y="356616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59" name="Feld 5,1"/>
          <p:cNvSpPr txBox="1"/>
          <p:nvPr/>
        </p:nvSpPr>
        <p:spPr>
          <a:xfrm>
            <a:off x="987552" y="3566160"/>
            <a:ext cx="438912" cy="438912"/>
          </a:xfrm>
          <a:prstGeom prst="rect">
            <a:avLst/>
          </a:prstGeom>
          <a:solidFill>
            <a:srgbClr val="1F4E79"/>
          </a:solidFill>
          <a:ln w="9525">
            <a:solidFill>
              <a:srgbClr val="BFBFB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S</a:t>
            </a:r>
            <a:endParaRPr lang="en-US" sz="1300" dirty="0"/>
          </a:p>
        </p:txBody>
      </p:sp>
      <p:sp>
        <p:nvSpPr>
          <p:cNvPr id="60" name="Feld 5,2"/>
          <p:cNvSpPr txBox="1"/>
          <p:nvPr/>
        </p:nvSpPr>
        <p:spPr>
          <a:xfrm>
            <a:off x="1426464" y="3566160"/>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61" name="Feld 5,3"/>
          <p:cNvSpPr txBox="1"/>
          <p:nvPr/>
        </p:nvSpPr>
        <p:spPr>
          <a:xfrm>
            <a:off x="1865376" y="3566160"/>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62" name="Feld 5,4"/>
          <p:cNvSpPr txBox="1"/>
          <p:nvPr/>
        </p:nvSpPr>
        <p:spPr>
          <a:xfrm>
            <a:off x="2304288" y="3566160"/>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63" name="Feld 5,5"/>
          <p:cNvSpPr txBox="1"/>
          <p:nvPr/>
        </p:nvSpPr>
        <p:spPr>
          <a:xfrm>
            <a:off x="2743200" y="3566160"/>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64" name="Feld 5,6"/>
          <p:cNvSpPr txBox="1"/>
          <p:nvPr/>
        </p:nvSpPr>
        <p:spPr>
          <a:xfrm>
            <a:off x="3182112" y="3566160"/>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65" name="Feld 5,7"/>
          <p:cNvSpPr txBox="1"/>
          <p:nvPr/>
        </p:nvSpPr>
        <p:spPr>
          <a:xfrm>
            <a:off x="3621024" y="3566160"/>
            <a:ext cx="438912" cy="438912"/>
          </a:xfrm>
          <a:prstGeom prst="rect">
            <a:avLst/>
          </a:prstGeom>
          <a:solidFill>
            <a:srgbClr val="FFFFFF"/>
          </a:solidFill>
          <a:ln w="9525">
            <a:solidFill>
              <a:srgbClr val="BFBFBF"/>
            </a:solidFill>
          </a:ln>
        </p:spPr>
        <p:txBody>
          <a:bodyPr wrap="square" lIns="0" tIns="0" rIns="0" bIns="0" rtlCol="0" anchor="ctr"/>
          <a:lstStyle/>
          <a:p>
            <a:pPr algn="ctr" indent="0" marL="0">
              <a:buNone/>
            </a:pPr>
            <a:r>
              <a:rPr lang="en-US" sz="1300" b="1" dirty="0">
                <a:solidFill>
                  <a:srgbClr val="A6A6A6"/>
                </a:solidFill>
                <a:latin typeface="Consolas" pitchFamily="34" charset="0"/>
                <a:ea typeface="Consolas" pitchFamily="34" charset="-122"/>
                <a:cs typeface="Consolas" pitchFamily="34" charset="-120"/>
              </a:rPr>
              <a:t>.</a:t>
            </a:r>
            <a:endParaRPr lang="en-US" sz="1300" dirty="0"/>
          </a:p>
        </p:txBody>
      </p:sp>
      <p:sp>
        <p:nvSpPr>
          <p:cNvPr id="66" name="Feld 5,8"/>
          <p:cNvSpPr txBox="1"/>
          <p:nvPr/>
        </p:nvSpPr>
        <p:spPr>
          <a:xfrm>
            <a:off x="4059936" y="356616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67" name="Feld 5,9"/>
          <p:cNvSpPr txBox="1"/>
          <p:nvPr/>
        </p:nvSpPr>
        <p:spPr>
          <a:xfrm>
            <a:off x="4498848" y="3566160"/>
            <a:ext cx="438912" cy="438912"/>
          </a:xfrm>
          <a:prstGeom prst="rect">
            <a:avLst/>
          </a:prstGeom>
          <a:solidFill>
            <a:srgbClr val="548235"/>
          </a:solidFill>
          <a:ln w="9525">
            <a:solidFill>
              <a:srgbClr val="BFBFB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Z</a:t>
            </a:r>
            <a:endParaRPr lang="en-US" sz="1300" dirty="0"/>
          </a:p>
        </p:txBody>
      </p:sp>
      <p:sp>
        <p:nvSpPr>
          <p:cNvPr id="68" name="Feld 5,10"/>
          <p:cNvSpPr txBox="1"/>
          <p:nvPr/>
        </p:nvSpPr>
        <p:spPr>
          <a:xfrm>
            <a:off x="4937760" y="3566160"/>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69" name="Feld 6,0"/>
          <p:cNvSpPr txBox="1"/>
          <p:nvPr/>
        </p:nvSpPr>
        <p:spPr>
          <a:xfrm>
            <a:off x="548640" y="400507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70" name="Feld 6,1"/>
          <p:cNvSpPr txBox="1"/>
          <p:nvPr/>
        </p:nvSpPr>
        <p:spPr>
          <a:xfrm>
            <a:off x="987552" y="400507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71" name="Feld 6,2"/>
          <p:cNvSpPr txBox="1"/>
          <p:nvPr/>
        </p:nvSpPr>
        <p:spPr>
          <a:xfrm>
            <a:off x="1426464" y="400507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72" name="Feld 6,3"/>
          <p:cNvSpPr txBox="1"/>
          <p:nvPr/>
        </p:nvSpPr>
        <p:spPr>
          <a:xfrm>
            <a:off x="1865376" y="400507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73" name="Feld 6,4"/>
          <p:cNvSpPr txBox="1"/>
          <p:nvPr/>
        </p:nvSpPr>
        <p:spPr>
          <a:xfrm>
            <a:off x="2304288" y="400507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74" name="Feld 6,5"/>
          <p:cNvSpPr txBox="1"/>
          <p:nvPr/>
        </p:nvSpPr>
        <p:spPr>
          <a:xfrm>
            <a:off x="2743200" y="400507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75" name="Feld 6,6"/>
          <p:cNvSpPr txBox="1"/>
          <p:nvPr/>
        </p:nvSpPr>
        <p:spPr>
          <a:xfrm>
            <a:off x="3182112" y="400507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76" name="Feld 6,7"/>
          <p:cNvSpPr txBox="1"/>
          <p:nvPr/>
        </p:nvSpPr>
        <p:spPr>
          <a:xfrm>
            <a:off x="3621024" y="400507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77" name="Feld 6,8"/>
          <p:cNvSpPr txBox="1"/>
          <p:nvPr/>
        </p:nvSpPr>
        <p:spPr>
          <a:xfrm>
            <a:off x="4059936" y="400507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78" name="Feld 6,9"/>
          <p:cNvSpPr txBox="1"/>
          <p:nvPr/>
        </p:nvSpPr>
        <p:spPr>
          <a:xfrm>
            <a:off x="4498848" y="400507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79" name="Feld 6,10"/>
          <p:cNvSpPr txBox="1"/>
          <p:nvPr/>
        </p:nvSpPr>
        <p:spPr>
          <a:xfrm>
            <a:off x="4937760" y="4005072"/>
            <a:ext cx="438912" cy="438912"/>
          </a:xfrm>
          <a:prstGeom prst="rect">
            <a:avLst/>
          </a:prstGeom>
          <a:solidFill>
            <a:srgbClr val="3A3A3A"/>
          </a:solidFill>
          <a:ln w="9525">
            <a:solidFill>
              <a:srgbClr val="BFBFBF"/>
            </a:solidFill>
          </a:ln>
        </p:spPr>
        <p:txBody>
          <a:bodyPr wrap="square" lIns="0" tIns="0" rIns="0" bIns="0" rtlCol="0" anchor="ctr"/>
          <a:lstStyle/>
          <a:p>
            <a:pPr algn="ctr" indent="0" marL="0">
              <a:buNone/>
            </a:pPr>
            <a:r>
              <a:rPr lang="en-US" sz="1300" b="1" dirty="0">
                <a:solidFill>
                  <a:srgbClr val="8C8C8C"/>
                </a:solidFill>
                <a:latin typeface="Consolas" pitchFamily="34" charset="0"/>
                <a:ea typeface="Consolas" pitchFamily="34" charset="-122"/>
                <a:cs typeface="Consolas" pitchFamily="34" charset="-120"/>
              </a:rPr>
              <a:t>#</a:t>
            </a:r>
            <a:endParaRPr lang="en-US" sz="1300" dirty="0"/>
          </a:p>
        </p:txBody>
      </p:sp>
      <p:sp>
        <p:nvSpPr>
          <p:cNvPr id="80" name="Text 78"/>
          <p:cNvSpPr txBox="1"/>
          <p:nvPr/>
        </p:nvSpPr>
        <p:spPr>
          <a:xfrm>
            <a:off x="548640" y="4517136"/>
            <a:ext cx="5230368" cy="502920"/>
          </a:xfrm>
          <a:prstGeom prst="rect">
            <a:avLst/>
          </a:prstGeom>
          <a:noFill/>
          <a:ln/>
        </p:spPr>
        <p:txBody>
          <a:bodyPr wrap="square" lIns="0" tIns="0" rIns="0" bIns="0" rtlCol="0" anchor="t"/>
          <a:lstStyle/>
          <a:p>
            <a:pPr indent="0" marL="0">
              <a:buNone/>
            </a:pPr>
            <a:r>
              <a:rPr lang="en-US" sz="1400" i="1" dirty="0">
                <a:solidFill>
                  <a:schemeClr val="accent6"/>
                </a:solidFill>
              </a:rPr>
              <a:t>Rennkarte 1 (klein, 7 × 11) · dazu Karte 2 (11 × 15), Karte 3 (15 × 21) und drei unbekannte Kontrollkarten</a:t>
            </a:r>
            <a:endParaRPr lang="en-US" sz="1400" dirty="0"/>
          </a:p>
        </p:txBody>
      </p:sp>
      <p:sp>
        <p:nvSpPr>
          <p:cNvPr id="81" name="Text 79"/>
          <p:cNvSpPr txBox="1"/>
          <p:nvPr/>
        </p:nvSpPr>
        <p:spPr>
          <a:xfrm>
            <a:off x="548640" y="5120640"/>
            <a:ext cx="5230368" cy="457200"/>
          </a:xfrm>
          <a:prstGeom prst="rect">
            <a:avLst/>
          </a:prstGeom>
          <a:solidFill>
            <a:schemeClr val="accent5"/>
          </a:solidFill>
          <a:ln w="9525">
            <a:solidFill>
              <a:srgbClr val="D0D0D0"/>
            </a:solidFill>
          </a:ln>
        </p:spPr>
        <p:txBody>
          <a:bodyPr wrap="square" lIns="127000" tIns="0" rIns="76200" bIns="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RENNEN-ERGEBNIS: Schritte = …, gueltig = ja</a:t>
            </a:r>
            <a:endParaRPr lang="en-US" sz="1300" dirty="0"/>
          </a:p>
        </p:txBody>
      </p:sp>
      <p:sp>
        <p:nvSpPr>
          <p:cNvPr id="82" name="Text 80"/>
          <p:cNvSpPr txBox="1"/>
          <p:nvPr/>
        </p:nvSpPr>
        <p:spPr>
          <a:xfrm>
            <a:off x="548640" y="5623560"/>
            <a:ext cx="5230368" cy="274320"/>
          </a:xfrm>
          <a:prstGeom prst="rect">
            <a:avLst/>
          </a:prstGeom>
          <a:noFill/>
          <a:ln/>
        </p:spPr>
        <p:txBody>
          <a:bodyPr wrap="square" lIns="0" tIns="0" rIns="0" bIns="0" rtlCol="0" anchor="t"/>
          <a:lstStyle/>
          <a:p>
            <a:pPr indent="0" marL="0">
              <a:buNone/>
            </a:pPr>
            <a:r>
              <a:rPr lang="en-US" sz="1300" i="1" dirty="0">
                <a:solidFill>
                  <a:schemeClr val="accent6"/>
                </a:solidFill>
              </a:rPr>
              <a:t>letzte Zeile der Konsole nach Rennen.starten()</a:t>
            </a:r>
            <a:endParaRPr lang="en-US" sz="1300" dirty="0"/>
          </a:p>
        </p:txBody>
      </p:sp>
      <p:sp>
        <p:nvSpPr>
          <p:cNvPr id="83" name="Icon-Kreis"/>
          <p:cNvSpPr/>
          <p:nvPr/>
        </p:nvSpPr>
        <p:spPr>
          <a:xfrm>
            <a:off x="6172200" y="1371600"/>
            <a:ext cx="566928" cy="566928"/>
          </a:xfrm>
          <a:prstGeom prst="ellipse">
            <a:avLst/>
          </a:prstGeom>
          <a:solidFill>
            <a:schemeClr val="accent1"/>
          </a:solidFill>
          <a:ln/>
        </p:spPr>
      </p:sp>
      <p:pic>
        <p:nvPicPr>
          <p:cNvPr id="84" name="Icon GiFootprint" descr="preencoded.png">    </p:cNvPr>
          <p:cNvPicPr>
            <a:picLocks noChangeAspect="1"/>
          </p:cNvPicPr>
          <p:nvPr/>
        </p:nvPicPr>
        <p:blipFill>
          <a:blip r:embed="rId1"/>
          <a:stretch>
            <a:fillRect/>
          </a:stretch>
        </p:blipFill>
        <p:spPr>
          <a:xfrm>
            <a:off x="6296924" y="1496324"/>
            <a:ext cx="317480" cy="317480"/>
          </a:xfrm>
          <a:prstGeom prst="rect">
            <a:avLst/>
          </a:prstGeom>
        </p:spPr>
      </p:pic>
      <p:sp>
        <p:nvSpPr>
          <p:cNvPr id="85" name="Text 82"/>
          <p:cNvSpPr txBox="1"/>
          <p:nvPr/>
        </p:nvSpPr>
        <p:spPr>
          <a:xfrm>
            <a:off x="6903720" y="1325880"/>
            <a:ext cx="4709160" cy="685800"/>
          </a:xfrm>
          <a:prstGeom prst="rect">
            <a:avLst/>
          </a:prstGeom>
          <a:noFill/>
          <a:ln/>
        </p:spPr>
        <p:txBody>
          <a:bodyPr wrap="square" lIns="0" tIns="0" rIns="0" bIns="0" rtlCol="0" anchor="ctr"/>
          <a:lstStyle/>
          <a:p>
            <a:pPr indent="0" marL="0">
              <a:buNone/>
            </a:pPr>
            <a:r>
              <a:rPr lang="en-US" sz="1700" b="1" dirty="0">
                <a:solidFill>
                  <a:schemeClr val="accent1"/>
                </a:solidFill>
              </a:rPr>
              <a:t>betrete(z, s) = 1 Schritt</a:t>
            </a:r>
            <a:endParaRPr lang="en-US" sz="1800" dirty="0"/>
          </a:p>
          <a:p>
            <a:pPr indent="0" marL="0">
              <a:buNone/>
            </a:pPr>
            <a:r>
              <a:rPr lang="en-US" sz="1500" dirty="0">
                <a:solidFill>
                  <a:schemeClr val="tx1"/>
                </a:solidFill>
              </a:rPr>
              <a:t>auch S und Z zählen · nur Nachbarfelder, kein Feld zweimal</a:t>
            </a:r>
            <a:endParaRPr lang="en-US" sz="1800" dirty="0"/>
          </a:p>
        </p:txBody>
      </p:sp>
      <p:sp>
        <p:nvSpPr>
          <p:cNvPr id="86" name="Icon-Kreis"/>
          <p:cNvSpPr/>
          <p:nvPr/>
        </p:nvSpPr>
        <p:spPr>
          <a:xfrm>
            <a:off x="6172200" y="2139696"/>
            <a:ext cx="566928" cy="566928"/>
          </a:xfrm>
          <a:prstGeom prst="ellipse">
            <a:avLst/>
          </a:prstGeom>
          <a:solidFill>
            <a:schemeClr val="accent1"/>
          </a:solidFill>
          <a:ln/>
        </p:spPr>
      </p:sp>
      <p:pic>
        <p:nvPicPr>
          <p:cNvPr id="87" name="Icon GiAnticlockwiseRotation" descr="preencoded.png">    </p:cNvPr>
          <p:cNvPicPr>
            <a:picLocks noChangeAspect="1"/>
          </p:cNvPicPr>
          <p:nvPr/>
        </p:nvPicPr>
        <p:blipFill>
          <a:blip r:embed="rId2"/>
          <a:stretch>
            <a:fillRect/>
          </a:stretch>
        </p:blipFill>
        <p:spPr>
          <a:xfrm>
            <a:off x="6296924" y="2264420"/>
            <a:ext cx="317480" cy="317480"/>
          </a:xfrm>
          <a:prstGeom prst="rect">
            <a:avLst/>
          </a:prstGeom>
        </p:spPr>
      </p:pic>
      <p:sp>
        <p:nvSpPr>
          <p:cNvPr id="88" name="Text 84"/>
          <p:cNvSpPr txBox="1"/>
          <p:nvPr/>
        </p:nvSpPr>
        <p:spPr>
          <a:xfrm>
            <a:off x="6903720" y="2093976"/>
            <a:ext cx="4709160" cy="685800"/>
          </a:xfrm>
          <a:prstGeom prst="rect">
            <a:avLst/>
          </a:prstGeom>
          <a:noFill/>
          <a:ln/>
        </p:spPr>
        <p:txBody>
          <a:bodyPr wrap="square" lIns="0" tIns="0" rIns="0" bIns="0" rtlCol="0" anchor="ctr"/>
          <a:lstStyle/>
          <a:p>
            <a:pPr indent="0" marL="0">
              <a:buNone/>
            </a:pPr>
            <a:r>
              <a:rPr lang="en-US" sz="1700" b="1" dirty="0">
                <a:solidFill>
                  <a:schemeClr val="accent1"/>
                </a:solidFill>
              </a:rPr>
              <a:t>verlasse(z, s) ist kostenlos</a:t>
            </a:r>
            <a:endParaRPr lang="en-US" sz="1800" dirty="0"/>
          </a:p>
          <a:p>
            <a:pPr indent="0" marL="0">
              <a:buNone/>
            </a:pPr>
            <a:r>
              <a:rPr lang="en-US" sz="1500" dirty="0">
                <a:solidFill>
                  <a:schemeClr val="tx1"/>
                </a:solidFill>
              </a:rPr>
              <a:t>Sackgasse markieren und ein Feld zurück</a:t>
            </a:r>
            <a:endParaRPr lang="en-US" sz="1800" dirty="0"/>
          </a:p>
        </p:txBody>
      </p:sp>
      <p:sp>
        <p:nvSpPr>
          <p:cNvPr id="89" name="Icon-Kreis"/>
          <p:cNvSpPr/>
          <p:nvPr/>
        </p:nvSpPr>
        <p:spPr>
          <a:xfrm>
            <a:off x="6172200" y="2907792"/>
            <a:ext cx="566928" cy="566928"/>
          </a:xfrm>
          <a:prstGeom prst="ellipse">
            <a:avLst/>
          </a:prstGeom>
          <a:solidFill>
            <a:schemeClr val="accent1"/>
          </a:solidFill>
          <a:ln/>
        </p:spPr>
      </p:sp>
      <p:pic>
        <p:nvPicPr>
          <p:cNvPr id="90" name="Icon GiFog" descr="preencoded.png">    </p:cNvPr>
          <p:cNvPicPr>
            <a:picLocks noChangeAspect="1"/>
          </p:cNvPicPr>
          <p:nvPr/>
        </p:nvPicPr>
        <p:blipFill>
          <a:blip r:embed="rId3"/>
          <a:stretch>
            <a:fillRect/>
          </a:stretch>
        </p:blipFill>
        <p:spPr>
          <a:xfrm>
            <a:off x="6296924" y="3032516"/>
            <a:ext cx="317480" cy="317480"/>
          </a:xfrm>
          <a:prstGeom prst="rect">
            <a:avLst/>
          </a:prstGeom>
        </p:spPr>
      </p:pic>
      <p:sp>
        <p:nvSpPr>
          <p:cNvPr id="91" name="Text 86"/>
          <p:cNvSpPr txBox="1"/>
          <p:nvPr/>
        </p:nvSpPr>
        <p:spPr>
          <a:xfrm>
            <a:off x="6903720" y="2862072"/>
            <a:ext cx="4709160" cy="685800"/>
          </a:xfrm>
          <a:prstGeom prst="rect">
            <a:avLst/>
          </a:prstGeom>
          <a:noFill/>
          <a:ln/>
        </p:spPr>
        <p:txBody>
          <a:bodyPr wrap="square" lIns="0" tIns="0" rIns="0" bIns="0" rtlCol="0" anchor="ctr"/>
          <a:lstStyle/>
          <a:p>
            <a:pPr indent="0" marL="0">
              <a:buNone/>
            </a:pPr>
            <a:r>
              <a:rPr lang="en-US" sz="1700" b="1" dirty="0">
                <a:solidFill>
                  <a:schemeClr val="accent1"/>
                </a:solidFill>
              </a:rPr>
              <a:t>Nebel</a:t>
            </a:r>
            <a:endParaRPr lang="en-US" sz="1800" dirty="0"/>
          </a:p>
          <a:p>
            <a:pPr indent="0" marL="0">
              <a:buNone/>
            </a:pPr>
            <a:r>
              <a:rPr lang="en-US" sz="1500" dirty="0">
                <a:solidFill>
                  <a:schemeClr val="tx1"/>
                </a:solidFill>
              </a:rPr>
              <a:t>istBegehbar, istZiel nur für Standort und vier Nachbarn</a:t>
            </a:r>
            <a:endParaRPr lang="en-US" sz="1800" dirty="0"/>
          </a:p>
        </p:txBody>
      </p:sp>
      <p:sp>
        <p:nvSpPr>
          <p:cNvPr id="92" name="Icon-Kreis"/>
          <p:cNvSpPr/>
          <p:nvPr/>
        </p:nvSpPr>
        <p:spPr>
          <a:xfrm>
            <a:off x="6172200" y="3675888"/>
            <a:ext cx="566928" cy="566928"/>
          </a:xfrm>
          <a:prstGeom prst="ellipse">
            <a:avLst/>
          </a:prstGeom>
          <a:solidFill>
            <a:schemeClr val="accent1"/>
          </a:solidFill>
          <a:ln/>
        </p:spPr>
      </p:sp>
      <p:pic>
        <p:nvPicPr>
          <p:cNvPr id="93" name="Icon GiCompass" descr="preencoded.png">    </p:cNvPr>
          <p:cNvPicPr>
            <a:picLocks noChangeAspect="1"/>
          </p:cNvPicPr>
          <p:nvPr/>
        </p:nvPicPr>
        <p:blipFill>
          <a:blip r:embed="rId4"/>
          <a:stretch>
            <a:fillRect/>
          </a:stretch>
        </p:blipFill>
        <p:spPr>
          <a:xfrm>
            <a:off x="6296924" y="3800612"/>
            <a:ext cx="317480" cy="317480"/>
          </a:xfrm>
          <a:prstGeom prst="rect">
            <a:avLst/>
          </a:prstGeom>
        </p:spPr>
      </p:pic>
      <p:sp>
        <p:nvSpPr>
          <p:cNvPr id="94" name="Text 88"/>
          <p:cNvSpPr txBox="1"/>
          <p:nvPr/>
        </p:nvSpPr>
        <p:spPr>
          <a:xfrm>
            <a:off x="6903720" y="3630168"/>
            <a:ext cx="4709160" cy="685800"/>
          </a:xfrm>
          <a:prstGeom prst="rect">
            <a:avLst/>
          </a:prstGeom>
          <a:noFill/>
          <a:ln/>
        </p:spPr>
        <p:txBody>
          <a:bodyPr wrap="square" lIns="0" tIns="0" rIns="0" bIns="0" rtlCol="0" anchor="ctr"/>
          <a:lstStyle/>
          <a:p>
            <a:pPr indent="0" marL="0">
              <a:buNone/>
            </a:pPr>
            <a:r>
              <a:rPr lang="en-US" sz="1700" b="1" dirty="0">
                <a:solidFill>
                  <a:schemeClr val="accent1"/>
                </a:solidFill>
              </a:rPr>
              <a:t>Kompass erlaubt</a:t>
            </a:r>
            <a:endParaRPr lang="en-US" sz="1800" dirty="0"/>
          </a:p>
          <a:p>
            <a:pPr indent="0" marL="0">
              <a:buNone/>
            </a:pPr>
            <a:r>
              <a:rPr lang="en-US" sz="1500" dirty="0">
                <a:solidFill>
                  <a:schemeClr val="tx1"/>
                </a:solidFill>
              </a:rPr>
              <a:t>zielZeile(), zielSpalte() zeigen immer zum Ziel</a:t>
            </a:r>
            <a:endParaRPr lang="en-US" sz="1800" dirty="0"/>
          </a:p>
        </p:txBody>
      </p:sp>
      <p:sp>
        <p:nvSpPr>
          <p:cNvPr id="95" name="Icon-Kreis"/>
          <p:cNvSpPr/>
          <p:nvPr/>
        </p:nvSpPr>
        <p:spPr>
          <a:xfrm>
            <a:off x="6172200" y="4443984"/>
            <a:ext cx="566928" cy="566928"/>
          </a:xfrm>
          <a:prstGeom prst="ellipse">
            <a:avLst/>
          </a:prstGeom>
          <a:solidFill>
            <a:schemeClr val="accent2"/>
          </a:solidFill>
          <a:ln/>
        </p:spPr>
      </p:sp>
      <p:pic>
        <p:nvPicPr>
          <p:cNvPr id="96" name="Icon GiTrophy" descr="preencoded.png">    </p:cNvPr>
          <p:cNvPicPr>
            <a:picLocks noChangeAspect="1"/>
          </p:cNvPicPr>
          <p:nvPr/>
        </p:nvPicPr>
        <p:blipFill>
          <a:blip r:embed="rId5"/>
          <a:stretch>
            <a:fillRect/>
          </a:stretch>
        </p:blipFill>
        <p:spPr>
          <a:xfrm>
            <a:off x="6296924" y="4568708"/>
            <a:ext cx="317480" cy="317480"/>
          </a:xfrm>
          <a:prstGeom prst="rect">
            <a:avLst/>
          </a:prstGeom>
        </p:spPr>
      </p:pic>
      <p:sp>
        <p:nvSpPr>
          <p:cNvPr id="97" name="Text 90"/>
          <p:cNvSpPr txBox="1"/>
          <p:nvPr/>
        </p:nvSpPr>
        <p:spPr>
          <a:xfrm>
            <a:off x="6903720" y="4398264"/>
            <a:ext cx="4709160" cy="685800"/>
          </a:xfrm>
          <a:prstGeom prst="rect">
            <a:avLst/>
          </a:prstGeom>
          <a:noFill/>
          <a:ln/>
        </p:spPr>
        <p:txBody>
          <a:bodyPr wrap="square" lIns="0" tIns="0" rIns="0" bIns="0" rtlCol="0" anchor="ctr"/>
          <a:lstStyle/>
          <a:p>
            <a:pPr indent="0" marL="0">
              <a:buNone/>
            </a:pPr>
            <a:r>
              <a:rPr lang="en-US" sz="1700" b="1" dirty="0">
                <a:solidFill>
                  <a:schemeClr val="accent1"/>
                </a:solidFill>
              </a:rPr>
              <a:t>Wertung</a:t>
            </a:r>
            <a:endParaRPr lang="en-US" sz="1800" dirty="0"/>
          </a:p>
          <a:p>
            <a:pPr indent="0" marL="0">
              <a:buNone/>
            </a:pPr>
            <a:r>
              <a:rPr lang="en-US" sz="1500" dirty="0">
                <a:solidFill>
                  <a:schemeClr val="tx1"/>
                </a:solidFill>
              </a:rPr>
              <a:t>Summe der Schritte auf 3 Rennkarten – weniger ist besser</a:t>
            </a:r>
            <a:endParaRPr lang="en-US" sz="1800" dirty="0"/>
          </a:p>
        </p:txBody>
      </p:sp>
      <p:sp>
        <p:nvSpPr>
          <p:cNvPr id="98" name="Verboten"/>
          <p:cNvSpPr/>
          <p:nvPr/>
        </p:nvSpPr>
        <p:spPr>
          <a:xfrm>
            <a:off x="6172200" y="5257800"/>
            <a:ext cx="5440680" cy="868680"/>
          </a:xfrm>
          <a:prstGeom prst="roundRect">
            <a:avLst>
              <a:gd name="adj" fmla="val 12632"/>
            </a:avLst>
          </a:prstGeom>
          <a:solidFill>
            <a:schemeClr val="bg1"/>
          </a:solidFill>
          <a:ln w="25400">
            <a:solidFill>
              <a:schemeClr val="accent4"/>
            </a:solidFill>
            <a:prstDash val="solid"/>
          </a:ln>
        </p:spPr>
      </p:sp>
      <p:sp>
        <p:nvSpPr>
          <p:cNvPr id="99" name="Text 92"/>
          <p:cNvSpPr txBox="1"/>
          <p:nvPr/>
        </p:nvSpPr>
        <p:spPr>
          <a:xfrm>
            <a:off x="6373368" y="5257800"/>
            <a:ext cx="5074920" cy="868680"/>
          </a:xfrm>
          <a:prstGeom prst="rect">
            <a:avLst/>
          </a:prstGeom>
          <a:noFill/>
          <a:ln/>
        </p:spPr>
        <p:txBody>
          <a:bodyPr wrap="square" lIns="0" tIns="0" rIns="0" bIns="0" rtlCol="0" anchor="ctr"/>
          <a:lstStyle/>
          <a:p>
            <a:pPr indent="0" marL="0">
              <a:buNone/>
            </a:pPr>
            <a:r>
              <a:rPr lang="en-US" sz="1500" b="1" dirty="0">
                <a:solidFill>
                  <a:schemeClr val="accent4"/>
                </a:solidFill>
              </a:rPr>
              <a:t>Ungültig: </a:t>
            </a:r>
            <a:pPr indent="0" marL="0">
              <a:buNone/>
            </a:pPr>
            <a:r>
              <a:rPr lang="en-US" sz="1500" dirty="0">
                <a:solidFill>
                  <a:schemeClr val="tx1"/>
                </a:solidFill>
              </a:rPr>
              <a:t>feste Wege für bekannte Karten, Math.random, Rennen verändern, Kontrollkarte nicht gelöst.</a:t>
            </a:r>
            <a:endParaRPr lang="en-US" sz="1500" dirty="0"/>
          </a:p>
        </p:txBody>
      </p:sp>
      <p:sp>
        <p:nvSpPr>
          <p:cNvPr id="100" name="Text 93"/>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20 · Dungeon-Rennen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Vom Konsolen-Ergebnis an die Tafel</a:t>
            </a:r>
            <a:endParaRPr lang="en-US" sz="3600" dirty="0"/>
          </a:p>
        </p:txBody>
      </p:sp>
      <p:graphicFrame>
        <p:nvGraphicFramePr>
          <p:cNvPr id="22" name="Ergebnistabelle Dungeon-Rennen"/>
          <p:cNvGraphicFramePr>
            <a:graphicFrameLocks noGrp="1"/>
          </p:cNvGraphicFramePr>
          <p:nvPr>
            <p:extLst>
              <p:ext uri="{D42A27DB-BD31-4B8C-83A1-F6EECF244321}">
                <p14:modId xmlns:p14="http://schemas.microsoft.com/office/powerpoint/2010/main" val="1579011935"/>
              </p:ext>
            </p:extLst>
          </p:nvPr>
        </p:nvGraphicFramePr>
        <p:xfrm>
          <a:off x="548640" y="1371600"/>
          <a:ext cx="5760720" cy="914400"/>
        </p:xfrm>
        <a:graphic>
          <a:graphicData uri="http://schemas.openxmlformats.org/drawingml/2006/table">
            <a:tbl>
              <a:tblPr/>
              <a:tblGrid>
                <a:gridCol w="1188720"/>
                <a:gridCol w="2377440"/>
                <a:gridCol w="1097280"/>
                <a:gridCol w="1097280"/>
              </a:tblGrid>
              <a:tr h="548640">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Team</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Strategie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Schritte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gültig?</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548640">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Team 1</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48640">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Team 2</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48640">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Team 3</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48640">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Team 4</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48640">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Team 5</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800600"/>
            <a:ext cx="5760720" cy="548640"/>
          </a:xfrm>
          <a:prstGeom prst="rect">
            <a:avLst/>
          </a:prstGeom>
          <a:noFill/>
          <a:ln/>
        </p:spPr>
        <p:txBody>
          <a:bodyPr wrap="square" lIns="0" tIns="0" rIns="0" bIns="0" rtlCol="0" anchor="t"/>
          <a:lstStyle/>
          <a:p>
            <a:pPr indent="0" marL="0">
              <a:buNone/>
            </a:pPr>
            <a:r>
              <a:rPr lang="en-US" sz="1300" i="1" dirty="0">
                <a:solidFill>
                  <a:schemeClr val="accent6"/>
                </a:solidFill>
              </a:rPr>
              <a:t>Ergebnistabelle an der Tafel: gültige Ergebnisse nach Schritten aufsteigend, ungültige markiert am Ende</a:t>
            </a:r>
            <a:endParaRPr lang="en-US" sz="1300" dirty="0"/>
          </a:p>
        </p:txBody>
      </p:sp>
      <p:sp>
        <p:nvSpPr>
          <p:cNvPr id="5" name="Text 2"/>
          <p:cNvSpPr txBox="1"/>
          <p:nvPr/>
        </p:nvSpPr>
        <p:spPr>
          <a:xfrm>
            <a:off x="548640" y="5669280"/>
            <a:ext cx="5760720" cy="457200"/>
          </a:xfrm>
          <a:prstGeom prst="rect">
            <a:avLst/>
          </a:prstGeom>
          <a:noFill/>
          <a:ln/>
        </p:spPr>
        <p:txBody>
          <a:bodyPr wrap="square" lIns="0" tIns="0" rIns="0" bIns="0" rtlCol="0" anchor="t"/>
          <a:lstStyle/>
          <a:p>
            <a:pPr indent="0" marL="0">
              <a:buNone/>
            </a:pPr>
            <a:r>
              <a:rPr lang="en-US" sz="1400" b="1" dirty="0">
                <a:solidFill>
                  <a:schemeClr val="accent1"/>
                </a:solidFill>
              </a:rPr>
              <a:t>Wertung: Summe der Schritte auf den Rennkarten 1–3 · weniger ist besser</a:t>
            </a:r>
            <a:endParaRPr lang="en-US" sz="1400" dirty="0"/>
          </a:p>
        </p:txBody>
      </p:sp>
      <p:sp>
        <p:nvSpPr>
          <p:cNvPr id="6" name="Text 3"/>
          <p:cNvSpPr txBox="1"/>
          <p:nvPr/>
        </p:nvSpPr>
        <p:spPr>
          <a:xfrm>
            <a:off x="6720840" y="1444752"/>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7" name="Text 4"/>
          <p:cNvSpPr txBox="1"/>
          <p:nvPr/>
        </p:nvSpPr>
        <p:spPr>
          <a:xfrm>
            <a:off x="7360920" y="1371600"/>
            <a:ext cx="4251960" cy="777240"/>
          </a:xfrm>
          <a:prstGeom prst="rect">
            <a:avLst/>
          </a:prstGeom>
          <a:noFill/>
          <a:ln/>
        </p:spPr>
        <p:txBody>
          <a:bodyPr wrap="square" lIns="0" tIns="0" rIns="0" bIns="0" rtlCol="0" anchor="t"/>
          <a:lstStyle/>
          <a:p>
            <a:pPr indent="0" marL="0">
              <a:buNone/>
            </a:pPr>
            <a:r>
              <a:rPr lang="en-US" sz="1700" b="1" dirty="0">
                <a:solidFill>
                  <a:schemeClr val="accent1"/>
                </a:solidFill>
              </a:rPr>
              <a:t>Rennen.starten()</a:t>
            </a:r>
            <a:endParaRPr lang="en-US" sz="1700" dirty="0"/>
          </a:p>
          <a:p>
            <a:pPr indent="0" marL="0">
              <a:buNone/>
            </a:pPr>
            <a:r>
              <a:rPr lang="en-US" sz="1500" dirty="0">
                <a:solidFill>
                  <a:schemeClr val="tx1"/>
                </a:solidFill>
              </a:rPr>
              <a:t>3 Rennkarten + 3 Kontrollkarten, am Ende die Ergebniszeile</a:t>
            </a:r>
            <a:endParaRPr lang="en-US" sz="1700" dirty="0"/>
          </a:p>
        </p:txBody>
      </p:sp>
      <p:sp>
        <p:nvSpPr>
          <p:cNvPr id="8" name="Text 5"/>
          <p:cNvSpPr txBox="1"/>
          <p:nvPr/>
        </p:nvSpPr>
        <p:spPr>
          <a:xfrm>
            <a:off x="6720840" y="2313432"/>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9" name="Text 6"/>
          <p:cNvSpPr txBox="1"/>
          <p:nvPr/>
        </p:nvSpPr>
        <p:spPr>
          <a:xfrm>
            <a:off x="7360920" y="2240280"/>
            <a:ext cx="4251960" cy="777240"/>
          </a:xfrm>
          <a:prstGeom prst="rect">
            <a:avLst/>
          </a:prstGeom>
          <a:noFill/>
          <a:ln/>
        </p:spPr>
        <p:txBody>
          <a:bodyPr wrap="square" lIns="0" tIns="0" rIns="0" bIns="0" rtlCol="0" anchor="t"/>
          <a:lstStyle/>
          <a:p>
            <a:pPr indent="0" marL="0">
              <a:buNone/>
            </a:pPr>
            <a:r>
              <a:rPr lang="en-US" sz="1700" b="1" dirty="0">
                <a:solidFill>
                  <a:schemeClr val="accent1"/>
                </a:solidFill>
              </a:rPr>
              <a:t>Ein Ergebnis je Team</a:t>
            </a:r>
            <a:endParaRPr lang="en-US" sz="1700" dirty="0"/>
          </a:p>
          <a:p>
            <a:pPr indent="0" marL="0">
              <a:buNone/>
            </a:pPr>
            <a:r>
              <a:rPr lang="en-US" sz="1500" dirty="0">
                <a:solidFill>
                  <a:schemeClr val="tx1"/>
                </a:solidFill>
              </a:rPr>
              <a:t>das Team entscheidet, welche Version von suche antritt</a:t>
            </a:r>
            <a:endParaRPr lang="en-US" sz="1700" dirty="0"/>
          </a:p>
        </p:txBody>
      </p:sp>
      <p:sp>
        <p:nvSpPr>
          <p:cNvPr id="10" name="Text 7"/>
          <p:cNvSpPr txBox="1"/>
          <p:nvPr/>
        </p:nvSpPr>
        <p:spPr>
          <a:xfrm>
            <a:off x="6720840" y="3182112"/>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1" name="Text 8"/>
          <p:cNvSpPr txBox="1"/>
          <p:nvPr/>
        </p:nvSpPr>
        <p:spPr>
          <a:xfrm>
            <a:off x="7360920" y="3108960"/>
            <a:ext cx="4251960" cy="777240"/>
          </a:xfrm>
          <a:prstGeom prst="rect">
            <a:avLst/>
          </a:prstGeom>
          <a:noFill/>
          <a:ln/>
        </p:spPr>
        <p:txBody>
          <a:bodyPr wrap="square" lIns="0" tIns="0" rIns="0" bIns="0" rtlCol="0" anchor="t"/>
          <a:lstStyle/>
          <a:p>
            <a:pPr indent="0" marL="0">
              <a:buNone/>
            </a:pPr>
            <a:r>
              <a:rPr lang="en-US" sz="1700" b="1" dirty="0">
                <a:solidFill>
                  <a:schemeClr val="accent1"/>
                </a:solidFill>
              </a:rPr>
              <a:t>Eintrag an der Tafel</a:t>
            </a:r>
            <a:endParaRPr lang="en-US" sz="1700" dirty="0"/>
          </a:p>
          <a:p>
            <a:pPr indent="0" marL="0">
              <a:buNone/>
            </a:pPr>
            <a:r>
              <a:rPr lang="en-US" sz="1500" dirty="0">
                <a:solidFill>
                  <a:schemeClr val="tx1"/>
                </a:solidFill>
              </a:rPr>
              <a:t>Schritte und gültig ja/nein – kurzer Blick in den Code</a:t>
            </a:r>
            <a:endParaRPr lang="en-US" sz="1700" dirty="0"/>
          </a:p>
        </p:txBody>
      </p:sp>
      <p:sp>
        <p:nvSpPr>
          <p:cNvPr id="12" name="Text 9"/>
          <p:cNvSpPr txBox="1"/>
          <p:nvPr/>
        </p:nvSpPr>
        <p:spPr>
          <a:xfrm>
            <a:off x="6720840" y="4050792"/>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3" name="Text 10"/>
          <p:cNvSpPr txBox="1"/>
          <p:nvPr/>
        </p:nvSpPr>
        <p:spPr>
          <a:xfrm>
            <a:off x="7360920" y="3977640"/>
            <a:ext cx="4251960" cy="777240"/>
          </a:xfrm>
          <a:prstGeom prst="rect">
            <a:avLst/>
          </a:prstGeom>
          <a:noFill/>
          <a:ln/>
        </p:spPr>
        <p:txBody>
          <a:bodyPr wrap="square" lIns="0" tIns="0" rIns="0" bIns="0" rtlCol="0" anchor="t"/>
          <a:lstStyle/>
          <a:p>
            <a:pPr indent="0" marL="0">
              <a:buNone/>
            </a:pPr>
            <a:r>
              <a:rPr lang="en-US" sz="1700" b="1" dirty="0">
                <a:solidFill>
                  <a:schemeClr val="accent1"/>
                </a:solidFill>
              </a:rPr>
              <a:t>Strategie vorstellen</a:t>
            </a:r>
            <a:endParaRPr lang="en-US" sz="1700" dirty="0"/>
          </a:p>
          <a:p>
            <a:pPr indent="0" marL="0">
              <a:buNone/>
            </a:pPr>
            <a:r>
              <a:rPr lang="en-US" sz="1500" dirty="0">
                <a:solidFill>
                  <a:schemeClr val="tx1"/>
                </a:solidFill>
              </a:rPr>
              <a:t>Warum weniger Schritte – und auf welcher Karte Pech?</a:t>
            </a:r>
            <a:endParaRPr lang="en-US" sz="1700" dirty="0"/>
          </a:p>
        </p:txBody>
      </p:sp>
      <p:sp>
        <p:nvSpPr>
          <p:cNvPr id="14" name="Team-Wettbewerb"/>
          <p:cNvSpPr/>
          <p:nvPr/>
        </p:nvSpPr>
        <p:spPr>
          <a:xfrm>
            <a:off x="6720840" y="4983480"/>
            <a:ext cx="4892040" cy="1143000"/>
          </a:xfrm>
          <a:prstGeom prst="roundRect">
            <a:avLst>
              <a:gd name="adj" fmla="val 9600"/>
            </a:avLst>
          </a:prstGeom>
          <a:solidFill>
            <a:schemeClr val="accent1"/>
          </a:solidFill>
          <a:ln/>
          <a:effectLst>
            <a:outerShdw sx="100000" sy="100000" kx="0" ky="0" algn="bl" rotWithShape="0" blurRad="76200" dist="25400" dir="5400000">
              <a:srgbClr val="000000">
                <a:alpha val="18000"/>
              </a:srgbClr>
            </a:outerShdw>
          </a:effectLst>
        </p:spPr>
      </p:sp>
      <p:sp>
        <p:nvSpPr>
          <p:cNvPr id="15" name="Icon-Kreis"/>
          <p:cNvSpPr/>
          <p:nvPr/>
        </p:nvSpPr>
        <p:spPr>
          <a:xfrm>
            <a:off x="6903720" y="5120640"/>
            <a:ext cx="868680" cy="868680"/>
          </a:xfrm>
          <a:prstGeom prst="ellipse">
            <a:avLst/>
          </a:prstGeom>
          <a:solidFill>
            <a:schemeClr val="accent2"/>
          </a:solidFill>
          <a:ln/>
        </p:spPr>
      </p:sp>
      <p:pic>
        <p:nvPicPr>
          <p:cNvPr id="16" name="Icon GiMagicSwirl" descr="preencoded.png">    </p:cNvPr>
          <p:cNvPicPr>
            <a:picLocks noChangeAspect="1"/>
          </p:cNvPicPr>
          <p:nvPr/>
        </p:nvPicPr>
        <p:blipFill>
          <a:blip r:embed="rId1"/>
          <a:stretch>
            <a:fillRect/>
          </a:stretch>
        </p:blipFill>
        <p:spPr>
          <a:xfrm>
            <a:off x="7094830" y="5311750"/>
            <a:ext cx="486461" cy="486461"/>
          </a:xfrm>
          <a:prstGeom prst="rect">
            <a:avLst/>
          </a:prstGeom>
        </p:spPr>
      </p:pic>
      <p:sp>
        <p:nvSpPr>
          <p:cNvPr id="17" name="Text 13"/>
          <p:cNvSpPr txBox="1"/>
          <p:nvPr/>
        </p:nvSpPr>
        <p:spPr>
          <a:xfrm>
            <a:off x="7955280" y="4983480"/>
            <a:ext cx="3566160" cy="1143000"/>
          </a:xfrm>
          <a:prstGeom prst="rect">
            <a:avLst/>
          </a:prstGeom>
          <a:noFill/>
          <a:ln/>
        </p:spPr>
        <p:txBody>
          <a:bodyPr wrap="square" lIns="0" tIns="0" rIns="0" bIns="0" rtlCol="0" anchor="ctr"/>
          <a:lstStyle/>
          <a:p>
            <a:pPr indent="0" marL="0">
              <a:buNone/>
            </a:pPr>
            <a:r>
              <a:rPr lang="en-US" sz="2000" b="1" dirty="0">
                <a:solidFill>
                  <a:schemeClr val="accent2"/>
                </a:solidFill>
              </a:rPr>
              <a:t>Team-Wettbewerb im Unterricht</a:t>
            </a:r>
            <a:endParaRPr lang="en-US" sz="1800" dirty="0"/>
          </a:p>
          <a:p>
            <a:pPr indent="0" marL="0">
              <a:buNone/>
            </a:pPr>
            <a:r>
              <a:rPr lang="en-US" sz="1500" dirty="0">
                <a:solidFill>
                  <a:schemeClr val="bg1"/>
                </a:solidFill>
              </a:rPr>
              <a:t>ohne Lab-Wertung – es zählt die beste Strategie</a:t>
            </a:r>
            <a:endParaRPr lang="en-US" sz="1800" dirty="0"/>
          </a:p>
        </p:txBody>
      </p:sp>
      <p:sp>
        <p:nvSpPr>
          <p:cNvPr id="18" name="Text 14"/>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20 · Dungeon-Rennen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Teile und herrsche</a:t>
            </a:r>
            <a:endParaRPr lang="en-US" sz="3600" dirty="0"/>
          </a:p>
        </p:txBody>
      </p:sp>
      <p:sp>
        <p:nvSpPr>
          <p:cNvPr id="3" name="TEILEN"/>
          <p:cNvSpPr/>
          <p:nvPr/>
        </p:nvSpPr>
        <p:spPr>
          <a:xfrm>
            <a:off x="548640" y="1325880"/>
            <a:ext cx="3566160" cy="1234440"/>
          </a:xfrm>
          <a:prstGeom prst="roundRect">
            <a:avLst>
              <a:gd name="adj" fmla="val 8889"/>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4" name="Icon-Kreis"/>
          <p:cNvSpPr/>
          <p:nvPr/>
        </p:nvSpPr>
        <p:spPr>
          <a:xfrm>
            <a:off x="685800" y="1508760"/>
            <a:ext cx="731520" cy="731520"/>
          </a:xfrm>
          <a:prstGeom prst="ellipse">
            <a:avLst/>
          </a:prstGeom>
          <a:solidFill>
            <a:schemeClr val="accent1"/>
          </a:solidFill>
          <a:ln/>
        </p:spPr>
      </p:sp>
      <p:pic>
        <p:nvPicPr>
          <p:cNvPr id="5" name="Icon GiSplitArrows" descr="preencoded.png">    </p:cNvPr>
          <p:cNvPicPr>
            <a:picLocks noChangeAspect="1"/>
          </p:cNvPicPr>
          <p:nvPr/>
        </p:nvPicPr>
        <p:blipFill>
          <a:blip r:embed="rId1"/>
          <a:stretch>
            <a:fillRect/>
          </a:stretch>
        </p:blipFill>
        <p:spPr>
          <a:xfrm>
            <a:off x="846734" y="1669694"/>
            <a:ext cx="409651" cy="409651"/>
          </a:xfrm>
          <a:prstGeom prst="rect">
            <a:avLst/>
          </a:prstGeom>
        </p:spPr>
      </p:pic>
      <p:sp>
        <p:nvSpPr>
          <p:cNvPr id="6" name="Text 3"/>
          <p:cNvSpPr txBox="1"/>
          <p:nvPr/>
        </p:nvSpPr>
        <p:spPr>
          <a:xfrm>
            <a:off x="1554480" y="1371600"/>
            <a:ext cx="2468880" cy="1143000"/>
          </a:xfrm>
          <a:prstGeom prst="rect">
            <a:avLst/>
          </a:prstGeom>
          <a:noFill/>
          <a:ln/>
        </p:spPr>
        <p:txBody>
          <a:bodyPr wrap="square" lIns="0" tIns="0" rIns="0" bIns="0" rtlCol="0" anchor="ctr"/>
          <a:lstStyle/>
          <a:p>
            <a:pPr indent="0" marL="0">
              <a:buNone/>
            </a:pPr>
            <a:r>
              <a:rPr lang="en-US" sz="1800" b="1" dirty="0">
                <a:solidFill>
                  <a:schemeClr val="accent1"/>
                </a:solidFill>
              </a:rPr>
              <a:t>TEILEN</a:t>
            </a:r>
            <a:endParaRPr lang="en-US" sz="1800" dirty="0"/>
          </a:p>
          <a:p>
            <a:pPr indent="0" marL="0">
              <a:buNone/>
            </a:pPr>
            <a:r>
              <a:rPr lang="en-US" sz="1400" dirty="0">
                <a:solidFill>
                  <a:schemeClr val="tx1"/>
                </a:solidFill>
              </a:rPr>
              <a:t>Problem in kleinere Teilprobleme derselben Art zerlegen – meist halbieren</a:t>
            </a:r>
            <a:endParaRPr lang="en-US" sz="1800" dirty="0"/>
          </a:p>
        </p:txBody>
      </p:sp>
      <p:sp>
        <p:nvSpPr>
          <p:cNvPr id="7" name="HERRSCHEN"/>
          <p:cNvSpPr/>
          <p:nvPr/>
        </p:nvSpPr>
        <p:spPr>
          <a:xfrm>
            <a:off x="4297680" y="1325880"/>
            <a:ext cx="3566160" cy="1234440"/>
          </a:xfrm>
          <a:prstGeom prst="roundRect">
            <a:avLst>
              <a:gd name="adj" fmla="val 8889"/>
            </a:avLst>
          </a:prstGeom>
          <a:solidFill>
            <a:schemeClr val="accent1"/>
          </a:solidFill>
          <a:ln/>
          <a:effectLst>
            <a:outerShdw sx="100000" sy="100000" kx="0" ky="0" algn="bl" rotWithShape="0" blurRad="76200" dist="25400" dir="5400000">
              <a:srgbClr val="000000">
                <a:alpha val="18000"/>
              </a:srgbClr>
            </a:outerShdw>
          </a:effectLst>
        </p:spPr>
      </p:sp>
      <p:sp>
        <p:nvSpPr>
          <p:cNvPr id="8" name="Icon-Kreis"/>
          <p:cNvSpPr/>
          <p:nvPr/>
        </p:nvSpPr>
        <p:spPr>
          <a:xfrm>
            <a:off x="4434840" y="1508760"/>
            <a:ext cx="731520" cy="731520"/>
          </a:xfrm>
          <a:prstGeom prst="ellipse">
            <a:avLst/>
          </a:prstGeom>
          <a:solidFill>
            <a:schemeClr val="accent2"/>
          </a:solidFill>
          <a:ln/>
        </p:spPr>
      </p:sp>
      <p:pic>
        <p:nvPicPr>
          <p:cNvPr id="9" name="Icon GiCrossedSwords" descr="preencoded.png">    </p:cNvPr>
          <p:cNvPicPr>
            <a:picLocks noChangeAspect="1"/>
          </p:cNvPicPr>
          <p:nvPr/>
        </p:nvPicPr>
        <p:blipFill>
          <a:blip r:embed="rId2"/>
          <a:stretch>
            <a:fillRect/>
          </a:stretch>
        </p:blipFill>
        <p:spPr>
          <a:xfrm>
            <a:off x="4595774" y="1669694"/>
            <a:ext cx="409651" cy="409651"/>
          </a:xfrm>
          <a:prstGeom prst="rect">
            <a:avLst/>
          </a:prstGeom>
        </p:spPr>
      </p:pic>
      <p:sp>
        <p:nvSpPr>
          <p:cNvPr id="10" name="Text 6"/>
          <p:cNvSpPr txBox="1"/>
          <p:nvPr/>
        </p:nvSpPr>
        <p:spPr>
          <a:xfrm>
            <a:off x="5303520" y="1371600"/>
            <a:ext cx="2468880" cy="1143000"/>
          </a:xfrm>
          <a:prstGeom prst="rect">
            <a:avLst/>
          </a:prstGeom>
          <a:noFill/>
          <a:ln/>
        </p:spPr>
        <p:txBody>
          <a:bodyPr wrap="square" lIns="0" tIns="0" rIns="0" bIns="0" rtlCol="0" anchor="ctr"/>
          <a:lstStyle/>
          <a:p>
            <a:pPr indent="0" marL="0">
              <a:buNone/>
            </a:pPr>
            <a:r>
              <a:rPr lang="en-US" sz="1800" b="1" dirty="0">
                <a:solidFill>
                  <a:schemeClr val="accent2"/>
                </a:solidFill>
              </a:rPr>
              <a:t>HERRSCHEN</a:t>
            </a:r>
            <a:endParaRPr lang="en-US" sz="1800" dirty="0"/>
          </a:p>
          <a:p>
            <a:pPr indent="0" marL="0">
              <a:buNone/>
            </a:pPr>
            <a:r>
              <a:rPr lang="en-US" sz="1400" dirty="0">
                <a:solidFill>
                  <a:schemeClr val="bg1"/>
                </a:solidFill>
              </a:rPr>
              <a:t>Teilprobleme rekursiv lösen – ganz kleine direkt (Basisfall)</a:t>
            </a:r>
            <a:endParaRPr lang="en-US" sz="1800" dirty="0"/>
          </a:p>
        </p:txBody>
      </p:sp>
      <p:sp>
        <p:nvSpPr>
          <p:cNvPr id="11" name="VERBINDEN"/>
          <p:cNvSpPr/>
          <p:nvPr/>
        </p:nvSpPr>
        <p:spPr>
          <a:xfrm>
            <a:off x="8046720" y="1325880"/>
            <a:ext cx="3566160" cy="1234440"/>
          </a:xfrm>
          <a:prstGeom prst="roundRect">
            <a:avLst>
              <a:gd name="adj" fmla="val 8889"/>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12" name="Icon-Kreis"/>
          <p:cNvSpPr/>
          <p:nvPr/>
        </p:nvSpPr>
        <p:spPr>
          <a:xfrm>
            <a:off x="8183880" y="1508760"/>
            <a:ext cx="731520" cy="731520"/>
          </a:xfrm>
          <a:prstGeom prst="ellipse">
            <a:avLst/>
          </a:prstGeom>
          <a:solidFill>
            <a:schemeClr val="accent1"/>
          </a:solidFill>
          <a:ln/>
        </p:spPr>
      </p:sp>
      <p:pic>
        <p:nvPicPr>
          <p:cNvPr id="13" name="Icon GiPuzzle" descr="preencoded.png">    </p:cNvPr>
          <p:cNvPicPr>
            <a:picLocks noChangeAspect="1"/>
          </p:cNvPicPr>
          <p:nvPr/>
        </p:nvPicPr>
        <p:blipFill>
          <a:blip r:embed="rId3"/>
          <a:stretch>
            <a:fillRect/>
          </a:stretch>
        </p:blipFill>
        <p:spPr>
          <a:xfrm>
            <a:off x="8344814" y="1669694"/>
            <a:ext cx="409651" cy="409651"/>
          </a:xfrm>
          <a:prstGeom prst="rect">
            <a:avLst/>
          </a:prstGeom>
        </p:spPr>
      </p:pic>
      <p:sp>
        <p:nvSpPr>
          <p:cNvPr id="14" name="Text 9"/>
          <p:cNvSpPr txBox="1"/>
          <p:nvPr/>
        </p:nvSpPr>
        <p:spPr>
          <a:xfrm>
            <a:off x="9052560" y="1371600"/>
            <a:ext cx="2468880" cy="1143000"/>
          </a:xfrm>
          <a:prstGeom prst="rect">
            <a:avLst/>
          </a:prstGeom>
          <a:noFill/>
          <a:ln/>
        </p:spPr>
        <p:txBody>
          <a:bodyPr wrap="square" lIns="0" tIns="0" rIns="0" bIns="0" rtlCol="0" anchor="ctr"/>
          <a:lstStyle/>
          <a:p>
            <a:pPr indent="0" marL="0">
              <a:buNone/>
            </a:pPr>
            <a:r>
              <a:rPr lang="en-US" sz="1800" b="1" dirty="0">
                <a:solidFill>
                  <a:schemeClr val="accent1"/>
                </a:solidFill>
              </a:rPr>
              <a:t>VERBINDEN</a:t>
            </a:r>
            <a:endParaRPr lang="en-US" sz="1800" dirty="0"/>
          </a:p>
          <a:p>
            <a:pPr indent="0" marL="0">
              <a:buNone/>
            </a:pPr>
            <a:r>
              <a:rPr lang="en-US" sz="1400" dirty="0">
                <a:solidFill>
                  <a:schemeClr val="tx1"/>
                </a:solidFill>
              </a:rPr>
              <a:t>Teillösungen zum Gesamtergebnis zusammensetzen</a:t>
            </a:r>
            <a:endParaRPr lang="en-US" sz="1800" dirty="0"/>
          </a:p>
        </p:txBody>
      </p:sp>
      <p:sp>
        <p:nvSpPr>
          <p:cNvPr id="15" name="Text 10"/>
          <p:cNvSpPr txBox="1"/>
          <p:nvPr/>
        </p:nvSpPr>
        <p:spPr>
          <a:xfrm>
            <a:off x="548640" y="2743200"/>
            <a:ext cx="6400800" cy="347472"/>
          </a:xfrm>
          <a:prstGeom prst="rect">
            <a:avLst/>
          </a:prstGeom>
          <a:noFill/>
          <a:ln/>
        </p:spPr>
        <p:txBody>
          <a:bodyPr wrap="square" lIns="0" tIns="0" rIns="0" bIns="0" rtlCol="0" anchor="t"/>
          <a:lstStyle/>
          <a:p>
            <a:pPr indent="0" marL="0">
              <a:buNone/>
            </a:pPr>
            <a:r>
              <a:rPr lang="en-US" sz="1700" b="1" dirty="0">
                <a:solidFill>
                  <a:schemeClr val="accent1"/>
                </a:solidFill>
                <a:latin typeface="Consolas" pitchFamily="34" charset="0"/>
                <a:ea typeface="Consolas" pitchFamily="34" charset="-122"/>
                <a:cs typeface="Consolas" pitchFamily="34" charset="-120"/>
              </a:rPr>
              <a:t>maximumTH(r, 0, 4)</a:t>
            </a:r>
            <a:pPr indent="0" marL="0">
              <a:buNone/>
            </a:pPr>
            <a:r>
              <a:rPr lang="en-US" sz="1700" dirty="0">
                <a:solidFill>
                  <a:schemeClr val="tx1"/>
                </a:solidFill>
              </a:rPr>
              <a:t>  mit r = {4, 9, 2, 7, 1}</a:t>
            </a:r>
            <a:endParaRPr lang="en-US" sz="1700" dirty="0"/>
          </a:p>
        </p:txBody>
      </p:sp>
      <p:sp>
        <p:nvSpPr>
          <p:cNvPr id="16" name="Kante"/>
          <p:cNvSpPr/>
          <p:nvPr/>
        </p:nvSpPr>
        <p:spPr>
          <a:xfrm flipH="1">
            <a:off x="1188720" y="5138928"/>
            <a:ext cx="640080" cy="310896"/>
          </a:xfrm>
          <a:prstGeom prst="line">
            <a:avLst/>
          </a:prstGeom>
          <a:noFill/>
          <a:ln w="19050">
            <a:solidFill>
              <a:srgbClr val="A6A6A6"/>
            </a:solidFill>
            <a:prstDash val="solid"/>
          </a:ln>
        </p:spPr>
      </p:sp>
      <p:sp>
        <p:nvSpPr>
          <p:cNvPr id="17" name="Kante"/>
          <p:cNvSpPr/>
          <p:nvPr/>
        </p:nvSpPr>
        <p:spPr>
          <a:xfrm>
            <a:off x="1828800" y="5138928"/>
            <a:ext cx="640080" cy="310896"/>
          </a:xfrm>
          <a:prstGeom prst="line">
            <a:avLst/>
          </a:prstGeom>
          <a:noFill/>
          <a:ln w="19050">
            <a:solidFill>
              <a:srgbClr val="A6A6A6"/>
            </a:solidFill>
            <a:prstDash val="solid"/>
          </a:ln>
        </p:spPr>
      </p:sp>
      <p:sp>
        <p:nvSpPr>
          <p:cNvPr id="18" name="Kante"/>
          <p:cNvSpPr/>
          <p:nvPr/>
        </p:nvSpPr>
        <p:spPr>
          <a:xfrm flipH="1">
            <a:off x="1828800" y="4389120"/>
            <a:ext cx="960120" cy="310896"/>
          </a:xfrm>
          <a:prstGeom prst="line">
            <a:avLst/>
          </a:prstGeom>
          <a:noFill/>
          <a:ln w="19050">
            <a:solidFill>
              <a:srgbClr val="A6A6A6"/>
            </a:solidFill>
            <a:prstDash val="solid"/>
          </a:ln>
        </p:spPr>
      </p:sp>
      <p:sp>
        <p:nvSpPr>
          <p:cNvPr id="19" name="Kante"/>
          <p:cNvSpPr/>
          <p:nvPr/>
        </p:nvSpPr>
        <p:spPr>
          <a:xfrm>
            <a:off x="2788920" y="4389120"/>
            <a:ext cx="960120" cy="310896"/>
          </a:xfrm>
          <a:prstGeom prst="line">
            <a:avLst/>
          </a:prstGeom>
          <a:noFill/>
          <a:ln w="19050">
            <a:solidFill>
              <a:srgbClr val="A6A6A6"/>
            </a:solidFill>
            <a:prstDash val="solid"/>
          </a:ln>
        </p:spPr>
      </p:sp>
      <p:sp>
        <p:nvSpPr>
          <p:cNvPr id="20" name="Kante"/>
          <p:cNvSpPr/>
          <p:nvPr/>
        </p:nvSpPr>
        <p:spPr>
          <a:xfrm flipH="1">
            <a:off x="5029200" y="4389120"/>
            <a:ext cx="640080" cy="310896"/>
          </a:xfrm>
          <a:prstGeom prst="line">
            <a:avLst/>
          </a:prstGeom>
          <a:noFill/>
          <a:ln w="19050">
            <a:solidFill>
              <a:srgbClr val="A6A6A6"/>
            </a:solidFill>
            <a:prstDash val="solid"/>
          </a:ln>
        </p:spPr>
      </p:sp>
      <p:sp>
        <p:nvSpPr>
          <p:cNvPr id="21" name="Kante"/>
          <p:cNvSpPr/>
          <p:nvPr/>
        </p:nvSpPr>
        <p:spPr>
          <a:xfrm>
            <a:off x="5669280" y="4389120"/>
            <a:ext cx="640080" cy="310896"/>
          </a:xfrm>
          <a:prstGeom prst="line">
            <a:avLst/>
          </a:prstGeom>
          <a:noFill/>
          <a:ln w="19050">
            <a:solidFill>
              <a:srgbClr val="A6A6A6"/>
            </a:solidFill>
            <a:prstDash val="solid"/>
          </a:ln>
        </p:spPr>
      </p:sp>
      <p:sp>
        <p:nvSpPr>
          <p:cNvPr id="22" name="Kante"/>
          <p:cNvSpPr/>
          <p:nvPr/>
        </p:nvSpPr>
        <p:spPr>
          <a:xfrm flipH="1">
            <a:off x="2788920" y="3639312"/>
            <a:ext cx="1440180" cy="310896"/>
          </a:xfrm>
          <a:prstGeom prst="line">
            <a:avLst/>
          </a:prstGeom>
          <a:noFill/>
          <a:ln w="19050">
            <a:solidFill>
              <a:srgbClr val="A6A6A6"/>
            </a:solidFill>
            <a:prstDash val="solid"/>
          </a:ln>
        </p:spPr>
      </p:sp>
      <p:sp>
        <p:nvSpPr>
          <p:cNvPr id="23" name="Kante"/>
          <p:cNvSpPr/>
          <p:nvPr/>
        </p:nvSpPr>
        <p:spPr>
          <a:xfrm>
            <a:off x="4229100" y="3639312"/>
            <a:ext cx="1440180" cy="310896"/>
          </a:xfrm>
          <a:prstGeom prst="line">
            <a:avLst/>
          </a:prstGeom>
          <a:noFill/>
          <a:ln w="19050">
            <a:solidFill>
              <a:srgbClr val="A6A6A6"/>
            </a:solidFill>
            <a:prstDash val="solid"/>
          </a:ln>
        </p:spPr>
      </p:sp>
      <p:sp>
        <p:nvSpPr>
          <p:cNvPr id="24" name="Teilbereich 0-0"/>
          <p:cNvSpPr txBox="1"/>
          <p:nvPr/>
        </p:nvSpPr>
        <p:spPr>
          <a:xfrm>
            <a:off x="640080" y="5449824"/>
            <a:ext cx="1097280" cy="438912"/>
          </a:xfrm>
          <a:prstGeom prst="roundRect">
            <a:avLst>
              <a:gd name="adj" fmla="val 12500"/>
            </a:avLst>
          </a:prstGeom>
          <a:solidFill>
            <a:srgbClr val="E2EFDA"/>
          </a:solidFill>
          <a:ln w="19050">
            <a:solidFill>
              <a:schemeClr val="accent3"/>
            </a:solidFill>
          </a:ln>
        </p:spPr>
        <p:txBody>
          <a:bodyPr wrap="square" lIns="0" tIns="0" rIns="0" bIns="0" rtlCol="0" anchor="ctr"/>
          <a:lstStyle/>
          <a:p>
            <a:pPr algn="ctr" indent="0" marL="0">
              <a:buNone/>
            </a:pPr>
            <a:r>
              <a:rPr lang="en-US" sz="1200" b="1" dirty="0">
                <a:solidFill>
                  <a:schemeClr val="accent3"/>
                </a:solidFill>
                <a:latin typeface="Consolas" pitchFamily="34" charset="0"/>
                <a:ea typeface="Consolas" pitchFamily="34" charset="-122"/>
                <a:cs typeface="Consolas" pitchFamily="34" charset="-120"/>
              </a:rPr>
              <a:t>(0, 0) → 4</a:t>
            </a:r>
            <a:endParaRPr lang="en-US" sz="1200" dirty="0"/>
          </a:p>
        </p:txBody>
      </p:sp>
      <p:sp>
        <p:nvSpPr>
          <p:cNvPr id="25" name="Teilbereich 1-1"/>
          <p:cNvSpPr txBox="1"/>
          <p:nvPr/>
        </p:nvSpPr>
        <p:spPr>
          <a:xfrm>
            <a:off x="1920240" y="5449824"/>
            <a:ext cx="1097280" cy="438912"/>
          </a:xfrm>
          <a:prstGeom prst="roundRect">
            <a:avLst>
              <a:gd name="adj" fmla="val 12500"/>
            </a:avLst>
          </a:prstGeom>
          <a:solidFill>
            <a:srgbClr val="E2EFDA"/>
          </a:solidFill>
          <a:ln w="19050">
            <a:solidFill>
              <a:schemeClr val="accent3"/>
            </a:solidFill>
          </a:ln>
        </p:spPr>
        <p:txBody>
          <a:bodyPr wrap="square" lIns="0" tIns="0" rIns="0" bIns="0" rtlCol="0" anchor="ctr"/>
          <a:lstStyle/>
          <a:p>
            <a:pPr algn="ctr" indent="0" marL="0">
              <a:buNone/>
            </a:pPr>
            <a:r>
              <a:rPr lang="en-US" sz="1200" b="1" dirty="0">
                <a:solidFill>
                  <a:schemeClr val="accent3"/>
                </a:solidFill>
                <a:latin typeface="Consolas" pitchFamily="34" charset="0"/>
                <a:ea typeface="Consolas" pitchFamily="34" charset="-122"/>
                <a:cs typeface="Consolas" pitchFamily="34" charset="-120"/>
              </a:rPr>
              <a:t>(1, 1) → 9</a:t>
            </a:r>
            <a:endParaRPr lang="en-US" sz="1200" dirty="0"/>
          </a:p>
        </p:txBody>
      </p:sp>
      <p:sp>
        <p:nvSpPr>
          <p:cNvPr id="26" name="Teilbereich 0-1"/>
          <p:cNvSpPr txBox="1"/>
          <p:nvPr/>
        </p:nvSpPr>
        <p:spPr>
          <a:xfrm>
            <a:off x="1280160" y="4700016"/>
            <a:ext cx="1097280" cy="438912"/>
          </a:xfrm>
          <a:prstGeom prst="roundRect">
            <a:avLst>
              <a:gd name="adj" fmla="val 12500"/>
            </a:avLst>
          </a:prstGeom>
          <a:solidFill>
            <a:schemeClr val="bg1"/>
          </a:solidFill>
          <a:ln w="19050">
            <a:solidFill>
              <a:schemeClr val="accent1"/>
            </a:solid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(0, 1) → 9</a:t>
            </a:r>
            <a:endParaRPr lang="en-US" sz="1200" dirty="0"/>
          </a:p>
        </p:txBody>
      </p:sp>
      <p:sp>
        <p:nvSpPr>
          <p:cNvPr id="27" name="Teilbereich 2-2"/>
          <p:cNvSpPr txBox="1"/>
          <p:nvPr/>
        </p:nvSpPr>
        <p:spPr>
          <a:xfrm>
            <a:off x="3200400" y="4700016"/>
            <a:ext cx="1097280" cy="438912"/>
          </a:xfrm>
          <a:prstGeom prst="roundRect">
            <a:avLst>
              <a:gd name="adj" fmla="val 12500"/>
            </a:avLst>
          </a:prstGeom>
          <a:solidFill>
            <a:srgbClr val="E2EFDA"/>
          </a:solidFill>
          <a:ln w="19050">
            <a:solidFill>
              <a:schemeClr val="accent3"/>
            </a:solidFill>
          </a:ln>
        </p:spPr>
        <p:txBody>
          <a:bodyPr wrap="square" lIns="0" tIns="0" rIns="0" bIns="0" rtlCol="0" anchor="ctr"/>
          <a:lstStyle/>
          <a:p>
            <a:pPr algn="ctr" indent="0" marL="0">
              <a:buNone/>
            </a:pPr>
            <a:r>
              <a:rPr lang="en-US" sz="1200" b="1" dirty="0">
                <a:solidFill>
                  <a:schemeClr val="accent3"/>
                </a:solidFill>
                <a:latin typeface="Consolas" pitchFamily="34" charset="0"/>
                <a:ea typeface="Consolas" pitchFamily="34" charset="-122"/>
                <a:cs typeface="Consolas" pitchFamily="34" charset="-120"/>
              </a:rPr>
              <a:t>(2, 2) → 2</a:t>
            </a:r>
            <a:endParaRPr lang="en-US" sz="1200" dirty="0"/>
          </a:p>
        </p:txBody>
      </p:sp>
      <p:sp>
        <p:nvSpPr>
          <p:cNvPr id="28" name="Teilbereich 0-2"/>
          <p:cNvSpPr txBox="1"/>
          <p:nvPr/>
        </p:nvSpPr>
        <p:spPr>
          <a:xfrm>
            <a:off x="2240280" y="3950208"/>
            <a:ext cx="1097280" cy="438912"/>
          </a:xfrm>
          <a:prstGeom prst="roundRect">
            <a:avLst>
              <a:gd name="adj" fmla="val 12500"/>
            </a:avLst>
          </a:prstGeom>
          <a:solidFill>
            <a:schemeClr val="bg1"/>
          </a:solidFill>
          <a:ln w="19050">
            <a:solidFill>
              <a:schemeClr val="accent1"/>
            </a:solid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(0, 2) → 9</a:t>
            </a:r>
            <a:endParaRPr lang="en-US" sz="1200" dirty="0"/>
          </a:p>
        </p:txBody>
      </p:sp>
      <p:sp>
        <p:nvSpPr>
          <p:cNvPr id="29" name="Teilbereich 3-3"/>
          <p:cNvSpPr txBox="1"/>
          <p:nvPr/>
        </p:nvSpPr>
        <p:spPr>
          <a:xfrm>
            <a:off x="4480560" y="4700016"/>
            <a:ext cx="1097280" cy="438912"/>
          </a:xfrm>
          <a:prstGeom prst="roundRect">
            <a:avLst>
              <a:gd name="adj" fmla="val 12500"/>
            </a:avLst>
          </a:prstGeom>
          <a:solidFill>
            <a:srgbClr val="E2EFDA"/>
          </a:solidFill>
          <a:ln w="19050">
            <a:solidFill>
              <a:schemeClr val="accent3"/>
            </a:solidFill>
          </a:ln>
        </p:spPr>
        <p:txBody>
          <a:bodyPr wrap="square" lIns="0" tIns="0" rIns="0" bIns="0" rtlCol="0" anchor="ctr"/>
          <a:lstStyle/>
          <a:p>
            <a:pPr algn="ctr" indent="0" marL="0">
              <a:buNone/>
            </a:pPr>
            <a:r>
              <a:rPr lang="en-US" sz="1200" b="1" dirty="0">
                <a:solidFill>
                  <a:schemeClr val="accent3"/>
                </a:solidFill>
                <a:latin typeface="Consolas" pitchFamily="34" charset="0"/>
                <a:ea typeface="Consolas" pitchFamily="34" charset="-122"/>
                <a:cs typeface="Consolas" pitchFamily="34" charset="-120"/>
              </a:rPr>
              <a:t>(3, 3) → 7</a:t>
            </a:r>
            <a:endParaRPr lang="en-US" sz="1200" dirty="0"/>
          </a:p>
        </p:txBody>
      </p:sp>
      <p:sp>
        <p:nvSpPr>
          <p:cNvPr id="30" name="Teilbereich 4-4"/>
          <p:cNvSpPr txBox="1"/>
          <p:nvPr/>
        </p:nvSpPr>
        <p:spPr>
          <a:xfrm>
            <a:off x="5760720" y="4700016"/>
            <a:ext cx="1097280" cy="438912"/>
          </a:xfrm>
          <a:prstGeom prst="roundRect">
            <a:avLst>
              <a:gd name="adj" fmla="val 12500"/>
            </a:avLst>
          </a:prstGeom>
          <a:solidFill>
            <a:srgbClr val="E2EFDA"/>
          </a:solidFill>
          <a:ln w="19050">
            <a:solidFill>
              <a:schemeClr val="accent3"/>
            </a:solidFill>
          </a:ln>
        </p:spPr>
        <p:txBody>
          <a:bodyPr wrap="square" lIns="0" tIns="0" rIns="0" bIns="0" rtlCol="0" anchor="ctr"/>
          <a:lstStyle/>
          <a:p>
            <a:pPr algn="ctr" indent="0" marL="0">
              <a:buNone/>
            </a:pPr>
            <a:r>
              <a:rPr lang="en-US" sz="1200" b="1" dirty="0">
                <a:solidFill>
                  <a:schemeClr val="accent3"/>
                </a:solidFill>
                <a:latin typeface="Consolas" pitchFamily="34" charset="0"/>
                <a:ea typeface="Consolas" pitchFamily="34" charset="-122"/>
                <a:cs typeface="Consolas" pitchFamily="34" charset="-120"/>
              </a:rPr>
              <a:t>(4, 4) → 1</a:t>
            </a:r>
            <a:endParaRPr lang="en-US" sz="1200" dirty="0"/>
          </a:p>
        </p:txBody>
      </p:sp>
      <p:sp>
        <p:nvSpPr>
          <p:cNvPr id="31" name="Teilbereich 3-4"/>
          <p:cNvSpPr txBox="1"/>
          <p:nvPr/>
        </p:nvSpPr>
        <p:spPr>
          <a:xfrm>
            <a:off x="5120640" y="3950208"/>
            <a:ext cx="1097280" cy="438912"/>
          </a:xfrm>
          <a:prstGeom prst="roundRect">
            <a:avLst>
              <a:gd name="adj" fmla="val 12500"/>
            </a:avLst>
          </a:prstGeom>
          <a:solidFill>
            <a:schemeClr val="bg1"/>
          </a:solidFill>
          <a:ln w="19050">
            <a:solidFill>
              <a:schemeClr val="accent1"/>
            </a:solid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(3, 4) → 7</a:t>
            </a:r>
            <a:endParaRPr lang="en-US" sz="1200" dirty="0"/>
          </a:p>
        </p:txBody>
      </p:sp>
      <p:sp>
        <p:nvSpPr>
          <p:cNvPr id="32" name="Teilbereich 0-4"/>
          <p:cNvSpPr txBox="1"/>
          <p:nvPr/>
        </p:nvSpPr>
        <p:spPr>
          <a:xfrm>
            <a:off x="3680460" y="3200400"/>
            <a:ext cx="1097280" cy="438912"/>
          </a:xfrm>
          <a:prstGeom prst="roundRect">
            <a:avLst>
              <a:gd name="adj" fmla="val 12500"/>
            </a:avLst>
          </a:prstGeom>
          <a:solidFill>
            <a:srgbClr val="FFF2CC"/>
          </a:solidFill>
          <a:ln w="19050">
            <a:solidFill>
              <a:schemeClr val="accent2"/>
            </a:solid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(0, 4) → 9</a:t>
            </a:r>
            <a:endParaRPr lang="en-US" sz="1200" dirty="0"/>
          </a:p>
        </p:txBody>
      </p:sp>
      <p:sp>
        <p:nvSpPr>
          <p:cNvPr id="33" name="Mitte"/>
          <p:cNvSpPr/>
          <p:nvPr/>
        </p:nvSpPr>
        <p:spPr>
          <a:xfrm>
            <a:off x="7315200" y="2788920"/>
            <a:ext cx="4297680" cy="1417320"/>
          </a:xfrm>
          <a:prstGeom prst="roundRect">
            <a:avLst>
              <a:gd name="adj" fmla="val 7742"/>
            </a:avLst>
          </a:prstGeom>
          <a:solidFill>
            <a:schemeClr val="bg2"/>
          </a:solidFill>
          <a:ln/>
        </p:spPr>
      </p:sp>
      <p:sp>
        <p:nvSpPr>
          <p:cNvPr id="34" name="Text 29"/>
          <p:cNvSpPr txBox="1"/>
          <p:nvPr/>
        </p:nvSpPr>
        <p:spPr>
          <a:xfrm>
            <a:off x="7516368" y="2788920"/>
            <a:ext cx="3931920" cy="1417320"/>
          </a:xfrm>
          <a:prstGeom prst="rect">
            <a:avLst/>
          </a:prstGeom>
          <a:noFill/>
          <a:ln/>
        </p:spPr>
        <p:txBody>
          <a:bodyPr wrap="square" lIns="0" tIns="0" rIns="0" bIns="0" rtlCol="0" anchor="ctr"/>
          <a:lstStyle/>
          <a:p>
            <a:pPr indent="0" marL="0">
              <a:buNone/>
            </a:pPr>
            <a:r>
              <a:rPr lang="en-US" sz="1600" b="1" dirty="0">
                <a:solidFill>
                  <a:schemeClr val="accent1"/>
                </a:solidFill>
              </a:rPr>
              <a:t>Teilen in der Mitte: </a:t>
            </a:r>
            <a:pPr indent="0" marL="0">
              <a:buNone/>
            </a:pPr>
            <a:r>
              <a:rPr lang="en-US" sz="1600" dirty="0">
                <a:solidFill>
                  <a:schemeClr val="tx1"/>
                </a:solidFill>
              </a:rPr>
              <a:t>mitte ← (von + bis) / 2; links von … mitte, rechts mitte + 1 … bis.</a:t>
            </a:r>
            <a:endParaRPr lang="en-US" sz="1600" dirty="0"/>
          </a:p>
        </p:txBody>
      </p:sp>
      <p:sp>
        <p:nvSpPr>
          <p:cNvPr id="35" name="Aufrufe maximumTH"/>
          <p:cNvSpPr/>
          <p:nvPr/>
        </p:nvSpPr>
        <p:spPr>
          <a:xfrm>
            <a:off x="7315200" y="4389120"/>
            <a:ext cx="4297680" cy="822960"/>
          </a:xfrm>
          <a:prstGeom prst="roundRect">
            <a:avLst>
              <a:gd name="adj" fmla="val 13333"/>
            </a:avLst>
          </a:prstGeom>
          <a:solidFill>
            <a:schemeClr val="bg1"/>
          </a:solidFill>
          <a:ln w="25400">
            <a:solidFill>
              <a:schemeClr val="accent3"/>
            </a:solidFill>
            <a:prstDash val="solid"/>
          </a:ln>
        </p:spPr>
      </p:sp>
      <p:sp>
        <p:nvSpPr>
          <p:cNvPr id="36" name="Text 31"/>
          <p:cNvSpPr txBox="1"/>
          <p:nvPr/>
        </p:nvSpPr>
        <p:spPr>
          <a:xfrm>
            <a:off x="7516368" y="4389120"/>
            <a:ext cx="3931920" cy="822960"/>
          </a:xfrm>
          <a:prstGeom prst="rect">
            <a:avLst/>
          </a:prstGeom>
          <a:noFill/>
          <a:ln/>
        </p:spPr>
        <p:txBody>
          <a:bodyPr wrap="square" lIns="0" tIns="0" rIns="0" bIns="0" rtlCol="0" anchor="ctr"/>
          <a:lstStyle/>
          <a:p>
            <a:pPr indent="0" marL="0">
              <a:buNone/>
            </a:pPr>
            <a:r>
              <a:rPr lang="en-US" sz="1500" b="1" dirty="0">
                <a:solidFill>
                  <a:schemeClr val="accent3"/>
                </a:solidFill>
              </a:rPr>
              <a:t>9 Aufrufe = 2 · 5 − 1</a:t>
            </a:r>
            <a:pPr indent="0" marL="0">
              <a:buNone/>
            </a:pPr>
            <a:r>
              <a:rPr lang="en-US" sz="1500" dirty="0">
                <a:solidFill>
                  <a:schemeClr val="tx1"/>
                </a:solidFill>
              </a:rPr>
              <a:t> – jedes Element einmal Basisfall</a:t>
            </a:r>
            <a:endParaRPr lang="en-US" sz="1500" dirty="0"/>
          </a:p>
        </p:txBody>
      </p:sp>
      <p:sp>
        <p:nvSpPr>
          <p:cNvPr id="37" name="Achtung mitte"/>
          <p:cNvSpPr/>
          <p:nvPr/>
        </p:nvSpPr>
        <p:spPr>
          <a:xfrm>
            <a:off x="7315200" y="5394960"/>
            <a:ext cx="4297680" cy="731520"/>
          </a:xfrm>
          <a:prstGeom prst="roundRect">
            <a:avLst>
              <a:gd name="adj" fmla="val 15000"/>
            </a:avLst>
          </a:prstGeom>
          <a:solidFill>
            <a:schemeClr val="bg1"/>
          </a:solidFill>
          <a:ln w="25400">
            <a:solidFill>
              <a:schemeClr val="accent4"/>
            </a:solidFill>
            <a:prstDash val="solid"/>
          </a:ln>
        </p:spPr>
      </p:sp>
      <p:sp>
        <p:nvSpPr>
          <p:cNvPr id="38" name="Text 33"/>
          <p:cNvSpPr txBox="1"/>
          <p:nvPr/>
        </p:nvSpPr>
        <p:spPr>
          <a:xfrm>
            <a:off x="7516368" y="5394960"/>
            <a:ext cx="3931920" cy="731520"/>
          </a:xfrm>
          <a:prstGeom prst="rect">
            <a:avLst/>
          </a:prstGeom>
          <a:noFill/>
          <a:ln/>
        </p:spPr>
        <p:txBody>
          <a:bodyPr wrap="square" lIns="0" tIns="0" rIns="0" bIns="0" rtlCol="0" anchor="ctr"/>
          <a:lstStyle/>
          <a:p>
            <a:pPr indent="0" marL="0">
              <a:buNone/>
            </a:pPr>
            <a:r>
              <a:rPr lang="en-US" sz="1500" b="1" dirty="0">
                <a:solidFill>
                  <a:schemeClr val="accent4"/>
                </a:solidFill>
              </a:rPr>
              <a:t>Achtung: </a:t>
            </a:r>
            <a:pPr indent="0" marL="0">
              <a:buNone/>
            </a:pPr>
            <a:r>
              <a:rPr lang="en-US" sz="1500" dirty="0">
                <a:solidFill>
                  <a:schemeClr val="tx1"/>
                </a:solidFill>
              </a:rPr>
              <a:t>rechts ab mitte statt mitte + 1 → StackOverflowError</a:t>
            </a:r>
            <a:endParaRPr lang="en-US" sz="1500" dirty="0"/>
          </a:p>
        </p:txBody>
      </p:sp>
      <p:sp>
        <p:nvSpPr>
          <p:cNvPr id="39" name="Text 34"/>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21 · Teile und herrsche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Binäre Suche – rekursiv</a:t>
            </a:r>
            <a:endParaRPr lang="en-US" sz="3600" dirty="0"/>
          </a:p>
        </p:txBody>
      </p:sp>
      <p:sp>
        <p:nvSpPr>
          <p:cNvPr id="3" name="Code"/>
          <p:cNvSpPr txBox="1"/>
          <p:nvPr/>
        </p:nvSpPr>
        <p:spPr>
          <a:xfrm>
            <a:off x="548640" y="1325880"/>
            <a:ext cx="6309360" cy="26131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static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binaerRek</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x</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&gt;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-1;                     </a:t>
            </a:r>
            <a:pPr algn="l" indent="0" marL="0">
              <a:lnSpc>
                <a:spcPts val="1400"/>
              </a:lnSpc>
              <a:buNone/>
            </a:pPr>
            <a:r>
              <a:rPr lang="en-US" sz="1100" i="1" dirty="0">
                <a:solidFill>
                  <a:schemeClr val="accent3"/>
                </a:solidFill>
                <a:latin typeface="Consolas" pitchFamily="34" charset="0"/>
                <a:ea typeface="Consolas" pitchFamily="34" charset="-122"/>
                <a:cs typeface="Consolas" pitchFamily="34" charset="-120"/>
              </a:rPr>
              <a:t>// Basisfall: Bereich leer</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mid</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2;</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mid</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x</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mid</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i="1" dirty="0">
                <a:solidFill>
                  <a:schemeClr val="accent3"/>
                </a:solidFill>
                <a:latin typeface="Consolas" pitchFamily="34" charset="0"/>
                <a:ea typeface="Consolas" pitchFamily="34" charset="-122"/>
                <a:cs typeface="Consolas" pitchFamily="34" charset="-120"/>
              </a:rPr>
              <a:t>// Basisfall: gefunden</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mid</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&lt;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x</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binaerRek</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x</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mid</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+ 1,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i="1" dirty="0">
                <a:solidFill>
                  <a:schemeClr val="accent3"/>
                </a:solidFill>
                <a:latin typeface="Consolas" pitchFamily="34" charset="0"/>
                <a:ea typeface="Consolas" pitchFamily="34" charset="-122"/>
                <a:cs typeface="Consolas" pitchFamily="34" charset="-120"/>
              </a:rPr>
              <a:t>// rechts weitersuchen</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binaerRek</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x</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mid</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- 1);      </a:t>
            </a:r>
            <a:pPr algn="l" indent="0" marL="0">
              <a:lnSpc>
                <a:spcPts val="1400"/>
              </a:lnSpc>
              <a:buNone/>
            </a:pPr>
            <a:r>
              <a:rPr lang="en-US" sz="1100" i="1" dirty="0">
                <a:solidFill>
                  <a:schemeClr val="accent3"/>
                </a:solidFill>
                <a:latin typeface="Consolas" pitchFamily="34" charset="0"/>
                <a:ea typeface="Consolas" pitchFamily="34" charset="-122"/>
                <a:cs typeface="Consolas" pitchFamily="34" charset="-120"/>
              </a:rPr>
              <a:t>// links weitersuchen</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p:txBody>
      </p:sp>
      <p:sp>
        <p:nvSpPr>
          <p:cNvPr id="4" name="Text 2"/>
          <p:cNvSpPr txBox="1"/>
          <p:nvPr/>
        </p:nvSpPr>
        <p:spPr>
          <a:xfrm>
            <a:off x="548640" y="4526280"/>
            <a:ext cx="457200" cy="548640"/>
          </a:xfrm>
          <a:prstGeom prst="rect">
            <a:avLst/>
          </a:prstGeom>
          <a:noFill/>
          <a:ln/>
        </p:spPr>
        <p:txBody>
          <a:bodyPr wrap="square" lIns="0" tIns="0" rIns="0" bIns="0" rtlCol="0" anchor="ctr"/>
          <a:lstStyle/>
          <a:p>
            <a:pPr indent="0" marL="0">
              <a:buNone/>
            </a:pPr>
            <a:r>
              <a:rPr lang="en-US" sz="1600" b="1" dirty="0">
                <a:solidFill>
                  <a:schemeClr val="accent1"/>
                </a:solidFill>
                <a:latin typeface="Consolas" pitchFamily="34" charset="0"/>
                <a:ea typeface="Consolas" pitchFamily="34" charset="-122"/>
                <a:cs typeface="Consolas" pitchFamily="34" charset="-120"/>
              </a:rPr>
              <a:t>r =</a:t>
            </a:r>
            <a:endParaRPr lang="en-US" sz="1600" dirty="0"/>
          </a:p>
        </p:txBody>
      </p:sp>
      <p:sp>
        <p:nvSpPr>
          <p:cNvPr id="5" name="r 0"/>
          <p:cNvSpPr txBox="1"/>
          <p:nvPr/>
        </p:nvSpPr>
        <p:spPr>
          <a:xfrm>
            <a:off x="1051560" y="4526280"/>
            <a:ext cx="603504" cy="54864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6" name="r 1"/>
          <p:cNvSpPr txBox="1"/>
          <p:nvPr/>
        </p:nvSpPr>
        <p:spPr>
          <a:xfrm>
            <a:off x="1655064" y="4526280"/>
            <a:ext cx="603504" cy="54864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8</a:t>
            </a:r>
            <a:endParaRPr lang="en-US" sz="1800" dirty="0"/>
          </a:p>
        </p:txBody>
      </p:sp>
      <p:sp>
        <p:nvSpPr>
          <p:cNvPr id="7" name="r 2"/>
          <p:cNvSpPr txBox="1"/>
          <p:nvPr/>
        </p:nvSpPr>
        <p:spPr>
          <a:xfrm>
            <a:off x="2258568" y="4526280"/>
            <a:ext cx="603504" cy="54864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15</a:t>
            </a:r>
            <a:endParaRPr lang="en-US" sz="1800" dirty="0"/>
          </a:p>
        </p:txBody>
      </p:sp>
      <p:sp>
        <p:nvSpPr>
          <p:cNvPr id="8" name="r 3"/>
          <p:cNvSpPr txBox="1"/>
          <p:nvPr/>
        </p:nvSpPr>
        <p:spPr>
          <a:xfrm>
            <a:off x="2862072" y="4526280"/>
            <a:ext cx="603504" cy="54864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23</a:t>
            </a:r>
            <a:endParaRPr lang="en-US" sz="1800" dirty="0"/>
          </a:p>
        </p:txBody>
      </p:sp>
      <p:sp>
        <p:nvSpPr>
          <p:cNvPr id="9" name="r 4"/>
          <p:cNvSpPr txBox="1"/>
          <p:nvPr/>
        </p:nvSpPr>
        <p:spPr>
          <a:xfrm>
            <a:off x="3465576" y="4526280"/>
            <a:ext cx="603504" cy="54864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42</a:t>
            </a:r>
            <a:endParaRPr lang="en-US" sz="1800" dirty="0"/>
          </a:p>
        </p:txBody>
      </p:sp>
      <p:sp>
        <p:nvSpPr>
          <p:cNvPr id="10" name="r 5"/>
          <p:cNvSpPr txBox="1"/>
          <p:nvPr/>
        </p:nvSpPr>
        <p:spPr>
          <a:xfrm>
            <a:off x="4069080" y="4526280"/>
            <a:ext cx="603504" cy="54864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57</a:t>
            </a:r>
            <a:endParaRPr lang="en-US" sz="1800" dirty="0"/>
          </a:p>
        </p:txBody>
      </p:sp>
      <p:sp>
        <p:nvSpPr>
          <p:cNvPr id="11" name="r 6"/>
          <p:cNvSpPr txBox="1"/>
          <p:nvPr/>
        </p:nvSpPr>
        <p:spPr>
          <a:xfrm>
            <a:off x="4672584" y="4526280"/>
            <a:ext cx="603504" cy="54864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61</a:t>
            </a:r>
            <a:endParaRPr lang="en-US" sz="1800" dirty="0"/>
          </a:p>
        </p:txBody>
      </p:sp>
      <p:sp>
        <p:nvSpPr>
          <p:cNvPr id="12" name="r 7"/>
          <p:cNvSpPr txBox="1"/>
          <p:nvPr/>
        </p:nvSpPr>
        <p:spPr>
          <a:xfrm>
            <a:off x="5276088" y="4526280"/>
            <a:ext cx="603504" cy="54864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77</a:t>
            </a:r>
            <a:endParaRPr lang="en-US" sz="1800" dirty="0"/>
          </a:p>
        </p:txBody>
      </p:sp>
      <p:sp>
        <p:nvSpPr>
          <p:cNvPr id="13" name="r 8"/>
          <p:cNvSpPr txBox="1"/>
          <p:nvPr/>
        </p:nvSpPr>
        <p:spPr>
          <a:xfrm>
            <a:off x="5879592" y="4526280"/>
            <a:ext cx="603504" cy="54864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90</a:t>
            </a:r>
            <a:endParaRPr lang="en-US" sz="1800" dirty="0"/>
          </a:p>
        </p:txBody>
      </p:sp>
      <p:sp>
        <p:nvSpPr>
          <p:cNvPr id="14" name="Text 12"/>
          <p:cNvSpPr txBox="1"/>
          <p:nvPr/>
        </p:nvSpPr>
        <p:spPr>
          <a:xfrm>
            <a:off x="1051560" y="5102352"/>
            <a:ext cx="603504"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15" name="Text 13"/>
          <p:cNvSpPr txBox="1"/>
          <p:nvPr/>
        </p:nvSpPr>
        <p:spPr>
          <a:xfrm>
            <a:off x="1655064" y="5102352"/>
            <a:ext cx="603504"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16" name="Text 14"/>
          <p:cNvSpPr txBox="1"/>
          <p:nvPr/>
        </p:nvSpPr>
        <p:spPr>
          <a:xfrm>
            <a:off x="2258568" y="5102352"/>
            <a:ext cx="603504"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17" name="Text 15"/>
          <p:cNvSpPr txBox="1"/>
          <p:nvPr/>
        </p:nvSpPr>
        <p:spPr>
          <a:xfrm>
            <a:off x="2862072" y="5102352"/>
            <a:ext cx="603504"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18" name="Text 16"/>
          <p:cNvSpPr txBox="1"/>
          <p:nvPr/>
        </p:nvSpPr>
        <p:spPr>
          <a:xfrm>
            <a:off x="3465576" y="5102352"/>
            <a:ext cx="603504"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19" name="Text 17"/>
          <p:cNvSpPr txBox="1"/>
          <p:nvPr/>
        </p:nvSpPr>
        <p:spPr>
          <a:xfrm>
            <a:off x="4069080" y="5102352"/>
            <a:ext cx="603504" cy="256032"/>
          </a:xfrm>
          <a:prstGeom prst="rect">
            <a:avLst/>
          </a:prstGeom>
          <a:noFill/>
          <a:ln/>
        </p:spPr>
        <p:txBody>
          <a:bodyPr wrap="square" lIns="0" tIns="0" rIns="0" bIns="0" rtlCol="0" anchor="t"/>
          <a:lstStyle/>
          <a:p>
            <a:pPr algn="ctr" indent="0" marL="0">
              <a:buNone/>
            </a:pPr>
            <a:r>
              <a:rPr lang="en-US" sz="1300" dirty="0">
                <a:solidFill>
                  <a:schemeClr val="accent6"/>
                </a:solidFill>
              </a:rPr>
              <a:t>5</a:t>
            </a:r>
            <a:endParaRPr lang="en-US" sz="1300" dirty="0"/>
          </a:p>
        </p:txBody>
      </p:sp>
      <p:sp>
        <p:nvSpPr>
          <p:cNvPr id="20" name="Text 18"/>
          <p:cNvSpPr txBox="1"/>
          <p:nvPr/>
        </p:nvSpPr>
        <p:spPr>
          <a:xfrm>
            <a:off x="4672584" y="5102352"/>
            <a:ext cx="603504" cy="256032"/>
          </a:xfrm>
          <a:prstGeom prst="rect">
            <a:avLst/>
          </a:prstGeom>
          <a:noFill/>
          <a:ln/>
        </p:spPr>
        <p:txBody>
          <a:bodyPr wrap="square" lIns="0" tIns="0" rIns="0" bIns="0" rtlCol="0" anchor="t"/>
          <a:lstStyle/>
          <a:p>
            <a:pPr algn="ctr" indent="0" marL="0">
              <a:buNone/>
            </a:pPr>
            <a:r>
              <a:rPr lang="en-US" sz="1300" dirty="0">
                <a:solidFill>
                  <a:schemeClr val="accent6"/>
                </a:solidFill>
              </a:rPr>
              <a:t>6</a:t>
            </a:r>
            <a:endParaRPr lang="en-US" sz="1300" dirty="0"/>
          </a:p>
        </p:txBody>
      </p:sp>
      <p:sp>
        <p:nvSpPr>
          <p:cNvPr id="21" name="Text 19"/>
          <p:cNvSpPr txBox="1"/>
          <p:nvPr/>
        </p:nvSpPr>
        <p:spPr>
          <a:xfrm>
            <a:off x="5276088" y="5102352"/>
            <a:ext cx="603504" cy="256032"/>
          </a:xfrm>
          <a:prstGeom prst="rect">
            <a:avLst/>
          </a:prstGeom>
          <a:noFill/>
          <a:ln/>
        </p:spPr>
        <p:txBody>
          <a:bodyPr wrap="square" lIns="0" tIns="0" rIns="0" bIns="0" rtlCol="0" anchor="t"/>
          <a:lstStyle/>
          <a:p>
            <a:pPr algn="ctr" indent="0" marL="0">
              <a:buNone/>
            </a:pPr>
            <a:r>
              <a:rPr lang="en-US" sz="1300" dirty="0">
                <a:solidFill>
                  <a:schemeClr val="accent6"/>
                </a:solidFill>
              </a:rPr>
              <a:t>7</a:t>
            </a:r>
            <a:endParaRPr lang="en-US" sz="1300" dirty="0"/>
          </a:p>
        </p:txBody>
      </p:sp>
      <p:sp>
        <p:nvSpPr>
          <p:cNvPr id="22" name="Text 20"/>
          <p:cNvSpPr txBox="1"/>
          <p:nvPr/>
        </p:nvSpPr>
        <p:spPr>
          <a:xfrm>
            <a:off x="5879592" y="5102352"/>
            <a:ext cx="603504" cy="256032"/>
          </a:xfrm>
          <a:prstGeom prst="rect">
            <a:avLst/>
          </a:prstGeom>
          <a:noFill/>
          <a:ln/>
        </p:spPr>
        <p:txBody>
          <a:bodyPr wrap="square" lIns="0" tIns="0" rIns="0" bIns="0" rtlCol="0" anchor="t"/>
          <a:lstStyle/>
          <a:p>
            <a:pPr algn="ctr" indent="0" marL="0">
              <a:buNone/>
            </a:pPr>
            <a:r>
              <a:rPr lang="en-US" sz="1300" dirty="0">
                <a:solidFill>
                  <a:schemeClr val="accent6"/>
                </a:solidFill>
              </a:rPr>
              <a:t>8</a:t>
            </a:r>
            <a:endParaRPr lang="en-US" sz="1300" dirty="0"/>
          </a:p>
        </p:txBody>
      </p:sp>
      <p:sp>
        <p:nvSpPr>
          <p:cNvPr id="23" name="Text 21"/>
          <p:cNvSpPr txBox="1"/>
          <p:nvPr/>
        </p:nvSpPr>
        <p:spPr>
          <a:xfrm>
            <a:off x="548640" y="5440680"/>
            <a:ext cx="6309360" cy="292608"/>
          </a:xfrm>
          <a:prstGeom prst="rect">
            <a:avLst/>
          </a:prstGeom>
          <a:noFill/>
          <a:ln/>
        </p:spPr>
        <p:txBody>
          <a:bodyPr wrap="square" lIns="0" tIns="0" rIns="0" bIns="0" rtlCol="0" anchor="t"/>
          <a:lstStyle/>
          <a:p>
            <a:pPr indent="0" marL="0">
              <a:buNone/>
            </a:pPr>
            <a:r>
              <a:rPr lang="en-US" sz="1400" i="1" dirty="0">
                <a:solidFill>
                  <a:schemeClr val="accent6"/>
                </a:solidFill>
              </a:rPr>
              <a:t>gold: die geprüften Mitten (Tiefe 0: 42, Tiefe 1: 61, Tiefe 2: 57)</a:t>
            </a:r>
            <a:endParaRPr lang="en-US" sz="1400" dirty="0"/>
          </a:p>
        </p:txBody>
      </p:sp>
      <p:sp>
        <p:nvSpPr>
          <p:cNvPr id="24" name="Text 22"/>
          <p:cNvSpPr txBox="1"/>
          <p:nvPr/>
        </p:nvSpPr>
        <p:spPr>
          <a:xfrm>
            <a:off x="7223760" y="1325880"/>
            <a:ext cx="4389120" cy="347472"/>
          </a:xfrm>
          <a:prstGeom prst="rect">
            <a:avLst/>
          </a:prstGeom>
          <a:noFill/>
          <a:ln/>
        </p:spPr>
        <p:txBody>
          <a:bodyPr wrap="square" lIns="0" tIns="0" rIns="0" bIns="0" rtlCol="0" anchor="t"/>
          <a:lstStyle/>
          <a:p>
            <a:pPr indent="0" marL="0">
              <a:buNone/>
            </a:pPr>
            <a:r>
              <a:rPr lang="en-US" sz="1700" b="1" dirty="0">
                <a:solidFill>
                  <a:schemeClr val="accent1"/>
                </a:solidFill>
                <a:latin typeface="Consolas" pitchFamily="34" charset="0"/>
                <a:ea typeface="Consolas" pitchFamily="34" charset="-122"/>
                <a:cs typeface="Consolas" pitchFamily="34" charset="-120"/>
              </a:rPr>
              <a:t>binaerRek(r, 50, 0, 8)</a:t>
            </a:r>
            <a:endParaRPr lang="en-US" sz="1700" dirty="0"/>
          </a:p>
        </p:txBody>
      </p:sp>
      <p:graphicFrame>
        <p:nvGraphicFramePr>
          <p:cNvPr id="24" name="Trace binaerRek"/>
          <p:cNvGraphicFramePr>
            <a:graphicFrameLocks noGrp="1"/>
          </p:cNvGraphicFramePr>
          <p:nvPr>
            <p:extLst>
              <p:ext uri="{D42A27DB-BD31-4B8C-83A1-F6EECF244321}">
                <p14:modId xmlns:p14="http://schemas.microsoft.com/office/powerpoint/2010/main" val="1579011935"/>
              </p:ext>
            </p:extLst>
          </p:nvPr>
        </p:nvGraphicFramePr>
        <p:xfrm>
          <a:off x="7223760" y="1737360"/>
          <a:ext cx="4389120" cy="914400"/>
        </p:xfrm>
        <a:graphic>
          <a:graphicData uri="http://schemas.openxmlformats.org/drawingml/2006/table">
            <a:tbl>
              <a:tblPr/>
              <a:tblGrid>
                <a:gridCol w="566928"/>
                <a:gridCol w="438912"/>
                <a:gridCol w="438912"/>
                <a:gridCol w="502920"/>
                <a:gridCol w="704088"/>
                <a:gridCol w="1737360"/>
              </a:tblGrid>
              <a:tr h="41148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Tiefe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lo</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hi</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mid</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r[mid]</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Entscheidung</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1148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8</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42 &lt; 50 → rechts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8</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6</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61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61 &gt; 50 → links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57</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57 &gt; 50 → links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400" b="1" dirty="0">
                          <a:solidFill>
                            <a:schemeClr val="accent3"/>
                          </a:solidFill>
                          <a:latin typeface="Calibri" pitchFamily="34" charset="0"/>
                          <a:ea typeface="Calibri" pitchFamily="34" charset="-122"/>
                          <a:cs typeface="Calibri" pitchFamily="34" charset="-120"/>
                        </a:rPr>
                        <a:t>lo &gt; hi → −1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r>
            </a:tbl>
          </a:graphicData>
        </a:graphic>
      </p:graphicFrame>
      <p:sp>
        <p:nvSpPr>
          <p:cNvPr id="26" name="binaer"/>
          <p:cNvSpPr/>
          <p:nvPr/>
        </p:nvSpPr>
        <p:spPr>
          <a:xfrm>
            <a:off x="7223760" y="4069080"/>
            <a:ext cx="4389120" cy="960120"/>
          </a:xfrm>
          <a:prstGeom prst="roundRect">
            <a:avLst>
              <a:gd name="adj" fmla="val 11429"/>
            </a:avLst>
          </a:prstGeom>
          <a:solidFill>
            <a:schemeClr val="bg2"/>
          </a:solidFill>
          <a:ln/>
        </p:spPr>
      </p:sp>
      <p:sp>
        <p:nvSpPr>
          <p:cNvPr id="27" name="Text 24"/>
          <p:cNvSpPr txBox="1"/>
          <p:nvPr/>
        </p:nvSpPr>
        <p:spPr>
          <a:xfrm>
            <a:off x="7424928" y="4069080"/>
            <a:ext cx="4023360" cy="960120"/>
          </a:xfrm>
          <a:prstGeom prst="rect">
            <a:avLst/>
          </a:prstGeom>
          <a:noFill/>
          <a:ln/>
        </p:spPr>
        <p:txBody>
          <a:bodyPr wrap="square" lIns="0" tIns="0" rIns="0" bIns="0" rtlCol="0" anchor="ctr"/>
          <a:lstStyle/>
          <a:p>
            <a:pPr indent="0" marL="0">
              <a:buNone/>
            </a:pPr>
            <a:r>
              <a:rPr lang="en-US" sz="1500" b="1" dirty="0">
                <a:solidFill>
                  <a:schemeClr val="accent1"/>
                </a:solidFill>
              </a:rPr>
              <a:t>Start: </a:t>
            </a:r>
            <a:pPr indent="0" marL="0">
              <a:buNone/>
            </a:pPr>
            <a:r>
              <a:rPr lang="en-US" sz="1500" b="1" dirty="0">
                <a:solidFill>
                  <a:schemeClr val="tx1"/>
                </a:solidFill>
                <a:latin typeface="Consolas" pitchFamily="34" charset="0"/>
                <a:ea typeface="Consolas" pitchFamily="34" charset="-122"/>
                <a:cs typeface="Consolas" pitchFamily="34" charset="-120"/>
              </a:rPr>
              <a:t>binaer(r, x)</a:t>
            </a:r>
            <a:pPr indent="0" marL="0">
              <a:buNone/>
            </a:pPr>
            <a:r>
              <a:rPr lang="en-US" sz="1500" dirty="0">
                <a:solidFill>
                  <a:schemeClr val="tx1"/>
                </a:solidFill>
              </a:rPr>
              <a:t> ruft binaerRek(r, x, 0, r.length − 1) auf.</a:t>
            </a:r>
            <a:endParaRPr lang="en-US" sz="1500" dirty="0"/>
          </a:p>
        </p:txBody>
      </p:sp>
      <p:sp>
        <p:nvSpPr>
          <p:cNvPr id="28" name="Achtung mid"/>
          <p:cNvSpPr/>
          <p:nvPr/>
        </p:nvSpPr>
        <p:spPr>
          <a:xfrm>
            <a:off x="7223760" y="5212080"/>
            <a:ext cx="4389120" cy="914400"/>
          </a:xfrm>
          <a:prstGeom prst="roundRect">
            <a:avLst>
              <a:gd name="adj" fmla="val 12000"/>
            </a:avLst>
          </a:prstGeom>
          <a:solidFill>
            <a:schemeClr val="bg1"/>
          </a:solidFill>
          <a:ln w="25400">
            <a:solidFill>
              <a:schemeClr val="accent4"/>
            </a:solidFill>
            <a:prstDash val="solid"/>
          </a:ln>
        </p:spPr>
      </p:sp>
      <p:sp>
        <p:nvSpPr>
          <p:cNvPr id="29" name="Text 26"/>
          <p:cNvSpPr txBox="1"/>
          <p:nvPr/>
        </p:nvSpPr>
        <p:spPr>
          <a:xfrm>
            <a:off x="7424928" y="5212080"/>
            <a:ext cx="4023360" cy="914400"/>
          </a:xfrm>
          <a:prstGeom prst="rect">
            <a:avLst/>
          </a:prstGeom>
          <a:noFill/>
          <a:ln/>
        </p:spPr>
        <p:txBody>
          <a:bodyPr wrap="square" lIns="0" tIns="0" rIns="0" bIns="0" rtlCol="0" anchor="ctr"/>
          <a:lstStyle/>
          <a:p>
            <a:pPr indent="0" marL="0">
              <a:buNone/>
            </a:pPr>
            <a:r>
              <a:rPr lang="en-US" sz="1500" b="1" dirty="0">
                <a:solidFill>
                  <a:schemeClr val="accent4"/>
                </a:solidFill>
              </a:rPr>
              <a:t>Achtung: </a:t>
            </a:r>
            <a:pPr indent="0" marL="0">
              <a:buNone/>
            </a:pPr>
            <a:r>
              <a:rPr lang="en-US" sz="1500" dirty="0">
                <a:solidFill>
                  <a:schemeClr val="tx1"/>
                </a:solidFill>
              </a:rPr>
              <a:t>mid + 1 und mid − 1 – sonst wird der Bereich nicht kleiner.</a:t>
            </a:r>
            <a:endParaRPr lang="en-US" sz="1500" dirty="0"/>
          </a:p>
        </p:txBody>
      </p:sp>
      <p:sp>
        <p:nvSpPr>
          <p:cNvPr id="30" name="Text 27"/>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21 · Teile und herrsche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Mergesort: Teilungsbaum und Verschmelzungsbaum</a:t>
            </a:r>
            <a:endParaRPr lang="en-US" sz="3600" dirty="0"/>
          </a:p>
        </p:txBody>
      </p:sp>
      <p:sp>
        <p:nvSpPr>
          <p:cNvPr id="3" name="Panel Teilen"/>
          <p:cNvSpPr/>
          <p:nvPr/>
        </p:nvSpPr>
        <p:spPr>
          <a:xfrm>
            <a:off x="548640" y="1325880"/>
            <a:ext cx="5394960" cy="3886200"/>
          </a:xfrm>
          <a:prstGeom prst="roundRect">
            <a:avLst>
              <a:gd name="adj" fmla="val 2824"/>
            </a:avLst>
          </a:prstGeom>
          <a:solidFill>
            <a:schemeClr val="bg1"/>
          </a:solidFill>
          <a:ln w="15875">
            <a:solidFill>
              <a:schemeClr val="accent1"/>
            </a:solidFill>
            <a:prstDash val="solid"/>
          </a:ln>
        </p:spPr>
      </p:sp>
      <p:sp>
        <p:nvSpPr>
          <p:cNvPr id="4" name="Panel Verbinden"/>
          <p:cNvSpPr/>
          <p:nvPr/>
        </p:nvSpPr>
        <p:spPr>
          <a:xfrm>
            <a:off x="6217920" y="1325880"/>
            <a:ext cx="5394960" cy="3886200"/>
          </a:xfrm>
          <a:prstGeom prst="roundRect">
            <a:avLst>
              <a:gd name="adj" fmla="val 2824"/>
            </a:avLst>
          </a:prstGeom>
          <a:solidFill>
            <a:schemeClr val="bg1"/>
          </a:solidFill>
          <a:ln w="15875">
            <a:solidFill>
              <a:schemeClr val="accent2"/>
            </a:solidFill>
            <a:prstDash val="solid"/>
          </a:ln>
        </p:spPr>
      </p:sp>
      <p:sp>
        <p:nvSpPr>
          <p:cNvPr id="5" name="Text 3"/>
          <p:cNvSpPr txBox="1"/>
          <p:nvPr/>
        </p:nvSpPr>
        <p:spPr>
          <a:xfrm>
            <a:off x="731520" y="1417320"/>
            <a:ext cx="5029200" cy="320040"/>
          </a:xfrm>
          <a:prstGeom prst="rect">
            <a:avLst/>
          </a:prstGeom>
          <a:noFill/>
          <a:ln/>
        </p:spPr>
        <p:txBody>
          <a:bodyPr wrap="square" lIns="0" tIns="0" rIns="0" bIns="0" rtlCol="0" anchor="t"/>
          <a:lstStyle/>
          <a:p>
            <a:pPr indent="0" marL="0">
              <a:buNone/>
            </a:pPr>
            <a:r>
              <a:rPr lang="en-US" sz="1600" b="1" dirty="0">
                <a:solidFill>
                  <a:schemeClr val="accent1"/>
                </a:solidFill>
              </a:rPr>
              <a:t>TEILEN: mitte = Länge / 2</a:t>
            </a:r>
            <a:endParaRPr lang="en-US" sz="1600" dirty="0"/>
          </a:p>
        </p:txBody>
      </p:sp>
      <p:sp>
        <p:nvSpPr>
          <p:cNvPr id="6" name="Text 4"/>
          <p:cNvSpPr txBox="1"/>
          <p:nvPr/>
        </p:nvSpPr>
        <p:spPr>
          <a:xfrm>
            <a:off x="6400800" y="1417320"/>
            <a:ext cx="5029200" cy="320040"/>
          </a:xfrm>
          <a:prstGeom prst="rect">
            <a:avLst/>
          </a:prstGeom>
          <a:noFill/>
          <a:ln/>
        </p:spPr>
        <p:txBody>
          <a:bodyPr wrap="square" lIns="0" tIns="0" rIns="0" bIns="0" rtlCol="0" anchor="t"/>
          <a:lstStyle/>
          <a:p>
            <a:pPr indent="0" marL="0">
              <a:buNone/>
            </a:pPr>
            <a:r>
              <a:rPr lang="en-US" sz="1600" b="1" dirty="0">
                <a:solidFill>
                  <a:schemeClr val="accent2"/>
                </a:solidFill>
              </a:rPr>
              <a:t>VERBINDEN: verschmelze(links, rechts)</a:t>
            </a:r>
            <a:endParaRPr lang="en-US" sz="1600" dirty="0"/>
          </a:p>
        </p:txBody>
      </p:sp>
      <p:sp>
        <p:nvSpPr>
          <p:cNvPr id="7" name="Kante a"/>
          <p:cNvSpPr/>
          <p:nvPr/>
        </p:nvSpPr>
        <p:spPr>
          <a:xfrm flipH="1">
            <a:off x="1897380" y="3922776"/>
            <a:ext cx="449580" cy="420624"/>
          </a:xfrm>
          <a:prstGeom prst="line">
            <a:avLst/>
          </a:prstGeom>
          <a:noFill/>
          <a:ln w="19050">
            <a:solidFill>
              <a:srgbClr val="A6A6A6"/>
            </a:solidFill>
            <a:prstDash val="solid"/>
          </a:ln>
        </p:spPr>
      </p:sp>
      <p:sp>
        <p:nvSpPr>
          <p:cNvPr id="8" name="Kante a"/>
          <p:cNvSpPr/>
          <p:nvPr/>
        </p:nvSpPr>
        <p:spPr>
          <a:xfrm>
            <a:off x="2346960" y="3922776"/>
            <a:ext cx="449580" cy="420624"/>
          </a:xfrm>
          <a:prstGeom prst="line">
            <a:avLst/>
          </a:prstGeom>
          <a:noFill/>
          <a:ln w="19050">
            <a:solidFill>
              <a:srgbClr val="A6A6A6"/>
            </a:solidFill>
            <a:prstDash val="solid"/>
          </a:ln>
        </p:spPr>
      </p:sp>
      <p:sp>
        <p:nvSpPr>
          <p:cNvPr id="9" name="Kante a"/>
          <p:cNvSpPr/>
          <p:nvPr/>
        </p:nvSpPr>
        <p:spPr>
          <a:xfrm flipH="1">
            <a:off x="998220" y="3099816"/>
            <a:ext cx="674370" cy="420624"/>
          </a:xfrm>
          <a:prstGeom prst="line">
            <a:avLst/>
          </a:prstGeom>
          <a:noFill/>
          <a:ln w="19050">
            <a:solidFill>
              <a:srgbClr val="A6A6A6"/>
            </a:solidFill>
            <a:prstDash val="solid"/>
          </a:ln>
        </p:spPr>
      </p:sp>
      <p:sp>
        <p:nvSpPr>
          <p:cNvPr id="10" name="Kante a"/>
          <p:cNvSpPr/>
          <p:nvPr/>
        </p:nvSpPr>
        <p:spPr>
          <a:xfrm>
            <a:off x="1672590" y="3099816"/>
            <a:ext cx="674370" cy="420624"/>
          </a:xfrm>
          <a:prstGeom prst="line">
            <a:avLst/>
          </a:prstGeom>
          <a:noFill/>
          <a:ln w="19050">
            <a:solidFill>
              <a:srgbClr val="A6A6A6"/>
            </a:solidFill>
            <a:prstDash val="solid"/>
          </a:ln>
        </p:spPr>
      </p:sp>
      <p:sp>
        <p:nvSpPr>
          <p:cNvPr id="11" name="Kante a"/>
          <p:cNvSpPr/>
          <p:nvPr/>
        </p:nvSpPr>
        <p:spPr>
          <a:xfrm flipH="1">
            <a:off x="4594860" y="3922776"/>
            <a:ext cx="449580" cy="420624"/>
          </a:xfrm>
          <a:prstGeom prst="line">
            <a:avLst/>
          </a:prstGeom>
          <a:noFill/>
          <a:ln w="19050">
            <a:solidFill>
              <a:srgbClr val="A6A6A6"/>
            </a:solidFill>
            <a:prstDash val="solid"/>
          </a:ln>
        </p:spPr>
      </p:sp>
      <p:sp>
        <p:nvSpPr>
          <p:cNvPr id="12" name="Kante a"/>
          <p:cNvSpPr/>
          <p:nvPr/>
        </p:nvSpPr>
        <p:spPr>
          <a:xfrm>
            <a:off x="5044440" y="3922776"/>
            <a:ext cx="449580" cy="420624"/>
          </a:xfrm>
          <a:prstGeom prst="line">
            <a:avLst/>
          </a:prstGeom>
          <a:noFill/>
          <a:ln w="19050">
            <a:solidFill>
              <a:srgbClr val="A6A6A6"/>
            </a:solidFill>
            <a:prstDash val="solid"/>
          </a:ln>
        </p:spPr>
      </p:sp>
      <p:sp>
        <p:nvSpPr>
          <p:cNvPr id="13" name="Kante a"/>
          <p:cNvSpPr/>
          <p:nvPr/>
        </p:nvSpPr>
        <p:spPr>
          <a:xfrm flipH="1">
            <a:off x="3695700" y="3099816"/>
            <a:ext cx="674370" cy="420624"/>
          </a:xfrm>
          <a:prstGeom prst="line">
            <a:avLst/>
          </a:prstGeom>
          <a:noFill/>
          <a:ln w="19050">
            <a:solidFill>
              <a:srgbClr val="A6A6A6"/>
            </a:solidFill>
            <a:prstDash val="solid"/>
          </a:ln>
        </p:spPr>
      </p:sp>
      <p:sp>
        <p:nvSpPr>
          <p:cNvPr id="14" name="Kante a"/>
          <p:cNvSpPr/>
          <p:nvPr/>
        </p:nvSpPr>
        <p:spPr>
          <a:xfrm>
            <a:off x="4370070" y="3099816"/>
            <a:ext cx="674370" cy="420624"/>
          </a:xfrm>
          <a:prstGeom prst="line">
            <a:avLst/>
          </a:prstGeom>
          <a:noFill/>
          <a:ln w="19050">
            <a:solidFill>
              <a:srgbClr val="A6A6A6"/>
            </a:solidFill>
            <a:prstDash val="solid"/>
          </a:ln>
        </p:spPr>
      </p:sp>
      <p:sp>
        <p:nvSpPr>
          <p:cNvPr id="15" name="Kante a"/>
          <p:cNvSpPr/>
          <p:nvPr/>
        </p:nvSpPr>
        <p:spPr>
          <a:xfrm flipH="1">
            <a:off x="1672590" y="2276856"/>
            <a:ext cx="1348740" cy="420624"/>
          </a:xfrm>
          <a:prstGeom prst="line">
            <a:avLst/>
          </a:prstGeom>
          <a:noFill/>
          <a:ln w="19050">
            <a:solidFill>
              <a:srgbClr val="A6A6A6"/>
            </a:solidFill>
            <a:prstDash val="solid"/>
          </a:ln>
        </p:spPr>
      </p:sp>
      <p:sp>
        <p:nvSpPr>
          <p:cNvPr id="16" name="Kante a"/>
          <p:cNvSpPr/>
          <p:nvPr/>
        </p:nvSpPr>
        <p:spPr>
          <a:xfrm>
            <a:off x="3021330" y="2276856"/>
            <a:ext cx="1348740" cy="420624"/>
          </a:xfrm>
          <a:prstGeom prst="line">
            <a:avLst/>
          </a:prstGeom>
          <a:noFill/>
          <a:ln w="19050">
            <a:solidFill>
              <a:srgbClr val="A6A6A6"/>
            </a:solidFill>
            <a:prstDash val="solid"/>
          </a:ln>
        </p:spPr>
      </p:sp>
      <p:sp>
        <p:nvSpPr>
          <p:cNvPr id="17" name="a 0"/>
          <p:cNvSpPr txBox="1"/>
          <p:nvPr/>
        </p:nvSpPr>
        <p:spPr>
          <a:xfrm>
            <a:off x="833628" y="352044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18" name="a 0"/>
          <p:cNvSpPr txBox="1"/>
          <p:nvPr/>
        </p:nvSpPr>
        <p:spPr>
          <a:xfrm>
            <a:off x="1732788" y="434340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19" name="a 0"/>
          <p:cNvSpPr txBox="1"/>
          <p:nvPr/>
        </p:nvSpPr>
        <p:spPr>
          <a:xfrm>
            <a:off x="2631948" y="434340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9</a:t>
            </a:r>
            <a:endParaRPr lang="en-US" sz="1500" dirty="0"/>
          </a:p>
        </p:txBody>
      </p:sp>
      <p:sp>
        <p:nvSpPr>
          <p:cNvPr id="20" name="a 0"/>
          <p:cNvSpPr txBox="1"/>
          <p:nvPr/>
        </p:nvSpPr>
        <p:spPr>
          <a:xfrm>
            <a:off x="2017776" y="352044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21" name="a 1"/>
          <p:cNvSpPr txBox="1"/>
          <p:nvPr/>
        </p:nvSpPr>
        <p:spPr>
          <a:xfrm>
            <a:off x="2346960" y="352044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9</a:t>
            </a:r>
            <a:endParaRPr lang="en-US" sz="1500" dirty="0"/>
          </a:p>
        </p:txBody>
      </p:sp>
      <p:sp>
        <p:nvSpPr>
          <p:cNvPr id="22" name="a 0"/>
          <p:cNvSpPr txBox="1"/>
          <p:nvPr/>
        </p:nvSpPr>
        <p:spPr>
          <a:xfrm>
            <a:off x="1178814" y="269748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23" name="a 1"/>
          <p:cNvSpPr txBox="1"/>
          <p:nvPr/>
        </p:nvSpPr>
        <p:spPr>
          <a:xfrm>
            <a:off x="1507998" y="269748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24" name="a 2"/>
          <p:cNvSpPr txBox="1"/>
          <p:nvPr/>
        </p:nvSpPr>
        <p:spPr>
          <a:xfrm>
            <a:off x="1837182" y="269748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9</a:t>
            </a:r>
            <a:endParaRPr lang="en-US" sz="1500" dirty="0"/>
          </a:p>
        </p:txBody>
      </p:sp>
      <p:sp>
        <p:nvSpPr>
          <p:cNvPr id="25" name="a 0"/>
          <p:cNvSpPr txBox="1"/>
          <p:nvPr/>
        </p:nvSpPr>
        <p:spPr>
          <a:xfrm>
            <a:off x="3531108" y="352044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26" name="a 0"/>
          <p:cNvSpPr txBox="1"/>
          <p:nvPr/>
        </p:nvSpPr>
        <p:spPr>
          <a:xfrm>
            <a:off x="4430268" y="434340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27" name="a 0"/>
          <p:cNvSpPr txBox="1"/>
          <p:nvPr/>
        </p:nvSpPr>
        <p:spPr>
          <a:xfrm>
            <a:off x="5329428" y="434340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28" name="a 0"/>
          <p:cNvSpPr txBox="1"/>
          <p:nvPr/>
        </p:nvSpPr>
        <p:spPr>
          <a:xfrm>
            <a:off x="4715256" y="352044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29" name="a 1"/>
          <p:cNvSpPr txBox="1"/>
          <p:nvPr/>
        </p:nvSpPr>
        <p:spPr>
          <a:xfrm>
            <a:off x="5044440" y="352044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30" name="a 0"/>
          <p:cNvSpPr txBox="1"/>
          <p:nvPr/>
        </p:nvSpPr>
        <p:spPr>
          <a:xfrm>
            <a:off x="3876294" y="269748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31" name="a 1"/>
          <p:cNvSpPr txBox="1"/>
          <p:nvPr/>
        </p:nvSpPr>
        <p:spPr>
          <a:xfrm>
            <a:off x="4205478" y="269748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32" name="a 2"/>
          <p:cNvSpPr txBox="1"/>
          <p:nvPr/>
        </p:nvSpPr>
        <p:spPr>
          <a:xfrm>
            <a:off x="4534662" y="269748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33" name="a 0"/>
          <p:cNvSpPr txBox="1"/>
          <p:nvPr/>
        </p:nvSpPr>
        <p:spPr>
          <a:xfrm>
            <a:off x="2033778" y="187452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34" name="a 1"/>
          <p:cNvSpPr txBox="1"/>
          <p:nvPr/>
        </p:nvSpPr>
        <p:spPr>
          <a:xfrm>
            <a:off x="2362962" y="187452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35" name="a 2"/>
          <p:cNvSpPr txBox="1"/>
          <p:nvPr/>
        </p:nvSpPr>
        <p:spPr>
          <a:xfrm>
            <a:off x="2692146" y="187452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9</a:t>
            </a:r>
            <a:endParaRPr lang="en-US" sz="1500" dirty="0"/>
          </a:p>
        </p:txBody>
      </p:sp>
      <p:sp>
        <p:nvSpPr>
          <p:cNvPr id="36" name="a 3"/>
          <p:cNvSpPr txBox="1"/>
          <p:nvPr/>
        </p:nvSpPr>
        <p:spPr>
          <a:xfrm>
            <a:off x="3021330" y="187452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37" name="a 4"/>
          <p:cNvSpPr txBox="1"/>
          <p:nvPr/>
        </p:nvSpPr>
        <p:spPr>
          <a:xfrm>
            <a:off x="3350514" y="187452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38" name="a 5"/>
          <p:cNvSpPr txBox="1"/>
          <p:nvPr/>
        </p:nvSpPr>
        <p:spPr>
          <a:xfrm>
            <a:off x="3679698" y="187452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39" name="Kante res"/>
          <p:cNvSpPr/>
          <p:nvPr/>
        </p:nvSpPr>
        <p:spPr>
          <a:xfrm flipH="1" flipV="1">
            <a:off x="7566660" y="2276856"/>
            <a:ext cx="449580" cy="420624"/>
          </a:xfrm>
          <a:prstGeom prst="line">
            <a:avLst/>
          </a:prstGeom>
          <a:noFill/>
          <a:ln w="19050">
            <a:solidFill>
              <a:schemeClr val="accent2"/>
            </a:solidFill>
            <a:prstDash val="solid"/>
          </a:ln>
        </p:spPr>
      </p:sp>
      <p:sp>
        <p:nvSpPr>
          <p:cNvPr id="40" name="Kante res"/>
          <p:cNvSpPr/>
          <p:nvPr/>
        </p:nvSpPr>
        <p:spPr>
          <a:xfrm flipV="1">
            <a:off x="8016240" y="2276856"/>
            <a:ext cx="449580" cy="420624"/>
          </a:xfrm>
          <a:prstGeom prst="line">
            <a:avLst/>
          </a:prstGeom>
          <a:noFill/>
          <a:ln w="19050">
            <a:solidFill>
              <a:schemeClr val="accent2"/>
            </a:solidFill>
            <a:prstDash val="solid"/>
          </a:ln>
        </p:spPr>
      </p:sp>
      <p:sp>
        <p:nvSpPr>
          <p:cNvPr id="41" name="Kante res"/>
          <p:cNvSpPr/>
          <p:nvPr/>
        </p:nvSpPr>
        <p:spPr>
          <a:xfrm flipH="1" flipV="1">
            <a:off x="6667500" y="3099816"/>
            <a:ext cx="674370" cy="420624"/>
          </a:xfrm>
          <a:prstGeom prst="line">
            <a:avLst/>
          </a:prstGeom>
          <a:noFill/>
          <a:ln w="19050">
            <a:solidFill>
              <a:schemeClr val="accent2"/>
            </a:solidFill>
            <a:prstDash val="solid"/>
          </a:ln>
        </p:spPr>
      </p:sp>
      <p:sp>
        <p:nvSpPr>
          <p:cNvPr id="42" name="Kante res"/>
          <p:cNvSpPr/>
          <p:nvPr/>
        </p:nvSpPr>
        <p:spPr>
          <a:xfrm flipV="1">
            <a:off x="7341870" y="3099816"/>
            <a:ext cx="674370" cy="420624"/>
          </a:xfrm>
          <a:prstGeom prst="line">
            <a:avLst/>
          </a:prstGeom>
          <a:noFill/>
          <a:ln w="19050">
            <a:solidFill>
              <a:schemeClr val="accent2"/>
            </a:solidFill>
            <a:prstDash val="solid"/>
          </a:ln>
        </p:spPr>
      </p:sp>
      <p:sp>
        <p:nvSpPr>
          <p:cNvPr id="43" name="Kante res"/>
          <p:cNvSpPr/>
          <p:nvPr/>
        </p:nvSpPr>
        <p:spPr>
          <a:xfrm flipH="1" flipV="1">
            <a:off x="10264140" y="2276856"/>
            <a:ext cx="449580" cy="420624"/>
          </a:xfrm>
          <a:prstGeom prst="line">
            <a:avLst/>
          </a:prstGeom>
          <a:noFill/>
          <a:ln w="19050">
            <a:solidFill>
              <a:schemeClr val="accent2"/>
            </a:solidFill>
            <a:prstDash val="solid"/>
          </a:ln>
        </p:spPr>
      </p:sp>
      <p:sp>
        <p:nvSpPr>
          <p:cNvPr id="44" name="Kante res"/>
          <p:cNvSpPr/>
          <p:nvPr/>
        </p:nvSpPr>
        <p:spPr>
          <a:xfrm flipV="1">
            <a:off x="10713720" y="2276856"/>
            <a:ext cx="449580" cy="420624"/>
          </a:xfrm>
          <a:prstGeom prst="line">
            <a:avLst/>
          </a:prstGeom>
          <a:noFill/>
          <a:ln w="19050">
            <a:solidFill>
              <a:schemeClr val="accent2"/>
            </a:solidFill>
            <a:prstDash val="solid"/>
          </a:ln>
        </p:spPr>
      </p:sp>
      <p:sp>
        <p:nvSpPr>
          <p:cNvPr id="45" name="Kante res"/>
          <p:cNvSpPr/>
          <p:nvPr/>
        </p:nvSpPr>
        <p:spPr>
          <a:xfrm flipH="1" flipV="1">
            <a:off x="9364980" y="3099816"/>
            <a:ext cx="674370" cy="420624"/>
          </a:xfrm>
          <a:prstGeom prst="line">
            <a:avLst/>
          </a:prstGeom>
          <a:noFill/>
          <a:ln w="19050">
            <a:solidFill>
              <a:schemeClr val="accent2"/>
            </a:solidFill>
            <a:prstDash val="solid"/>
          </a:ln>
        </p:spPr>
      </p:sp>
      <p:sp>
        <p:nvSpPr>
          <p:cNvPr id="46" name="Kante res"/>
          <p:cNvSpPr/>
          <p:nvPr/>
        </p:nvSpPr>
        <p:spPr>
          <a:xfrm flipV="1">
            <a:off x="10039350" y="3099816"/>
            <a:ext cx="674370" cy="420624"/>
          </a:xfrm>
          <a:prstGeom prst="line">
            <a:avLst/>
          </a:prstGeom>
          <a:noFill/>
          <a:ln w="19050">
            <a:solidFill>
              <a:schemeClr val="accent2"/>
            </a:solidFill>
            <a:prstDash val="solid"/>
          </a:ln>
        </p:spPr>
      </p:sp>
      <p:sp>
        <p:nvSpPr>
          <p:cNvPr id="47" name="Kante res"/>
          <p:cNvSpPr/>
          <p:nvPr/>
        </p:nvSpPr>
        <p:spPr>
          <a:xfrm flipH="1" flipV="1">
            <a:off x="7341870" y="3922776"/>
            <a:ext cx="1348740" cy="420624"/>
          </a:xfrm>
          <a:prstGeom prst="line">
            <a:avLst/>
          </a:prstGeom>
          <a:noFill/>
          <a:ln w="19050">
            <a:solidFill>
              <a:schemeClr val="accent2"/>
            </a:solidFill>
            <a:prstDash val="solid"/>
          </a:ln>
        </p:spPr>
      </p:sp>
      <p:sp>
        <p:nvSpPr>
          <p:cNvPr id="48" name="Kante res"/>
          <p:cNvSpPr/>
          <p:nvPr/>
        </p:nvSpPr>
        <p:spPr>
          <a:xfrm flipV="1">
            <a:off x="8690610" y="3922776"/>
            <a:ext cx="1348740" cy="420624"/>
          </a:xfrm>
          <a:prstGeom prst="line">
            <a:avLst/>
          </a:prstGeom>
          <a:noFill/>
          <a:ln w="19050">
            <a:solidFill>
              <a:schemeClr val="accent2"/>
            </a:solidFill>
            <a:prstDash val="solid"/>
          </a:ln>
        </p:spPr>
      </p:sp>
      <p:sp>
        <p:nvSpPr>
          <p:cNvPr id="49" name="res 0"/>
          <p:cNvSpPr txBox="1"/>
          <p:nvPr/>
        </p:nvSpPr>
        <p:spPr>
          <a:xfrm>
            <a:off x="6502908" y="269748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50" name="res 0"/>
          <p:cNvSpPr txBox="1"/>
          <p:nvPr/>
        </p:nvSpPr>
        <p:spPr>
          <a:xfrm>
            <a:off x="7402068" y="187452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51" name="res 0"/>
          <p:cNvSpPr txBox="1"/>
          <p:nvPr/>
        </p:nvSpPr>
        <p:spPr>
          <a:xfrm>
            <a:off x="8301228" y="187452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9</a:t>
            </a:r>
            <a:endParaRPr lang="en-US" sz="1500" dirty="0"/>
          </a:p>
        </p:txBody>
      </p:sp>
      <p:sp>
        <p:nvSpPr>
          <p:cNvPr id="52" name="res 0"/>
          <p:cNvSpPr txBox="1"/>
          <p:nvPr/>
        </p:nvSpPr>
        <p:spPr>
          <a:xfrm>
            <a:off x="7687056" y="269748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53" name="res 1"/>
          <p:cNvSpPr txBox="1"/>
          <p:nvPr/>
        </p:nvSpPr>
        <p:spPr>
          <a:xfrm>
            <a:off x="8016240" y="269748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9</a:t>
            </a:r>
            <a:endParaRPr lang="en-US" sz="1500" dirty="0"/>
          </a:p>
        </p:txBody>
      </p:sp>
      <p:sp>
        <p:nvSpPr>
          <p:cNvPr id="54" name="res 0"/>
          <p:cNvSpPr txBox="1"/>
          <p:nvPr/>
        </p:nvSpPr>
        <p:spPr>
          <a:xfrm>
            <a:off x="6848094" y="352044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55" name="res 1"/>
          <p:cNvSpPr txBox="1"/>
          <p:nvPr/>
        </p:nvSpPr>
        <p:spPr>
          <a:xfrm>
            <a:off x="7177278" y="352044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56" name="res 2"/>
          <p:cNvSpPr txBox="1"/>
          <p:nvPr/>
        </p:nvSpPr>
        <p:spPr>
          <a:xfrm>
            <a:off x="7506462" y="352044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9</a:t>
            </a:r>
            <a:endParaRPr lang="en-US" sz="1500" dirty="0"/>
          </a:p>
        </p:txBody>
      </p:sp>
      <p:sp>
        <p:nvSpPr>
          <p:cNvPr id="57" name="res 0"/>
          <p:cNvSpPr txBox="1"/>
          <p:nvPr/>
        </p:nvSpPr>
        <p:spPr>
          <a:xfrm>
            <a:off x="9200388" y="269748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58" name="res 0"/>
          <p:cNvSpPr txBox="1"/>
          <p:nvPr/>
        </p:nvSpPr>
        <p:spPr>
          <a:xfrm>
            <a:off x="10099548" y="187452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59" name="res 0"/>
          <p:cNvSpPr txBox="1"/>
          <p:nvPr/>
        </p:nvSpPr>
        <p:spPr>
          <a:xfrm>
            <a:off x="10998708" y="1874520"/>
            <a:ext cx="329184" cy="402336"/>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60" name="res 0"/>
          <p:cNvSpPr txBox="1"/>
          <p:nvPr/>
        </p:nvSpPr>
        <p:spPr>
          <a:xfrm>
            <a:off x="10384536" y="269748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61" name="res 1"/>
          <p:cNvSpPr txBox="1"/>
          <p:nvPr/>
        </p:nvSpPr>
        <p:spPr>
          <a:xfrm>
            <a:off x="10713720" y="269748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62" name="res 0"/>
          <p:cNvSpPr txBox="1"/>
          <p:nvPr/>
        </p:nvSpPr>
        <p:spPr>
          <a:xfrm>
            <a:off x="9545574" y="352044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63" name="res 1"/>
          <p:cNvSpPr txBox="1"/>
          <p:nvPr/>
        </p:nvSpPr>
        <p:spPr>
          <a:xfrm>
            <a:off x="9874758" y="352044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64" name="res 2"/>
          <p:cNvSpPr txBox="1"/>
          <p:nvPr/>
        </p:nvSpPr>
        <p:spPr>
          <a:xfrm>
            <a:off x="10203942" y="3520440"/>
            <a:ext cx="329184" cy="402336"/>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65" name="res 0"/>
          <p:cNvSpPr txBox="1"/>
          <p:nvPr/>
        </p:nvSpPr>
        <p:spPr>
          <a:xfrm>
            <a:off x="7703058" y="4343400"/>
            <a:ext cx="329184" cy="402336"/>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66" name="res 1"/>
          <p:cNvSpPr txBox="1"/>
          <p:nvPr/>
        </p:nvSpPr>
        <p:spPr>
          <a:xfrm>
            <a:off x="8032242" y="4343400"/>
            <a:ext cx="329184" cy="402336"/>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67" name="res 2"/>
          <p:cNvSpPr txBox="1"/>
          <p:nvPr/>
        </p:nvSpPr>
        <p:spPr>
          <a:xfrm>
            <a:off x="8361426" y="4343400"/>
            <a:ext cx="329184" cy="402336"/>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68" name="res 3"/>
          <p:cNvSpPr txBox="1"/>
          <p:nvPr/>
        </p:nvSpPr>
        <p:spPr>
          <a:xfrm>
            <a:off x="8690610" y="4343400"/>
            <a:ext cx="329184" cy="402336"/>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69" name="res 4"/>
          <p:cNvSpPr txBox="1"/>
          <p:nvPr/>
        </p:nvSpPr>
        <p:spPr>
          <a:xfrm>
            <a:off x="9019794" y="4343400"/>
            <a:ext cx="329184" cy="402336"/>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70" name="res 5"/>
          <p:cNvSpPr txBox="1"/>
          <p:nvPr/>
        </p:nvSpPr>
        <p:spPr>
          <a:xfrm>
            <a:off x="9348978" y="4343400"/>
            <a:ext cx="329184" cy="402336"/>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9</a:t>
            </a:r>
            <a:endParaRPr lang="en-US" sz="1500" dirty="0"/>
          </a:p>
        </p:txBody>
      </p:sp>
      <p:sp>
        <p:nvSpPr>
          <p:cNvPr id="71" name="Kennzahlen Mergesort"/>
          <p:cNvSpPr/>
          <p:nvPr/>
        </p:nvSpPr>
        <p:spPr>
          <a:xfrm>
            <a:off x="548640" y="5394960"/>
            <a:ext cx="5394960" cy="731520"/>
          </a:xfrm>
          <a:prstGeom prst="roundRect">
            <a:avLst>
              <a:gd name="adj" fmla="val 15000"/>
            </a:avLst>
          </a:prstGeom>
          <a:solidFill>
            <a:schemeClr val="bg2"/>
          </a:solidFill>
          <a:ln/>
        </p:spPr>
      </p:sp>
      <p:sp>
        <p:nvSpPr>
          <p:cNvPr id="72" name="Text 70"/>
          <p:cNvSpPr txBox="1"/>
          <p:nvPr/>
        </p:nvSpPr>
        <p:spPr>
          <a:xfrm>
            <a:off x="749808" y="5394960"/>
            <a:ext cx="5029200" cy="731520"/>
          </a:xfrm>
          <a:prstGeom prst="rect">
            <a:avLst/>
          </a:prstGeom>
          <a:noFill/>
          <a:ln/>
        </p:spPr>
        <p:txBody>
          <a:bodyPr wrap="square" lIns="0" tIns="0" rIns="0" bIns="0" rtlCol="0" anchor="ctr"/>
          <a:lstStyle/>
          <a:p>
            <a:pPr indent="0" marL="0">
              <a:buNone/>
            </a:pPr>
            <a:r>
              <a:rPr lang="en-US" sz="1500" b="1" dirty="0">
                <a:solidFill>
                  <a:schemeClr val="accent1"/>
                </a:solidFill>
              </a:rPr>
              <a:t>mergeSort({5, 2, 9, 1, 6, 3}): </a:t>
            </a:r>
            <a:pPr indent="0" marL="0">
              <a:buNone/>
            </a:pPr>
            <a:r>
              <a:rPr lang="en-US" sz="1500" dirty="0">
                <a:solidFill>
                  <a:schemeClr val="tx1"/>
                </a:solidFill>
              </a:rPr>
              <a:t>11 Aufrufe, 10 Vergleiche</a:t>
            </a:r>
            <a:endParaRPr lang="en-US" sz="1500" dirty="0"/>
          </a:p>
        </p:txBody>
      </p:sp>
      <p:sp>
        <p:nvSpPr>
          <p:cNvPr id="73" name="Achtung mitte Mergesort"/>
          <p:cNvSpPr/>
          <p:nvPr/>
        </p:nvSpPr>
        <p:spPr>
          <a:xfrm>
            <a:off x="6217920" y="5394960"/>
            <a:ext cx="5394960" cy="731520"/>
          </a:xfrm>
          <a:prstGeom prst="roundRect">
            <a:avLst>
              <a:gd name="adj" fmla="val 15000"/>
            </a:avLst>
          </a:prstGeom>
          <a:solidFill>
            <a:schemeClr val="bg1"/>
          </a:solidFill>
          <a:ln w="25400">
            <a:solidFill>
              <a:schemeClr val="accent4"/>
            </a:solidFill>
            <a:prstDash val="solid"/>
          </a:ln>
        </p:spPr>
      </p:sp>
      <p:sp>
        <p:nvSpPr>
          <p:cNvPr id="74" name="Text 72"/>
          <p:cNvSpPr txBox="1"/>
          <p:nvPr/>
        </p:nvSpPr>
        <p:spPr>
          <a:xfrm>
            <a:off x="6419088" y="5394960"/>
            <a:ext cx="5029200" cy="731520"/>
          </a:xfrm>
          <a:prstGeom prst="rect">
            <a:avLst/>
          </a:prstGeom>
          <a:noFill/>
          <a:ln/>
        </p:spPr>
        <p:txBody>
          <a:bodyPr wrap="square" lIns="0" tIns="0" rIns="0" bIns="0" rtlCol="0" anchor="ctr"/>
          <a:lstStyle/>
          <a:p>
            <a:pPr indent="0" marL="0">
              <a:buNone/>
            </a:pPr>
            <a:r>
              <a:rPr lang="en-US" sz="1400" b="1" dirty="0">
                <a:solidFill>
                  <a:schemeClr val="accent4"/>
                </a:solidFill>
              </a:rPr>
              <a:t>Achtung: </a:t>
            </a:r>
            <a:pPr indent="0" marL="0">
              <a:buNone/>
            </a:pPr>
            <a:r>
              <a:rPr lang="en-US" sz="1400" dirty="0">
                <a:solidFill>
                  <a:schemeClr val="tx1"/>
                </a:solidFill>
              </a:rPr>
              <a:t>mitte = (Länge − 1) / 2 → bei Länge 2 bleibt links leer: StackOverflowError</a:t>
            </a:r>
            <a:endParaRPr lang="en-US" sz="1400" dirty="0"/>
          </a:p>
        </p:txBody>
      </p:sp>
      <p:sp>
        <p:nvSpPr>
          <p:cNvPr id="75" name="Text 73"/>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21 · Teile und herrsche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Quicksort: zerlege Schritt für Schritt</a:t>
            </a:r>
            <a:endParaRPr lang="en-US" sz="3600" dirty="0"/>
          </a:p>
        </p:txBody>
      </p:sp>
      <p:sp>
        <p:nvSpPr>
          <p:cNvPr id="3" name="Code"/>
          <p:cNvSpPr txBox="1"/>
          <p:nvPr/>
        </p:nvSpPr>
        <p:spPr>
          <a:xfrm>
            <a:off x="548640" y="1325880"/>
            <a:ext cx="4846320" cy="3324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static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zerlege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pivot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grenze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for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+ 1;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&lt;=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vergleiche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&lt;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pivot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grenze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grenze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grenze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hilf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grenze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grenze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hilf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grenze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p:txBody>
      </p:sp>
      <p:sp>
        <p:nvSpPr>
          <p:cNvPr id="4" name="Ergebnis zerlege"/>
          <p:cNvSpPr/>
          <p:nvPr/>
        </p:nvSpPr>
        <p:spPr>
          <a:xfrm>
            <a:off x="548640" y="5212080"/>
            <a:ext cx="4846320" cy="914400"/>
          </a:xfrm>
          <a:prstGeom prst="roundRect">
            <a:avLst>
              <a:gd name="adj" fmla="val 12000"/>
            </a:avLst>
          </a:prstGeom>
          <a:solidFill>
            <a:schemeClr val="bg2"/>
          </a:solidFill>
          <a:ln/>
        </p:spPr>
      </p:sp>
      <p:sp>
        <p:nvSpPr>
          <p:cNvPr id="5" name="Text 3"/>
          <p:cNvSpPr txBox="1"/>
          <p:nvPr/>
        </p:nvSpPr>
        <p:spPr>
          <a:xfrm>
            <a:off x="749808" y="5212080"/>
            <a:ext cx="4480560" cy="914400"/>
          </a:xfrm>
          <a:prstGeom prst="rect">
            <a:avLst/>
          </a:prstGeom>
          <a:noFill/>
          <a:ln/>
        </p:spPr>
        <p:txBody>
          <a:bodyPr wrap="square" lIns="0" tIns="0" rIns="0" bIns="0" rtlCol="0" anchor="ctr"/>
          <a:lstStyle/>
          <a:p>
            <a:pPr indent="0" marL="0">
              <a:buNone/>
            </a:pPr>
            <a:r>
              <a:rPr lang="en-US" sz="1500" b="1" dirty="0">
                <a:solidFill>
                  <a:schemeClr val="accent1"/>
                </a:solidFill>
              </a:rPr>
              <a:t>Ergebnis: </a:t>
            </a:r>
            <a:pPr indent="0" marL="0">
              <a:buNone/>
            </a:pPr>
            <a:r>
              <a:rPr lang="en-US" sz="1500" dirty="0">
                <a:solidFill>
                  <a:schemeClr val="tx1"/>
                </a:solidFill>
              </a:rPr>
              <a:t>Pivot 5 an Index 3 – links nur Kleinere, rechts nur Größere. 5 Vergleiche.</a:t>
            </a:r>
            <a:endParaRPr lang="en-US" sz="1500" dirty="0"/>
          </a:p>
        </p:txBody>
      </p:sp>
      <p:sp>
        <p:nvSpPr>
          <p:cNvPr id="6" name="Legende 0"/>
          <p:cNvSpPr txBox="1"/>
          <p:nvPr/>
        </p:nvSpPr>
        <p:spPr>
          <a:xfrm>
            <a:off x="5760720" y="1371600"/>
            <a:ext cx="292608" cy="292608"/>
          </a:xfrm>
          <a:prstGeom prst="rect">
            <a:avLst/>
          </a:prstGeom>
          <a:solidFill>
            <a:schemeClr val="accent1"/>
          </a:solidFill>
          <a:ln w="15875">
            <a:solidFill>
              <a:schemeClr val="accent1"/>
            </a:solidFill>
            <a:prstDash val="solid"/>
          </a:ln>
        </p:spPr>
        <p:txBody>
          <a:bodyPr wrap="square" lIns="0" tIns="0" rIns="0" bIns="0" rtlCol="0" anchor="ctr"/>
          <a:lstStyle/>
          <a:p>
            <a:pPr algn="ctr" indent="0" marL="0">
              <a:buNone/>
            </a:pPr>
            <a:endParaRPr lang="en-US" sz="1600" dirty="0"/>
          </a:p>
        </p:txBody>
      </p:sp>
      <p:sp>
        <p:nvSpPr>
          <p:cNvPr id="7" name="Text 5"/>
          <p:cNvSpPr txBox="1"/>
          <p:nvPr/>
        </p:nvSpPr>
        <p:spPr>
          <a:xfrm>
            <a:off x="6126480" y="1371600"/>
            <a:ext cx="1097280" cy="292608"/>
          </a:xfrm>
          <a:prstGeom prst="rect">
            <a:avLst/>
          </a:prstGeom>
          <a:noFill/>
          <a:ln/>
        </p:spPr>
        <p:txBody>
          <a:bodyPr wrap="square" lIns="0" tIns="0" rIns="0" bIns="0" rtlCol="0" anchor="ctr"/>
          <a:lstStyle/>
          <a:p>
            <a:pPr indent="0" marL="0">
              <a:buNone/>
            </a:pPr>
            <a:r>
              <a:rPr lang="en-US" sz="1300" dirty="0">
                <a:solidFill>
                  <a:schemeClr val="tx1"/>
                </a:solidFill>
              </a:rPr>
              <a:t>Pivot</a:t>
            </a:r>
            <a:endParaRPr lang="en-US" sz="1300" dirty="0"/>
          </a:p>
        </p:txBody>
      </p:sp>
      <p:sp>
        <p:nvSpPr>
          <p:cNvPr id="8" name="Legende 0"/>
          <p:cNvSpPr txBox="1"/>
          <p:nvPr/>
        </p:nvSpPr>
        <p:spPr>
          <a:xfrm>
            <a:off x="7223760" y="1371600"/>
            <a:ext cx="292608" cy="292608"/>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endParaRPr lang="en-US" sz="1600" dirty="0"/>
          </a:p>
        </p:txBody>
      </p:sp>
      <p:sp>
        <p:nvSpPr>
          <p:cNvPr id="9" name="Text 7"/>
          <p:cNvSpPr txBox="1"/>
          <p:nvPr/>
        </p:nvSpPr>
        <p:spPr>
          <a:xfrm>
            <a:off x="7589520" y="1371600"/>
            <a:ext cx="1097280" cy="292608"/>
          </a:xfrm>
          <a:prstGeom prst="rect">
            <a:avLst/>
          </a:prstGeom>
          <a:noFill/>
          <a:ln/>
        </p:spPr>
        <p:txBody>
          <a:bodyPr wrap="square" lIns="0" tIns="0" rIns="0" bIns="0" rtlCol="0" anchor="ctr"/>
          <a:lstStyle/>
          <a:p>
            <a:pPr indent="0" marL="0">
              <a:buNone/>
            </a:pPr>
            <a:r>
              <a:rPr lang="en-US" sz="1300" dirty="0">
                <a:solidFill>
                  <a:schemeClr val="tx1"/>
                </a:solidFill>
              </a:rPr>
              <a:t>kleiner</a:t>
            </a:r>
            <a:endParaRPr lang="en-US" sz="1300" dirty="0"/>
          </a:p>
        </p:txBody>
      </p:sp>
      <p:sp>
        <p:nvSpPr>
          <p:cNvPr id="10" name="Legende 0"/>
          <p:cNvSpPr txBox="1"/>
          <p:nvPr/>
        </p:nvSpPr>
        <p:spPr>
          <a:xfrm>
            <a:off x="8686800" y="1371600"/>
            <a:ext cx="292608" cy="292608"/>
          </a:xfrm>
          <a:prstGeom prst="rect">
            <a:avLst/>
          </a:prstGeom>
          <a:solidFill>
            <a:srgbClr val="FBE5E5"/>
          </a:solidFill>
          <a:ln w="15875">
            <a:solidFill>
              <a:schemeClr val="accent4"/>
            </a:solidFill>
            <a:prstDash val="solid"/>
          </a:ln>
        </p:spPr>
        <p:txBody>
          <a:bodyPr wrap="square" lIns="0" tIns="0" rIns="0" bIns="0" rtlCol="0" anchor="ctr"/>
          <a:lstStyle/>
          <a:p>
            <a:pPr algn="ctr" indent="0" marL="0">
              <a:buNone/>
            </a:pPr>
            <a:endParaRPr lang="en-US" sz="1600" dirty="0"/>
          </a:p>
        </p:txBody>
      </p:sp>
      <p:sp>
        <p:nvSpPr>
          <p:cNvPr id="11" name="Text 9"/>
          <p:cNvSpPr txBox="1"/>
          <p:nvPr/>
        </p:nvSpPr>
        <p:spPr>
          <a:xfrm>
            <a:off x="9052560" y="1371600"/>
            <a:ext cx="1097280" cy="292608"/>
          </a:xfrm>
          <a:prstGeom prst="rect">
            <a:avLst/>
          </a:prstGeom>
          <a:noFill/>
          <a:ln/>
        </p:spPr>
        <p:txBody>
          <a:bodyPr wrap="square" lIns="0" tIns="0" rIns="0" bIns="0" rtlCol="0" anchor="ctr"/>
          <a:lstStyle/>
          <a:p>
            <a:pPr indent="0" marL="0">
              <a:buNone/>
            </a:pPr>
            <a:r>
              <a:rPr lang="en-US" sz="1300" dirty="0">
                <a:solidFill>
                  <a:schemeClr val="tx1"/>
                </a:solidFill>
              </a:rPr>
              <a:t>größer/gleich</a:t>
            </a:r>
            <a:endParaRPr lang="en-US" sz="1300" dirty="0"/>
          </a:p>
        </p:txBody>
      </p:sp>
      <p:sp>
        <p:nvSpPr>
          <p:cNvPr id="12" name="Legende 0"/>
          <p:cNvSpPr txBox="1"/>
          <p:nvPr/>
        </p:nvSpPr>
        <p:spPr>
          <a:xfrm>
            <a:off x="10149840" y="1371600"/>
            <a:ext cx="292608" cy="292608"/>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endParaRPr lang="en-US" sz="1600" dirty="0"/>
          </a:p>
        </p:txBody>
      </p:sp>
      <p:sp>
        <p:nvSpPr>
          <p:cNvPr id="13" name="Text 11"/>
          <p:cNvSpPr txBox="1"/>
          <p:nvPr/>
        </p:nvSpPr>
        <p:spPr>
          <a:xfrm>
            <a:off x="10515600" y="1371600"/>
            <a:ext cx="1097280" cy="292608"/>
          </a:xfrm>
          <a:prstGeom prst="rect">
            <a:avLst/>
          </a:prstGeom>
          <a:noFill/>
          <a:ln/>
        </p:spPr>
        <p:txBody>
          <a:bodyPr wrap="square" lIns="0" tIns="0" rIns="0" bIns="0" rtlCol="0" anchor="ctr"/>
          <a:lstStyle/>
          <a:p>
            <a:pPr indent="0" marL="0">
              <a:buNone/>
            </a:pPr>
            <a:r>
              <a:rPr lang="en-US" sz="1300" dirty="0">
                <a:solidFill>
                  <a:schemeClr val="tx1"/>
                </a:solidFill>
              </a:rPr>
              <a:t>getauscht</a:t>
            </a:r>
            <a:endParaRPr lang="en-US" sz="1300" dirty="0"/>
          </a:p>
        </p:txBody>
      </p:sp>
      <p:sp>
        <p:nvSpPr>
          <p:cNvPr id="14" name="Text 12"/>
          <p:cNvSpPr txBox="1"/>
          <p:nvPr/>
        </p:nvSpPr>
        <p:spPr>
          <a:xfrm>
            <a:off x="8001000" y="1810512"/>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15" name="Text 13"/>
          <p:cNvSpPr txBox="1"/>
          <p:nvPr/>
        </p:nvSpPr>
        <p:spPr>
          <a:xfrm>
            <a:off x="8503920" y="1810512"/>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16" name="Text 14"/>
          <p:cNvSpPr txBox="1"/>
          <p:nvPr/>
        </p:nvSpPr>
        <p:spPr>
          <a:xfrm>
            <a:off x="9006840" y="1810512"/>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17" name="Text 15"/>
          <p:cNvSpPr txBox="1"/>
          <p:nvPr/>
        </p:nvSpPr>
        <p:spPr>
          <a:xfrm>
            <a:off x="9509760" y="1810512"/>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18" name="Text 16"/>
          <p:cNvSpPr txBox="1"/>
          <p:nvPr/>
        </p:nvSpPr>
        <p:spPr>
          <a:xfrm>
            <a:off x="10012680" y="1810512"/>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19" name="Text 17"/>
          <p:cNvSpPr txBox="1"/>
          <p:nvPr/>
        </p:nvSpPr>
        <p:spPr>
          <a:xfrm>
            <a:off x="10515600" y="1810512"/>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5</a:t>
            </a:r>
            <a:endParaRPr lang="en-US" sz="1300" dirty="0"/>
          </a:p>
        </p:txBody>
      </p:sp>
      <p:sp>
        <p:nvSpPr>
          <p:cNvPr id="20" name="Text 18"/>
          <p:cNvSpPr txBox="1"/>
          <p:nvPr/>
        </p:nvSpPr>
        <p:spPr>
          <a:xfrm>
            <a:off x="11064240" y="1810512"/>
            <a:ext cx="548640" cy="256032"/>
          </a:xfrm>
          <a:prstGeom prst="rect">
            <a:avLst/>
          </a:prstGeom>
          <a:noFill/>
          <a:ln/>
        </p:spPr>
        <p:txBody>
          <a:bodyPr wrap="square" lIns="0" tIns="0" rIns="0" bIns="0" rtlCol="0" anchor="t"/>
          <a:lstStyle/>
          <a:p>
            <a:pPr algn="ctr" indent="0" marL="0">
              <a:buNone/>
            </a:pPr>
            <a:r>
              <a:rPr lang="en-US" sz="1200" b="1" dirty="0">
                <a:solidFill>
                  <a:schemeClr val="accent6"/>
                </a:solidFill>
              </a:rPr>
              <a:t>grenze</a:t>
            </a:r>
            <a:endParaRPr lang="en-US" sz="1200" dirty="0"/>
          </a:p>
        </p:txBody>
      </p:sp>
      <p:sp>
        <p:nvSpPr>
          <p:cNvPr id="21" name="Text 19"/>
          <p:cNvSpPr txBox="1"/>
          <p:nvPr/>
        </p:nvSpPr>
        <p:spPr>
          <a:xfrm>
            <a:off x="5760720" y="2103120"/>
            <a:ext cx="2148840" cy="457200"/>
          </a:xfrm>
          <a:prstGeom prst="rect">
            <a:avLst/>
          </a:prstGeom>
          <a:noFill/>
          <a:ln/>
        </p:spPr>
        <p:txBody>
          <a:bodyPr wrap="square" lIns="0" tIns="0" rIns="0" bIns="0" rtlCol="0" anchor="ctr"/>
          <a:lstStyle/>
          <a:p>
            <a:pPr indent="0" marL="0">
              <a:buNone/>
            </a:pPr>
            <a:r>
              <a:rPr lang="en-US" sz="1400" dirty="0">
                <a:solidFill>
                  <a:schemeClr val="tx1"/>
                </a:solidFill>
              </a:rPr>
              <a:t>Start: pivot = 5</a:t>
            </a:r>
            <a:endParaRPr lang="en-US" sz="1400" dirty="0"/>
          </a:p>
        </p:txBody>
      </p:sp>
      <p:sp>
        <p:nvSpPr>
          <p:cNvPr id="22" name="zerlege 0 0"/>
          <p:cNvSpPr txBox="1"/>
          <p:nvPr/>
        </p:nvSpPr>
        <p:spPr>
          <a:xfrm>
            <a:off x="8001000" y="2103120"/>
            <a:ext cx="502920" cy="457200"/>
          </a:xfrm>
          <a:prstGeom prst="rect">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zerlege 0 1"/>
          <p:cNvSpPr txBox="1"/>
          <p:nvPr/>
        </p:nvSpPr>
        <p:spPr>
          <a:xfrm>
            <a:off x="8503920" y="2103120"/>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24" name="zerlege 0 2"/>
          <p:cNvSpPr txBox="1"/>
          <p:nvPr/>
        </p:nvSpPr>
        <p:spPr>
          <a:xfrm>
            <a:off x="9006840" y="2103120"/>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8</a:t>
            </a:r>
            <a:endParaRPr lang="en-US" sz="1600" dirty="0"/>
          </a:p>
        </p:txBody>
      </p:sp>
      <p:sp>
        <p:nvSpPr>
          <p:cNvPr id="25" name="zerlege 0 3"/>
          <p:cNvSpPr txBox="1"/>
          <p:nvPr/>
        </p:nvSpPr>
        <p:spPr>
          <a:xfrm>
            <a:off x="9509760" y="2103120"/>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26" name="zerlege 0 4"/>
          <p:cNvSpPr txBox="1"/>
          <p:nvPr/>
        </p:nvSpPr>
        <p:spPr>
          <a:xfrm>
            <a:off x="10012680" y="2103120"/>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9</a:t>
            </a:r>
            <a:endParaRPr lang="en-US" sz="1600" dirty="0"/>
          </a:p>
        </p:txBody>
      </p:sp>
      <p:sp>
        <p:nvSpPr>
          <p:cNvPr id="27" name="zerlege 0 5"/>
          <p:cNvSpPr txBox="1"/>
          <p:nvPr/>
        </p:nvSpPr>
        <p:spPr>
          <a:xfrm>
            <a:off x="10515600" y="2103120"/>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28" name="Text 26"/>
          <p:cNvSpPr txBox="1"/>
          <p:nvPr/>
        </p:nvSpPr>
        <p:spPr>
          <a:xfrm>
            <a:off x="11064240" y="2103120"/>
            <a:ext cx="548640" cy="457200"/>
          </a:xfrm>
          <a:prstGeom prst="rect">
            <a:avLst/>
          </a:prstGeom>
          <a:noFill/>
          <a:ln/>
        </p:spPr>
        <p:txBody>
          <a:bodyPr wrap="square" lIns="0" tIns="0" rIns="0" bIns="0" rtlCol="0" anchor="ctr"/>
          <a:lstStyle/>
          <a:p>
            <a:pPr algn="ctr" indent="0" marL="0">
              <a:buNone/>
            </a:pPr>
            <a:r>
              <a:rPr lang="en-US" sz="1600" b="1" dirty="0">
                <a:solidFill>
                  <a:schemeClr val="accent1"/>
                </a:solidFill>
              </a:rPr>
              <a:t>0</a:t>
            </a:r>
            <a:endParaRPr lang="en-US" sz="1600" dirty="0"/>
          </a:p>
        </p:txBody>
      </p:sp>
      <p:sp>
        <p:nvSpPr>
          <p:cNvPr id="29" name="Text 27"/>
          <p:cNvSpPr txBox="1"/>
          <p:nvPr/>
        </p:nvSpPr>
        <p:spPr>
          <a:xfrm>
            <a:off x="5760720" y="2670048"/>
            <a:ext cx="2148840" cy="457200"/>
          </a:xfrm>
          <a:prstGeom prst="rect">
            <a:avLst/>
          </a:prstGeom>
          <a:noFill/>
          <a:ln/>
        </p:spPr>
        <p:txBody>
          <a:bodyPr wrap="square" lIns="0" tIns="0" rIns="0" bIns="0" rtlCol="0" anchor="ctr"/>
          <a:lstStyle/>
          <a:p>
            <a:pPr indent="0" marL="0">
              <a:buNone/>
            </a:pPr>
            <a:r>
              <a:rPr lang="en-US" sz="1400" dirty="0">
                <a:solidFill>
                  <a:schemeClr val="tx1"/>
                </a:solidFill>
              </a:rPr>
              <a:t>i = 1: 3 &lt; 5 ja</a:t>
            </a:r>
            <a:endParaRPr lang="en-US" sz="1400" dirty="0"/>
          </a:p>
        </p:txBody>
      </p:sp>
      <p:sp>
        <p:nvSpPr>
          <p:cNvPr id="30" name="zerlege 1 0"/>
          <p:cNvSpPr txBox="1"/>
          <p:nvPr/>
        </p:nvSpPr>
        <p:spPr>
          <a:xfrm>
            <a:off x="8001000" y="2670048"/>
            <a:ext cx="502920" cy="457200"/>
          </a:xfrm>
          <a:prstGeom prst="rect">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1" name="zerlege 1 1"/>
          <p:cNvSpPr txBox="1"/>
          <p:nvPr/>
        </p:nvSpPr>
        <p:spPr>
          <a:xfrm>
            <a:off x="8503920" y="2670048"/>
            <a:ext cx="502920"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32" name="zerlege 1 2"/>
          <p:cNvSpPr txBox="1"/>
          <p:nvPr/>
        </p:nvSpPr>
        <p:spPr>
          <a:xfrm>
            <a:off x="9006840" y="2670048"/>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8</a:t>
            </a:r>
            <a:endParaRPr lang="en-US" sz="1600" dirty="0"/>
          </a:p>
        </p:txBody>
      </p:sp>
      <p:sp>
        <p:nvSpPr>
          <p:cNvPr id="33" name="zerlege 1 3"/>
          <p:cNvSpPr txBox="1"/>
          <p:nvPr/>
        </p:nvSpPr>
        <p:spPr>
          <a:xfrm>
            <a:off x="9509760" y="2670048"/>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34" name="zerlege 1 4"/>
          <p:cNvSpPr txBox="1"/>
          <p:nvPr/>
        </p:nvSpPr>
        <p:spPr>
          <a:xfrm>
            <a:off x="10012680" y="2670048"/>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9</a:t>
            </a:r>
            <a:endParaRPr lang="en-US" sz="1600" dirty="0"/>
          </a:p>
        </p:txBody>
      </p:sp>
      <p:sp>
        <p:nvSpPr>
          <p:cNvPr id="35" name="zerlege 1 5"/>
          <p:cNvSpPr txBox="1"/>
          <p:nvPr/>
        </p:nvSpPr>
        <p:spPr>
          <a:xfrm>
            <a:off x="10515600" y="2670048"/>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36" name="Text 34"/>
          <p:cNvSpPr txBox="1"/>
          <p:nvPr/>
        </p:nvSpPr>
        <p:spPr>
          <a:xfrm>
            <a:off x="11064240" y="2670048"/>
            <a:ext cx="548640" cy="45720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37" name="Text 35"/>
          <p:cNvSpPr txBox="1"/>
          <p:nvPr/>
        </p:nvSpPr>
        <p:spPr>
          <a:xfrm>
            <a:off x="5760720" y="3236976"/>
            <a:ext cx="2148840" cy="457200"/>
          </a:xfrm>
          <a:prstGeom prst="rect">
            <a:avLst/>
          </a:prstGeom>
          <a:noFill/>
          <a:ln/>
        </p:spPr>
        <p:txBody>
          <a:bodyPr wrap="square" lIns="0" tIns="0" rIns="0" bIns="0" rtlCol="0" anchor="ctr"/>
          <a:lstStyle/>
          <a:p>
            <a:pPr indent="0" marL="0">
              <a:buNone/>
            </a:pPr>
            <a:r>
              <a:rPr lang="en-US" sz="1400" dirty="0">
                <a:solidFill>
                  <a:schemeClr val="tx1"/>
                </a:solidFill>
              </a:rPr>
              <a:t>i = 2: 8 &lt; 5 nein</a:t>
            </a:r>
            <a:endParaRPr lang="en-US" sz="1400" dirty="0"/>
          </a:p>
        </p:txBody>
      </p:sp>
      <p:sp>
        <p:nvSpPr>
          <p:cNvPr id="38" name="zerlege 2 0"/>
          <p:cNvSpPr txBox="1"/>
          <p:nvPr/>
        </p:nvSpPr>
        <p:spPr>
          <a:xfrm>
            <a:off x="8001000" y="3236976"/>
            <a:ext cx="502920" cy="457200"/>
          </a:xfrm>
          <a:prstGeom prst="rect">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9" name="zerlege 2 1"/>
          <p:cNvSpPr txBox="1"/>
          <p:nvPr/>
        </p:nvSpPr>
        <p:spPr>
          <a:xfrm>
            <a:off x="8503920" y="3236976"/>
            <a:ext cx="502920"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40" name="zerlege 2 2"/>
          <p:cNvSpPr txBox="1"/>
          <p:nvPr/>
        </p:nvSpPr>
        <p:spPr>
          <a:xfrm>
            <a:off x="9006840" y="3236976"/>
            <a:ext cx="502920" cy="457200"/>
          </a:xfrm>
          <a:prstGeom prst="rect">
            <a:avLst/>
          </a:prstGeom>
          <a:solidFill>
            <a:srgbClr val="FBE5E5"/>
          </a:solidFill>
          <a:ln w="15875">
            <a:solidFill>
              <a:schemeClr val="accent4"/>
            </a:solidFill>
            <a:prstDash val="solid"/>
          </a:ln>
        </p:spPr>
        <p:txBody>
          <a:bodyPr wrap="square" lIns="0" tIns="0" rIns="0" bIns="0" rtlCol="0" anchor="ctr"/>
          <a:lstStyle/>
          <a:p>
            <a:pPr algn="ctr" indent="0" marL="0">
              <a:buNone/>
            </a:pPr>
            <a:r>
              <a:rPr lang="en-US" sz="1600" b="1" dirty="0">
                <a:solidFill>
                  <a:schemeClr val="accent4"/>
                </a:solidFill>
              </a:rPr>
              <a:t>8</a:t>
            </a:r>
            <a:endParaRPr lang="en-US" sz="1600" dirty="0"/>
          </a:p>
        </p:txBody>
      </p:sp>
      <p:sp>
        <p:nvSpPr>
          <p:cNvPr id="41" name="zerlege 2 3"/>
          <p:cNvSpPr txBox="1"/>
          <p:nvPr/>
        </p:nvSpPr>
        <p:spPr>
          <a:xfrm>
            <a:off x="9509760" y="3236976"/>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42" name="zerlege 2 4"/>
          <p:cNvSpPr txBox="1"/>
          <p:nvPr/>
        </p:nvSpPr>
        <p:spPr>
          <a:xfrm>
            <a:off x="10012680" y="3236976"/>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9</a:t>
            </a:r>
            <a:endParaRPr lang="en-US" sz="1600" dirty="0"/>
          </a:p>
        </p:txBody>
      </p:sp>
      <p:sp>
        <p:nvSpPr>
          <p:cNvPr id="43" name="zerlege 2 5"/>
          <p:cNvSpPr txBox="1"/>
          <p:nvPr/>
        </p:nvSpPr>
        <p:spPr>
          <a:xfrm>
            <a:off x="10515600" y="3236976"/>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44" name="Text 42"/>
          <p:cNvSpPr txBox="1"/>
          <p:nvPr/>
        </p:nvSpPr>
        <p:spPr>
          <a:xfrm>
            <a:off x="11064240" y="3236976"/>
            <a:ext cx="548640" cy="45720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45" name="Text 43"/>
          <p:cNvSpPr txBox="1"/>
          <p:nvPr/>
        </p:nvSpPr>
        <p:spPr>
          <a:xfrm>
            <a:off x="5760720" y="3803904"/>
            <a:ext cx="2148840" cy="457200"/>
          </a:xfrm>
          <a:prstGeom prst="rect">
            <a:avLst/>
          </a:prstGeom>
          <a:noFill/>
          <a:ln/>
        </p:spPr>
        <p:txBody>
          <a:bodyPr wrap="square" lIns="0" tIns="0" rIns="0" bIns="0" rtlCol="0" anchor="ctr"/>
          <a:lstStyle/>
          <a:p>
            <a:pPr indent="0" marL="0">
              <a:buNone/>
            </a:pPr>
            <a:r>
              <a:rPr lang="en-US" sz="1400" dirty="0">
                <a:solidFill>
                  <a:schemeClr val="tx1"/>
                </a:solidFill>
              </a:rPr>
              <a:t>i = 3: 1 &lt; 5 ja</a:t>
            </a:r>
            <a:endParaRPr lang="en-US" sz="1400" dirty="0"/>
          </a:p>
        </p:txBody>
      </p:sp>
      <p:sp>
        <p:nvSpPr>
          <p:cNvPr id="46" name="zerlege 3 0"/>
          <p:cNvSpPr txBox="1"/>
          <p:nvPr/>
        </p:nvSpPr>
        <p:spPr>
          <a:xfrm>
            <a:off x="8001000" y="3803904"/>
            <a:ext cx="502920" cy="457200"/>
          </a:xfrm>
          <a:prstGeom prst="rect">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47" name="zerlege 3 1"/>
          <p:cNvSpPr txBox="1"/>
          <p:nvPr/>
        </p:nvSpPr>
        <p:spPr>
          <a:xfrm>
            <a:off x="8503920" y="3803904"/>
            <a:ext cx="502920"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48" name="zerlege 3 2"/>
          <p:cNvSpPr txBox="1"/>
          <p:nvPr/>
        </p:nvSpPr>
        <p:spPr>
          <a:xfrm>
            <a:off x="9006840" y="3803904"/>
            <a:ext cx="502920"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49" name="zerlege 3 3"/>
          <p:cNvSpPr txBox="1"/>
          <p:nvPr/>
        </p:nvSpPr>
        <p:spPr>
          <a:xfrm>
            <a:off x="9509760" y="3803904"/>
            <a:ext cx="502920"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8</a:t>
            </a:r>
            <a:endParaRPr lang="en-US" sz="1600" dirty="0"/>
          </a:p>
        </p:txBody>
      </p:sp>
      <p:sp>
        <p:nvSpPr>
          <p:cNvPr id="50" name="zerlege 3 4"/>
          <p:cNvSpPr txBox="1"/>
          <p:nvPr/>
        </p:nvSpPr>
        <p:spPr>
          <a:xfrm>
            <a:off x="10012680" y="3803904"/>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9</a:t>
            </a:r>
            <a:endParaRPr lang="en-US" sz="1600" dirty="0"/>
          </a:p>
        </p:txBody>
      </p:sp>
      <p:sp>
        <p:nvSpPr>
          <p:cNvPr id="51" name="zerlege 3 5"/>
          <p:cNvSpPr txBox="1"/>
          <p:nvPr/>
        </p:nvSpPr>
        <p:spPr>
          <a:xfrm>
            <a:off x="10515600" y="3803904"/>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52" name="Text 50"/>
          <p:cNvSpPr txBox="1"/>
          <p:nvPr/>
        </p:nvSpPr>
        <p:spPr>
          <a:xfrm>
            <a:off x="11064240" y="3803904"/>
            <a:ext cx="548640" cy="45720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53" name="Text 51"/>
          <p:cNvSpPr txBox="1"/>
          <p:nvPr/>
        </p:nvSpPr>
        <p:spPr>
          <a:xfrm>
            <a:off x="5760720" y="4370832"/>
            <a:ext cx="2148840" cy="457200"/>
          </a:xfrm>
          <a:prstGeom prst="rect">
            <a:avLst/>
          </a:prstGeom>
          <a:noFill/>
          <a:ln/>
        </p:spPr>
        <p:txBody>
          <a:bodyPr wrap="square" lIns="0" tIns="0" rIns="0" bIns="0" rtlCol="0" anchor="ctr"/>
          <a:lstStyle/>
          <a:p>
            <a:pPr indent="0" marL="0">
              <a:buNone/>
            </a:pPr>
            <a:r>
              <a:rPr lang="en-US" sz="1400" dirty="0">
                <a:solidFill>
                  <a:schemeClr val="tx1"/>
                </a:solidFill>
              </a:rPr>
              <a:t>i = 4: 9 &lt; 5 nein</a:t>
            </a:r>
            <a:endParaRPr lang="en-US" sz="1400" dirty="0"/>
          </a:p>
        </p:txBody>
      </p:sp>
      <p:sp>
        <p:nvSpPr>
          <p:cNvPr id="54" name="zerlege 4 0"/>
          <p:cNvSpPr txBox="1"/>
          <p:nvPr/>
        </p:nvSpPr>
        <p:spPr>
          <a:xfrm>
            <a:off x="8001000" y="4370832"/>
            <a:ext cx="502920" cy="457200"/>
          </a:xfrm>
          <a:prstGeom prst="rect">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55" name="zerlege 4 1"/>
          <p:cNvSpPr txBox="1"/>
          <p:nvPr/>
        </p:nvSpPr>
        <p:spPr>
          <a:xfrm>
            <a:off x="8503920" y="4370832"/>
            <a:ext cx="502920"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56" name="zerlege 4 2"/>
          <p:cNvSpPr txBox="1"/>
          <p:nvPr/>
        </p:nvSpPr>
        <p:spPr>
          <a:xfrm>
            <a:off x="9006840" y="4370832"/>
            <a:ext cx="502920"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57" name="zerlege 4 3"/>
          <p:cNvSpPr txBox="1"/>
          <p:nvPr/>
        </p:nvSpPr>
        <p:spPr>
          <a:xfrm>
            <a:off x="9509760" y="4370832"/>
            <a:ext cx="502920" cy="457200"/>
          </a:xfrm>
          <a:prstGeom prst="rect">
            <a:avLst/>
          </a:prstGeom>
          <a:solidFill>
            <a:srgbClr val="FBE5E5"/>
          </a:solidFill>
          <a:ln w="15875">
            <a:solidFill>
              <a:schemeClr val="accent4"/>
            </a:solidFill>
            <a:prstDash val="solid"/>
          </a:ln>
        </p:spPr>
        <p:txBody>
          <a:bodyPr wrap="square" lIns="0" tIns="0" rIns="0" bIns="0" rtlCol="0" anchor="ctr"/>
          <a:lstStyle/>
          <a:p>
            <a:pPr algn="ctr" indent="0" marL="0">
              <a:buNone/>
            </a:pPr>
            <a:r>
              <a:rPr lang="en-US" sz="1600" b="1" dirty="0">
                <a:solidFill>
                  <a:schemeClr val="accent4"/>
                </a:solidFill>
              </a:rPr>
              <a:t>8</a:t>
            </a:r>
            <a:endParaRPr lang="en-US" sz="1600" dirty="0"/>
          </a:p>
        </p:txBody>
      </p:sp>
      <p:sp>
        <p:nvSpPr>
          <p:cNvPr id="58" name="zerlege 4 4"/>
          <p:cNvSpPr txBox="1"/>
          <p:nvPr/>
        </p:nvSpPr>
        <p:spPr>
          <a:xfrm>
            <a:off x="10012680" y="4370832"/>
            <a:ext cx="502920" cy="457200"/>
          </a:xfrm>
          <a:prstGeom prst="rect">
            <a:avLst/>
          </a:prstGeom>
          <a:solidFill>
            <a:srgbClr val="FBE5E5"/>
          </a:solidFill>
          <a:ln w="15875">
            <a:solidFill>
              <a:schemeClr val="accent4"/>
            </a:solidFill>
            <a:prstDash val="solid"/>
          </a:ln>
        </p:spPr>
        <p:txBody>
          <a:bodyPr wrap="square" lIns="0" tIns="0" rIns="0" bIns="0" rtlCol="0" anchor="ctr"/>
          <a:lstStyle/>
          <a:p>
            <a:pPr algn="ctr" indent="0" marL="0">
              <a:buNone/>
            </a:pPr>
            <a:r>
              <a:rPr lang="en-US" sz="1600" b="1" dirty="0">
                <a:solidFill>
                  <a:schemeClr val="accent4"/>
                </a:solidFill>
              </a:rPr>
              <a:t>9</a:t>
            </a:r>
            <a:endParaRPr lang="en-US" sz="1600" dirty="0"/>
          </a:p>
        </p:txBody>
      </p:sp>
      <p:sp>
        <p:nvSpPr>
          <p:cNvPr id="59" name="zerlege 4 5"/>
          <p:cNvSpPr txBox="1"/>
          <p:nvPr/>
        </p:nvSpPr>
        <p:spPr>
          <a:xfrm>
            <a:off x="10515600" y="4370832"/>
            <a:ext cx="5029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60" name="Text 58"/>
          <p:cNvSpPr txBox="1"/>
          <p:nvPr/>
        </p:nvSpPr>
        <p:spPr>
          <a:xfrm>
            <a:off x="11064240" y="4370832"/>
            <a:ext cx="548640" cy="45720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61" name="Text 59"/>
          <p:cNvSpPr txBox="1"/>
          <p:nvPr/>
        </p:nvSpPr>
        <p:spPr>
          <a:xfrm>
            <a:off x="5760720" y="4937760"/>
            <a:ext cx="2148840" cy="457200"/>
          </a:xfrm>
          <a:prstGeom prst="rect">
            <a:avLst/>
          </a:prstGeom>
          <a:noFill/>
          <a:ln/>
        </p:spPr>
        <p:txBody>
          <a:bodyPr wrap="square" lIns="0" tIns="0" rIns="0" bIns="0" rtlCol="0" anchor="ctr"/>
          <a:lstStyle/>
          <a:p>
            <a:pPr indent="0" marL="0">
              <a:buNone/>
            </a:pPr>
            <a:r>
              <a:rPr lang="en-US" sz="1400" dirty="0">
                <a:solidFill>
                  <a:schemeClr val="tx1"/>
                </a:solidFill>
              </a:rPr>
              <a:t>i = 5: 2 &lt; 5 ja</a:t>
            </a:r>
            <a:endParaRPr lang="en-US" sz="1400" dirty="0"/>
          </a:p>
        </p:txBody>
      </p:sp>
      <p:sp>
        <p:nvSpPr>
          <p:cNvPr id="62" name="zerlege 5 0"/>
          <p:cNvSpPr txBox="1"/>
          <p:nvPr/>
        </p:nvSpPr>
        <p:spPr>
          <a:xfrm>
            <a:off x="8001000" y="4937760"/>
            <a:ext cx="502920" cy="457200"/>
          </a:xfrm>
          <a:prstGeom prst="rect">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63" name="zerlege 5 1"/>
          <p:cNvSpPr txBox="1"/>
          <p:nvPr/>
        </p:nvSpPr>
        <p:spPr>
          <a:xfrm>
            <a:off x="8503920" y="4937760"/>
            <a:ext cx="502920"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64" name="zerlege 5 2"/>
          <p:cNvSpPr txBox="1"/>
          <p:nvPr/>
        </p:nvSpPr>
        <p:spPr>
          <a:xfrm>
            <a:off x="9006840" y="4937760"/>
            <a:ext cx="502920"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65" name="zerlege 5 3"/>
          <p:cNvSpPr txBox="1"/>
          <p:nvPr/>
        </p:nvSpPr>
        <p:spPr>
          <a:xfrm>
            <a:off x="9509760" y="4937760"/>
            <a:ext cx="502920"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66" name="zerlege 5 4"/>
          <p:cNvSpPr txBox="1"/>
          <p:nvPr/>
        </p:nvSpPr>
        <p:spPr>
          <a:xfrm>
            <a:off x="10012680" y="4937760"/>
            <a:ext cx="502920" cy="457200"/>
          </a:xfrm>
          <a:prstGeom prst="rect">
            <a:avLst/>
          </a:prstGeom>
          <a:solidFill>
            <a:srgbClr val="FBE5E5"/>
          </a:solidFill>
          <a:ln w="15875">
            <a:solidFill>
              <a:schemeClr val="accent4"/>
            </a:solidFill>
            <a:prstDash val="solid"/>
          </a:ln>
        </p:spPr>
        <p:txBody>
          <a:bodyPr wrap="square" lIns="0" tIns="0" rIns="0" bIns="0" rtlCol="0" anchor="ctr"/>
          <a:lstStyle/>
          <a:p>
            <a:pPr algn="ctr" indent="0" marL="0">
              <a:buNone/>
            </a:pPr>
            <a:r>
              <a:rPr lang="en-US" sz="1600" b="1" dirty="0">
                <a:solidFill>
                  <a:schemeClr val="accent4"/>
                </a:solidFill>
              </a:rPr>
              <a:t>9</a:t>
            </a:r>
            <a:endParaRPr lang="en-US" sz="1600" dirty="0"/>
          </a:p>
        </p:txBody>
      </p:sp>
      <p:sp>
        <p:nvSpPr>
          <p:cNvPr id="67" name="zerlege 5 5"/>
          <p:cNvSpPr txBox="1"/>
          <p:nvPr/>
        </p:nvSpPr>
        <p:spPr>
          <a:xfrm>
            <a:off x="10515600" y="4937760"/>
            <a:ext cx="502920"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8</a:t>
            </a:r>
            <a:endParaRPr lang="en-US" sz="1600" dirty="0"/>
          </a:p>
        </p:txBody>
      </p:sp>
      <p:sp>
        <p:nvSpPr>
          <p:cNvPr id="68" name="Text 66"/>
          <p:cNvSpPr txBox="1"/>
          <p:nvPr/>
        </p:nvSpPr>
        <p:spPr>
          <a:xfrm>
            <a:off x="11064240" y="4937760"/>
            <a:ext cx="548640" cy="45720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69" name="Text 67"/>
          <p:cNvSpPr txBox="1"/>
          <p:nvPr/>
        </p:nvSpPr>
        <p:spPr>
          <a:xfrm>
            <a:off x="5760720" y="5504688"/>
            <a:ext cx="2148840" cy="457200"/>
          </a:xfrm>
          <a:prstGeom prst="rect">
            <a:avLst/>
          </a:prstGeom>
          <a:noFill/>
          <a:ln/>
        </p:spPr>
        <p:txBody>
          <a:bodyPr wrap="square" lIns="0" tIns="0" rIns="0" bIns="0" rtlCol="0" anchor="ctr"/>
          <a:lstStyle/>
          <a:p>
            <a:pPr indent="0" marL="0">
              <a:buNone/>
            </a:pPr>
            <a:r>
              <a:rPr lang="en-US" sz="1400" b="1" dirty="0">
                <a:solidFill>
                  <a:schemeClr val="accent1"/>
                </a:solidFill>
              </a:rPr>
              <a:t>Ende: tausche r[0], r[3]</a:t>
            </a:r>
            <a:endParaRPr lang="en-US" sz="1400" dirty="0"/>
          </a:p>
        </p:txBody>
      </p:sp>
      <p:sp>
        <p:nvSpPr>
          <p:cNvPr id="70" name="zerlege 6 0"/>
          <p:cNvSpPr txBox="1"/>
          <p:nvPr/>
        </p:nvSpPr>
        <p:spPr>
          <a:xfrm>
            <a:off x="8001000" y="5504688"/>
            <a:ext cx="502920"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71" name="zerlege 6 1"/>
          <p:cNvSpPr txBox="1"/>
          <p:nvPr/>
        </p:nvSpPr>
        <p:spPr>
          <a:xfrm>
            <a:off x="8503920" y="5504688"/>
            <a:ext cx="502920"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72" name="zerlege 6 2"/>
          <p:cNvSpPr txBox="1"/>
          <p:nvPr/>
        </p:nvSpPr>
        <p:spPr>
          <a:xfrm>
            <a:off x="9006840" y="5504688"/>
            <a:ext cx="502920"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73" name="zerlege 6 3"/>
          <p:cNvSpPr txBox="1"/>
          <p:nvPr/>
        </p:nvSpPr>
        <p:spPr>
          <a:xfrm>
            <a:off x="9509760" y="5504688"/>
            <a:ext cx="502920"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5</a:t>
            </a:r>
            <a:endParaRPr lang="en-US" sz="1600" dirty="0"/>
          </a:p>
        </p:txBody>
      </p:sp>
      <p:sp>
        <p:nvSpPr>
          <p:cNvPr id="74" name="zerlege 6 4"/>
          <p:cNvSpPr txBox="1"/>
          <p:nvPr/>
        </p:nvSpPr>
        <p:spPr>
          <a:xfrm>
            <a:off x="10012680" y="5504688"/>
            <a:ext cx="502920" cy="457200"/>
          </a:xfrm>
          <a:prstGeom prst="rect">
            <a:avLst/>
          </a:prstGeom>
          <a:solidFill>
            <a:srgbClr val="FBE5E5"/>
          </a:solidFill>
          <a:ln w="15875">
            <a:solidFill>
              <a:schemeClr val="accent4"/>
            </a:solidFill>
            <a:prstDash val="solid"/>
          </a:ln>
        </p:spPr>
        <p:txBody>
          <a:bodyPr wrap="square" lIns="0" tIns="0" rIns="0" bIns="0" rtlCol="0" anchor="ctr"/>
          <a:lstStyle/>
          <a:p>
            <a:pPr algn="ctr" indent="0" marL="0">
              <a:buNone/>
            </a:pPr>
            <a:r>
              <a:rPr lang="en-US" sz="1600" b="1" dirty="0">
                <a:solidFill>
                  <a:schemeClr val="accent4"/>
                </a:solidFill>
              </a:rPr>
              <a:t>9</a:t>
            </a:r>
            <a:endParaRPr lang="en-US" sz="1600" dirty="0"/>
          </a:p>
        </p:txBody>
      </p:sp>
      <p:sp>
        <p:nvSpPr>
          <p:cNvPr id="75" name="zerlege 6 5"/>
          <p:cNvSpPr txBox="1"/>
          <p:nvPr/>
        </p:nvSpPr>
        <p:spPr>
          <a:xfrm>
            <a:off x="10515600" y="5504688"/>
            <a:ext cx="502920" cy="457200"/>
          </a:xfrm>
          <a:prstGeom prst="rect">
            <a:avLst/>
          </a:prstGeom>
          <a:solidFill>
            <a:srgbClr val="FBE5E5"/>
          </a:solidFill>
          <a:ln w="15875">
            <a:solidFill>
              <a:schemeClr val="accent4"/>
            </a:solidFill>
            <a:prstDash val="solid"/>
          </a:ln>
        </p:spPr>
        <p:txBody>
          <a:bodyPr wrap="square" lIns="0" tIns="0" rIns="0" bIns="0" rtlCol="0" anchor="ctr"/>
          <a:lstStyle/>
          <a:p>
            <a:pPr algn="ctr" indent="0" marL="0">
              <a:buNone/>
            </a:pPr>
            <a:r>
              <a:rPr lang="en-US" sz="1600" b="1" dirty="0">
                <a:solidFill>
                  <a:schemeClr val="accent4"/>
                </a:solidFill>
              </a:rPr>
              <a:t>8</a:t>
            </a:r>
            <a:endParaRPr lang="en-US" sz="1600" dirty="0"/>
          </a:p>
        </p:txBody>
      </p:sp>
      <p:sp>
        <p:nvSpPr>
          <p:cNvPr id="76" name="Text 74"/>
          <p:cNvSpPr txBox="1"/>
          <p:nvPr/>
        </p:nvSpPr>
        <p:spPr>
          <a:xfrm>
            <a:off x="11064240" y="5504688"/>
            <a:ext cx="548640" cy="45720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77" name="Text 75"/>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22 · Quicksort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Quicksort rekursiv – und der Vergleich der Verfahren</a:t>
            </a:r>
            <a:endParaRPr lang="en-US" sz="3600" dirty="0"/>
          </a:p>
        </p:txBody>
      </p:sp>
      <p:sp>
        <p:nvSpPr>
          <p:cNvPr id="3" name="Code"/>
          <p:cNvSpPr txBox="1"/>
          <p:nvPr/>
        </p:nvSpPr>
        <p:spPr>
          <a:xfrm>
            <a:off x="548640" y="1325880"/>
            <a:ext cx="5486400" cy="1635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void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quickSort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lo</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lo</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zerlege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lo</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quickSort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lo</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quickSort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4" name="Text 2"/>
          <p:cNvSpPr txBox="1"/>
          <p:nvPr/>
        </p:nvSpPr>
        <p:spPr>
          <a:xfrm>
            <a:off x="548640" y="3108960"/>
            <a:ext cx="5486400" cy="32004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quickSort({4, 8, 2, 9, 3, 7, 1})</a:t>
            </a:r>
            <a:pPr indent="0" marL="0">
              <a:buNone/>
            </a:pPr>
            <a:r>
              <a:rPr lang="en-US" sz="1400" dirty="0">
                <a:solidFill>
                  <a:schemeClr val="tx1"/>
                </a:solidFill>
              </a:rPr>
              <a:t> · Zustand je zerlege</a:t>
            </a:r>
            <a:endParaRPr lang="en-US" sz="1400" dirty="0"/>
          </a:p>
        </p:txBody>
      </p:sp>
      <p:graphicFrame>
        <p:nvGraphicFramePr>
          <p:cNvPr id="27" name="Quicksort Verlauf"/>
          <p:cNvGraphicFramePr>
            <a:graphicFrameLocks noGrp="1"/>
          </p:cNvGraphicFramePr>
          <p:nvPr>
            <p:extLst>
              <p:ext uri="{D42A27DB-BD31-4B8C-83A1-F6EECF244321}">
                <p14:modId xmlns:p14="http://schemas.microsoft.com/office/powerpoint/2010/main" val="1579011935"/>
              </p:ext>
            </p:extLst>
          </p:nvPr>
        </p:nvGraphicFramePr>
        <p:xfrm>
          <a:off x="548640" y="3474720"/>
          <a:ext cx="5486400" cy="914400"/>
        </p:xfrm>
        <a:graphic>
          <a:graphicData uri="http://schemas.openxmlformats.org/drawingml/2006/table">
            <a:tbl>
              <a:tblPr/>
              <a:tblGrid>
                <a:gridCol w="822960"/>
                <a:gridCol w="1051560"/>
                <a:gridCol w="548640"/>
                <a:gridCol w="2331720"/>
                <a:gridCol w="731520"/>
              </a:tblGrid>
              <a:tr h="347472">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Tiefe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zerlege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Reihung danach</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Vgl.</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47472">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(0, 6)</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1 2 3 4 8 7 9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6</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(0, 2)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1 2 3 4 8 7 9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1 2 3 4 8 7 9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(4, 6)</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1 2 3 4 7 8 9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Summe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11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6400800" y="1325880"/>
            <a:ext cx="5212080" cy="365760"/>
          </a:xfrm>
          <a:prstGeom prst="rect">
            <a:avLst/>
          </a:prstGeom>
          <a:noFill/>
          <a:ln/>
        </p:spPr>
        <p:txBody>
          <a:bodyPr wrap="square" lIns="0" tIns="0" rIns="0" bIns="0" rtlCol="0" anchor="t"/>
          <a:lstStyle/>
          <a:p>
            <a:pPr indent="0" marL="0">
              <a:buNone/>
            </a:pPr>
            <a:r>
              <a:rPr lang="en-US" sz="1800" b="1" dirty="0">
                <a:solidFill>
                  <a:schemeClr val="accent1"/>
                </a:solidFill>
              </a:rPr>
              <a:t>Vergleiche bei n = 1000 (gemessen)</a:t>
            </a:r>
            <a:endParaRPr lang="en-US" sz="1800" dirty="0"/>
          </a:p>
        </p:txBody>
      </p:sp>
      <p:graphicFrame>
        <p:nvGraphicFramePr>
          <p:cNvPr id="53" name="Vergleich Verfahren"/>
          <p:cNvGraphicFramePr>
            <a:graphicFrameLocks noGrp="1"/>
          </p:cNvGraphicFramePr>
          <p:nvPr>
            <p:extLst>
              <p:ext uri="{D42A27DB-BD31-4B8C-83A1-F6EECF244321}">
                <p14:modId xmlns:p14="http://schemas.microsoft.com/office/powerpoint/2010/main" val="1579011935"/>
              </p:ext>
            </p:extLst>
          </p:nvPr>
        </p:nvGraphicFramePr>
        <p:xfrm>
          <a:off x="6400800" y="1783080"/>
          <a:ext cx="5212080" cy="914400"/>
        </p:xfrm>
        <a:graphic>
          <a:graphicData uri="http://schemas.openxmlformats.org/drawingml/2006/table">
            <a:tbl>
              <a:tblPr/>
              <a:tblGrid>
                <a:gridCol w="1463040"/>
                <a:gridCol w="1097280"/>
                <a:gridCol w="1097280"/>
                <a:gridCol w="1554480"/>
              </a:tblGrid>
              <a:tr h="41148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Verfahren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sortiert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gemischt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Speicher</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11480">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Selectionsort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499 500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499 500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in-place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Mergesort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3"/>
                          </a:solidFill>
                          <a:latin typeface="Consolas" pitchFamily="34" charset="0"/>
                          <a:ea typeface="Consolas" pitchFamily="34" charset="-122"/>
                          <a:cs typeface="Consolas" pitchFamily="34" charset="-120"/>
                        </a:rPr>
                        <a:t>4 932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latin typeface="Consolas" pitchFamily="34" charset="0"/>
                          <a:ea typeface="Consolas" pitchFamily="34" charset="-122"/>
                          <a:cs typeface="Consolas" pitchFamily="34" charset="-120"/>
                        </a:rPr>
                        <a:t>8 716</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neue Reihungen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Quicksort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4"/>
                          </a:solidFill>
                          <a:latin typeface="Consolas" pitchFamily="34" charset="0"/>
                          <a:ea typeface="Consolas" pitchFamily="34" charset="-122"/>
                          <a:cs typeface="Consolas" pitchFamily="34" charset="-120"/>
                        </a:rPr>
                        <a:t>499 500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latin typeface="Consolas" pitchFamily="34" charset="0"/>
                          <a:ea typeface="Consolas" pitchFamily="34" charset="-122"/>
                          <a:cs typeface="Consolas" pitchFamily="34" charset="-120"/>
                        </a:rPr>
                        <a:t>10 325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in-place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8" name="Text 4"/>
          <p:cNvSpPr txBox="1"/>
          <p:nvPr/>
        </p:nvSpPr>
        <p:spPr>
          <a:xfrm>
            <a:off x="6400800" y="3520440"/>
            <a:ext cx="5212080" cy="274320"/>
          </a:xfrm>
          <a:prstGeom prst="rect">
            <a:avLst/>
          </a:prstGeom>
          <a:noFill/>
          <a:ln/>
        </p:spPr>
        <p:txBody>
          <a:bodyPr wrap="square" lIns="0" tIns="0" rIns="0" bIns="0" rtlCol="0" anchor="t"/>
          <a:lstStyle/>
          <a:p>
            <a:pPr indent="0" marL="0">
              <a:buNone/>
            </a:pPr>
            <a:r>
              <a:rPr lang="en-US" sz="1300" i="1" dirty="0">
                <a:solidFill>
                  <a:schemeClr val="accent6"/>
                </a:solidFill>
              </a:rPr>
              <a:t>Quicksort mit Pivot links · gemischt: Pseudozufall wie in Welt 2</a:t>
            </a:r>
            <a:endParaRPr lang="en-US" sz="1300" dirty="0"/>
          </a:p>
        </p:txBody>
      </p:sp>
      <p:sp>
        <p:nvSpPr>
          <p:cNvPr id="9" name="Worst Case Quicksort"/>
          <p:cNvSpPr/>
          <p:nvPr/>
        </p:nvSpPr>
        <p:spPr>
          <a:xfrm>
            <a:off x="6400800" y="3977640"/>
            <a:ext cx="5212080" cy="1097280"/>
          </a:xfrm>
          <a:prstGeom prst="roundRect">
            <a:avLst>
              <a:gd name="adj" fmla="val 10000"/>
            </a:avLst>
          </a:prstGeom>
          <a:solidFill>
            <a:schemeClr val="bg1"/>
          </a:solidFill>
          <a:ln w="25400">
            <a:solidFill>
              <a:schemeClr val="accent4"/>
            </a:solidFill>
            <a:prstDash val="solid"/>
          </a:ln>
        </p:spPr>
      </p:sp>
      <p:sp>
        <p:nvSpPr>
          <p:cNvPr id="10" name="Text 6"/>
          <p:cNvSpPr txBox="1"/>
          <p:nvPr/>
        </p:nvSpPr>
        <p:spPr>
          <a:xfrm>
            <a:off x="6601968" y="3977640"/>
            <a:ext cx="4846320" cy="1097280"/>
          </a:xfrm>
          <a:prstGeom prst="rect">
            <a:avLst/>
          </a:prstGeom>
          <a:noFill/>
          <a:ln/>
        </p:spPr>
        <p:txBody>
          <a:bodyPr wrap="square" lIns="0" tIns="0" rIns="0" bIns="0" rtlCol="0" anchor="ctr"/>
          <a:lstStyle/>
          <a:p>
            <a:pPr indent="0" marL="0">
              <a:buNone/>
            </a:pPr>
            <a:r>
              <a:rPr lang="en-US" sz="1500" b="1" dirty="0">
                <a:solidFill>
                  <a:schemeClr val="accent4"/>
                </a:solidFill>
              </a:rPr>
              <a:t>Schlechtester Fall: </a:t>
            </a:r>
            <a:pPr indent="0" marL="0">
              <a:buNone/>
            </a:pPr>
            <a:r>
              <a:rPr lang="en-US" sz="1500" dirty="0">
                <a:solidFill>
                  <a:schemeClr val="tx1"/>
                </a:solidFill>
              </a:rPr>
              <a:t>sortierte Eingabe – das Pivot ist immer das Minimum: n(n − 1)/2 Vergleiche (n = 6: 15).</a:t>
            </a:r>
            <a:endParaRPr lang="en-US" sz="1500" dirty="0"/>
          </a:p>
        </p:txBody>
      </p:sp>
      <p:sp>
        <p:nvSpPr>
          <p:cNvPr id="11" name="Faustregel"/>
          <p:cNvSpPr/>
          <p:nvPr/>
        </p:nvSpPr>
        <p:spPr>
          <a:xfrm>
            <a:off x="6400800" y="5257800"/>
            <a:ext cx="5212080" cy="868680"/>
          </a:xfrm>
          <a:prstGeom prst="roundRect">
            <a:avLst>
              <a:gd name="adj" fmla="val 12632"/>
            </a:avLst>
          </a:prstGeom>
          <a:solidFill>
            <a:schemeClr val="bg2"/>
          </a:solidFill>
          <a:ln/>
        </p:spPr>
      </p:sp>
      <p:sp>
        <p:nvSpPr>
          <p:cNvPr id="12" name="Text 8"/>
          <p:cNvSpPr txBox="1"/>
          <p:nvPr/>
        </p:nvSpPr>
        <p:spPr>
          <a:xfrm>
            <a:off x="6601968" y="5257800"/>
            <a:ext cx="4846320" cy="868680"/>
          </a:xfrm>
          <a:prstGeom prst="rect">
            <a:avLst/>
          </a:prstGeom>
          <a:noFill/>
          <a:ln/>
        </p:spPr>
        <p:txBody>
          <a:bodyPr wrap="square" lIns="0" tIns="0" rIns="0" bIns="0" rtlCol="0" anchor="ctr"/>
          <a:lstStyle/>
          <a:p>
            <a:pPr indent="0" marL="0">
              <a:buNone/>
            </a:pPr>
            <a:r>
              <a:rPr lang="en-US" sz="1500" b="1" dirty="0">
                <a:solidFill>
                  <a:schemeClr val="accent1"/>
                </a:solidFill>
              </a:rPr>
              <a:t>Faustregel: </a:t>
            </a:r>
            <a:pPr indent="0" marL="0">
              <a:buNone/>
            </a:pPr>
            <a:r>
              <a:rPr lang="en-US" sz="1500" dirty="0">
                <a:solidFill>
                  <a:schemeClr val="tx1"/>
                </a:solidFill>
              </a:rPr>
              <a:t>Halbieren ist der Trick – Mergesort teilt immer gleichmäßig.</a:t>
            </a:r>
            <a:endParaRPr lang="en-US" sz="1500" dirty="0"/>
          </a:p>
        </p:txBody>
      </p:sp>
      <p:sp>
        <p:nvSpPr>
          <p:cNvPr id="13" name="Text 9"/>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22 · Quicksort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Unbekannte rekursive Verfahren analysieren</a:t>
            </a:r>
            <a:endParaRPr lang="en-US" sz="3600" dirty="0"/>
          </a:p>
        </p:txBody>
      </p:sp>
      <p:sp>
        <p:nvSpPr>
          <p:cNvPr id="3" name="Nummer 1"/>
          <p:cNvSpPr txBox="1"/>
          <p:nvPr/>
        </p:nvSpPr>
        <p:spPr>
          <a:xfrm>
            <a:off x="548640" y="1481328"/>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4" name="Text 2"/>
          <p:cNvSpPr txBox="1"/>
          <p:nvPr/>
        </p:nvSpPr>
        <p:spPr>
          <a:xfrm>
            <a:off x="1234440" y="1371600"/>
            <a:ext cx="4480560" cy="822960"/>
          </a:xfrm>
          <a:prstGeom prst="rect">
            <a:avLst/>
          </a:prstGeom>
          <a:noFill/>
          <a:ln/>
        </p:spPr>
        <p:txBody>
          <a:bodyPr wrap="square" lIns="0" tIns="0" rIns="0" bIns="0" rtlCol="0" anchor="t"/>
          <a:lstStyle/>
          <a:p>
            <a:pPr indent="0" marL="0">
              <a:buNone/>
            </a:pPr>
            <a:r>
              <a:rPr lang="en-US" sz="1800" b="1" dirty="0">
                <a:solidFill>
                  <a:schemeClr val="accent1"/>
                </a:solidFill>
              </a:rPr>
              <a:t>Kopf und Basisfall lesen</a:t>
            </a:r>
            <a:endParaRPr lang="en-US" sz="1800" dirty="0"/>
          </a:p>
          <a:p>
            <a:pPr indent="0" marL="0">
              <a:buNone/>
            </a:pPr>
            <a:r>
              <a:rPr lang="en-US" sz="1500" dirty="0">
                <a:solidFill>
                  <a:schemeClr val="tx1"/>
                </a:solidFill>
              </a:rPr>
              <a:t>Wann endet die Rekursion? Was wird übergeben?</a:t>
            </a:r>
            <a:endParaRPr lang="en-US" sz="1800" dirty="0"/>
          </a:p>
        </p:txBody>
      </p:sp>
      <p:sp>
        <p:nvSpPr>
          <p:cNvPr id="5" name="Nummer 2"/>
          <p:cNvSpPr txBox="1"/>
          <p:nvPr/>
        </p:nvSpPr>
        <p:spPr>
          <a:xfrm>
            <a:off x="548640" y="2414016"/>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6" name="Text 4"/>
          <p:cNvSpPr txBox="1"/>
          <p:nvPr/>
        </p:nvSpPr>
        <p:spPr>
          <a:xfrm>
            <a:off x="1234440" y="2304288"/>
            <a:ext cx="4480560" cy="822960"/>
          </a:xfrm>
          <a:prstGeom prst="rect">
            <a:avLst/>
          </a:prstGeom>
          <a:noFill/>
          <a:ln/>
        </p:spPr>
        <p:txBody>
          <a:bodyPr wrap="square" lIns="0" tIns="0" rIns="0" bIns="0" rtlCol="0" anchor="t"/>
          <a:lstStyle/>
          <a:p>
            <a:pPr indent="0" marL="0">
              <a:buNone/>
            </a:pPr>
            <a:r>
              <a:rPr lang="en-US" sz="1800" b="1" dirty="0">
                <a:solidFill>
                  <a:schemeClr val="accent1"/>
                </a:solidFill>
              </a:rPr>
              <a:t>Teilproblem bestimmen</a:t>
            </a:r>
            <a:endParaRPr lang="en-US" sz="1800" dirty="0"/>
          </a:p>
          <a:p>
            <a:pPr indent="0" marL="0">
              <a:buNone/>
            </a:pPr>
            <a:r>
              <a:rPr lang="en-US" sz="1500" dirty="0">
                <a:solidFill>
                  <a:schemeClr val="tx1"/>
                </a:solidFill>
              </a:rPr>
              <a:t>Wie ändern sich die Parameter beim Selbstaufruf?</a:t>
            </a:r>
            <a:endParaRPr lang="en-US" sz="1800" dirty="0"/>
          </a:p>
        </p:txBody>
      </p:sp>
      <p:sp>
        <p:nvSpPr>
          <p:cNvPr id="7" name="Nummer 3"/>
          <p:cNvSpPr txBox="1"/>
          <p:nvPr/>
        </p:nvSpPr>
        <p:spPr>
          <a:xfrm>
            <a:off x="548640" y="3346704"/>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8" name="Text 6"/>
          <p:cNvSpPr txBox="1"/>
          <p:nvPr/>
        </p:nvSpPr>
        <p:spPr>
          <a:xfrm>
            <a:off x="1234440" y="3236976"/>
            <a:ext cx="4480560" cy="822960"/>
          </a:xfrm>
          <a:prstGeom prst="rect">
            <a:avLst/>
          </a:prstGeom>
          <a:noFill/>
          <a:ln/>
        </p:spPr>
        <p:txBody>
          <a:bodyPr wrap="square" lIns="0" tIns="0" rIns="0" bIns="0" rtlCol="0" anchor="t"/>
          <a:lstStyle/>
          <a:p>
            <a:pPr indent="0" marL="0">
              <a:buNone/>
            </a:pPr>
            <a:r>
              <a:rPr lang="en-US" sz="1800" b="1" dirty="0">
                <a:solidFill>
                  <a:schemeClr val="accent1"/>
                </a:solidFill>
              </a:rPr>
              <a:t>Kleines Beispiel tracen</a:t>
            </a:r>
            <a:endParaRPr lang="en-US" sz="1800" dirty="0"/>
          </a:p>
          <a:p>
            <a:pPr indent="0" marL="0">
              <a:buNone/>
            </a:pPr>
            <a:r>
              <a:rPr lang="en-US" sz="1500" dirty="0">
                <a:solidFill>
                  <a:schemeClr val="tx1"/>
                </a:solidFill>
              </a:rPr>
              <a:t>Rekursionstabelle mit Tiefe und Belegung</a:t>
            </a:r>
            <a:endParaRPr lang="en-US" sz="1800" dirty="0"/>
          </a:p>
        </p:txBody>
      </p:sp>
      <p:sp>
        <p:nvSpPr>
          <p:cNvPr id="9" name="Nummer 4"/>
          <p:cNvSpPr txBox="1"/>
          <p:nvPr/>
        </p:nvSpPr>
        <p:spPr>
          <a:xfrm>
            <a:off x="548640" y="4279392"/>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0" name="Text 8"/>
          <p:cNvSpPr txBox="1"/>
          <p:nvPr/>
        </p:nvSpPr>
        <p:spPr>
          <a:xfrm>
            <a:off x="1234440" y="4169664"/>
            <a:ext cx="4480560" cy="822960"/>
          </a:xfrm>
          <a:prstGeom prst="rect">
            <a:avLst/>
          </a:prstGeom>
          <a:noFill/>
          <a:ln/>
        </p:spPr>
        <p:txBody>
          <a:bodyPr wrap="square" lIns="0" tIns="0" rIns="0" bIns="0" rtlCol="0" anchor="t"/>
          <a:lstStyle/>
          <a:p>
            <a:pPr indent="0" marL="0">
              <a:buNone/>
            </a:pPr>
            <a:r>
              <a:rPr lang="en-US" sz="1800" b="1" dirty="0">
                <a:solidFill>
                  <a:schemeClr val="accent1"/>
                </a:solidFill>
              </a:rPr>
              <a:t>Aufrufe zählen</a:t>
            </a:r>
            <a:endParaRPr lang="en-US" sz="1800" dirty="0"/>
          </a:p>
          <a:p>
            <a:pPr indent="0" marL="0">
              <a:buNone/>
            </a:pPr>
            <a:r>
              <a:rPr lang="en-US" sz="1500" dirty="0">
                <a:solidFill>
                  <a:schemeClr val="tx1"/>
                </a:solidFill>
              </a:rPr>
              <a:t>für n = 1, 2, 3, 4 – Muster erkennen, Formel aufstellen</a:t>
            </a:r>
            <a:endParaRPr lang="en-US" sz="1800" dirty="0"/>
          </a:p>
        </p:txBody>
      </p:sp>
      <p:sp>
        <p:nvSpPr>
          <p:cNvPr id="11" name="Nummer 5"/>
          <p:cNvSpPr txBox="1"/>
          <p:nvPr/>
        </p:nvSpPr>
        <p:spPr>
          <a:xfrm>
            <a:off x="548640" y="5212080"/>
            <a:ext cx="502920" cy="50292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12" name="Text 10"/>
          <p:cNvSpPr txBox="1"/>
          <p:nvPr/>
        </p:nvSpPr>
        <p:spPr>
          <a:xfrm>
            <a:off x="1234440" y="5102352"/>
            <a:ext cx="4480560" cy="822960"/>
          </a:xfrm>
          <a:prstGeom prst="rect">
            <a:avLst/>
          </a:prstGeom>
          <a:noFill/>
          <a:ln/>
        </p:spPr>
        <p:txBody>
          <a:bodyPr wrap="square" lIns="0" tIns="0" rIns="0" bIns="0" rtlCol="0" anchor="t"/>
          <a:lstStyle/>
          <a:p>
            <a:pPr indent="0" marL="0">
              <a:buNone/>
            </a:pPr>
            <a:r>
              <a:rPr lang="en-US" sz="1800" b="1" dirty="0">
                <a:solidFill>
                  <a:schemeClr val="accent1"/>
                </a:solidFill>
              </a:rPr>
              <a:t>Deuten und beurteilen</a:t>
            </a:r>
            <a:endParaRPr lang="en-US" sz="1800" dirty="0"/>
          </a:p>
          <a:p>
            <a:pPr indent="0" marL="0">
              <a:buNone/>
            </a:pPr>
            <a:r>
              <a:rPr lang="en-US" sz="1500" dirty="0">
                <a:solidFill>
                  <a:schemeClr val="tx1"/>
                </a:solidFill>
              </a:rPr>
              <a:t>Was leistet das Verfahren? Kennst du es schon?</a:t>
            </a:r>
            <a:endParaRPr lang="en-US" sz="1800" dirty="0"/>
          </a:p>
        </p:txBody>
      </p:sp>
      <p:sp>
        <p:nvSpPr>
          <p:cNvPr id="13" name="Text 11"/>
          <p:cNvSpPr txBox="1"/>
          <p:nvPr/>
        </p:nvSpPr>
        <p:spPr>
          <a:xfrm>
            <a:off x="6035040" y="1280160"/>
            <a:ext cx="5577840" cy="320040"/>
          </a:xfrm>
          <a:prstGeom prst="rect">
            <a:avLst/>
          </a:prstGeom>
          <a:noFill/>
          <a:ln/>
        </p:spPr>
        <p:txBody>
          <a:bodyPr wrap="square" lIns="0" tIns="0" rIns="0" bIns="0" rtlCol="0" anchor="t"/>
          <a:lstStyle/>
          <a:p>
            <a:pPr indent="0" marL="0">
              <a:buNone/>
            </a:pPr>
            <a:r>
              <a:rPr lang="en-US" sz="1600" b="1" dirty="0">
                <a:solidFill>
                  <a:schemeClr val="accent2"/>
                </a:solidFill>
              </a:rPr>
              <a:t>Beispiel: die geheime Methode</a:t>
            </a:r>
            <a:endParaRPr lang="en-US" sz="1600" dirty="0"/>
          </a:p>
        </p:txBody>
      </p:sp>
      <p:sp>
        <p:nvSpPr>
          <p:cNvPr id="14" name="Code"/>
          <p:cNvSpPr txBox="1"/>
          <p:nvPr/>
        </p:nvSpPr>
        <p:spPr>
          <a:xfrm>
            <a:off x="6035040" y="1645920"/>
            <a:ext cx="5577840" cy="2524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public</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static</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void</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geheim</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if</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&lt;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length</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- 1)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m</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for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j</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+ 1;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j</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&lt;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length</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j</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if</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j</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&lt;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m</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m</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j</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b="1" dirty="0">
                <a:solidFill>
                  <a:schemeClr val="accent1"/>
                </a:solidFill>
                <a:latin typeface="Consolas" pitchFamily="34" charset="0"/>
                <a:ea typeface="Consolas" pitchFamily="34" charset="-122"/>
                <a:cs typeface="Consolas" pitchFamily="34" charset="-120"/>
              </a:rPr>
              <a:t>int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h</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m</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m</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h</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geheim</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r</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i</a:t>
            </a:r>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+ 1);</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algn="l" indent="0" marL="0">
              <a:lnSpc>
                <a:spcPts val="1300"/>
              </a:lnSpc>
              <a:buNone/>
            </a:pPr>
            <a:r>
              <a:rPr lang="en-US" sz="1050" dirty="0">
                <a:solidFill>
                  <a:schemeClr val="tx1"/>
                </a:solidFill>
                <a:latin typeface="Consolas" pitchFamily="34" charset="0"/>
                <a:ea typeface="Consolas" pitchFamily="34" charset="-122"/>
                <a:cs typeface="Consolas" pitchFamily="34" charset="-120"/>
              </a:rPr>
              <a:t>}</a:t>
            </a:r>
            <a:endParaRPr lang="en-US" sz="1050" dirty="0"/>
          </a:p>
        </p:txBody>
      </p:sp>
      <p:sp>
        <p:nvSpPr>
          <p:cNvPr id="15" name="Text 13"/>
          <p:cNvSpPr txBox="1"/>
          <p:nvPr/>
        </p:nvSpPr>
        <p:spPr>
          <a:xfrm>
            <a:off x="6035040" y="4462272"/>
            <a:ext cx="557784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r = {5, 8, 2, 6}</a:t>
            </a:r>
            <a:endParaRPr lang="en-US" sz="1400" dirty="0"/>
          </a:p>
        </p:txBody>
      </p:sp>
      <p:graphicFrame>
        <p:nvGraphicFramePr>
          <p:cNvPr id="28" name="Trace geheim"/>
          <p:cNvGraphicFramePr>
            <a:graphicFrameLocks noGrp="1"/>
          </p:cNvGraphicFramePr>
          <p:nvPr>
            <p:extLst>
              <p:ext uri="{D42A27DB-BD31-4B8C-83A1-F6EECF244321}">
                <p14:modId xmlns:p14="http://schemas.microsoft.com/office/powerpoint/2010/main" val="1579011935"/>
              </p:ext>
            </p:extLst>
          </p:nvPr>
        </p:nvGraphicFramePr>
        <p:xfrm>
          <a:off x="6035040" y="4754880"/>
          <a:ext cx="5577840" cy="914400"/>
        </p:xfrm>
        <a:graphic>
          <a:graphicData uri="http://schemas.openxmlformats.org/drawingml/2006/table">
            <a:tbl>
              <a:tblPr/>
              <a:tblGrid>
                <a:gridCol w="822960"/>
                <a:gridCol w="2011680"/>
                <a:gridCol w="640080"/>
                <a:gridCol w="2103120"/>
              </a:tblGrid>
              <a:tr h="27432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Tiefe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Aufruf</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 danach</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274320">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geheim(r, 0)</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2</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2 8 5 6</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74320">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geheim(r, 1)</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2</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2 5 8 6</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74320">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geheim(r, 2)</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3</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2 5 6 8</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74320">
                <a:tc>
                  <a:txBody>
                    <a:bodyPr/>
                    <a:lstStyle/>
                    <a:p>
                      <a:pPr algn="ctr" indent="0" marL="0">
                        <a:buNone/>
                      </a:pPr>
                      <a:r>
                        <a:rPr lang="en-US" sz="1400" b="1" dirty="0">
                          <a:solidFill>
                            <a:schemeClr val="accent3"/>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geheim(r, 3)</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Basisfall</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7" name="Text 14"/>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22 · Transfer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Abi-Format: Rekursionsverlauf dokumentieren</a:t>
            </a:r>
            <a:endParaRPr lang="en-US" sz="3600" dirty="0"/>
          </a:p>
        </p:txBody>
      </p:sp>
      <p:sp>
        <p:nvSpPr>
          <p:cNvPr id="3" name="Aufgabe"/>
          <p:cNvSpPr/>
          <p:nvPr/>
        </p:nvSpPr>
        <p:spPr>
          <a:xfrm>
            <a:off x="548640" y="1325880"/>
            <a:ext cx="5120640" cy="2331720"/>
          </a:xfrm>
          <a:prstGeom prst="roundRect">
            <a:avLst>
              <a:gd name="adj" fmla="val 4706"/>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777240" y="1417320"/>
            <a:ext cx="4709160" cy="2194560"/>
          </a:xfrm>
          <a:prstGeom prst="rect">
            <a:avLst/>
          </a:prstGeom>
          <a:noFill/>
          <a:ln/>
        </p:spPr>
        <p:txBody>
          <a:bodyPr wrap="square" lIns="0" tIns="0" rIns="0" bIns="0" rtlCol="0" anchor="ctr"/>
          <a:lstStyle/>
          <a:p>
            <a:pPr indent="0" marL="0">
              <a:buNone/>
            </a:pPr>
            <a:r>
              <a:rPr lang="en-US" sz="1800" b="1" dirty="0">
                <a:solidFill>
                  <a:schemeClr val="accent1"/>
                </a:solidFill>
              </a:rPr>
              <a:t>Aufgabe  </a:t>
            </a:r>
            <a:pPr indent="0" marL="0">
              <a:buNone/>
            </a:pPr>
            <a:r>
              <a:rPr lang="en-US" sz="1600" b="1" dirty="0">
                <a:solidFill>
                  <a:schemeClr val="accent2"/>
                </a:solidFill>
              </a:rPr>
              <a:t>[3 BE]</a:t>
            </a:r>
            <a:endParaRPr lang="en-US" sz="1800" dirty="0"/>
          </a:p>
          <a:p>
            <a:pPr indent="0" marL="0">
              <a:buNone/>
            </a:pPr>
            <a:r>
              <a:rPr lang="en-US" sz="1600" dirty="0">
                <a:solidFill>
                  <a:schemeClr val="tx1"/>
                </a:solidFill>
              </a:rPr>
              <a:t>Gegeben ist r = {3, 8, 2, 5}. Dokumentieren Sie alle Aufrufe von summeAb, die beim Aufruf summeAb(r, 0) erfolgen, in der Reihenfolge ihres Beginns. Geben Sie zu jedem Aufruf die Rekursionstiefe und den Rückgabewert an.</a:t>
            </a:r>
            <a:endParaRPr lang="en-US" sz="1800" dirty="0"/>
          </a:p>
        </p:txBody>
      </p:sp>
      <p:sp>
        <p:nvSpPr>
          <p:cNvPr id="5" name="Code"/>
          <p:cNvSpPr txBox="1"/>
          <p:nvPr/>
        </p:nvSpPr>
        <p:spPr>
          <a:xfrm>
            <a:off x="548640" y="3886200"/>
            <a:ext cx="5120640" cy="1444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length</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0;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Basisfall</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6" name="Text 4"/>
          <p:cNvSpPr txBox="1"/>
          <p:nvPr/>
        </p:nvSpPr>
        <p:spPr>
          <a:xfrm>
            <a:off x="6035040" y="1280160"/>
            <a:ext cx="5577840" cy="365760"/>
          </a:xfrm>
          <a:prstGeom prst="rect">
            <a:avLst/>
          </a:prstGeom>
          <a:noFill/>
          <a:ln/>
        </p:spPr>
        <p:txBody>
          <a:bodyPr wrap="square" lIns="0" tIns="0" rIns="0" bIns="0" rtlCol="0" anchor="t"/>
          <a:lstStyle/>
          <a:p>
            <a:pPr indent="0" marL="0">
              <a:buNone/>
            </a:pPr>
            <a:r>
              <a:rPr lang="en-US" sz="1900" b="1" dirty="0">
                <a:solidFill>
                  <a:schemeClr val="accent3"/>
                </a:solidFill>
              </a:rPr>
              <a:t>Musterantwort</a:t>
            </a:r>
            <a:endParaRPr lang="en-US" sz="1900" dirty="0"/>
          </a:p>
        </p:txBody>
      </p:sp>
      <p:graphicFrame>
        <p:nvGraphicFramePr>
          <p:cNvPr id="29" name="Musterantwort summeAb"/>
          <p:cNvGraphicFramePr>
            <a:graphicFrameLocks noGrp="1"/>
          </p:cNvGraphicFramePr>
          <p:nvPr>
            <p:extLst>
              <p:ext uri="{D42A27DB-BD31-4B8C-83A1-F6EECF244321}">
                <p14:modId xmlns:p14="http://schemas.microsoft.com/office/powerpoint/2010/main" val="1579011935"/>
              </p:ext>
            </p:extLst>
          </p:nvPr>
        </p:nvGraphicFramePr>
        <p:xfrm>
          <a:off x="6035040" y="1691640"/>
          <a:ext cx="5577840" cy="914400"/>
        </p:xfrm>
        <a:graphic>
          <a:graphicData uri="http://schemas.openxmlformats.org/drawingml/2006/table">
            <a:tbl>
              <a:tblPr/>
              <a:tblGrid>
                <a:gridCol w="1417320"/>
                <a:gridCol w="1463040"/>
                <a:gridCol w="411480"/>
                <a:gridCol w="502920"/>
                <a:gridCol w="1783080"/>
              </a:tblGrid>
              <a:tr h="384048">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Rekursionstiefe</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Aufruf</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r[i]</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Rückgabe</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84048">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summeAb(r, 0)</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Consolas" pitchFamily="34" charset="0"/>
                          <a:ea typeface="Consolas" pitchFamily="34" charset="-122"/>
                          <a:cs typeface="Consolas" pitchFamily="34" charset="-120"/>
                        </a:rPr>
                        <a:t>3 + 15 = 18</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summeAb(r, 1)</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8</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Consolas" pitchFamily="34" charset="0"/>
                          <a:ea typeface="Consolas" pitchFamily="34" charset="-122"/>
                          <a:cs typeface="Consolas" pitchFamily="34" charset="-120"/>
                        </a:rPr>
                        <a:t>8 + 7 = 15</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summeAb(r, 2)</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Consolas" pitchFamily="34" charset="0"/>
                          <a:ea typeface="Consolas" pitchFamily="34" charset="-122"/>
                          <a:cs typeface="Consolas" pitchFamily="34" charset="-120"/>
                        </a:rPr>
                        <a:t>2 + 5 = 7</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summeAb(r, 3)</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Consolas" pitchFamily="34" charset="0"/>
                          <a:ea typeface="Consolas" pitchFamily="34" charset="-122"/>
                          <a:cs typeface="Consolas" pitchFamily="34" charset="-120"/>
                        </a:rPr>
                        <a:t>5 + 0 = 5</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summeAb(r, 4)</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c>
                  <a:txBody>
                    <a:bodyPr/>
                    <a:lstStyle/>
                    <a:p>
                      <a:pPr algn="ctr" indent="0" marL="0">
                        <a:buNone/>
                      </a:pPr>
                      <a:r>
                        <a:rPr lang="en-US" sz="1300" b="1" dirty="0">
                          <a:solidFill>
                            <a:schemeClr val="accent3"/>
                          </a:solidFill>
                          <a:latin typeface="Consolas" pitchFamily="34" charset="0"/>
                          <a:ea typeface="Consolas" pitchFamily="34" charset="-122"/>
                          <a:cs typeface="Consolas" pitchFamily="34" charset="-120"/>
                        </a:rPr>
                        <a:t>0  (Basisfall)</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2EFDA"/>
                    </a:solidFill>
                  </a:tcPr>
                </a:tc>
              </a:tr>
            </a:tbl>
          </a:graphicData>
        </a:graphic>
      </p:graphicFrame>
      <p:sp>
        <p:nvSpPr>
          <p:cNvPr id="8" name="Icon-Kreis"/>
          <p:cNvSpPr/>
          <p:nvPr/>
        </p:nvSpPr>
        <p:spPr>
          <a:xfrm>
            <a:off x="6035040" y="4251960"/>
            <a:ext cx="347472" cy="347472"/>
          </a:xfrm>
          <a:prstGeom prst="ellipse">
            <a:avLst/>
          </a:prstGeom>
          <a:solidFill>
            <a:schemeClr val="accent3"/>
          </a:solidFill>
          <a:ln/>
        </p:spPr>
      </p:sp>
      <p:pic>
        <p:nvPicPr>
          <p:cNvPr id="9" name="Icon GiCheckMark" descr="preencoded.png">    </p:cNvPr>
          <p:cNvPicPr>
            <a:picLocks noChangeAspect="1"/>
          </p:cNvPicPr>
          <p:nvPr/>
        </p:nvPicPr>
        <p:blipFill>
          <a:blip r:embed="rId1"/>
          <a:stretch>
            <a:fillRect/>
          </a:stretch>
        </p:blipFill>
        <p:spPr>
          <a:xfrm>
            <a:off x="6097585" y="4314505"/>
            <a:ext cx="222382" cy="222382"/>
          </a:xfrm>
          <a:prstGeom prst="rect">
            <a:avLst/>
          </a:prstGeom>
        </p:spPr>
      </p:pic>
      <p:sp>
        <p:nvSpPr>
          <p:cNvPr id="10" name="Text 6"/>
          <p:cNvSpPr txBox="1"/>
          <p:nvPr/>
        </p:nvSpPr>
        <p:spPr>
          <a:xfrm>
            <a:off x="6537960" y="4206240"/>
            <a:ext cx="5074920" cy="438912"/>
          </a:xfrm>
          <a:prstGeom prst="rect">
            <a:avLst/>
          </a:prstGeom>
          <a:noFill/>
          <a:ln/>
        </p:spPr>
        <p:txBody>
          <a:bodyPr wrap="square" lIns="0" tIns="0" rIns="0" bIns="0" rtlCol="0" anchor="ctr"/>
          <a:lstStyle/>
          <a:p>
            <a:pPr indent="0" marL="0">
              <a:buNone/>
            </a:pPr>
            <a:r>
              <a:rPr lang="en-US" sz="1600" dirty="0">
                <a:solidFill>
                  <a:schemeClr val="tx1"/>
                </a:solidFill>
              </a:rPr>
              <a:t>Tiefe ab 0 – der Erstaufruf zählt mit</a:t>
            </a:r>
            <a:endParaRPr lang="en-US" sz="1600" dirty="0"/>
          </a:p>
        </p:txBody>
      </p:sp>
      <p:sp>
        <p:nvSpPr>
          <p:cNvPr id="11" name="Icon-Kreis"/>
          <p:cNvSpPr/>
          <p:nvPr/>
        </p:nvSpPr>
        <p:spPr>
          <a:xfrm>
            <a:off x="6035040" y="4736592"/>
            <a:ext cx="347472" cy="347472"/>
          </a:xfrm>
          <a:prstGeom prst="ellipse">
            <a:avLst/>
          </a:prstGeom>
          <a:solidFill>
            <a:schemeClr val="accent3"/>
          </a:solidFill>
          <a:ln/>
        </p:spPr>
      </p:sp>
      <p:pic>
        <p:nvPicPr>
          <p:cNvPr id="12" name="Icon GiCheckMark" descr="preencoded.png">    </p:cNvPr>
          <p:cNvPicPr>
            <a:picLocks noChangeAspect="1"/>
          </p:cNvPicPr>
          <p:nvPr/>
        </p:nvPicPr>
        <p:blipFill>
          <a:blip r:embed="rId2"/>
          <a:stretch>
            <a:fillRect/>
          </a:stretch>
        </p:blipFill>
        <p:spPr>
          <a:xfrm>
            <a:off x="6097585" y="4799137"/>
            <a:ext cx="222382" cy="222382"/>
          </a:xfrm>
          <a:prstGeom prst="rect">
            <a:avLst/>
          </a:prstGeom>
        </p:spPr>
      </p:pic>
      <p:sp>
        <p:nvSpPr>
          <p:cNvPr id="13" name="Text 8"/>
          <p:cNvSpPr txBox="1"/>
          <p:nvPr/>
        </p:nvSpPr>
        <p:spPr>
          <a:xfrm>
            <a:off x="6537960" y="4690872"/>
            <a:ext cx="5074920" cy="438912"/>
          </a:xfrm>
          <a:prstGeom prst="rect">
            <a:avLst/>
          </a:prstGeom>
          <a:noFill/>
          <a:ln/>
        </p:spPr>
        <p:txBody>
          <a:bodyPr wrap="square" lIns="0" tIns="0" rIns="0" bIns="0" rtlCol="0" anchor="ctr"/>
          <a:lstStyle/>
          <a:p>
            <a:pPr indent="0" marL="0">
              <a:buNone/>
            </a:pPr>
            <a:r>
              <a:rPr lang="en-US" sz="1600" dirty="0">
                <a:solidFill>
                  <a:schemeClr val="tx1"/>
                </a:solidFill>
              </a:rPr>
              <a:t>auch den Basisfall-Aufruf summeAb(r, 4) notieren</a:t>
            </a:r>
            <a:endParaRPr lang="en-US" sz="1600" dirty="0"/>
          </a:p>
        </p:txBody>
      </p:sp>
      <p:sp>
        <p:nvSpPr>
          <p:cNvPr id="14" name="Icon-Kreis"/>
          <p:cNvSpPr/>
          <p:nvPr/>
        </p:nvSpPr>
        <p:spPr>
          <a:xfrm>
            <a:off x="6035040" y="5221224"/>
            <a:ext cx="347472" cy="347472"/>
          </a:xfrm>
          <a:prstGeom prst="ellipse">
            <a:avLst/>
          </a:prstGeom>
          <a:solidFill>
            <a:schemeClr val="accent3"/>
          </a:solidFill>
          <a:ln/>
        </p:spPr>
      </p:sp>
      <p:pic>
        <p:nvPicPr>
          <p:cNvPr id="15" name="Icon GiCheckMark" descr="preencoded.png">    </p:cNvPr>
          <p:cNvPicPr>
            <a:picLocks noChangeAspect="1"/>
          </p:cNvPicPr>
          <p:nvPr/>
        </p:nvPicPr>
        <p:blipFill>
          <a:blip r:embed="rId3"/>
          <a:stretch>
            <a:fillRect/>
          </a:stretch>
        </p:blipFill>
        <p:spPr>
          <a:xfrm>
            <a:off x="6097585" y="5283769"/>
            <a:ext cx="222382" cy="222382"/>
          </a:xfrm>
          <a:prstGeom prst="rect">
            <a:avLst/>
          </a:prstGeom>
        </p:spPr>
      </p:pic>
      <p:sp>
        <p:nvSpPr>
          <p:cNvPr id="16" name="Text 10"/>
          <p:cNvSpPr txBox="1"/>
          <p:nvPr/>
        </p:nvSpPr>
        <p:spPr>
          <a:xfrm>
            <a:off x="6537960" y="5175504"/>
            <a:ext cx="5074920" cy="438912"/>
          </a:xfrm>
          <a:prstGeom prst="rect">
            <a:avLst/>
          </a:prstGeom>
          <a:noFill/>
          <a:ln/>
        </p:spPr>
        <p:txBody>
          <a:bodyPr wrap="square" lIns="0" tIns="0" rIns="0" bIns="0" rtlCol="0" anchor="ctr"/>
          <a:lstStyle/>
          <a:p>
            <a:pPr indent="0" marL="0">
              <a:buNone/>
            </a:pPr>
            <a:r>
              <a:rPr lang="en-US" sz="1600" dirty="0">
                <a:solidFill>
                  <a:schemeClr val="tx1"/>
                </a:solidFill>
              </a:rPr>
              <a:t>Rückgaben von unten nach oben ausrechnen</a:t>
            </a:r>
            <a:endParaRPr lang="en-US" sz="1600" dirty="0"/>
          </a:p>
        </p:txBody>
      </p:sp>
      <p:sp>
        <p:nvSpPr>
          <p:cNvPr id="17" name="Icon-Kreis"/>
          <p:cNvSpPr/>
          <p:nvPr/>
        </p:nvSpPr>
        <p:spPr>
          <a:xfrm>
            <a:off x="6035040" y="5705856"/>
            <a:ext cx="347472" cy="347472"/>
          </a:xfrm>
          <a:prstGeom prst="ellipse">
            <a:avLst/>
          </a:prstGeom>
          <a:solidFill>
            <a:schemeClr val="accent3"/>
          </a:solidFill>
          <a:ln/>
        </p:spPr>
      </p:sp>
      <p:pic>
        <p:nvPicPr>
          <p:cNvPr id="18" name="Icon GiCheckMark" descr="preencoded.png">    </p:cNvPr>
          <p:cNvPicPr>
            <a:picLocks noChangeAspect="1"/>
          </p:cNvPicPr>
          <p:nvPr/>
        </p:nvPicPr>
        <p:blipFill>
          <a:blip r:embed="rId4"/>
          <a:stretch>
            <a:fillRect/>
          </a:stretch>
        </p:blipFill>
        <p:spPr>
          <a:xfrm>
            <a:off x="6097585" y="5768401"/>
            <a:ext cx="222382" cy="222382"/>
          </a:xfrm>
          <a:prstGeom prst="rect">
            <a:avLst/>
          </a:prstGeom>
        </p:spPr>
      </p:pic>
      <p:sp>
        <p:nvSpPr>
          <p:cNvPr id="19" name="Text 12"/>
          <p:cNvSpPr txBox="1"/>
          <p:nvPr/>
        </p:nvSpPr>
        <p:spPr>
          <a:xfrm>
            <a:off x="6537960" y="5660136"/>
            <a:ext cx="5074920" cy="438912"/>
          </a:xfrm>
          <a:prstGeom prst="rect">
            <a:avLst/>
          </a:prstGeom>
          <a:noFill/>
          <a:ln/>
        </p:spPr>
        <p:txBody>
          <a:bodyPr wrap="square" lIns="0" tIns="0" rIns="0" bIns="0" rtlCol="0" anchor="ctr"/>
          <a:lstStyle/>
          <a:p>
            <a:pPr indent="0" marL="0">
              <a:buNone/>
            </a:pPr>
            <a:r>
              <a:rPr lang="en-US" sz="1600" dirty="0">
                <a:solidFill>
                  <a:schemeClr val="tx1"/>
                </a:solidFill>
              </a:rPr>
              <a:t>Ergebnis nennen: summeAb(r, 0) liefert 18</a:t>
            </a:r>
            <a:endParaRPr lang="en-US" sz="1600" dirty="0"/>
          </a:p>
        </p:txBody>
      </p:sp>
      <p:sp>
        <p:nvSpPr>
          <p:cNvPr id="20" name="Text 13"/>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22 · Abi-Format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Boss 3: Die Kristallhöhle</a:t>
            </a:r>
            <a:endParaRPr lang="en-US" sz="3600" dirty="0"/>
          </a:p>
        </p:txBody>
      </p:sp>
      <p:sp>
        <p:nvSpPr>
          <p:cNvPr id="3" name="Icon-Kreis"/>
          <p:cNvSpPr/>
          <p:nvPr/>
        </p:nvSpPr>
        <p:spPr>
          <a:xfrm>
            <a:off x="822960" y="1600200"/>
            <a:ext cx="2926080" cy="2926080"/>
          </a:xfrm>
          <a:prstGeom prst="ellipse">
            <a:avLst/>
          </a:prstGeom>
          <a:solidFill>
            <a:schemeClr val="accent4"/>
          </a:solidFill>
          <a:ln w="63500">
            <a:solidFill>
              <a:schemeClr val="accent2"/>
            </a:solidFill>
            <a:prstDash val="solid"/>
          </a:ln>
        </p:spPr>
      </p:sp>
      <p:pic>
        <p:nvPicPr>
          <p:cNvPr id="4" name="Icon GiCrystalCluster" descr="preencoded.png">    </p:cNvPr>
          <p:cNvPicPr>
            <a:picLocks noChangeAspect="1"/>
          </p:cNvPicPr>
          <p:nvPr/>
        </p:nvPicPr>
        <p:blipFill>
          <a:blip r:embed="rId1"/>
          <a:stretch>
            <a:fillRect/>
          </a:stretch>
        </p:blipFill>
        <p:spPr>
          <a:xfrm>
            <a:off x="1349654" y="2126894"/>
            <a:ext cx="1872691" cy="1872691"/>
          </a:xfrm>
          <a:prstGeom prst="rect">
            <a:avLst/>
          </a:prstGeom>
        </p:spPr>
      </p:pic>
      <p:sp>
        <p:nvSpPr>
          <p:cNvPr id="5" name="Chip"/>
          <p:cNvSpPr txBox="1"/>
          <p:nvPr/>
        </p:nvSpPr>
        <p:spPr>
          <a:xfrm>
            <a:off x="1600200" y="4754880"/>
            <a:ext cx="137160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2000" b="1" dirty="0">
                <a:solidFill>
                  <a:schemeClr val="bg1"/>
                </a:solidFill>
              </a:rPr>
              <a:t>DS 23</a:t>
            </a:r>
            <a:endParaRPr lang="en-US" sz="2000" dirty="0"/>
          </a:p>
        </p:txBody>
      </p:sp>
      <p:sp>
        <p:nvSpPr>
          <p:cNvPr id="6" name="Icon-Kreis"/>
          <p:cNvSpPr/>
          <p:nvPr/>
        </p:nvSpPr>
        <p:spPr>
          <a:xfrm>
            <a:off x="4480560" y="1325880"/>
            <a:ext cx="777240" cy="777240"/>
          </a:xfrm>
          <a:prstGeom prst="ellipse">
            <a:avLst/>
          </a:prstGeom>
          <a:solidFill>
            <a:schemeClr val="bg1"/>
          </a:solidFill>
          <a:ln/>
        </p:spPr>
      </p:sp>
      <p:pic>
        <p:nvPicPr>
          <p:cNvPr id="7" name="Icon GiHourglass" descr="preencoded.png">    </p:cNvPr>
          <p:cNvPicPr>
            <a:picLocks noChangeAspect="1"/>
          </p:cNvPicPr>
          <p:nvPr/>
        </p:nvPicPr>
        <p:blipFill>
          <a:blip r:embed="rId2"/>
          <a:stretch>
            <a:fillRect/>
          </a:stretch>
        </p:blipFill>
        <p:spPr>
          <a:xfrm>
            <a:off x="4651553" y="1496873"/>
            <a:ext cx="435254" cy="435254"/>
          </a:xfrm>
          <a:prstGeom prst="rect">
            <a:avLst/>
          </a:prstGeom>
        </p:spPr>
      </p:pic>
      <p:sp>
        <p:nvSpPr>
          <p:cNvPr id="8" name="Text 4"/>
          <p:cNvSpPr txBox="1"/>
          <p:nvPr/>
        </p:nvSpPr>
        <p:spPr>
          <a:xfrm>
            <a:off x="5486400" y="128016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60 Minuten · 24 BE</a:t>
            </a:r>
            <a:endParaRPr lang="en-US" sz="1800" dirty="0"/>
          </a:p>
          <a:p>
            <a:pPr indent="0" marL="0">
              <a:buNone/>
            </a:pPr>
            <a:r>
              <a:rPr lang="en-US" sz="1800" dirty="0">
                <a:solidFill>
                  <a:schemeClr val="bg1"/>
                </a:solidFill>
              </a:rPr>
              <a:t>Zeitbudget wie im Abi: ≈ 2,5 min pro BE</a:t>
            </a:r>
            <a:endParaRPr lang="en-US" sz="1800" dirty="0"/>
          </a:p>
        </p:txBody>
      </p:sp>
      <p:sp>
        <p:nvSpPr>
          <p:cNvPr id="9" name="Icon-Kreis"/>
          <p:cNvSpPr/>
          <p:nvPr/>
        </p:nvSpPr>
        <p:spPr>
          <a:xfrm>
            <a:off x="4480560" y="2331720"/>
            <a:ext cx="777240" cy="777240"/>
          </a:xfrm>
          <a:prstGeom prst="ellipse">
            <a:avLst/>
          </a:prstGeom>
          <a:solidFill>
            <a:schemeClr val="bg1"/>
          </a:solidFill>
          <a:ln/>
        </p:spPr>
      </p:sp>
      <p:pic>
        <p:nvPicPr>
          <p:cNvPr id="10" name="Icon GiQuillInk" descr="preencoded.png">    </p:cNvPr>
          <p:cNvPicPr>
            <a:picLocks noChangeAspect="1"/>
          </p:cNvPicPr>
          <p:nvPr/>
        </p:nvPicPr>
        <p:blipFill>
          <a:blip r:embed="rId3"/>
          <a:stretch>
            <a:fillRect/>
          </a:stretch>
        </p:blipFill>
        <p:spPr>
          <a:xfrm>
            <a:off x="4651553" y="2502713"/>
            <a:ext cx="435254" cy="435254"/>
          </a:xfrm>
          <a:prstGeom prst="rect">
            <a:avLst/>
          </a:prstGeom>
        </p:spPr>
      </p:pic>
      <p:sp>
        <p:nvSpPr>
          <p:cNvPr id="11" name="Text 6"/>
          <p:cNvSpPr txBox="1"/>
          <p:nvPr/>
        </p:nvSpPr>
        <p:spPr>
          <a:xfrm>
            <a:off x="5486400" y="228600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Papier, ohne Gerät</a:t>
            </a:r>
            <a:endParaRPr lang="en-US" sz="1800" dirty="0"/>
          </a:p>
          <a:p>
            <a:pPr indent="0" marL="0">
              <a:buNone/>
            </a:pPr>
            <a:r>
              <a:rPr lang="en-US" sz="1800" dirty="0">
                <a:solidFill>
                  <a:schemeClr val="bg1"/>
                </a:solidFill>
              </a:rPr>
              <a:t>erlaubt sind nur deine Werkzeugkarten</a:t>
            </a:r>
            <a:endParaRPr lang="en-US" sz="1800" dirty="0"/>
          </a:p>
        </p:txBody>
      </p:sp>
      <p:sp>
        <p:nvSpPr>
          <p:cNvPr id="12" name="Icon-Kreis"/>
          <p:cNvSpPr/>
          <p:nvPr/>
        </p:nvSpPr>
        <p:spPr>
          <a:xfrm>
            <a:off x="4480560" y="3337560"/>
            <a:ext cx="777240" cy="777240"/>
          </a:xfrm>
          <a:prstGeom prst="ellipse">
            <a:avLst/>
          </a:prstGeom>
          <a:solidFill>
            <a:schemeClr val="bg1"/>
          </a:solidFill>
          <a:ln/>
        </p:spPr>
      </p:sp>
      <p:pic>
        <p:nvPicPr>
          <p:cNvPr id="13" name="Icon GiBookPile" descr="preencoded.png">    </p:cNvPr>
          <p:cNvPicPr>
            <a:picLocks noChangeAspect="1"/>
          </p:cNvPicPr>
          <p:nvPr/>
        </p:nvPicPr>
        <p:blipFill>
          <a:blip r:embed="rId4"/>
          <a:stretch>
            <a:fillRect/>
          </a:stretch>
        </p:blipFill>
        <p:spPr>
          <a:xfrm>
            <a:off x="4651553" y="3508553"/>
            <a:ext cx="435254" cy="435254"/>
          </a:xfrm>
          <a:prstGeom prst="rect">
            <a:avLst/>
          </a:prstGeom>
        </p:spPr>
      </p:pic>
      <p:sp>
        <p:nvSpPr>
          <p:cNvPr id="14" name="Text 8"/>
          <p:cNvSpPr txBox="1"/>
          <p:nvPr/>
        </p:nvSpPr>
        <p:spPr>
          <a:xfrm>
            <a:off x="5486400" y="329184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Neuer Kontext</a:t>
            </a:r>
            <a:endParaRPr lang="en-US" sz="1800" dirty="0"/>
          </a:p>
          <a:p>
            <a:pPr indent="0" marL="0">
              <a:buNone/>
            </a:pPr>
            <a:r>
              <a:rPr lang="en-US" sz="1800" dirty="0">
                <a:solidFill>
                  <a:schemeClr val="bg1"/>
                </a:solidFill>
              </a:rPr>
              <a:t>tief unter dem Labyrinth: Rekursion verfolgen, analysieren, entwerfen</a:t>
            </a:r>
            <a:endParaRPr lang="en-US" sz="1800" dirty="0"/>
          </a:p>
        </p:txBody>
      </p:sp>
      <p:sp>
        <p:nvSpPr>
          <p:cNvPr id="15" name="Icon-Kreis"/>
          <p:cNvSpPr/>
          <p:nvPr/>
        </p:nvSpPr>
        <p:spPr>
          <a:xfrm>
            <a:off x="4480560" y="4343400"/>
            <a:ext cx="777240" cy="777240"/>
          </a:xfrm>
          <a:prstGeom prst="ellipse">
            <a:avLst/>
          </a:prstGeom>
          <a:solidFill>
            <a:schemeClr val="bg1"/>
          </a:solidFill>
          <a:ln/>
        </p:spPr>
      </p:sp>
      <p:pic>
        <p:nvPicPr>
          <p:cNvPr id="16" name="Icon GiCrossedSwords" descr="preencoded.png">    </p:cNvPr>
          <p:cNvPicPr>
            <a:picLocks noChangeAspect="1"/>
          </p:cNvPicPr>
          <p:nvPr/>
        </p:nvPicPr>
        <p:blipFill>
          <a:blip r:embed="rId5"/>
          <a:stretch>
            <a:fillRect/>
          </a:stretch>
        </p:blipFill>
        <p:spPr>
          <a:xfrm>
            <a:off x="4651553" y="4514393"/>
            <a:ext cx="435254" cy="435254"/>
          </a:xfrm>
          <a:prstGeom prst="rect">
            <a:avLst/>
          </a:prstGeom>
        </p:spPr>
      </p:pic>
      <p:sp>
        <p:nvSpPr>
          <p:cNvPr id="17" name="Text 10"/>
          <p:cNvSpPr txBox="1"/>
          <p:nvPr/>
        </p:nvSpPr>
        <p:spPr>
          <a:xfrm>
            <a:off x="5486400" y="429768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Danach</a:t>
            </a:r>
            <a:endParaRPr lang="en-US" sz="1800" dirty="0"/>
          </a:p>
          <a:p>
            <a:pPr indent="0" marL="0">
              <a:buNone/>
            </a:pPr>
            <a:r>
              <a:rPr lang="en-US" sz="1800" dirty="0">
                <a:solidFill>
                  <a:schemeClr val="bg1"/>
                </a:solidFill>
              </a:rPr>
              <a:t>Papier-Compiler in der IDE · zusätzlich im Lab: Online-Boss „Das Echo der Schlucht“</a:t>
            </a:r>
            <a:endParaRPr lang="en-US" sz="1800" dirty="0"/>
          </a:p>
        </p:txBody>
      </p:sp>
      <p:sp>
        <p:nvSpPr>
          <p:cNvPr id="18" name="Text 11"/>
          <p:cNvSpPr txBox="1"/>
          <p:nvPr/>
        </p:nvSpPr>
        <p:spPr>
          <a:xfrm>
            <a:off x="4480560" y="5440680"/>
            <a:ext cx="7132320" cy="731520"/>
          </a:xfrm>
          <a:prstGeom prst="rect">
            <a:avLst/>
          </a:prstGeom>
          <a:noFill/>
          <a:ln/>
        </p:spPr>
        <p:txBody>
          <a:bodyPr wrap="square" lIns="0" tIns="0" rIns="0" bIns="0" rtlCol="0" anchor="ctr"/>
          <a:lstStyle/>
          <a:p>
            <a:pPr indent="0" marL="0">
              <a:buNone/>
            </a:pPr>
            <a:r>
              <a:rPr lang="en-US" sz="1800" b="1" dirty="0">
                <a:solidFill>
                  <a:schemeClr val="accent2"/>
                </a:solidFill>
              </a:rPr>
              <a:t>Vorbereitung: </a:t>
            </a:r>
            <a:pPr indent="0" marL="0">
              <a:buNone/>
            </a:pPr>
            <a:r>
              <a:rPr lang="en-US" sz="1800" dirty="0">
                <a:solidFill>
                  <a:schemeClr val="bg1"/>
                </a:solidFill>
              </a:rPr>
              <a:t>Warm-up-Karten W3-01 bis W3-14 · Werkzeugkarten · Rekursionstiefe: Erstaufruf = 0</a:t>
            </a:r>
            <a:endParaRPr lang="en-US" sz="1800" dirty="0"/>
          </a:p>
        </p:txBody>
      </p:sp>
      <p:sp>
        <p:nvSpPr>
          <p:cNvPr id="19" name="Text 12"/>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DS 23 · Boss 3</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Lehrkraft: Referenzwerte Dungeon-Rennen</a:t>
            </a:r>
            <a:endParaRPr lang="en-US" sz="3600" dirty="0"/>
          </a:p>
        </p:txBody>
      </p:sp>
      <p:sp>
        <p:nvSpPr>
          <p:cNvPr id="3" name="Chip"/>
          <p:cNvSpPr txBox="1"/>
          <p:nvPr/>
        </p:nvSpPr>
        <p:spPr>
          <a:xfrm>
            <a:off x="8412480" y="1325880"/>
            <a:ext cx="320040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b="1" dirty="0">
                <a:solidFill>
                  <a:schemeClr val="bg1"/>
                </a:solidFill>
              </a:rPr>
              <a:t>ausgeblendet – nicht für Schüler</a:t>
            </a:r>
            <a:endParaRPr lang="en-US" sz="1400" dirty="0"/>
          </a:p>
        </p:txBody>
      </p:sp>
      <p:sp>
        <p:nvSpPr>
          <p:cNvPr id="4" name="Text 2"/>
          <p:cNvSpPr txBox="1"/>
          <p:nvPr/>
        </p:nvSpPr>
        <p:spPr>
          <a:xfrm>
            <a:off x="548640" y="1325880"/>
            <a:ext cx="7680960" cy="365760"/>
          </a:xfrm>
          <a:prstGeom prst="rect">
            <a:avLst/>
          </a:prstGeom>
          <a:noFill/>
          <a:ln/>
        </p:spPr>
        <p:txBody>
          <a:bodyPr wrap="square" lIns="0" tIns="0" rIns="0" bIns="0" rtlCol="0" anchor="t"/>
          <a:lstStyle/>
          <a:p>
            <a:pPr indent="0" marL="0">
              <a:buNone/>
            </a:pPr>
            <a:r>
              <a:rPr lang="en-US" sz="1700" b="1" dirty="0">
                <a:solidFill>
                  <a:schemeClr val="accent1"/>
                </a:solidFill>
              </a:rPr>
              <a:t>Rennen – Schritte (Aufrufe von betrete, inklusive S und Z)</a:t>
            </a:r>
            <a:endParaRPr lang="en-US" sz="1700" dirty="0"/>
          </a:p>
        </p:txBody>
      </p:sp>
      <p:graphicFrame>
        <p:nvGraphicFramePr>
          <p:cNvPr id="31" name="Referenz Rennen"/>
          <p:cNvGraphicFramePr>
            <a:graphicFrameLocks noGrp="1"/>
          </p:cNvGraphicFramePr>
          <p:nvPr>
            <p:extLst>
              <p:ext uri="{D42A27DB-BD31-4B8C-83A1-F6EECF244321}">
                <p14:modId xmlns:p14="http://schemas.microsoft.com/office/powerpoint/2010/main" val="1579011935"/>
              </p:ext>
            </p:extLst>
          </p:nvPr>
        </p:nvGraphicFramePr>
        <p:xfrm>
          <a:off x="548640" y="1783080"/>
          <a:ext cx="7680960" cy="914400"/>
        </p:xfrm>
        <a:graphic>
          <a:graphicData uri="http://schemas.openxmlformats.org/drawingml/2006/table">
            <a:tbl>
              <a:tblPr/>
              <a:tblGrid>
                <a:gridCol w="4023360"/>
                <a:gridCol w="914400"/>
                <a:gridCol w="914400"/>
                <a:gridCol w="914400"/>
                <a:gridCol w="914400"/>
              </a:tblGrid>
              <a:tr h="384048">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Strategie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Karte 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Karte 2</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Karte 3</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Summe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8404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Standard (oben, rechts, unten, links)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88</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160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Kompass (Richtung Ziel zuerst)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73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latin typeface="Consolas" pitchFamily="34" charset="0"/>
                          <a:ea typeface="Consolas" pitchFamily="34" charset="-122"/>
                          <a:cs typeface="Consolas" pitchFamily="34" charset="-120"/>
                        </a:rPr>
                        <a:t>139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beste feste Reihenfolge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49</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88</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onsolas" pitchFamily="34" charset="0"/>
                          <a:ea typeface="Consolas" pitchFamily="34" charset="-122"/>
                          <a:cs typeface="Consolas" pitchFamily="34" charset="-120"/>
                        </a:rPr>
                        <a:t>152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400" dirty="0">
                          <a:solidFill>
                            <a:schemeClr val="accent6"/>
                          </a:solidFill>
                          <a:latin typeface="Calibri" pitchFamily="34" charset="0"/>
                          <a:ea typeface="Calibri" pitchFamily="34" charset="-122"/>
                          <a:cs typeface="Calibri" pitchFamily="34" charset="-120"/>
                        </a:rPr>
                        <a:t>kürzester Weg (offene Karte, untere Schranke)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6"/>
                          </a:solidFill>
                          <a:latin typeface="Consolas" pitchFamily="34" charset="0"/>
                          <a:ea typeface="Consolas" pitchFamily="34" charset="-122"/>
                          <a:cs typeface="Consolas" pitchFamily="34" charset="-120"/>
                        </a:rPr>
                        <a:t>13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6"/>
                          </a:solidFill>
                          <a:latin typeface="Consolas" pitchFamily="34" charset="0"/>
                          <a:ea typeface="Consolas" pitchFamily="34" charset="-122"/>
                          <a:cs typeface="Consolas" pitchFamily="34" charset="-120"/>
                        </a:rPr>
                        <a:t>37</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6"/>
                          </a:solidFill>
                          <a:latin typeface="Consolas" pitchFamily="34" charset="0"/>
                          <a:ea typeface="Consolas" pitchFamily="34" charset="-122"/>
                          <a:cs typeface="Consolas" pitchFamily="34" charset="-120"/>
                        </a:rPr>
                        <a:t>33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6"/>
                          </a:solidFill>
                          <a:latin typeface="Consolas" pitchFamily="34" charset="0"/>
                          <a:ea typeface="Consolas" pitchFamily="34" charset="-122"/>
                          <a:cs typeface="Consolas" pitchFamily="34" charset="-120"/>
                        </a:rPr>
                        <a:t>83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548640" y="3931920"/>
            <a:ext cx="7680960" cy="365760"/>
          </a:xfrm>
          <a:prstGeom prst="rect">
            <a:avLst/>
          </a:prstGeom>
          <a:noFill/>
          <a:ln/>
        </p:spPr>
        <p:txBody>
          <a:bodyPr wrap="square" lIns="0" tIns="0" rIns="0" bIns="0" rtlCol="0" anchor="t"/>
          <a:lstStyle/>
          <a:p>
            <a:pPr indent="0" marL="0">
              <a:buNone/>
            </a:pPr>
            <a:r>
              <a:rPr lang="en-US" sz="1700" b="1" dirty="0">
                <a:solidFill>
                  <a:schemeClr val="accent1"/>
                </a:solidFill>
              </a:rPr>
              <a:t>Nebel lüften (Flood-Fill, oben, rechts, unten, links)</a:t>
            </a:r>
            <a:endParaRPr lang="en-US" sz="1700" dirty="0"/>
          </a:p>
        </p:txBody>
      </p:sp>
      <p:graphicFrame>
        <p:nvGraphicFramePr>
          <p:cNvPr id="61" name="Referenz Nebel"/>
          <p:cNvGraphicFramePr>
            <a:graphicFrameLocks noGrp="1"/>
          </p:cNvGraphicFramePr>
          <p:nvPr>
            <p:extLst>
              <p:ext uri="{D42A27DB-BD31-4B8C-83A1-F6EECF244321}">
                <p14:modId xmlns:p14="http://schemas.microsoft.com/office/powerpoint/2010/main" val="1579011935"/>
              </p:ext>
            </p:extLst>
          </p:nvPr>
        </p:nvGraphicFramePr>
        <p:xfrm>
          <a:off x="548640" y="4343400"/>
          <a:ext cx="7680960" cy="914400"/>
        </p:xfrm>
        <a:graphic>
          <a:graphicData uri="http://schemas.openxmlformats.org/drawingml/2006/table">
            <a:tbl>
              <a:tblPr/>
              <a:tblGrid>
                <a:gridCol w="2194560"/>
                <a:gridCol w="1828800"/>
                <a:gridCol w="1828800"/>
                <a:gridCol w="1828800"/>
              </a:tblGrid>
              <a:tr h="384048">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Karte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gelüftet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erreichbar</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Prüfungen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84048">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 klein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121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 mittel</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65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65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261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 groß</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140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140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561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8" name="Einordnung"/>
          <p:cNvSpPr/>
          <p:nvPr/>
        </p:nvSpPr>
        <p:spPr>
          <a:xfrm>
            <a:off x="8503920" y="1920240"/>
            <a:ext cx="3108960" cy="4206240"/>
          </a:xfrm>
          <a:prstGeom prst="roundRect">
            <a:avLst>
              <a:gd name="adj" fmla="val 3529"/>
            </a:avLst>
          </a:prstGeom>
          <a:solidFill>
            <a:schemeClr val="bg2"/>
          </a:solidFill>
          <a:ln/>
        </p:spPr>
      </p:sp>
      <p:sp>
        <p:nvSpPr>
          <p:cNvPr id="9" name="Text 5"/>
          <p:cNvSpPr txBox="1"/>
          <p:nvPr/>
        </p:nvSpPr>
        <p:spPr>
          <a:xfrm>
            <a:off x="8705088" y="1920240"/>
            <a:ext cx="2743200" cy="4206240"/>
          </a:xfrm>
          <a:prstGeom prst="rect">
            <a:avLst/>
          </a:prstGeom>
          <a:noFill/>
          <a:ln/>
        </p:spPr>
        <p:txBody>
          <a:bodyPr wrap="square" lIns="0" tIns="0" rIns="0" bIns="0" rtlCol="0" anchor="ctr"/>
          <a:lstStyle/>
          <a:p>
            <a:pPr indent="0" marL="0">
              <a:buNone/>
            </a:pPr>
            <a:r>
              <a:rPr lang="en-US" sz="1500" b="1" dirty="0">
                <a:solidFill>
                  <a:schemeClr val="accent1"/>
                </a:solidFill>
              </a:rPr>
              <a:t>Einordnung (Summe)</a:t>
            </a:r>
            <a:endParaRPr lang="en-US" sz="1500" dirty="0"/>
          </a:p>
          <a:p>
            <a:pPr indent="0" marL="0">
              <a:buNone/>
            </a:pPr>
            <a:r>
              <a:rPr lang="en-US" sz="1500" dirty="0">
                <a:solidFill>
                  <a:schemeClr val="tx1"/>
                </a:solidFill>
              </a:rPr>
              <a:t>160: Standard-Backtracking</a:t>
            </a:r>
            <a:endParaRPr lang="en-US" sz="1500" dirty="0"/>
          </a:p>
          <a:p>
            <a:pPr indent="0" marL="0">
              <a:buNone/>
            </a:pPr>
            <a:r>
              <a:rPr lang="en-US" sz="1500" dirty="0">
                <a:solidFill>
                  <a:schemeClr val="tx1"/>
                </a:solidFill>
              </a:rPr>
              <a:t>152–206: nur Reihenfolge geändert</a:t>
            </a:r>
            <a:endParaRPr lang="en-US" sz="1500" dirty="0"/>
          </a:p>
          <a:p>
            <a:pPr indent="0" marL="0">
              <a:buNone/>
            </a:pPr>
            <a:r>
              <a:rPr lang="en-US" sz="1500" dirty="0">
                <a:solidFill>
                  <a:schemeClr val="tx1"/>
                </a:solidFill>
              </a:rPr>
              <a:t>139: Kompass (Musterlösung)</a:t>
            </a:r>
            <a:endParaRPr lang="en-US" sz="1500" dirty="0"/>
          </a:p>
          <a:p>
            <a:pPr indent="0" marL="0">
              <a:buNone/>
            </a:pPr>
            <a:r>
              <a:rPr lang="en-US" sz="1500" b="1" dirty="0">
                <a:solidFill>
                  <a:schemeClr val="tx1"/>
                </a:solidFill>
              </a:rPr>
              <a:t>unter 139: sehr gut – vorstellen lassen, vorher Code prüfen</a:t>
            </a:r>
            <a:endParaRPr lang="en-US" sz="1500" dirty="0"/>
          </a:p>
          <a:p>
            <a:pPr indent="0" marL="0">
              <a:buNone/>
            </a:pPr>
            <a:r>
              <a:rPr lang="en-US" sz="1500" dirty="0">
                <a:solidFill>
                  <a:schemeClr val="accent6"/>
                </a:solidFill>
              </a:rPr>
              <a:t>Prüfungen = 4 · gelüftet + 1</a:t>
            </a:r>
            <a:endParaRPr lang="en-US" sz="1500" dirty="0"/>
          </a:p>
        </p:txBody>
      </p:sp>
      <p:sp>
        <p:nvSpPr>
          <p:cNvPr id="10" name="Text 6"/>
          <p:cNvSpPr txBox="1"/>
          <p:nvPr/>
        </p:nvSpPr>
        <p:spPr>
          <a:xfrm>
            <a:off x="8869680" y="6419088"/>
            <a:ext cx="2103120" cy="274320"/>
          </a:xfrm>
          <a:prstGeom prst="rect">
            <a:avLst/>
          </a:prstGeom>
          <a:noFill/>
          <a:ln/>
        </p:spPr>
        <p:txBody>
          <a:bodyPr wrap="square" lIns="0" tIns="0" rIns="0" bIns="0" rtlCol="0" anchor="t"/>
          <a:lstStyle/>
          <a:p>
            <a:pPr algn="r" indent="0" marL="0">
              <a:buNone/>
            </a:pPr>
            <a:r>
              <a:rPr lang="en-US" sz="1100" b="1" dirty="0">
                <a:solidFill>
                  <a:schemeClr val="accent2"/>
                </a:solidFill>
              </a:rPr>
              <a:t>Lehrkraft · DS 20</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Algo Quest">
  <a:themeElements>
    <a:clrScheme name="Algo Quest">
      <a:dk1>
        <a:srgbClr val="1A1A1A"/>
      </a:dk1>
      <a:lt1>
        <a:srgbClr val="FFFFFF"/>
      </a:lt1>
      <a:dk2>
        <a:srgbClr val="1F4E79"/>
      </a:dk2>
      <a:lt2>
        <a:srgbClr val="DBE7F5"/>
      </a:lt2>
      <a:accent1>
        <a:srgbClr val="1F4E79"/>
      </a:accent1>
      <a:accent2>
        <a:srgbClr val="B8860B"/>
      </a:accent2>
      <a:accent3>
        <a:srgbClr val="548235"/>
      </a:accent3>
      <a:accent4>
        <a:srgbClr val="C00000"/>
      </a:accent4>
      <a:accent5>
        <a:srgbClr val="F0F0F0"/>
      </a:accent5>
      <a:accent6>
        <a:srgbClr val="2E75B6"/>
      </a:accent6>
      <a:hlink>
        <a:srgbClr val="2E75B6"/>
      </a:hlink>
      <a:folHlink>
        <a:srgbClr val="7030A0"/>
      </a:folHlink>
    </a:clrScheme>
    <a:fontScheme name="Algo Ques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Max-Planck-Gymnasium Delmenhorst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 Quest – Welt 3: Das Labyrinth</dc:title>
  <dc:subject>PptxGenJS Presentation</dc:subject>
  <dc:creator>Frank Juchim</dc:creator>
  <cp:lastModifiedBy>Frank Juchim</cp:lastModifiedBy>
  <cp:revision>1</cp:revision>
  <dcterms:created xsi:type="dcterms:W3CDTF">2026-10-08T18:31:18Z</dcterms:created>
  <dcterms:modified xsi:type="dcterms:W3CDTF">2026-10-08T18:31:18Z</dcterms:modified>
</cp:coreProperties>
</file>