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fc04889f-bf45-a2f3-a2c8-96b084bc8b7b}">
          <p14:sldIdLst>
            <p14:sldId id="256"/>
            <p14:sldId id="257"/>
          </p14:sldIdLst>
        </p14:section>
        <p14:section name="DS 2 Werkstatt" id="{0e97720f-9561-a39d-7528-f812237465cd}">
          <p14:sldIdLst>
            <p14:sldId id="258"/>
            <p14:sldId id="259"/>
            <p14:sldId id="260"/>
            <p14:sldId id="261"/>
            <p14:sldId id="262"/>
            <p14:sldId id="263"/>
            <p14:sldId id="264"/>
          </p14:sldIdLst>
        </p14:section>
        <p14:section name="DS 3 Vorratskammer" id="{47c5263f-f755-0974-0aa4-c783ac961260}">
          <p14:sldIdLst>
            <p14:sldId id="265"/>
            <p14:sldId id="266"/>
            <p14:sldId id="267"/>
            <p14:sldId id="268"/>
          </p14:sldIdLst>
        </p14:section>
        <p14:section name="DS 4–5 Zauberschule" id="{d8a23d86-6ff1-a00f-63b1-09c77763a2b1}">
          <p14:sldIdLst>
            <p14:sldId id="269"/>
            <p14:sldId id="270"/>
            <p14:sldId id="271"/>
            <p14:sldId id="272"/>
            <p14:sldId id="273"/>
            <p14:sldId id="274"/>
            <p14:sldId id="275"/>
            <p14:sldId id="276"/>
            <p14:sldId id="277"/>
            <p14:sldId id="278"/>
          </p14:sldIdLst>
        </p14:section>
        <p14:section name="DS 6 Methoden-Werkstatt" id="{d6ac1a61-7206-9549-c6e6-1e0e806768e6}">
          <p14:sldIdLst>
            <p14:sldId id="279"/>
            <p14:sldId id="280"/>
            <p14:sldId id="281"/>
            <p14:sldId id="282"/>
            <p14:sldId id="283"/>
          </p14:sldIdLst>
        </p14:section>
        <p14:section name="DS 7 Boss 0" id="{533fcbfb-4c16-ef69-eb9b-6aa7c002eb5a}">
          <p14:sldIdLst>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Einstieg in die Akademie (ca. 1 min, Beginn DS 2): Bevor unser Studio Helden schmieden darf, durchläuft es die Akademie der Baumeister – Werkstatt (Basics), Vorratskammer (Reihungen), Zauberschule (eigene Methoden) und am Ende die Aufnahmeprüfung (Boss 0). Begründung für die Schüler: Im Abitur ist jede Implementierung eine Methode mit vorgegebener Signatur – in allen Abi-Aufgaben 2022–2026 wurde so implementiert. Die Präsentation begleitet DS 2 bis 7; je Stunde nur die passenden Folien zeigen (DS-Angabe unten rechts auf jeder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Überblick (ca. 2 min): Vier IDE-Level mit Basis-, Erweiterungs- und Experten-Tests in einer Gerüstdatei (AQ_W0_Akademie_Geruest.txt; Testklassen L02WerkstattTest, L03VorratTest, L04ZauberTest, L05ZauberIITest). In DS 6 entsteht auf Papier eine Methode, die als Papier-Compiler 0 abgetippt wird (ohne Punkte – grün beim ersten Versuch heißt: die Handschrift „compiliert“). DS 7 ist Boss 0 auf Papier. Zu jeder Doppelstunde gehört ein Lab-Level im Algo Quest Lab (0.2 bis 0.6, goldene Zeile); Punkte vergibt das Lab automatisch. Zusätzlich zum Papier-Boss gibt es im Lab den Online-Boss „Aufnahmeprüfung: Die Bibliothek der Akademie“. Alle Methoden der Akademie sind static – Objekte kommen erst in Welt 1. Das AB Portal Teil B bleibt die Notations-Referenz für Struktogramme.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Datentypen und Variablen, DS 2 (ca. 3 min): Die linke Spalte ist die Sprache des Abiturs (EH 2025), die mittlere die Java-Übersetzung – diese Tabelle brauchen wir in DS 4 für die Signaturen wieder. „nichts“ = void nur ankündigen. Typische Fehler: char mit doppelten Anführungszeichen, Komma statt Punkt bei Kommazahlen. Rechts: Eine Variable ist eine beschriftete Kiste mit Typ, Name und Inhalt. Bei gold = gold + 10 wird erst rechts mit dem alten Wert 50 gerechnet, dann 60 abgelegt (mit javac geprüft). Im Struktogramm schreiben wir den Pfeil ← – so steht es im AB Portal Teil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Ganzzahl-Arithmetik, DS 2 (ca. 3 min): / mit zwei Ganzzahlen liefert, wie oft der Teiler hineinpasst, % (im Struktogramm „mod“) den Rest. Alle Beispielwerte sind mit javac ausgeführt, auch −7 % 2 = −1 – deshalb prüft man „gerade“ besser mit % 2 == 0 statt % 2 == 1 (die Testmeldung von istGerade weist darauf hin). Typische Muster: n % 10 letzte Ziffer, n / 10 Ziffer streichen, n % t == 0 teilbar. Der Denkanstoß zu den Kisten ist die Basis-Aufgabe kistenBenoetigt – hier nicht auflösen. Vergleichs- und Logikoperatoren mit den Struktogramm-Zeichen nur zeigen, sie werden beim Verzweigen geübt.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Casting-Falle, DS 2 (ca. 3 min): Erst nur den Code zeigen und vorhersagen lassen, dann die Chips aufdecken. Die Ausgaben sind mit javac ausgeführt: d1 = 2.0, d2 = d3 = 2.3333333333333335, d4 = 2.0. Entscheidend ist der Zeitpunkt: Java rechnet (a + b + c) / 3 komplett ganzzahlig, erst das fertige Ergebnis 2 wird in double umgewandelt. (double) vor der Klammer wirkt nur auf die Summe – richtig; (double) um die Division herum – zu spät. Diese Falle prüft die Erweiterung durchschnitt in Level 0.2 und kommt im Boss als Fehlersuche typisch vor. Zusatz: (int) schneidet ab, das brauchen wir gleich für Runden und Zufall.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Zufall und Runden, DS 2 (ca. 4 min): Beide Formeln stehen ausdrücklich in den Ergänzenden Hinweisen 2025 (ganzzahlige Zufallszahl im Bereich, ganzzahliges Runden) und müssen ohne Nachschlagen sitzen. Die Stufen oben von links nach rechts erklären: Math.random liefert eine Kommazahl von 0 einschließlich bis 1 ausschließlich, mal 6 streckt, der Cast schneidet ab, + 1 verschiebt. Geprüft mit javac (100 000 Würfe: Minimum 1, Maximum 6; Bereich 3 bis 8 ebenso; die falsch geklammerte Variante liefert immer 0). Runden: (int) (2.4 + 0.5) = 2, (int) (2.5 + 0.5) = 3, (int) (2.9 + 0.5) = 3 – nur für nicht negative Werte. Math.round, Math.floor, Math.ceil sind in der Akademie bewusst nicht erlaubt (Code-Review, die Tests merken es nicht). Die Experten-Aufgaben runden und wuerfelImBereich in Level 0.4 greifen das wieder auf.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Verzweigung, DS 2 (ca. 3 min): Code und Struktogramm nebeneinander lesen. Ein else if ist im Struktogramm keine eigene Form, sondern eine weitere Verzweigung im falsch-Zweig (EH §5: Dreieck mit wahr/falsch). Grenzfälle mit javac geprüft: 99 Novize, 100 Lehrling, 299 Lehrling, 300 Geselle. Die Reihenfolge der Bedingungen ist wichtig – würde man zuerst xp &lt; 300 prüfen, wäre niemand mehr Novize. Die Erweiterung schadensstufe in Level 0.2 ist genau dieses Muster mit vier Stufen; dort prüfen die Tests alle Grenzen.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Schleifen, DS 2 (ca. 4 min): for, wenn die Anzahl der Durchläufe vorher feststeht (Struktogramm: „für i von 1 bis n“), while, wenn eine Bedingung entscheidet (Struktogramm: „solange …“). do-while nur kurz zeigen: Der Rumpf läuft mindestens einmal, typisch für Würfeln bis zur 6. Alle Ergebnisse mit javac geprüft: Summe 1 bis 5 = 15; 50 Gold bei Preis 15 ergibt 3 Tränke und 5 Gold Rest (gleiche Zahlen wie bei restGold(50, 15) im Hauptprogramm des Gerüsts). Häufige Fehler: Endlosschleife, weil die Variable der Bedingung im Rumpf nicht verändert wird; for-Grenze &lt; statt &lt;= bzw. umgekehrt.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Trace-Beispiel, DS 2 (ca. 5 min, gut als Sicherung am Stundenende): Erst die Tabelle leer zeigen bzw. abdecken und die Teams auf Papier tracen lassen. Werte mit javac ausgeführt: summe 0 → 4 → 7 → 9 → 10, n 1234 → 123 → 12 → 1 → 0; danach ist n &gt; 0 falsch und 10 wird zurückgegeben. Randfall: quersumme(0) – die Schleife läuft nie, Ergebnis 0. Dies ist das Format der Tracetabelle im Abitur und im Boss: eine Zeile je Durchlauf, nur geänderte Werte. Neue Konvention: Die Tabelle enthält nur Variablen (keine Spalte für die Bedingung n &gt; 0); die Zeilen entstehen an den im Code mit „// → Tabellenzeile“ markierten Stellen (Startwerte nach int summe = 0;, je Durchlauf nach n = n / 10;). Code wie in der Musterlösung zu Level 0.2 (Erweiterung) – wer ihn hier sieht, muss ihn in der IDE trotzdem selbst tippen und die Tests verstehen. Weitere automatisch geprüfte Trace-Aufgaben: Lab-Level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Reihung als Regal, DS 3 (ca. 4 min): Die Variable vorrat ist nur das Schild mit dem Pfeil – das Regal selbst liegt woanders (wichtig für Folie „zwei Schilder, ein Regal“). Anlegen mit Literal oder mit new int[n] (alle Fächer 0), Zugriff mit eckigen Klammern, Länge mit length ohne Klammern (bei Zeichenketten dagegen length() mit Klammern – häufige Verwechslung). Mit javac geprüft: vorrat[2] = 7, length = 6, letztes Fach 9; vorrat[6] bzw. r[0] bei leerer Reihung lösen „Index 6 out of bounds for length 6“ bzw. „Index 0 out of bounds for length 0“ aus. In der Online-IDE erscheint eine entsprechende Fehlermeldung. Die Reihung des Hauptprogramms im Gerüst ist genau dieser Vorrat {4, 0, 7, 0, 12,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gegen for-each, DS 3 (ca. 4 min): Beide Schleifen summieren den Vorrat {4, 0, 7, 0, 12, 9} zu 32 (mit javac geprüft). Struktogramm nach EH §5: „für i von 0 bis Länge von r − 1“ bzw. „für jedes x in r“ – beides ist im Abitur erlaubt. Faustregel: Nur lesen und den Index nicht brauchen → for-each. Schreiben, Nachbarn vergleichen (r[i − 1]) oder ab Index 1 starten → for mit Index. Die Fallen in der letzten Zeile sind genau die Fehler, die die Tests von verdopple (for-each wirkt nicht) und die Index-Abfragen in Level 0.3 aufdecken.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Referenz gegen Kopie, DS 3 (ca. 4 min): Erst nur den Code links zeigen und vorhersagen lassen (Referenz-Rätsel aus dem Hauptprogramm des Gerüsts). Ausgabe mit javac geprüft: a[0] = 99. Die Zuweisung b = a kopiert nur den Pfeil, beide Schilder zeigen auf dasselbe Regal. Rechts die echte Kopie: neues Regal mit new, dann Wert für Wert übertragen; danach ändert c[1] = 7 nur c (geprüft: a = {99, 2, 3}, c = {99, 7, 3}). Das Pfeilbild ist die Vorstufe zu den Objektkarten in Welt 1 und die Grundlage für die Wert- und Referenzübergabe in DS 5. Warm-up W0-14 übt genau dieses Speicherbild.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Zeichenketten, DS 3 (ca. 4 min): Die Liste der erlaubten Operationen in den EH 2025 ist abschließend: Länge, Zeichen an Position, Teilzeichenkette, Verketten, Gleichheit, enthält Teilzeichenkette, lexikographischer Vergleich, ASCII-Wert und Zeichen. Alle Ergebnisse mit javac ausgeführt (length 9, charAt(0) F, substring(0, 5) Feuer, compareTo −1, (int) A = 65, (char) 98 = b). substring(a, b) liefert die Zeichen von a bis b − 1. Was nicht erlaubt ist, erkennen die Tests der Online-IDE nicht (z. B. toLowerCase in ohneVokale) – das ist Code-Review. Online-IDE-Besonderheit: Dort vergleicht == Zeichenketten inhaltlich, in echtem Java nicht – im Abitur immer equals.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Anatomie, Beginn DS 4 (ca. 5 min): Die Zauberformel-Metapher trägt durch die ganze Zauberschule: Name = Spruch, Zutaten = Parameter, Wirkung = Rückgabewert. Den Kopf Baustein für Baustein durchgehen: public static (in der Akademie immer, Objekte erst in Welt 1), Rückgabetyp, Name, Parameterliste mit Typ und Name je Parameter. Der Rumpf steht in geschweiften Klammern; return liefert den Wert und beendet die Methode sofort. Unten die gleiche Methode als Abi-Signatur – diese Übersetzung ist das Thema der nächsten Folie. schutzwert ist ein Beispiel außerhalb der IDE-Level; mit javac geprüft: schutzwert(12, 3) = 12 + 15 = 27. In der Online-IDE ruft man Methoden einer anderen Klasse mit Klassennamen auf, z. B. Zauber.heilwert(3).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Abi-Signatur übersetzen, DS 4 (ca. 6 min): Kernkompetenz der Zauberschule – in jeder Abi-Aufgabe 2022–2026 war die Signatur vorgegeben. Drei Regeln: Rückgabetyp wandert nach vorn (nichts → void), in der Parameterliste steht der Typ vor dem Namen, die Doppelpunkte fallen weg. Die Parameterreihenfolge bleibt unverändert. Beide Beispielköpfe sind mit javac kompiliert. In Level 0.4 steht bei Erweiterung und Experte nur noch die Abi-Signatur im Gerüst – der Kopf ist Teil der Aufgabe; erst nach dem Freischalten der Testblöcke meldet der Compiler Fehler im Kopf. Warm-up W0-16 und W0-17 (neue Kategorie „Methodenkopf und Signatur“) passen hierher.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Parameter, Argumente, Gültigkeit, DS 4 (ca. 5 min): Beim Aufruf wird zuerst jedes Argument ausgewertet (helm + 2 → 12), dann werden die Parameter mit diesen Werten belegt. Parameter sind lokale Variablen der Methode. Rechts gelb umrandet: ruestung, stufe und wert existieren nur während des Aufrufs von schutzwert; der Zugriff von außen scheitert am Compiler (javac: „cannot find symbol“, ebenso für i nach der for-Schleife – beides geprüft). Der verkürzte Kopf ohne public static rechts oben spart nur Platz. Mit javac geprüft: schutzwert(helm + 2, 3) = 27. Begriffe Parameter und Argument werden im Boss 0 abgefragt – sauber trennen lassen.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Rückgabepfade, DS 4 (ca. 4 min): Der Compiler prüft, ob jeder mögliche Weg durch eine Methode mit Rückgabetyp in einem return endet. In der falschen Version fehlt der Weg „punkte &lt; 50“ – javac meldet „missing return statement“ (geprüft), auch wenn man selbst weiß, dass nur große Werte vorkommen. Im Struktogramm sieht man den Fehler sofort: Der falsch-Zweig endet leer. Zweite Regel: return beendet die Methode sofort; eine Anweisung direkt dahinter ist „unreachable statement“ (ebenfalls geprüft). Die Basis-Aufgabe max2 in Level 0.4 ohne else ist genau dieser Fehler. Warm-up W0-21 „Der Compiler streikt“.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void und Rückgabewert, DS 4 (ca. 4 min): Eine void-Methode (Abi: Rückgabetyp nichts) bewirkt etwas – Ausgabe, Veränderung einer Reihung –, liefert aber keinen Wert. Ihr Aufruf ist eine eigene Anweisung. Mit javac geprüft: zeigeLeben("Aria", 80) gibt „Aria: 80 LP“ aus; int x = zeigeLeben(...) wird abgelehnt („void cannot be converted to int“). Rechts: Den Rückgabewert speichert man, gibt ihn aus oder verwendet ihn direkt in einem Ausdruck oder einer Bedingung (27 &gt;= 30 ist falsch). Der einzelne Aufruf schutzwert(12, 3); kompiliert ohne Warnung – das Ergebnis geht verloren, ein typischer Anfängerfehler. In der Online-IDE heißt die Ausgabe println(...) ohne System.out.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Aufrufprotokoll, DS 4 (ca. 6 min): Den Aufruf haeltStand(30, 12, 3) Stufe für Stufe vorspielen – Treppe nach unten beim Aufruf, zurück nach oben mit dem Rückgabewert. Mit javac geprüft: schutzwert(12, 3) = 27, 27 &gt;= 30 ist falsch, haeltStand liefert false (zum Vergleich haeltStand(25, 12, 3) = true). Die Tabelle unten ist das Protokollformat für Boss 0, Teilaufgabe b: eine Zeile je Aufruf, eingerückt für den inneren Aufruf. Die Erweiterung kannZaubern in Level 0.4 funktioniert genauso – sie MUSS manaKosten aufrufen; das kann kein Test erzwingen, daher Code-Review. Warm-up W0-19 übt den Trace mit Hilfsmethode.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Vorhersage, Einstieg DS 5 (ca. 4 min): Code zeigen, Teams geben verdeckt einen Tipp ab (A–D) und notieren eine Begründung. Erst danach auflösen. Erfahrungsgemäß tippen viele B (beides geändert) oder A (beides unverändert). Die richtige Antwort ist C (mit javac geprüft: 50, dann 70) – Auflösung auf der nächsten Folie. Diese Teilaufgabe „Ausgabe vorhersagen und begründen“ kommt im Boss 0 in ähnlicher Form; das Beispiel hier ist bewusst ein anderes.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Auflösung, DS 5 (ca. 5 min): Links die Wertübergabe – leben ist eine eigene Kiste, die beim Aufruf eine Kopie von 50 erhält; leben = leben + 20 ändert nur diese Kopie, die nach dem Aufruf verschwindet. Rechts die Referenzübergabe – team bekommt eine Kopie des Pfeils, zeigt also auf dasselbe Regal wie gruppe; team[i] = … verändert den gemeinsamen Inhalt. Mit javac geprüft: held = 50, gruppe = {70, 50}. Achtung, dritter Fall für Fortgeschrittene: Weist man in der Methode dem Parameter selbst eine neue Reihung zu (team = new int[…]), zeigt nur noch die Kopie des Pfeils woanders hin – außen ändert sich nichts. Das Wert-Rätsel im Hauptprogramm des Gerüsts (jahr bleibt 2026, obwohl quersumme n auf 0 zählt) ist derselbe Effekt wie bei heile. Warm-up W0-18 „Original oder Kopie?“.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In-place oder neue Reihung, DS 5 (ca. 4 min): Beide Methoden halbieren ganzzahlig (5 / 2 = 2). Mit javac geprüft: halbiereAlle macht aus {8, 5, 12} die Reihung {4, 2, 6}; halbierteKopie liefert {4, 2, 6} und r bleibt {8, 5, 12}; die falsche Kopie mit int[] neu = r verändert r ebenfalls zu {4, 2, 6}. Die Signatur verrät, welche Variante verlangt ist. Die Tests in Level 0.5 (erhoeheAlle und erhoehteKopie) prüfen ausdrücklich beides: Wirkung nach außen bzw. Original unverändert UND neue Reihung. Im Abi-Check steht deshalb „Struktur am Ende unverändert, falls gefordert“.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Hilfsmethoden und Zerlegung, DS 5 (ca. 4 min): anzahlVokale kennen die Schüler aus Level 0 (Diagnose, Experte) – oft mit einer langen Bedingung in der Schleife. Zerlegt wird die Hauptmethode lesbar, und istVokal lässt sich einzeln testen. Mit javac geprüft: anzahlVokale("Akademie") = 5, istVokal(E) = true, istVokal(k) = false. Die Standardbausteine aus Level 0 sind genau solche Werkzeuge. Im Abitur werden häufig Methoden „als bereits implementiert“ vorgegeben – sie zu nutzen spart Zeit und gibt Punkte. In Level 0.4 und 0.5 MÜSSEN max3 max2, kannZaubern manaKosten und zaehleImBereich istImBereich nutzen (Code-Review, kein Test kann es erzwingen).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Rezept, DS 6 (ca. 3 min): Die Methoden-Werkstatt ist eine Papierstunde. Das Rezept hängt als Plakat oder Werkzeugkarte aus und wird in den folgenden Folien an einem Beispiel vorgeführt. Die Schritte 1 bis 3 sind keine Zeitverschwendung: Wer die Randfälle vorher tabelliert, schreibt die Leerabfrage und die Schleifengrenzen fast automatisch richtig. Schritt 7 ist der Papier-Compiler: Die handschriftliche Methode (anzahlUeberDurchschnitt auf AB 5) wird ohne Änderung in die Klasse Werkstattpruefung getippt; Testklasse PapierCompiler0Test. Grün beim ersten Versuch heißt: Die Handschrift „compiliert“ – Punkte gibt es dafür nicht, Fehler kommen ins Fehlerlogbuch. Die typischen Fehler übt Lab-Level 0.6 „Die Methoden-Werkstatt: Fehlergalerie und Abi-Check“.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Vorgemachtes Beispiel, Teil 1, DS 6 (ca. 5 min): Die Aufgabe im Abi-Format laut vorlesen und an der Tafel markieren lassen, was Eingabe, Ergebnis und Randfall ist. Dann Signatur in den Kopf übersetzen (Regeln aus DS 4). Die Beispieltabelle ist der wichtigste Schritt: Hier fallen die Randfälle auf – das letzte Element (Schleifengrenze!) und die leere Reihung. Alle Ergebnisse mit javac geprüft: 2, 3, −1, −1. Die Idee unten ist der Plan in Worten; alternativ könnte man rückwärts laufen und beim ersten Treffer zurückgeben. letzterIndexVon kommt in keinem Level und nicht im Boss vor.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Vorgemachtes Beispiel, Teil 2, DS 6 (ca. 6 min): Struktogramm mit Kopf nach EH §5 (Signatur, ←, „gib … zurück“), daraus Zeile für Zeile Java. Die Implementierung ist mit javac gegen die Beispieltabelle getestet (2, 3, −1, −1; außerdem x = 9 → 1). Beim Abi-Check laut denken: Eine Leerabfrage ist hier NICHT nötig, weil nie direkt auf r[0] zugegriffen wird – bei Maximum oder Minimum wäre sie Pflicht. Wichtig ist auch, warum kein return in der Schleife steht: Er würde das erste statt des letzten Vorkommens liefern. Danach bearbeiten die Teams AB 5 nach demselben Rezept (Papier-Compiler 0: anzahlUeberDurchschnitt).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Fehlergalerie, DS 6 (ca. 6 min): Erst nur die roten Codekästen zeigen (Folge und Fix abdecken), Teams benennen Fehler und Folge. Alle Folgen mit javac geprüft: 1 „missing return statement“; 2 ArrayIndexOutOfBoundsException; 3 if (gefunden = true) kompiliert und ist immer wahr – bei int (if (x = 5)) lehnt der Compiler ab; 4 7 / 3 ergibt 2.0; 5 enthält-Methode mit else-return liefert für {3, 8, 5} und 8 fälschlich false; 6 int[] neu = r verändert das Original. Siebter Klassiker für AB 5: Parameter überschrieben, z. B. grenze = 10; am Anfang der Methode – dann ist das Argument des Aufrufers wirkungslos. Diese Fehler sind auch die Kandidaten für die Fehlersuche im Boss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Abi-Format und Abi-Check, Ende DS 6 (ca. 4 min): Links die Operatoren, wie sie in den Abituraufgaben 2022–2026 bei Implementierungen vorkommen; die Erwartung je Operator kurz klären. Rechts die Abi-Check-Karte (auch auf den Werkzeugkarten): Sie wird ab jetzt vor jeder Abgabe – Warm-up, Papier-Compiler, Boss – abgehakt. Im Boss wird besonders gewürdigt, wenn alle Leer- und Indexabfragen und jeder Rückgabepfad stimmen. Die BE-Angabe hilft bei der Zeitplanung: 2,5 Minuten pro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Boss-Vorschau am Ende von DS 6 (ca. 2 min): Nur den Rahmen nennen, keine Aufgaben verraten. Boss 0 „Die Bibliothek der Akademie“: 60 Minuten, 24 BE, AFB-Mischung wie im Abitur, nur Papier mit den Werkzeugkarten. Abgefragt wird das Handwerk der Akademie in einem neuen Kontext. Direkt danach der Papier-Compiler: Die Implementierung aus dem Boss wird unverändert in der Online-IDE abgetippt (ohne Punkte; die Tests geben ehrliche Rückmeldung). Zusätzlich gibt es im Lab den Online-Boss „Aufnahmeprüfung: Die Bibliothek der Akademie“ (25 min, Auswertung am Ende, bester Versuch zählt, besiegt ab 50 %; Freischaltung in den Kurseinstellungen: automatisch ab 60 % der Level-Punkte, offen oder gesperrt). Zur Vorbereitung die Warm-up-Karten der Akademie (W0-09 bis W0-22, auch im Warm-up-Trainer des Lab), der Trainingsplatz der Welt 0 und die Abi-Check-Karte.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Q Titel">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949440" cy="457200"/>
          </a:xfrm>
          <a:prstGeom prst="rect">
            <a:avLst/>
          </a:prstGeom>
          <a:noFill/>
          <a:ln/>
        </p:spPr>
        <p:txBody>
          <a:bodyPr wrap="square" rtlCol="0"/>
          <a:lstStyle>
            <a:lvl1pPr indent="0" marL="0">
              <a:buNone/>
              <a:defRPr lang="en-US" sz="1800" b="1" spc="200" kern="0" dirty="0">
                <a:solidFill>
                  <a:schemeClr val="accent2"/>
                </a:solidFill>
              </a:defRPr>
            </a:lvl1pPr>
          </a:lstStyle>
          <a:p>
            <a:pPr indent="0" marL="0">
              <a:buNone/>
            </a:pPr>
            <a:endParaRPr lang="en-US" sz="1800" dirty="0"/>
          </a:p>
        </p:txBody>
      </p:sp>
      <p:sp>
        <p:nvSpPr>
          <p:cNvPr id="3" name="Text 0"/>
          <p:cNvSpPr/>
          <p:nvPr>
            <p:ph idx="101" type="title" hasCustomPrompt="1"/>
          </p:nvPr>
        </p:nvSpPr>
        <p:spPr>
          <a:xfrm>
            <a:off x="731520" y="1920240"/>
            <a:ext cx="7132320" cy="146304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4" name="Text 0"/>
          <p:cNvSpPr/>
          <p:nvPr>
            <p:ph idx="102" type="body" hasCustomPrompt="1"/>
          </p:nvPr>
        </p:nvSpPr>
        <p:spPr>
          <a:xfrm>
            <a:off x="731520" y="3429000"/>
            <a:ext cx="6949440" cy="822960"/>
          </a:xfrm>
          <a:prstGeom prst="rect">
            <a:avLst/>
          </a:prstGeom>
          <a:noFill/>
          <a:ln/>
        </p:spPr>
        <p:txBody>
          <a:bodyPr wrap="square" rtlCol="0"/>
          <a:lstStyle>
            <a:lvl1pPr indent="0" marL="0">
              <a:buNone/>
              <a:defRPr lang="en-US" sz="3000" dirty="0">
                <a:solidFill>
                  <a:schemeClr val="bg2"/>
                </a:solidFill>
              </a:defRPr>
            </a:lvl1pPr>
          </a:lstStyle>
          <a:p>
            <a:pPr indent="0" marL="0">
              <a:buNone/>
            </a:pPr>
            <a:endParaRPr lang="en-US" sz="3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Q Inhal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rtlCol="0"/>
          <a:lstStyle>
            <a:lvl1pPr indent="0" marL="0">
              <a:buNone/>
              <a:defRPr lang="en-US" sz="3600" b="1" dirty="0">
                <a:solidFill>
                  <a:schemeClr val="accent1"/>
                </a:solidFill>
              </a:defRPr>
            </a:lvl1pPr>
          </a:lstStyle>
          <a:p>
            <a:pPr indent="0" marL="0">
              <a:buNone/>
            </a:pPr>
            <a:endParaRPr lang="en-US" sz="3600" dirty="0"/>
          </a:p>
        </p:txBody>
      </p:sp>
      <p:sp>
        <p:nvSpPr>
          <p:cNvPr id="3" name="Text 0"/>
          <p:cNvSpPr/>
          <p:nvPr/>
        </p:nvSpPr>
        <p:spPr>
          <a:xfrm>
            <a:off x="548640" y="6419088"/>
            <a:ext cx="8229600" cy="274320"/>
          </a:xfrm>
          <a:prstGeom prst="rect">
            <a:avLst/>
          </a:prstGeom>
          <a:noFill/>
          <a:ln/>
        </p:spPr>
        <p:txBody>
          <a:bodyPr wrap="square" lIns="0" tIns="0" rIns="0" bIns="0" rtlCol="0" anchor="t"/>
          <a:lstStyle/>
          <a:p>
            <a:pPr indent="0" marL="0">
              <a:buNone/>
            </a:pPr>
            <a:r>
              <a:rPr lang="en-US" sz="1100" dirty="0">
                <a:solidFill>
                  <a:schemeClr val="accent6"/>
                </a:solidFill>
              </a:rPr>
              <a:t>Informatik LK · Algo Quest · Welt 0 – Die Akademie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Q Dunkel">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
        <p:nvSpPr>
          <p:cNvPr id="3" name="Text 0"/>
          <p:cNvSpPr/>
          <p:nvPr/>
        </p:nvSpPr>
        <p:spPr>
          <a:xfrm>
            <a:off x="548640" y="6419088"/>
            <a:ext cx="8229600" cy="274320"/>
          </a:xfrm>
          <a:prstGeom prst="rect">
            <a:avLst/>
          </a:prstGeom>
          <a:noFill/>
          <a:ln/>
        </p:spPr>
        <p:txBody>
          <a:bodyPr wrap="square" lIns="0" tIns="0" rIns="0" bIns="0" rtlCol="0" anchor="t"/>
          <a:lstStyle/>
          <a:p>
            <a:pPr indent="0" marL="0">
              <a:buNone/>
            </a:pPr>
            <a:r>
              <a:rPr lang="en-US" sz="1100" dirty="0">
                <a:solidFill>
                  <a:schemeClr val="bg2"/>
                </a:solidFill>
              </a:rPr>
              <a:t>Informatik LK · Algo Quest · Welt 0 – Die Akademie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slideLayout" Target="../slideLayouts/slideLayout3.xml"/><Relationship Id="rId10"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3.xml"/><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3.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slideLayout" Target="../slideLayouts/slideLayout4.xml"/><Relationship Id="rId7"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949440" cy="457200"/>
          </a:xfrm>
          <a:prstGeom prst="rect">
            <a:avLst/>
          </a:prstGeom>
          <a:noFill/>
          <a:ln/>
        </p:spPr>
        <p:txBody>
          <a:bodyPr wrap="square" lIns="0" tIns="0" rIns="0" bIns="0" rtlCol="0" anchor="t"/>
          <a:lstStyle/>
          <a:p>
            <a:pPr indent="0" marL="0">
              <a:buNone/>
            </a:pPr>
            <a:r>
              <a:rPr lang="en-US" sz="1800" b="1" spc="200" kern="0" dirty="0">
                <a:solidFill>
                  <a:schemeClr val="accent2"/>
                </a:solidFill>
              </a:rPr>
              <a:t>INFORMATIK LK · WELT 0 · DS 2–7</a:t>
            </a:r>
            <a:endParaRPr lang="en-US" sz="1800" dirty="0"/>
          </a:p>
        </p:txBody>
      </p:sp>
      <p:sp>
        <p:nvSpPr>
          <p:cNvPr id="3" name="Text 0"/>
          <p:cNvSpPr/>
          <p:nvPr>
            <p:ph idx="101" type="title" hasCustomPrompt="1"/>
          </p:nvPr>
        </p:nvSpPr>
        <p:spPr>
          <a:xfrm>
            <a:off x="731520" y="1920240"/>
            <a:ext cx="7132320" cy="1463040"/>
          </a:xfrm>
          <a:prstGeom prst="rect">
            <a:avLst/>
          </a:prstGeom>
          <a:noFill/>
          <a:ln/>
        </p:spPr>
        <p:txBody>
          <a:bodyPr wrap="square" lIns="0" tIns="0" rIns="0" bIns="0" rtlCol="0" anchor="t"/>
          <a:lstStyle/>
          <a:p>
            <a:pPr algn="l" indent="0" marL="0">
              <a:buNone/>
            </a:pPr>
            <a:r>
              <a:rPr lang="en-US" sz="6000" b="1" dirty="0">
                <a:solidFill>
                  <a:schemeClr val="bg1"/>
                </a:solidFill>
              </a:rPr>
              <a:t>Die Akademie</a:t>
            </a:r>
            <a:endParaRPr lang="en-US" sz="6000" dirty="0"/>
          </a:p>
        </p:txBody>
      </p:sp>
      <p:sp>
        <p:nvSpPr>
          <p:cNvPr id="4" name="Text 0"/>
          <p:cNvSpPr/>
          <p:nvPr>
            <p:ph idx="102" type="body" hasCustomPrompt="1"/>
          </p:nvPr>
        </p:nvSpPr>
        <p:spPr>
          <a:xfrm>
            <a:off x="731520" y="3429000"/>
            <a:ext cx="6949440" cy="822960"/>
          </a:xfrm>
          <a:prstGeom prst="rect">
            <a:avLst/>
          </a:prstGeom>
          <a:noFill/>
          <a:ln/>
        </p:spPr>
        <p:txBody>
          <a:bodyPr wrap="square" lIns="0" tIns="0" rIns="0" bIns="0" rtlCol="0" anchor="t"/>
          <a:lstStyle/>
          <a:p>
            <a:pPr indent="0" marL="0">
              <a:buNone/>
            </a:pPr>
            <a:r>
              <a:rPr lang="en-US" sz="3000" dirty="0">
                <a:solidFill>
                  <a:schemeClr val="bg2"/>
                </a:solidFill>
              </a:rPr>
              <a:t>Basics, Reihungen, eigene Methoden</a:t>
            </a:r>
            <a:endParaRPr lang="en-US" sz="3000" dirty="0"/>
          </a:p>
        </p:txBody>
      </p:sp>
      <p:sp>
        <p:nvSpPr>
          <p:cNvPr id="5" name="Icon-Kreis"/>
          <p:cNvSpPr/>
          <p:nvPr/>
        </p:nvSpPr>
        <p:spPr>
          <a:xfrm>
            <a:off x="8229600" y="1325880"/>
            <a:ext cx="3200400" cy="3200400"/>
          </a:xfrm>
          <a:prstGeom prst="ellipse">
            <a:avLst/>
          </a:prstGeom>
          <a:solidFill>
            <a:schemeClr val="accent1"/>
          </a:solidFill>
          <a:ln w="63500">
            <a:solidFill>
              <a:schemeClr val="accent2"/>
            </a:solidFill>
            <a:prstDash val="solid"/>
          </a:ln>
        </p:spPr>
      </p:sp>
      <p:pic>
        <p:nvPicPr>
          <p:cNvPr id="6" name="Icon GiSpellBook" descr="preencoded.png">    </p:cNvPr>
          <p:cNvPicPr>
            <a:picLocks noChangeAspect="1"/>
          </p:cNvPicPr>
          <p:nvPr/>
        </p:nvPicPr>
        <p:blipFill>
          <a:blip r:embed="rId1"/>
          <a:stretch>
            <a:fillRect/>
          </a:stretch>
        </p:blipFill>
        <p:spPr>
          <a:xfrm>
            <a:off x="8869680" y="1965960"/>
            <a:ext cx="1920240" cy="1920240"/>
          </a:xfrm>
          <a:prstGeom prst="rect">
            <a:avLst/>
          </a:prstGeom>
        </p:spPr>
      </p:pic>
      <p:sp>
        <p:nvSpPr>
          <p:cNvPr id="7" name="Linie"/>
          <p:cNvSpPr/>
          <p:nvPr/>
        </p:nvSpPr>
        <p:spPr>
          <a:xfrm>
            <a:off x="1600200" y="4983480"/>
            <a:ext cx="320040" cy="91"/>
          </a:xfrm>
          <a:prstGeom prst="line">
            <a:avLst/>
          </a:prstGeom>
          <a:noFill/>
          <a:ln w="31750">
            <a:solidFill>
              <a:schemeClr val="accent2"/>
            </a:solidFill>
            <a:prstDash val="sysDot"/>
          </a:ln>
        </p:spPr>
      </p:sp>
      <p:sp>
        <p:nvSpPr>
          <p:cNvPr id="8" name="Chip"/>
          <p:cNvSpPr txBox="1"/>
          <p:nvPr/>
        </p:nvSpPr>
        <p:spPr>
          <a:xfrm>
            <a:off x="731520" y="4773168"/>
            <a:ext cx="868680" cy="420624"/>
          </a:xfrm>
          <a:prstGeom prst="roundRect">
            <a:avLst>
              <a:gd name="adj" fmla="val 50000"/>
            </a:avLst>
          </a:prstGeom>
          <a:solidFill>
            <a:schemeClr val="accent1"/>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L0.2</a:t>
            </a:r>
            <a:endParaRPr lang="en-US" sz="1500" dirty="0"/>
          </a:p>
        </p:txBody>
      </p:sp>
      <p:sp>
        <p:nvSpPr>
          <p:cNvPr id="9" name="Linie"/>
          <p:cNvSpPr/>
          <p:nvPr/>
        </p:nvSpPr>
        <p:spPr>
          <a:xfrm>
            <a:off x="2788920" y="4983480"/>
            <a:ext cx="320040" cy="91"/>
          </a:xfrm>
          <a:prstGeom prst="line">
            <a:avLst/>
          </a:prstGeom>
          <a:noFill/>
          <a:ln w="31750">
            <a:solidFill>
              <a:schemeClr val="accent2"/>
            </a:solidFill>
            <a:prstDash val="sysDot"/>
          </a:ln>
        </p:spPr>
      </p:sp>
      <p:sp>
        <p:nvSpPr>
          <p:cNvPr id="10" name="Chip"/>
          <p:cNvSpPr txBox="1"/>
          <p:nvPr/>
        </p:nvSpPr>
        <p:spPr>
          <a:xfrm>
            <a:off x="1920240" y="4773168"/>
            <a:ext cx="868680" cy="420624"/>
          </a:xfrm>
          <a:prstGeom prst="roundRect">
            <a:avLst>
              <a:gd name="adj" fmla="val 50000"/>
            </a:avLst>
          </a:prstGeom>
          <a:solidFill>
            <a:schemeClr val="accent1"/>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L0.3</a:t>
            </a:r>
            <a:endParaRPr lang="en-US" sz="1500" dirty="0"/>
          </a:p>
        </p:txBody>
      </p:sp>
      <p:sp>
        <p:nvSpPr>
          <p:cNvPr id="11" name="Linie"/>
          <p:cNvSpPr/>
          <p:nvPr/>
        </p:nvSpPr>
        <p:spPr>
          <a:xfrm>
            <a:off x="3977640" y="4983480"/>
            <a:ext cx="320040" cy="91"/>
          </a:xfrm>
          <a:prstGeom prst="line">
            <a:avLst/>
          </a:prstGeom>
          <a:noFill/>
          <a:ln w="31750">
            <a:solidFill>
              <a:schemeClr val="accent2"/>
            </a:solidFill>
            <a:prstDash val="sysDot"/>
          </a:ln>
        </p:spPr>
      </p:sp>
      <p:sp>
        <p:nvSpPr>
          <p:cNvPr id="12" name="Chip"/>
          <p:cNvSpPr txBox="1"/>
          <p:nvPr/>
        </p:nvSpPr>
        <p:spPr>
          <a:xfrm>
            <a:off x="3108960" y="4773168"/>
            <a:ext cx="868680" cy="420624"/>
          </a:xfrm>
          <a:prstGeom prst="roundRect">
            <a:avLst>
              <a:gd name="adj" fmla="val 50000"/>
            </a:avLst>
          </a:prstGeom>
          <a:solidFill>
            <a:schemeClr val="accent1"/>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L0.4</a:t>
            </a:r>
            <a:endParaRPr lang="en-US" sz="1500" dirty="0"/>
          </a:p>
        </p:txBody>
      </p:sp>
      <p:sp>
        <p:nvSpPr>
          <p:cNvPr id="13" name="Linie"/>
          <p:cNvSpPr/>
          <p:nvPr/>
        </p:nvSpPr>
        <p:spPr>
          <a:xfrm>
            <a:off x="5166360" y="4983480"/>
            <a:ext cx="320040" cy="91"/>
          </a:xfrm>
          <a:prstGeom prst="line">
            <a:avLst/>
          </a:prstGeom>
          <a:noFill/>
          <a:ln w="31750">
            <a:solidFill>
              <a:schemeClr val="accent2"/>
            </a:solidFill>
            <a:prstDash val="sysDot"/>
          </a:ln>
        </p:spPr>
      </p:sp>
      <p:sp>
        <p:nvSpPr>
          <p:cNvPr id="14" name="Chip"/>
          <p:cNvSpPr txBox="1"/>
          <p:nvPr/>
        </p:nvSpPr>
        <p:spPr>
          <a:xfrm>
            <a:off x="4297680" y="4773168"/>
            <a:ext cx="868680" cy="420624"/>
          </a:xfrm>
          <a:prstGeom prst="roundRect">
            <a:avLst>
              <a:gd name="adj" fmla="val 50000"/>
            </a:avLst>
          </a:prstGeom>
          <a:solidFill>
            <a:schemeClr val="accent1"/>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L0.5</a:t>
            </a:r>
            <a:endParaRPr lang="en-US" sz="1500" dirty="0"/>
          </a:p>
        </p:txBody>
      </p:sp>
      <p:sp>
        <p:nvSpPr>
          <p:cNvPr id="15" name="Linie"/>
          <p:cNvSpPr/>
          <p:nvPr/>
        </p:nvSpPr>
        <p:spPr>
          <a:xfrm>
            <a:off x="6355080" y="4983480"/>
            <a:ext cx="320040" cy="91"/>
          </a:xfrm>
          <a:prstGeom prst="line">
            <a:avLst/>
          </a:prstGeom>
          <a:noFill/>
          <a:ln w="31750">
            <a:solidFill>
              <a:schemeClr val="accent2"/>
            </a:solidFill>
            <a:prstDash val="sysDot"/>
          </a:ln>
        </p:spPr>
      </p:sp>
      <p:sp>
        <p:nvSpPr>
          <p:cNvPr id="16" name="Chip"/>
          <p:cNvSpPr txBox="1"/>
          <p:nvPr/>
        </p:nvSpPr>
        <p:spPr>
          <a:xfrm>
            <a:off x="5486400" y="4773168"/>
            <a:ext cx="868680" cy="420624"/>
          </a:xfrm>
          <a:prstGeom prst="roundRect">
            <a:avLst>
              <a:gd name="adj" fmla="val 50000"/>
            </a:avLst>
          </a:prstGeom>
          <a:solidFill>
            <a:schemeClr val="accent2"/>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PC 0</a:t>
            </a:r>
            <a:endParaRPr lang="en-US" sz="1500" dirty="0"/>
          </a:p>
        </p:txBody>
      </p:sp>
      <p:sp>
        <p:nvSpPr>
          <p:cNvPr id="17" name="Chip"/>
          <p:cNvSpPr txBox="1"/>
          <p:nvPr/>
        </p:nvSpPr>
        <p:spPr>
          <a:xfrm>
            <a:off x="6675120" y="4773168"/>
            <a:ext cx="868680" cy="420624"/>
          </a:xfrm>
          <a:prstGeom prst="roundRect">
            <a:avLst>
              <a:gd name="adj" fmla="val 50000"/>
            </a:avLst>
          </a:prstGeom>
          <a:solidFill>
            <a:schemeClr val="accent4"/>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BOSS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Die Akademie im Überblick</a:t>
            </a:r>
            <a:endParaRPr lang="en-US" sz="3600" dirty="0"/>
          </a:p>
        </p:txBody>
      </p:sp>
      <p:sp>
        <p:nvSpPr>
          <p:cNvPr id="3" name="IDE-Level 0.2"/>
          <p:cNvSpPr/>
          <p:nvPr/>
        </p:nvSpPr>
        <p:spPr>
          <a:xfrm>
            <a:off x="548640" y="1325880"/>
            <a:ext cx="2103120" cy="4023360"/>
          </a:xfrm>
          <a:prstGeom prst="roundRect">
            <a:avLst>
              <a:gd name="adj" fmla="val 5217"/>
            </a:avLst>
          </a:prstGeom>
          <a:solidFill>
            <a:schemeClr val="bg1"/>
          </a:solidFill>
          <a:ln/>
          <a:effectLst>
            <a:outerShdw sx="100000" sy="100000" kx="0" ky="0" algn="bl" rotWithShape="0" blurRad="76200" dist="25400" dir="5400000">
              <a:srgbClr val="000000">
                <a:alpha val="18000"/>
              </a:srgbClr>
            </a:outerShdw>
          </a:effectLst>
        </p:spPr>
      </p:sp>
      <p:sp>
        <p:nvSpPr>
          <p:cNvPr id="4" name="Icon-Kreis"/>
          <p:cNvSpPr/>
          <p:nvPr/>
        </p:nvSpPr>
        <p:spPr>
          <a:xfrm>
            <a:off x="1097280" y="1508760"/>
            <a:ext cx="1005840" cy="1005840"/>
          </a:xfrm>
          <a:prstGeom prst="ellipse">
            <a:avLst/>
          </a:prstGeom>
          <a:solidFill>
            <a:schemeClr val="accent1"/>
          </a:solidFill>
          <a:ln/>
        </p:spPr>
      </p:sp>
      <p:pic>
        <p:nvPicPr>
          <p:cNvPr id="5" name="Icon GiAnvil" descr="preencoded.png">    </p:cNvPr>
          <p:cNvPicPr>
            <a:picLocks noChangeAspect="1"/>
          </p:cNvPicPr>
          <p:nvPr/>
        </p:nvPicPr>
        <p:blipFill>
          <a:blip r:embed="rId1"/>
          <a:stretch>
            <a:fillRect/>
          </a:stretch>
        </p:blipFill>
        <p:spPr>
          <a:xfrm>
            <a:off x="1318565" y="1730045"/>
            <a:ext cx="563270" cy="563270"/>
          </a:xfrm>
          <a:prstGeom prst="rect">
            <a:avLst/>
          </a:prstGeom>
        </p:spPr>
      </p:pic>
      <p:sp>
        <p:nvSpPr>
          <p:cNvPr id="6" name="Chip"/>
          <p:cNvSpPr txBox="1"/>
          <p:nvPr/>
        </p:nvSpPr>
        <p:spPr>
          <a:xfrm>
            <a:off x="1097280" y="2633472"/>
            <a:ext cx="100584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500" b="1" dirty="0">
                <a:solidFill>
                  <a:schemeClr val="bg1"/>
                </a:solidFill>
              </a:rPr>
              <a:t>DS 2</a:t>
            </a:r>
            <a:endParaRPr lang="en-US" sz="1500" dirty="0"/>
          </a:p>
        </p:txBody>
      </p:sp>
      <p:sp>
        <p:nvSpPr>
          <p:cNvPr id="7" name="Text 4"/>
          <p:cNvSpPr txBox="1"/>
          <p:nvPr/>
        </p:nvSpPr>
        <p:spPr>
          <a:xfrm>
            <a:off x="640080" y="3063240"/>
            <a:ext cx="1920240" cy="914400"/>
          </a:xfrm>
          <a:prstGeom prst="rect">
            <a:avLst/>
          </a:prstGeom>
          <a:noFill/>
          <a:ln/>
        </p:spPr>
        <p:txBody>
          <a:bodyPr wrap="square" lIns="0" tIns="0" rIns="0" bIns="0" rtlCol="0" anchor="t"/>
          <a:lstStyle/>
          <a:p>
            <a:pPr algn="ctr" indent="0" marL="0">
              <a:buNone/>
            </a:pPr>
            <a:r>
              <a:rPr lang="en-US" sz="1500" b="1" dirty="0">
                <a:solidFill>
                  <a:schemeClr val="accent6"/>
                </a:solidFill>
              </a:rPr>
              <a:t>IDE-Level 0.2</a:t>
            </a:r>
            <a:endParaRPr lang="en-US" sz="1800" dirty="0"/>
          </a:p>
          <a:p>
            <a:pPr algn="ctr" indent="0" marL="0">
              <a:buNone/>
            </a:pPr>
            <a:r>
              <a:rPr lang="en-US" sz="1900" b="1" dirty="0">
                <a:solidFill>
                  <a:schemeClr val="accent1"/>
                </a:solidFill>
              </a:rPr>
              <a:t>Werkstatt</a:t>
            </a:r>
            <a:endParaRPr lang="en-US" sz="1800" dirty="0"/>
          </a:p>
        </p:txBody>
      </p:sp>
      <p:sp>
        <p:nvSpPr>
          <p:cNvPr id="8" name="Text 5"/>
          <p:cNvSpPr txBox="1"/>
          <p:nvPr/>
        </p:nvSpPr>
        <p:spPr>
          <a:xfrm>
            <a:off x="685800" y="4023360"/>
            <a:ext cx="1828800" cy="777240"/>
          </a:xfrm>
          <a:prstGeom prst="rect">
            <a:avLst/>
          </a:prstGeom>
          <a:noFill/>
          <a:ln/>
        </p:spPr>
        <p:txBody>
          <a:bodyPr wrap="square" lIns="0" tIns="0" rIns="0" bIns="0" rtlCol="0" anchor="t"/>
          <a:lstStyle/>
          <a:p>
            <a:pPr algn="ctr" indent="0" marL="0">
              <a:buNone/>
            </a:pPr>
            <a:r>
              <a:rPr lang="en-US" sz="1500" dirty="0">
                <a:solidFill>
                  <a:schemeClr val="tx1"/>
                </a:solidFill>
              </a:rPr>
              <a:t>Datentypen, Operatoren, Verzweigung, Schleifen</a:t>
            </a:r>
            <a:endParaRPr lang="en-US" sz="1500" dirty="0"/>
          </a:p>
        </p:txBody>
      </p:sp>
      <p:sp>
        <p:nvSpPr>
          <p:cNvPr id="9" name="Text 6"/>
          <p:cNvSpPr txBox="1"/>
          <p:nvPr/>
        </p:nvSpPr>
        <p:spPr>
          <a:xfrm>
            <a:off x="640080" y="4846320"/>
            <a:ext cx="1920240" cy="320040"/>
          </a:xfrm>
          <a:prstGeom prst="rect">
            <a:avLst/>
          </a:prstGeom>
          <a:noFill/>
          <a:ln/>
        </p:spPr>
        <p:txBody>
          <a:bodyPr wrap="square" lIns="0" tIns="0" rIns="0" bIns="0" rtlCol="0" anchor="t"/>
          <a:lstStyle/>
          <a:p>
            <a:pPr algn="ctr" indent="0" marL="0">
              <a:buNone/>
            </a:pPr>
            <a:r>
              <a:rPr lang="en-US" sz="1400" b="1" dirty="0">
                <a:solidFill>
                  <a:schemeClr val="accent2"/>
                </a:solidFill>
              </a:rPr>
              <a:t>Lab-Level 0.2</a:t>
            </a:r>
            <a:endParaRPr lang="en-US" sz="1400" dirty="0"/>
          </a:p>
        </p:txBody>
      </p:sp>
      <p:sp>
        <p:nvSpPr>
          <p:cNvPr id="10" name="IDE-Level 0.3"/>
          <p:cNvSpPr/>
          <p:nvPr/>
        </p:nvSpPr>
        <p:spPr>
          <a:xfrm>
            <a:off x="2788920" y="1325880"/>
            <a:ext cx="2103120" cy="4023360"/>
          </a:xfrm>
          <a:prstGeom prst="roundRect">
            <a:avLst>
              <a:gd name="adj" fmla="val 5217"/>
            </a:avLst>
          </a:prstGeom>
          <a:solidFill>
            <a:schemeClr val="bg1"/>
          </a:solidFill>
          <a:ln/>
          <a:effectLst>
            <a:outerShdw sx="100000" sy="100000" kx="0" ky="0" algn="bl" rotWithShape="0" blurRad="76200" dist="25400" dir="5400000">
              <a:srgbClr val="000000">
                <a:alpha val="18000"/>
              </a:srgbClr>
            </a:outerShdw>
          </a:effectLst>
        </p:spPr>
      </p:sp>
      <p:sp>
        <p:nvSpPr>
          <p:cNvPr id="11" name="Icon-Kreis"/>
          <p:cNvSpPr/>
          <p:nvPr/>
        </p:nvSpPr>
        <p:spPr>
          <a:xfrm>
            <a:off x="3337560" y="1508760"/>
            <a:ext cx="1005840" cy="1005840"/>
          </a:xfrm>
          <a:prstGeom prst="ellipse">
            <a:avLst/>
          </a:prstGeom>
          <a:solidFill>
            <a:schemeClr val="accent1"/>
          </a:solidFill>
          <a:ln/>
        </p:spPr>
      </p:sp>
      <p:pic>
        <p:nvPicPr>
          <p:cNvPr id="12" name="Icon GiBookshelf" descr="preencoded.png">    </p:cNvPr>
          <p:cNvPicPr>
            <a:picLocks noChangeAspect="1"/>
          </p:cNvPicPr>
          <p:nvPr/>
        </p:nvPicPr>
        <p:blipFill>
          <a:blip r:embed="rId2"/>
          <a:stretch>
            <a:fillRect/>
          </a:stretch>
        </p:blipFill>
        <p:spPr>
          <a:xfrm>
            <a:off x="3558845" y="1730045"/>
            <a:ext cx="563270" cy="563270"/>
          </a:xfrm>
          <a:prstGeom prst="rect">
            <a:avLst/>
          </a:prstGeom>
        </p:spPr>
      </p:pic>
      <p:sp>
        <p:nvSpPr>
          <p:cNvPr id="13" name="Chip"/>
          <p:cNvSpPr txBox="1"/>
          <p:nvPr/>
        </p:nvSpPr>
        <p:spPr>
          <a:xfrm>
            <a:off x="3337560" y="2633472"/>
            <a:ext cx="100584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500" b="1" dirty="0">
                <a:solidFill>
                  <a:schemeClr val="bg1"/>
                </a:solidFill>
              </a:rPr>
              <a:t>DS 3</a:t>
            </a:r>
            <a:endParaRPr lang="en-US" sz="1500" dirty="0"/>
          </a:p>
        </p:txBody>
      </p:sp>
      <p:sp>
        <p:nvSpPr>
          <p:cNvPr id="14" name="Text 10"/>
          <p:cNvSpPr txBox="1"/>
          <p:nvPr/>
        </p:nvSpPr>
        <p:spPr>
          <a:xfrm>
            <a:off x="2880360" y="3063240"/>
            <a:ext cx="1920240" cy="914400"/>
          </a:xfrm>
          <a:prstGeom prst="rect">
            <a:avLst/>
          </a:prstGeom>
          <a:noFill/>
          <a:ln/>
        </p:spPr>
        <p:txBody>
          <a:bodyPr wrap="square" lIns="0" tIns="0" rIns="0" bIns="0" rtlCol="0" anchor="t"/>
          <a:lstStyle/>
          <a:p>
            <a:pPr algn="ctr" indent="0" marL="0">
              <a:buNone/>
            </a:pPr>
            <a:r>
              <a:rPr lang="en-US" sz="1500" b="1" dirty="0">
                <a:solidFill>
                  <a:schemeClr val="accent6"/>
                </a:solidFill>
              </a:rPr>
              <a:t>IDE-Level 0.3</a:t>
            </a:r>
            <a:endParaRPr lang="en-US" sz="1800" dirty="0"/>
          </a:p>
          <a:p>
            <a:pPr algn="ctr" indent="0" marL="0">
              <a:buNone/>
            </a:pPr>
            <a:r>
              <a:rPr lang="en-US" sz="1900" b="1" dirty="0">
                <a:solidFill>
                  <a:schemeClr val="accent1"/>
                </a:solidFill>
              </a:rPr>
              <a:t>Vorratskammer</a:t>
            </a:r>
            <a:endParaRPr lang="en-US" sz="1800" dirty="0"/>
          </a:p>
        </p:txBody>
      </p:sp>
      <p:sp>
        <p:nvSpPr>
          <p:cNvPr id="15" name="Text 11"/>
          <p:cNvSpPr txBox="1"/>
          <p:nvPr/>
        </p:nvSpPr>
        <p:spPr>
          <a:xfrm>
            <a:off x="2926080" y="4023360"/>
            <a:ext cx="1828800" cy="777240"/>
          </a:xfrm>
          <a:prstGeom prst="rect">
            <a:avLst/>
          </a:prstGeom>
          <a:noFill/>
          <a:ln/>
        </p:spPr>
        <p:txBody>
          <a:bodyPr wrap="square" lIns="0" tIns="0" rIns="0" bIns="0" rtlCol="0" anchor="t"/>
          <a:lstStyle/>
          <a:p>
            <a:pPr algn="ctr" indent="0" marL="0">
              <a:buNone/>
            </a:pPr>
            <a:r>
              <a:rPr lang="en-US" sz="1500" dirty="0">
                <a:solidFill>
                  <a:schemeClr val="tx1"/>
                </a:solidFill>
              </a:rPr>
              <a:t>Reihungen, Referenzen, Zeichenketten</a:t>
            </a:r>
            <a:endParaRPr lang="en-US" sz="1500" dirty="0"/>
          </a:p>
        </p:txBody>
      </p:sp>
      <p:sp>
        <p:nvSpPr>
          <p:cNvPr id="16" name="Text 12"/>
          <p:cNvSpPr txBox="1"/>
          <p:nvPr/>
        </p:nvSpPr>
        <p:spPr>
          <a:xfrm>
            <a:off x="2880360" y="4846320"/>
            <a:ext cx="1920240" cy="320040"/>
          </a:xfrm>
          <a:prstGeom prst="rect">
            <a:avLst/>
          </a:prstGeom>
          <a:noFill/>
          <a:ln/>
        </p:spPr>
        <p:txBody>
          <a:bodyPr wrap="square" lIns="0" tIns="0" rIns="0" bIns="0" rtlCol="0" anchor="t"/>
          <a:lstStyle/>
          <a:p>
            <a:pPr algn="ctr" indent="0" marL="0">
              <a:buNone/>
            </a:pPr>
            <a:r>
              <a:rPr lang="en-US" sz="1400" b="1" dirty="0">
                <a:solidFill>
                  <a:schemeClr val="accent2"/>
                </a:solidFill>
              </a:rPr>
              <a:t>Lab-Level 0.3</a:t>
            </a:r>
            <a:endParaRPr lang="en-US" sz="1400" dirty="0"/>
          </a:p>
        </p:txBody>
      </p:sp>
      <p:sp>
        <p:nvSpPr>
          <p:cNvPr id="17" name="IDE-Level 0.4 + 0.5"/>
          <p:cNvSpPr/>
          <p:nvPr/>
        </p:nvSpPr>
        <p:spPr>
          <a:xfrm>
            <a:off x="5029200" y="1325880"/>
            <a:ext cx="2103120" cy="4023360"/>
          </a:xfrm>
          <a:prstGeom prst="roundRect">
            <a:avLst>
              <a:gd name="adj" fmla="val 5217"/>
            </a:avLst>
          </a:prstGeom>
          <a:solidFill>
            <a:schemeClr val="bg1"/>
          </a:solidFill>
          <a:ln/>
          <a:effectLst>
            <a:outerShdw sx="100000" sy="100000" kx="0" ky="0" algn="bl" rotWithShape="0" blurRad="76200" dist="25400" dir="5400000">
              <a:srgbClr val="000000">
                <a:alpha val="18000"/>
              </a:srgbClr>
            </a:outerShdw>
          </a:effectLst>
        </p:spPr>
      </p:sp>
      <p:sp>
        <p:nvSpPr>
          <p:cNvPr id="18" name="Icon-Kreis"/>
          <p:cNvSpPr/>
          <p:nvPr/>
        </p:nvSpPr>
        <p:spPr>
          <a:xfrm>
            <a:off x="5577840" y="1508760"/>
            <a:ext cx="1005840" cy="1005840"/>
          </a:xfrm>
          <a:prstGeom prst="ellipse">
            <a:avLst/>
          </a:prstGeom>
          <a:solidFill>
            <a:schemeClr val="accent1"/>
          </a:solidFill>
          <a:ln/>
        </p:spPr>
      </p:sp>
      <p:pic>
        <p:nvPicPr>
          <p:cNvPr id="19" name="Icon GiWizardStaff" descr="preencoded.png">    </p:cNvPr>
          <p:cNvPicPr>
            <a:picLocks noChangeAspect="1"/>
          </p:cNvPicPr>
          <p:nvPr/>
        </p:nvPicPr>
        <p:blipFill>
          <a:blip r:embed="rId3"/>
          <a:stretch>
            <a:fillRect/>
          </a:stretch>
        </p:blipFill>
        <p:spPr>
          <a:xfrm>
            <a:off x="5799125" y="1730045"/>
            <a:ext cx="563270" cy="563270"/>
          </a:xfrm>
          <a:prstGeom prst="rect">
            <a:avLst/>
          </a:prstGeom>
        </p:spPr>
      </p:pic>
      <p:sp>
        <p:nvSpPr>
          <p:cNvPr id="20" name="Chip"/>
          <p:cNvSpPr txBox="1"/>
          <p:nvPr/>
        </p:nvSpPr>
        <p:spPr>
          <a:xfrm>
            <a:off x="5577840" y="2633472"/>
            <a:ext cx="100584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500" b="1" dirty="0">
                <a:solidFill>
                  <a:schemeClr val="bg1"/>
                </a:solidFill>
              </a:rPr>
              <a:t>DS 4–5</a:t>
            </a:r>
            <a:endParaRPr lang="en-US" sz="1500" dirty="0"/>
          </a:p>
        </p:txBody>
      </p:sp>
      <p:sp>
        <p:nvSpPr>
          <p:cNvPr id="21" name="Text 16"/>
          <p:cNvSpPr txBox="1"/>
          <p:nvPr/>
        </p:nvSpPr>
        <p:spPr>
          <a:xfrm>
            <a:off x="5120640" y="3063240"/>
            <a:ext cx="1920240" cy="914400"/>
          </a:xfrm>
          <a:prstGeom prst="rect">
            <a:avLst/>
          </a:prstGeom>
          <a:noFill/>
          <a:ln/>
        </p:spPr>
        <p:txBody>
          <a:bodyPr wrap="square" lIns="0" tIns="0" rIns="0" bIns="0" rtlCol="0" anchor="t"/>
          <a:lstStyle/>
          <a:p>
            <a:pPr algn="ctr" indent="0" marL="0">
              <a:buNone/>
            </a:pPr>
            <a:r>
              <a:rPr lang="en-US" sz="1500" b="1" dirty="0">
                <a:solidFill>
                  <a:schemeClr val="accent6"/>
                </a:solidFill>
              </a:rPr>
              <a:t>IDE-Level 0.4 + 0.5</a:t>
            </a:r>
            <a:endParaRPr lang="en-US" sz="1800" dirty="0"/>
          </a:p>
          <a:p>
            <a:pPr algn="ctr" indent="0" marL="0">
              <a:buNone/>
            </a:pPr>
            <a:r>
              <a:rPr lang="en-US" sz="1900" b="1" dirty="0">
                <a:solidFill>
                  <a:schemeClr val="accent1"/>
                </a:solidFill>
              </a:rPr>
              <a:t>Zauberschule</a:t>
            </a:r>
            <a:endParaRPr lang="en-US" sz="1800" dirty="0"/>
          </a:p>
        </p:txBody>
      </p:sp>
      <p:sp>
        <p:nvSpPr>
          <p:cNvPr id="22" name="Text 17"/>
          <p:cNvSpPr txBox="1"/>
          <p:nvPr/>
        </p:nvSpPr>
        <p:spPr>
          <a:xfrm>
            <a:off x="5166360" y="4023360"/>
            <a:ext cx="1828800" cy="777240"/>
          </a:xfrm>
          <a:prstGeom prst="rect">
            <a:avLst/>
          </a:prstGeom>
          <a:noFill/>
          <a:ln/>
        </p:spPr>
        <p:txBody>
          <a:bodyPr wrap="square" lIns="0" tIns="0" rIns="0" bIns="0" rtlCol="0" anchor="t"/>
          <a:lstStyle/>
          <a:p>
            <a:pPr algn="ctr" indent="0" marL="0">
              <a:buNone/>
            </a:pPr>
            <a:r>
              <a:rPr lang="en-US" sz="1500" dirty="0">
                <a:solidFill>
                  <a:schemeClr val="tx1"/>
                </a:solidFill>
              </a:rPr>
              <a:t>eigene Methoden: Signatur, Parameter, Rückgabe</a:t>
            </a:r>
            <a:endParaRPr lang="en-US" sz="1500" dirty="0"/>
          </a:p>
        </p:txBody>
      </p:sp>
      <p:sp>
        <p:nvSpPr>
          <p:cNvPr id="23" name="Text 18"/>
          <p:cNvSpPr txBox="1"/>
          <p:nvPr/>
        </p:nvSpPr>
        <p:spPr>
          <a:xfrm>
            <a:off x="5120640" y="4846320"/>
            <a:ext cx="1920240" cy="320040"/>
          </a:xfrm>
          <a:prstGeom prst="rect">
            <a:avLst/>
          </a:prstGeom>
          <a:noFill/>
          <a:ln/>
        </p:spPr>
        <p:txBody>
          <a:bodyPr wrap="square" lIns="0" tIns="0" rIns="0" bIns="0" rtlCol="0" anchor="t"/>
          <a:lstStyle/>
          <a:p>
            <a:pPr algn="ctr" indent="0" marL="0">
              <a:buNone/>
            </a:pPr>
            <a:r>
              <a:rPr lang="en-US" sz="1400" b="1" dirty="0">
                <a:solidFill>
                  <a:schemeClr val="accent2"/>
                </a:solidFill>
              </a:rPr>
              <a:t>Lab-Level 0.4 + 0.5</a:t>
            </a:r>
            <a:endParaRPr lang="en-US" sz="1400" dirty="0"/>
          </a:p>
        </p:txBody>
      </p:sp>
      <p:sp>
        <p:nvSpPr>
          <p:cNvPr id="24" name="Papier-Compiler 0"/>
          <p:cNvSpPr/>
          <p:nvPr/>
        </p:nvSpPr>
        <p:spPr>
          <a:xfrm>
            <a:off x="7269480" y="1325880"/>
            <a:ext cx="2103120" cy="4023360"/>
          </a:xfrm>
          <a:prstGeom prst="roundRect">
            <a:avLst>
              <a:gd name="adj" fmla="val 5217"/>
            </a:avLst>
          </a:prstGeom>
          <a:solidFill>
            <a:schemeClr val="bg1"/>
          </a:solidFill>
          <a:ln w="31750">
            <a:solidFill>
              <a:schemeClr val="accent2"/>
            </a:solidFill>
            <a:prstDash val="solid"/>
          </a:ln>
          <a:effectLst>
            <a:outerShdw sx="100000" sy="100000" kx="0" ky="0" algn="bl" rotWithShape="0" blurRad="76200" dist="25400" dir="5400000">
              <a:srgbClr val="000000">
                <a:alpha val="18000"/>
              </a:srgbClr>
            </a:outerShdw>
          </a:effectLst>
        </p:spPr>
      </p:sp>
      <p:sp>
        <p:nvSpPr>
          <p:cNvPr id="25" name="Icon-Kreis"/>
          <p:cNvSpPr/>
          <p:nvPr/>
        </p:nvSpPr>
        <p:spPr>
          <a:xfrm>
            <a:off x="7818120" y="1508760"/>
            <a:ext cx="1005840" cy="1005840"/>
          </a:xfrm>
          <a:prstGeom prst="ellipse">
            <a:avLst/>
          </a:prstGeom>
          <a:solidFill>
            <a:schemeClr val="accent2"/>
          </a:solidFill>
          <a:ln/>
        </p:spPr>
      </p:sp>
      <p:pic>
        <p:nvPicPr>
          <p:cNvPr id="26" name="Icon GiQuillInk" descr="preencoded.png">    </p:cNvPr>
          <p:cNvPicPr>
            <a:picLocks noChangeAspect="1"/>
          </p:cNvPicPr>
          <p:nvPr/>
        </p:nvPicPr>
        <p:blipFill>
          <a:blip r:embed="rId4"/>
          <a:stretch>
            <a:fillRect/>
          </a:stretch>
        </p:blipFill>
        <p:spPr>
          <a:xfrm>
            <a:off x="8039405" y="1730045"/>
            <a:ext cx="563270" cy="563270"/>
          </a:xfrm>
          <a:prstGeom prst="rect">
            <a:avLst/>
          </a:prstGeom>
        </p:spPr>
      </p:pic>
      <p:sp>
        <p:nvSpPr>
          <p:cNvPr id="27" name="Chip"/>
          <p:cNvSpPr txBox="1"/>
          <p:nvPr/>
        </p:nvSpPr>
        <p:spPr>
          <a:xfrm>
            <a:off x="7818120" y="2633472"/>
            <a:ext cx="100584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500" b="1" dirty="0">
                <a:solidFill>
                  <a:schemeClr val="bg1"/>
                </a:solidFill>
              </a:rPr>
              <a:t>DS 6</a:t>
            </a:r>
            <a:endParaRPr lang="en-US" sz="1500" dirty="0"/>
          </a:p>
        </p:txBody>
      </p:sp>
      <p:sp>
        <p:nvSpPr>
          <p:cNvPr id="28" name="Text 22"/>
          <p:cNvSpPr txBox="1"/>
          <p:nvPr/>
        </p:nvSpPr>
        <p:spPr>
          <a:xfrm>
            <a:off x="7360920" y="3063240"/>
            <a:ext cx="1920240" cy="914400"/>
          </a:xfrm>
          <a:prstGeom prst="rect">
            <a:avLst/>
          </a:prstGeom>
          <a:noFill/>
          <a:ln/>
        </p:spPr>
        <p:txBody>
          <a:bodyPr wrap="square" lIns="0" tIns="0" rIns="0" bIns="0" rtlCol="0" anchor="t"/>
          <a:lstStyle/>
          <a:p>
            <a:pPr algn="ctr" indent="0" marL="0">
              <a:buNone/>
            </a:pPr>
            <a:r>
              <a:rPr lang="en-US" sz="1500" b="1" dirty="0">
                <a:solidFill>
                  <a:schemeClr val="accent6"/>
                </a:solidFill>
              </a:rPr>
              <a:t>Papier-Compiler 0</a:t>
            </a:r>
            <a:endParaRPr lang="en-US" sz="1800" dirty="0"/>
          </a:p>
          <a:p>
            <a:pPr algn="ctr" indent="0" marL="0">
              <a:buNone/>
            </a:pPr>
            <a:r>
              <a:rPr lang="en-US" sz="1900" b="1" dirty="0">
                <a:solidFill>
                  <a:schemeClr val="accent1"/>
                </a:solidFill>
              </a:rPr>
              <a:t>Methoden-Werkstatt</a:t>
            </a:r>
            <a:endParaRPr lang="en-US" sz="1800" dirty="0"/>
          </a:p>
        </p:txBody>
      </p:sp>
      <p:sp>
        <p:nvSpPr>
          <p:cNvPr id="29" name="Text 23"/>
          <p:cNvSpPr txBox="1"/>
          <p:nvPr/>
        </p:nvSpPr>
        <p:spPr>
          <a:xfrm>
            <a:off x="7406640" y="4023360"/>
            <a:ext cx="1828800" cy="777240"/>
          </a:xfrm>
          <a:prstGeom prst="rect">
            <a:avLst/>
          </a:prstGeom>
          <a:noFill/>
          <a:ln/>
        </p:spPr>
        <p:txBody>
          <a:bodyPr wrap="square" lIns="0" tIns="0" rIns="0" bIns="0" rtlCol="0" anchor="t"/>
          <a:lstStyle/>
          <a:p>
            <a:pPr algn="ctr" indent="0" marL="0">
              <a:buNone/>
            </a:pPr>
            <a:r>
              <a:rPr lang="en-US" sz="1500" dirty="0">
                <a:solidFill>
                  <a:schemeClr val="tx1"/>
                </a:solidFill>
              </a:rPr>
              <a:t>Rezept, Fehlergalerie, Abi-Format</a:t>
            </a:r>
            <a:endParaRPr lang="en-US" sz="1500" dirty="0"/>
          </a:p>
        </p:txBody>
      </p:sp>
      <p:sp>
        <p:nvSpPr>
          <p:cNvPr id="30" name="Text 24"/>
          <p:cNvSpPr txBox="1"/>
          <p:nvPr/>
        </p:nvSpPr>
        <p:spPr>
          <a:xfrm>
            <a:off x="7360920" y="4846320"/>
            <a:ext cx="1920240" cy="320040"/>
          </a:xfrm>
          <a:prstGeom prst="rect">
            <a:avLst/>
          </a:prstGeom>
          <a:noFill/>
          <a:ln/>
        </p:spPr>
        <p:txBody>
          <a:bodyPr wrap="square" lIns="0" tIns="0" rIns="0" bIns="0" rtlCol="0" anchor="t"/>
          <a:lstStyle/>
          <a:p>
            <a:pPr algn="ctr" indent="0" marL="0">
              <a:buNone/>
            </a:pPr>
            <a:r>
              <a:rPr lang="en-US" sz="1400" b="1" dirty="0">
                <a:solidFill>
                  <a:schemeClr val="accent2"/>
                </a:solidFill>
              </a:rPr>
              <a:t>Lab-Level 0.6</a:t>
            </a:r>
            <a:endParaRPr lang="en-US" sz="1400" dirty="0"/>
          </a:p>
        </p:txBody>
      </p:sp>
      <p:sp>
        <p:nvSpPr>
          <p:cNvPr id="31" name="Boss 0"/>
          <p:cNvSpPr/>
          <p:nvPr/>
        </p:nvSpPr>
        <p:spPr>
          <a:xfrm>
            <a:off x="9509760" y="1325880"/>
            <a:ext cx="2103120" cy="4023360"/>
          </a:xfrm>
          <a:prstGeom prst="roundRect">
            <a:avLst>
              <a:gd name="adj" fmla="val 5217"/>
            </a:avLst>
          </a:prstGeom>
          <a:solidFill>
            <a:schemeClr val="accent4"/>
          </a:solidFill>
          <a:ln/>
          <a:effectLst>
            <a:outerShdw sx="100000" sy="100000" kx="0" ky="0" algn="bl" rotWithShape="0" blurRad="76200" dist="25400" dir="5400000">
              <a:srgbClr val="000000">
                <a:alpha val="18000"/>
              </a:srgbClr>
            </a:outerShdw>
          </a:effectLst>
        </p:spPr>
      </p:sp>
      <p:sp>
        <p:nvSpPr>
          <p:cNvPr id="32" name="Icon-Kreis"/>
          <p:cNvSpPr/>
          <p:nvPr/>
        </p:nvSpPr>
        <p:spPr>
          <a:xfrm>
            <a:off x="10058400" y="1508760"/>
            <a:ext cx="1005840" cy="1005840"/>
          </a:xfrm>
          <a:prstGeom prst="ellipse">
            <a:avLst/>
          </a:prstGeom>
          <a:solidFill>
            <a:schemeClr val="bg1"/>
          </a:solidFill>
          <a:ln/>
        </p:spPr>
      </p:sp>
      <p:pic>
        <p:nvPicPr>
          <p:cNvPr id="33" name="Icon GiDungeonGate" descr="preencoded.png">    </p:cNvPr>
          <p:cNvPicPr>
            <a:picLocks noChangeAspect="1"/>
          </p:cNvPicPr>
          <p:nvPr/>
        </p:nvPicPr>
        <p:blipFill>
          <a:blip r:embed="rId5"/>
          <a:stretch>
            <a:fillRect/>
          </a:stretch>
        </p:blipFill>
        <p:spPr>
          <a:xfrm>
            <a:off x="10279685" y="1730045"/>
            <a:ext cx="563270" cy="563270"/>
          </a:xfrm>
          <a:prstGeom prst="rect">
            <a:avLst/>
          </a:prstGeom>
        </p:spPr>
      </p:pic>
      <p:sp>
        <p:nvSpPr>
          <p:cNvPr id="34" name="Chip"/>
          <p:cNvSpPr txBox="1"/>
          <p:nvPr/>
        </p:nvSpPr>
        <p:spPr>
          <a:xfrm>
            <a:off x="10058400" y="2633472"/>
            <a:ext cx="100584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500" b="1" dirty="0">
                <a:solidFill>
                  <a:schemeClr val="bg1"/>
                </a:solidFill>
              </a:rPr>
              <a:t>DS 7</a:t>
            </a:r>
            <a:endParaRPr lang="en-US" sz="1500" dirty="0"/>
          </a:p>
        </p:txBody>
      </p:sp>
      <p:sp>
        <p:nvSpPr>
          <p:cNvPr id="35" name="Text 28"/>
          <p:cNvSpPr txBox="1"/>
          <p:nvPr/>
        </p:nvSpPr>
        <p:spPr>
          <a:xfrm>
            <a:off x="9601200" y="3063240"/>
            <a:ext cx="1920240" cy="914400"/>
          </a:xfrm>
          <a:prstGeom prst="rect">
            <a:avLst/>
          </a:prstGeom>
          <a:noFill/>
          <a:ln/>
        </p:spPr>
        <p:txBody>
          <a:bodyPr wrap="square" lIns="0" tIns="0" rIns="0" bIns="0" rtlCol="0" anchor="t"/>
          <a:lstStyle/>
          <a:p>
            <a:pPr algn="ctr" indent="0" marL="0">
              <a:buNone/>
            </a:pPr>
            <a:r>
              <a:rPr lang="en-US" sz="1500" b="1" dirty="0">
                <a:solidFill>
                  <a:schemeClr val="bg1"/>
                </a:solidFill>
              </a:rPr>
              <a:t>Boss 0</a:t>
            </a:r>
            <a:endParaRPr lang="en-US" sz="1800" dirty="0"/>
          </a:p>
          <a:p>
            <a:pPr algn="ctr" indent="0" marL="0">
              <a:buNone/>
            </a:pPr>
            <a:r>
              <a:rPr lang="en-US" sz="1900" b="1" dirty="0">
                <a:solidFill>
                  <a:schemeClr val="bg1"/>
                </a:solidFill>
              </a:rPr>
              <a:t>Aufnahmeprüfung</a:t>
            </a:r>
            <a:endParaRPr lang="en-US" sz="1800" dirty="0"/>
          </a:p>
        </p:txBody>
      </p:sp>
      <p:sp>
        <p:nvSpPr>
          <p:cNvPr id="36" name="Text 29"/>
          <p:cNvSpPr txBox="1"/>
          <p:nvPr/>
        </p:nvSpPr>
        <p:spPr>
          <a:xfrm>
            <a:off x="9646920" y="4023360"/>
            <a:ext cx="1828800" cy="777240"/>
          </a:xfrm>
          <a:prstGeom prst="rect">
            <a:avLst/>
          </a:prstGeom>
          <a:noFill/>
          <a:ln/>
        </p:spPr>
        <p:txBody>
          <a:bodyPr wrap="square" lIns="0" tIns="0" rIns="0" bIns="0" rtlCol="0" anchor="t"/>
          <a:lstStyle/>
          <a:p>
            <a:pPr algn="ctr" indent="0" marL="0">
              <a:buNone/>
            </a:pPr>
            <a:r>
              <a:rPr lang="en-US" sz="1500" dirty="0">
                <a:solidFill>
                  <a:schemeClr val="bg1"/>
                </a:solidFill>
              </a:rPr>
              <a:t>Abi auf Zeit: ≈ 24 BE in 60 min</a:t>
            </a:r>
            <a:endParaRPr lang="en-US" sz="1500" dirty="0"/>
          </a:p>
        </p:txBody>
      </p:sp>
      <p:sp>
        <p:nvSpPr>
          <p:cNvPr id="37" name="Text 30"/>
          <p:cNvSpPr txBox="1"/>
          <p:nvPr/>
        </p:nvSpPr>
        <p:spPr>
          <a:xfrm>
            <a:off x="9601200" y="4846320"/>
            <a:ext cx="1920240" cy="320040"/>
          </a:xfrm>
          <a:prstGeom prst="rect">
            <a:avLst/>
          </a:prstGeom>
          <a:noFill/>
          <a:ln/>
        </p:spPr>
        <p:txBody>
          <a:bodyPr wrap="square" lIns="0" tIns="0" rIns="0" bIns="0" rtlCol="0" anchor="t"/>
          <a:lstStyle/>
          <a:p>
            <a:pPr algn="ctr" indent="0" marL="0">
              <a:buNone/>
            </a:pPr>
            <a:r>
              <a:rPr lang="en-US" sz="1400" b="1" dirty="0">
                <a:solidFill>
                  <a:schemeClr val="bg1"/>
                </a:solidFill>
              </a:rPr>
              <a:t>Lab: Online-Boss</a:t>
            </a:r>
            <a:endParaRPr lang="en-US" sz="1400" dirty="0"/>
          </a:p>
        </p:txBody>
      </p:sp>
      <p:sp>
        <p:nvSpPr>
          <p:cNvPr id="38" name="Warum"/>
          <p:cNvSpPr/>
          <p:nvPr/>
        </p:nvSpPr>
        <p:spPr>
          <a:xfrm>
            <a:off x="548640" y="5532120"/>
            <a:ext cx="11064240" cy="594360"/>
          </a:xfrm>
          <a:prstGeom prst="roundRect">
            <a:avLst>
              <a:gd name="adj" fmla="val 18462"/>
            </a:avLst>
          </a:prstGeom>
          <a:solidFill>
            <a:schemeClr val="bg2"/>
          </a:solidFill>
          <a:ln/>
        </p:spPr>
      </p:sp>
      <p:sp>
        <p:nvSpPr>
          <p:cNvPr id="39" name="Text 32"/>
          <p:cNvSpPr txBox="1"/>
          <p:nvPr/>
        </p:nvSpPr>
        <p:spPr>
          <a:xfrm>
            <a:off x="777240" y="5532120"/>
            <a:ext cx="10698480" cy="594360"/>
          </a:xfrm>
          <a:prstGeom prst="rect">
            <a:avLst/>
          </a:prstGeom>
          <a:noFill/>
          <a:ln/>
        </p:spPr>
        <p:txBody>
          <a:bodyPr wrap="square" lIns="0" tIns="0" rIns="0" bIns="0" rtlCol="0" anchor="ctr"/>
          <a:lstStyle/>
          <a:p>
            <a:pPr indent="0" marL="0">
              <a:buNone/>
            </a:pPr>
            <a:r>
              <a:rPr lang="en-US" sz="1700" b="1" dirty="0">
                <a:solidFill>
                  <a:schemeClr val="accent1"/>
                </a:solidFill>
              </a:rPr>
              <a:t>Warum so viel Methoden? </a:t>
            </a:r>
            <a:pPr indent="0" marL="0">
              <a:buNone/>
            </a:pPr>
            <a:r>
              <a:rPr lang="en-US" sz="1700" dirty="0">
                <a:solidFill>
                  <a:schemeClr val="tx1"/>
                </a:solidFill>
              </a:rPr>
              <a:t>Im Abitur heißt es immer: „Implementieren Sie die Methode …“ – mit vorgegebener Signatur.</a:t>
            </a:r>
            <a:endParaRPr lang="en-US" sz="1700" dirty="0"/>
          </a:p>
        </p:txBody>
      </p:sp>
      <p:sp>
        <p:nvSpPr>
          <p:cNvPr id="40" name="Text 33"/>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2 · Start</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Datentypen und Variablen</a:t>
            </a:r>
            <a:endParaRPr lang="en-US" sz="3600" dirty="0"/>
          </a:p>
        </p:txBody>
      </p:sp>
      <p:graphicFrame>
        <p:nvGraphicFramePr>
          <p:cNvPr id="4" name="Datentypen"/>
          <p:cNvGraphicFramePr>
            <a:graphicFrameLocks noGrp="1"/>
          </p:cNvGraphicFramePr>
          <p:nvPr>
            <p:extLst>
              <p:ext uri="{D42A27DB-BD31-4B8C-83A1-F6EECF244321}">
                <p14:modId xmlns:p14="http://schemas.microsoft.com/office/powerpoint/2010/main" val="1579011935"/>
              </p:ext>
            </p:extLst>
          </p:nvPr>
        </p:nvGraphicFramePr>
        <p:xfrm>
          <a:off x="548640" y="1371600"/>
          <a:ext cx="6035040" cy="914400"/>
        </p:xfrm>
        <a:graphic>
          <a:graphicData uri="http://schemas.openxmlformats.org/drawingml/2006/table">
            <a:tbl>
              <a:tblPr/>
              <a:tblGrid>
                <a:gridCol w="2011680"/>
                <a:gridCol w="1463040"/>
                <a:gridCol w="2560320"/>
              </a:tblGrid>
              <a:tr h="457200">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Abi-Typname</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Java</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Beispielwerte</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457200">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Ganzzahl</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int</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42   -7   0</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57200">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Kommazahl</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double</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3.5   -0.25   2.0</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57200">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Wahrheitswert</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boolean</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true   false</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57200">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Zeichen</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char</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'A'   '7'   ' '</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57200">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Zeichenkette</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String</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"Aria"   ""</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57200">
                <a:tc>
                  <a:txBody>
                    <a:bodyPr/>
                    <a:lstStyle/>
                    <a:p>
                      <a:pPr algn="ctr" indent="0" marL="0">
                        <a:buNone/>
                      </a:pPr>
                      <a:r>
                        <a:rPr lang="en-US" sz="1600" b="1" dirty="0">
                          <a:solidFill>
                            <a:schemeClr val="accent6"/>
                          </a:solidFill>
                          <a:latin typeface="Calibri" pitchFamily="34" charset="0"/>
                          <a:ea typeface="Calibri" pitchFamily="34" charset="-122"/>
                          <a:cs typeface="Calibri" pitchFamily="34" charset="-120"/>
                        </a:rPr>
                        <a:t>nichts</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5"/>
                    </a:solidFill>
                  </a:tcPr>
                </a:tc>
                <a:tc>
                  <a:txBody>
                    <a:bodyPr/>
                    <a:lstStyle/>
                    <a:p>
                      <a:pPr algn="ctr" indent="0" marL="0">
                        <a:buNone/>
                      </a:pPr>
                      <a:r>
                        <a:rPr lang="en-US" sz="1500" b="1" dirty="0">
                          <a:solidFill>
                            <a:schemeClr val="accent6"/>
                          </a:solidFill>
                          <a:latin typeface="Consolas" pitchFamily="34" charset="0"/>
                          <a:ea typeface="Consolas" pitchFamily="34" charset="-122"/>
                          <a:cs typeface="Consolas" pitchFamily="34" charset="-120"/>
                        </a:rPr>
                        <a:t>void</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5"/>
                    </a:solidFill>
                  </a:tcPr>
                </a:tc>
                <a:tc>
                  <a:txBody>
                    <a:bodyPr/>
                    <a:lstStyle/>
                    <a:p>
                      <a:pPr algn="ctr" indent="0" marL="0">
                        <a:buNone/>
                      </a:pPr>
                      <a:r>
                        <a:rPr lang="en-US" sz="1500" dirty="0">
                          <a:solidFill>
                            <a:schemeClr val="accent6"/>
                          </a:solidFill>
                          <a:latin typeface="Calibri" pitchFamily="34" charset="0"/>
                          <a:ea typeface="Calibri" pitchFamily="34" charset="-122"/>
                          <a:cs typeface="Calibri" pitchFamily="34" charset="-120"/>
                        </a:rPr>
                        <a:t>keine Rückgabe (ab DS 4)</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5"/>
                    </a:solidFill>
                  </a:tcPr>
                </a:tc>
              </a:tr>
            </a:tbl>
          </a:graphicData>
        </a:graphic>
      </p:graphicFrame>
      <p:sp>
        <p:nvSpPr>
          <p:cNvPr id="4" name="Achtung Literale"/>
          <p:cNvSpPr/>
          <p:nvPr/>
        </p:nvSpPr>
        <p:spPr>
          <a:xfrm>
            <a:off x="548640" y="4846320"/>
            <a:ext cx="6035040" cy="1280160"/>
          </a:xfrm>
          <a:prstGeom prst="roundRect">
            <a:avLst>
              <a:gd name="adj" fmla="val 8571"/>
            </a:avLst>
          </a:prstGeom>
          <a:solidFill>
            <a:schemeClr val="bg1"/>
          </a:solidFill>
          <a:ln w="25400">
            <a:solidFill>
              <a:schemeClr val="accent4"/>
            </a:solidFill>
            <a:prstDash val="solid"/>
          </a:ln>
        </p:spPr>
      </p:sp>
      <p:sp>
        <p:nvSpPr>
          <p:cNvPr id="5" name="Text 2"/>
          <p:cNvSpPr txBox="1"/>
          <p:nvPr/>
        </p:nvSpPr>
        <p:spPr>
          <a:xfrm>
            <a:off x="749808" y="4846320"/>
            <a:ext cx="5669280" cy="1280160"/>
          </a:xfrm>
          <a:prstGeom prst="rect">
            <a:avLst/>
          </a:prstGeom>
          <a:noFill/>
          <a:ln/>
        </p:spPr>
        <p:txBody>
          <a:bodyPr wrap="square" lIns="0" tIns="0" rIns="0" bIns="0" rtlCol="0" anchor="ctr"/>
          <a:lstStyle/>
          <a:p>
            <a:pPr indent="0" marL="0">
              <a:buNone/>
            </a:pPr>
            <a:r>
              <a:rPr lang="en-US" sz="1600" b="1" dirty="0">
                <a:solidFill>
                  <a:schemeClr val="accent4"/>
                </a:solidFill>
              </a:rPr>
              <a:t>Achtung: </a:t>
            </a:r>
            <a:pPr indent="0" marL="0">
              <a:buNone/>
            </a:pPr>
            <a:r>
              <a:rPr lang="en-US" sz="1600" dirty="0">
                <a:solidFill>
                  <a:schemeClr val="tx1"/>
                </a:solidFill>
              </a:rPr>
              <a:t>Zeichen in einfache </a:t>
            </a:r>
            <a:pPr indent="0" marL="0">
              <a:buNone/>
            </a:pPr>
            <a:r>
              <a:rPr lang="en-US" sz="1600" b="1" dirty="0">
                <a:solidFill>
                  <a:schemeClr val="tx1"/>
                </a:solidFill>
                <a:latin typeface="Consolas" pitchFamily="34" charset="0"/>
                <a:ea typeface="Consolas" pitchFamily="34" charset="-122"/>
                <a:cs typeface="Consolas" pitchFamily="34" charset="-120"/>
              </a:rPr>
              <a:t>'A'</a:t>
            </a:r>
            <a:pPr indent="0" marL="0">
              <a:buNone/>
            </a:pPr>
            <a:r>
              <a:rPr lang="en-US" sz="1600" dirty="0">
                <a:solidFill>
                  <a:schemeClr val="tx1"/>
                </a:solidFill>
              </a:rPr>
              <a:t>, Zeichenketten in doppelte Anführungszeichen </a:t>
            </a:r>
            <a:pPr indent="0" marL="0">
              <a:buNone/>
            </a:pPr>
            <a:r>
              <a:rPr lang="en-US" sz="1600" b="1" dirty="0">
                <a:solidFill>
                  <a:schemeClr val="tx1"/>
                </a:solidFill>
                <a:latin typeface="Consolas" pitchFamily="34" charset="0"/>
                <a:ea typeface="Consolas" pitchFamily="34" charset="-122"/>
                <a:cs typeface="Consolas" pitchFamily="34" charset="-120"/>
              </a:rPr>
              <a:t>"A"</a:t>
            </a:r>
            <a:pPr indent="0" marL="0">
              <a:buNone/>
            </a:pPr>
            <a:r>
              <a:rPr lang="en-US" sz="1600" dirty="0">
                <a:solidFill>
                  <a:schemeClr val="tx1"/>
                </a:solidFill>
              </a:rPr>
              <a:t>. Kommazahlen mit Punkt: </a:t>
            </a:r>
            <a:pPr indent="0" marL="0">
              <a:buNone/>
            </a:pPr>
            <a:r>
              <a:rPr lang="en-US" sz="1600" b="1" dirty="0">
                <a:solidFill>
                  <a:schemeClr val="tx1"/>
                </a:solidFill>
                <a:latin typeface="Consolas" pitchFamily="34" charset="0"/>
                <a:ea typeface="Consolas" pitchFamily="34" charset="-122"/>
                <a:cs typeface="Consolas" pitchFamily="34" charset="-120"/>
              </a:rPr>
              <a:t>3.5</a:t>
            </a:r>
            <a:pPr indent="0" marL="0">
              <a:buNone/>
            </a:pPr>
            <a:r>
              <a:rPr lang="en-US" sz="1600" dirty="0">
                <a:solidFill>
                  <a:schemeClr val="tx1"/>
                </a:solidFill>
              </a:rPr>
              <a:t>.</a:t>
            </a:r>
            <a:endParaRPr lang="en-US" sz="1600" dirty="0"/>
          </a:p>
        </p:txBody>
      </p:sp>
      <p:sp>
        <p:nvSpPr>
          <p:cNvPr id="6" name="Text 3"/>
          <p:cNvSpPr txBox="1"/>
          <p:nvPr/>
        </p:nvSpPr>
        <p:spPr>
          <a:xfrm>
            <a:off x="7040880" y="1325880"/>
            <a:ext cx="4572000" cy="365760"/>
          </a:xfrm>
          <a:prstGeom prst="rect">
            <a:avLst/>
          </a:prstGeom>
          <a:noFill/>
          <a:ln/>
        </p:spPr>
        <p:txBody>
          <a:bodyPr wrap="square" lIns="0" tIns="0" rIns="0" bIns="0" rtlCol="0" anchor="t"/>
          <a:lstStyle/>
          <a:p>
            <a:pPr indent="0" marL="0">
              <a:buNone/>
            </a:pPr>
            <a:r>
              <a:rPr lang="en-US" sz="1900" b="1" dirty="0">
                <a:solidFill>
                  <a:schemeClr val="accent1"/>
                </a:solidFill>
              </a:rPr>
              <a:t>Variable = beschriftete Kiste</a:t>
            </a:r>
            <a:endParaRPr lang="en-US" sz="1900" dirty="0"/>
          </a:p>
        </p:txBody>
      </p:sp>
      <p:sp>
        <p:nvSpPr>
          <p:cNvPr id="7" name="Token int"/>
          <p:cNvSpPr txBox="1"/>
          <p:nvPr/>
        </p:nvSpPr>
        <p:spPr>
          <a:xfrm>
            <a:off x="7040880" y="1783080"/>
            <a:ext cx="710184" cy="502920"/>
          </a:xfrm>
          <a:prstGeom prst="roundRect">
            <a:avLst>
              <a:gd name="adj" fmla="val 10909"/>
            </a:avLst>
          </a:prstGeom>
          <a:solidFill>
            <a:schemeClr val="accent2"/>
          </a:solidFill>
          <a:ln w="15875">
            <a:solidFill>
              <a:schemeClr val="accent2"/>
            </a:solidFill>
          </a:ln>
        </p:spPr>
        <p:txBody>
          <a:bodyPr wrap="square" lIns="0" tIns="0" rIns="0" bIns="0" rtlCol="0" anchor="ctr"/>
          <a:lstStyle/>
          <a:p>
            <a:pPr algn="ctr" indent="0" marL="0">
              <a:buNone/>
            </a:pPr>
            <a:r>
              <a:rPr lang="en-US" sz="2000" b="1" dirty="0">
                <a:solidFill>
                  <a:schemeClr val="bg1"/>
                </a:solidFill>
                <a:latin typeface="Consolas" pitchFamily="34" charset="0"/>
                <a:ea typeface="Consolas" pitchFamily="34" charset="-122"/>
                <a:cs typeface="Consolas" pitchFamily="34" charset="-120"/>
              </a:rPr>
              <a:t>int</a:t>
            </a:r>
            <a:endParaRPr lang="en-US" sz="2000" dirty="0"/>
          </a:p>
        </p:txBody>
      </p:sp>
      <p:sp>
        <p:nvSpPr>
          <p:cNvPr id="8" name="Token gold"/>
          <p:cNvSpPr txBox="1"/>
          <p:nvPr/>
        </p:nvSpPr>
        <p:spPr>
          <a:xfrm>
            <a:off x="7860792" y="1783080"/>
            <a:ext cx="867664" cy="502920"/>
          </a:xfrm>
          <a:prstGeom prst="roundRect">
            <a:avLst>
              <a:gd name="adj" fmla="val 10909"/>
            </a:avLst>
          </a:prstGeom>
          <a:solidFill>
            <a:schemeClr val="accent1"/>
          </a:solidFill>
          <a:ln w="15875">
            <a:solidFill>
              <a:schemeClr val="accent1"/>
            </a:solidFill>
          </a:ln>
        </p:spPr>
        <p:txBody>
          <a:bodyPr wrap="square" lIns="0" tIns="0" rIns="0" bIns="0" rtlCol="0" anchor="ctr"/>
          <a:lstStyle/>
          <a:p>
            <a:pPr algn="ctr" indent="0" marL="0">
              <a:buNone/>
            </a:pPr>
            <a:r>
              <a:rPr lang="en-US" sz="2000" b="1" dirty="0">
                <a:solidFill>
                  <a:schemeClr val="bg1"/>
                </a:solidFill>
                <a:latin typeface="Consolas" pitchFamily="34" charset="0"/>
                <a:ea typeface="Consolas" pitchFamily="34" charset="-122"/>
                <a:cs typeface="Consolas" pitchFamily="34" charset="-120"/>
              </a:rPr>
              <a:t>gold</a:t>
            </a:r>
            <a:endParaRPr lang="en-US" sz="2000" dirty="0"/>
          </a:p>
        </p:txBody>
      </p:sp>
      <p:sp>
        <p:nvSpPr>
          <p:cNvPr id="9" name="Token ="/>
          <p:cNvSpPr txBox="1"/>
          <p:nvPr/>
        </p:nvSpPr>
        <p:spPr>
          <a:xfrm>
            <a:off x="8838184" y="1783080"/>
            <a:ext cx="395224" cy="502920"/>
          </a:xfrm>
          <a:prstGeom prst="roundRect">
            <a:avLst>
              <a:gd name="adj" fmla="val 13882"/>
            </a:avLst>
          </a:prstGeom>
          <a:solidFill>
            <a:schemeClr val="accent5"/>
          </a:solidFill>
          <a:ln w="15875">
            <a:solidFill>
              <a:srgbClr val="BFBFBF"/>
            </a:solidFill>
          </a:ln>
        </p:spPr>
        <p:txBody>
          <a:bodyPr wrap="square" lIns="0" tIns="0" rIns="0" bIns="0" rtlCol="0" anchor="ctr"/>
          <a:lstStyle/>
          <a:p>
            <a:pPr algn="ctr" indent="0" marL="0">
              <a:buNone/>
            </a:pPr>
            <a:r>
              <a:rPr lang="en-US" sz="2000" b="1" dirty="0">
                <a:solidFill>
                  <a:schemeClr val="tx1"/>
                </a:solidFill>
                <a:latin typeface="Consolas" pitchFamily="34" charset="0"/>
                <a:ea typeface="Consolas" pitchFamily="34" charset="-122"/>
                <a:cs typeface="Consolas" pitchFamily="34" charset="-120"/>
              </a:rPr>
              <a:t>=</a:t>
            </a:r>
            <a:endParaRPr lang="en-US" sz="2000" dirty="0"/>
          </a:p>
        </p:txBody>
      </p:sp>
      <p:sp>
        <p:nvSpPr>
          <p:cNvPr id="10" name="Token 50"/>
          <p:cNvSpPr txBox="1"/>
          <p:nvPr/>
        </p:nvSpPr>
        <p:spPr>
          <a:xfrm>
            <a:off x="9343136" y="1783080"/>
            <a:ext cx="552704" cy="502920"/>
          </a:xfrm>
          <a:prstGeom prst="roundRect">
            <a:avLst>
              <a:gd name="adj" fmla="val 10909"/>
            </a:avLst>
          </a:prstGeom>
          <a:solidFill>
            <a:schemeClr val="accent6"/>
          </a:solidFill>
          <a:ln w="15875">
            <a:solidFill>
              <a:schemeClr val="accent6"/>
            </a:solidFill>
          </a:ln>
        </p:spPr>
        <p:txBody>
          <a:bodyPr wrap="square" lIns="0" tIns="0" rIns="0" bIns="0" rtlCol="0" anchor="ctr"/>
          <a:lstStyle/>
          <a:p>
            <a:pPr algn="ctr" indent="0" marL="0">
              <a:buNone/>
            </a:pPr>
            <a:r>
              <a:rPr lang="en-US" sz="2000" b="1" dirty="0">
                <a:solidFill>
                  <a:schemeClr val="bg1"/>
                </a:solidFill>
                <a:latin typeface="Consolas" pitchFamily="34" charset="0"/>
                <a:ea typeface="Consolas" pitchFamily="34" charset="-122"/>
                <a:cs typeface="Consolas" pitchFamily="34" charset="-120"/>
              </a:rPr>
              <a:t>50</a:t>
            </a:r>
            <a:endParaRPr lang="en-US" sz="2000" dirty="0"/>
          </a:p>
        </p:txBody>
      </p:sp>
      <p:sp>
        <p:nvSpPr>
          <p:cNvPr id="11" name="Token ;"/>
          <p:cNvSpPr txBox="1"/>
          <p:nvPr/>
        </p:nvSpPr>
        <p:spPr>
          <a:xfrm>
            <a:off x="10005568" y="1783080"/>
            <a:ext cx="395224" cy="502920"/>
          </a:xfrm>
          <a:prstGeom prst="roundRect">
            <a:avLst>
              <a:gd name="adj" fmla="val 13882"/>
            </a:avLst>
          </a:prstGeom>
          <a:solidFill>
            <a:schemeClr val="accent5"/>
          </a:solidFill>
          <a:ln w="15875">
            <a:solidFill>
              <a:srgbClr val="BFBFBF"/>
            </a:solidFill>
          </a:ln>
        </p:spPr>
        <p:txBody>
          <a:bodyPr wrap="square" lIns="0" tIns="0" rIns="0" bIns="0" rtlCol="0" anchor="ctr"/>
          <a:lstStyle/>
          <a:p>
            <a:pPr algn="ctr" indent="0" marL="0">
              <a:buNone/>
            </a:pPr>
            <a:r>
              <a:rPr lang="en-US" sz="2000" b="1" dirty="0">
                <a:solidFill>
                  <a:schemeClr val="tx1"/>
                </a:solidFill>
                <a:latin typeface="Consolas" pitchFamily="34" charset="0"/>
                <a:ea typeface="Consolas" pitchFamily="34" charset="-122"/>
                <a:cs typeface="Consolas" pitchFamily="34" charset="-120"/>
              </a:rPr>
              <a:t>;</a:t>
            </a:r>
            <a:endParaRPr lang="en-US" sz="2000" dirty="0"/>
          </a:p>
        </p:txBody>
      </p:sp>
      <p:sp>
        <p:nvSpPr>
          <p:cNvPr id="12" name="Text 9"/>
          <p:cNvSpPr txBox="1"/>
          <p:nvPr/>
        </p:nvSpPr>
        <p:spPr>
          <a:xfrm>
            <a:off x="6755892" y="2331720"/>
            <a:ext cx="1280160" cy="274320"/>
          </a:xfrm>
          <a:prstGeom prst="rect">
            <a:avLst/>
          </a:prstGeom>
          <a:noFill/>
          <a:ln/>
        </p:spPr>
        <p:txBody>
          <a:bodyPr wrap="square" lIns="0" tIns="0" rIns="0" bIns="0" rtlCol="0" anchor="t"/>
          <a:lstStyle/>
          <a:p>
            <a:pPr algn="ctr" indent="0" marL="0">
              <a:buNone/>
            </a:pPr>
            <a:r>
              <a:rPr lang="en-US" sz="1400" b="1" dirty="0">
                <a:solidFill>
                  <a:schemeClr val="accent2"/>
                </a:solidFill>
              </a:rPr>
              <a:t>Typ</a:t>
            </a:r>
            <a:endParaRPr lang="en-US" sz="1400" dirty="0"/>
          </a:p>
        </p:txBody>
      </p:sp>
      <p:sp>
        <p:nvSpPr>
          <p:cNvPr id="13" name="Text 10"/>
          <p:cNvSpPr txBox="1"/>
          <p:nvPr/>
        </p:nvSpPr>
        <p:spPr>
          <a:xfrm>
            <a:off x="7654544" y="2331720"/>
            <a:ext cx="1280160" cy="274320"/>
          </a:xfrm>
          <a:prstGeom prst="rect">
            <a:avLst/>
          </a:prstGeom>
          <a:noFill/>
          <a:ln/>
        </p:spPr>
        <p:txBody>
          <a:bodyPr wrap="square" lIns="0" tIns="0" rIns="0" bIns="0" rtlCol="0" anchor="t"/>
          <a:lstStyle/>
          <a:p>
            <a:pPr algn="ctr" indent="0" marL="0">
              <a:buNone/>
            </a:pPr>
            <a:r>
              <a:rPr lang="en-US" sz="1400" b="1" dirty="0">
                <a:solidFill>
                  <a:schemeClr val="accent1"/>
                </a:solidFill>
              </a:rPr>
              <a:t>Name</a:t>
            </a:r>
            <a:endParaRPr lang="en-US" sz="1400" dirty="0"/>
          </a:p>
        </p:txBody>
      </p:sp>
      <p:sp>
        <p:nvSpPr>
          <p:cNvPr id="14" name="Text 11"/>
          <p:cNvSpPr txBox="1"/>
          <p:nvPr/>
        </p:nvSpPr>
        <p:spPr>
          <a:xfrm>
            <a:off x="8979408" y="2331720"/>
            <a:ext cx="1280160" cy="274320"/>
          </a:xfrm>
          <a:prstGeom prst="rect">
            <a:avLst/>
          </a:prstGeom>
          <a:noFill/>
          <a:ln/>
        </p:spPr>
        <p:txBody>
          <a:bodyPr wrap="square" lIns="0" tIns="0" rIns="0" bIns="0" rtlCol="0" anchor="t"/>
          <a:lstStyle/>
          <a:p>
            <a:pPr algn="ctr" indent="0" marL="0">
              <a:buNone/>
            </a:pPr>
            <a:r>
              <a:rPr lang="en-US" sz="1400" b="1" dirty="0">
                <a:solidFill>
                  <a:schemeClr val="accent6"/>
                </a:solidFill>
              </a:rPr>
              <a:t>Startwert</a:t>
            </a:r>
            <a:endParaRPr lang="en-US" sz="1400" dirty="0"/>
          </a:p>
        </p:txBody>
      </p:sp>
      <p:sp>
        <p:nvSpPr>
          <p:cNvPr id="15" name="Text 12"/>
          <p:cNvSpPr txBox="1"/>
          <p:nvPr/>
        </p:nvSpPr>
        <p:spPr>
          <a:xfrm>
            <a:off x="7040880" y="2788920"/>
            <a:ext cx="4572000" cy="320040"/>
          </a:xfrm>
          <a:prstGeom prst="rect">
            <a:avLst/>
          </a:prstGeom>
          <a:noFill/>
          <a:ln/>
        </p:spPr>
        <p:txBody>
          <a:bodyPr wrap="square" lIns="0" tIns="0" rIns="0" bIns="0" rtlCol="0" anchor="t"/>
          <a:lstStyle/>
          <a:p>
            <a:pPr indent="0" marL="0">
              <a:buNone/>
            </a:pPr>
            <a:r>
              <a:rPr lang="en-US" sz="1600" b="1" dirty="0">
                <a:solidFill>
                  <a:schemeClr val="accent1"/>
                </a:solidFill>
              </a:rPr>
              <a:t>Zuweisung: erst rechts rechnen, dann links ablegen</a:t>
            </a:r>
            <a:endParaRPr lang="en-US" sz="1600" dirty="0"/>
          </a:p>
        </p:txBody>
      </p:sp>
      <p:sp>
        <p:nvSpPr>
          <p:cNvPr id="16" name="Text 13"/>
          <p:cNvSpPr txBox="1"/>
          <p:nvPr/>
        </p:nvSpPr>
        <p:spPr>
          <a:xfrm>
            <a:off x="7040880" y="3200400"/>
            <a:ext cx="2194560" cy="457200"/>
          </a:xfrm>
          <a:prstGeom prst="rect">
            <a:avLst/>
          </a:prstGeom>
          <a:solidFill>
            <a:schemeClr val="accent5"/>
          </a:solidFill>
          <a:ln w="9525">
            <a:solidFill>
              <a:srgbClr val="D0D0D0"/>
            </a:solidFill>
          </a:ln>
        </p:spPr>
        <p:txBody>
          <a:bodyPr wrap="square" lIns="0" tIns="0" rIns="0" bIns="0" rtlCol="0" anchor="ctr"/>
          <a:lstStyle/>
          <a:p>
            <a:pPr algn="ctr" indent="0" marL="0">
              <a:buNone/>
            </a:pPr>
            <a:r>
              <a:rPr lang="en-US" sz="1500" dirty="0">
                <a:solidFill>
                  <a:schemeClr val="tx1"/>
                </a:solidFill>
                <a:latin typeface="Consolas" pitchFamily="34" charset="0"/>
                <a:ea typeface="Consolas" pitchFamily="34" charset="-122"/>
                <a:cs typeface="Consolas" pitchFamily="34" charset="-120"/>
              </a:rPr>
              <a:t>gold = gold + 10;</a:t>
            </a:r>
            <a:endParaRPr lang="en-US" sz="1500" dirty="0"/>
          </a:p>
        </p:txBody>
      </p:sp>
      <p:sp>
        <p:nvSpPr>
          <p:cNvPr id="17" name="Text 14"/>
          <p:cNvSpPr txBox="1"/>
          <p:nvPr/>
        </p:nvSpPr>
        <p:spPr>
          <a:xfrm>
            <a:off x="9418320" y="3200400"/>
            <a:ext cx="2194560" cy="457200"/>
          </a:xfrm>
          <a:prstGeom prst="rect">
            <a:avLst/>
          </a:prstGeom>
          <a:solidFill>
            <a:schemeClr val="bg1"/>
          </a:solidFill>
          <a:ln w="15875">
            <a:solidFill>
              <a:schemeClr val="tx1"/>
            </a:solidFill>
          </a:ln>
        </p:spPr>
        <p:txBody>
          <a:bodyPr wrap="square" lIns="0" tIns="0" rIns="0" bIns="0" rtlCol="0" anchor="ctr"/>
          <a:lstStyle/>
          <a:p>
            <a:pPr algn="ctr" indent="0" marL="0">
              <a:buNone/>
            </a:pPr>
            <a:r>
              <a:rPr lang="en-US" sz="1700" dirty="0">
                <a:solidFill>
                  <a:schemeClr val="tx1"/>
                </a:solidFill>
              </a:rPr>
              <a:t>gold ← gold + 10</a:t>
            </a:r>
            <a:endParaRPr lang="en-US" sz="1700" dirty="0"/>
          </a:p>
        </p:txBody>
      </p:sp>
      <p:sp>
        <p:nvSpPr>
          <p:cNvPr id="18" name="Text 15"/>
          <p:cNvSpPr txBox="1"/>
          <p:nvPr/>
        </p:nvSpPr>
        <p:spPr>
          <a:xfrm>
            <a:off x="7040880" y="3675888"/>
            <a:ext cx="2194560" cy="237744"/>
          </a:xfrm>
          <a:prstGeom prst="rect">
            <a:avLst/>
          </a:prstGeom>
          <a:noFill/>
          <a:ln/>
        </p:spPr>
        <p:txBody>
          <a:bodyPr wrap="square" lIns="0" tIns="0" rIns="0" bIns="0" rtlCol="0" anchor="t"/>
          <a:lstStyle/>
          <a:p>
            <a:pPr algn="ctr" indent="0" marL="0">
              <a:buNone/>
            </a:pPr>
            <a:r>
              <a:rPr lang="en-US" sz="1300" i="1" dirty="0">
                <a:solidFill>
                  <a:schemeClr val="accent6"/>
                </a:solidFill>
              </a:rPr>
              <a:t>Java</a:t>
            </a:r>
            <a:endParaRPr lang="en-US" sz="1300" dirty="0"/>
          </a:p>
        </p:txBody>
      </p:sp>
      <p:sp>
        <p:nvSpPr>
          <p:cNvPr id="19" name="Text 16"/>
          <p:cNvSpPr txBox="1"/>
          <p:nvPr/>
        </p:nvSpPr>
        <p:spPr>
          <a:xfrm>
            <a:off x="9418320" y="3675888"/>
            <a:ext cx="2194560" cy="237744"/>
          </a:xfrm>
          <a:prstGeom prst="rect">
            <a:avLst/>
          </a:prstGeom>
          <a:noFill/>
          <a:ln/>
        </p:spPr>
        <p:txBody>
          <a:bodyPr wrap="square" lIns="0" tIns="0" rIns="0" bIns="0" rtlCol="0" anchor="t"/>
          <a:lstStyle/>
          <a:p>
            <a:pPr algn="ctr" indent="0" marL="0">
              <a:buNone/>
            </a:pPr>
            <a:r>
              <a:rPr lang="en-US" sz="1300" i="1" dirty="0">
                <a:solidFill>
                  <a:schemeClr val="accent6"/>
                </a:solidFill>
              </a:rPr>
              <a:t>Struktogramm (EH §5)</a:t>
            </a:r>
            <a:endParaRPr lang="en-US" sz="1300" dirty="0"/>
          </a:p>
        </p:txBody>
      </p:sp>
      <p:sp>
        <p:nvSpPr>
          <p:cNvPr id="20" name="Text 17"/>
          <p:cNvSpPr txBox="1"/>
          <p:nvPr/>
        </p:nvSpPr>
        <p:spPr>
          <a:xfrm>
            <a:off x="7040880" y="4050792"/>
            <a:ext cx="914400" cy="274320"/>
          </a:xfrm>
          <a:prstGeom prst="rect">
            <a:avLst/>
          </a:prstGeom>
          <a:noFill/>
          <a:ln/>
        </p:spPr>
        <p:txBody>
          <a:bodyPr wrap="square" lIns="0" tIns="0" rIns="0" bIns="0" rtlCol="0" anchor="t"/>
          <a:lstStyle/>
          <a:p>
            <a:pPr algn="ctr" indent="0" marL="0">
              <a:buNone/>
            </a:pPr>
            <a:r>
              <a:rPr lang="en-US" sz="1400" b="1" dirty="0">
                <a:solidFill>
                  <a:schemeClr val="accent1"/>
                </a:solidFill>
                <a:latin typeface="Consolas" pitchFamily="34" charset="0"/>
                <a:ea typeface="Consolas" pitchFamily="34" charset="-122"/>
                <a:cs typeface="Consolas" pitchFamily="34" charset="-120"/>
              </a:rPr>
              <a:t>gold</a:t>
            </a:r>
            <a:endParaRPr lang="en-US" sz="1400" dirty="0"/>
          </a:p>
        </p:txBody>
      </p:sp>
      <p:sp>
        <p:nvSpPr>
          <p:cNvPr id="21" name="Wert gold"/>
          <p:cNvSpPr txBox="1"/>
          <p:nvPr/>
        </p:nvSpPr>
        <p:spPr>
          <a:xfrm>
            <a:off x="7040880" y="4343400"/>
            <a:ext cx="914400" cy="566928"/>
          </a:xfrm>
          <a:prstGeom prst="rect">
            <a:avLst/>
          </a:prstGeom>
          <a:solidFill>
            <a:schemeClr val="bg1"/>
          </a:solidFill>
          <a:ln w="22225">
            <a:solidFill>
              <a:schemeClr val="accent1"/>
            </a:solidFill>
          </a:ln>
        </p:spPr>
        <p:txBody>
          <a:bodyPr wrap="square" lIns="0" tIns="0" rIns="0" bIns="0" rtlCol="0" anchor="ctr"/>
          <a:lstStyle/>
          <a:p>
            <a:pPr algn="ctr" indent="0" marL="0">
              <a:buNone/>
            </a:pPr>
            <a:r>
              <a:rPr lang="en-US" sz="2000" b="1" dirty="0">
                <a:solidFill>
                  <a:schemeClr val="accent1"/>
                </a:solidFill>
              </a:rPr>
              <a:t>50</a:t>
            </a:r>
            <a:endParaRPr lang="en-US" sz="2000" dirty="0"/>
          </a:p>
        </p:txBody>
      </p:sp>
      <p:sp>
        <p:nvSpPr>
          <p:cNvPr id="22" name="Linie"/>
          <p:cNvSpPr/>
          <p:nvPr/>
        </p:nvSpPr>
        <p:spPr>
          <a:xfrm>
            <a:off x="8046720" y="4626864"/>
            <a:ext cx="411480" cy="91"/>
          </a:xfrm>
          <a:prstGeom prst="line">
            <a:avLst/>
          </a:prstGeom>
          <a:noFill/>
          <a:ln w="31750">
            <a:solidFill>
              <a:schemeClr val="accent2"/>
            </a:solidFill>
            <a:prstDash val="solid"/>
            <a:tailEnd type="triangle"/>
          </a:ln>
        </p:spPr>
      </p:sp>
      <p:sp>
        <p:nvSpPr>
          <p:cNvPr id="23" name="Text 20"/>
          <p:cNvSpPr txBox="1"/>
          <p:nvPr/>
        </p:nvSpPr>
        <p:spPr>
          <a:xfrm>
            <a:off x="8503920" y="4398264"/>
            <a:ext cx="1691640" cy="457200"/>
          </a:xfrm>
          <a:prstGeom prst="rect">
            <a:avLst/>
          </a:prstGeom>
          <a:noFill/>
          <a:ln/>
        </p:spPr>
        <p:txBody>
          <a:bodyPr wrap="square" lIns="0" tIns="0" rIns="0" bIns="0" rtlCol="0" anchor="ctr"/>
          <a:lstStyle/>
          <a:p>
            <a:pPr algn="ctr" indent="0" marL="0">
              <a:buNone/>
            </a:pPr>
            <a:r>
              <a:rPr lang="en-US" sz="1700" b="1" dirty="0">
                <a:solidFill>
                  <a:schemeClr val="accent2"/>
                </a:solidFill>
              </a:rPr>
              <a:t>50 + 10 = 60</a:t>
            </a:r>
            <a:endParaRPr lang="en-US" sz="1700" dirty="0"/>
          </a:p>
        </p:txBody>
      </p:sp>
      <p:sp>
        <p:nvSpPr>
          <p:cNvPr id="24" name="Linie"/>
          <p:cNvSpPr/>
          <p:nvPr/>
        </p:nvSpPr>
        <p:spPr>
          <a:xfrm>
            <a:off x="10241280" y="4626864"/>
            <a:ext cx="411480" cy="91"/>
          </a:xfrm>
          <a:prstGeom prst="line">
            <a:avLst/>
          </a:prstGeom>
          <a:noFill/>
          <a:ln w="31750">
            <a:solidFill>
              <a:schemeClr val="accent2"/>
            </a:solidFill>
            <a:prstDash val="solid"/>
            <a:tailEnd type="triangle"/>
          </a:ln>
        </p:spPr>
      </p:sp>
      <p:sp>
        <p:nvSpPr>
          <p:cNvPr id="25" name="Text 22"/>
          <p:cNvSpPr txBox="1"/>
          <p:nvPr/>
        </p:nvSpPr>
        <p:spPr>
          <a:xfrm>
            <a:off x="10698480" y="4050792"/>
            <a:ext cx="914400" cy="274320"/>
          </a:xfrm>
          <a:prstGeom prst="rect">
            <a:avLst/>
          </a:prstGeom>
          <a:noFill/>
          <a:ln/>
        </p:spPr>
        <p:txBody>
          <a:bodyPr wrap="square" lIns="0" tIns="0" rIns="0" bIns="0" rtlCol="0" anchor="t"/>
          <a:lstStyle/>
          <a:p>
            <a:pPr algn="ctr" indent="0" marL="0">
              <a:buNone/>
            </a:pPr>
            <a:r>
              <a:rPr lang="en-US" sz="1400" b="1" dirty="0">
                <a:solidFill>
                  <a:schemeClr val="accent1"/>
                </a:solidFill>
                <a:latin typeface="Consolas" pitchFamily="34" charset="0"/>
                <a:ea typeface="Consolas" pitchFamily="34" charset="-122"/>
                <a:cs typeface="Consolas" pitchFamily="34" charset="-120"/>
              </a:rPr>
              <a:t>gold</a:t>
            </a:r>
            <a:endParaRPr lang="en-US" sz="1400" dirty="0"/>
          </a:p>
        </p:txBody>
      </p:sp>
      <p:sp>
        <p:nvSpPr>
          <p:cNvPr id="26" name="Wert gold"/>
          <p:cNvSpPr txBox="1"/>
          <p:nvPr/>
        </p:nvSpPr>
        <p:spPr>
          <a:xfrm>
            <a:off x="10698480" y="4343400"/>
            <a:ext cx="914400" cy="566928"/>
          </a:xfrm>
          <a:prstGeom prst="rect">
            <a:avLst/>
          </a:prstGeom>
          <a:solidFill>
            <a:srgbClr val="FFF2CC"/>
          </a:solidFill>
          <a:ln w="22225">
            <a:solidFill>
              <a:schemeClr val="accent2"/>
            </a:solidFill>
          </a:ln>
        </p:spPr>
        <p:txBody>
          <a:bodyPr wrap="square" lIns="0" tIns="0" rIns="0" bIns="0" rtlCol="0" anchor="ctr"/>
          <a:lstStyle/>
          <a:p>
            <a:pPr algn="ctr" indent="0" marL="0">
              <a:buNone/>
            </a:pPr>
            <a:r>
              <a:rPr lang="en-US" sz="2000" b="1" dirty="0">
                <a:solidFill>
                  <a:schemeClr val="accent1"/>
                </a:solidFill>
              </a:rPr>
              <a:t>60</a:t>
            </a:r>
            <a:endParaRPr lang="en-US" sz="2000" dirty="0"/>
          </a:p>
        </p:txBody>
      </p:sp>
      <p:sp>
        <p:nvSpPr>
          <p:cNvPr id="27" name="Merke Zuweisung"/>
          <p:cNvSpPr/>
          <p:nvPr/>
        </p:nvSpPr>
        <p:spPr>
          <a:xfrm>
            <a:off x="7040880" y="5212080"/>
            <a:ext cx="4572000" cy="914400"/>
          </a:xfrm>
          <a:prstGeom prst="roundRect">
            <a:avLst>
              <a:gd name="adj" fmla="val 12000"/>
            </a:avLst>
          </a:prstGeom>
          <a:solidFill>
            <a:schemeClr val="bg2"/>
          </a:solidFill>
          <a:ln/>
        </p:spPr>
      </p:sp>
      <p:sp>
        <p:nvSpPr>
          <p:cNvPr id="28" name="Text 25"/>
          <p:cNvSpPr txBox="1"/>
          <p:nvPr/>
        </p:nvSpPr>
        <p:spPr>
          <a:xfrm>
            <a:off x="7242048" y="5212080"/>
            <a:ext cx="4206240" cy="914400"/>
          </a:xfrm>
          <a:prstGeom prst="rect">
            <a:avLst/>
          </a:prstGeom>
          <a:noFill/>
          <a:ln/>
        </p:spPr>
        <p:txBody>
          <a:bodyPr wrap="square" lIns="0" tIns="0" rIns="0" bIns="0" rtlCol="0" anchor="ctr"/>
          <a:lstStyle/>
          <a:p>
            <a:pPr indent="0" marL="0">
              <a:buNone/>
            </a:pPr>
            <a:r>
              <a:rPr lang="en-US" sz="1500" b="1" dirty="0">
                <a:solidFill>
                  <a:schemeClr val="accent1"/>
                </a:solidFill>
              </a:rPr>
              <a:t>Merke: </a:t>
            </a:r>
            <a:pPr indent="0" marL="0">
              <a:buNone/>
            </a:pPr>
            <a:r>
              <a:rPr lang="en-US" sz="1500" b="1" dirty="0">
                <a:solidFill>
                  <a:schemeClr val="tx1"/>
                </a:solidFill>
                <a:latin typeface="Consolas" pitchFamily="34" charset="0"/>
                <a:ea typeface="Consolas" pitchFamily="34" charset="-122"/>
                <a:cs typeface="Consolas" pitchFamily="34" charset="-120"/>
              </a:rPr>
              <a:t>=</a:t>
            </a:r>
            <a:pPr indent="0" marL="0">
              <a:buNone/>
            </a:pPr>
            <a:r>
              <a:rPr lang="en-US" sz="1500" dirty="0">
                <a:solidFill>
                  <a:schemeClr val="tx1"/>
                </a:solidFill>
              </a:rPr>
              <a:t> ist keine Gleichung, sondern „bekommt den Wert“. Im Struktogramm: </a:t>
            </a:r>
            <a:pPr indent="0" marL="0">
              <a:buNone/>
            </a:pPr>
            <a:r>
              <a:rPr lang="en-US" sz="1500" b="1" dirty="0">
                <a:solidFill>
                  <a:schemeClr val="tx1"/>
                </a:solidFill>
              </a:rPr>
              <a:t>←</a:t>
            </a:r>
            <a:endParaRPr lang="en-US" sz="1500" dirty="0"/>
          </a:p>
        </p:txBody>
      </p:sp>
      <p:sp>
        <p:nvSpPr>
          <p:cNvPr id="29" name="Text 26"/>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2 · Werkstatt</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Rechnen mit Ganzzahlen: / und %</a:t>
            </a:r>
            <a:endParaRPr lang="en-US" sz="3600" dirty="0"/>
          </a:p>
        </p:txBody>
      </p:sp>
      <p:sp>
        <p:nvSpPr>
          <p:cNvPr id="3" name="Text 1"/>
          <p:cNvSpPr txBox="1"/>
          <p:nvPr/>
        </p:nvSpPr>
        <p:spPr>
          <a:xfrm>
            <a:off x="548640" y="1325880"/>
            <a:ext cx="5852160" cy="347472"/>
          </a:xfrm>
          <a:prstGeom prst="rect">
            <a:avLst/>
          </a:prstGeom>
          <a:noFill/>
          <a:ln/>
        </p:spPr>
        <p:txBody>
          <a:bodyPr wrap="square" lIns="0" tIns="0" rIns="0" bIns="0" rtlCol="0" anchor="t"/>
          <a:lstStyle/>
          <a:p>
            <a:pPr indent="0" marL="0">
              <a:buNone/>
            </a:pPr>
            <a:r>
              <a:rPr lang="en-US" sz="1700" b="1" dirty="0">
                <a:solidFill>
                  <a:schemeClr val="accent1"/>
                </a:solidFill>
              </a:rPr>
              <a:t>17 Tränke, 5 passen in eine Kiste</a:t>
            </a:r>
            <a:endParaRPr lang="en-US" sz="1700" dirty="0"/>
          </a:p>
        </p:txBody>
      </p:sp>
      <p:sp>
        <p:nvSpPr>
          <p:cNvPr id="4" name="Kiste 1"/>
          <p:cNvSpPr/>
          <p:nvPr/>
        </p:nvSpPr>
        <p:spPr>
          <a:xfrm>
            <a:off x="548640" y="1783080"/>
            <a:ext cx="1234440" cy="914400"/>
          </a:xfrm>
          <a:prstGeom prst="roundRect">
            <a:avLst>
              <a:gd name="adj" fmla="val 12000"/>
            </a:avLst>
          </a:prstGeom>
          <a:solidFill>
            <a:schemeClr val="bg2"/>
          </a:solidFill>
          <a:ln w="19050">
            <a:solidFill>
              <a:schemeClr val="accent1"/>
            </a:solidFill>
            <a:prstDash val="solid"/>
          </a:ln>
        </p:spPr>
      </p:sp>
      <p:sp>
        <p:nvSpPr>
          <p:cNvPr id="5" name="Trank"/>
          <p:cNvSpPr/>
          <p:nvPr/>
        </p:nvSpPr>
        <p:spPr>
          <a:xfrm>
            <a:off x="685800" y="1901952"/>
            <a:ext cx="274320" cy="274320"/>
          </a:xfrm>
          <a:prstGeom prst="ellipse">
            <a:avLst/>
          </a:prstGeom>
          <a:solidFill>
            <a:schemeClr val="accent2"/>
          </a:solidFill>
          <a:ln/>
        </p:spPr>
      </p:sp>
      <p:sp>
        <p:nvSpPr>
          <p:cNvPr id="6" name="Trank"/>
          <p:cNvSpPr/>
          <p:nvPr/>
        </p:nvSpPr>
        <p:spPr>
          <a:xfrm>
            <a:off x="1033272" y="1901952"/>
            <a:ext cx="274320" cy="274320"/>
          </a:xfrm>
          <a:prstGeom prst="ellipse">
            <a:avLst/>
          </a:prstGeom>
          <a:solidFill>
            <a:schemeClr val="accent2"/>
          </a:solidFill>
          <a:ln/>
        </p:spPr>
      </p:sp>
      <p:sp>
        <p:nvSpPr>
          <p:cNvPr id="7" name="Trank"/>
          <p:cNvSpPr/>
          <p:nvPr/>
        </p:nvSpPr>
        <p:spPr>
          <a:xfrm>
            <a:off x="1380744" y="1901952"/>
            <a:ext cx="274320" cy="274320"/>
          </a:xfrm>
          <a:prstGeom prst="ellipse">
            <a:avLst/>
          </a:prstGeom>
          <a:solidFill>
            <a:schemeClr val="accent2"/>
          </a:solidFill>
          <a:ln/>
        </p:spPr>
      </p:sp>
      <p:sp>
        <p:nvSpPr>
          <p:cNvPr id="8" name="Trank"/>
          <p:cNvSpPr/>
          <p:nvPr/>
        </p:nvSpPr>
        <p:spPr>
          <a:xfrm>
            <a:off x="859536" y="2286000"/>
            <a:ext cx="274320" cy="274320"/>
          </a:xfrm>
          <a:prstGeom prst="ellipse">
            <a:avLst/>
          </a:prstGeom>
          <a:solidFill>
            <a:schemeClr val="accent2"/>
          </a:solidFill>
          <a:ln/>
        </p:spPr>
      </p:sp>
      <p:sp>
        <p:nvSpPr>
          <p:cNvPr id="9" name="Trank"/>
          <p:cNvSpPr/>
          <p:nvPr/>
        </p:nvSpPr>
        <p:spPr>
          <a:xfrm>
            <a:off x="1207008" y="2286000"/>
            <a:ext cx="274320" cy="274320"/>
          </a:xfrm>
          <a:prstGeom prst="ellipse">
            <a:avLst/>
          </a:prstGeom>
          <a:solidFill>
            <a:schemeClr val="accent2"/>
          </a:solidFill>
          <a:ln/>
        </p:spPr>
      </p:sp>
      <p:sp>
        <p:nvSpPr>
          <p:cNvPr id="10" name="Kiste 2"/>
          <p:cNvSpPr/>
          <p:nvPr/>
        </p:nvSpPr>
        <p:spPr>
          <a:xfrm>
            <a:off x="1965960" y="1783080"/>
            <a:ext cx="1234440" cy="914400"/>
          </a:xfrm>
          <a:prstGeom prst="roundRect">
            <a:avLst>
              <a:gd name="adj" fmla="val 12000"/>
            </a:avLst>
          </a:prstGeom>
          <a:solidFill>
            <a:schemeClr val="bg2"/>
          </a:solidFill>
          <a:ln w="19050">
            <a:solidFill>
              <a:schemeClr val="accent1"/>
            </a:solidFill>
            <a:prstDash val="solid"/>
          </a:ln>
        </p:spPr>
      </p:sp>
      <p:sp>
        <p:nvSpPr>
          <p:cNvPr id="11" name="Trank"/>
          <p:cNvSpPr/>
          <p:nvPr/>
        </p:nvSpPr>
        <p:spPr>
          <a:xfrm>
            <a:off x="2103120" y="1901952"/>
            <a:ext cx="274320" cy="274320"/>
          </a:xfrm>
          <a:prstGeom prst="ellipse">
            <a:avLst/>
          </a:prstGeom>
          <a:solidFill>
            <a:schemeClr val="accent2"/>
          </a:solidFill>
          <a:ln/>
        </p:spPr>
      </p:sp>
      <p:sp>
        <p:nvSpPr>
          <p:cNvPr id="12" name="Trank"/>
          <p:cNvSpPr/>
          <p:nvPr/>
        </p:nvSpPr>
        <p:spPr>
          <a:xfrm>
            <a:off x="2450592" y="1901952"/>
            <a:ext cx="274320" cy="274320"/>
          </a:xfrm>
          <a:prstGeom prst="ellipse">
            <a:avLst/>
          </a:prstGeom>
          <a:solidFill>
            <a:schemeClr val="accent2"/>
          </a:solidFill>
          <a:ln/>
        </p:spPr>
      </p:sp>
      <p:sp>
        <p:nvSpPr>
          <p:cNvPr id="13" name="Trank"/>
          <p:cNvSpPr/>
          <p:nvPr/>
        </p:nvSpPr>
        <p:spPr>
          <a:xfrm>
            <a:off x="2798064" y="1901952"/>
            <a:ext cx="274320" cy="274320"/>
          </a:xfrm>
          <a:prstGeom prst="ellipse">
            <a:avLst/>
          </a:prstGeom>
          <a:solidFill>
            <a:schemeClr val="accent2"/>
          </a:solidFill>
          <a:ln/>
        </p:spPr>
      </p:sp>
      <p:sp>
        <p:nvSpPr>
          <p:cNvPr id="14" name="Trank"/>
          <p:cNvSpPr/>
          <p:nvPr/>
        </p:nvSpPr>
        <p:spPr>
          <a:xfrm>
            <a:off x="2276856" y="2286000"/>
            <a:ext cx="274320" cy="274320"/>
          </a:xfrm>
          <a:prstGeom prst="ellipse">
            <a:avLst/>
          </a:prstGeom>
          <a:solidFill>
            <a:schemeClr val="accent2"/>
          </a:solidFill>
          <a:ln/>
        </p:spPr>
      </p:sp>
      <p:sp>
        <p:nvSpPr>
          <p:cNvPr id="15" name="Trank"/>
          <p:cNvSpPr/>
          <p:nvPr/>
        </p:nvSpPr>
        <p:spPr>
          <a:xfrm>
            <a:off x="2624328" y="2286000"/>
            <a:ext cx="274320" cy="274320"/>
          </a:xfrm>
          <a:prstGeom prst="ellipse">
            <a:avLst/>
          </a:prstGeom>
          <a:solidFill>
            <a:schemeClr val="accent2"/>
          </a:solidFill>
          <a:ln/>
        </p:spPr>
      </p:sp>
      <p:sp>
        <p:nvSpPr>
          <p:cNvPr id="16" name="Kiste 3"/>
          <p:cNvSpPr/>
          <p:nvPr/>
        </p:nvSpPr>
        <p:spPr>
          <a:xfrm>
            <a:off x="3383280" y="1783080"/>
            <a:ext cx="1234440" cy="914400"/>
          </a:xfrm>
          <a:prstGeom prst="roundRect">
            <a:avLst>
              <a:gd name="adj" fmla="val 12000"/>
            </a:avLst>
          </a:prstGeom>
          <a:solidFill>
            <a:schemeClr val="bg2"/>
          </a:solidFill>
          <a:ln w="19050">
            <a:solidFill>
              <a:schemeClr val="accent1"/>
            </a:solidFill>
            <a:prstDash val="solid"/>
          </a:ln>
        </p:spPr>
      </p:sp>
      <p:sp>
        <p:nvSpPr>
          <p:cNvPr id="17" name="Trank"/>
          <p:cNvSpPr/>
          <p:nvPr/>
        </p:nvSpPr>
        <p:spPr>
          <a:xfrm>
            <a:off x="3520440" y="1901952"/>
            <a:ext cx="274320" cy="274320"/>
          </a:xfrm>
          <a:prstGeom prst="ellipse">
            <a:avLst/>
          </a:prstGeom>
          <a:solidFill>
            <a:schemeClr val="accent2"/>
          </a:solidFill>
          <a:ln/>
        </p:spPr>
      </p:sp>
      <p:sp>
        <p:nvSpPr>
          <p:cNvPr id="18" name="Trank"/>
          <p:cNvSpPr/>
          <p:nvPr/>
        </p:nvSpPr>
        <p:spPr>
          <a:xfrm>
            <a:off x="3867912" y="1901952"/>
            <a:ext cx="274320" cy="274320"/>
          </a:xfrm>
          <a:prstGeom prst="ellipse">
            <a:avLst/>
          </a:prstGeom>
          <a:solidFill>
            <a:schemeClr val="accent2"/>
          </a:solidFill>
          <a:ln/>
        </p:spPr>
      </p:sp>
      <p:sp>
        <p:nvSpPr>
          <p:cNvPr id="19" name="Trank"/>
          <p:cNvSpPr/>
          <p:nvPr/>
        </p:nvSpPr>
        <p:spPr>
          <a:xfrm>
            <a:off x="4215384" y="1901952"/>
            <a:ext cx="274320" cy="274320"/>
          </a:xfrm>
          <a:prstGeom prst="ellipse">
            <a:avLst/>
          </a:prstGeom>
          <a:solidFill>
            <a:schemeClr val="accent2"/>
          </a:solidFill>
          <a:ln/>
        </p:spPr>
      </p:sp>
      <p:sp>
        <p:nvSpPr>
          <p:cNvPr id="20" name="Trank"/>
          <p:cNvSpPr/>
          <p:nvPr/>
        </p:nvSpPr>
        <p:spPr>
          <a:xfrm>
            <a:off x="3694176" y="2286000"/>
            <a:ext cx="274320" cy="274320"/>
          </a:xfrm>
          <a:prstGeom prst="ellipse">
            <a:avLst/>
          </a:prstGeom>
          <a:solidFill>
            <a:schemeClr val="accent2"/>
          </a:solidFill>
          <a:ln/>
        </p:spPr>
      </p:sp>
      <p:sp>
        <p:nvSpPr>
          <p:cNvPr id="21" name="Trank"/>
          <p:cNvSpPr/>
          <p:nvPr/>
        </p:nvSpPr>
        <p:spPr>
          <a:xfrm>
            <a:off x="4041648" y="2286000"/>
            <a:ext cx="274320" cy="274320"/>
          </a:xfrm>
          <a:prstGeom prst="ellipse">
            <a:avLst/>
          </a:prstGeom>
          <a:solidFill>
            <a:schemeClr val="accent2"/>
          </a:solidFill>
          <a:ln/>
        </p:spPr>
      </p:sp>
      <p:sp>
        <p:nvSpPr>
          <p:cNvPr id="22" name="Rest-Trank"/>
          <p:cNvSpPr/>
          <p:nvPr/>
        </p:nvSpPr>
        <p:spPr>
          <a:xfrm>
            <a:off x="4983480" y="2103120"/>
            <a:ext cx="274320" cy="274320"/>
          </a:xfrm>
          <a:prstGeom prst="ellipse">
            <a:avLst/>
          </a:prstGeom>
          <a:solidFill>
            <a:schemeClr val="accent4"/>
          </a:solidFill>
          <a:ln/>
        </p:spPr>
      </p:sp>
      <p:sp>
        <p:nvSpPr>
          <p:cNvPr id="23" name="Rest-Trank"/>
          <p:cNvSpPr/>
          <p:nvPr/>
        </p:nvSpPr>
        <p:spPr>
          <a:xfrm>
            <a:off x="5367528" y="2103120"/>
            <a:ext cx="274320" cy="274320"/>
          </a:xfrm>
          <a:prstGeom prst="ellipse">
            <a:avLst/>
          </a:prstGeom>
          <a:solidFill>
            <a:schemeClr val="accent4"/>
          </a:solidFill>
          <a:ln/>
        </p:spPr>
      </p:sp>
      <p:sp>
        <p:nvSpPr>
          <p:cNvPr id="24" name="Text 22"/>
          <p:cNvSpPr txBox="1"/>
          <p:nvPr/>
        </p:nvSpPr>
        <p:spPr>
          <a:xfrm>
            <a:off x="548640" y="2834640"/>
            <a:ext cx="4206240" cy="329184"/>
          </a:xfrm>
          <a:prstGeom prst="rect">
            <a:avLst/>
          </a:prstGeom>
          <a:noFill/>
          <a:ln/>
        </p:spPr>
        <p:txBody>
          <a:bodyPr wrap="square" lIns="0" tIns="0" rIns="0" bIns="0" rtlCol="0" anchor="t"/>
          <a:lstStyle/>
          <a:p>
            <a:pPr indent="0" marL="0">
              <a:buNone/>
            </a:pPr>
            <a:r>
              <a:rPr lang="en-US" sz="1700" b="1" dirty="0">
                <a:solidFill>
                  <a:schemeClr val="tx1"/>
                </a:solidFill>
                <a:latin typeface="Consolas" pitchFamily="34" charset="0"/>
                <a:ea typeface="Consolas" pitchFamily="34" charset="-122"/>
                <a:cs typeface="Consolas" pitchFamily="34" charset="-120"/>
              </a:rPr>
              <a:t>17 / 5</a:t>
            </a:r>
            <a:pPr indent="0" marL="0">
              <a:buNone/>
            </a:pPr>
            <a:r>
              <a:rPr lang="en-US" sz="1700" b="1" dirty="0">
                <a:solidFill>
                  <a:schemeClr val="accent1"/>
                </a:solidFill>
              </a:rPr>
              <a:t>  =  3 volle Kisten</a:t>
            </a:r>
            <a:endParaRPr lang="en-US" sz="1700" dirty="0"/>
          </a:p>
        </p:txBody>
      </p:sp>
      <p:sp>
        <p:nvSpPr>
          <p:cNvPr id="25" name="Text 23"/>
          <p:cNvSpPr txBox="1"/>
          <p:nvPr/>
        </p:nvSpPr>
        <p:spPr>
          <a:xfrm>
            <a:off x="4206240" y="2834640"/>
            <a:ext cx="2377440" cy="329184"/>
          </a:xfrm>
          <a:prstGeom prst="rect">
            <a:avLst/>
          </a:prstGeom>
          <a:noFill/>
          <a:ln/>
        </p:spPr>
        <p:txBody>
          <a:bodyPr wrap="square" lIns="0" tIns="0" rIns="0" bIns="0" rtlCol="0" anchor="t"/>
          <a:lstStyle/>
          <a:p>
            <a:pPr indent="0" marL="0">
              <a:buNone/>
            </a:pPr>
            <a:r>
              <a:rPr lang="en-US" sz="1700" b="1" dirty="0">
                <a:solidFill>
                  <a:schemeClr val="tx1"/>
                </a:solidFill>
                <a:latin typeface="Consolas" pitchFamily="34" charset="0"/>
                <a:ea typeface="Consolas" pitchFamily="34" charset="-122"/>
                <a:cs typeface="Consolas" pitchFamily="34" charset="-120"/>
              </a:rPr>
              <a:t>17 % 5</a:t>
            </a:r>
            <a:pPr indent="0" marL="0">
              <a:buNone/>
            </a:pPr>
            <a:r>
              <a:rPr lang="en-US" sz="1700" b="1" dirty="0">
                <a:solidFill>
                  <a:schemeClr val="accent4"/>
                </a:solidFill>
              </a:rPr>
              <a:t>  =  2 übrig</a:t>
            </a:r>
            <a:endParaRPr lang="en-US" sz="1700" dirty="0"/>
          </a:p>
        </p:txBody>
      </p:sp>
      <p:graphicFrame>
        <p:nvGraphicFramePr>
          <p:cNvPr id="5" name="Operatoren"/>
          <p:cNvGraphicFramePr>
            <a:graphicFrameLocks noGrp="1"/>
          </p:cNvGraphicFramePr>
          <p:nvPr>
            <p:extLst>
              <p:ext uri="{D42A27DB-BD31-4B8C-83A1-F6EECF244321}">
                <p14:modId xmlns:p14="http://schemas.microsoft.com/office/powerpoint/2010/main" val="1579011935"/>
              </p:ext>
            </p:extLst>
          </p:nvPr>
        </p:nvGraphicFramePr>
        <p:xfrm>
          <a:off x="548640" y="3474720"/>
          <a:ext cx="5852160" cy="914400"/>
        </p:xfrm>
        <a:graphic>
          <a:graphicData uri="http://schemas.openxmlformats.org/drawingml/2006/table">
            <a:tbl>
              <a:tblPr/>
              <a:tblGrid>
                <a:gridCol w="1188720"/>
                <a:gridCol w="2651760"/>
                <a:gridCol w="2011680"/>
              </a:tblGrid>
              <a:tr h="438912">
                <a:tc>
                  <a:txBody>
                    <a:bodyPr/>
                    <a:lstStyle/>
                    <a:p>
                      <a:pPr algn="ctr" indent="0" marL="0">
                        <a:buNone/>
                      </a:pP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Java</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Struktogramm</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438912">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Vergleich</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latin typeface="Consolas" pitchFamily="34" charset="0"/>
                          <a:ea typeface="Consolas" pitchFamily="34" charset="-122"/>
                          <a:cs typeface="Consolas" pitchFamily="34" charset="-120"/>
                        </a:rPr>
                        <a:t>== != &lt; &lt;= &gt; &gt;=</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700" dirty="0">
                          <a:solidFill>
                            <a:schemeClr val="tx1"/>
                          </a:solidFill>
                          <a:latin typeface="Calibri" pitchFamily="34" charset="0"/>
                          <a:ea typeface="Calibri" pitchFamily="34" charset="-122"/>
                          <a:cs typeface="Calibri" pitchFamily="34" charset="-120"/>
                        </a:rPr>
                        <a:t>=   ≠   &lt;   ≤   &gt;   ≥</a:t>
                      </a:r>
                      <a:endParaRPr lang="en-US" sz="17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38912">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Logik</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&amp;&amp;   ||   !</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700" dirty="0">
                          <a:solidFill>
                            <a:schemeClr val="tx1"/>
                          </a:solidFill>
                          <a:latin typeface="Calibri" pitchFamily="34" charset="0"/>
                          <a:ea typeface="Calibri" pitchFamily="34" charset="-122"/>
                          <a:cs typeface="Calibri" pitchFamily="34" charset="-120"/>
                        </a:rPr>
                        <a:t>und   oder   nicht</a:t>
                      </a:r>
                      <a:endParaRPr lang="en-US" sz="17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27" name="Achtung Division"/>
          <p:cNvSpPr/>
          <p:nvPr/>
        </p:nvSpPr>
        <p:spPr>
          <a:xfrm>
            <a:off x="548640" y="5074920"/>
            <a:ext cx="5852160" cy="1051560"/>
          </a:xfrm>
          <a:prstGeom prst="roundRect">
            <a:avLst>
              <a:gd name="adj" fmla="val 10435"/>
            </a:avLst>
          </a:prstGeom>
          <a:solidFill>
            <a:schemeClr val="bg1"/>
          </a:solidFill>
          <a:ln w="25400">
            <a:solidFill>
              <a:schemeClr val="accent4"/>
            </a:solidFill>
            <a:prstDash val="solid"/>
          </a:ln>
        </p:spPr>
      </p:sp>
      <p:sp>
        <p:nvSpPr>
          <p:cNvPr id="28" name="Text 25"/>
          <p:cNvSpPr txBox="1"/>
          <p:nvPr/>
        </p:nvSpPr>
        <p:spPr>
          <a:xfrm>
            <a:off x="749808" y="5074920"/>
            <a:ext cx="5486400" cy="1051560"/>
          </a:xfrm>
          <a:prstGeom prst="rect">
            <a:avLst/>
          </a:prstGeom>
          <a:noFill/>
          <a:ln/>
        </p:spPr>
        <p:txBody>
          <a:bodyPr wrap="square" lIns="0" tIns="0" rIns="0" bIns="0" rtlCol="0" anchor="ctr"/>
          <a:lstStyle/>
          <a:p>
            <a:pPr indent="0" marL="0">
              <a:buNone/>
            </a:pPr>
            <a:r>
              <a:rPr lang="en-US" sz="1600" b="1" dirty="0">
                <a:solidFill>
                  <a:schemeClr val="accent4"/>
                </a:solidFill>
              </a:rPr>
              <a:t>Achtung: </a:t>
            </a:r>
            <a:pPr indent="0" marL="0">
              <a:buNone/>
            </a:pPr>
            <a:r>
              <a:rPr lang="en-US" sz="1600" b="1" dirty="0">
                <a:solidFill>
                  <a:schemeClr val="tx1"/>
                </a:solidFill>
                <a:latin typeface="Consolas" pitchFamily="34" charset="0"/>
                <a:ea typeface="Consolas" pitchFamily="34" charset="-122"/>
                <a:cs typeface="Consolas" pitchFamily="34" charset="-120"/>
              </a:rPr>
              <a:t>/</a:t>
            </a:r>
            <a:pPr indent="0" marL="0">
              <a:buNone/>
            </a:pPr>
            <a:r>
              <a:rPr lang="en-US" sz="1600" dirty="0">
                <a:solidFill>
                  <a:schemeClr val="tx1"/>
                </a:solidFill>
              </a:rPr>
              <a:t> mit zwei Ganzzahlen schneidet ab: </a:t>
            </a:r>
            <a:pPr indent="0" marL="0">
              <a:buNone/>
            </a:pPr>
            <a:r>
              <a:rPr lang="en-US" sz="1600" b="1" dirty="0">
                <a:solidFill>
                  <a:schemeClr val="tx1"/>
                </a:solidFill>
                <a:latin typeface="Consolas" pitchFamily="34" charset="0"/>
                <a:ea typeface="Consolas" pitchFamily="34" charset="-122"/>
                <a:cs typeface="Consolas" pitchFamily="34" charset="-120"/>
              </a:rPr>
              <a:t>7 / 2</a:t>
            </a:r>
            <a:pPr indent="0" marL="0">
              <a:buNone/>
            </a:pPr>
            <a:r>
              <a:rPr lang="en-US" sz="1600" dirty="0">
                <a:solidFill>
                  <a:schemeClr val="tx1"/>
                </a:solidFill>
              </a:rPr>
              <a:t> ergibt 3. Gerundet wird nie, der Rest geht verloren.</a:t>
            </a:r>
            <a:endParaRPr lang="en-US" sz="1600" dirty="0"/>
          </a:p>
        </p:txBody>
      </p:sp>
      <p:graphicFrame>
        <p:nvGraphicFramePr>
          <p:cNvPr id="9" name="Beispiele Division"/>
          <p:cNvGraphicFramePr>
            <a:graphicFrameLocks noGrp="1"/>
          </p:cNvGraphicFramePr>
          <p:nvPr>
            <p:extLst>
              <p:ext uri="{D42A27DB-BD31-4B8C-83A1-F6EECF244321}">
                <p14:modId xmlns:p14="http://schemas.microsoft.com/office/powerpoint/2010/main" val="1579011935"/>
              </p:ext>
            </p:extLst>
          </p:nvPr>
        </p:nvGraphicFramePr>
        <p:xfrm>
          <a:off x="6766560" y="1371600"/>
          <a:ext cx="4846320" cy="914400"/>
        </p:xfrm>
        <a:graphic>
          <a:graphicData uri="http://schemas.openxmlformats.org/drawingml/2006/table">
            <a:tbl>
              <a:tblPr/>
              <a:tblGrid>
                <a:gridCol w="1554480"/>
                <a:gridCol w="1097280"/>
                <a:gridCol w="2194560"/>
              </a:tblGrid>
              <a:tr h="393192">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Ausdruck</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Ergebnis</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Bedeutung</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393192">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17 / 5</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3</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wie oft passt 5 hinein</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93192">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17 % 5</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2</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Rest (mod)</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93192">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7 / 2</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3</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ganzzahlig</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93192">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7.0 / 2</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3.5</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Kommazahl-Division</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93192">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1234 % 10</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4</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letzte Ziffer</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93192">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1234 / 10</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123</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letzte Ziffer streichen</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93192">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-7 % 2</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4"/>
                          </a:solidFill>
                          <a:latin typeface="Consolas" pitchFamily="34" charset="0"/>
                          <a:ea typeface="Consolas" pitchFamily="34" charset="-122"/>
                          <a:cs typeface="Consolas" pitchFamily="34" charset="-120"/>
                        </a:rPr>
                        <a:t>-1</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accent4"/>
                          </a:solidFill>
                          <a:latin typeface="Calibri" pitchFamily="34" charset="0"/>
                          <a:ea typeface="Calibri" pitchFamily="34" charset="-122"/>
                          <a:cs typeface="Calibri" pitchFamily="34" charset="-120"/>
                        </a:rPr>
                        <a:t>Vorzeichen bleibt!</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30" name="Denkanstoss Kisten"/>
          <p:cNvSpPr/>
          <p:nvPr/>
        </p:nvSpPr>
        <p:spPr>
          <a:xfrm>
            <a:off x="6766560" y="4754880"/>
            <a:ext cx="4846320" cy="1371600"/>
          </a:xfrm>
          <a:prstGeom prst="roundRect">
            <a:avLst>
              <a:gd name="adj" fmla="val 8000"/>
            </a:avLst>
          </a:prstGeom>
          <a:solidFill>
            <a:schemeClr val="bg2"/>
          </a:solidFill>
          <a:ln/>
        </p:spPr>
      </p:sp>
      <p:sp>
        <p:nvSpPr>
          <p:cNvPr id="31" name="Text 27"/>
          <p:cNvSpPr txBox="1"/>
          <p:nvPr/>
        </p:nvSpPr>
        <p:spPr>
          <a:xfrm>
            <a:off x="6967728" y="4754880"/>
            <a:ext cx="4480560" cy="1371600"/>
          </a:xfrm>
          <a:prstGeom prst="rect">
            <a:avLst/>
          </a:prstGeom>
          <a:noFill/>
          <a:ln/>
        </p:spPr>
        <p:txBody>
          <a:bodyPr wrap="square" lIns="0" tIns="0" rIns="0" bIns="0" rtlCol="0" anchor="ctr"/>
          <a:lstStyle/>
          <a:p>
            <a:pPr indent="0" marL="0">
              <a:buNone/>
            </a:pPr>
            <a:r>
              <a:rPr lang="en-US" sz="1600" b="1" dirty="0">
                <a:solidFill>
                  <a:schemeClr val="accent1"/>
                </a:solidFill>
              </a:rPr>
              <a:t>Denkanstoß: </a:t>
            </a:r>
            <a:pPr indent="0" marL="0">
              <a:buNone/>
            </a:pPr>
            <a:r>
              <a:rPr lang="en-US" sz="1600" dirty="0">
                <a:solidFill>
                  <a:schemeClr val="tx1"/>
                </a:solidFill>
              </a:rPr>
              <a:t>Wie viele Kisten brauchst du für 17 Tränke? </a:t>
            </a:r>
            <a:pPr indent="0" marL="0">
              <a:buNone/>
            </a:pPr>
            <a:r>
              <a:rPr lang="en-US" sz="1600" b="1" dirty="0">
                <a:solidFill>
                  <a:schemeClr val="tx1"/>
                </a:solidFill>
                <a:latin typeface="Consolas" pitchFamily="34" charset="0"/>
                <a:ea typeface="Consolas" pitchFamily="34" charset="-122"/>
                <a:cs typeface="Consolas" pitchFamily="34" charset="-120"/>
              </a:rPr>
              <a:t>17 / 5</a:t>
            </a:r>
            <a:pPr indent="0" marL="0">
              <a:buNone/>
            </a:pPr>
            <a:r>
              <a:rPr lang="en-US" sz="1600" dirty="0">
                <a:solidFill>
                  <a:schemeClr val="tx1"/>
                </a:solidFill>
              </a:rPr>
              <a:t> liefert 3 – eine zu wenig. Lösung ohne Math: Level 0.2.</a:t>
            </a:r>
            <a:endParaRPr lang="en-US" sz="1600" dirty="0"/>
          </a:p>
        </p:txBody>
      </p:sp>
      <p:sp>
        <p:nvSpPr>
          <p:cNvPr id="32" name="Text 28"/>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2 · Werkstatt</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Die Casting-Falle: Durchschnitt von 1, 2 und 4</a:t>
            </a:r>
            <a:endParaRPr lang="en-US" sz="3600" dirty="0"/>
          </a:p>
        </p:txBody>
      </p:sp>
      <p:sp>
        <p:nvSpPr>
          <p:cNvPr id="3" name="Code"/>
          <p:cNvSpPr txBox="1"/>
          <p:nvPr/>
        </p:nvSpPr>
        <p:spPr>
          <a:xfrm>
            <a:off x="548640" y="1325880"/>
            <a:ext cx="9326880" cy="15717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int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1,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b</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2,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c</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4;</a:t>
            </a:r>
            <a:endParaRPr lang="en-US" sz="1600" dirty="0"/>
          </a:p>
          <a:p>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double</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d1</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b</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c</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3;              </a:t>
            </a:r>
            <a:pPr algn="l" indent="0" marL="0">
              <a:lnSpc>
                <a:spcPts val="2000"/>
              </a:lnSpc>
              <a:buNone/>
            </a:pPr>
            <a:r>
              <a:rPr lang="en-US" sz="1600" i="1" dirty="0">
                <a:solidFill>
                  <a:schemeClr val="accent3"/>
                </a:solidFill>
                <a:latin typeface="Consolas" pitchFamily="34" charset="0"/>
                <a:ea typeface="Consolas" pitchFamily="34" charset="-122"/>
                <a:cs typeface="Consolas" pitchFamily="34" charset="-120"/>
              </a:rPr>
              <a:t>// 2.0</a:t>
            </a:r>
            <a:endParaRPr lang="en-US" sz="1600" dirty="0"/>
          </a:p>
          <a:p>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double</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d2</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b</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c</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3.0;            </a:t>
            </a:r>
            <a:pPr algn="l" indent="0" marL="0">
              <a:lnSpc>
                <a:spcPts val="2000"/>
              </a:lnSpc>
              <a:buNone/>
            </a:pPr>
            <a:r>
              <a:rPr lang="en-US" sz="1600" i="1" dirty="0">
                <a:solidFill>
                  <a:schemeClr val="accent3"/>
                </a:solidFill>
                <a:latin typeface="Consolas" pitchFamily="34" charset="0"/>
                <a:ea typeface="Consolas" pitchFamily="34" charset="-122"/>
                <a:cs typeface="Consolas" pitchFamily="34" charset="-120"/>
              </a:rPr>
              <a:t>// 2.3333333333333335</a:t>
            </a:r>
            <a:endParaRPr lang="en-US" sz="1600" dirty="0"/>
          </a:p>
          <a:p>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double</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d3</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double</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b</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c</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3;     </a:t>
            </a:r>
            <a:pPr algn="l" indent="0" marL="0">
              <a:lnSpc>
                <a:spcPts val="2000"/>
              </a:lnSpc>
              <a:buNone/>
            </a:pPr>
            <a:r>
              <a:rPr lang="en-US" sz="1600" i="1" dirty="0">
                <a:solidFill>
                  <a:schemeClr val="accent3"/>
                </a:solidFill>
                <a:latin typeface="Consolas" pitchFamily="34" charset="0"/>
                <a:ea typeface="Consolas" pitchFamily="34" charset="-122"/>
                <a:cs typeface="Consolas" pitchFamily="34" charset="-120"/>
              </a:rPr>
              <a:t>// 2.3333333333333335</a:t>
            </a:r>
            <a:endParaRPr lang="en-US" sz="1600" dirty="0"/>
          </a:p>
          <a:p>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double</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d4</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double</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b</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c</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3);   </a:t>
            </a:r>
            <a:pPr algn="l" indent="0" marL="0">
              <a:lnSpc>
                <a:spcPts val="2000"/>
              </a:lnSpc>
              <a:buNone/>
            </a:pPr>
            <a:r>
              <a:rPr lang="en-US" sz="1600" i="1" dirty="0">
                <a:solidFill>
                  <a:schemeClr val="accent3"/>
                </a:solidFill>
                <a:latin typeface="Consolas" pitchFamily="34" charset="0"/>
                <a:ea typeface="Consolas" pitchFamily="34" charset="-122"/>
                <a:cs typeface="Consolas" pitchFamily="34" charset="-120"/>
              </a:rPr>
              <a:t>// 2.0</a:t>
            </a:r>
            <a:endParaRPr lang="en-US" sz="1600" dirty="0"/>
          </a:p>
        </p:txBody>
      </p:sp>
      <p:sp>
        <p:nvSpPr>
          <p:cNvPr id="4" name="Chip"/>
          <p:cNvSpPr txBox="1"/>
          <p:nvPr/>
        </p:nvSpPr>
        <p:spPr>
          <a:xfrm>
            <a:off x="10104120" y="1720596"/>
            <a:ext cx="1508760" cy="22860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FALSCH</a:t>
            </a:r>
            <a:endParaRPr lang="en-US" sz="1200" dirty="0"/>
          </a:p>
        </p:txBody>
      </p:sp>
      <p:sp>
        <p:nvSpPr>
          <p:cNvPr id="5" name="Chip"/>
          <p:cNvSpPr txBox="1"/>
          <p:nvPr/>
        </p:nvSpPr>
        <p:spPr>
          <a:xfrm>
            <a:off x="10104120" y="1974596"/>
            <a:ext cx="1508760" cy="22860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RICHTIG</a:t>
            </a:r>
            <a:endParaRPr lang="en-US" sz="1200" dirty="0"/>
          </a:p>
        </p:txBody>
      </p:sp>
      <p:sp>
        <p:nvSpPr>
          <p:cNvPr id="6" name="Chip"/>
          <p:cNvSpPr txBox="1"/>
          <p:nvPr/>
        </p:nvSpPr>
        <p:spPr>
          <a:xfrm>
            <a:off x="10104120" y="2228596"/>
            <a:ext cx="1508760" cy="22860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RICHTIG</a:t>
            </a:r>
            <a:endParaRPr lang="en-US" sz="1200" dirty="0"/>
          </a:p>
        </p:txBody>
      </p:sp>
      <p:sp>
        <p:nvSpPr>
          <p:cNvPr id="7" name="Chip"/>
          <p:cNvSpPr txBox="1"/>
          <p:nvPr/>
        </p:nvSpPr>
        <p:spPr>
          <a:xfrm>
            <a:off x="10104120" y="2482596"/>
            <a:ext cx="1508760" cy="22860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FALSCH</a:t>
            </a:r>
            <a:endParaRPr lang="en-US" sz="1200" dirty="0"/>
          </a:p>
        </p:txBody>
      </p:sp>
      <p:sp>
        <p:nvSpPr>
          <p:cNvPr id="8" name="Text 6"/>
          <p:cNvSpPr txBox="1"/>
          <p:nvPr/>
        </p:nvSpPr>
        <p:spPr>
          <a:xfrm>
            <a:off x="548640" y="3063240"/>
            <a:ext cx="1463040" cy="502920"/>
          </a:xfrm>
          <a:prstGeom prst="rect">
            <a:avLst/>
          </a:prstGeom>
          <a:noFill/>
          <a:ln/>
        </p:spPr>
        <p:txBody>
          <a:bodyPr wrap="square" lIns="0" tIns="0" rIns="0" bIns="0" rtlCol="0" anchor="ctr"/>
          <a:lstStyle/>
          <a:p>
            <a:pPr indent="0" marL="0">
              <a:buNone/>
            </a:pPr>
            <a:r>
              <a:rPr lang="en-US" sz="1600" b="1" dirty="0">
                <a:solidFill>
                  <a:schemeClr val="accent4"/>
                </a:solidFill>
              </a:rPr>
              <a:t>d1: zu früh</a:t>
            </a:r>
            <a:endParaRPr lang="en-US" sz="1600" dirty="0"/>
          </a:p>
        </p:txBody>
      </p:sp>
      <p:sp>
        <p:nvSpPr>
          <p:cNvPr id="9" name="Text 7"/>
          <p:cNvSpPr txBox="1"/>
          <p:nvPr/>
        </p:nvSpPr>
        <p:spPr>
          <a:xfrm>
            <a:off x="2103120" y="3063240"/>
            <a:ext cx="1280160" cy="502920"/>
          </a:xfrm>
          <a:prstGeom prst="roundRect">
            <a:avLst>
              <a:gd name="adj" fmla="val 14545"/>
            </a:avLst>
          </a:prstGeom>
          <a:solidFill>
            <a:schemeClr val="bg1"/>
          </a:solidFill>
          <a:ln w="19050">
            <a:solidFill>
              <a:schemeClr val="accent1"/>
            </a:solidFill>
          </a:ln>
        </p:spPr>
        <p:txBody>
          <a:bodyPr wrap="square" lIns="0" tIns="0" rIns="0" bIns="0" rtlCol="0" anchor="ctr"/>
          <a:lstStyle/>
          <a:p>
            <a:pPr algn="ctr" indent="0" marL="0">
              <a:buNone/>
            </a:pPr>
            <a:r>
              <a:rPr lang="en-US" sz="1500" b="1" dirty="0">
                <a:solidFill>
                  <a:schemeClr val="tx1"/>
                </a:solidFill>
                <a:latin typeface="Consolas" pitchFamily="34" charset="0"/>
                <a:ea typeface="Consolas" pitchFamily="34" charset="-122"/>
                <a:cs typeface="Consolas" pitchFamily="34" charset="-120"/>
              </a:rPr>
              <a:t>7 / 3</a:t>
            </a:r>
            <a:endParaRPr lang="en-US" sz="1500" dirty="0"/>
          </a:p>
        </p:txBody>
      </p:sp>
      <p:sp>
        <p:nvSpPr>
          <p:cNvPr id="10" name="Linie"/>
          <p:cNvSpPr/>
          <p:nvPr/>
        </p:nvSpPr>
        <p:spPr>
          <a:xfrm>
            <a:off x="3429000" y="3310128"/>
            <a:ext cx="365760" cy="91"/>
          </a:xfrm>
          <a:prstGeom prst="line">
            <a:avLst/>
          </a:prstGeom>
          <a:noFill/>
          <a:ln w="31750">
            <a:solidFill>
              <a:schemeClr val="accent2"/>
            </a:solidFill>
            <a:prstDash val="solid"/>
            <a:tailEnd type="triangle"/>
          </a:ln>
        </p:spPr>
      </p:sp>
      <p:sp>
        <p:nvSpPr>
          <p:cNvPr id="11" name="Text 9"/>
          <p:cNvSpPr txBox="1"/>
          <p:nvPr/>
        </p:nvSpPr>
        <p:spPr>
          <a:xfrm>
            <a:off x="3108960" y="3593592"/>
            <a:ext cx="1005840" cy="237744"/>
          </a:xfrm>
          <a:prstGeom prst="rect">
            <a:avLst/>
          </a:prstGeom>
          <a:noFill/>
          <a:ln/>
        </p:spPr>
        <p:txBody>
          <a:bodyPr wrap="square" lIns="0" tIns="0" rIns="0" bIns="0" rtlCol="0" anchor="t"/>
          <a:lstStyle/>
          <a:p>
            <a:pPr algn="ctr" indent="0" marL="0">
              <a:buNone/>
            </a:pPr>
            <a:r>
              <a:rPr lang="en-US" sz="1200" i="1" dirty="0">
                <a:solidFill>
                  <a:schemeClr val="accent6"/>
                </a:solidFill>
              </a:rPr>
              <a:t>int / int</a:t>
            </a:r>
            <a:endParaRPr lang="en-US" sz="1200" dirty="0"/>
          </a:p>
        </p:txBody>
      </p:sp>
      <p:sp>
        <p:nvSpPr>
          <p:cNvPr id="12" name="Text 10"/>
          <p:cNvSpPr txBox="1"/>
          <p:nvPr/>
        </p:nvSpPr>
        <p:spPr>
          <a:xfrm>
            <a:off x="3840480" y="3063240"/>
            <a:ext cx="731520" cy="502920"/>
          </a:xfrm>
          <a:prstGeom prst="roundRect">
            <a:avLst>
              <a:gd name="adj" fmla="val 14545"/>
            </a:avLst>
          </a:prstGeom>
          <a:solidFill>
            <a:schemeClr val="bg1"/>
          </a:solidFill>
          <a:ln w="19050">
            <a:solidFill>
              <a:schemeClr val="accent1"/>
            </a:solidFill>
          </a:ln>
        </p:spPr>
        <p:txBody>
          <a:bodyPr wrap="square" lIns="0" tIns="0" rIns="0" bIns="0" rtlCol="0" anchor="ctr"/>
          <a:lstStyle/>
          <a:p>
            <a:pPr algn="ctr" indent="0" marL="0">
              <a:buNone/>
            </a:pPr>
            <a:r>
              <a:rPr lang="en-US" sz="1500" b="1" dirty="0">
                <a:solidFill>
                  <a:schemeClr val="tx1"/>
                </a:solidFill>
                <a:latin typeface="Consolas" pitchFamily="34" charset="0"/>
                <a:ea typeface="Consolas" pitchFamily="34" charset="-122"/>
                <a:cs typeface="Consolas" pitchFamily="34" charset="-120"/>
              </a:rPr>
              <a:t>2</a:t>
            </a:r>
            <a:endParaRPr lang="en-US" sz="1500" dirty="0"/>
          </a:p>
        </p:txBody>
      </p:sp>
      <p:sp>
        <p:nvSpPr>
          <p:cNvPr id="13" name="Linie"/>
          <p:cNvSpPr/>
          <p:nvPr/>
        </p:nvSpPr>
        <p:spPr>
          <a:xfrm>
            <a:off x="4617720" y="3310128"/>
            <a:ext cx="365760" cy="91"/>
          </a:xfrm>
          <a:prstGeom prst="line">
            <a:avLst/>
          </a:prstGeom>
          <a:noFill/>
          <a:ln w="31750">
            <a:solidFill>
              <a:schemeClr val="accent2"/>
            </a:solidFill>
            <a:prstDash val="solid"/>
            <a:tailEnd type="triangle"/>
          </a:ln>
        </p:spPr>
      </p:sp>
      <p:sp>
        <p:nvSpPr>
          <p:cNvPr id="14" name="Text 12"/>
          <p:cNvSpPr txBox="1"/>
          <p:nvPr/>
        </p:nvSpPr>
        <p:spPr>
          <a:xfrm>
            <a:off x="4297680" y="3593592"/>
            <a:ext cx="1005840" cy="237744"/>
          </a:xfrm>
          <a:prstGeom prst="rect">
            <a:avLst/>
          </a:prstGeom>
          <a:noFill/>
          <a:ln/>
        </p:spPr>
        <p:txBody>
          <a:bodyPr wrap="square" lIns="0" tIns="0" rIns="0" bIns="0" rtlCol="0" anchor="t"/>
          <a:lstStyle/>
          <a:p>
            <a:pPr algn="ctr" indent="0" marL="0">
              <a:buNone/>
            </a:pPr>
            <a:r>
              <a:rPr lang="en-US" sz="1200" i="1" dirty="0">
                <a:solidFill>
                  <a:schemeClr val="accent6"/>
                </a:solidFill>
              </a:rPr>
              <a:t>als double</a:t>
            </a:r>
            <a:endParaRPr lang="en-US" sz="1200" dirty="0"/>
          </a:p>
        </p:txBody>
      </p:sp>
      <p:sp>
        <p:nvSpPr>
          <p:cNvPr id="15" name="Text 13"/>
          <p:cNvSpPr txBox="1"/>
          <p:nvPr/>
        </p:nvSpPr>
        <p:spPr>
          <a:xfrm>
            <a:off x="5029200" y="3063240"/>
            <a:ext cx="1005840" cy="502920"/>
          </a:xfrm>
          <a:prstGeom prst="roundRect">
            <a:avLst>
              <a:gd name="adj" fmla="val 14545"/>
            </a:avLst>
          </a:prstGeom>
          <a:solidFill>
            <a:srgbClr val="FBE5E5"/>
          </a:solidFill>
          <a:ln w="19050">
            <a:solidFill>
              <a:schemeClr val="accent4"/>
            </a:solidFill>
          </a:ln>
        </p:spPr>
        <p:txBody>
          <a:bodyPr wrap="square" lIns="0" tIns="0" rIns="0" bIns="0" rtlCol="0" anchor="ctr"/>
          <a:lstStyle/>
          <a:p>
            <a:pPr algn="ctr" indent="0" marL="0">
              <a:buNone/>
            </a:pPr>
            <a:r>
              <a:rPr lang="en-US" sz="1500" b="1" dirty="0">
                <a:solidFill>
                  <a:schemeClr val="tx1"/>
                </a:solidFill>
                <a:latin typeface="Consolas" pitchFamily="34" charset="0"/>
                <a:ea typeface="Consolas" pitchFamily="34" charset="-122"/>
                <a:cs typeface="Consolas" pitchFamily="34" charset="-120"/>
              </a:rPr>
              <a:t>2.0</a:t>
            </a:r>
            <a:endParaRPr lang="en-US" sz="1500" dirty="0"/>
          </a:p>
        </p:txBody>
      </p:sp>
      <p:sp>
        <p:nvSpPr>
          <p:cNvPr id="16" name="Text 14"/>
          <p:cNvSpPr txBox="1"/>
          <p:nvPr/>
        </p:nvSpPr>
        <p:spPr>
          <a:xfrm>
            <a:off x="548640" y="3931920"/>
            <a:ext cx="1463040" cy="502920"/>
          </a:xfrm>
          <a:prstGeom prst="rect">
            <a:avLst/>
          </a:prstGeom>
          <a:noFill/>
          <a:ln/>
        </p:spPr>
        <p:txBody>
          <a:bodyPr wrap="square" lIns="0" tIns="0" rIns="0" bIns="0" rtlCol="0" anchor="ctr"/>
          <a:lstStyle/>
          <a:p>
            <a:pPr indent="0" marL="0">
              <a:buNone/>
            </a:pPr>
            <a:r>
              <a:rPr lang="en-US" sz="1600" b="1" dirty="0">
                <a:solidFill>
                  <a:schemeClr val="accent3"/>
                </a:solidFill>
              </a:rPr>
              <a:t>d2: richtig</a:t>
            </a:r>
            <a:endParaRPr lang="en-US" sz="1600" dirty="0"/>
          </a:p>
        </p:txBody>
      </p:sp>
      <p:sp>
        <p:nvSpPr>
          <p:cNvPr id="17" name="Text 15"/>
          <p:cNvSpPr txBox="1"/>
          <p:nvPr/>
        </p:nvSpPr>
        <p:spPr>
          <a:xfrm>
            <a:off x="2103120" y="3931920"/>
            <a:ext cx="1463040" cy="502920"/>
          </a:xfrm>
          <a:prstGeom prst="roundRect">
            <a:avLst>
              <a:gd name="adj" fmla="val 14545"/>
            </a:avLst>
          </a:prstGeom>
          <a:solidFill>
            <a:schemeClr val="bg1"/>
          </a:solidFill>
          <a:ln w="19050">
            <a:solidFill>
              <a:schemeClr val="accent1"/>
            </a:solidFill>
          </a:ln>
        </p:spPr>
        <p:txBody>
          <a:bodyPr wrap="square" lIns="0" tIns="0" rIns="0" bIns="0" rtlCol="0" anchor="ctr"/>
          <a:lstStyle/>
          <a:p>
            <a:pPr algn="ctr" indent="0" marL="0">
              <a:buNone/>
            </a:pPr>
            <a:r>
              <a:rPr lang="en-US" sz="1500" b="1" dirty="0">
                <a:solidFill>
                  <a:schemeClr val="tx1"/>
                </a:solidFill>
                <a:latin typeface="Consolas" pitchFamily="34" charset="0"/>
                <a:ea typeface="Consolas" pitchFamily="34" charset="-122"/>
                <a:cs typeface="Consolas" pitchFamily="34" charset="-120"/>
              </a:rPr>
              <a:t>7 / 3.0</a:t>
            </a:r>
            <a:endParaRPr lang="en-US" sz="1500" dirty="0"/>
          </a:p>
        </p:txBody>
      </p:sp>
      <p:sp>
        <p:nvSpPr>
          <p:cNvPr id="18" name="Linie"/>
          <p:cNvSpPr/>
          <p:nvPr/>
        </p:nvSpPr>
        <p:spPr>
          <a:xfrm>
            <a:off x="3611880" y="4178808"/>
            <a:ext cx="365760" cy="91"/>
          </a:xfrm>
          <a:prstGeom prst="line">
            <a:avLst/>
          </a:prstGeom>
          <a:noFill/>
          <a:ln w="31750">
            <a:solidFill>
              <a:schemeClr val="accent2"/>
            </a:solidFill>
            <a:prstDash val="solid"/>
            <a:tailEnd type="triangle"/>
          </a:ln>
        </p:spPr>
      </p:sp>
      <p:sp>
        <p:nvSpPr>
          <p:cNvPr id="19" name="Text 17"/>
          <p:cNvSpPr txBox="1"/>
          <p:nvPr/>
        </p:nvSpPr>
        <p:spPr>
          <a:xfrm>
            <a:off x="3291840" y="4462272"/>
            <a:ext cx="1005840" cy="237744"/>
          </a:xfrm>
          <a:prstGeom prst="rect">
            <a:avLst/>
          </a:prstGeom>
          <a:noFill/>
          <a:ln/>
        </p:spPr>
        <p:txBody>
          <a:bodyPr wrap="square" lIns="0" tIns="0" rIns="0" bIns="0" rtlCol="0" anchor="t"/>
          <a:lstStyle/>
          <a:p>
            <a:pPr algn="ctr" indent="0" marL="0">
              <a:buNone/>
            </a:pPr>
            <a:r>
              <a:rPr lang="en-US" sz="1200" i="1" dirty="0">
                <a:solidFill>
                  <a:schemeClr val="accent6"/>
                </a:solidFill>
              </a:rPr>
              <a:t>int / double</a:t>
            </a:r>
            <a:endParaRPr lang="en-US" sz="1200" dirty="0"/>
          </a:p>
        </p:txBody>
      </p:sp>
      <p:sp>
        <p:nvSpPr>
          <p:cNvPr id="20" name="Text 18"/>
          <p:cNvSpPr txBox="1"/>
          <p:nvPr/>
        </p:nvSpPr>
        <p:spPr>
          <a:xfrm>
            <a:off x="4023360" y="3931920"/>
            <a:ext cx="3291840" cy="502920"/>
          </a:xfrm>
          <a:prstGeom prst="roundRect">
            <a:avLst>
              <a:gd name="adj" fmla="val 14545"/>
            </a:avLst>
          </a:prstGeom>
          <a:solidFill>
            <a:srgbClr val="E2EFDA"/>
          </a:solidFill>
          <a:ln w="19050">
            <a:solidFill>
              <a:schemeClr val="accent3"/>
            </a:solidFill>
          </a:ln>
        </p:spPr>
        <p:txBody>
          <a:bodyPr wrap="square" lIns="0" tIns="0" rIns="0" bIns="0" rtlCol="0" anchor="ctr"/>
          <a:lstStyle/>
          <a:p>
            <a:pPr algn="ctr" indent="0" marL="0">
              <a:buNone/>
            </a:pPr>
            <a:r>
              <a:rPr lang="en-US" sz="1500" b="1" dirty="0">
                <a:solidFill>
                  <a:schemeClr val="tx1"/>
                </a:solidFill>
                <a:latin typeface="Consolas" pitchFamily="34" charset="0"/>
                <a:ea typeface="Consolas" pitchFamily="34" charset="-122"/>
                <a:cs typeface="Consolas" pitchFamily="34" charset="-120"/>
              </a:rPr>
              <a:t>2.3333333333333335</a:t>
            </a:r>
            <a:endParaRPr lang="en-US" sz="1500" dirty="0"/>
          </a:p>
        </p:txBody>
      </p:sp>
      <p:sp>
        <p:nvSpPr>
          <p:cNvPr id="21" name="Abschneiden"/>
          <p:cNvSpPr/>
          <p:nvPr/>
        </p:nvSpPr>
        <p:spPr>
          <a:xfrm>
            <a:off x="8229600" y="3017520"/>
            <a:ext cx="3383280" cy="1463040"/>
          </a:xfrm>
          <a:prstGeom prst="roundRect">
            <a:avLst>
              <a:gd name="adj" fmla="val 7500"/>
            </a:avLst>
          </a:prstGeom>
          <a:solidFill>
            <a:schemeClr val="accent1"/>
          </a:solidFill>
          <a:ln/>
          <a:effectLst>
            <a:outerShdw sx="100000" sy="100000" kx="0" ky="0" algn="bl" rotWithShape="0" blurRad="76200" dist="25400" dir="5400000">
              <a:srgbClr val="000000">
                <a:alpha val="18000"/>
              </a:srgbClr>
            </a:outerShdw>
          </a:effectLst>
        </p:spPr>
      </p:sp>
      <p:sp>
        <p:nvSpPr>
          <p:cNvPr id="22" name="Text 20"/>
          <p:cNvSpPr txBox="1"/>
          <p:nvPr/>
        </p:nvSpPr>
        <p:spPr>
          <a:xfrm>
            <a:off x="8412480" y="3017520"/>
            <a:ext cx="3063240" cy="1463040"/>
          </a:xfrm>
          <a:prstGeom prst="rect">
            <a:avLst/>
          </a:prstGeom>
          <a:noFill/>
          <a:ln/>
        </p:spPr>
        <p:txBody>
          <a:bodyPr wrap="square" lIns="0" tIns="0" rIns="0" bIns="0" rtlCol="0" anchor="ctr"/>
          <a:lstStyle/>
          <a:p>
            <a:pPr indent="0" marL="0">
              <a:buNone/>
            </a:pPr>
            <a:r>
              <a:rPr lang="en-US" sz="1900" b="1" dirty="0">
                <a:solidFill>
                  <a:schemeClr val="accent2"/>
                </a:solidFill>
                <a:latin typeface="Consolas" pitchFamily="34" charset="0"/>
                <a:ea typeface="Consolas" pitchFamily="34" charset="-122"/>
                <a:cs typeface="Consolas" pitchFamily="34" charset="-120"/>
              </a:rPr>
              <a:t>(int) 3.9  →  3</a:t>
            </a:r>
            <a:endParaRPr lang="en-US" sz="1800" dirty="0"/>
          </a:p>
          <a:p>
            <a:pPr indent="0" marL="0">
              <a:buNone/>
            </a:pPr>
            <a:r>
              <a:rPr lang="en-US" sz="1500" dirty="0">
                <a:solidFill>
                  <a:schemeClr val="bg1"/>
                </a:solidFill>
              </a:rPr>
              <a:t>Cast zu int schneidet ab – er rundet nicht.</a:t>
            </a:r>
            <a:endParaRPr lang="en-US" sz="1800" dirty="0"/>
          </a:p>
        </p:txBody>
      </p:sp>
      <p:sp>
        <p:nvSpPr>
          <p:cNvPr id="23" name="Merke Casting"/>
          <p:cNvSpPr/>
          <p:nvPr/>
        </p:nvSpPr>
        <p:spPr>
          <a:xfrm>
            <a:off x="548640" y="4892040"/>
            <a:ext cx="5669280" cy="1234440"/>
          </a:xfrm>
          <a:prstGeom prst="roundRect">
            <a:avLst>
              <a:gd name="adj" fmla="val 8889"/>
            </a:avLst>
          </a:prstGeom>
          <a:solidFill>
            <a:schemeClr val="bg2"/>
          </a:solidFill>
          <a:ln/>
        </p:spPr>
      </p:sp>
      <p:sp>
        <p:nvSpPr>
          <p:cNvPr id="24" name="Text 22"/>
          <p:cNvSpPr txBox="1"/>
          <p:nvPr/>
        </p:nvSpPr>
        <p:spPr>
          <a:xfrm>
            <a:off x="749808" y="4892040"/>
            <a:ext cx="5303520" cy="1234440"/>
          </a:xfrm>
          <a:prstGeom prst="rect">
            <a:avLst/>
          </a:prstGeom>
          <a:noFill/>
          <a:ln/>
        </p:spPr>
        <p:txBody>
          <a:bodyPr wrap="square" lIns="0" tIns="0" rIns="0" bIns="0" rtlCol="0" anchor="ctr"/>
          <a:lstStyle/>
          <a:p>
            <a:pPr indent="0" marL="0">
              <a:buNone/>
            </a:pPr>
            <a:r>
              <a:rPr lang="en-US" sz="1600" b="1" dirty="0">
                <a:solidFill>
                  <a:schemeClr val="accent1"/>
                </a:solidFill>
              </a:rPr>
              <a:t>Merke: </a:t>
            </a:r>
            <a:pPr indent="0" marL="0">
              <a:buNone/>
            </a:pPr>
            <a:r>
              <a:rPr lang="en-US" sz="1600" dirty="0">
                <a:solidFill>
                  <a:schemeClr val="tx1"/>
                </a:solidFill>
              </a:rPr>
              <a:t>Mindestens ein Operand muss eine Kommazahl sein, </a:t>
            </a:r>
            <a:pPr indent="0" marL="0">
              <a:buNone/>
            </a:pPr>
            <a:r>
              <a:rPr lang="en-US" sz="1600" b="1" dirty="0">
                <a:solidFill>
                  <a:schemeClr val="tx1"/>
                </a:solidFill>
              </a:rPr>
              <a:t>bevor</a:t>
            </a:r>
            <a:pPr indent="0" marL="0">
              <a:buNone/>
            </a:pPr>
            <a:r>
              <a:rPr lang="en-US" sz="1600" dirty="0">
                <a:solidFill>
                  <a:schemeClr val="tx1"/>
                </a:solidFill>
              </a:rPr>
              <a:t> geteilt wird: </a:t>
            </a:r>
            <a:pPr indent="0" marL="0">
              <a:buNone/>
            </a:pPr>
            <a:r>
              <a:rPr lang="en-US" sz="1600" b="1" dirty="0">
                <a:solidFill>
                  <a:schemeClr val="tx1"/>
                </a:solidFill>
                <a:latin typeface="Consolas" pitchFamily="34" charset="0"/>
                <a:ea typeface="Consolas" pitchFamily="34" charset="-122"/>
                <a:cs typeface="Consolas" pitchFamily="34" charset="-120"/>
              </a:rPr>
              <a:t>3.0</a:t>
            </a:r>
            <a:pPr indent="0" marL="0">
              <a:buNone/>
            </a:pPr>
            <a:r>
              <a:rPr lang="en-US" sz="1600" dirty="0">
                <a:solidFill>
                  <a:schemeClr val="tx1"/>
                </a:solidFill>
              </a:rPr>
              <a:t> oder </a:t>
            </a:r>
            <a:pPr indent="0" marL="0">
              <a:buNone/>
            </a:pPr>
            <a:r>
              <a:rPr lang="en-US" sz="1600" b="1" dirty="0">
                <a:solidFill>
                  <a:schemeClr val="tx1"/>
                </a:solidFill>
                <a:latin typeface="Consolas" pitchFamily="34" charset="0"/>
                <a:ea typeface="Consolas" pitchFamily="34" charset="-122"/>
                <a:cs typeface="Consolas" pitchFamily="34" charset="-120"/>
              </a:rPr>
              <a:t>(double)</a:t>
            </a:r>
            <a:pPr indent="0" marL="0">
              <a:buNone/>
            </a:pPr>
            <a:r>
              <a:rPr lang="en-US" sz="1600" dirty="0">
                <a:solidFill>
                  <a:schemeClr val="tx1"/>
                </a:solidFill>
              </a:rPr>
              <a:t> vorn.</a:t>
            </a:r>
            <a:endParaRPr lang="en-US" sz="1600" dirty="0"/>
          </a:p>
        </p:txBody>
      </p:sp>
      <p:sp>
        <p:nvSpPr>
          <p:cNvPr id="25" name="Achtung Durchschnitt"/>
          <p:cNvSpPr/>
          <p:nvPr/>
        </p:nvSpPr>
        <p:spPr>
          <a:xfrm>
            <a:off x="6492240" y="4892040"/>
            <a:ext cx="5120640" cy="1234440"/>
          </a:xfrm>
          <a:prstGeom prst="roundRect">
            <a:avLst>
              <a:gd name="adj" fmla="val 8889"/>
            </a:avLst>
          </a:prstGeom>
          <a:solidFill>
            <a:schemeClr val="bg1"/>
          </a:solidFill>
          <a:ln w="25400">
            <a:solidFill>
              <a:schemeClr val="accent4"/>
            </a:solidFill>
            <a:prstDash val="solid"/>
          </a:ln>
        </p:spPr>
      </p:sp>
      <p:sp>
        <p:nvSpPr>
          <p:cNvPr id="26" name="Text 24"/>
          <p:cNvSpPr txBox="1"/>
          <p:nvPr/>
        </p:nvSpPr>
        <p:spPr>
          <a:xfrm>
            <a:off x="6693408" y="4892040"/>
            <a:ext cx="4754880" cy="1234440"/>
          </a:xfrm>
          <a:prstGeom prst="rect">
            <a:avLst/>
          </a:prstGeom>
          <a:noFill/>
          <a:ln/>
        </p:spPr>
        <p:txBody>
          <a:bodyPr wrap="square" lIns="0" tIns="0" rIns="0" bIns="0" rtlCol="0" anchor="ctr"/>
          <a:lstStyle/>
          <a:p>
            <a:pPr indent="0" marL="0">
              <a:buNone/>
            </a:pPr>
            <a:r>
              <a:rPr lang="en-US" sz="1600" b="1" dirty="0">
                <a:solidFill>
                  <a:schemeClr val="accent4"/>
                </a:solidFill>
              </a:rPr>
              <a:t>Achtung Abi: </a:t>
            </a:r>
            <a:pPr indent="0" marL="0">
              <a:buNone/>
            </a:pPr>
            <a:r>
              <a:rPr lang="en-US" sz="1600" dirty="0">
                <a:solidFill>
                  <a:schemeClr val="tx1"/>
                </a:solidFill>
              </a:rPr>
              <a:t>Ein Durchschnitt ist immer eine Kommazahl – auch wenn die Werte Ganzzahlen sind.</a:t>
            </a:r>
            <a:endParaRPr lang="en-US" sz="1600" dirty="0"/>
          </a:p>
        </p:txBody>
      </p:sp>
      <p:sp>
        <p:nvSpPr>
          <p:cNvPr id="27" name="Text 25"/>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2 · Werkstatt</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Zufallszahl im Bereich und ganzzahliges Runden</a:t>
            </a:r>
            <a:endParaRPr lang="en-US" sz="3600" dirty="0"/>
          </a:p>
        </p:txBody>
      </p:sp>
      <p:sp>
        <p:nvSpPr>
          <p:cNvPr id="3" name="Stufe 1"/>
          <p:cNvSpPr/>
          <p:nvPr/>
        </p:nvSpPr>
        <p:spPr>
          <a:xfrm>
            <a:off x="548640" y="1325880"/>
            <a:ext cx="2468880" cy="1143000"/>
          </a:xfrm>
          <a:prstGeom prst="roundRect">
            <a:avLst>
              <a:gd name="adj" fmla="val 9600"/>
            </a:avLst>
          </a:prstGeom>
          <a:solidFill>
            <a:schemeClr val="bg1"/>
          </a:solidFill>
          <a:ln w="19050">
            <a:solidFill>
              <a:schemeClr val="accent1"/>
            </a:solidFill>
            <a:prstDash val="solid"/>
          </a:ln>
          <a:effectLst>
            <a:outerShdw sx="100000" sy="100000" kx="0" ky="0" algn="bl" rotWithShape="0" blurRad="76200" dist="25400" dir="5400000">
              <a:srgbClr val="000000">
                <a:alpha val="18000"/>
              </a:srgbClr>
            </a:outerShdw>
          </a:effectLst>
        </p:spPr>
      </p:sp>
      <p:sp>
        <p:nvSpPr>
          <p:cNvPr id="4" name="Text 2"/>
          <p:cNvSpPr txBox="1"/>
          <p:nvPr/>
        </p:nvSpPr>
        <p:spPr>
          <a:xfrm>
            <a:off x="640080" y="1325880"/>
            <a:ext cx="2286000" cy="1143000"/>
          </a:xfrm>
          <a:prstGeom prst="rect">
            <a:avLst/>
          </a:prstGeom>
          <a:noFill/>
          <a:ln/>
        </p:spPr>
        <p:txBody>
          <a:bodyPr wrap="square" lIns="0" tIns="0" rIns="0" bIns="0" rtlCol="0" anchor="ctr"/>
          <a:lstStyle/>
          <a:p>
            <a:pPr algn="ctr" indent="0" marL="0">
              <a:buNone/>
            </a:pPr>
            <a:r>
              <a:rPr lang="en-US" sz="1700" b="1" dirty="0">
                <a:solidFill>
                  <a:schemeClr val="accent1"/>
                </a:solidFill>
                <a:latin typeface="Consolas" pitchFamily="34" charset="0"/>
                <a:ea typeface="Consolas" pitchFamily="34" charset="-122"/>
                <a:cs typeface="Consolas" pitchFamily="34" charset="-120"/>
              </a:rPr>
              <a:t>Math.random()</a:t>
            </a:r>
            <a:endParaRPr lang="en-US" sz="1800" dirty="0"/>
          </a:p>
          <a:p>
            <a:pPr algn="ctr" indent="0" marL="0">
              <a:buNone/>
            </a:pPr>
            <a:r>
              <a:rPr lang="en-US" sz="1600" dirty="0">
                <a:solidFill>
                  <a:schemeClr val="tx1"/>
                </a:solidFill>
              </a:rPr>
              <a:t>0.0 ≤ z &lt; 1.0</a:t>
            </a:r>
            <a:endParaRPr lang="en-US" sz="1800" dirty="0"/>
          </a:p>
        </p:txBody>
      </p:sp>
      <p:sp>
        <p:nvSpPr>
          <p:cNvPr id="5" name="Linie"/>
          <p:cNvSpPr/>
          <p:nvPr/>
        </p:nvSpPr>
        <p:spPr>
          <a:xfrm>
            <a:off x="3063240" y="1892808"/>
            <a:ext cx="301752" cy="91"/>
          </a:xfrm>
          <a:prstGeom prst="line">
            <a:avLst/>
          </a:prstGeom>
          <a:noFill/>
          <a:ln w="31750">
            <a:solidFill>
              <a:schemeClr val="accent2"/>
            </a:solidFill>
            <a:prstDash val="solid"/>
            <a:tailEnd type="triangle"/>
          </a:ln>
        </p:spPr>
      </p:sp>
      <p:sp>
        <p:nvSpPr>
          <p:cNvPr id="6" name="Stufe 2"/>
          <p:cNvSpPr/>
          <p:nvPr/>
        </p:nvSpPr>
        <p:spPr>
          <a:xfrm>
            <a:off x="3410712" y="1325880"/>
            <a:ext cx="2468880" cy="1143000"/>
          </a:xfrm>
          <a:prstGeom prst="roundRect">
            <a:avLst>
              <a:gd name="adj" fmla="val 9600"/>
            </a:avLst>
          </a:prstGeom>
          <a:solidFill>
            <a:schemeClr val="bg1"/>
          </a:solidFill>
          <a:ln w="19050">
            <a:solidFill>
              <a:schemeClr val="accent1"/>
            </a:solidFill>
            <a:prstDash val="solid"/>
          </a:ln>
          <a:effectLst>
            <a:outerShdw sx="100000" sy="100000" kx="0" ky="0" algn="bl" rotWithShape="0" blurRad="76200" dist="25400" dir="5400000">
              <a:srgbClr val="000000">
                <a:alpha val="18000"/>
              </a:srgbClr>
            </a:outerShdw>
          </a:effectLst>
        </p:spPr>
      </p:sp>
      <p:sp>
        <p:nvSpPr>
          <p:cNvPr id="7" name="Text 5"/>
          <p:cNvSpPr txBox="1"/>
          <p:nvPr/>
        </p:nvSpPr>
        <p:spPr>
          <a:xfrm>
            <a:off x="3502152" y="1325880"/>
            <a:ext cx="2286000" cy="1143000"/>
          </a:xfrm>
          <a:prstGeom prst="rect">
            <a:avLst/>
          </a:prstGeom>
          <a:noFill/>
          <a:ln/>
        </p:spPr>
        <p:txBody>
          <a:bodyPr wrap="square" lIns="0" tIns="0" rIns="0" bIns="0" rtlCol="0" anchor="ctr"/>
          <a:lstStyle/>
          <a:p>
            <a:pPr algn="ctr" indent="0" marL="0">
              <a:buNone/>
            </a:pPr>
            <a:r>
              <a:rPr lang="en-US" sz="1700" b="1" dirty="0">
                <a:solidFill>
                  <a:schemeClr val="accent1"/>
                </a:solidFill>
                <a:latin typeface="Consolas" pitchFamily="34" charset="0"/>
                <a:ea typeface="Consolas" pitchFamily="34" charset="-122"/>
                <a:cs typeface="Consolas" pitchFamily="34" charset="-120"/>
              </a:rPr>
              <a:t>* 6</a:t>
            </a:r>
            <a:endParaRPr lang="en-US" sz="1800" dirty="0"/>
          </a:p>
          <a:p>
            <a:pPr algn="ctr" indent="0" marL="0">
              <a:buNone/>
            </a:pPr>
            <a:r>
              <a:rPr lang="en-US" sz="1600" dirty="0">
                <a:solidFill>
                  <a:schemeClr val="tx1"/>
                </a:solidFill>
              </a:rPr>
              <a:t>0.0 ≤ … &lt; 6.0</a:t>
            </a:r>
            <a:endParaRPr lang="en-US" sz="1800" dirty="0"/>
          </a:p>
        </p:txBody>
      </p:sp>
      <p:sp>
        <p:nvSpPr>
          <p:cNvPr id="8" name="Linie"/>
          <p:cNvSpPr/>
          <p:nvPr/>
        </p:nvSpPr>
        <p:spPr>
          <a:xfrm>
            <a:off x="5925312" y="1892808"/>
            <a:ext cx="301752" cy="91"/>
          </a:xfrm>
          <a:prstGeom prst="line">
            <a:avLst/>
          </a:prstGeom>
          <a:noFill/>
          <a:ln w="31750">
            <a:solidFill>
              <a:schemeClr val="accent2"/>
            </a:solidFill>
            <a:prstDash val="solid"/>
            <a:tailEnd type="triangle"/>
          </a:ln>
        </p:spPr>
      </p:sp>
      <p:sp>
        <p:nvSpPr>
          <p:cNvPr id="9" name="Stufe 3"/>
          <p:cNvSpPr/>
          <p:nvPr/>
        </p:nvSpPr>
        <p:spPr>
          <a:xfrm>
            <a:off x="6272784" y="1325880"/>
            <a:ext cx="2468880" cy="1143000"/>
          </a:xfrm>
          <a:prstGeom prst="roundRect">
            <a:avLst>
              <a:gd name="adj" fmla="val 9600"/>
            </a:avLst>
          </a:prstGeom>
          <a:solidFill>
            <a:schemeClr val="bg1"/>
          </a:solidFill>
          <a:ln w="19050">
            <a:solidFill>
              <a:schemeClr val="accent1"/>
            </a:solidFill>
            <a:prstDash val="solid"/>
          </a:ln>
          <a:effectLst>
            <a:outerShdw sx="100000" sy="100000" kx="0" ky="0" algn="bl" rotWithShape="0" blurRad="76200" dist="25400" dir="5400000">
              <a:srgbClr val="000000">
                <a:alpha val="18000"/>
              </a:srgbClr>
            </a:outerShdw>
          </a:effectLst>
        </p:spPr>
      </p:sp>
      <p:sp>
        <p:nvSpPr>
          <p:cNvPr id="10" name="Text 8"/>
          <p:cNvSpPr txBox="1"/>
          <p:nvPr/>
        </p:nvSpPr>
        <p:spPr>
          <a:xfrm>
            <a:off x="6364224" y="1325880"/>
            <a:ext cx="2286000" cy="1143000"/>
          </a:xfrm>
          <a:prstGeom prst="rect">
            <a:avLst/>
          </a:prstGeom>
          <a:noFill/>
          <a:ln/>
        </p:spPr>
        <p:txBody>
          <a:bodyPr wrap="square" lIns="0" tIns="0" rIns="0" bIns="0" rtlCol="0" anchor="ctr"/>
          <a:lstStyle/>
          <a:p>
            <a:pPr algn="ctr" indent="0" marL="0">
              <a:buNone/>
            </a:pPr>
            <a:r>
              <a:rPr lang="en-US" sz="1700" b="1" dirty="0">
                <a:solidFill>
                  <a:schemeClr val="accent1"/>
                </a:solidFill>
                <a:latin typeface="Consolas" pitchFamily="34" charset="0"/>
                <a:ea typeface="Consolas" pitchFamily="34" charset="-122"/>
                <a:cs typeface="Consolas" pitchFamily="34" charset="-120"/>
              </a:rPr>
              <a:t>(int) (…)</a:t>
            </a:r>
            <a:endParaRPr lang="en-US" sz="1800" dirty="0"/>
          </a:p>
          <a:p>
            <a:pPr algn="ctr" indent="0" marL="0">
              <a:buNone/>
            </a:pPr>
            <a:r>
              <a:rPr lang="en-US" sz="1600" dirty="0">
                <a:solidFill>
                  <a:schemeClr val="tx1"/>
                </a:solidFill>
              </a:rPr>
              <a:t>0, 1, 2, 3, 4, 5</a:t>
            </a:r>
            <a:endParaRPr lang="en-US" sz="1800" dirty="0"/>
          </a:p>
        </p:txBody>
      </p:sp>
      <p:sp>
        <p:nvSpPr>
          <p:cNvPr id="11" name="Linie"/>
          <p:cNvSpPr/>
          <p:nvPr/>
        </p:nvSpPr>
        <p:spPr>
          <a:xfrm>
            <a:off x="8787384" y="1892808"/>
            <a:ext cx="301752" cy="91"/>
          </a:xfrm>
          <a:prstGeom prst="line">
            <a:avLst/>
          </a:prstGeom>
          <a:noFill/>
          <a:ln w="31750">
            <a:solidFill>
              <a:schemeClr val="accent2"/>
            </a:solidFill>
            <a:prstDash val="solid"/>
            <a:tailEnd type="triangle"/>
          </a:ln>
        </p:spPr>
      </p:sp>
      <p:sp>
        <p:nvSpPr>
          <p:cNvPr id="12" name="Stufe 4"/>
          <p:cNvSpPr/>
          <p:nvPr/>
        </p:nvSpPr>
        <p:spPr>
          <a:xfrm>
            <a:off x="9134856" y="1325880"/>
            <a:ext cx="2468880" cy="1143000"/>
          </a:xfrm>
          <a:prstGeom prst="roundRect">
            <a:avLst>
              <a:gd name="adj" fmla="val 9600"/>
            </a:avLst>
          </a:prstGeom>
          <a:solidFill>
            <a:schemeClr val="accent1"/>
          </a:solidFill>
          <a:ln/>
          <a:effectLst>
            <a:outerShdw sx="100000" sy="100000" kx="0" ky="0" algn="bl" rotWithShape="0" blurRad="76200" dist="25400" dir="5400000">
              <a:srgbClr val="000000">
                <a:alpha val="18000"/>
              </a:srgbClr>
            </a:outerShdw>
          </a:effectLst>
        </p:spPr>
      </p:sp>
      <p:sp>
        <p:nvSpPr>
          <p:cNvPr id="13" name="Text 11"/>
          <p:cNvSpPr txBox="1"/>
          <p:nvPr/>
        </p:nvSpPr>
        <p:spPr>
          <a:xfrm>
            <a:off x="9226296" y="1325880"/>
            <a:ext cx="2286000" cy="1143000"/>
          </a:xfrm>
          <a:prstGeom prst="rect">
            <a:avLst/>
          </a:prstGeom>
          <a:noFill/>
          <a:ln/>
        </p:spPr>
        <p:txBody>
          <a:bodyPr wrap="square" lIns="0" tIns="0" rIns="0" bIns="0" rtlCol="0" anchor="ctr"/>
          <a:lstStyle/>
          <a:p>
            <a:pPr algn="ctr" indent="0" marL="0">
              <a:buNone/>
            </a:pPr>
            <a:r>
              <a:rPr lang="en-US" sz="1700" b="1" dirty="0">
                <a:solidFill>
                  <a:schemeClr val="accent2"/>
                </a:solidFill>
                <a:latin typeface="Consolas" pitchFamily="34" charset="0"/>
                <a:ea typeface="Consolas" pitchFamily="34" charset="-122"/>
                <a:cs typeface="Consolas" pitchFamily="34" charset="-120"/>
              </a:rPr>
              <a:t>+ 1</a:t>
            </a:r>
            <a:endParaRPr lang="en-US" sz="1800" dirty="0"/>
          </a:p>
          <a:p>
            <a:pPr algn="ctr" indent="0" marL="0">
              <a:buNone/>
            </a:pPr>
            <a:r>
              <a:rPr lang="en-US" sz="1600" dirty="0">
                <a:solidFill>
                  <a:schemeClr val="bg1"/>
                </a:solidFill>
              </a:rPr>
              <a:t>1, 2, 3, 4, 5, 6</a:t>
            </a:r>
            <a:endParaRPr lang="en-US" sz="1800" dirty="0"/>
          </a:p>
        </p:txBody>
      </p:sp>
      <p:sp>
        <p:nvSpPr>
          <p:cNvPr id="14" name="Code"/>
          <p:cNvSpPr txBox="1"/>
          <p:nvPr/>
        </p:nvSpPr>
        <p:spPr>
          <a:xfrm>
            <a:off x="548640" y="2697480"/>
            <a:ext cx="6400800" cy="5430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int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wurf</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int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Math</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random</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6) + 1;</a:t>
            </a:r>
            <a:endParaRPr lang="en-US" sz="1500" dirty="0"/>
          </a:p>
        </p:txBody>
      </p:sp>
      <p:sp>
        <p:nvSpPr>
          <p:cNvPr id="15" name="Text 13"/>
          <p:cNvSpPr txBox="1"/>
          <p:nvPr/>
        </p:nvSpPr>
        <p:spPr>
          <a:xfrm>
            <a:off x="548640" y="3337560"/>
            <a:ext cx="6400800" cy="292608"/>
          </a:xfrm>
          <a:prstGeom prst="rect">
            <a:avLst/>
          </a:prstGeom>
          <a:noFill/>
          <a:ln/>
        </p:spPr>
        <p:txBody>
          <a:bodyPr wrap="square" lIns="0" tIns="0" rIns="0" bIns="0" rtlCol="0" anchor="t"/>
          <a:lstStyle/>
          <a:p>
            <a:pPr indent="0" marL="0">
              <a:buNone/>
            </a:pPr>
            <a:r>
              <a:rPr lang="en-US" sz="1500" b="1" dirty="0">
                <a:solidFill>
                  <a:schemeClr val="accent1"/>
                </a:solidFill>
              </a:rPr>
              <a:t>allgemein für von … bis (beide inklusive):</a:t>
            </a:r>
            <a:endParaRPr lang="en-US" sz="1500" dirty="0"/>
          </a:p>
        </p:txBody>
      </p:sp>
      <p:sp>
        <p:nvSpPr>
          <p:cNvPr id="16" name="Code"/>
          <p:cNvSpPr txBox="1"/>
          <p:nvPr/>
        </p:nvSpPr>
        <p:spPr>
          <a:xfrm>
            <a:off x="548640" y="3657600"/>
            <a:ext cx="6400800" cy="5430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int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Math</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random</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bis</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von</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+ 1)) +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von</a:t>
            </a:r>
            <a:endParaRPr lang="en-US" sz="1500" dirty="0"/>
          </a:p>
        </p:txBody>
      </p:sp>
      <p:sp>
        <p:nvSpPr>
          <p:cNvPr id="17" name="Text 15"/>
          <p:cNvSpPr txBox="1"/>
          <p:nvPr/>
        </p:nvSpPr>
        <p:spPr>
          <a:xfrm>
            <a:off x="548640" y="4187952"/>
            <a:ext cx="6400800" cy="274320"/>
          </a:xfrm>
          <a:prstGeom prst="rect">
            <a:avLst/>
          </a:prstGeom>
          <a:noFill/>
          <a:ln/>
        </p:spPr>
        <p:txBody>
          <a:bodyPr wrap="square" lIns="0" tIns="0" rIns="0" bIns="0" rtlCol="0" anchor="t"/>
          <a:lstStyle/>
          <a:p>
            <a:pPr indent="0" marL="0">
              <a:buNone/>
            </a:pPr>
            <a:r>
              <a:rPr lang="en-US" sz="1400" i="1" dirty="0">
                <a:solidFill>
                  <a:schemeClr val="accent6"/>
                </a:solidFill>
              </a:rPr>
              <a:t>bis − von + 1 = Anzahl möglicher Werte</a:t>
            </a:r>
            <a:endParaRPr lang="en-US" sz="1400" dirty="0"/>
          </a:p>
        </p:txBody>
      </p:sp>
      <p:sp>
        <p:nvSpPr>
          <p:cNvPr id="18" name="Falle Zufall"/>
          <p:cNvSpPr/>
          <p:nvPr/>
        </p:nvSpPr>
        <p:spPr>
          <a:xfrm>
            <a:off x="548640" y="4709160"/>
            <a:ext cx="6400800" cy="1417320"/>
          </a:xfrm>
          <a:prstGeom prst="roundRect">
            <a:avLst>
              <a:gd name="adj" fmla="val 7742"/>
            </a:avLst>
          </a:prstGeom>
          <a:solidFill>
            <a:schemeClr val="bg1"/>
          </a:solidFill>
          <a:ln w="25400">
            <a:solidFill>
              <a:schemeClr val="accent4"/>
            </a:solidFill>
            <a:prstDash val="solid"/>
          </a:ln>
        </p:spPr>
      </p:sp>
      <p:sp>
        <p:nvSpPr>
          <p:cNvPr id="19" name="Text 17"/>
          <p:cNvSpPr txBox="1"/>
          <p:nvPr/>
        </p:nvSpPr>
        <p:spPr>
          <a:xfrm>
            <a:off x="749808" y="4709160"/>
            <a:ext cx="6035040" cy="1417320"/>
          </a:xfrm>
          <a:prstGeom prst="rect">
            <a:avLst/>
          </a:prstGeom>
          <a:noFill/>
          <a:ln/>
        </p:spPr>
        <p:txBody>
          <a:bodyPr wrap="square" lIns="0" tIns="0" rIns="0" bIns="0" rtlCol="0" anchor="ctr"/>
          <a:lstStyle/>
          <a:p>
            <a:pPr indent="0" marL="0">
              <a:buNone/>
            </a:pPr>
            <a:r>
              <a:rPr lang="en-US" sz="1600" b="1" dirty="0">
                <a:solidFill>
                  <a:schemeClr val="accent4"/>
                </a:solidFill>
              </a:rPr>
              <a:t>Falle: </a:t>
            </a:r>
            <a:pPr indent="0" marL="0">
              <a:buNone/>
            </a:pPr>
            <a:r>
              <a:rPr lang="en-US" sz="1500" b="1" dirty="0">
                <a:solidFill>
                  <a:schemeClr val="tx1"/>
                </a:solidFill>
                <a:latin typeface="Consolas" pitchFamily="34" charset="0"/>
                <a:ea typeface="Consolas" pitchFamily="34" charset="-122"/>
                <a:cs typeface="Consolas" pitchFamily="34" charset="-120"/>
              </a:rPr>
              <a:t>(int) Math.random() * 6</a:t>
            </a:r>
            <a:pPr indent="0" marL="0">
              <a:buNone/>
            </a:pPr>
            <a:r>
              <a:rPr lang="en-US" sz="1600" dirty="0">
                <a:solidFill>
                  <a:schemeClr val="tx1"/>
                </a:solidFill>
              </a:rPr>
              <a:t> castet zuerst – aus 0.xx wird 0, das Ergebnis ist immer 0. Klammern setzen!</a:t>
            </a:r>
            <a:endParaRPr lang="en-US" sz="1600" dirty="0"/>
          </a:p>
        </p:txBody>
      </p:sp>
      <p:sp>
        <p:nvSpPr>
          <p:cNvPr id="20" name="Text 18"/>
          <p:cNvSpPr txBox="1"/>
          <p:nvPr/>
        </p:nvSpPr>
        <p:spPr>
          <a:xfrm>
            <a:off x="7315200" y="2697480"/>
            <a:ext cx="4297680" cy="347472"/>
          </a:xfrm>
          <a:prstGeom prst="rect">
            <a:avLst/>
          </a:prstGeom>
          <a:noFill/>
          <a:ln/>
        </p:spPr>
        <p:txBody>
          <a:bodyPr wrap="square" lIns="0" tIns="0" rIns="0" bIns="0" rtlCol="0" anchor="t"/>
          <a:lstStyle/>
          <a:p>
            <a:pPr indent="0" marL="0">
              <a:buNone/>
            </a:pPr>
            <a:r>
              <a:rPr lang="en-US" sz="1800" b="1" dirty="0">
                <a:solidFill>
                  <a:schemeClr val="accent1"/>
                </a:solidFill>
              </a:rPr>
              <a:t>Ganzzahlig runden (wert ≥ 0)</a:t>
            </a:r>
            <a:endParaRPr lang="en-US" sz="1800" dirty="0"/>
          </a:p>
        </p:txBody>
      </p:sp>
      <p:sp>
        <p:nvSpPr>
          <p:cNvPr id="21" name="Code"/>
          <p:cNvSpPr txBox="1"/>
          <p:nvPr/>
        </p:nvSpPr>
        <p:spPr>
          <a:xfrm>
            <a:off x="7315200" y="3108960"/>
            <a:ext cx="4297680" cy="5430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int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r</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int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wert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+ 0.5);</a:t>
            </a:r>
            <a:endParaRPr lang="en-US" sz="1500" dirty="0"/>
          </a:p>
        </p:txBody>
      </p:sp>
      <p:graphicFrame>
        <p:nvGraphicFramePr>
          <p:cNvPr id="7" name="Runden"/>
          <p:cNvGraphicFramePr>
            <a:graphicFrameLocks noGrp="1"/>
          </p:cNvGraphicFramePr>
          <p:nvPr>
            <p:extLst>
              <p:ext uri="{D42A27DB-BD31-4B8C-83A1-F6EECF244321}">
                <p14:modId xmlns:p14="http://schemas.microsoft.com/office/powerpoint/2010/main" val="1579011935"/>
              </p:ext>
            </p:extLst>
          </p:nvPr>
        </p:nvGraphicFramePr>
        <p:xfrm>
          <a:off x="7315200" y="3749040"/>
          <a:ext cx="4297680" cy="914400"/>
        </p:xfrm>
        <a:graphic>
          <a:graphicData uri="http://schemas.openxmlformats.org/drawingml/2006/table">
            <a:tbl>
              <a:tblPr/>
              <a:tblGrid>
                <a:gridCol w="1280160"/>
                <a:gridCol w="1645920"/>
                <a:gridCol w="1371600"/>
              </a:tblGrid>
              <a:tr h="365760">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wert</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wert + 0.5</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(int)</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365760">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2.4</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2.9</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1"/>
                          </a:solidFill>
                          <a:latin typeface="Consolas" pitchFamily="34" charset="0"/>
                          <a:ea typeface="Consolas" pitchFamily="34" charset="-122"/>
                          <a:cs typeface="Consolas" pitchFamily="34" charset="-120"/>
                        </a:rPr>
                        <a:t>2</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65760">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2.5</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3.0</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1"/>
                          </a:solidFill>
                          <a:latin typeface="Consolas" pitchFamily="34" charset="0"/>
                          <a:ea typeface="Consolas" pitchFamily="34" charset="-122"/>
                          <a:cs typeface="Consolas" pitchFamily="34" charset="-120"/>
                        </a:rPr>
                        <a:t>3</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65760">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2.9</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3.4</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1"/>
                          </a:solidFill>
                          <a:latin typeface="Consolas" pitchFamily="34" charset="0"/>
                          <a:ea typeface="Consolas" pitchFamily="34" charset="-122"/>
                          <a:cs typeface="Consolas" pitchFamily="34" charset="-120"/>
                        </a:rPr>
                        <a:t>3</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23" name="EH Hinweis"/>
          <p:cNvSpPr/>
          <p:nvPr/>
        </p:nvSpPr>
        <p:spPr>
          <a:xfrm>
            <a:off x="7315200" y="5349240"/>
            <a:ext cx="4297680" cy="777240"/>
          </a:xfrm>
          <a:prstGeom prst="roundRect">
            <a:avLst>
              <a:gd name="adj" fmla="val 14118"/>
            </a:avLst>
          </a:prstGeom>
          <a:solidFill>
            <a:schemeClr val="bg2"/>
          </a:solidFill>
          <a:ln/>
        </p:spPr>
      </p:sp>
      <p:sp>
        <p:nvSpPr>
          <p:cNvPr id="24" name="Text 21"/>
          <p:cNvSpPr txBox="1"/>
          <p:nvPr/>
        </p:nvSpPr>
        <p:spPr>
          <a:xfrm>
            <a:off x="7498080" y="5349240"/>
            <a:ext cx="4023360" cy="777240"/>
          </a:xfrm>
          <a:prstGeom prst="rect">
            <a:avLst/>
          </a:prstGeom>
          <a:noFill/>
          <a:ln/>
        </p:spPr>
        <p:txBody>
          <a:bodyPr wrap="square" lIns="0" tIns="0" rIns="0" bIns="0" rtlCol="0" anchor="ctr"/>
          <a:lstStyle/>
          <a:p>
            <a:pPr indent="0" marL="0">
              <a:buNone/>
            </a:pPr>
            <a:r>
              <a:rPr lang="en-US" sz="1600" b="1" dirty="0">
                <a:solidFill>
                  <a:schemeClr val="accent1"/>
                </a:solidFill>
              </a:rPr>
              <a:t>EH 2025: </a:t>
            </a:r>
            <a:pPr indent="0" marL="0">
              <a:buNone/>
            </a:pPr>
            <a:r>
              <a:rPr lang="en-US" sz="1600" dirty="0">
                <a:solidFill>
                  <a:schemeClr val="tx1"/>
                </a:solidFill>
              </a:rPr>
              <a:t>beides gehört zum Abi-Handwerk – ohne </a:t>
            </a:r>
            <a:pPr indent="0" marL="0">
              <a:buNone/>
            </a:pPr>
            <a:r>
              <a:rPr lang="en-US" sz="1500" b="1" dirty="0">
                <a:solidFill>
                  <a:schemeClr val="tx1"/>
                </a:solidFill>
                <a:latin typeface="Consolas" pitchFamily="34" charset="0"/>
                <a:ea typeface="Consolas" pitchFamily="34" charset="-122"/>
                <a:cs typeface="Consolas" pitchFamily="34" charset="-120"/>
              </a:rPr>
              <a:t>Math.round</a:t>
            </a:r>
            <a:pPr indent="0" marL="0">
              <a:buNone/>
            </a:pPr>
            <a:r>
              <a:rPr lang="en-US" sz="1600" dirty="0">
                <a:solidFill>
                  <a:schemeClr val="tx1"/>
                </a:solidFill>
              </a:rPr>
              <a:t>.</a:t>
            </a:r>
            <a:endParaRPr lang="en-US" sz="1600" dirty="0"/>
          </a:p>
        </p:txBody>
      </p:sp>
      <p:sp>
        <p:nvSpPr>
          <p:cNvPr id="25" name="Text 22"/>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2 · Werkstatt</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Verzweigung: if, else if, else</a:t>
            </a:r>
            <a:endParaRPr lang="en-US" sz="3600" dirty="0"/>
          </a:p>
        </p:txBody>
      </p:sp>
      <p:sp>
        <p:nvSpPr>
          <p:cNvPr id="3" name="Code"/>
          <p:cNvSpPr txBox="1"/>
          <p:nvPr/>
        </p:nvSpPr>
        <p:spPr>
          <a:xfrm>
            <a:off x="548640" y="1325880"/>
            <a:ext cx="4937760" cy="24353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2100"/>
              </a:lnSpc>
              <a:buNone/>
            </a:pPr>
            <a:r>
              <a:rPr lang="en-US" sz="1700" b="1" dirty="0">
                <a:solidFill>
                  <a:schemeClr val="accent1"/>
                </a:solidFill>
                <a:latin typeface="Consolas" pitchFamily="34" charset="0"/>
                <a:ea typeface="Consolas" pitchFamily="34" charset="-122"/>
                <a:cs typeface="Consolas" pitchFamily="34" charset="-120"/>
              </a:rPr>
              <a:t>String</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 </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rang</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a:t>
            </a:r>
            <a:endParaRPr lang="en-US" sz="1700" dirty="0"/>
          </a:p>
          <a:p>
            <a:pPr algn="l" indent="0" marL="0">
              <a:lnSpc>
                <a:spcPts val="2100"/>
              </a:lnSpc>
              <a:buNone/>
            </a:pPr>
            <a:r>
              <a:rPr lang="en-US" sz="1700" b="1" dirty="0">
                <a:solidFill>
                  <a:schemeClr val="accent1"/>
                </a:solidFill>
                <a:latin typeface="Consolas" pitchFamily="34" charset="0"/>
                <a:ea typeface="Consolas" pitchFamily="34" charset="-122"/>
                <a:cs typeface="Consolas" pitchFamily="34" charset="-120"/>
              </a:rPr>
              <a:t>if</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 (</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xp</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 &lt; 100) {</a:t>
            </a:r>
            <a:endParaRPr lang="en-US" sz="1700" dirty="0"/>
          </a:p>
          <a:p>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    </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rang</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 = </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"Novize"</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a:t>
            </a:r>
            <a:endParaRPr lang="en-US" sz="1700" dirty="0"/>
          </a:p>
          <a:p>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 </a:t>
            </a:r>
            <a:pPr algn="l" indent="0" marL="0">
              <a:lnSpc>
                <a:spcPts val="2100"/>
              </a:lnSpc>
              <a:buNone/>
            </a:pPr>
            <a:r>
              <a:rPr lang="en-US" sz="1700" b="1" dirty="0">
                <a:solidFill>
                  <a:schemeClr val="accent1"/>
                </a:solidFill>
                <a:latin typeface="Consolas" pitchFamily="34" charset="0"/>
                <a:ea typeface="Consolas" pitchFamily="34" charset="-122"/>
                <a:cs typeface="Consolas" pitchFamily="34" charset="-120"/>
              </a:rPr>
              <a:t>else</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 </a:t>
            </a:r>
            <a:pPr algn="l" indent="0" marL="0">
              <a:lnSpc>
                <a:spcPts val="2100"/>
              </a:lnSpc>
              <a:buNone/>
            </a:pPr>
            <a:r>
              <a:rPr lang="en-US" sz="1700" b="1" dirty="0">
                <a:solidFill>
                  <a:schemeClr val="accent1"/>
                </a:solidFill>
                <a:latin typeface="Consolas" pitchFamily="34" charset="0"/>
                <a:ea typeface="Consolas" pitchFamily="34" charset="-122"/>
                <a:cs typeface="Consolas" pitchFamily="34" charset="-120"/>
              </a:rPr>
              <a:t>if</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 (</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xp</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 &lt; 300) {</a:t>
            </a:r>
            <a:endParaRPr lang="en-US" sz="1700" dirty="0"/>
          </a:p>
          <a:p>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    </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rang</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 = </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"Lehrling"</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a:t>
            </a:r>
            <a:endParaRPr lang="en-US" sz="1700" dirty="0"/>
          </a:p>
          <a:p>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 </a:t>
            </a:r>
            <a:pPr algn="l" indent="0" marL="0">
              <a:lnSpc>
                <a:spcPts val="2100"/>
              </a:lnSpc>
              <a:buNone/>
            </a:pPr>
            <a:r>
              <a:rPr lang="en-US" sz="1700" b="1" dirty="0">
                <a:solidFill>
                  <a:schemeClr val="accent1"/>
                </a:solidFill>
                <a:latin typeface="Consolas" pitchFamily="34" charset="0"/>
                <a:ea typeface="Consolas" pitchFamily="34" charset="-122"/>
                <a:cs typeface="Consolas" pitchFamily="34" charset="-120"/>
              </a:rPr>
              <a:t>else</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 {</a:t>
            </a:r>
            <a:endParaRPr lang="en-US" sz="1700" dirty="0"/>
          </a:p>
          <a:p>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    </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rang</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 = </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"Geselle"</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a:t>
            </a:r>
            <a:endParaRPr lang="en-US" sz="1700" dirty="0"/>
          </a:p>
          <a:p>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a:t>
            </a:r>
            <a:endParaRPr lang="en-US" sz="1700" dirty="0"/>
          </a:p>
        </p:txBody>
      </p:sp>
      <p:pic>
        <p:nvPicPr>
          <p:cNvPr id="4" name="Struktogramm sg_rang" descr="Struktogramm sg_rang">    </p:cNvPr>
          <p:cNvPicPr>
            <a:picLocks noChangeAspect="1"/>
          </p:cNvPicPr>
          <p:nvPr/>
        </p:nvPicPr>
        <p:blipFill>
          <a:blip r:embed="rId1"/>
          <a:stretch>
            <a:fillRect/>
          </a:stretch>
        </p:blipFill>
        <p:spPr>
          <a:xfrm>
            <a:off x="5943600" y="1325880"/>
            <a:ext cx="5669280" cy="1917023"/>
          </a:xfrm>
          <a:prstGeom prst="rect">
            <a:avLst/>
          </a:prstGeom>
        </p:spPr>
      </p:pic>
      <p:sp>
        <p:nvSpPr>
          <p:cNvPr id="5" name="Text 2"/>
          <p:cNvSpPr txBox="1"/>
          <p:nvPr/>
        </p:nvSpPr>
        <p:spPr>
          <a:xfrm>
            <a:off x="5943600" y="3316055"/>
            <a:ext cx="5669280" cy="292608"/>
          </a:xfrm>
          <a:prstGeom prst="rect">
            <a:avLst/>
          </a:prstGeom>
          <a:noFill/>
          <a:ln/>
        </p:spPr>
        <p:txBody>
          <a:bodyPr wrap="square" lIns="0" tIns="0" rIns="0" bIns="0" rtlCol="0" anchor="t"/>
          <a:lstStyle/>
          <a:p>
            <a:pPr indent="0" marL="0">
              <a:buNone/>
            </a:pPr>
            <a:r>
              <a:rPr lang="en-US" sz="1400" i="1" dirty="0">
                <a:solidFill>
                  <a:schemeClr val="accent6"/>
                </a:solidFill>
              </a:rPr>
              <a:t>else if = neue Verzweigung im falsch-Zweig</a:t>
            </a:r>
            <a:endParaRPr lang="en-US" sz="1400" dirty="0"/>
          </a:p>
        </p:txBody>
      </p:sp>
      <p:graphicFrame>
        <p:nvGraphicFramePr>
          <p:cNvPr id="8" name="Grenzfaelle"/>
          <p:cNvGraphicFramePr>
            <a:graphicFrameLocks noGrp="1"/>
          </p:cNvGraphicFramePr>
          <p:nvPr>
            <p:extLst>
              <p:ext uri="{D42A27DB-BD31-4B8C-83A1-F6EECF244321}">
                <p14:modId xmlns:p14="http://schemas.microsoft.com/office/powerpoint/2010/main" val="1579011935"/>
              </p:ext>
            </p:extLst>
          </p:nvPr>
        </p:nvGraphicFramePr>
        <p:xfrm>
          <a:off x="5943600" y="3794760"/>
          <a:ext cx="2651760" cy="914400"/>
        </p:xfrm>
        <a:graphic>
          <a:graphicData uri="http://schemas.openxmlformats.org/drawingml/2006/table">
            <a:tbl>
              <a:tblPr/>
              <a:tblGrid>
                <a:gridCol w="1005840"/>
                <a:gridCol w="1645920"/>
              </a:tblGrid>
              <a:tr h="365760">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xp</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rang</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365760">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99</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Novize</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65760">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100</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Lehrling</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65760">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299</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Lehrling</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65760">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300</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Geselle</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7" name="Grenzen"/>
          <p:cNvSpPr/>
          <p:nvPr/>
        </p:nvSpPr>
        <p:spPr>
          <a:xfrm>
            <a:off x="8869680" y="3794760"/>
            <a:ext cx="2743200" cy="1828800"/>
          </a:xfrm>
          <a:prstGeom prst="roundRect">
            <a:avLst>
              <a:gd name="adj" fmla="val 6000"/>
            </a:avLst>
          </a:prstGeom>
          <a:solidFill>
            <a:schemeClr val="bg1"/>
          </a:solidFill>
          <a:ln w="25400">
            <a:solidFill>
              <a:schemeClr val="accent4"/>
            </a:solidFill>
            <a:prstDash val="solid"/>
          </a:ln>
        </p:spPr>
      </p:sp>
      <p:sp>
        <p:nvSpPr>
          <p:cNvPr id="8" name="Text 4"/>
          <p:cNvSpPr txBox="1"/>
          <p:nvPr/>
        </p:nvSpPr>
        <p:spPr>
          <a:xfrm>
            <a:off x="9070848" y="3794760"/>
            <a:ext cx="2377440" cy="1828800"/>
          </a:xfrm>
          <a:prstGeom prst="rect">
            <a:avLst/>
          </a:prstGeom>
          <a:noFill/>
          <a:ln/>
        </p:spPr>
        <p:txBody>
          <a:bodyPr wrap="square" lIns="0" tIns="0" rIns="0" bIns="0" rtlCol="0" anchor="ctr"/>
          <a:lstStyle/>
          <a:p>
            <a:pPr indent="0" marL="0">
              <a:buNone/>
            </a:pPr>
            <a:r>
              <a:rPr lang="en-US" sz="1600" b="1" dirty="0">
                <a:solidFill>
                  <a:schemeClr val="accent4"/>
                </a:solidFill>
              </a:rPr>
              <a:t>Grenzen testen: </a:t>
            </a:r>
            <a:pPr indent="0" marL="0">
              <a:buNone/>
            </a:pPr>
            <a:r>
              <a:rPr lang="en-US" sz="1600" dirty="0">
                <a:solidFill>
                  <a:schemeClr val="tx1"/>
                </a:solidFill>
              </a:rPr>
              <a:t>immer den Wert direkt davor und genau auf der Grenze.</a:t>
            </a:r>
            <a:endParaRPr lang="en-US" sz="1600" dirty="0"/>
          </a:p>
        </p:txBody>
      </p:sp>
      <p:sp>
        <p:nvSpPr>
          <p:cNvPr id="9" name="Verknuepfen"/>
          <p:cNvSpPr/>
          <p:nvPr/>
        </p:nvSpPr>
        <p:spPr>
          <a:xfrm>
            <a:off x="548640" y="4160520"/>
            <a:ext cx="4937760" cy="1965960"/>
          </a:xfrm>
          <a:prstGeom prst="roundRect">
            <a:avLst>
              <a:gd name="adj" fmla="val 5581"/>
            </a:avLst>
          </a:prstGeom>
          <a:solidFill>
            <a:schemeClr val="bg2"/>
          </a:solidFill>
          <a:ln/>
        </p:spPr>
      </p:sp>
      <p:sp>
        <p:nvSpPr>
          <p:cNvPr id="10" name="Text 6"/>
          <p:cNvSpPr txBox="1"/>
          <p:nvPr/>
        </p:nvSpPr>
        <p:spPr>
          <a:xfrm>
            <a:off x="749808" y="4160520"/>
            <a:ext cx="4572000" cy="1965960"/>
          </a:xfrm>
          <a:prstGeom prst="rect">
            <a:avLst/>
          </a:prstGeom>
          <a:noFill/>
          <a:ln/>
        </p:spPr>
        <p:txBody>
          <a:bodyPr wrap="square" lIns="0" tIns="0" rIns="0" bIns="0" rtlCol="0" anchor="ctr"/>
          <a:lstStyle/>
          <a:p>
            <a:pPr indent="0" marL="0">
              <a:buNone/>
            </a:pPr>
            <a:r>
              <a:rPr lang="en-US" sz="1600" b="1" dirty="0">
                <a:solidFill>
                  <a:schemeClr val="accent1"/>
                </a:solidFill>
              </a:rPr>
              <a:t>Bedingungen verknüpfen</a:t>
            </a:r>
            <a:endParaRPr lang="en-US" sz="1600" dirty="0"/>
          </a:p>
          <a:p>
            <a:pPr indent="0" marL="0">
              <a:buNone/>
            </a:pPr>
            <a:r>
              <a:rPr lang="en-US" sz="1500" b="1" dirty="0">
                <a:solidFill>
                  <a:schemeClr val="tx1"/>
                </a:solidFill>
                <a:latin typeface="Consolas" pitchFamily="34" charset="0"/>
                <a:ea typeface="Consolas" pitchFamily="34" charset="-122"/>
                <a:cs typeface="Consolas" pitchFamily="34" charset="-120"/>
              </a:rPr>
              <a:t>xp &gt;= 100 &amp;&amp; xp &lt; 300</a:t>
            </a:r>
            <a:endParaRPr lang="en-US" sz="1600" dirty="0"/>
          </a:p>
          <a:p>
            <a:pPr indent="0" marL="0">
              <a:buNone/>
            </a:pPr>
            <a:r>
              <a:rPr lang="en-US" sz="1600" dirty="0">
                <a:solidFill>
                  <a:schemeClr val="tx1"/>
                </a:solidFill>
              </a:rPr>
              <a:t>Struktogramm: xp ≥ 100 und xp &lt; 300</a:t>
            </a:r>
            <a:endParaRPr lang="en-US" sz="1600" dirty="0"/>
          </a:p>
          <a:p>
            <a:pPr indent="0" marL="0">
              <a:buNone/>
            </a:pPr>
            <a:r>
              <a:rPr lang="en-US" sz="1600" dirty="0">
                <a:solidFill>
                  <a:schemeClr val="accent6"/>
                </a:solidFill>
              </a:rPr>
              <a:t>Reihenfolge zählt: Die erste wahre Bedingung gewinnt.</a:t>
            </a:r>
            <a:endParaRPr lang="en-US" sz="1600" dirty="0"/>
          </a:p>
        </p:txBody>
      </p:sp>
      <p:sp>
        <p:nvSpPr>
          <p:cNvPr id="11" name="Text 7"/>
          <p:cNvSpPr txBox="1"/>
          <p:nvPr/>
        </p:nvSpPr>
        <p:spPr>
          <a:xfrm>
            <a:off x="5943600" y="5715000"/>
            <a:ext cx="2651760" cy="274320"/>
          </a:xfrm>
          <a:prstGeom prst="rect">
            <a:avLst/>
          </a:prstGeom>
          <a:noFill/>
          <a:ln/>
        </p:spPr>
        <p:txBody>
          <a:bodyPr wrap="square" lIns="0" tIns="0" rIns="0" bIns="0" rtlCol="0" anchor="t"/>
          <a:lstStyle/>
          <a:p>
            <a:pPr indent="0" marL="0">
              <a:buNone/>
            </a:pPr>
            <a:r>
              <a:rPr lang="en-US" sz="1300" i="1" dirty="0">
                <a:solidFill>
                  <a:schemeClr val="accent6"/>
                </a:solidFill>
              </a:rPr>
              <a:t>Werte mit javac geprüft</a:t>
            </a:r>
            <a:endParaRPr lang="en-US" sz="1300" dirty="0"/>
          </a:p>
        </p:txBody>
      </p:sp>
      <p:sp>
        <p:nvSpPr>
          <p:cNvPr id="12" name="Text 8"/>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2 · Werkstatt</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Schleifen: for, while und do-while</a:t>
            </a:r>
            <a:endParaRPr lang="en-US" sz="3600" dirty="0"/>
          </a:p>
        </p:txBody>
      </p:sp>
      <p:sp>
        <p:nvSpPr>
          <p:cNvPr id="3" name="Text 1"/>
          <p:cNvSpPr txBox="1"/>
          <p:nvPr/>
        </p:nvSpPr>
        <p:spPr>
          <a:xfrm>
            <a:off x="548640" y="1280160"/>
            <a:ext cx="3429000" cy="685800"/>
          </a:xfrm>
          <a:prstGeom prst="rect">
            <a:avLst/>
          </a:prstGeom>
          <a:noFill/>
          <a:ln/>
        </p:spPr>
        <p:txBody>
          <a:bodyPr wrap="square" lIns="0" tIns="0" rIns="0" bIns="0" rtlCol="0" anchor="t"/>
          <a:lstStyle/>
          <a:p>
            <a:pPr indent="0" marL="0">
              <a:buNone/>
            </a:pPr>
            <a:r>
              <a:rPr lang="en-US" sz="2000" b="1" dirty="0">
                <a:solidFill>
                  <a:schemeClr val="accent1"/>
                </a:solidFill>
                <a:latin typeface="Consolas" pitchFamily="34" charset="0"/>
                <a:ea typeface="Consolas" pitchFamily="34" charset="-122"/>
                <a:cs typeface="Consolas" pitchFamily="34" charset="-120"/>
              </a:rPr>
              <a:t>for</a:t>
            </a:r>
            <a:endParaRPr lang="en-US" sz="1800" dirty="0"/>
          </a:p>
          <a:p>
            <a:pPr indent="0" marL="0">
              <a:buNone/>
            </a:pPr>
            <a:r>
              <a:rPr lang="en-US" sz="1500" dirty="0">
                <a:solidFill>
                  <a:schemeClr val="accent6"/>
                </a:solidFill>
              </a:rPr>
              <a:t>Zählschleife: Anzahl bekannt</a:t>
            </a:r>
            <a:endParaRPr lang="en-US" sz="1800" dirty="0"/>
          </a:p>
        </p:txBody>
      </p:sp>
      <p:sp>
        <p:nvSpPr>
          <p:cNvPr id="4" name="Code"/>
          <p:cNvSpPr txBox="1"/>
          <p:nvPr/>
        </p:nvSpPr>
        <p:spPr>
          <a:xfrm>
            <a:off x="548640" y="2011680"/>
            <a:ext cx="3429000" cy="11145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summe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0;</a:t>
            </a:r>
            <a:endParaRPr lang="en-US" sz="1300" dirty="0"/>
          </a:p>
          <a:p>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for</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1;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&lt;=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summe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summe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p:txBody>
      </p:sp>
      <p:pic>
        <p:nvPicPr>
          <p:cNvPr id="5" name="Struktogramm sg_for" descr="Struktogramm sg_for">    </p:cNvPr>
          <p:cNvPicPr>
            <a:picLocks noChangeAspect="1"/>
          </p:cNvPicPr>
          <p:nvPr/>
        </p:nvPicPr>
        <p:blipFill>
          <a:blip r:embed="rId1"/>
          <a:stretch>
            <a:fillRect/>
          </a:stretch>
        </p:blipFill>
        <p:spPr>
          <a:xfrm>
            <a:off x="548640" y="3749040"/>
            <a:ext cx="3429000" cy="1064988"/>
          </a:xfrm>
          <a:prstGeom prst="rect">
            <a:avLst/>
          </a:prstGeom>
        </p:spPr>
      </p:pic>
      <p:sp>
        <p:nvSpPr>
          <p:cNvPr id="6" name="Chip"/>
          <p:cNvSpPr txBox="1"/>
          <p:nvPr/>
        </p:nvSpPr>
        <p:spPr>
          <a:xfrm>
            <a:off x="548640" y="5669280"/>
            <a:ext cx="3429000" cy="411480"/>
          </a:xfrm>
          <a:prstGeom prst="roundRect">
            <a:avLst>
              <a:gd name="adj" fmla="val 50000"/>
            </a:avLst>
          </a:prstGeom>
          <a:solidFill>
            <a:schemeClr val="accent1"/>
          </a:solidFill>
          <a:ln/>
        </p:spPr>
        <p:txBody>
          <a:bodyPr wrap="square" lIns="0" tIns="0" rIns="0" bIns="0" rtlCol="0" anchor="ctr"/>
          <a:lstStyle/>
          <a:p>
            <a:pPr algn="ctr" indent="0" marL="0">
              <a:buNone/>
            </a:pPr>
            <a:r>
              <a:rPr lang="en-US" sz="1500" b="1" dirty="0">
                <a:solidFill>
                  <a:schemeClr val="bg1"/>
                </a:solidFill>
              </a:rPr>
              <a:t>n = 5  →  summe = 15</a:t>
            </a:r>
            <a:endParaRPr lang="en-US" sz="1500" dirty="0"/>
          </a:p>
        </p:txBody>
      </p:sp>
      <p:sp>
        <p:nvSpPr>
          <p:cNvPr id="7" name="Text 4"/>
          <p:cNvSpPr txBox="1"/>
          <p:nvPr/>
        </p:nvSpPr>
        <p:spPr>
          <a:xfrm>
            <a:off x="4251960" y="1280160"/>
            <a:ext cx="3063240" cy="685800"/>
          </a:xfrm>
          <a:prstGeom prst="rect">
            <a:avLst/>
          </a:prstGeom>
          <a:noFill/>
          <a:ln/>
        </p:spPr>
        <p:txBody>
          <a:bodyPr wrap="square" lIns="0" tIns="0" rIns="0" bIns="0" rtlCol="0" anchor="t"/>
          <a:lstStyle/>
          <a:p>
            <a:pPr indent="0" marL="0">
              <a:buNone/>
            </a:pPr>
            <a:r>
              <a:rPr lang="en-US" sz="2000" b="1" dirty="0">
                <a:solidFill>
                  <a:schemeClr val="accent1"/>
                </a:solidFill>
                <a:latin typeface="Consolas" pitchFamily="34" charset="0"/>
                <a:ea typeface="Consolas" pitchFamily="34" charset="-122"/>
                <a:cs typeface="Consolas" pitchFamily="34" charset="-120"/>
              </a:rPr>
              <a:t>while</a:t>
            </a:r>
            <a:endParaRPr lang="en-US" sz="1800" dirty="0"/>
          </a:p>
          <a:p>
            <a:pPr indent="0" marL="0">
              <a:buNone/>
            </a:pPr>
            <a:r>
              <a:rPr lang="en-US" sz="1500" dirty="0">
                <a:solidFill>
                  <a:schemeClr val="accent6"/>
                </a:solidFill>
              </a:rPr>
              <a:t>solange die Bedingung gilt</a:t>
            </a:r>
            <a:endParaRPr lang="en-US" sz="1800" dirty="0"/>
          </a:p>
        </p:txBody>
      </p:sp>
      <p:sp>
        <p:nvSpPr>
          <p:cNvPr id="8" name="Code"/>
          <p:cNvSpPr txBox="1"/>
          <p:nvPr/>
        </p:nvSpPr>
        <p:spPr>
          <a:xfrm>
            <a:off x="4251960" y="2011680"/>
            <a:ext cx="3063240" cy="15209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gold</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50;</a:t>
            </a:r>
            <a:endParaRPr lang="en-US" sz="1300" dirty="0"/>
          </a:p>
          <a:p>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traenke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0;</a:t>
            </a:r>
            <a:endParaRPr lang="en-US" sz="1300" dirty="0"/>
          </a:p>
          <a:p>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while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gold</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&gt;= 15)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gold</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gold</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- 15;</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traenke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p:txBody>
      </p:sp>
      <p:pic>
        <p:nvPicPr>
          <p:cNvPr id="9" name="Struktogramm sg_while" descr="Struktogramm sg_while">    </p:cNvPr>
          <p:cNvPicPr>
            <a:picLocks noChangeAspect="1"/>
          </p:cNvPicPr>
          <p:nvPr/>
        </p:nvPicPr>
        <p:blipFill>
          <a:blip r:embed="rId2"/>
          <a:stretch>
            <a:fillRect/>
          </a:stretch>
        </p:blipFill>
        <p:spPr>
          <a:xfrm>
            <a:off x="4251960" y="3749040"/>
            <a:ext cx="3063240" cy="1548064"/>
          </a:xfrm>
          <a:prstGeom prst="rect">
            <a:avLst/>
          </a:prstGeom>
        </p:spPr>
      </p:pic>
      <p:sp>
        <p:nvSpPr>
          <p:cNvPr id="10" name="Chip"/>
          <p:cNvSpPr txBox="1"/>
          <p:nvPr/>
        </p:nvSpPr>
        <p:spPr>
          <a:xfrm>
            <a:off x="4251960" y="5669280"/>
            <a:ext cx="3063240" cy="411480"/>
          </a:xfrm>
          <a:prstGeom prst="roundRect">
            <a:avLst>
              <a:gd name="adj" fmla="val 50000"/>
            </a:avLst>
          </a:prstGeom>
          <a:solidFill>
            <a:schemeClr val="accent1"/>
          </a:solidFill>
          <a:ln/>
        </p:spPr>
        <p:txBody>
          <a:bodyPr wrap="square" lIns="0" tIns="0" rIns="0" bIns="0" rtlCol="0" anchor="ctr"/>
          <a:lstStyle/>
          <a:p>
            <a:pPr algn="ctr" indent="0" marL="0">
              <a:buNone/>
            </a:pPr>
            <a:r>
              <a:rPr lang="en-US" sz="1500" b="1" dirty="0">
                <a:solidFill>
                  <a:schemeClr val="bg1"/>
                </a:solidFill>
              </a:rPr>
              <a:t>traenke = 3, gold = 5</a:t>
            </a:r>
            <a:endParaRPr lang="en-US" sz="1500" dirty="0"/>
          </a:p>
        </p:txBody>
      </p:sp>
      <p:sp>
        <p:nvSpPr>
          <p:cNvPr id="11" name="Text 7"/>
          <p:cNvSpPr txBox="1"/>
          <p:nvPr/>
        </p:nvSpPr>
        <p:spPr>
          <a:xfrm>
            <a:off x="7589520" y="1280160"/>
            <a:ext cx="4023360" cy="685800"/>
          </a:xfrm>
          <a:prstGeom prst="rect">
            <a:avLst/>
          </a:prstGeom>
          <a:noFill/>
          <a:ln/>
        </p:spPr>
        <p:txBody>
          <a:bodyPr wrap="square" lIns="0" tIns="0" rIns="0" bIns="0" rtlCol="0" anchor="t"/>
          <a:lstStyle/>
          <a:p>
            <a:pPr indent="0" marL="0">
              <a:buNone/>
            </a:pPr>
            <a:r>
              <a:rPr lang="en-US" sz="2000" b="1" dirty="0">
                <a:solidFill>
                  <a:schemeClr val="accent1"/>
                </a:solidFill>
                <a:latin typeface="Consolas" pitchFamily="34" charset="0"/>
                <a:ea typeface="Consolas" pitchFamily="34" charset="-122"/>
                <a:cs typeface="Consolas" pitchFamily="34" charset="-120"/>
              </a:rPr>
              <a:t>do-while</a:t>
            </a:r>
            <a:endParaRPr lang="en-US" sz="1800" dirty="0"/>
          </a:p>
          <a:p>
            <a:pPr indent="0" marL="0">
              <a:buNone/>
            </a:pPr>
            <a:r>
              <a:rPr lang="en-US" sz="1500" dirty="0">
                <a:solidFill>
                  <a:schemeClr val="accent6"/>
                </a:solidFill>
              </a:rPr>
              <a:t>Prüfung erst am Ende</a:t>
            </a:r>
            <a:endParaRPr lang="en-US" sz="1800" dirty="0"/>
          </a:p>
        </p:txBody>
      </p:sp>
      <p:sp>
        <p:nvSpPr>
          <p:cNvPr id="12" name="Code"/>
          <p:cNvSpPr txBox="1"/>
          <p:nvPr/>
        </p:nvSpPr>
        <p:spPr>
          <a:xfrm>
            <a:off x="7589520" y="2011680"/>
            <a:ext cx="4023360" cy="10637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wurf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do</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wurf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Math</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random</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()*6) + 1;</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while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wurf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6);</a:t>
            </a:r>
            <a:endParaRPr lang="en-US" sz="1200" dirty="0"/>
          </a:p>
        </p:txBody>
      </p:sp>
      <p:sp>
        <p:nvSpPr>
          <p:cNvPr id="13" name="Chip"/>
          <p:cNvSpPr txBox="1"/>
          <p:nvPr/>
        </p:nvSpPr>
        <p:spPr>
          <a:xfrm>
            <a:off x="7589520" y="5669280"/>
            <a:ext cx="4023360" cy="411480"/>
          </a:xfrm>
          <a:prstGeom prst="roundRect">
            <a:avLst>
              <a:gd name="adj" fmla="val 50000"/>
            </a:avLst>
          </a:prstGeom>
          <a:solidFill>
            <a:schemeClr val="accent1"/>
          </a:solidFill>
          <a:ln/>
        </p:spPr>
        <p:txBody>
          <a:bodyPr wrap="square" lIns="0" tIns="0" rIns="0" bIns="0" rtlCol="0" anchor="ctr"/>
          <a:lstStyle/>
          <a:p>
            <a:pPr algn="ctr" indent="0" marL="0">
              <a:buNone/>
            </a:pPr>
            <a:r>
              <a:rPr lang="en-US" sz="1500" b="1" dirty="0">
                <a:solidFill>
                  <a:schemeClr val="bg1"/>
                </a:solidFill>
              </a:rPr>
              <a:t>endet erst mit wurf = 6</a:t>
            </a:r>
            <a:endParaRPr lang="en-US" sz="1500" dirty="0"/>
          </a:p>
        </p:txBody>
      </p:sp>
      <p:sp>
        <p:nvSpPr>
          <p:cNvPr id="14" name="do-while"/>
          <p:cNvSpPr/>
          <p:nvPr/>
        </p:nvSpPr>
        <p:spPr>
          <a:xfrm>
            <a:off x="7589520" y="3749040"/>
            <a:ext cx="4023360" cy="1691640"/>
          </a:xfrm>
          <a:prstGeom prst="roundRect">
            <a:avLst>
              <a:gd name="adj" fmla="val 6486"/>
            </a:avLst>
          </a:prstGeom>
          <a:solidFill>
            <a:schemeClr val="bg2"/>
          </a:solidFill>
          <a:ln/>
        </p:spPr>
      </p:sp>
      <p:sp>
        <p:nvSpPr>
          <p:cNvPr id="15" name="Text 11"/>
          <p:cNvSpPr txBox="1"/>
          <p:nvPr/>
        </p:nvSpPr>
        <p:spPr>
          <a:xfrm>
            <a:off x="7790688" y="3749040"/>
            <a:ext cx="3657600" cy="1691640"/>
          </a:xfrm>
          <a:prstGeom prst="rect">
            <a:avLst/>
          </a:prstGeom>
          <a:noFill/>
          <a:ln/>
        </p:spPr>
        <p:txBody>
          <a:bodyPr wrap="square" lIns="0" tIns="0" rIns="0" bIns="0" rtlCol="0" anchor="ctr"/>
          <a:lstStyle/>
          <a:p>
            <a:pPr indent="0" marL="0">
              <a:buNone/>
            </a:pPr>
            <a:r>
              <a:rPr lang="en-US" sz="1500" b="1" dirty="0">
                <a:solidFill>
                  <a:schemeClr val="accent1"/>
                </a:solidFill>
              </a:rPr>
              <a:t>läuft mindestens einmal</a:t>
            </a:r>
            <a:endParaRPr lang="en-US" sz="1500" dirty="0"/>
          </a:p>
          <a:p>
            <a:pPr indent="0" marL="0">
              <a:buNone/>
            </a:pPr>
            <a:r>
              <a:rPr lang="en-US" sz="1500" dirty="0">
                <a:solidFill>
                  <a:schemeClr val="tx1"/>
                </a:solidFill>
              </a:rPr>
              <a:t>Selten nötig. Im Struktogramm nutzen wir die kopfgesteuerten Formen: „für …“, „für jedes …“, „solange …“.</a:t>
            </a:r>
            <a:endParaRPr lang="en-US" sz="1500" dirty="0"/>
          </a:p>
        </p:txBody>
      </p:sp>
      <p:sp>
        <p:nvSpPr>
          <p:cNvPr id="16" name="Text 12"/>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2 · Werkstatt</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Trace: quersumme(1234) Schritt für Schritt</a:t>
            </a:r>
            <a:endParaRPr lang="en-US" sz="3600" dirty="0"/>
          </a:p>
        </p:txBody>
      </p:sp>
      <p:sp>
        <p:nvSpPr>
          <p:cNvPr id="3" name="Code"/>
          <p:cNvSpPr txBox="1"/>
          <p:nvPr/>
        </p:nvSpPr>
        <p:spPr>
          <a:xfrm>
            <a:off x="548640" y="1325880"/>
            <a:ext cx="5303520" cy="22321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public</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static</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int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quersumme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int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n</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int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summe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0;</a:t>
            </a:r>
            <a:r>
              <a:rPr lang="en-US" sz="1100" dirty="0">
                <a:solidFill>
                  <a:srgbClr val="5F7F5F"/>
                </a:solidFill>
                <a:latin typeface="Consolas" pitchFamily="34" charset="0"/>
                <a:ea typeface="Consolas" pitchFamily="34" charset="-122"/>
                <a:cs typeface="Consolas" pitchFamily="34" charset="-120"/>
              </a:rPr>
              <a:t>   // → Tabellenzeile (Startwerte)</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while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n</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&gt; 0) {</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summe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summe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n</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10;</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n</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n</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10;</a:t>
            </a:r>
            <a:r>
              <a:rPr lang="en-US" sz="1100" dirty="0">
                <a:solidFill>
                  <a:srgbClr val="5F7F5F"/>
                </a:solidFill>
                <a:latin typeface="Consolas" pitchFamily="34" charset="0"/>
                <a:ea typeface="Consolas" pitchFamily="34" charset="-122"/>
                <a:cs typeface="Consolas" pitchFamily="34" charset="-120"/>
              </a:rPr>
              <a:t>   // → Tabellenzeile</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return</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summe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endParaRPr lang="en-US" sz="1500" dirty="0"/>
          </a:p>
        </p:txBody>
      </p:sp>
      <p:pic>
        <p:nvPicPr>
          <p:cNvPr id="4" name="Struktogramm sg_quersumme" descr="Struktogramm sg_quersumme">    </p:cNvPr>
          <p:cNvPicPr>
            <a:picLocks noChangeAspect="1"/>
          </p:cNvPicPr>
          <p:nvPr/>
        </p:nvPicPr>
        <p:blipFill>
          <a:blip r:embed="rId1"/>
          <a:stretch>
            <a:fillRect/>
          </a:stretch>
        </p:blipFill>
        <p:spPr>
          <a:xfrm>
            <a:off x="548640" y="3794760"/>
            <a:ext cx="4480560" cy="2221105"/>
          </a:xfrm>
          <a:prstGeom prst="rect">
            <a:avLst/>
          </a:prstGeom>
        </p:spPr>
      </p:pic>
      <p:graphicFrame>
        <p:nvGraphicFramePr>
          <p:cNvPr id="10" name="Tracetabelle quersumme"/>
          <p:cNvGraphicFramePr>
            <a:graphicFrameLocks noGrp="1"/>
          </p:cNvGraphicFramePr>
          <p:nvPr>
            <p:extLst>
              <p:ext uri="{D42A27DB-BD31-4B8C-83A1-F6EECF244321}">
                <p14:modId xmlns:p14="http://schemas.microsoft.com/office/powerpoint/2010/main" val="1579011935"/>
              </p:ext>
            </p:extLst>
          </p:nvPr>
        </p:nvGraphicFramePr>
        <p:xfrm>
          <a:off x="5943600" y="1371600"/>
          <a:ext cx="5669280" cy="2359152"/>
        </p:xfrm>
        <a:graphic>
          <a:graphicData uri="http://schemas.openxmlformats.org/drawingml/2006/table">
            <a:tbl>
              <a:tblPr/>
              <a:tblGrid>
                <a:gridCol w="1761330"/>
                <a:gridCol w="1265956"/>
                <a:gridCol w="1320997"/>
                <a:gridCol w="1320997"/>
              </a:tblGrid>
              <a:tr h="393192">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Durchlauf</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n % 10</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summe</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n</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393192">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vor der Schleife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0</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1234</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93192">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4</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4</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123</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93192">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3</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7</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12</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93192">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2</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9</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1</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93192">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1</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10</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0</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6" name="Ergebnis quersumme"/>
          <p:cNvSpPr/>
          <p:nvPr/>
        </p:nvSpPr>
        <p:spPr>
          <a:xfrm>
            <a:off x="5943600" y="4343400"/>
            <a:ext cx="5669280" cy="777240"/>
          </a:xfrm>
          <a:prstGeom prst="roundRect">
            <a:avLst>
              <a:gd name="adj" fmla="val 14118"/>
            </a:avLst>
          </a:prstGeom>
          <a:solidFill>
            <a:schemeClr val="accent1"/>
          </a:solidFill>
          <a:ln/>
          <a:effectLst>
            <a:outerShdw sx="100000" sy="100000" kx="0" ky="0" algn="bl" rotWithShape="0" blurRad="76200" dist="25400" dir="5400000">
              <a:srgbClr val="000000">
                <a:alpha val="18000"/>
              </a:srgbClr>
            </a:outerShdw>
          </a:effectLst>
        </p:spPr>
        <p:txBody>
          <a:bodyPr/>
          <a:p/>
        </p:txBody>
      </p:sp>
      <p:sp>
        <p:nvSpPr>
          <p:cNvPr id="7" name="Text 3"/>
          <p:cNvSpPr txBox="1"/>
          <p:nvPr/>
        </p:nvSpPr>
        <p:spPr>
          <a:xfrm>
            <a:off x="6172200" y="4343400"/>
            <a:ext cx="5303520" cy="777240"/>
          </a:xfrm>
          <a:prstGeom prst="rect">
            <a:avLst/>
          </a:prstGeom>
          <a:noFill/>
          <a:ln/>
        </p:spPr>
        <p:txBody>
          <a:bodyPr wrap="square" lIns="0" tIns="0" rIns="0" bIns="0" rtlCol="0" anchor="ctr"/>
          <a:lstStyle/>
          <a:p>
            <a:pPr indent="0" marL="0">
              <a:buNone/>
            </a:pPr>
            <a:r>
              <a:rPr lang="en-US" sz="2000" b="1" dirty="0">
                <a:solidFill>
                  <a:schemeClr val="accent2"/>
                </a:solidFill>
              </a:rPr>
              <a:t>gib 10 zurück</a:t>
            </a:r>
            <a:pPr indent="0" marL="0">
              <a:buNone/>
            </a:pPr>
            <a:r>
              <a:rPr lang="en-US" sz="1700" dirty="0">
                <a:solidFill>
                  <a:schemeClr val="bg1"/>
                </a:solidFill>
              </a:rPr>
              <a:t>   1 + 2 + 3 + 4 = 10</a:t>
            </a:r>
            <a:endParaRPr lang="en-US" sz="1800" dirty="0"/>
          </a:p>
        </p:txBody>
      </p:sp>
      <p:sp>
        <p:nvSpPr>
          <p:cNvPr id="8" name="Tipp Trace"/>
          <p:cNvSpPr/>
          <p:nvPr/>
        </p:nvSpPr>
        <p:spPr>
          <a:xfrm>
            <a:off x="5943600" y="5303520"/>
            <a:ext cx="5669280" cy="822960"/>
          </a:xfrm>
          <a:prstGeom prst="roundRect">
            <a:avLst>
              <a:gd name="adj" fmla="val 13333"/>
            </a:avLst>
          </a:prstGeom>
          <a:solidFill>
            <a:schemeClr val="bg2"/>
          </a:solidFill>
          <a:ln/>
        </p:spPr>
        <p:txBody>
          <a:bodyPr/>
          <a:p/>
        </p:txBody>
      </p:sp>
      <p:sp>
        <p:nvSpPr>
          <p:cNvPr id="9" name="Text 5"/>
          <p:cNvSpPr txBox="1"/>
          <p:nvPr/>
        </p:nvSpPr>
        <p:spPr>
          <a:xfrm>
            <a:off x="6144768" y="5303520"/>
            <a:ext cx="5303520" cy="822960"/>
          </a:xfrm>
          <a:prstGeom prst="rect">
            <a:avLst/>
          </a:prstGeom>
          <a:noFill/>
          <a:ln/>
        </p:spPr>
        <p:txBody>
          <a:bodyPr wrap="square" lIns="0" tIns="0" rIns="0" bIns="0" rtlCol="0" anchor="ctr"/>
          <a:lstStyle/>
          <a:p>
            <a:pPr indent="0" marL="0">
              <a:buNone/>
            </a:pPr>
            <a:r>
              <a:rPr lang="en-US" sz="1600" b="1" dirty="0">
                <a:solidFill>
                  <a:schemeClr val="accent1"/>
                </a:solidFill>
              </a:rPr>
              <a:t>Tracetabelle: </a:t>
            </a:r>
            <a:pPr indent="0" marL="0">
              <a:buNone/>
            </a:pPr>
            <a:r>
              <a:rPr lang="en-US" sz="1600" dirty="0">
                <a:solidFill>
                  <a:schemeClr val="tx1"/>
                </a:solidFill>
              </a:rPr>
              <a:t>nur Variablen, keine Bedingungen; eine Zeile an jeder Stelle mit // → Tabellenzeile.</a:t>
            </a:r>
            <a:endParaRPr lang="en-US" sz="1600" dirty="0"/>
          </a:p>
        </p:txBody>
      </p:sp>
      <p:sp>
        <p:nvSpPr>
          <p:cNvPr id="10" name="Text 6"/>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2 · Werkstatt</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Die Reihung: ein Regal mit nummerierten Fächern</a:t>
            </a:r>
            <a:endParaRPr lang="en-US" sz="3600" dirty="0"/>
          </a:p>
        </p:txBody>
      </p:sp>
      <p:sp>
        <p:nvSpPr>
          <p:cNvPr id="3" name="Text 1"/>
          <p:cNvSpPr txBox="1"/>
          <p:nvPr/>
        </p:nvSpPr>
        <p:spPr>
          <a:xfrm>
            <a:off x="548640" y="1783080"/>
            <a:ext cx="1005840" cy="457200"/>
          </a:xfrm>
          <a:prstGeom prst="rect">
            <a:avLst/>
          </a:prstGeom>
          <a:noFill/>
          <a:ln/>
        </p:spPr>
        <p:txBody>
          <a:bodyPr wrap="square" lIns="0" tIns="0" rIns="0" bIns="0" rtlCol="0" anchor="ctr"/>
          <a:lstStyle/>
          <a:p>
            <a:pPr algn="r" indent="0" marL="0">
              <a:buNone/>
            </a:pPr>
            <a:r>
              <a:rPr lang="en-US" sz="1600" b="1" dirty="0">
                <a:solidFill>
                  <a:schemeClr val="accent1"/>
                </a:solidFill>
                <a:latin typeface="Consolas" pitchFamily="34" charset="0"/>
                <a:ea typeface="Consolas" pitchFamily="34" charset="-122"/>
                <a:cs typeface="Consolas" pitchFamily="34" charset="-120"/>
              </a:rPr>
              <a:t>vorrat</a:t>
            </a:r>
            <a:endParaRPr lang="en-US" sz="1600" dirty="0"/>
          </a:p>
        </p:txBody>
      </p:sp>
      <p:sp>
        <p:nvSpPr>
          <p:cNvPr id="4" name="Variable vorrat"/>
          <p:cNvSpPr/>
          <p:nvPr/>
        </p:nvSpPr>
        <p:spPr>
          <a:xfrm>
            <a:off x="1645920" y="1783080"/>
            <a:ext cx="457200" cy="457200"/>
          </a:xfrm>
          <a:prstGeom prst="rect">
            <a:avLst/>
          </a:prstGeom>
          <a:solidFill>
            <a:schemeClr val="bg1"/>
          </a:solidFill>
          <a:ln w="19050">
            <a:solidFill>
              <a:schemeClr val="accent1"/>
            </a:solidFill>
            <a:prstDash val="solid"/>
          </a:ln>
        </p:spPr>
      </p:sp>
      <p:sp>
        <p:nvSpPr>
          <p:cNvPr id="5" name="Referenzpunkt vorrat"/>
          <p:cNvSpPr/>
          <p:nvPr/>
        </p:nvSpPr>
        <p:spPr>
          <a:xfrm>
            <a:off x="1819656" y="1956816"/>
            <a:ext cx="109728" cy="109728"/>
          </a:xfrm>
          <a:prstGeom prst="ellipse">
            <a:avLst/>
          </a:prstGeom>
          <a:solidFill>
            <a:schemeClr val="accent1"/>
          </a:solidFill>
          <a:ln/>
        </p:spPr>
      </p:sp>
      <p:sp>
        <p:nvSpPr>
          <p:cNvPr id="6" name="Fach 0"/>
          <p:cNvSpPr txBox="1"/>
          <p:nvPr/>
        </p:nvSpPr>
        <p:spPr>
          <a:xfrm>
            <a:off x="2651760" y="1600200"/>
            <a:ext cx="1051560" cy="82296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2400" b="1" dirty="0">
                <a:solidFill>
                  <a:schemeClr val="accent1"/>
                </a:solidFill>
              </a:rPr>
              <a:t>4</a:t>
            </a:r>
            <a:endParaRPr lang="en-US" sz="2400" dirty="0"/>
          </a:p>
        </p:txBody>
      </p:sp>
      <p:sp>
        <p:nvSpPr>
          <p:cNvPr id="7" name="Fach 1"/>
          <p:cNvSpPr txBox="1"/>
          <p:nvPr/>
        </p:nvSpPr>
        <p:spPr>
          <a:xfrm>
            <a:off x="3703320" y="1600200"/>
            <a:ext cx="1051560" cy="82296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2400" b="1" dirty="0">
                <a:solidFill>
                  <a:schemeClr val="accent1"/>
                </a:solidFill>
              </a:rPr>
              <a:t>0</a:t>
            </a:r>
            <a:endParaRPr lang="en-US" sz="2400" dirty="0"/>
          </a:p>
        </p:txBody>
      </p:sp>
      <p:sp>
        <p:nvSpPr>
          <p:cNvPr id="8" name="Fach 2"/>
          <p:cNvSpPr txBox="1"/>
          <p:nvPr/>
        </p:nvSpPr>
        <p:spPr>
          <a:xfrm>
            <a:off x="4754880" y="1600200"/>
            <a:ext cx="1051560" cy="82296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2400" b="1" dirty="0">
                <a:solidFill>
                  <a:schemeClr val="accent1"/>
                </a:solidFill>
              </a:rPr>
              <a:t>7</a:t>
            </a:r>
            <a:endParaRPr lang="en-US" sz="2400" dirty="0"/>
          </a:p>
        </p:txBody>
      </p:sp>
      <p:sp>
        <p:nvSpPr>
          <p:cNvPr id="9" name="Fach 3"/>
          <p:cNvSpPr txBox="1"/>
          <p:nvPr/>
        </p:nvSpPr>
        <p:spPr>
          <a:xfrm>
            <a:off x="5806440" y="1600200"/>
            <a:ext cx="1051560" cy="82296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2400" b="1" dirty="0">
                <a:solidFill>
                  <a:schemeClr val="accent1"/>
                </a:solidFill>
              </a:rPr>
              <a:t>0</a:t>
            </a:r>
            <a:endParaRPr lang="en-US" sz="2400" dirty="0"/>
          </a:p>
        </p:txBody>
      </p:sp>
      <p:sp>
        <p:nvSpPr>
          <p:cNvPr id="10" name="Fach 4"/>
          <p:cNvSpPr txBox="1"/>
          <p:nvPr/>
        </p:nvSpPr>
        <p:spPr>
          <a:xfrm>
            <a:off x="6858000" y="1600200"/>
            <a:ext cx="1051560" cy="82296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2400" b="1" dirty="0">
                <a:solidFill>
                  <a:schemeClr val="accent1"/>
                </a:solidFill>
              </a:rPr>
              <a:t>12</a:t>
            </a:r>
            <a:endParaRPr lang="en-US" sz="2400" dirty="0"/>
          </a:p>
        </p:txBody>
      </p:sp>
      <p:sp>
        <p:nvSpPr>
          <p:cNvPr id="11" name="Fach 5"/>
          <p:cNvSpPr txBox="1"/>
          <p:nvPr/>
        </p:nvSpPr>
        <p:spPr>
          <a:xfrm>
            <a:off x="7909560" y="1600200"/>
            <a:ext cx="1051560" cy="82296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2400" b="1" dirty="0">
                <a:solidFill>
                  <a:schemeClr val="accent1"/>
                </a:solidFill>
              </a:rPr>
              <a:t>9</a:t>
            </a:r>
            <a:endParaRPr lang="en-US" sz="2400" dirty="0"/>
          </a:p>
        </p:txBody>
      </p:sp>
      <p:sp>
        <p:nvSpPr>
          <p:cNvPr id="12" name="Referenz vorrat"/>
          <p:cNvSpPr/>
          <p:nvPr/>
        </p:nvSpPr>
        <p:spPr>
          <a:xfrm>
            <a:off x="1874520" y="2011680"/>
            <a:ext cx="731520" cy="91"/>
          </a:xfrm>
          <a:prstGeom prst="line">
            <a:avLst/>
          </a:prstGeom>
          <a:noFill/>
          <a:ln w="28575">
            <a:solidFill>
              <a:schemeClr val="accent1"/>
            </a:solidFill>
            <a:prstDash val="solid"/>
            <a:tailEnd type="triangle"/>
          </a:ln>
        </p:spPr>
      </p:sp>
      <p:sp>
        <p:nvSpPr>
          <p:cNvPr id="13" name="Geisterfach 0"/>
          <p:cNvSpPr txBox="1"/>
          <p:nvPr/>
        </p:nvSpPr>
        <p:spPr>
          <a:xfrm>
            <a:off x="8961120" y="1600200"/>
            <a:ext cx="1051560" cy="822960"/>
          </a:xfrm>
          <a:prstGeom prst="rect">
            <a:avLst/>
          </a:prstGeom>
          <a:solidFill>
            <a:srgbClr val="FBE5E5"/>
          </a:solidFill>
          <a:ln w="15875">
            <a:solidFill>
              <a:schemeClr val="accent4"/>
            </a:solidFill>
            <a:prstDash val="dash"/>
          </a:ln>
        </p:spPr>
        <p:txBody>
          <a:bodyPr wrap="square" lIns="0" tIns="0" rIns="0" bIns="0" rtlCol="0" anchor="ctr"/>
          <a:lstStyle/>
          <a:p>
            <a:pPr algn="ctr" indent="0" marL="0">
              <a:buNone/>
            </a:pPr>
            <a:r>
              <a:rPr lang="en-US" sz="2400" b="1" dirty="0">
                <a:solidFill>
                  <a:schemeClr val="accent4"/>
                </a:solidFill>
              </a:rPr>
              <a:t>✗</a:t>
            </a:r>
            <a:endParaRPr lang="en-US" sz="2400" dirty="0"/>
          </a:p>
        </p:txBody>
      </p:sp>
      <p:sp>
        <p:nvSpPr>
          <p:cNvPr id="14" name="Text 12"/>
          <p:cNvSpPr txBox="1"/>
          <p:nvPr/>
        </p:nvSpPr>
        <p:spPr>
          <a:xfrm>
            <a:off x="2651760" y="2468880"/>
            <a:ext cx="1051560" cy="256032"/>
          </a:xfrm>
          <a:prstGeom prst="rect">
            <a:avLst/>
          </a:prstGeom>
          <a:noFill/>
          <a:ln/>
        </p:spPr>
        <p:txBody>
          <a:bodyPr wrap="square" lIns="0" tIns="0" rIns="0" bIns="0" rtlCol="0" anchor="t"/>
          <a:lstStyle/>
          <a:p>
            <a:pPr algn="ctr" indent="0" marL="0">
              <a:buNone/>
            </a:pPr>
            <a:r>
              <a:rPr lang="en-US" sz="1500" dirty="0">
                <a:solidFill>
                  <a:schemeClr val="accent6"/>
                </a:solidFill>
              </a:rPr>
              <a:t>0</a:t>
            </a:r>
            <a:endParaRPr lang="en-US" sz="1500" dirty="0"/>
          </a:p>
        </p:txBody>
      </p:sp>
      <p:sp>
        <p:nvSpPr>
          <p:cNvPr id="15" name="Text 13"/>
          <p:cNvSpPr txBox="1"/>
          <p:nvPr/>
        </p:nvSpPr>
        <p:spPr>
          <a:xfrm>
            <a:off x="3703320" y="2468880"/>
            <a:ext cx="1051560" cy="256032"/>
          </a:xfrm>
          <a:prstGeom prst="rect">
            <a:avLst/>
          </a:prstGeom>
          <a:noFill/>
          <a:ln/>
        </p:spPr>
        <p:txBody>
          <a:bodyPr wrap="square" lIns="0" tIns="0" rIns="0" bIns="0" rtlCol="0" anchor="t"/>
          <a:lstStyle/>
          <a:p>
            <a:pPr algn="ctr" indent="0" marL="0">
              <a:buNone/>
            </a:pPr>
            <a:r>
              <a:rPr lang="en-US" sz="1500" dirty="0">
                <a:solidFill>
                  <a:schemeClr val="accent6"/>
                </a:solidFill>
              </a:rPr>
              <a:t>1</a:t>
            </a:r>
            <a:endParaRPr lang="en-US" sz="1500" dirty="0"/>
          </a:p>
        </p:txBody>
      </p:sp>
      <p:sp>
        <p:nvSpPr>
          <p:cNvPr id="16" name="Text 14"/>
          <p:cNvSpPr txBox="1"/>
          <p:nvPr/>
        </p:nvSpPr>
        <p:spPr>
          <a:xfrm>
            <a:off x="4754880" y="2468880"/>
            <a:ext cx="1051560" cy="256032"/>
          </a:xfrm>
          <a:prstGeom prst="rect">
            <a:avLst/>
          </a:prstGeom>
          <a:noFill/>
          <a:ln/>
        </p:spPr>
        <p:txBody>
          <a:bodyPr wrap="square" lIns="0" tIns="0" rIns="0" bIns="0" rtlCol="0" anchor="t"/>
          <a:lstStyle/>
          <a:p>
            <a:pPr algn="ctr" indent="0" marL="0">
              <a:buNone/>
            </a:pPr>
            <a:r>
              <a:rPr lang="en-US" sz="1500" dirty="0">
                <a:solidFill>
                  <a:schemeClr val="accent6"/>
                </a:solidFill>
              </a:rPr>
              <a:t>2</a:t>
            </a:r>
            <a:endParaRPr lang="en-US" sz="1500" dirty="0"/>
          </a:p>
        </p:txBody>
      </p:sp>
      <p:sp>
        <p:nvSpPr>
          <p:cNvPr id="17" name="Text 15"/>
          <p:cNvSpPr txBox="1"/>
          <p:nvPr/>
        </p:nvSpPr>
        <p:spPr>
          <a:xfrm>
            <a:off x="5806440" y="2468880"/>
            <a:ext cx="1051560" cy="256032"/>
          </a:xfrm>
          <a:prstGeom prst="rect">
            <a:avLst/>
          </a:prstGeom>
          <a:noFill/>
          <a:ln/>
        </p:spPr>
        <p:txBody>
          <a:bodyPr wrap="square" lIns="0" tIns="0" rIns="0" bIns="0" rtlCol="0" anchor="t"/>
          <a:lstStyle/>
          <a:p>
            <a:pPr algn="ctr" indent="0" marL="0">
              <a:buNone/>
            </a:pPr>
            <a:r>
              <a:rPr lang="en-US" sz="1500" dirty="0">
                <a:solidFill>
                  <a:schemeClr val="accent6"/>
                </a:solidFill>
              </a:rPr>
              <a:t>3</a:t>
            </a:r>
            <a:endParaRPr lang="en-US" sz="1500" dirty="0"/>
          </a:p>
        </p:txBody>
      </p:sp>
      <p:sp>
        <p:nvSpPr>
          <p:cNvPr id="18" name="Text 16"/>
          <p:cNvSpPr txBox="1"/>
          <p:nvPr/>
        </p:nvSpPr>
        <p:spPr>
          <a:xfrm>
            <a:off x="6858000" y="2468880"/>
            <a:ext cx="1051560" cy="256032"/>
          </a:xfrm>
          <a:prstGeom prst="rect">
            <a:avLst/>
          </a:prstGeom>
          <a:noFill/>
          <a:ln/>
        </p:spPr>
        <p:txBody>
          <a:bodyPr wrap="square" lIns="0" tIns="0" rIns="0" bIns="0" rtlCol="0" anchor="t"/>
          <a:lstStyle/>
          <a:p>
            <a:pPr algn="ctr" indent="0" marL="0">
              <a:buNone/>
            </a:pPr>
            <a:r>
              <a:rPr lang="en-US" sz="1500" dirty="0">
                <a:solidFill>
                  <a:schemeClr val="accent6"/>
                </a:solidFill>
              </a:rPr>
              <a:t>4</a:t>
            </a:r>
            <a:endParaRPr lang="en-US" sz="1500" dirty="0"/>
          </a:p>
        </p:txBody>
      </p:sp>
      <p:sp>
        <p:nvSpPr>
          <p:cNvPr id="19" name="Text 17"/>
          <p:cNvSpPr txBox="1"/>
          <p:nvPr/>
        </p:nvSpPr>
        <p:spPr>
          <a:xfrm>
            <a:off x="7909560" y="2468880"/>
            <a:ext cx="1051560" cy="256032"/>
          </a:xfrm>
          <a:prstGeom prst="rect">
            <a:avLst/>
          </a:prstGeom>
          <a:noFill/>
          <a:ln/>
        </p:spPr>
        <p:txBody>
          <a:bodyPr wrap="square" lIns="0" tIns="0" rIns="0" bIns="0" rtlCol="0" anchor="t"/>
          <a:lstStyle/>
          <a:p>
            <a:pPr algn="ctr" indent="0" marL="0">
              <a:buNone/>
            </a:pPr>
            <a:r>
              <a:rPr lang="en-US" sz="1500" dirty="0">
                <a:solidFill>
                  <a:schemeClr val="accent6"/>
                </a:solidFill>
              </a:rPr>
              <a:t>5</a:t>
            </a:r>
            <a:endParaRPr lang="en-US" sz="1500" dirty="0"/>
          </a:p>
        </p:txBody>
      </p:sp>
      <p:sp>
        <p:nvSpPr>
          <p:cNvPr id="20" name="Text 18"/>
          <p:cNvSpPr txBox="1"/>
          <p:nvPr/>
        </p:nvSpPr>
        <p:spPr>
          <a:xfrm>
            <a:off x="8961120" y="2468880"/>
            <a:ext cx="1051560" cy="256032"/>
          </a:xfrm>
          <a:prstGeom prst="rect">
            <a:avLst/>
          </a:prstGeom>
          <a:noFill/>
          <a:ln/>
        </p:spPr>
        <p:txBody>
          <a:bodyPr wrap="square" lIns="0" tIns="0" rIns="0" bIns="0" rtlCol="0" anchor="t"/>
          <a:lstStyle/>
          <a:p>
            <a:pPr algn="ctr" indent="0" marL="0">
              <a:buNone/>
            </a:pPr>
            <a:r>
              <a:rPr lang="en-US" sz="1500" b="1" dirty="0">
                <a:solidFill>
                  <a:schemeClr val="accent4"/>
                </a:solidFill>
              </a:rPr>
              <a:t>6</a:t>
            </a:r>
            <a:endParaRPr lang="en-US" sz="1500" dirty="0"/>
          </a:p>
        </p:txBody>
      </p:sp>
      <p:sp>
        <p:nvSpPr>
          <p:cNvPr id="21" name="Text 19"/>
          <p:cNvSpPr txBox="1"/>
          <p:nvPr/>
        </p:nvSpPr>
        <p:spPr>
          <a:xfrm>
            <a:off x="2651760" y="2788920"/>
            <a:ext cx="6309360" cy="292608"/>
          </a:xfrm>
          <a:prstGeom prst="rect">
            <a:avLst/>
          </a:prstGeom>
          <a:noFill/>
          <a:ln/>
        </p:spPr>
        <p:txBody>
          <a:bodyPr wrap="square" lIns="0" tIns="0" rIns="0" bIns="0" rtlCol="0" anchor="t"/>
          <a:lstStyle/>
          <a:p>
            <a:pPr algn="ctr" indent="0" marL="0">
              <a:buNone/>
            </a:pPr>
            <a:r>
              <a:rPr lang="en-US" sz="1500" i="1" dirty="0">
                <a:solidFill>
                  <a:schemeClr val="accent6"/>
                </a:solidFill>
              </a:rPr>
              <a:t>Index 0 bis length − 1 = 5</a:t>
            </a:r>
            <a:endParaRPr lang="en-US" sz="1500" dirty="0"/>
          </a:p>
        </p:txBody>
      </p:sp>
      <p:sp>
        <p:nvSpPr>
          <p:cNvPr id="22" name="Text 20"/>
          <p:cNvSpPr txBox="1"/>
          <p:nvPr/>
        </p:nvSpPr>
        <p:spPr>
          <a:xfrm>
            <a:off x="8778240" y="2788920"/>
            <a:ext cx="1417320" cy="292608"/>
          </a:xfrm>
          <a:prstGeom prst="rect">
            <a:avLst/>
          </a:prstGeom>
          <a:noFill/>
          <a:ln/>
        </p:spPr>
        <p:txBody>
          <a:bodyPr wrap="square" lIns="0" tIns="0" rIns="0" bIns="0" rtlCol="0" anchor="t"/>
          <a:lstStyle/>
          <a:p>
            <a:pPr algn="ctr" indent="0" marL="0">
              <a:buNone/>
            </a:pPr>
            <a:r>
              <a:rPr lang="en-US" sz="1400" i="1" dirty="0">
                <a:solidFill>
                  <a:schemeClr val="accent4"/>
                </a:solidFill>
              </a:rPr>
              <a:t>gibt es nicht</a:t>
            </a:r>
            <a:endParaRPr lang="en-US" sz="1400" dirty="0"/>
          </a:p>
        </p:txBody>
      </p:sp>
      <p:sp>
        <p:nvSpPr>
          <p:cNvPr id="23" name="Code"/>
          <p:cNvSpPr txBox="1"/>
          <p:nvPr/>
        </p:nvSpPr>
        <p:spPr>
          <a:xfrm>
            <a:off x="548640" y="3291840"/>
            <a:ext cx="6492240" cy="19908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int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vorrat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{4, 0, 7, 0, 12, 9};</a:t>
            </a:r>
            <a:endParaRPr lang="en-US" sz="1500" dirty="0"/>
          </a:p>
          <a:p>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int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leer</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new</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int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[5];    </a:t>
            </a:r>
            <a:pPr algn="l" indent="0" marL="0">
              <a:lnSpc>
                <a:spcPts val="1900"/>
              </a:lnSpc>
              <a:buNone/>
            </a:pPr>
            <a:r>
              <a:rPr lang="en-US" sz="1500" i="1" dirty="0">
                <a:solidFill>
                  <a:schemeClr val="accent3"/>
                </a:solidFill>
                <a:latin typeface="Consolas" pitchFamily="34" charset="0"/>
                <a:ea typeface="Consolas" pitchFamily="34" charset="-122"/>
                <a:cs typeface="Consolas" pitchFamily="34" charset="-120"/>
              </a:rPr>
              <a:t>// {0, 0, 0, 0, 0}</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vorrat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[2]                   </a:t>
            </a:r>
            <a:pPr algn="l" indent="0" marL="0">
              <a:lnSpc>
                <a:spcPts val="1900"/>
              </a:lnSpc>
              <a:buNone/>
            </a:pPr>
            <a:r>
              <a:rPr lang="en-US" sz="1500" i="1" dirty="0">
                <a:solidFill>
                  <a:schemeClr val="accent3"/>
                </a:solidFill>
                <a:latin typeface="Consolas" pitchFamily="34" charset="0"/>
                <a:ea typeface="Consolas" pitchFamily="34" charset="-122"/>
                <a:cs typeface="Consolas" pitchFamily="34" charset="-120"/>
              </a:rPr>
              <a:t>// 7</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vorrat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[4] = 15;             </a:t>
            </a:r>
            <a:pPr algn="l" indent="0" marL="0">
              <a:lnSpc>
                <a:spcPts val="1900"/>
              </a:lnSpc>
              <a:buNone/>
            </a:pPr>
            <a:r>
              <a:rPr lang="en-US" sz="1500" i="1" dirty="0">
                <a:solidFill>
                  <a:schemeClr val="accent3"/>
                </a:solidFill>
                <a:latin typeface="Consolas" pitchFamily="34" charset="0"/>
                <a:ea typeface="Consolas" pitchFamily="34" charset="-122"/>
                <a:cs typeface="Consolas" pitchFamily="34" charset="-120"/>
              </a:rPr>
              <a:t>// Fach 4 neu belegen</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vorrat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length</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i="1" dirty="0">
                <a:solidFill>
                  <a:schemeClr val="accent3"/>
                </a:solidFill>
                <a:latin typeface="Consolas" pitchFamily="34" charset="0"/>
                <a:ea typeface="Consolas" pitchFamily="34" charset="-122"/>
                <a:cs typeface="Consolas" pitchFamily="34" charset="-120"/>
              </a:rPr>
              <a:t>// 6 – ohne Klammern!</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vorrat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vorrat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length</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- 1]   </a:t>
            </a:r>
            <a:pPr algn="l" indent="0" marL="0">
              <a:lnSpc>
                <a:spcPts val="1900"/>
              </a:lnSpc>
              <a:buNone/>
            </a:pPr>
            <a:r>
              <a:rPr lang="en-US" sz="1500" i="1" dirty="0">
                <a:solidFill>
                  <a:schemeClr val="accent3"/>
                </a:solidFill>
                <a:latin typeface="Consolas" pitchFamily="34" charset="0"/>
                <a:ea typeface="Consolas" pitchFamily="34" charset="-122"/>
                <a:cs typeface="Consolas" pitchFamily="34" charset="-120"/>
              </a:rPr>
              <a:t>// 9, das letzte Fach</a:t>
            </a:r>
            <a:endParaRPr lang="en-US" sz="1500" dirty="0"/>
          </a:p>
          <a:p>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int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nix</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new</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int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[0];     </a:t>
            </a:r>
            <a:pPr algn="l" indent="0" marL="0">
              <a:lnSpc>
                <a:spcPts val="1900"/>
              </a:lnSpc>
              <a:buNone/>
            </a:pPr>
            <a:r>
              <a:rPr lang="en-US" sz="1500" i="1" dirty="0">
                <a:solidFill>
                  <a:schemeClr val="accent3"/>
                </a:solidFill>
                <a:latin typeface="Consolas" pitchFamily="34" charset="0"/>
                <a:ea typeface="Consolas" pitchFamily="34" charset="-122"/>
                <a:cs typeface="Consolas" pitchFamily="34" charset="-120"/>
              </a:rPr>
              <a:t>// leer: length 0</a:t>
            </a:r>
            <a:endParaRPr lang="en-US" sz="1500" dirty="0"/>
          </a:p>
        </p:txBody>
      </p:sp>
      <p:sp>
        <p:nvSpPr>
          <p:cNvPr id="24" name="Abi Reihung"/>
          <p:cNvSpPr/>
          <p:nvPr/>
        </p:nvSpPr>
        <p:spPr>
          <a:xfrm>
            <a:off x="7315200" y="3291840"/>
            <a:ext cx="4297680" cy="1234440"/>
          </a:xfrm>
          <a:prstGeom prst="roundRect">
            <a:avLst>
              <a:gd name="adj" fmla="val 8889"/>
            </a:avLst>
          </a:prstGeom>
          <a:solidFill>
            <a:schemeClr val="bg2"/>
          </a:solidFill>
          <a:ln/>
        </p:spPr>
      </p:sp>
      <p:sp>
        <p:nvSpPr>
          <p:cNvPr id="25" name="Text 23"/>
          <p:cNvSpPr txBox="1"/>
          <p:nvPr/>
        </p:nvSpPr>
        <p:spPr>
          <a:xfrm>
            <a:off x="7516368" y="3291840"/>
            <a:ext cx="3931920" cy="1234440"/>
          </a:xfrm>
          <a:prstGeom prst="rect">
            <a:avLst/>
          </a:prstGeom>
          <a:noFill/>
          <a:ln/>
        </p:spPr>
        <p:txBody>
          <a:bodyPr wrap="square" lIns="0" tIns="0" rIns="0" bIns="0" rtlCol="0" anchor="ctr"/>
          <a:lstStyle/>
          <a:p>
            <a:pPr indent="0" marL="0">
              <a:buNone/>
            </a:pPr>
            <a:r>
              <a:rPr lang="en-US" sz="1600" b="1" dirty="0">
                <a:solidFill>
                  <a:schemeClr val="accent1"/>
                </a:solidFill>
              </a:rPr>
              <a:t>Abi-Sprache: </a:t>
            </a:r>
            <a:pPr indent="0" marL="0">
              <a:buNone/>
            </a:pPr>
            <a:r>
              <a:rPr lang="en-US" sz="1600" dirty="0">
                <a:solidFill>
                  <a:schemeClr val="tx1"/>
                </a:solidFill>
              </a:rPr>
              <a:t>„Reihung von Ganzzahl“, Index ab 0, „Länge von r“. Nie „Array“.</a:t>
            </a:r>
            <a:endParaRPr lang="en-US" sz="1600" dirty="0"/>
          </a:p>
        </p:txBody>
      </p:sp>
      <p:sp>
        <p:nvSpPr>
          <p:cNvPr id="26" name="Achtung Index"/>
          <p:cNvSpPr/>
          <p:nvPr/>
        </p:nvSpPr>
        <p:spPr>
          <a:xfrm>
            <a:off x="7315200" y="4709160"/>
            <a:ext cx="4297680" cy="1417320"/>
          </a:xfrm>
          <a:prstGeom prst="roundRect">
            <a:avLst>
              <a:gd name="adj" fmla="val 7742"/>
            </a:avLst>
          </a:prstGeom>
          <a:solidFill>
            <a:schemeClr val="bg1"/>
          </a:solidFill>
          <a:ln w="25400">
            <a:solidFill>
              <a:schemeClr val="accent4"/>
            </a:solidFill>
            <a:prstDash val="solid"/>
          </a:ln>
        </p:spPr>
      </p:sp>
      <p:sp>
        <p:nvSpPr>
          <p:cNvPr id="27" name="Text 25"/>
          <p:cNvSpPr txBox="1"/>
          <p:nvPr/>
        </p:nvSpPr>
        <p:spPr>
          <a:xfrm>
            <a:off x="7516368" y="4709160"/>
            <a:ext cx="3931920" cy="1417320"/>
          </a:xfrm>
          <a:prstGeom prst="rect">
            <a:avLst/>
          </a:prstGeom>
          <a:noFill/>
          <a:ln/>
        </p:spPr>
        <p:txBody>
          <a:bodyPr wrap="square" lIns="0" tIns="0" rIns="0" bIns="0" rtlCol="0" anchor="ctr"/>
          <a:lstStyle/>
          <a:p>
            <a:pPr indent="0" marL="0">
              <a:buNone/>
            </a:pPr>
            <a:r>
              <a:rPr lang="en-US" sz="1500" b="1" dirty="0">
                <a:solidFill>
                  <a:schemeClr val="accent4"/>
                </a:solidFill>
              </a:rPr>
              <a:t>Achtung: </a:t>
            </a:r>
            <a:pPr indent="0" marL="0">
              <a:buNone/>
            </a:pPr>
            <a:r>
              <a:rPr lang="en-US" sz="1500" b="1" dirty="0">
                <a:solidFill>
                  <a:schemeClr val="tx1"/>
                </a:solidFill>
                <a:latin typeface="Consolas" pitchFamily="34" charset="0"/>
                <a:ea typeface="Consolas" pitchFamily="34" charset="-122"/>
                <a:cs typeface="Consolas" pitchFamily="34" charset="-120"/>
              </a:rPr>
              <a:t>vorrat[6]</a:t>
            </a:r>
            <a:pPr indent="0" marL="0">
              <a:buNone/>
            </a:pPr>
            <a:r>
              <a:rPr lang="en-US" sz="1500" dirty="0">
                <a:solidFill>
                  <a:schemeClr val="tx1"/>
                </a:solidFill>
              </a:rPr>
              <a:t> → ArrayIndexOutOfBounds­Exception, Absturz. Bei leerer Reihung gibt es nicht einmal </a:t>
            </a:r>
            <a:pPr indent="0" marL="0">
              <a:buNone/>
            </a:pPr>
            <a:r>
              <a:rPr lang="en-US" sz="1500" b="1" dirty="0">
                <a:solidFill>
                  <a:schemeClr val="tx1"/>
                </a:solidFill>
                <a:latin typeface="Consolas" pitchFamily="34" charset="0"/>
                <a:ea typeface="Consolas" pitchFamily="34" charset="-122"/>
                <a:cs typeface="Consolas" pitchFamily="34" charset="-120"/>
              </a:rPr>
              <a:t>r[0]</a:t>
            </a:r>
            <a:pPr indent="0" marL="0">
              <a:buNone/>
            </a:pPr>
            <a:r>
              <a:rPr lang="en-US" sz="1500" dirty="0">
                <a:solidFill>
                  <a:schemeClr val="tx1"/>
                </a:solidFill>
              </a:rPr>
              <a:t>.</a:t>
            </a:r>
            <a:endParaRPr lang="en-US" sz="1500" dirty="0"/>
          </a:p>
        </p:txBody>
      </p:sp>
      <p:sp>
        <p:nvSpPr>
          <p:cNvPr id="28" name="Text 26"/>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3 · Vorratskammer</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Durch die Reihung laufen: for oder for-each</a:t>
            </a:r>
            <a:endParaRPr lang="en-US" sz="3600" dirty="0"/>
          </a:p>
        </p:txBody>
      </p:sp>
      <p:sp>
        <p:nvSpPr>
          <p:cNvPr id="3" name="Text 1"/>
          <p:cNvSpPr txBox="1"/>
          <p:nvPr/>
        </p:nvSpPr>
        <p:spPr>
          <a:xfrm>
            <a:off x="548640" y="1280160"/>
            <a:ext cx="5394960" cy="365760"/>
          </a:xfrm>
          <a:prstGeom prst="rect">
            <a:avLst/>
          </a:prstGeom>
          <a:noFill/>
          <a:ln/>
        </p:spPr>
        <p:txBody>
          <a:bodyPr wrap="square" lIns="0" tIns="0" rIns="0" bIns="0" rtlCol="0" anchor="t"/>
          <a:lstStyle/>
          <a:p>
            <a:pPr indent="0" marL="0">
              <a:buNone/>
            </a:pPr>
            <a:r>
              <a:rPr lang="en-US" sz="1900" b="1" dirty="0">
                <a:solidFill>
                  <a:schemeClr val="accent1"/>
                </a:solidFill>
              </a:rPr>
              <a:t>for mit Index</a:t>
            </a:r>
            <a:endParaRPr lang="en-US" sz="1900" dirty="0"/>
          </a:p>
        </p:txBody>
      </p:sp>
      <p:sp>
        <p:nvSpPr>
          <p:cNvPr id="4" name="Code"/>
          <p:cNvSpPr txBox="1"/>
          <p:nvPr/>
        </p:nvSpPr>
        <p:spPr>
          <a:xfrm>
            <a:off x="548640" y="1691640"/>
            <a:ext cx="5394960" cy="12669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int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summe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0;</a:t>
            </a:r>
            <a:endParaRPr lang="en-US" sz="1500" dirty="0"/>
          </a:p>
          <a:p>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for</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int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i</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0;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i</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&lt;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r</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length</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i</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summe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summe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r</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i</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endParaRPr lang="en-US" sz="1500" dirty="0"/>
          </a:p>
        </p:txBody>
      </p:sp>
      <p:pic>
        <p:nvPicPr>
          <p:cNvPr id="5" name="Struktogramm sg_sum_for" descr="Struktogramm sg_sum_for">    </p:cNvPr>
          <p:cNvPicPr>
            <a:picLocks noChangeAspect="1"/>
          </p:cNvPicPr>
          <p:nvPr/>
        </p:nvPicPr>
        <p:blipFill>
          <a:blip r:embed="rId1"/>
          <a:stretch>
            <a:fillRect/>
          </a:stretch>
        </p:blipFill>
        <p:spPr>
          <a:xfrm>
            <a:off x="548640" y="3017520"/>
            <a:ext cx="3657600" cy="1011836"/>
          </a:xfrm>
          <a:prstGeom prst="rect">
            <a:avLst/>
          </a:prstGeom>
        </p:spPr>
      </p:pic>
      <p:sp>
        <p:nvSpPr>
          <p:cNvPr id="6" name="Text 3"/>
          <p:cNvSpPr txBox="1"/>
          <p:nvPr/>
        </p:nvSpPr>
        <p:spPr>
          <a:xfrm>
            <a:off x="6217920" y="1280160"/>
            <a:ext cx="5394960" cy="365760"/>
          </a:xfrm>
          <a:prstGeom prst="rect">
            <a:avLst/>
          </a:prstGeom>
          <a:noFill/>
          <a:ln/>
        </p:spPr>
        <p:txBody>
          <a:bodyPr wrap="square" lIns="0" tIns="0" rIns="0" bIns="0" rtlCol="0" anchor="t"/>
          <a:lstStyle/>
          <a:p>
            <a:pPr indent="0" marL="0">
              <a:buNone/>
            </a:pPr>
            <a:r>
              <a:rPr lang="en-US" sz="1900" b="1" dirty="0">
                <a:solidFill>
                  <a:schemeClr val="accent1"/>
                </a:solidFill>
              </a:rPr>
              <a:t>for-each</a:t>
            </a:r>
            <a:endParaRPr lang="en-US" sz="1900" dirty="0"/>
          </a:p>
        </p:txBody>
      </p:sp>
      <p:sp>
        <p:nvSpPr>
          <p:cNvPr id="7" name="Code"/>
          <p:cNvSpPr txBox="1"/>
          <p:nvPr/>
        </p:nvSpPr>
        <p:spPr>
          <a:xfrm>
            <a:off x="6217920" y="1691640"/>
            <a:ext cx="5394960" cy="12669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int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summe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0;</a:t>
            </a:r>
            <a:endParaRPr lang="en-US" sz="1500" dirty="0"/>
          </a:p>
          <a:p>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for</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int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x</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r</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summe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summe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x</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endParaRPr lang="en-US" sz="1500" dirty="0"/>
          </a:p>
        </p:txBody>
      </p:sp>
      <p:pic>
        <p:nvPicPr>
          <p:cNvPr id="8" name="Struktogramm sg_sum_foreach" descr="Struktogramm sg_sum_foreach">    </p:cNvPr>
          <p:cNvPicPr>
            <a:picLocks noChangeAspect="1"/>
          </p:cNvPicPr>
          <p:nvPr/>
        </p:nvPicPr>
        <p:blipFill>
          <a:blip r:embed="rId2"/>
          <a:stretch>
            <a:fillRect/>
          </a:stretch>
        </p:blipFill>
        <p:spPr>
          <a:xfrm>
            <a:off x="6217920" y="3017520"/>
            <a:ext cx="3657600" cy="1011836"/>
          </a:xfrm>
          <a:prstGeom prst="rect">
            <a:avLst/>
          </a:prstGeom>
        </p:spPr>
      </p:pic>
      <p:sp>
        <p:nvSpPr>
          <p:cNvPr id="9" name="Text 5"/>
          <p:cNvSpPr txBox="1"/>
          <p:nvPr/>
        </p:nvSpPr>
        <p:spPr>
          <a:xfrm>
            <a:off x="10058400" y="3063240"/>
            <a:ext cx="1554480" cy="1005840"/>
          </a:xfrm>
          <a:prstGeom prst="rect">
            <a:avLst/>
          </a:prstGeom>
          <a:noFill/>
          <a:ln/>
        </p:spPr>
        <p:txBody>
          <a:bodyPr wrap="square" lIns="0" tIns="0" rIns="0" bIns="0" rtlCol="0" anchor="ctr"/>
          <a:lstStyle/>
          <a:p>
            <a:pPr indent="0" marL="0">
              <a:buNone/>
            </a:pPr>
            <a:r>
              <a:rPr lang="en-US" sz="1400" i="1" dirty="0">
                <a:solidFill>
                  <a:schemeClr val="accent6"/>
                </a:solidFill>
              </a:rPr>
              <a:t>Für den Vorrat</a:t>
            </a:r>
            <a:endParaRPr lang="en-US" sz="1400" dirty="0"/>
          </a:p>
          <a:p>
            <a:pPr indent="0" marL="0">
              <a:buNone/>
            </a:pPr>
            <a:r>
              <a:rPr lang="en-US" sz="1400" b="1" i="1" dirty="0">
                <a:solidFill>
                  <a:schemeClr val="accent1"/>
                </a:solidFill>
              </a:rPr>
              <a:t>liefern beide 32</a:t>
            </a:r>
            <a:endParaRPr lang="en-US" sz="1400" dirty="0"/>
          </a:p>
        </p:txBody>
      </p:sp>
      <p:graphicFrame>
        <p:nvGraphicFramePr>
          <p:cNvPr id="12" name="Vergleich for"/>
          <p:cNvGraphicFramePr>
            <a:graphicFrameLocks noGrp="1"/>
          </p:cNvGraphicFramePr>
          <p:nvPr>
            <p:extLst>
              <p:ext uri="{D42A27DB-BD31-4B8C-83A1-F6EECF244321}">
                <p14:modId xmlns:p14="http://schemas.microsoft.com/office/powerpoint/2010/main" val="1579011935"/>
              </p:ext>
            </p:extLst>
          </p:nvPr>
        </p:nvGraphicFramePr>
        <p:xfrm>
          <a:off x="548640" y="4251960"/>
          <a:ext cx="11064240" cy="914400"/>
        </p:xfrm>
        <a:graphic>
          <a:graphicData uri="http://schemas.openxmlformats.org/drawingml/2006/table">
            <a:tbl>
              <a:tblPr/>
              <a:tblGrid>
                <a:gridCol w="3383280"/>
                <a:gridCol w="3840480"/>
                <a:gridCol w="3840480"/>
              </a:tblGrid>
              <a:tr h="365760">
                <a:tc>
                  <a:txBody>
                    <a:bodyPr/>
                    <a:lstStyle/>
                    <a:p>
                      <a:pPr algn="ctr" indent="0" marL="0">
                        <a:buNone/>
                      </a:pP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for mit Index</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for-each</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365760">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kennt den Index i</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accent3"/>
                          </a:solidFill>
                          <a:latin typeface="Calibri" pitchFamily="34" charset="0"/>
                          <a:ea typeface="Calibri" pitchFamily="34" charset="-122"/>
                          <a:cs typeface="Calibri" pitchFamily="34" charset="-120"/>
                        </a:rPr>
                        <a:t>ja</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4"/>
                          </a:solidFill>
                          <a:latin typeface="Calibri" pitchFamily="34" charset="0"/>
                          <a:ea typeface="Calibri" pitchFamily="34" charset="-122"/>
                          <a:cs typeface="Calibri" pitchFamily="34" charset="-120"/>
                        </a:rPr>
                        <a:t>nein</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65760">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Fächer verändern (r[i] = …)</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accent3"/>
                          </a:solidFill>
                          <a:latin typeface="Calibri" pitchFamily="34" charset="0"/>
                          <a:ea typeface="Calibri" pitchFamily="34" charset="-122"/>
                          <a:cs typeface="Calibri" pitchFamily="34" charset="-120"/>
                        </a:rPr>
                        <a:t>ja</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4"/>
                          </a:solidFill>
                          <a:latin typeface="Calibri" pitchFamily="34" charset="0"/>
                          <a:ea typeface="Calibri" pitchFamily="34" charset="-122"/>
                          <a:cs typeface="Calibri" pitchFamily="34" charset="-120"/>
                        </a:rPr>
                        <a:t>nein – x ist eine Kopie</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65760">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Teilbereich, z. B. ab Index 1</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accent3"/>
                          </a:solidFill>
                          <a:latin typeface="Calibri" pitchFamily="34" charset="0"/>
                          <a:ea typeface="Calibri" pitchFamily="34" charset="-122"/>
                          <a:cs typeface="Calibri" pitchFamily="34" charset="-120"/>
                        </a:rPr>
                        <a:t>ja</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4"/>
                          </a:solidFill>
                          <a:latin typeface="Calibri" pitchFamily="34" charset="0"/>
                          <a:ea typeface="Calibri" pitchFamily="34" charset="-122"/>
                          <a:cs typeface="Calibri" pitchFamily="34" charset="-120"/>
                        </a:rPr>
                        <a:t>nein</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65760">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typische Falle</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accent4"/>
                          </a:solidFill>
                          <a:latin typeface="Consolas" pitchFamily="34" charset="0"/>
                          <a:ea typeface="Consolas" pitchFamily="34" charset="-122"/>
                          <a:cs typeface="Consolas" pitchFamily="34" charset="-120"/>
                        </a:rPr>
                        <a:t>i &lt;= r.length → Absturz</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accent4"/>
                          </a:solidFill>
                          <a:latin typeface="Consolas" pitchFamily="34" charset="0"/>
                          <a:ea typeface="Consolas" pitchFamily="34" charset="-122"/>
                          <a:cs typeface="Consolas" pitchFamily="34" charset="-120"/>
                        </a:rPr>
                        <a:t>x = 0; ändert r nicht</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11" name="Text 6"/>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3 · Vorratskammer</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Zwei Schilder, ein Regal: Referenz statt Kopie</a:t>
            </a:r>
            <a:endParaRPr lang="en-US" sz="3600" dirty="0"/>
          </a:p>
        </p:txBody>
      </p:sp>
      <p:sp>
        <p:nvSpPr>
          <p:cNvPr id="3" name="Text 1"/>
          <p:cNvSpPr txBox="1"/>
          <p:nvPr/>
        </p:nvSpPr>
        <p:spPr>
          <a:xfrm>
            <a:off x="548640" y="1280160"/>
            <a:ext cx="5394960" cy="365760"/>
          </a:xfrm>
          <a:prstGeom prst="rect">
            <a:avLst/>
          </a:prstGeom>
          <a:noFill/>
          <a:ln/>
        </p:spPr>
        <p:txBody>
          <a:bodyPr wrap="square" lIns="0" tIns="0" rIns="0" bIns="0" rtlCol="0" anchor="t"/>
          <a:lstStyle/>
          <a:p>
            <a:pPr indent="0" marL="0">
              <a:buNone/>
            </a:pPr>
            <a:r>
              <a:rPr lang="en-US" sz="1900" b="1" dirty="0">
                <a:solidFill>
                  <a:schemeClr val="accent4"/>
                </a:solidFill>
              </a:rPr>
              <a:t>int[] b = a;  kopiert nur den Pfeil</a:t>
            </a:r>
            <a:endParaRPr lang="en-US" sz="1900" dirty="0"/>
          </a:p>
        </p:txBody>
      </p:sp>
      <p:sp>
        <p:nvSpPr>
          <p:cNvPr id="4" name="Code"/>
          <p:cNvSpPr txBox="1"/>
          <p:nvPr/>
        </p:nvSpPr>
        <p:spPr>
          <a:xfrm>
            <a:off x="548640" y="1691640"/>
            <a:ext cx="5394960" cy="13177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int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{1, 2, 3};</a:t>
            </a:r>
            <a:endParaRPr lang="en-US" sz="1600" dirty="0"/>
          </a:p>
          <a:p>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int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b</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b</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[0] = 99;</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println</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[0]);   </a:t>
            </a:r>
            <a:pPr algn="l" indent="0" marL="0">
              <a:lnSpc>
                <a:spcPts val="2000"/>
              </a:lnSpc>
              <a:buNone/>
            </a:pPr>
            <a:r>
              <a:rPr lang="en-US" sz="1600" i="1" dirty="0">
                <a:solidFill>
                  <a:schemeClr val="accent3"/>
                </a:solidFill>
                <a:latin typeface="Consolas" pitchFamily="34" charset="0"/>
                <a:ea typeface="Consolas" pitchFamily="34" charset="-122"/>
                <a:cs typeface="Consolas" pitchFamily="34" charset="-120"/>
              </a:rPr>
              <a:t>// 99</a:t>
            </a:r>
            <a:endParaRPr lang="en-US" sz="1600" dirty="0"/>
          </a:p>
        </p:txBody>
      </p:sp>
      <p:sp>
        <p:nvSpPr>
          <p:cNvPr id="5" name="Text 3"/>
          <p:cNvSpPr txBox="1"/>
          <p:nvPr/>
        </p:nvSpPr>
        <p:spPr>
          <a:xfrm>
            <a:off x="548640" y="3383280"/>
            <a:ext cx="457200" cy="457200"/>
          </a:xfrm>
          <a:prstGeom prst="rect">
            <a:avLst/>
          </a:prstGeom>
          <a:noFill/>
          <a:ln/>
        </p:spPr>
        <p:txBody>
          <a:bodyPr wrap="square" lIns="0" tIns="0" rIns="0" bIns="0" rtlCol="0" anchor="ctr"/>
          <a:lstStyle/>
          <a:p>
            <a:pPr algn="r" indent="0" marL="0">
              <a:buNone/>
            </a:pPr>
            <a:r>
              <a:rPr lang="en-US" sz="1600" b="1" dirty="0">
                <a:solidFill>
                  <a:schemeClr val="accent1"/>
                </a:solidFill>
                <a:latin typeface="Consolas" pitchFamily="34" charset="0"/>
                <a:ea typeface="Consolas" pitchFamily="34" charset="-122"/>
                <a:cs typeface="Consolas" pitchFamily="34" charset="-120"/>
              </a:rPr>
              <a:t>a</a:t>
            </a:r>
            <a:endParaRPr lang="en-US" sz="1600" dirty="0"/>
          </a:p>
        </p:txBody>
      </p:sp>
      <p:sp>
        <p:nvSpPr>
          <p:cNvPr id="6" name="Variable a"/>
          <p:cNvSpPr/>
          <p:nvPr/>
        </p:nvSpPr>
        <p:spPr>
          <a:xfrm>
            <a:off x="1097280" y="3383280"/>
            <a:ext cx="457200" cy="457200"/>
          </a:xfrm>
          <a:prstGeom prst="rect">
            <a:avLst/>
          </a:prstGeom>
          <a:solidFill>
            <a:schemeClr val="bg1"/>
          </a:solidFill>
          <a:ln w="19050">
            <a:solidFill>
              <a:schemeClr val="accent1"/>
            </a:solidFill>
            <a:prstDash val="solid"/>
          </a:ln>
        </p:spPr>
      </p:sp>
      <p:sp>
        <p:nvSpPr>
          <p:cNvPr id="7" name="Referenzpunkt a"/>
          <p:cNvSpPr/>
          <p:nvPr/>
        </p:nvSpPr>
        <p:spPr>
          <a:xfrm>
            <a:off x="1271016" y="3557016"/>
            <a:ext cx="109728" cy="109728"/>
          </a:xfrm>
          <a:prstGeom prst="ellipse">
            <a:avLst/>
          </a:prstGeom>
          <a:solidFill>
            <a:schemeClr val="accent1"/>
          </a:solidFill>
          <a:ln/>
        </p:spPr>
      </p:sp>
      <p:sp>
        <p:nvSpPr>
          <p:cNvPr id="8" name="Text 6"/>
          <p:cNvSpPr txBox="1"/>
          <p:nvPr/>
        </p:nvSpPr>
        <p:spPr>
          <a:xfrm>
            <a:off x="548640" y="4297680"/>
            <a:ext cx="457200" cy="457200"/>
          </a:xfrm>
          <a:prstGeom prst="rect">
            <a:avLst/>
          </a:prstGeom>
          <a:noFill/>
          <a:ln/>
        </p:spPr>
        <p:txBody>
          <a:bodyPr wrap="square" lIns="0" tIns="0" rIns="0" bIns="0" rtlCol="0" anchor="ctr"/>
          <a:lstStyle/>
          <a:p>
            <a:pPr algn="r" indent="0" marL="0">
              <a:buNone/>
            </a:pPr>
            <a:r>
              <a:rPr lang="en-US" sz="1600" b="1" dirty="0">
                <a:solidFill>
                  <a:schemeClr val="accent1"/>
                </a:solidFill>
                <a:latin typeface="Consolas" pitchFamily="34" charset="0"/>
                <a:ea typeface="Consolas" pitchFamily="34" charset="-122"/>
                <a:cs typeface="Consolas" pitchFamily="34" charset="-120"/>
              </a:rPr>
              <a:t>b</a:t>
            </a:r>
            <a:endParaRPr lang="en-US" sz="1600" dirty="0"/>
          </a:p>
        </p:txBody>
      </p:sp>
      <p:sp>
        <p:nvSpPr>
          <p:cNvPr id="9" name="Variable b"/>
          <p:cNvSpPr/>
          <p:nvPr/>
        </p:nvSpPr>
        <p:spPr>
          <a:xfrm>
            <a:off x="1097280" y="4297680"/>
            <a:ext cx="457200" cy="457200"/>
          </a:xfrm>
          <a:prstGeom prst="rect">
            <a:avLst/>
          </a:prstGeom>
          <a:solidFill>
            <a:schemeClr val="bg1"/>
          </a:solidFill>
          <a:ln w="19050">
            <a:solidFill>
              <a:schemeClr val="accent1"/>
            </a:solidFill>
            <a:prstDash val="solid"/>
          </a:ln>
        </p:spPr>
      </p:sp>
      <p:sp>
        <p:nvSpPr>
          <p:cNvPr id="10" name="Referenzpunkt b"/>
          <p:cNvSpPr/>
          <p:nvPr/>
        </p:nvSpPr>
        <p:spPr>
          <a:xfrm>
            <a:off x="1271016" y="4471416"/>
            <a:ext cx="109728" cy="109728"/>
          </a:xfrm>
          <a:prstGeom prst="ellipse">
            <a:avLst/>
          </a:prstGeom>
          <a:solidFill>
            <a:schemeClr val="accent1"/>
          </a:solidFill>
          <a:ln/>
        </p:spPr>
      </p:sp>
      <p:sp>
        <p:nvSpPr>
          <p:cNvPr id="11" name="Regal a 0"/>
          <p:cNvSpPr txBox="1"/>
          <p:nvPr/>
        </p:nvSpPr>
        <p:spPr>
          <a:xfrm>
            <a:off x="2926080" y="3657600"/>
            <a:ext cx="777240" cy="64008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2000" b="1" dirty="0">
                <a:solidFill>
                  <a:schemeClr val="accent1"/>
                </a:solidFill>
              </a:rPr>
              <a:t>99</a:t>
            </a:r>
            <a:endParaRPr lang="en-US" sz="2000" dirty="0"/>
          </a:p>
        </p:txBody>
      </p:sp>
      <p:sp>
        <p:nvSpPr>
          <p:cNvPr id="12" name="Regal a 1"/>
          <p:cNvSpPr txBox="1"/>
          <p:nvPr/>
        </p:nvSpPr>
        <p:spPr>
          <a:xfrm>
            <a:off x="3703320" y="3657600"/>
            <a:ext cx="777240" cy="64008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2000" b="1" dirty="0">
                <a:solidFill>
                  <a:schemeClr val="accent1"/>
                </a:solidFill>
              </a:rPr>
              <a:t>2</a:t>
            </a:r>
            <a:endParaRPr lang="en-US" sz="2000" dirty="0"/>
          </a:p>
        </p:txBody>
      </p:sp>
      <p:sp>
        <p:nvSpPr>
          <p:cNvPr id="13" name="Regal a 2"/>
          <p:cNvSpPr txBox="1"/>
          <p:nvPr/>
        </p:nvSpPr>
        <p:spPr>
          <a:xfrm>
            <a:off x="4480560" y="3657600"/>
            <a:ext cx="777240" cy="64008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2000" b="1" dirty="0">
                <a:solidFill>
                  <a:schemeClr val="accent1"/>
                </a:solidFill>
              </a:rPr>
              <a:t>3</a:t>
            </a:r>
            <a:endParaRPr lang="en-US" sz="2000" dirty="0"/>
          </a:p>
        </p:txBody>
      </p:sp>
      <p:sp>
        <p:nvSpPr>
          <p:cNvPr id="14" name="Text 12"/>
          <p:cNvSpPr txBox="1"/>
          <p:nvPr/>
        </p:nvSpPr>
        <p:spPr>
          <a:xfrm>
            <a:off x="2926080" y="4325112"/>
            <a:ext cx="777240" cy="256032"/>
          </a:xfrm>
          <a:prstGeom prst="rect">
            <a:avLst/>
          </a:prstGeom>
          <a:noFill/>
          <a:ln/>
        </p:spPr>
        <p:txBody>
          <a:bodyPr wrap="square" lIns="0" tIns="0" rIns="0" bIns="0" rtlCol="0" anchor="t"/>
          <a:lstStyle/>
          <a:p>
            <a:pPr algn="ctr" indent="0" marL="0">
              <a:buNone/>
            </a:pPr>
            <a:r>
              <a:rPr lang="en-US" sz="1300" dirty="0">
                <a:solidFill>
                  <a:schemeClr val="accent6"/>
                </a:solidFill>
              </a:rPr>
              <a:t>0</a:t>
            </a:r>
            <a:endParaRPr lang="en-US" sz="1300" dirty="0"/>
          </a:p>
        </p:txBody>
      </p:sp>
      <p:sp>
        <p:nvSpPr>
          <p:cNvPr id="15" name="Text 13"/>
          <p:cNvSpPr txBox="1"/>
          <p:nvPr/>
        </p:nvSpPr>
        <p:spPr>
          <a:xfrm>
            <a:off x="3703320" y="4325112"/>
            <a:ext cx="777240" cy="256032"/>
          </a:xfrm>
          <a:prstGeom prst="rect">
            <a:avLst/>
          </a:prstGeom>
          <a:noFill/>
          <a:ln/>
        </p:spPr>
        <p:txBody>
          <a:bodyPr wrap="square" lIns="0" tIns="0" rIns="0" bIns="0" rtlCol="0" anchor="t"/>
          <a:lstStyle/>
          <a:p>
            <a:pPr algn="ctr" indent="0" marL="0">
              <a:buNone/>
            </a:pPr>
            <a:r>
              <a:rPr lang="en-US" sz="1300" dirty="0">
                <a:solidFill>
                  <a:schemeClr val="accent6"/>
                </a:solidFill>
              </a:rPr>
              <a:t>1</a:t>
            </a:r>
            <a:endParaRPr lang="en-US" sz="1300" dirty="0"/>
          </a:p>
        </p:txBody>
      </p:sp>
      <p:sp>
        <p:nvSpPr>
          <p:cNvPr id="16" name="Text 14"/>
          <p:cNvSpPr txBox="1"/>
          <p:nvPr/>
        </p:nvSpPr>
        <p:spPr>
          <a:xfrm>
            <a:off x="4480560" y="4325112"/>
            <a:ext cx="777240" cy="256032"/>
          </a:xfrm>
          <a:prstGeom prst="rect">
            <a:avLst/>
          </a:prstGeom>
          <a:noFill/>
          <a:ln/>
        </p:spPr>
        <p:txBody>
          <a:bodyPr wrap="square" lIns="0" tIns="0" rIns="0" bIns="0" rtlCol="0" anchor="t"/>
          <a:lstStyle/>
          <a:p>
            <a:pPr algn="ctr" indent="0" marL="0">
              <a:buNone/>
            </a:pPr>
            <a:r>
              <a:rPr lang="en-US" sz="1300" dirty="0">
                <a:solidFill>
                  <a:schemeClr val="accent6"/>
                </a:solidFill>
              </a:rPr>
              <a:t>2</a:t>
            </a:r>
            <a:endParaRPr lang="en-US" sz="1300" dirty="0"/>
          </a:p>
        </p:txBody>
      </p:sp>
      <p:sp>
        <p:nvSpPr>
          <p:cNvPr id="17" name="Linie"/>
          <p:cNvSpPr/>
          <p:nvPr/>
        </p:nvSpPr>
        <p:spPr>
          <a:xfrm>
            <a:off x="1325880" y="3611880"/>
            <a:ext cx="1554480" cy="228600"/>
          </a:xfrm>
          <a:prstGeom prst="line">
            <a:avLst/>
          </a:prstGeom>
          <a:noFill/>
          <a:ln w="28575">
            <a:solidFill>
              <a:schemeClr val="accent1"/>
            </a:solidFill>
            <a:prstDash val="solid"/>
            <a:tailEnd type="triangle"/>
          </a:ln>
        </p:spPr>
      </p:sp>
      <p:sp>
        <p:nvSpPr>
          <p:cNvPr id="18" name="Linie"/>
          <p:cNvSpPr/>
          <p:nvPr/>
        </p:nvSpPr>
        <p:spPr>
          <a:xfrm flipV="1">
            <a:off x="1325880" y="4160520"/>
            <a:ext cx="1554480" cy="365760"/>
          </a:xfrm>
          <a:prstGeom prst="line">
            <a:avLst/>
          </a:prstGeom>
          <a:noFill/>
          <a:ln w="28575">
            <a:solidFill>
              <a:schemeClr val="accent4"/>
            </a:solidFill>
            <a:prstDash val="solid"/>
            <a:tailEnd type="triangle"/>
          </a:ln>
        </p:spPr>
      </p:sp>
      <p:sp>
        <p:nvSpPr>
          <p:cNvPr id="19" name="Text 17"/>
          <p:cNvSpPr txBox="1"/>
          <p:nvPr/>
        </p:nvSpPr>
        <p:spPr>
          <a:xfrm>
            <a:off x="2926080" y="4663440"/>
            <a:ext cx="2926080" cy="274320"/>
          </a:xfrm>
          <a:prstGeom prst="rect">
            <a:avLst/>
          </a:prstGeom>
          <a:noFill/>
          <a:ln/>
        </p:spPr>
        <p:txBody>
          <a:bodyPr wrap="square" lIns="0" tIns="0" rIns="0" bIns="0" rtlCol="0" anchor="t"/>
          <a:lstStyle/>
          <a:p>
            <a:pPr indent="0" marL="0">
              <a:buNone/>
            </a:pPr>
            <a:r>
              <a:rPr lang="en-US" sz="1400" i="1" dirty="0">
                <a:solidFill>
                  <a:schemeClr val="accent6"/>
                </a:solidFill>
              </a:rPr>
              <a:t>beide Pfeile → dasselbe Regal</a:t>
            </a:r>
            <a:endParaRPr lang="en-US" sz="1400" dirty="0"/>
          </a:p>
        </p:txBody>
      </p:sp>
      <p:sp>
        <p:nvSpPr>
          <p:cNvPr id="20" name="Text 18"/>
          <p:cNvSpPr txBox="1"/>
          <p:nvPr/>
        </p:nvSpPr>
        <p:spPr>
          <a:xfrm>
            <a:off x="6217920" y="1280160"/>
            <a:ext cx="5394960" cy="365760"/>
          </a:xfrm>
          <a:prstGeom prst="rect">
            <a:avLst/>
          </a:prstGeom>
          <a:noFill/>
          <a:ln/>
        </p:spPr>
        <p:txBody>
          <a:bodyPr wrap="square" lIns="0" tIns="0" rIns="0" bIns="0" rtlCol="0" anchor="t"/>
          <a:lstStyle/>
          <a:p>
            <a:pPr indent="0" marL="0">
              <a:buNone/>
            </a:pPr>
            <a:r>
              <a:rPr lang="en-US" sz="1900" b="1" dirty="0">
                <a:solidFill>
                  <a:schemeClr val="accent3"/>
                </a:solidFill>
              </a:rPr>
              <a:t>Echte Kopie: neues Regal, Werte einzeln</a:t>
            </a:r>
            <a:endParaRPr lang="en-US" sz="1900" dirty="0"/>
          </a:p>
        </p:txBody>
      </p:sp>
      <p:sp>
        <p:nvSpPr>
          <p:cNvPr id="21" name="Code"/>
          <p:cNvSpPr txBox="1"/>
          <p:nvPr/>
        </p:nvSpPr>
        <p:spPr>
          <a:xfrm>
            <a:off x="6217920" y="1691640"/>
            <a:ext cx="5394960" cy="13177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int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c</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new</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int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length</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a:p>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for</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int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i</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0;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i</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&lt;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length</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i</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c</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i</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i</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p:txBody>
      </p:sp>
      <p:sp>
        <p:nvSpPr>
          <p:cNvPr id="22" name="Text 20"/>
          <p:cNvSpPr txBox="1"/>
          <p:nvPr/>
        </p:nvSpPr>
        <p:spPr>
          <a:xfrm>
            <a:off x="6217920" y="3291840"/>
            <a:ext cx="457200" cy="457200"/>
          </a:xfrm>
          <a:prstGeom prst="rect">
            <a:avLst/>
          </a:prstGeom>
          <a:noFill/>
          <a:ln/>
        </p:spPr>
        <p:txBody>
          <a:bodyPr wrap="square" lIns="0" tIns="0" rIns="0" bIns="0" rtlCol="0" anchor="ctr"/>
          <a:lstStyle/>
          <a:p>
            <a:pPr algn="r" indent="0" marL="0">
              <a:buNone/>
            </a:pPr>
            <a:r>
              <a:rPr lang="en-US" sz="1600" b="1" dirty="0">
                <a:solidFill>
                  <a:schemeClr val="accent1"/>
                </a:solidFill>
                <a:latin typeface="Consolas" pitchFamily="34" charset="0"/>
                <a:ea typeface="Consolas" pitchFamily="34" charset="-122"/>
                <a:cs typeface="Consolas" pitchFamily="34" charset="-120"/>
              </a:rPr>
              <a:t>a</a:t>
            </a:r>
            <a:endParaRPr lang="en-US" sz="1600" dirty="0"/>
          </a:p>
        </p:txBody>
      </p:sp>
      <p:sp>
        <p:nvSpPr>
          <p:cNvPr id="23" name="Variable a"/>
          <p:cNvSpPr/>
          <p:nvPr/>
        </p:nvSpPr>
        <p:spPr>
          <a:xfrm>
            <a:off x="6766560" y="3291840"/>
            <a:ext cx="457200" cy="457200"/>
          </a:xfrm>
          <a:prstGeom prst="rect">
            <a:avLst/>
          </a:prstGeom>
          <a:solidFill>
            <a:schemeClr val="bg1"/>
          </a:solidFill>
          <a:ln w="19050">
            <a:solidFill>
              <a:schemeClr val="accent1"/>
            </a:solidFill>
            <a:prstDash val="solid"/>
          </a:ln>
        </p:spPr>
      </p:sp>
      <p:sp>
        <p:nvSpPr>
          <p:cNvPr id="24" name="Referenzpunkt a"/>
          <p:cNvSpPr/>
          <p:nvPr/>
        </p:nvSpPr>
        <p:spPr>
          <a:xfrm>
            <a:off x="6940296" y="3465576"/>
            <a:ext cx="109728" cy="109728"/>
          </a:xfrm>
          <a:prstGeom prst="ellipse">
            <a:avLst/>
          </a:prstGeom>
          <a:solidFill>
            <a:schemeClr val="accent1"/>
          </a:solidFill>
          <a:ln/>
        </p:spPr>
      </p:sp>
      <p:sp>
        <p:nvSpPr>
          <p:cNvPr id="25" name="Text 23"/>
          <p:cNvSpPr txBox="1"/>
          <p:nvPr/>
        </p:nvSpPr>
        <p:spPr>
          <a:xfrm>
            <a:off x="6217920" y="4343400"/>
            <a:ext cx="457200" cy="457200"/>
          </a:xfrm>
          <a:prstGeom prst="rect">
            <a:avLst/>
          </a:prstGeom>
          <a:noFill/>
          <a:ln/>
        </p:spPr>
        <p:txBody>
          <a:bodyPr wrap="square" lIns="0" tIns="0" rIns="0" bIns="0" rtlCol="0" anchor="ctr"/>
          <a:lstStyle/>
          <a:p>
            <a:pPr algn="r" indent="0" marL="0">
              <a:buNone/>
            </a:pPr>
            <a:r>
              <a:rPr lang="en-US" sz="1600" b="1" dirty="0">
                <a:solidFill>
                  <a:schemeClr val="accent1"/>
                </a:solidFill>
                <a:latin typeface="Consolas" pitchFamily="34" charset="0"/>
                <a:ea typeface="Consolas" pitchFamily="34" charset="-122"/>
                <a:cs typeface="Consolas" pitchFamily="34" charset="-120"/>
              </a:rPr>
              <a:t>c</a:t>
            </a:r>
            <a:endParaRPr lang="en-US" sz="1600" dirty="0"/>
          </a:p>
        </p:txBody>
      </p:sp>
      <p:sp>
        <p:nvSpPr>
          <p:cNvPr id="26" name="Variable c"/>
          <p:cNvSpPr/>
          <p:nvPr/>
        </p:nvSpPr>
        <p:spPr>
          <a:xfrm>
            <a:off x="6766560" y="4343400"/>
            <a:ext cx="457200" cy="457200"/>
          </a:xfrm>
          <a:prstGeom prst="rect">
            <a:avLst/>
          </a:prstGeom>
          <a:solidFill>
            <a:schemeClr val="bg1"/>
          </a:solidFill>
          <a:ln w="19050">
            <a:solidFill>
              <a:schemeClr val="accent1"/>
            </a:solidFill>
            <a:prstDash val="solid"/>
          </a:ln>
        </p:spPr>
      </p:sp>
      <p:sp>
        <p:nvSpPr>
          <p:cNvPr id="27" name="Referenzpunkt c"/>
          <p:cNvSpPr/>
          <p:nvPr/>
        </p:nvSpPr>
        <p:spPr>
          <a:xfrm>
            <a:off x="6940296" y="4517136"/>
            <a:ext cx="109728" cy="109728"/>
          </a:xfrm>
          <a:prstGeom prst="ellipse">
            <a:avLst/>
          </a:prstGeom>
          <a:solidFill>
            <a:schemeClr val="accent1"/>
          </a:solidFill>
          <a:ln/>
        </p:spPr>
      </p:sp>
      <p:sp>
        <p:nvSpPr>
          <p:cNvPr id="28" name="Regal a2 0"/>
          <p:cNvSpPr txBox="1"/>
          <p:nvPr/>
        </p:nvSpPr>
        <p:spPr>
          <a:xfrm>
            <a:off x="8595360" y="3291840"/>
            <a:ext cx="777240" cy="50292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800" b="1" dirty="0">
                <a:solidFill>
                  <a:schemeClr val="accent1"/>
                </a:solidFill>
              </a:rPr>
              <a:t>99</a:t>
            </a:r>
            <a:endParaRPr lang="en-US" sz="1800" dirty="0"/>
          </a:p>
        </p:txBody>
      </p:sp>
      <p:sp>
        <p:nvSpPr>
          <p:cNvPr id="29" name="Regal a2 1"/>
          <p:cNvSpPr txBox="1"/>
          <p:nvPr/>
        </p:nvSpPr>
        <p:spPr>
          <a:xfrm>
            <a:off x="9372600" y="3291840"/>
            <a:ext cx="777240" cy="50292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800" b="1" dirty="0">
                <a:solidFill>
                  <a:schemeClr val="accent1"/>
                </a:solidFill>
              </a:rPr>
              <a:t>2</a:t>
            </a:r>
            <a:endParaRPr lang="en-US" sz="1800" dirty="0"/>
          </a:p>
        </p:txBody>
      </p:sp>
      <p:sp>
        <p:nvSpPr>
          <p:cNvPr id="30" name="Regal a2 2"/>
          <p:cNvSpPr txBox="1"/>
          <p:nvPr/>
        </p:nvSpPr>
        <p:spPr>
          <a:xfrm>
            <a:off x="10149840" y="3291840"/>
            <a:ext cx="777240" cy="50292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800" b="1" dirty="0">
                <a:solidFill>
                  <a:schemeClr val="accent1"/>
                </a:solidFill>
              </a:rPr>
              <a:t>3</a:t>
            </a:r>
            <a:endParaRPr lang="en-US" sz="1800" dirty="0"/>
          </a:p>
        </p:txBody>
      </p:sp>
      <p:sp>
        <p:nvSpPr>
          <p:cNvPr id="31" name="Regal c 0"/>
          <p:cNvSpPr txBox="1"/>
          <p:nvPr/>
        </p:nvSpPr>
        <p:spPr>
          <a:xfrm>
            <a:off x="8595360" y="4343400"/>
            <a:ext cx="777240" cy="50292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800" b="1" dirty="0">
                <a:solidFill>
                  <a:schemeClr val="accent1"/>
                </a:solidFill>
              </a:rPr>
              <a:t>99</a:t>
            </a:r>
            <a:endParaRPr lang="en-US" sz="1800" dirty="0"/>
          </a:p>
        </p:txBody>
      </p:sp>
      <p:sp>
        <p:nvSpPr>
          <p:cNvPr id="32" name="Regal c 1"/>
          <p:cNvSpPr txBox="1"/>
          <p:nvPr/>
        </p:nvSpPr>
        <p:spPr>
          <a:xfrm>
            <a:off x="9372600" y="4343400"/>
            <a:ext cx="777240" cy="50292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800" b="1" dirty="0">
                <a:solidFill>
                  <a:schemeClr val="accent1"/>
                </a:solidFill>
              </a:rPr>
              <a:t>7</a:t>
            </a:r>
            <a:endParaRPr lang="en-US" sz="1800" dirty="0"/>
          </a:p>
        </p:txBody>
      </p:sp>
      <p:sp>
        <p:nvSpPr>
          <p:cNvPr id="33" name="Regal c 2"/>
          <p:cNvSpPr txBox="1"/>
          <p:nvPr/>
        </p:nvSpPr>
        <p:spPr>
          <a:xfrm>
            <a:off x="10149840" y="4343400"/>
            <a:ext cx="777240" cy="50292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800" b="1" dirty="0">
                <a:solidFill>
                  <a:schemeClr val="accent1"/>
                </a:solidFill>
              </a:rPr>
              <a:t>3</a:t>
            </a:r>
            <a:endParaRPr lang="en-US" sz="1800" dirty="0"/>
          </a:p>
        </p:txBody>
      </p:sp>
      <p:sp>
        <p:nvSpPr>
          <p:cNvPr id="34" name="Linie"/>
          <p:cNvSpPr/>
          <p:nvPr/>
        </p:nvSpPr>
        <p:spPr>
          <a:xfrm>
            <a:off x="6995160" y="3520440"/>
            <a:ext cx="1554480" cy="91"/>
          </a:xfrm>
          <a:prstGeom prst="line">
            <a:avLst/>
          </a:prstGeom>
          <a:noFill/>
          <a:ln w="28575">
            <a:solidFill>
              <a:schemeClr val="accent1"/>
            </a:solidFill>
            <a:prstDash val="solid"/>
            <a:tailEnd type="triangle"/>
          </a:ln>
        </p:spPr>
      </p:sp>
      <p:sp>
        <p:nvSpPr>
          <p:cNvPr id="35" name="Linie"/>
          <p:cNvSpPr/>
          <p:nvPr/>
        </p:nvSpPr>
        <p:spPr>
          <a:xfrm>
            <a:off x="6995160" y="4572000"/>
            <a:ext cx="1554480" cy="91"/>
          </a:xfrm>
          <a:prstGeom prst="line">
            <a:avLst/>
          </a:prstGeom>
          <a:noFill/>
          <a:ln w="28575">
            <a:solidFill>
              <a:schemeClr val="accent3"/>
            </a:solidFill>
            <a:prstDash val="solid"/>
            <a:tailEnd type="triangle"/>
          </a:ln>
        </p:spPr>
      </p:sp>
      <p:sp>
        <p:nvSpPr>
          <p:cNvPr id="36" name="Text 34"/>
          <p:cNvSpPr txBox="1"/>
          <p:nvPr/>
        </p:nvSpPr>
        <p:spPr>
          <a:xfrm>
            <a:off x="8595360" y="4892040"/>
            <a:ext cx="3017520" cy="274320"/>
          </a:xfrm>
          <a:prstGeom prst="rect">
            <a:avLst/>
          </a:prstGeom>
          <a:noFill/>
          <a:ln/>
        </p:spPr>
        <p:txBody>
          <a:bodyPr wrap="square" lIns="0" tIns="0" rIns="0" bIns="0" rtlCol="0" anchor="t"/>
          <a:lstStyle/>
          <a:p>
            <a:pPr indent="0" marL="0">
              <a:buNone/>
            </a:pPr>
            <a:r>
              <a:rPr lang="en-US" sz="1400" i="1" dirty="0">
                <a:solidFill>
                  <a:schemeClr val="accent6"/>
                </a:solidFill>
              </a:rPr>
              <a:t>c[1] = 7 ändert nur c</a:t>
            </a:r>
            <a:endParaRPr lang="en-US" sz="1400" dirty="0"/>
          </a:p>
        </p:txBody>
      </p:sp>
      <p:sp>
        <p:nvSpPr>
          <p:cNvPr id="37" name="Merke Referenz"/>
          <p:cNvSpPr/>
          <p:nvPr/>
        </p:nvSpPr>
        <p:spPr>
          <a:xfrm>
            <a:off x="548640" y="5303520"/>
            <a:ext cx="11064240" cy="822960"/>
          </a:xfrm>
          <a:prstGeom prst="roundRect">
            <a:avLst>
              <a:gd name="adj" fmla="val 13333"/>
            </a:avLst>
          </a:prstGeom>
          <a:solidFill>
            <a:schemeClr val="bg2"/>
          </a:solidFill>
          <a:ln/>
        </p:spPr>
      </p:sp>
      <p:sp>
        <p:nvSpPr>
          <p:cNvPr id="38" name="Text 36"/>
          <p:cNvSpPr txBox="1"/>
          <p:nvPr/>
        </p:nvSpPr>
        <p:spPr>
          <a:xfrm>
            <a:off x="749808" y="5303520"/>
            <a:ext cx="10698480" cy="822960"/>
          </a:xfrm>
          <a:prstGeom prst="rect">
            <a:avLst/>
          </a:prstGeom>
          <a:noFill/>
          <a:ln/>
        </p:spPr>
        <p:txBody>
          <a:bodyPr wrap="square" lIns="0" tIns="0" rIns="0" bIns="0" rtlCol="0" anchor="ctr"/>
          <a:lstStyle/>
          <a:p>
            <a:pPr indent="0" marL="0">
              <a:buNone/>
            </a:pPr>
            <a:r>
              <a:rPr lang="en-US" sz="1700" b="1" dirty="0">
                <a:solidFill>
                  <a:schemeClr val="accent1"/>
                </a:solidFill>
              </a:rPr>
              <a:t>Merke: </a:t>
            </a:r>
            <a:pPr indent="0" marL="0">
              <a:buNone/>
            </a:pPr>
            <a:r>
              <a:rPr lang="en-US" sz="1700" dirty="0">
                <a:solidFill>
                  <a:schemeClr val="tx1"/>
                </a:solidFill>
              </a:rPr>
              <a:t>Eine Reihungsvariable enthält nicht das Regal, sondern eine Referenz (einen Pfeil) darauf. Eine Kopie entsteht nur mit </a:t>
            </a:r>
            <a:pPr indent="0" marL="0">
              <a:buNone/>
            </a:pPr>
            <a:r>
              <a:rPr lang="en-US" sz="1700" b="1" dirty="0">
                <a:solidFill>
                  <a:schemeClr val="tx1"/>
                </a:solidFill>
                <a:latin typeface="Consolas" pitchFamily="34" charset="0"/>
                <a:ea typeface="Consolas" pitchFamily="34" charset="-122"/>
                <a:cs typeface="Consolas" pitchFamily="34" charset="-120"/>
              </a:rPr>
              <a:t>new</a:t>
            </a:r>
            <a:pPr indent="0" marL="0">
              <a:buNone/>
            </a:pPr>
            <a:r>
              <a:rPr lang="en-US" sz="1700" dirty="0">
                <a:solidFill>
                  <a:schemeClr val="tx1"/>
                </a:solidFill>
              </a:rPr>
              <a:t>.</a:t>
            </a:r>
            <a:endParaRPr lang="en-US" sz="1700" dirty="0"/>
          </a:p>
        </p:txBody>
      </p:sp>
      <p:sp>
        <p:nvSpPr>
          <p:cNvPr id="39" name="Text 37"/>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3 · Vorratskammer</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Zeichenketten: was im Abitur erlaubt ist</a:t>
            </a:r>
            <a:endParaRPr lang="en-US" sz="3600" dirty="0"/>
          </a:p>
        </p:txBody>
      </p:sp>
      <p:sp>
        <p:nvSpPr>
          <p:cNvPr id="3" name="Text 1"/>
          <p:cNvSpPr txBox="1"/>
          <p:nvPr/>
        </p:nvSpPr>
        <p:spPr>
          <a:xfrm>
            <a:off x="548640" y="1280160"/>
            <a:ext cx="7589520" cy="365760"/>
          </a:xfrm>
          <a:prstGeom prst="rect">
            <a:avLst/>
          </a:prstGeom>
          <a:noFill/>
          <a:ln/>
        </p:spPr>
        <p:txBody>
          <a:bodyPr wrap="square" lIns="0" tIns="0" rIns="0" bIns="0" rtlCol="0" anchor="ctr"/>
          <a:lstStyle/>
          <a:p>
            <a:pPr indent="0" marL="0">
              <a:buNone/>
            </a:pPr>
            <a:r>
              <a:rPr lang="en-US" sz="1800" dirty="0">
                <a:solidFill>
                  <a:schemeClr val="accent6"/>
                </a:solidFill>
              </a:rPr>
              <a:t>Beispiel: </a:t>
            </a:r>
            <a:pPr indent="0" marL="0">
              <a:buNone/>
            </a:pPr>
            <a:r>
              <a:rPr lang="en-US" sz="1800" b="1" dirty="0">
                <a:solidFill>
                  <a:schemeClr val="accent1"/>
                </a:solidFill>
                <a:latin typeface="Consolas" pitchFamily="34" charset="0"/>
                <a:ea typeface="Consolas" pitchFamily="34" charset="-122"/>
                <a:cs typeface="Consolas" pitchFamily="34" charset="-120"/>
              </a:rPr>
              <a:t>String s = "Feuerball";</a:t>
            </a:r>
            <a:endParaRPr lang="en-US" sz="1800" dirty="0"/>
          </a:p>
        </p:txBody>
      </p:sp>
      <p:graphicFrame>
        <p:nvGraphicFramePr>
          <p:cNvPr id="14" name="Erlaubte Operationen"/>
          <p:cNvGraphicFramePr>
            <a:graphicFrameLocks noGrp="1"/>
          </p:cNvGraphicFramePr>
          <p:nvPr>
            <p:extLst>
              <p:ext uri="{D42A27DB-BD31-4B8C-83A1-F6EECF244321}">
                <p14:modId xmlns:p14="http://schemas.microsoft.com/office/powerpoint/2010/main" val="1579011935"/>
              </p:ext>
            </p:extLst>
          </p:nvPr>
        </p:nvGraphicFramePr>
        <p:xfrm>
          <a:off x="548640" y="1737360"/>
          <a:ext cx="7680960" cy="914400"/>
        </p:xfrm>
        <a:graphic>
          <a:graphicData uri="http://schemas.openxmlformats.org/drawingml/2006/table">
            <a:tbl>
              <a:tblPr/>
              <a:tblGrid>
                <a:gridCol w="2514600"/>
                <a:gridCol w="2971800"/>
                <a:gridCol w="2194560"/>
              </a:tblGrid>
              <a:tr h="384048">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Operation (EH)</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Java</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Ergebnis</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384048">
                <a:tc>
                  <a:txBody>
                    <a:bodyPr/>
                    <a:lstStyle/>
                    <a:p>
                      <a:pPr algn="l" indent="0" marL="0">
                        <a:buNone/>
                      </a:pPr>
                      <a:r>
                        <a:rPr lang="en-US" sz="1500" b="1" dirty="0">
                          <a:solidFill>
                            <a:schemeClr val="accent1"/>
                          </a:solidFill>
                          <a:latin typeface="Calibri" pitchFamily="34" charset="0"/>
                          <a:ea typeface="Calibri" pitchFamily="34" charset="-122"/>
                          <a:cs typeface="Calibri" pitchFamily="34" charset="-120"/>
                        </a:rPr>
                        <a:t>Länge</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onsolas" pitchFamily="34" charset="0"/>
                          <a:ea typeface="Consolas" pitchFamily="34" charset="-122"/>
                          <a:cs typeface="Consolas" pitchFamily="34" charset="-120"/>
                        </a:rPr>
                        <a:t>s.length()</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tx1"/>
                          </a:solidFill>
                          <a:latin typeface="Consolas" pitchFamily="34" charset="0"/>
                          <a:ea typeface="Consolas" pitchFamily="34" charset="-122"/>
                          <a:cs typeface="Consolas" pitchFamily="34" charset="-120"/>
                        </a:rPr>
                        <a:t>9</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l" indent="0" marL="0">
                        <a:buNone/>
                      </a:pPr>
                      <a:r>
                        <a:rPr lang="en-US" sz="1500" b="1" dirty="0">
                          <a:solidFill>
                            <a:schemeClr val="accent1"/>
                          </a:solidFill>
                          <a:latin typeface="Calibri" pitchFamily="34" charset="0"/>
                          <a:ea typeface="Calibri" pitchFamily="34" charset="-122"/>
                          <a:cs typeface="Calibri" pitchFamily="34" charset="-120"/>
                        </a:rPr>
                        <a:t>Zeichen an Position</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onsolas" pitchFamily="34" charset="0"/>
                          <a:ea typeface="Consolas" pitchFamily="34" charset="-122"/>
                          <a:cs typeface="Consolas" pitchFamily="34" charset="-120"/>
                        </a:rPr>
                        <a:t>s.charAt(0)</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tx1"/>
                          </a:solidFill>
                          <a:latin typeface="Consolas" pitchFamily="34" charset="0"/>
                          <a:ea typeface="Consolas" pitchFamily="34" charset="-122"/>
                          <a:cs typeface="Consolas" pitchFamily="34" charset="-120"/>
                        </a:rPr>
                        <a:t>'F'</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l" indent="0" marL="0">
                        <a:buNone/>
                      </a:pPr>
                      <a:r>
                        <a:rPr lang="en-US" sz="1500" b="1" dirty="0">
                          <a:solidFill>
                            <a:schemeClr val="accent1"/>
                          </a:solidFill>
                          <a:latin typeface="Calibri" pitchFamily="34" charset="0"/>
                          <a:ea typeface="Calibri" pitchFamily="34" charset="-122"/>
                          <a:cs typeface="Calibri" pitchFamily="34" charset="-120"/>
                        </a:rPr>
                        <a:t>Teilzeichenkette</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onsolas" pitchFamily="34" charset="0"/>
                          <a:ea typeface="Consolas" pitchFamily="34" charset="-122"/>
                          <a:cs typeface="Consolas" pitchFamily="34" charset="-120"/>
                        </a:rPr>
                        <a:t>s.substring(0, 5)</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tx1"/>
                          </a:solidFill>
                          <a:latin typeface="Consolas" pitchFamily="34" charset="0"/>
                          <a:ea typeface="Consolas" pitchFamily="34" charset="-122"/>
                          <a:cs typeface="Consolas" pitchFamily="34" charset="-120"/>
                        </a:rPr>
                        <a:t>"Feuer"</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l" indent="0" marL="0">
                        <a:buNone/>
                      </a:pPr>
                      <a:r>
                        <a:rPr lang="en-US" sz="1500" b="1" dirty="0">
                          <a:solidFill>
                            <a:schemeClr val="accent1"/>
                          </a:solidFill>
                          <a:latin typeface="Calibri" pitchFamily="34" charset="0"/>
                          <a:ea typeface="Calibri" pitchFamily="34" charset="-122"/>
                          <a:cs typeface="Calibri" pitchFamily="34" charset="-120"/>
                        </a:rPr>
                        <a:t>Verketten</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onsolas" pitchFamily="34" charset="0"/>
                          <a:ea typeface="Consolas" pitchFamily="34" charset="-122"/>
                          <a:cs typeface="Consolas" pitchFamily="34" charset="-120"/>
                        </a:rPr>
                        <a:t>s + "!"</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tx1"/>
                          </a:solidFill>
                          <a:latin typeface="Consolas" pitchFamily="34" charset="0"/>
                          <a:ea typeface="Consolas" pitchFamily="34" charset="-122"/>
                          <a:cs typeface="Consolas" pitchFamily="34" charset="-120"/>
                        </a:rPr>
                        <a:t>"Feuerball!"</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l" indent="0" marL="0">
                        <a:buNone/>
                      </a:pPr>
                      <a:r>
                        <a:rPr lang="en-US" sz="1500" b="1" dirty="0">
                          <a:solidFill>
                            <a:schemeClr val="accent1"/>
                          </a:solidFill>
                          <a:latin typeface="Calibri" pitchFamily="34" charset="0"/>
                          <a:ea typeface="Calibri" pitchFamily="34" charset="-122"/>
                          <a:cs typeface="Calibri" pitchFamily="34" charset="-120"/>
                        </a:rPr>
                        <a:t>Gleichheit</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onsolas" pitchFamily="34" charset="0"/>
                          <a:ea typeface="Consolas" pitchFamily="34" charset="-122"/>
                          <a:cs typeface="Consolas" pitchFamily="34" charset="-120"/>
                        </a:rPr>
                        <a:t>s.equals("Feuerball")</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tx1"/>
                          </a:solidFill>
                          <a:latin typeface="Consolas" pitchFamily="34" charset="0"/>
                          <a:ea typeface="Consolas" pitchFamily="34" charset="-122"/>
                          <a:cs typeface="Consolas" pitchFamily="34" charset="-120"/>
                        </a:rPr>
                        <a:t>true</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l" indent="0" marL="0">
                        <a:buNone/>
                      </a:pPr>
                      <a:r>
                        <a:rPr lang="en-US" sz="1500" b="1" dirty="0">
                          <a:solidFill>
                            <a:schemeClr val="accent1"/>
                          </a:solidFill>
                          <a:latin typeface="Calibri" pitchFamily="34" charset="0"/>
                          <a:ea typeface="Calibri" pitchFamily="34" charset="-122"/>
                          <a:cs typeface="Calibri" pitchFamily="34" charset="-120"/>
                        </a:rPr>
                        <a:t>enthält Teilzeichenkette</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onsolas" pitchFamily="34" charset="0"/>
                          <a:ea typeface="Consolas" pitchFamily="34" charset="-122"/>
                          <a:cs typeface="Consolas" pitchFamily="34" charset="-120"/>
                        </a:rPr>
                        <a:t>s.contains("ball")</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tx1"/>
                          </a:solidFill>
                          <a:latin typeface="Consolas" pitchFamily="34" charset="0"/>
                          <a:ea typeface="Consolas" pitchFamily="34" charset="-122"/>
                          <a:cs typeface="Consolas" pitchFamily="34" charset="-120"/>
                        </a:rPr>
                        <a:t>true</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l" indent="0" marL="0">
                        <a:buNone/>
                      </a:pPr>
                      <a:r>
                        <a:rPr lang="en-US" sz="1500" b="1" dirty="0">
                          <a:solidFill>
                            <a:schemeClr val="accent1"/>
                          </a:solidFill>
                          <a:latin typeface="Calibri" pitchFamily="34" charset="0"/>
                          <a:ea typeface="Calibri" pitchFamily="34" charset="-122"/>
                          <a:cs typeface="Calibri" pitchFamily="34" charset="-120"/>
                        </a:rPr>
                        <a:t>lexikographischer Vergleich</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onsolas" pitchFamily="34" charset="0"/>
                          <a:ea typeface="Consolas" pitchFamily="34" charset="-122"/>
                          <a:cs typeface="Consolas" pitchFamily="34" charset="-120"/>
                        </a:rPr>
                        <a:t>"Aria".compareTo("Brann")</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tx1"/>
                          </a:solidFill>
                          <a:latin typeface="Consolas" pitchFamily="34" charset="0"/>
                          <a:ea typeface="Consolas" pitchFamily="34" charset="-122"/>
                          <a:cs typeface="Consolas" pitchFamily="34" charset="-120"/>
                        </a:rPr>
                        <a:t>-1 (davor)</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l" indent="0" marL="0">
                        <a:buNone/>
                      </a:pPr>
                      <a:r>
                        <a:rPr lang="en-US" sz="1500" b="1" dirty="0">
                          <a:solidFill>
                            <a:schemeClr val="accent1"/>
                          </a:solidFill>
                          <a:latin typeface="Calibri" pitchFamily="34" charset="0"/>
                          <a:ea typeface="Calibri" pitchFamily="34" charset="-122"/>
                          <a:cs typeface="Calibri" pitchFamily="34" charset="-120"/>
                        </a:rPr>
                        <a:t>ASCII-Wert ↔ Zeichen</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onsolas" pitchFamily="34" charset="0"/>
                          <a:ea typeface="Consolas" pitchFamily="34" charset="-122"/>
                          <a:cs typeface="Consolas" pitchFamily="34" charset="-120"/>
                        </a:rPr>
                        <a:t>(int) 'A'    (char) 98</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tx1"/>
                          </a:solidFill>
                          <a:latin typeface="Consolas" pitchFamily="34" charset="0"/>
                          <a:ea typeface="Consolas" pitchFamily="34" charset="-122"/>
                          <a:cs typeface="Consolas" pitchFamily="34" charset="-120"/>
                        </a:rPr>
                        <a:t>65    'b'</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5" name="Verboten"/>
          <p:cNvSpPr/>
          <p:nvPr/>
        </p:nvSpPr>
        <p:spPr>
          <a:xfrm>
            <a:off x="8503920" y="1325880"/>
            <a:ext cx="3108960" cy="2697480"/>
          </a:xfrm>
          <a:prstGeom prst="roundRect">
            <a:avLst>
              <a:gd name="adj" fmla="val 4068"/>
            </a:avLst>
          </a:prstGeom>
          <a:solidFill>
            <a:schemeClr val="bg1"/>
          </a:solidFill>
          <a:ln w="25400">
            <a:solidFill>
              <a:schemeClr val="accent4"/>
            </a:solidFill>
            <a:prstDash val="solid"/>
          </a:ln>
        </p:spPr>
      </p:sp>
      <p:sp>
        <p:nvSpPr>
          <p:cNvPr id="6" name="Text 3"/>
          <p:cNvSpPr txBox="1"/>
          <p:nvPr/>
        </p:nvSpPr>
        <p:spPr>
          <a:xfrm>
            <a:off x="8686800" y="1463040"/>
            <a:ext cx="2834640" cy="2468880"/>
          </a:xfrm>
          <a:prstGeom prst="rect">
            <a:avLst/>
          </a:prstGeom>
          <a:noFill/>
          <a:ln/>
        </p:spPr>
        <p:txBody>
          <a:bodyPr wrap="square" lIns="0" tIns="0" rIns="0" bIns="0" rtlCol="0" anchor="t"/>
          <a:lstStyle/>
          <a:p>
            <a:pPr indent="0" marL="0">
              <a:spcAft>
                <a:spcPts val="300"/>
              </a:spcAft>
              <a:buNone/>
            </a:pPr>
            <a:r>
              <a:rPr lang="en-US" sz="1900" b="1" dirty="0">
                <a:solidFill>
                  <a:schemeClr val="accent4"/>
                </a:solidFill>
              </a:rPr>
              <a:t>Nicht verwenden</a:t>
            </a:r>
            <a:endParaRPr lang="en-US" sz="1800" dirty="0"/>
          </a:p>
          <a:p>
            <a:pPr marL="342900" indent="-342900">
              <a:spcAft>
                <a:spcPts val="300"/>
              </a:spcAft>
              <a:buSzPct val="100000"/>
              <a:buChar char="•"/>
            </a:pPr>
            <a:r>
              <a:rPr lang="en-US" sz="1500" dirty="0">
                <a:solidFill>
                  <a:schemeClr val="tx1"/>
                </a:solidFill>
                <a:latin typeface="Consolas" pitchFamily="34" charset="0"/>
                <a:ea typeface="Consolas" pitchFamily="34" charset="-122"/>
                <a:cs typeface="Consolas" pitchFamily="34" charset="-120"/>
              </a:rPr>
              <a:t>toLowerCase()</a:t>
            </a:r>
            <a:endParaRPr lang="en-US" sz="1800" dirty="0"/>
          </a:p>
          <a:p>
            <a:pPr marL="342900" indent="-342900">
              <a:spcAft>
                <a:spcPts val="300"/>
              </a:spcAft>
              <a:buSzPct val="100000"/>
              <a:buChar char="•"/>
            </a:pPr>
            <a:r>
              <a:rPr lang="en-US" sz="1500" dirty="0">
                <a:solidFill>
                  <a:schemeClr val="tx1"/>
                </a:solidFill>
                <a:latin typeface="Consolas" pitchFamily="34" charset="0"/>
                <a:ea typeface="Consolas" pitchFamily="34" charset="-122"/>
                <a:cs typeface="Consolas" pitchFamily="34" charset="-120"/>
              </a:rPr>
              <a:t>toUpperCase()</a:t>
            </a:r>
            <a:endParaRPr lang="en-US" sz="1800" dirty="0"/>
          </a:p>
          <a:p>
            <a:pPr marL="342900" indent="-342900">
              <a:spcAft>
                <a:spcPts val="300"/>
              </a:spcAft>
              <a:buSzPct val="100000"/>
              <a:buChar char="•"/>
            </a:pPr>
            <a:r>
              <a:rPr lang="en-US" sz="1500" dirty="0">
                <a:solidFill>
                  <a:schemeClr val="tx1"/>
                </a:solidFill>
                <a:latin typeface="Consolas" pitchFamily="34" charset="0"/>
                <a:ea typeface="Consolas" pitchFamily="34" charset="-122"/>
                <a:cs typeface="Consolas" pitchFamily="34" charset="-120"/>
              </a:rPr>
              <a:t>split(…)</a:t>
            </a:r>
            <a:endParaRPr lang="en-US" sz="1800" dirty="0"/>
          </a:p>
          <a:p>
            <a:pPr marL="342900" indent="-342900">
              <a:spcAft>
                <a:spcPts val="300"/>
              </a:spcAft>
              <a:buSzPct val="100000"/>
              <a:buChar char="•"/>
            </a:pPr>
            <a:r>
              <a:rPr lang="en-US" sz="1500" dirty="0">
                <a:solidFill>
                  <a:schemeClr val="tx1"/>
                </a:solidFill>
                <a:latin typeface="Consolas" pitchFamily="34" charset="0"/>
                <a:ea typeface="Consolas" pitchFamily="34" charset="-122"/>
                <a:cs typeface="Consolas" pitchFamily="34" charset="-120"/>
              </a:rPr>
              <a:t>indexOf(…)</a:t>
            </a:r>
            <a:endParaRPr lang="en-US" sz="1800" dirty="0"/>
          </a:p>
          <a:p>
            <a:pPr marL="342900" indent="-342900">
              <a:spcAft>
                <a:spcPts val="300"/>
              </a:spcAft>
              <a:buSzPct val="100000"/>
              <a:buChar char="•"/>
            </a:pPr>
            <a:r>
              <a:rPr lang="en-US" sz="1500" dirty="0">
                <a:solidFill>
                  <a:schemeClr val="tx1"/>
                </a:solidFill>
                <a:latin typeface="Consolas" pitchFamily="34" charset="0"/>
                <a:ea typeface="Consolas" pitchFamily="34" charset="-122"/>
                <a:cs typeface="Consolas" pitchFamily="34" charset="-120"/>
              </a:rPr>
              <a:t>trim()</a:t>
            </a:r>
            <a:endParaRPr lang="en-US" sz="1800" dirty="0"/>
          </a:p>
          <a:p>
            <a:pPr marL="342900" indent="-342900">
              <a:spcAft>
                <a:spcPts val="300"/>
              </a:spcAft>
              <a:buSzPct val="100000"/>
              <a:buChar char="•"/>
            </a:pPr>
            <a:r>
              <a:rPr lang="en-US" sz="1500" dirty="0">
                <a:solidFill>
                  <a:schemeClr val="tx1"/>
                </a:solidFill>
                <a:latin typeface="Consolas" pitchFamily="34" charset="0"/>
                <a:ea typeface="Consolas" pitchFamily="34" charset="-122"/>
                <a:cs typeface="Consolas" pitchFamily="34" charset="-120"/>
              </a:rPr>
              <a:t>replace(…)</a:t>
            </a:r>
            <a:endParaRPr lang="en-US" sz="1800" dirty="0"/>
          </a:p>
        </p:txBody>
      </p:sp>
      <p:sp>
        <p:nvSpPr>
          <p:cNvPr id="7" name="Achtung equals"/>
          <p:cNvSpPr/>
          <p:nvPr/>
        </p:nvSpPr>
        <p:spPr>
          <a:xfrm>
            <a:off x="8503920" y="4206240"/>
            <a:ext cx="3108960" cy="1143000"/>
          </a:xfrm>
          <a:prstGeom prst="roundRect">
            <a:avLst>
              <a:gd name="adj" fmla="val 9600"/>
            </a:avLst>
          </a:prstGeom>
          <a:solidFill>
            <a:schemeClr val="bg1"/>
          </a:solidFill>
          <a:ln w="25400">
            <a:solidFill>
              <a:schemeClr val="accent4"/>
            </a:solidFill>
            <a:prstDash val="solid"/>
          </a:ln>
        </p:spPr>
      </p:sp>
      <p:sp>
        <p:nvSpPr>
          <p:cNvPr id="8" name="Text 5"/>
          <p:cNvSpPr txBox="1"/>
          <p:nvPr/>
        </p:nvSpPr>
        <p:spPr>
          <a:xfrm>
            <a:off x="8705088" y="4206240"/>
            <a:ext cx="2743200" cy="1143000"/>
          </a:xfrm>
          <a:prstGeom prst="rect">
            <a:avLst/>
          </a:prstGeom>
          <a:noFill/>
          <a:ln/>
        </p:spPr>
        <p:txBody>
          <a:bodyPr wrap="square" lIns="0" tIns="0" rIns="0" bIns="0" rtlCol="0" anchor="ctr"/>
          <a:lstStyle/>
          <a:p>
            <a:pPr indent="0" marL="0">
              <a:buNone/>
            </a:pPr>
            <a:r>
              <a:rPr lang="en-US" sz="1600" b="1" dirty="0">
                <a:solidFill>
                  <a:schemeClr val="accent4"/>
                </a:solidFill>
              </a:rPr>
              <a:t>Vergleich: </a:t>
            </a:r>
            <a:pPr indent="0" marL="0">
              <a:buNone/>
            </a:pPr>
            <a:r>
              <a:rPr lang="en-US" sz="1600" b="1" dirty="0">
                <a:solidFill>
                  <a:schemeClr val="tx1"/>
                </a:solidFill>
                <a:latin typeface="Consolas" pitchFamily="34" charset="0"/>
                <a:ea typeface="Consolas" pitchFamily="34" charset="-122"/>
                <a:cs typeface="Consolas" pitchFamily="34" charset="-120"/>
              </a:rPr>
              <a:t>equals</a:t>
            </a:r>
            <a:pPr indent="0" marL="0">
              <a:buNone/>
            </a:pPr>
            <a:r>
              <a:rPr lang="en-US" sz="1600" dirty="0">
                <a:solidFill>
                  <a:schemeClr val="tx1"/>
                </a:solidFill>
              </a:rPr>
              <a:t>, nie </a:t>
            </a:r>
            <a:pPr indent="0" marL="0">
              <a:buNone/>
            </a:pPr>
            <a:r>
              <a:rPr lang="en-US" sz="1600" b="1" dirty="0">
                <a:solidFill>
                  <a:schemeClr val="tx1"/>
                </a:solidFill>
                <a:latin typeface="Consolas" pitchFamily="34" charset="0"/>
                <a:ea typeface="Consolas" pitchFamily="34" charset="-122"/>
                <a:cs typeface="Consolas" pitchFamily="34" charset="-120"/>
              </a:rPr>
              <a:t>==</a:t>
            </a:r>
            <a:pPr indent="0" marL="0">
              <a:buNone/>
            </a:pPr>
            <a:r>
              <a:rPr lang="en-US" sz="1600" dirty="0">
                <a:solidFill>
                  <a:schemeClr val="tx1"/>
                </a:solidFill>
              </a:rPr>
              <a:t> bei Zeichenketten.</a:t>
            </a:r>
            <a:endParaRPr lang="en-US" sz="1600" dirty="0"/>
          </a:p>
        </p:txBody>
      </p:sp>
      <p:sp>
        <p:nvSpPr>
          <p:cNvPr id="9" name="Text 6"/>
          <p:cNvSpPr txBox="1"/>
          <p:nvPr/>
        </p:nvSpPr>
        <p:spPr>
          <a:xfrm>
            <a:off x="548640" y="5349240"/>
            <a:ext cx="7680960" cy="777240"/>
          </a:xfrm>
          <a:prstGeom prst="rect">
            <a:avLst/>
          </a:prstGeom>
          <a:noFill/>
          <a:ln/>
        </p:spPr>
        <p:txBody>
          <a:bodyPr wrap="square" lIns="0" tIns="0" rIns="0" bIns="0" rtlCol="0" anchor="ctr"/>
          <a:lstStyle/>
          <a:p>
            <a:pPr indent="0" marL="0">
              <a:buNone/>
            </a:pPr>
            <a:r>
              <a:rPr lang="en-US" sz="1600" b="1" dirty="0">
                <a:solidFill>
                  <a:schemeClr val="accent1"/>
                </a:solidFill>
              </a:rPr>
              <a:t>Tipp: </a:t>
            </a:r>
            <a:pPr indent="0" marL="0">
              <a:buNone/>
            </a:pPr>
            <a:r>
              <a:rPr lang="en-US" sz="1600" dirty="0">
                <a:solidFill>
                  <a:schemeClr val="tx1"/>
                </a:solidFill>
              </a:rPr>
              <a:t>Einzelne Zeichen (char) vergleicht man mit </a:t>
            </a:r>
            <a:pPr indent="0" marL="0">
              <a:buNone/>
            </a:pPr>
            <a:r>
              <a:rPr lang="en-US" sz="1600" b="1" dirty="0">
                <a:solidFill>
                  <a:schemeClr val="tx1"/>
                </a:solidFill>
                <a:latin typeface="Consolas" pitchFamily="34" charset="0"/>
                <a:ea typeface="Consolas" pitchFamily="34" charset="-122"/>
                <a:cs typeface="Consolas" pitchFamily="34" charset="-120"/>
              </a:rPr>
              <a:t>==</a:t>
            </a:r>
            <a:pPr indent="0" marL="0">
              <a:buNone/>
            </a:pPr>
            <a:r>
              <a:rPr lang="en-US" sz="1600" dirty="0">
                <a:solidFill>
                  <a:schemeClr val="tx1"/>
                </a:solidFill>
              </a:rPr>
              <a:t>, z. B. </a:t>
            </a:r>
            <a:pPr indent="0" marL="0">
              <a:buNone/>
            </a:pPr>
            <a:r>
              <a:rPr lang="en-US" sz="1500" b="1" dirty="0">
                <a:solidFill>
                  <a:schemeClr val="tx1"/>
                </a:solidFill>
                <a:latin typeface="Consolas" pitchFamily="34" charset="0"/>
                <a:ea typeface="Consolas" pitchFamily="34" charset="-122"/>
                <a:cs typeface="Consolas" pitchFamily="34" charset="-120"/>
              </a:rPr>
              <a:t>s.charAt(i) == 'a'</a:t>
            </a:r>
            <a:pPr indent="0" marL="0">
              <a:buNone/>
            </a:pPr>
            <a:r>
              <a:rPr lang="en-US" sz="1600" dirty="0">
                <a:solidFill>
                  <a:schemeClr val="tx1"/>
                </a:solidFill>
              </a:rPr>
              <a:t>. Großbuchstabe? </a:t>
            </a:r>
            <a:pPr indent="0" marL="0">
              <a:buNone/>
            </a:pPr>
            <a:r>
              <a:rPr lang="en-US" sz="1500" b="1" dirty="0">
                <a:solidFill>
                  <a:schemeClr val="tx1"/>
                </a:solidFill>
                <a:latin typeface="Consolas" pitchFamily="34" charset="0"/>
                <a:ea typeface="Consolas" pitchFamily="34" charset="-122"/>
                <a:cs typeface="Consolas" pitchFamily="34" charset="-120"/>
              </a:rPr>
              <a:t>c &gt;= 'A' &amp;&amp; c &lt;= 'Z'</a:t>
            </a:r>
            <a:endParaRPr lang="en-US" sz="1600" dirty="0"/>
          </a:p>
        </p:txBody>
      </p:sp>
      <p:sp>
        <p:nvSpPr>
          <p:cNvPr id="10" name="Text 7"/>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3 · Vorratskammer</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Anatomie einer Zauberformel (Methode)</a:t>
            </a:r>
            <a:endParaRPr lang="en-US" sz="3600" dirty="0"/>
          </a:p>
        </p:txBody>
      </p:sp>
      <p:sp>
        <p:nvSpPr>
          <p:cNvPr id="3" name="Chip"/>
          <p:cNvSpPr txBox="1"/>
          <p:nvPr/>
        </p:nvSpPr>
        <p:spPr>
          <a:xfrm>
            <a:off x="548640" y="1325880"/>
            <a:ext cx="3474720" cy="411480"/>
          </a:xfrm>
          <a:prstGeom prst="roundRect">
            <a:avLst>
              <a:gd name="adj" fmla="val 50000"/>
            </a:avLst>
          </a:prstGeom>
          <a:solidFill>
            <a:schemeClr val="accent1"/>
          </a:solidFill>
          <a:ln/>
        </p:spPr>
        <p:txBody>
          <a:bodyPr wrap="square" lIns="0" tIns="0" rIns="0" bIns="0" rtlCol="0" anchor="ctr"/>
          <a:lstStyle/>
          <a:p>
            <a:pPr algn="ctr" indent="0" marL="0">
              <a:buNone/>
            </a:pPr>
            <a:r>
              <a:rPr lang="en-US" sz="1600" b="1" dirty="0">
                <a:solidFill>
                  <a:schemeClr val="bg1"/>
                </a:solidFill>
              </a:rPr>
              <a:t>Name = der Spruch</a:t>
            </a:r>
            <a:endParaRPr lang="en-US" sz="1600" dirty="0"/>
          </a:p>
        </p:txBody>
      </p:sp>
      <p:sp>
        <p:nvSpPr>
          <p:cNvPr id="4" name="Chip"/>
          <p:cNvSpPr txBox="1"/>
          <p:nvPr/>
        </p:nvSpPr>
        <p:spPr>
          <a:xfrm>
            <a:off x="4297680" y="1325880"/>
            <a:ext cx="3474720" cy="411480"/>
          </a:xfrm>
          <a:prstGeom prst="roundRect">
            <a:avLst>
              <a:gd name="adj" fmla="val 50000"/>
            </a:avLst>
          </a:prstGeom>
          <a:solidFill>
            <a:schemeClr val="accent6"/>
          </a:solidFill>
          <a:ln/>
        </p:spPr>
        <p:txBody>
          <a:bodyPr wrap="square" lIns="0" tIns="0" rIns="0" bIns="0" rtlCol="0" anchor="ctr"/>
          <a:lstStyle/>
          <a:p>
            <a:pPr algn="ctr" indent="0" marL="0">
              <a:buNone/>
            </a:pPr>
            <a:r>
              <a:rPr lang="en-US" sz="1600" b="1" dirty="0">
                <a:solidFill>
                  <a:schemeClr val="bg1"/>
                </a:solidFill>
              </a:rPr>
              <a:t>Zutaten = die Parameter</a:t>
            </a:r>
            <a:endParaRPr lang="en-US" sz="1600" dirty="0"/>
          </a:p>
        </p:txBody>
      </p:sp>
      <p:sp>
        <p:nvSpPr>
          <p:cNvPr id="5" name="Chip"/>
          <p:cNvSpPr txBox="1"/>
          <p:nvPr/>
        </p:nvSpPr>
        <p:spPr>
          <a:xfrm>
            <a:off x="8046720" y="1325880"/>
            <a:ext cx="3474720" cy="411480"/>
          </a:xfrm>
          <a:prstGeom prst="roundRect">
            <a:avLst>
              <a:gd name="adj" fmla="val 50000"/>
            </a:avLst>
          </a:prstGeom>
          <a:solidFill>
            <a:schemeClr val="accent2"/>
          </a:solidFill>
          <a:ln/>
        </p:spPr>
        <p:txBody>
          <a:bodyPr wrap="square" lIns="0" tIns="0" rIns="0" bIns="0" rtlCol="0" anchor="ctr"/>
          <a:lstStyle/>
          <a:p>
            <a:pPr algn="ctr" indent="0" marL="0">
              <a:buNone/>
            </a:pPr>
            <a:r>
              <a:rPr lang="en-US" sz="1600" b="1" dirty="0">
                <a:solidFill>
                  <a:schemeClr val="bg1"/>
                </a:solidFill>
              </a:rPr>
              <a:t>Wirkung = die Rückgabe</a:t>
            </a:r>
            <a:endParaRPr lang="en-US" sz="1600" dirty="0"/>
          </a:p>
        </p:txBody>
      </p:sp>
      <p:sp>
        <p:nvSpPr>
          <p:cNvPr id="6" name="Token public static"/>
          <p:cNvSpPr txBox="1"/>
          <p:nvPr/>
        </p:nvSpPr>
        <p:spPr>
          <a:xfrm>
            <a:off x="548640" y="2057400"/>
            <a:ext cx="2182622" cy="548640"/>
          </a:xfrm>
          <a:prstGeom prst="roundRect">
            <a:avLst>
              <a:gd name="adj" fmla="val 10000"/>
            </a:avLst>
          </a:prstGeom>
          <a:solidFill>
            <a:schemeClr val="accent5"/>
          </a:solidFill>
          <a:ln w="15875">
            <a:solidFill>
              <a:srgbClr val="A6A6A6"/>
            </a:solidFill>
          </a:ln>
        </p:spPr>
        <p:txBody>
          <a:bodyPr wrap="square" lIns="0" tIns="0" rIns="0" bIns="0" rtlCol="0" anchor="ctr"/>
          <a:lstStyle/>
          <a:p>
            <a:pPr algn="ctr" indent="0" marL="0">
              <a:buNone/>
            </a:pPr>
            <a:r>
              <a:rPr lang="en-US" sz="1900" b="1" dirty="0">
                <a:solidFill>
                  <a:schemeClr val="tx1"/>
                </a:solidFill>
                <a:latin typeface="Consolas" pitchFamily="34" charset="0"/>
                <a:ea typeface="Consolas" pitchFamily="34" charset="-122"/>
                <a:cs typeface="Consolas" pitchFamily="34" charset="-120"/>
              </a:rPr>
              <a:t>public static</a:t>
            </a:r>
            <a:endParaRPr lang="en-US" sz="1900" dirty="0"/>
          </a:p>
        </p:txBody>
      </p:sp>
      <p:sp>
        <p:nvSpPr>
          <p:cNvPr id="7" name="Token int"/>
          <p:cNvSpPr txBox="1"/>
          <p:nvPr/>
        </p:nvSpPr>
        <p:spPr>
          <a:xfrm>
            <a:off x="2840990" y="2057400"/>
            <a:ext cx="686562" cy="548640"/>
          </a:xfrm>
          <a:prstGeom prst="roundRect">
            <a:avLst>
              <a:gd name="adj" fmla="val 10000"/>
            </a:avLst>
          </a:prstGeom>
          <a:solidFill>
            <a:schemeClr val="accent2"/>
          </a:solidFill>
          <a:ln w="15875">
            <a:solidFill>
              <a:schemeClr val="accent2"/>
            </a:solidFill>
          </a:ln>
        </p:spPr>
        <p:txBody>
          <a:bodyPr wrap="square" lIns="0" tIns="0" rIns="0" bIns="0" rtlCol="0" anchor="ctr"/>
          <a:lstStyle/>
          <a:p>
            <a:pPr algn="ctr" indent="0" marL="0">
              <a:buNone/>
            </a:pPr>
            <a:r>
              <a:rPr lang="en-US" sz="1900" b="1" dirty="0">
                <a:solidFill>
                  <a:schemeClr val="bg1"/>
                </a:solidFill>
                <a:latin typeface="Consolas" pitchFamily="34" charset="0"/>
                <a:ea typeface="Consolas" pitchFamily="34" charset="-122"/>
                <a:cs typeface="Consolas" pitchFamily="34" charset="-120"/>
              </a:rPr>
              <a:t>int</a:t>
            </a:r>
            <a:endParaRPr lang="en-US" sz="1900" dirty="0"/>
          </a:p>
        </p:txBody>
      </p:sp>
      <p:sp>
        <p:nvSpPr>
          <p:cNvPr id="8" name="Token schutzwert"/>
          <p:cNvSpPr txBox="1"/>
          <p:nvPr/>
        </p:nvSpPr>
        <p:spPr>
          <a:xfrm>
            <a:off x="3637280" y="2057400"/>
            <a:ext cx="1733804" cy="548640"/>
          </a:xfrm>
          <a:prstGeom prst="roundRect">
            <a:avLst>
              <a:gd name="adj" fmla="val 10000"/>
            </a:avLst>
          </a:prstGeom>
          <a:solidFill>
            <a:schemeClr val="accent1"/>
          </a:solidFill>
          <a:ln w="15875">
            <a:solidFill>
              <a:schemeClr val="accent1"/>
            </a:solidFill>
          </a:ln>
        </p:spPr>
        <p:txBody>
          <a:bodyPr wrap="square" lIns="0" tIns="0" rIns="0" bIns="0" rtlCol="0" anchor="ctr"/>
          <a:lstStyle/>
          <a:p>
            <a:pPr algn="ctr" indent="0" marL="0">
              <a:buNone/>
            </a:pPr>
            <a:r>
              <a:rPr lang="en-US" sz="1900" b="1" dirty="0">
                <a:solidFill>
                  <a:schemeClr val="bg1"/>
                </a:solidFill>
                <a:latin typeface="Consolas" pitchFamily="34" charset="0"/>
                <a:ea typeface="Consolas" pitchFamily="34" charset="-122"/>
                <a:cs typeface="Consolas" pitchFamily="34" charset="-120"/>
              </a:rPr>
              <a:t>schutzwert</a:t>
            </a:r>
            <a:endParaRPr lang="en-US" sz="1900" dirty="0"/>
          </a:p>
        </p:txBody>
      </p:sp>
      <p:sp>
        <p:nvSpPr>
          <p:cNvPr id="9" name="Token (int ruestung, int stufe)"/>
          <p:cNvSpPr txBox="1"/>
          <p:nvPr/>
        </p:nvSpPr>
        <p:spPr>
          <a:xfrm>
            <a:off x="5480812" y="2057400"/>
            <a:ext cx="3977894" cy="548640"/>
          </a:xfrm>
          <a:prstGeom prst="roundRect">
            <a:avLst>
              <a:gd name="adj" fmla="val 10000"/>
            </a:avLst>
          </a:prstGeom>
          <a:solidFill>
            <a:schemeClr val="accent6"/>
          </a:solidFill>
          <a:ln w="15875">
            <a:solidFill>
              <a:schemeClr val="accent6"/>
            </a:solidFill>
          </a:ln>
        </p:spPr>
        <p:txBody>
          <a:bodyPr wrap="square" lIns="0" tIns="0" rIns="0" bIns="0" rtlCol="0" anchor="ctr"/>
          <a:lstStyle/>
          <a:p>
            <a:pPr algn="ctr" indent="0" marL="0">
              <a:buNone/>
            </a:pPr>
            <a:r>
              <a:rPr lang="en-US" sz="1900" b="1" dirty="0">
                <a:solidFill>
                  <a:schemeClr val="bg1"/>
                </a:solidFill>
                <a:latin typeface="Consolas" pitchFamily="34" charset="0"/>
                <a:ea typeface="Consolas" pitchFamily="34" charset="-122"/>
                <a:cs typeface="Consolas" pitchFamily="34" charset="-120"/>
              </a:rPr>
              <a:t>(int ruestung, int stufe)</a:t>
            </a:r>
            <a:endParaRPr lang="en-US" sz="1900" dirty="0"/>
          </a:p>
        </p:txBody>
      </p:sp>
      <p:sp>
        <p:nvSpPr>
          <p:cNvPr id="10" name="Token {"/>
          <p:cNvSpPr txBox="1"/>
          <p:nvPr/>
        </p:nvSpPr>
        <p:spPr>
          <a:xfrm>
            <a:off x="9568434" y="2057400"/>
            <a:ext cx="387350" cy="548640"/>
          </a:xfrm>
          <a:prstGeom prst="roundRect">
            <a:avLst>
              <a:gd name="adj" fmla="val 14164"/>
            </a:avLst>
          </a:prstGeom>
          <a:solidFill>
            <a:schemeClr val="accent5"/>
          </a:solidFill>
          <a:ln w="15875">
            <a:solidFill>
              <a:srgbClr val="A6A6A6"/>
            </a:solidFill>
          </a:ln>
        </p:spPr>
        <p:txBody>
          <a:bodyPr wrap="square" lIns="0" tIns="0" rIns="0" bIns="0" rtlCol="0" anchor="ctr"/>
          <a:lstStyle/>
          <a:p>
            <a:pPr algn="ctr" indent="0" marL="0">
              <a:buNone/>
            </a:pPr>
            <a:r>
              <a:rPr lang="en-US" sz="1900" b="1" dirty="0">
                <a:solidFill>
                  <a:schemeClr val="tx1"/>
                </a:solidFill>
                <a:latin typeface="Consolas" pitchFamily="34" charset="0"/>
                <a:ea typeface="Consolas" pitchFamily="34" charset="-122"/>
                <a:cs typeface="Consolas" pitchFamily="34" charset="-120"/>
              </a:rPr>
              <a:t>{</a:t>
            </a:r>
            <a:endParaRPr lang="en-US" sz="1900" dirty="0"/>
          </a:p>
        </p:txBody>
      </p:sp>
      <p:sp>
        <p:nvSpPr>
          <p:cNvPr id="11" name="Linie"/>
          <p:cNvSpPr/>
          <p:nvPr/>
        </p:nvSpPr>
        <p:spPr>
          <a:xfrm>
            <a:off x="1639951" y="2633472"/>
            <a:ext cx="91" cy="155448"/>
          </a:xfrm>
          <a:prstGeom prst="line">
            <a:avLst/>
          </a:prstGeom>
          <a:noFill/>
          <a:ln w="25400">
            <a:solidFill>
              <a:schemeClr val="tx1"/>
            </a:solidFill>
            <a:prstDash val="solid"/>
          </a:ln>
        </p:spPr>
      </p:sp>
      <p:sp>
        <p:nvSpPr>
          <p:cNvPr id="12" name="Text 10"/>
          <p:cNvSpPr txBox="1"/>
          <p:nvPr/>
        </p:nvSpPr>
        <p:spPr>
          <a:xfrm>
            <a:off x="502920" y="2816352"/>
            <a:ext cx="2274062" cy="548640"/>
          </a:xfrm>
          <a:prstGeom prst="rect">
            <a:avLst/>
          </a:prstGeom>
          <a:noFill/>
          <a:ln/>
        </p:spPr>
        <p:txBody>
          <a:bodyPr wrap="square" lIns="0" tIns="0" rIns="0" bIns="0" rtlCol="0" anchor="t"/>
          <a:lstStyle/>
          <a:p>
            <a:pPr algn="ctr" indent="0" marL="0">
              <a:buNone/>
            </a:pPr>
            <a:r>
              <a:rPr lang="en-US" sz="1400" b="1" dirty="0">
                <a:solidFill>
                  <a:schemeClr val="tx1"/>
                </a:solidFill>
              </a:rPr>
              <a:t>Sichtbarkeit + static (Klassenmethode)</a:t>
            </a:r>
            <a:endParaRPr lang="en-US" sz="1400" dirty="0"/>
          </a:p>
        </p:txBody>
      </p:sp>
      <p:sp>
        <p:nvSpPr>
          <p:cNvPr id="13" name="Linie"/>
          <p:cNvSpPr/>
          <p:nvPr/>
        </p:nvSpPr>
        <p:spPr>
          <a:xfrm>
            <a:off x="3184271" y="2633472"/>
            <a:ext cx="91" cy="155448"/>
          </a:xfrm>
          <a:prstGeom prst="line">
            <a:avLst/>
          </a:prstGeom>
          <a:noFill/>
          <a:ln w="25400">
            <a:solidFill>
              <a:schemeClr val="accent2"/>
            </a:solidFill>
            <a:prstDash val="solid"/>
          </a:ln>
        </p:spPr>
      </p:sp>
      <p:sp>
        <p:nvSpPr>
          <p:cNvPr id="14" name="Text 12"/>
          <p:cNvSpPr txBox="1"/>
          <p:nvPr/>
        </p:nvSpPr>
        <p:spPr>
          <a:xfrm>
            <a:off x="2795270" y="2816352"/>
            <a:ext cx="1371600" cy="548640"/>
          </a:xfrm>
          <a:prstGeom prst="rect">
            <a:avLst/>
          </a:prstGeom>
          <a:noFill/>
          <a:ln/>
        </p:spPr>
        <p:txBody>
          <a:bodyPr wrap="square" lIns="0" tIns="0" rIns="0" bIns="0" rtlCol="0" anchor="t"/>
          <a:lstStyle/>
          <a:p>
            <a:pPr algn="ctr" indent="0" marL="0">
              <a:buNone/>
            </a:pPr>
            <a:r>
              <a:rPr lang="en-US" sz="1400" b="1" dirty="0">
                <a:solidFill>
                  <a:schemeClr val="accent2"/>
                </a:solidFill>
              </a:rPr>
              <a:t>Rückgabetyp = Wirkung</a:t>
            </a:r>
            <a:endParaRPr lang="en-US" sz="1400" dirty="0"/>
          </a:p>
        </p:txBody>
      </p:sp>
      <p:sp>
        <p:nvSpPr>
          <p:cNvPr id="15" name="Linie"/>
          <p:cNvSpPr/>
          <p:nvPr/>
        </p:nvSpPr>
        <p:spPr>
          <a:xfrm>
            <a:off x="4504182" y="2633472"/>
            <a:ext cx="91" cy="155448"/>
          </a:xfrm>
          <a:prstGeom prst="line">
            <a:avLst/>
          </a:prstGeom>
          <a:noFill/>
          <a:ln w="25400">
            <a:solidFill>
              <a:schemeClr val="accent1"/>
            </a:solidFill>
            <a:prstDash val="solid"/>
          </a:ln>
        </p:spPr>
      </p:sp>
      <p:sp>
        <p:nvSpPr>
          <p:cNvPr id="16" name="Text 14"/>
          <p:cNvSpPr txBox="1"/>
          <p:nvPr/>
        </p:nvSpPr>
        <p:spPr>
          <a:xfrm>
            <a:off x="3591560" y="2816352"/>
            <a:ext cx="1825244" cy="548640"/>
          </a:xfrm>
          <a:prstGeom prst="rect">
            <a:avLst/>
          </a:prstGeom>
          <a:noFill/>
          <a:ln/>
        </p:spPr>
        <p:txBody>
          <a:bodyPr wrap="square" lIns="0" tIns="0" rIns="0" bIns="0" rtlCol="0" anchor="t"/>
          <a:lstStyle/>
          <a:p>
            <a:pPr algn="ctr" indent="0" marL="0">
              <a:buNone/>
            </a:pPr>
            <a:r>
              <a:rPr lang="en-US" sz="1400" b="1" dirty="0">
                <a:solidFill>
                  <a:schemeClr val="accent1"/>
                </a:solidFill>
              </a:rPr>
              <a:t>Name</a:t>
            </a:r>
            <a:endParaRPr lang="en-US" sz="1400" dirty="0"/>
          </a:p>
        </p:txBody>
      </p:sp>
      <p:sp>
        <p:nvSpPr>
          <p:cNvPr id="17" name="Linie"/>
          <p:cNvSpPr/>
          <p:nvPr/>
        </p:nvSpPr>
        <p:spPr>
          <a:xfrm>
            <a:off x="7469759" y="2633472"/>
            <a:ext cx="91" cy="155448"/>
          </a:xfrm>
          <a:prstGeom prst="line">
            <a:avLst/>
          </a:prstGeom>
          <a:noFill/>
          <a:ln w="25400">
            <a:solidFill>
              <a:schemeClr val="accent6"/>
            </a:solidFill>
            <a:prstDash val="solid"/>
          </a:ln>
        </p:spPr>
      </p:sp>
      <p:sp>
        <p:nvSpPr>
          <p:cNvPr id="18" name="Text 16"/>
          <p:cNvSpPr txBox="1"/>
          <p:nvPr/>
        </p:nvSpPr>
        <p:spPr>
          <a:xfrm>
            <a:off x="5435092" y="2816352"/>
            <a:ext cx="4069334" cy="548640"/>
          </a:xfrm>
          <a:prstGeom prst="rect">
            <a:avLst/>
          </a:prstGeom>
          <a:noFill/>
          <a:ln/>
        </p:spPr>
        <p:txBody>
          <a:bodyPr wrap="square" lIns="0" tIns="0" rIns="0" bIns="0" rtlCol="0" anchor="t"/>
          <a:lstStyle/>
          <a:p>
            <a:pPr algn="ctr" indent="0" marL="0">
              <a:buNone/>
            </a:pPr>
            <a:r>
              <a:rPr lang="en-US" sz="1400" b="1" dirty="0">
                <a:solidFill>
                  <a:schemeClr val="accent6"/>
                </a:solidFill>
              </a:rPr>
              <a:t>Parameterliste: Typ und Name je Zutat</a:t>
            </a:r>
            <a:endParaRPr lang="en-US" sz="1400" dirty="0"/>
          </a:p>
        </p:txBody>
      </p:sp>
      <p:sp>
        <p:nvSpPr>
          <p:cNvPr id="19" name="Code"/>
          <p:cNvSpPr txBox="1"/>
          <p:nvPr/>
        </p:nvSpPr>
        <p:spPr>
          <a:xfrm>
            <a:off x="548640" y="3520440"/>
            <a:ext cx="7223760" cy="12161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2400"/>
              </a:lnSpc>
              <a:buNone/>
            </a:pPr>
            <a:r>
              <a:rPr lang="en-US" sz="1900" dirty="0">
                <a:solidFill>
                  <a:schemeClr val="tx1"/>
                </a:solidFill>
                <a:latin typeface="Consolas" pitchFamily="34" charset="0"/>
                <a:ea typeface="Consolas" pitchFamily="34" charset="-122"/>
                <a:cs typeface="Consolas" pitchFamily="34" charset="-120"/>
              </a:rPr>
              <a:t>    </a:t>
            </a:r>
            <a:pPr algn="l" indent="0" marL="0">
              <a:lnSpc>
                <a:spcPts val="2400"/>
              </a:lnSpc>
              <a:buNone/>
            </a:pPr>
            <a:r>
              <a:rPr lang="en-US" sz="1900" b="1" dirty="0">
                <a:solidFill>
                  <a:schemeClr val="accent1"/>
                </a:solidFill>
                <a:latin typeface="Consolas" pitchFamily="34" charset="0"/>
                <a:ea typeface="Consolas" pitchFamily="34" charset="-122"/>
                <a:cs typeface="Consolas" pitchFamily="34" charset="-120"/>
              </a:rPr>
              <a:t>int</a:t>
            </a:r>
            <a:pPr algn="l" indent="0" marL="0">
              <a:lnSpc>
                <a:spcPts val="2400"/>
              </a:lnSpc>
              <a:buNone/>
            </a:pPr>
            <a:r>
              <a:rPr lang="en-US" sz="1900" dirty="0">
                <a:solidFill>
                  <a:schemeClr val="tx1"/>
                </a:solidFill>
                <a:latin typeface="Consolas" pitchFamily="34" charset="0"/>
                <a:ea typeface="Consolas" pitchFamily="34" charset="-122"/>
                <a:cs typeface="Consolas" pitchFamily="34" charset="-120"/>
              </a:rPr>
              <a:t> </a:t>
            </a:r>
            <a:pPr algn="l" indent="0" marL="0">
              <a:lnSpc>
                <a:spcPts val="2400"/>
              </a:lnSpc>
              <a:buNone/>
            </a:pPr>
            <a:r>
              <a:rPr lang="en-US" sz="1900" dirty="0">
                <a:solidFill>
                  <a:schemeClr val="tx1"/>
                </a:solidFill>
                <a:latin typeface="Consolas" pitchFamily="34" charset="0"/>
                <a:ea typeface="Consolas" pitchFamily="34" charset="-122"/>
                <a:cs typeface="Consolas" pitchFamily="34" charset="-120"/>
              </a:rPr>
              <a:t>wert</a:t>
            </a:r>
            <a:pPr algn="l" indent="0" marL="0">
              <a:lnSpc>
                <a:spcPts val="2400"/>
              </a:lnSpc>
              <a:buNone/>
            </a:pPr>
            <a:r>
              <a:rPr lang="en-US" sz="1900" dirty="0">
                <a:solidFill>
                  <a:schemeClr val="tx1"/>
                </a:solidFill>
                <a:latin typeface="Consolas" pitchFamily="34" charset="0"/>
                <a:ea typeface="Consolas" pitchFamily="34" charset="-122"/>
                <a:cs typeface="Consolas" pitchFamily="34" charset="-120"/>
              </a:rPr>
              <a:t> = </a:t>
            </a:r>
            <a:pPr algn="l" indent="0" marL="0">
              <a:lnSpc>
                <a:spcPts val="2400"/>
              </a:lnSpc>
              <a:buNone/>
            </a:pPr>
            <a:r>
              <a:rPr lang="en-US" sz="1900" dirty="0">
                <a:solidFill>
                  <a:schemeClr val="tx1"/>
                </a:solidFill>
                <a:latin typeface="Consolas" pitchFamily="34" charset="0"/>
                <a:ea typeface="Consolas" pitchFamily="34" charset="-122"/>
                <a:cs typeface="Consolas" pitchFamily="34" charset="-120"/>
              </a:rPr>
              <a:t>ruestung</a:t>
            </a:r>
            <a:pPr algn="l" indent="0" marL="0">
              <a:lnSpc>
                <a:spcPts val="2400"/>
              </a:lnSpc>
              <a:buNone/>
            </a:pPr>
            <a:r>
              <a:rPr lang="en-US" sz="1900" dirty="0">
                <a:solidFill>
                  <a:schemeClr val="tx1"/>
                </a:solidFill>
                <a:latin typeface="Consolas" pitchFamily="34" charset="0"/>
                <a:ea typeface="Consolas" pitchFamily="34" charset="-122"/>
                <a:cs typeface="Consolas" pitchFamily="34" charset="-120"/>
              </a:rPr>
              <a:t> + 5 * </a:t>
            </a:r>
            <a:pPr algn="l" indent="0" marL="0">
              <a:lnSpc>
                <a:spcPts val="2400"/>
              </a:lnSpc>
              <a:buNone/>
            </a:pPr>
            <a:r>
              <a:rPr lang="en-US" sz="1900" dirty="0">
                <a:solidFill>
                  <a:schemeClr val="tx1"/>
                </a:solidFill>
                <a:latin typeface="Consolas" pitchFamily="34" charset="0"/>
                <a:ea typeface="Consolas" pitchFamily="34" charset="-122"/>
                <a:cs typeface="Consolas" pitchFamily="34" charset="-120"/>
              </a:rPr>
              <a:t>stufe</a:t>
            </a:r>
            <a:pPr algn="l" indent="0" marL="0">
              <a:lnSpc>
                <a:spcPts val="2400"/>
              </a:lnSpc>
              <a:buNone/>
            </a:pPr>
            <a:r>
              <a:rPr lang="en-US" sz="1900" dirty="0">
                <a:solidFill>
                  <a:schemeClr val="tx1"/>
                </a:solidFill>
                <a:latin typeface="Consolas" pitchFamily="34" charset="0"/>
                <a:ea typeface="Consolas" pitchFamily="34" charset="-122"/>
                <a:cs typeface="Consolas" pitchFamily="34" charset="-120"/>
              </a:rPr>
              <a:t>;</a:t>
            </a:r>
            <a:endParaRPr lang="en-US" sz="1900" dirty="0"/>
          </a:p>
          <a:p>
            <a:pPr algn="l" indent="0" marL="0">
              <a:lnSpc>
                <a:spcPts val="2400"/>
              </a:lnSpc>
              <a:buNone/>
            </a:pPr>
            <a:r>
              <a:rPr lang="en-US" sz="1900" dirty="0">
                <a:solidFill>
                  <a:schemeClr val="tx1"/>
                </a:solidFill>
                <a:latin typeface="Consolas" pitchFamily="34" charset="0"/>
                <a:ea typeface="Consolas" pitchFamily="34" charset="-122"/>
                <a:cs typeface="Consolas" pitchFamily="34" charset="-120"/>
              </a:rPr>
              <a:t>    </a:t>
            </a:r>
            <a:pPr algn="l" indent="0" marL="0">
              <a:lnSpc>
                <a:spcPts val="2400"/>
              </a:lnSpc>
              <a:buNone/>
            </a:pPr>
            <a:r>
              <a:rPr lang="en-US" sz="1900" b="1" dirty="0">
                <a:solidFill>
                  <a:schemeClr val="accent1"/>
                </a:solidFill>
                <a:latin typeface="Consolas" pitchFamily="34" charset="0"/>
                <a:ea typeface="Consolas" pitchFamily="34" charset="-122"/>
                <a:cs typeface="Consolas" pitchFamily="34" charset="-120"/>
              </a:rPr>
              <a:t>return</a:t>
            </a:r>
            <a:pPr algn="l" indent="0" marL="0">
              <a:lnSpc>
                <a:spcPts val="2400"/>
              </a:lnSpc>
              <a:buNone/>
            </a:pPr>
            <a:r>
              <a:rPr lang="en-US" sz="1900" dirty="0">
                <a:solidFill>
                  <a:schemeClr val="tx1"/>
                </a:solidFill>
                <a:latin typeface="Consolas" pitchFamily="34" charset="0"/>
                <a:ea typeface="Consolas" pitchFamily="34" charset="-122"/>
                <a:cs typeface="Consolas" pitchFamily="34" charset="-120"/>
              </a:rPr>
              <a:t> </a:t>
            </a:r>
            <a:pPr algn="l" indent="0" marL="0">
              <a:lnSpc>
                <a:spcPts val="2400"/>
              </a:lnSpc>
              <a:buNone/>
            </a:pPr>
            <a:r>
              <a:rPr lang="en-US" sz="1900" dirty="0">
                <a:solidFill>
                  <a:schemeClr val="tx1"/>
                </a:solidFill>
                <a:latin typeface="Consolas" pitchFamily="34" charset="0"/>
                <a:ea typeface="Consolas" pitchFamily="34" charset="-122"/>
                <a:cs typeface="Consolas" pitchFamily="34" charset="-120"/>
              </a:rPr>
              <a:t>wert</a:t>
            </a:r>
            <a:pPr algn="l" indent="0" marL="0">
              <a:lnSpc>
                <a:spcPts val="2400"/>
              </a:lnSpc>
              <a:buNone/>
            </a:pPr>
            <a:r>
              <a:rPr lang="en-US" sz="1900" dirty="0">
                <a:solidFill>
                  <a:schemeClr val="tx1"/>
                </a:solidFill>
                <a:latin typeface="Consolas" pitchFamily="34" charset="0"/>
                <a:ea typeface="Consolas" pitchFamily="34" charset="-122"/>
                <a:cs typeface="Consolas" pitchFamily="34" charset="-120"/>
              </a:rPr>
              <a:t>;</a:t>
            </a:r>
            <a:endParaRPr lang="en-US" sz="1900" dirty="0"/>
          </a:p>
          <a:p>
            <a:pPr algn="l" indent="0" marL="0">
              <a:lnSpc>
                <a:spcPts val="2400"/>
              </a:lnSpc>
              <a:buNone/>
            </a:pPr>
            <a:r>
              <a:rPr lang="en-US" sz="1900" dirty="0">
                <a:solidFill>
                  <a:schemeClr val="tx1"/>
                </a:solidFill>
                <a:latin typeface="Consolas" pitchFamily="34" charset="0"/>
                <a:ea typeface="Consolas" pitchFamily="34" charset="-122"/>
                <a:cs typeface="Consolas" pitchFamily="34" charset="-120"/>
              </a:rPr>
              <a:t>}</a:t>
            </a:r>
            <a:endParaRPr lang="en-US" sz="1900" dirty="0"/>
          </a:p>
        </p:txBody>
      </p:sp>
      <p:sp>
        <p:nvSpPr>
          <p:cNvPr id="20" name="Linie"/>
          <p:cNvSpPr/>
          <p:nvPr/>
        </p:nvSpPr>
        <p:spPr>
          <a:xfrm>
            <a:off x="7818120" y="3800856"/>
            <a:ext cx="365760" cy="91"/>
          </a:xfrm>
          <a:prstGeom prst="line">
            <a:avLst/>
          </a:prstGeom>
          <a:noFill/>
          <a:ln w="25400">
            <a:solidFill>
              <a:schemeClr val="accent2"/>
            </a:solidFill>
            <a:prstDash val="solid"/>
            <a:headEnd type="triangle"/>
          </a:ln>
        </p:spPr>
      </p:sp>
      <p:sp>
        <p:nvSpPr>
          <p:cNvPr id="21" name="Text 19"/>
          <p:cNvSpPr txBox="1"/>
          <p:nvPr/>
        </p:nvSpPr>
        <p:spPr>
          <a:xfrm>
            <a:off x="8275320" y="3645408"/>
            <a:ext cx="3337560" cy="310896"/>
          </a:xfrm>
          <a:prstGeom prst="rect">
            <a:avLst/>
          </a:prstGeom>
          <a:noFill/>
          <a:ln/>
        </p:spPr>
        <p:txBody>
          <a:bodyPr wrap="square" lIns="0" tIns="0" rIns="0" bIns="0" rtlCol="0" anchor="ctr"/>
          <a:lstStyle/>
          <a:p>
            <a:pPr indent="0" marL="0">
              <a:buNone/>
            </a:pPr>
            <a:r>
              <a:rPr lang="en-US" sz="1400" b="1" dirty="0">
                <a:solidFill>
                  <a:schemeClr val="accent1"/>
                </a:solidFill>
              </a:rPr>
              <a:t>Rumpf: lokale Variable</a:t>
            </a:r>
            <a:endParaRPr lang="en-US" sz="1400" dirty="0"/>
          </a:p>
        </p:txBody>
      </p:sp>
      <p:sp>
        <p:nvSpPr>
          <p:cNvPr id="22" name="Linie"/>
          <p:cNvSpPr/>
          <p:nvPr/>
        </p:nvSpPr>
        <p:spPr>
          <a:xfrm>
            <a:off x="7818120" y="4105656"/>
            <a:ext cx="365760" cy="91"/>
          </a:xfrm>
          <a:prstGeom prst="line">
            <a:avLst/>
          </a:prstGeom>
          <a:noFill/>
          <a:ln w="25400">
            <a:solidFill>
              <a:schemeClr val="accent2"/>
            </a:solidFill>
            <a:prstDash val="solid"/>
            <a:headEnd type="triangle"/>
          </a:ln>
        </p:spPr>
      </p:sp>
      <p:sp>
        <p:nvSpPr>
          <p:cNvPr id="23" name="Text 21"/>
          <p:cNvSpPr txBox="1"/>
          <p:nvPr/>
        </p:nvSpPr>
        <p:spPr>
          <a:xfrm>
            <a:off x="8275320" y="3950208"/>
            <a:ext cx="3337560" cy="310896"/>
          </a:xfrm>
          <a:prstGeom prst="rect">
            <a:avLst/>
          </a:prstGeom>
          <a:noFill/>
          <a:ln/>
        </p:spPr>
        <p:txBody>
          <a:bodyPr wrap="square" lIns="0" tIns="0" rIns="0" bIns="0" rtlCol="0" anchor="ctr"/>
          <a:lstStyle/>
          <a:p>
            <a:pPr indent="0" marL="0">
              <a:buNone/>
            </a:pPr>
            <a:r>
              <a:rPr lang="en-US" sz="1400" b="1" dirty="0">
                <a:solidFill>
                  <a:schemeClr val="accent1"/>
                </a:solidFill>
              </a:rPr>
              <a:t>liefert den Wert und beendet die Methode</a:t>
            </a:r>
            <a:endParaRPr lang="en-US" sz="1400" dirty="0"/>
          </a:p>
        </p:txBody>
      </p:sp>
      <p:sp>
        <p:nvSpPr>
          <p:cNvPr id="24" name="Abi-Signatur"/>
          <p:cNvSpPr/>
          <p:nvPr/>
        </p:nvSpPr>
        <p:spPr>
          <a:xfrm>
            <a:off x="548640" y="5029200"/>
            <a:ext cx="6949440" cy="1097280"/>
          </a:xfrm>
          <a:prstGeom prst="roundRect">
            <a:avLst>
              <a:gd name="adj" fmla="val 10000"/>
            </a:avLst>
          </a:prstGeom>
          <a:solidFill>
            <a:schemeClr val="bg2"/>
          </a:solidFill>
          <a:ln/>
        </p:spPr>
      </p:sp>
      <p:sp>
        <p:nvSpPr>
          <p:cNvPr id="25" name="Text 23"/>
          <p:cNvSpPr txBox="1"/>
          <p:nvPr/>
        </p:nvSpPr>
        <p:spPr>
          <a:xfrm>
            <a:off x="777240" y="5029200"/>
            <a:ext cx="6583680" cy="1097280"/>
          </a:xfrm>
          <a:prstGeom prst="rect">
            <a:avLst/>
          </a:prstGeom>
          <a:noFill/>
          <a:ln/>
        </p:spPr>
        <p:txBody>
          <a:bodyPr wrap="square" lIns="0" tIns="0" rIns="0" bIns="0" rtlCol="0" anchor="ctr"/>
          <a:lstStyle/>
          <a:p>
            <a:pPr indent="0" marL="0">
              <a:buNone/>
            </a:pPr>
            <a:r>
              <a:rPr lang="en-US" sz="1400" b="1" dirty="0">
                <a:solidFill>
                  <a:schemeClr val="accent6"/>
                </a:solidFill>
              </a:rPr>
              <a:t>Abi-Signatur</a:t>
            </a:r>
            <a:endParaRPr lang="en-US" sz="1800" dirty="0"/>
          </a:p>
          <a:p>
            <a:pPr indent="0" marL="0">
              <a:buNone/>
            </a:pPr>
            <a:r>
              <a:rPr lang="en-US" sz="1800" b="1" dirty="0">
                <a:solidFill>
                  <a:schemeClr val="accent1"/>
                </a:solidFill>
              </a:rPr>
              <a:t>schutzwert(ruestung: Ganzzahl, stufe: Ganzzahl): Ganzzahl</a:t>
            </a:r>
            <a:endParaRPr lang="en-US" sz="1800" dirty="0"/>
          </a:p>
        </p:txBody>
      </p:sp>
      <p:sp>
        <p:nvSpPr>
          <p:cNvPr id="26" name="Aufruf"/>
          <p:cNvSpPr/>
          <p:nvPr/>
        </p:nvSpPr>
        <p:spPr>
          <a:xfrm>
            <a:off x="7772400" y="5029200"/>
            <a:ext cx="3840480" cy="1097280"/>
          </a:xfrm>
          <a:prstGeom prst="roundRect">
            <a:avLst>
              <a:gd name="adj" fmla="val 10000"/>
            </a:avLst>
          </a:prstGeom>
          <a:solidFill>
            <a:schemeClr val="accent1"/>
          </a:solidFill>
          <a:ln/>
          <a:effectLst>
            <a:outerShdw sx="100000" sy="100000" kx="0" ky="0" algn="bl" rotWithShape="0" blurRad="76200" dist="25400" dir="5400000">
              <a:srgbClr val="000000">
                <a:alpha val="18000"/>
              </a:srgbClr>
            </a:outerShdw>
          </a:effectLst>
        </p:spPr>
      </p:sp>
      <p:sp>
        <p:nvSpPr>
          <p:cNvPr id="27" name="Text 25"/>
          <p:cNvSpPr txBox="1"/>
          <p:nvPr/>
        </p:nvSpPr>
        <p:spPr>
          <a:xfrm>
            <a:off x="8001000" y="5029200"/>
            <a:ext cx="3520440" cy="1097280"/>
          </a:xfrm>
          <a:prstGeom prst="rect">
            <a:avLst/>
          </a:prstGeom>
          <a:noFill/>
          <a:ln/>
        </p:spPr>
        <p:txBody>
          <a:bodyPr wrap="square" lIns="0" tIns="0" rIns="0" bIns="0" rtlCol="0" anchor="ctr"/>
          <a:lstStyle/>
          <a:p>
            <a:pPr indent="0" marL="0">
              <a:buNone/>
            </a:pPr>
            <a:r>
              <a:rPr lang="en-US" sz="1400" b="1" dirty="0">
                <a:solidFill>
                  <a:schemeClr val="bg2"/>
                </a:solidFill>
              </a:rPr>
              <a:t>Aufruf</a:t>
            </a:r>
            <a:endParaRPr lang="en-US" sz="1800" dirty="0"/>
          </a:p>
          <a:p>
            <a:pPr indent="0" marL="0">
              <a:buNone/>
            </a:pPr>
            <a:r>
              <a:rPr lang="en-US" sz="1800" b="1" dirty="0">
                <a:solidFill>
                  <a:schemeClr val="bg1"/>
                </a:solidFill>
                <a:latin typeface="Consolas" pitchFamily="34" charset="0"/>
                <a:ea typeface="Consolas" pitchFamily="34" charset="-122"/>
                <a:cs typeface="Consolas" pitchFamily="34" charset="-120"/>
              </a:rPr>
              <a:t>schutzwert(12, 3)</a:t>
            </a:r>
            <a:pPr indent="0" marL="0">
              <a:buNone/>
            </a:pPr>
            <a:r>
              <a:rPr lang="en-US" sz="2000" b="1" dirty="0">
                <a:solidFill>
                  <a:schemeClr val="accent2"/>
                </a:solidFill>
              </a:rPr>
              <a:t>  → 27</a:t>
            </a:r>
            <a:endParaRPr lang="en-US" sz="1800" dirty="0"/>
          </a:p>
        </p:txBody>
      </p:sp>
      <p:sp>
        <p:nvSpPr>
          <p:cNvPr id="28" name="Text 26"/>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4 · Zauberschule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Abi-Signatur → Java-Methodenkopf</a:t>
            </a:r>
            <a:endParaRPr lang="en-US" sz="3600" dirty="0"/>
          </a:p>
        </p:txBody>
      </p:sp>
      <p:graphicFrame>
        <p:nvGraphicFramePr>
          <p:cNvPr id="16" name="Uebersetzung"/>
          <p:cNvGraphicFramePr>
            <a:graphicFrameLocks noGrp="1"/>
          </p:cNvGraphicFramePr>
          <p:nvPr>
            <p:extLst>
              <p:ext uri="{D42A27DB-BD31-4B8C-83A1-F6EECF244321}">
                <p14:modId xmlns:p14="http://schemas.microsoft.com/office/powerpoint/2010/main" val="1579011935"/>
              </p:ext>
            </p:extLst>
          </p:nvPr>
        </p:nvGraphicFramePr>
        <p:xfrm>
          <a:off x="548640" y="1371600"/>
          <a:ext cx="4572000" cy="914400"/>
        </p:xfrm>
        <a:graphic>
          <a:graphicData uri="http://schemas.openxmlformats.org/drawingml/2006/table">
            <a:tbl>
              <a:tblPr/>
              <a:tblGrid>
                <a:gridCol w="2926080"/>
                <a:gridCol w="1645920"/>
              </a:tblGrid>
              <a:tr h="384048">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Abi-Notation</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Java</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384048">
                <a:tc>
                  <a:txBody>
                    <a:bodyPr/>
                    <a:lstStyle/>
                    <a:p>
                      <a:pPr algn="l" indent="0" marL="0">
                        <a:buNone/>
                      </a:pPr>
                      <a:r>
                        <a:rPr lang="en-US" sz="1500" b="1" dirty="0">
                          <a:solidFill>
                            <a:schemeClr val="accent1"/>
                          </a:solidFill>
                          <a:latin typeface="Calibri" pitchFamily="34" charset="0"/>
                          <a:ea typeface="Calibri" pitchFamily="34" charset="-122"/>
                          <a:cs typeface="Calibri" pitchFamily="34" charset="-120"/>
                        </a:rPr>
                        <a:t>Ganzzahl</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int</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l" indent="0" marL="0">
                        <a:buNone/>
                      </a:pPr>
                      <a:r>
                        <a:rPr lang="en-US" sz="1500" b="1" dirty="0">
                          <a:solidFill>
                            <a:schemeClr val="accent1"/>
                          </a:solidFill>
                          <a:latin typeface="Calibri" pitchFamily="34" charset="0"/>
                          <a:ea typeface="Calibri" pitchFamily="34" charset="-122"/>
                          <a:cs typeface="Calibri" pitchFamily="34" charset="-120"/>
                        </a:rPr>
                        <a:t>Kommazahl</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double</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l" indent="0" marL="0">
                        <a:buNone/>
                      </a:pPr>
                      <a:r>
                        <a:rPr lang="en-US" sz="1500" b="1" dirty="0">
                          <a:solidFill>
                            <a:schemeClr val="accent1"/>
                          </a:solidFill>
                          <a:latin typeface="Calibri" pitchFamily="34" charset="0"/>
                          <a:ea typeface="Calibri" pitchFamily="34" charset="-122"/>
                          <a:cs typeface="Calibri" pitchFamily="34" charset="-120"/>
                        </a:rPr>
                        <a:t>Wahrheitswert</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boolean</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l" indent="0" marL="0">
                        <a:buNone/>
                      </a:pPr>
                      <a:r>
                        <a:rPr lang="en-US" sz="1500" b="1" dirty="0">
                          <a:solidFill>
                            <a:schemeClr val="accent1"/>
                          </a:solidFill>
                          <a:latin typeface="Calibri" pitchFamily="34" charset="0"/>
                          <a:ea typeface="Calibri" pitchFamily="34" charset="-122"/>
                          <a:cs typeface="Calibri" pitchFamily="34" charset="-120"/>
                        </a:rPr>
                        <a:t>Zeichen</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char</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l" indent="0" marL="0">
                        <a:buNone/>
                      </a:pPr>
                      <a:r>
                        <a:rPr lang="en-US" sz="1500" b="1" dirty="0">
                          <a:solidFill>
                            <a:schemeClr val="accent1"/>
                          </a:solidFill>
                          <a:latin typeface="Calibri" pitchFamily="34" charset="0"/>
                          <a:ea typeface="Calibri" pitchFamily="34" charset="-122"/>
                          <a:cs typeface="Calibri" pitchFamily="34" charset="-120"/>
                        </a:rPr>
                        <a:t>Zeichenkette</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String</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l" indent="0" marL="0">
                        <a:buNone/>
                      </a:pPr>
                      <a:r>
                        <a:rPr lang="en-US" sz="1500" b="1" dirty="0">
                          <a:solidFill>
                            <a:schemeClr val="accent1"/>
                          </a:solidFill>
                          <a:latin typeface="Calibri" pitchFamily="34" charset="0"/>
                          <a:ea typeface="Calibri" pitchFamily="34" charset="-122"/>
                          <a:cs typeface="Calibri" pitchFamily="34" charset="-120"/>
                        </a:rPr>
                        <a:t>Reihung von Ganzzahl</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int[]</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l" indent="0" marL="0">
                        <a:buNone/>
                      </a:pPr>
                      <a:r>
                        <a:rPr lang="en-US" sz="1500" b="1" dirty="0">
                          <a:solidFill>
                            <a:schemeClr val="accent1"/>
                          </a:solidFill>
                          <a:latin typeface="Calibri" pitchFamily="34" charset="0"/>
                          <a:ea typeface="Calibri" pitchFamily="34" charset="-122"/>
                          <a:cs typeface="Calibri" pitchFamily="34" charset="-120"/>
                        </a:rPr>
                        <a:t>Reihung von Zeichenkette</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String[]</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l" indent="0" marL="0">
                        <a:buNone/>
                      </a:pPr>
                      <a:r>
                        <a:rPr lang="en-US" sz="1500" b="1" dirty="0">
                          <a:solidFill>
                            <a:schemeClr val="accent1"/>
                          </a:solidFill>
                          <a:latin typeface="Calibri" pitchFamily="34" charset="0"/>
                          <a:ea typeface="Calibri" pitchFamily="34" charset="-122"/>
                          <a:cs typeface="Calibri" pitchFamily="34" charset="-120"/>
                        </a:rPr>
                        <a:t>nichts</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2CC"/>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void</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2CC"/>
                    </a:solidFill>
                  </a:tcPr>
                </a:tc>
              </a:tr>
            </a:tbl>
          </a:graphicData>
        </a:graphic>
      </p:graphicFrame>
      <p:sp>
        <p:nvSpPr>
          <p:cNvPr id="4" name="Text 1"/>
          <p:cNvSpPr txBox="1"/>
          <p:nvPr/>
        </p:nvSpPr>
        <p:spPr>
          <a:xfrm>
            <a:off x="5394960" y="1417320"/>
            <a:ext cx="548640" cy="457200"/>
          </a:xfrm>
          <a:prstGeom prst="rect">
            <a:avLst/>
          </a:prstGeom>
          <a:noFill/>
          <a:ln/>
        </p:spPr>
        <p:txBody>
          <a:bodyPr wrap="square" lIns="0" tIns="0" rIns="0" bIns="0" rtlCol="0" anchor="ctr"/>
          <a:lstStyle/>
          <a:p>
            <a:pPr indent="0" marL="0">
              <a:buNone/>
            </a:pPr>
            <a:r>
              <a:rPr lang="en-US" sz="1500" b="1" dirty="0">
                <a:solidFill>
                  <a:schemeClr val="accent6"/>
                </a:solidFill>
              </a:rPr>
              <a:t>Abi</a:t>
            </a:r>
            <a:endParaRPr lang="en-US" sz="1500" dirty="0"/>
          </a:p>
        </p:txBody>
      </p:sp>
      <p:sp>
        <p:nvSpPr>
          <p:cNvPr id="5" name="Token name"/>
          <p:cNvSpPr txBox="1"/>
          <p:nvPr/>
        </p:nvSpPr>
        <p:spPr>
          <a:xfrm>
            <a:off x="5943600" y="1417320"/>
            <a:ext cx="647192" cy="457200"/>
          </a:xfrm>
          <a:prstGeom prst="roundRect">
            <a:avLst>
              <a:gd name="adj" fmla="val 12000"/>
            </a:avLst>
          </a:prstGeom>
          <a:solidFill>
            <a:schemeClr val="accent1"/>
          </a:solidFill>
          <a:ln w="15875">
            <a:solidFill>
              <a:schemeClr val="accent1"/>
            </a:solidFill>
          </a:ln>
        </p:spPr>
        <p:txBody>
          <a:bodyPr wrap="square" lIns="0" tIns="0" rIns="0" bIns="0" rtlCol="0" anchor="ctr"/>
          <a:lstStyle/>
          <a:p>
            <a:pPr algn="ctr" indent="0" marL="0">
              <a:buNone/>
            </a:pPr>
            <a:r>
              <a:rPr lang="en-US" sz="1300" b="1" dirty="0">
                <a:solidFill>
                  <a:schemeClr val="bg1"/>
                </a:solidFill>
                <a:latin typeface="Consolas" pitchFamily="34" charset="0"/>
                <a:ea typeface="Consolas" pitchFamily="34" charset="-122"/>
                <a:cs typeface="Consolas" pitchFamily="34" charset="-120"/>
              </a:rPr>
              <a:t>name</a:t>
            </a:r>
            <a:endParaRPr lang="en-US" sz="1300" dirty="0"/>
          </a:p>
        </p:txBody>
      </p:sp>
      <p:sp>
        <p:nvSpPr>
          <p:cNvPr id="6" name="Token (p: Typ, q: Typ)"/>
          <p:cNvSpPr txBox="1"/>
          <p:nvPr/>
        </p:nvSpPr>
        <p:spPr>
          <a:xfrm>
            <a:off x="6700520" y="1417320"/>
            <a:ext cx="1875536" cy="457200"/>
          </a:xfrm>
          <a:prstGeom prst="roundRect">
            <a:avLst>
              <a:gd name="adj" fmla="val 12000"/>
            </a:avLst>
          </a:prstGeom>
          <a:solidFill>
            <a:schemeClr val="accent6"/>
          </a:solidFill>
          <a:ln w="15875">
            <a:solidFill>
              <a:schemeClr val="accent6"/>
            </a:solidFill>
          </a:ln>
        </p:spPr>
        <p:txBody>
          <a:bodyPr wrap="square" lIns="0" tIns="0" rIns="0" bIns="0" rtlCol="0" anchor="ctr"/>
          <a:lstStyle/>
          <a:p>
            <a:pPr algn="ctr" indent="0" marL="0">
              <a:buNone/>
            </a:pPr>
            <a:r>
              <a:rPr lang="en-US" sz="1300" b="1" dirty="0">
                <a:solidFill>
                  <a:schemeClr val="bg1"/>
                </a:solidFill>
                <a:latin typeface="Consolas" pitchFamily="34" charset="0"/>
                <a:ea typeface="Consolas" pitchFamily="34" charset="-122"/>
                <a:cs typeface="Consolas" pitchFamily="34" charset="-120"/>
              </a:rPr>
              <a:t>(p: Typ, q: Typ)</a:t>
            </a:r>
            <a:endParaRPr lang="en-US" sz="1300" dirty="0"/>
          </a:p>
        </p:txBody>
      </p:sp>
      <p:sp>
        <p:nvSpPr>
          <p:cNvPr id="7" name="Token : Rückgabetyp"/>
          <p:cNvSpPr txBox="1"/>
          <p:nvPr/>
        </p:nvSpPr>
        <p:spPr>
          <a:xfrm>
            <a:off x="8621776" y="1417320"/>
            <a:ext cx="1568450" cy="457200"/>
          </a:xfrm>
          <a:prstGeom prst="roundRect">
            <a:avLst>
              <a:gd name="adj" fmla="val 12000"/>
            </a:avLst>
          </a:prstGeom>
          <a:solidFill>
            <a:schemeClr val="accent2"/>
          </a:solidFill>
          <a:ln w="15875">
            <a:solidFill>
              <a:schemeClr val="accent2"/>
            </a:solidFill>
          </a:ln>
        </p:spPr>
        <p:txBody>
          <a:bodyPr wrap="square" lIns="0" tIns="0" rIns="0" bIns="0" rtlCol="0" anchor="ctr"/>
          <a:lstStyle/>
          <a:p>
            <a:pPr algn="ctr" indent="0" marL="0">
              <a:buNone/>
            </a:pPr>
            <a:r>
              <a:rPr lang="en-US" sz="1300" b="1" dirty="0">
                <a:solidFill>
                  <a:schemeClr val="bg1"/>
                </a:solidFill>
                <a:latin typeface="Consolas" pitchFamily="34" charset="0"/>
                <a:ea typeface="Consolas" pitchFamily="34" charset="-122"/>
                <a:cs typeface="Consolas" pitchFamily="34" charset="-120"/>
              </a:rPr>
              <a:t>: Rückgabetyp</a:t>
            </a:r>
            <a:endParaRPr lang="en-US" sz="1300" dirty="0"/>
          </a:p>
        </p:txBody>
      </p:sp>
      <p:sp>
        <p:nvSpPr>
          <p:cNvPr id="8" name="Text 5"/>
          <p:cNvSpPr txBox="1"/>
          <p:nvPr/>
        </p:nvSpPr>
        <p:spPr>
          <a:xfrm>
            <a:off x="5394960" y="2514600"/>
            <a:ext cx="548640" cy="457200"/>
          </a:xfrm>
          <a:prstGeom prst="rect">
            <a:avLst/>
          </a:prstGeom>
          <a:noFill/>
          <a:ln/>
        </p:spPr>
        <p:txBody>
          <a:bodyPr wrap="square" lIns="0" tIns="0" rIns="0" bIns="0" rtlCol="0" anchor="ctr"/>
          <a:lstStyle/>
          <a:p>
            <a:pPr indent="0" marL="0">
              <a:buNone/>
            </a:pPr>
            <a:r>
              <a:rPr lang="en-US" sz="1500" b="1" dirty="0">
                <a:solidFill>
                  <a:schemeClr val="accent6"/>
                </a:solidFill>
              </a:rPr>
              <a:t>Java</a:t>
            </a:r>
            <a:endParaRPr lang="en-US" sz="1500" dirty="0"/>
          </a:p>
        </p:txBody>
      </p:sp>
      <p:sp>
        <p:nvSpPr>
          <p:cNvPr id="9" name="Token public static"/>
          <p:cNvSpPr txBox="1"/>
          <p:nvPr/>
        </p:nvSpPr>
        <p:spPr>
          <a:xfrm>
            <a:off x="5943600" y="2514600"/>
            <a:ext cx="1568450" cy="457200"/>
          </a:xfrm>
          <a:prstGeom prst="roundRect">
            <a:avLst>
              <a:gd name="adj" fmla="val 12000"/>
            </a:avLst>
          </a:prstGeom>
          <a:solidFill>
            <a:schemeClr val="accent5"/>
          </a:solidFill>
          <a:ln w="15875">
            <a:solidFill>
              <a:srgbClr val="A6A6A6"/>
            </a:solid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public static</a:t>
            </a:r>
            <a:endParaRPr lang="en-US" sz="1300" dirty="0"/>
          </a:p>
        </p:txBody>
      </p:sp>
      <p:sp>
        <p:nvSpPr>
          <p:cNvPr id="10" name="Token Rückgabetyp"/>
          <p:cNvSpPr txBox="1"/>
          <p:nvPr/>
        </p:nvSpPr>
        <p:spPr>
          <a:xfrm>
            <a:off x="7621778" y="2514600"/>
            <a:ext cx="1363726" cy="457200"/>
          </a:xfrm>
          <a:prstGeom prst="roundRect">
            <a:avLst>
              <a:gd name="adj" fmla="val 12000"/>
            </a:avLst>
          </a:prstGeom>
          <a:solidFill>
            <a:schemeClr val="accent2"/>
          </a:solidFill>
          <a:ln w="15875">
            <a:solidFill>
              <a:schemeClr val="accent2"/>
            </a:solidFill>
          </a:ln>
        </p:spPr>
        <p:txBody>
          <a:bodyPr wrap="square" lIns="0" tIns="0" rIns="0" bIns="0" rtlCol="0" anchor="ctr"/>
          <a:lstStyle/>
          <a:p>
            <a:pPr algn="ctr" indent="0" marL="0">
              <a:buNone/>
            </a:pPr>
            <a:r>
              <a:rPr lang="en-US" sz="1300" b="1" dirty="0">
                <a:solidFill>
                  <a:schemeClr val="bg1"/>
                </a:solidFill>
                <a:latin typeface="Consolas" pitchFamily="34" charset="0"/>
                <a:ea typeface="Consolas" pitchFamily="34" charset="-122"/>
                <a:cs typeface="Consolas" pitchFamily="34" charset="-120"/>
              </a:rPr>
              <a:t>Rückgabetyp</a:t>
            </a:r>
            <a:endParaRPr lang="en-US" sz="1300" dirty="0"/>
          </a:p>
        </p:txBody>
      </p:sp>
      <p:sp>
        <p:nvSpPr>
          <p:cNvPr id="11" name="Token name"/>
          <p:cNvSpPr txBox="1"/>
          <p:nvPr/>
        </p:nvSpPr>
        <p:spPr>
          <a:xfrm>
            <a:off x="9095232" y="2514600"/>
            <a:ext cx="647192" cy="457200"/>
          </a:xfrm>
          <a:prstGeom prst="roundRect">
            <a:avLst>
              <a:gd name="adj" fmla="val 12000"/>
            </a:avLst>
          </a:prstGeom>
          <a:solidFill>
            <a:schemeClr val="accent1"/>
          </a:solidFill>
          <a:ln w="15875">
            <a:solidFill>
              <a:schemeClr val="accent1"/>
            </a:solidFill>
          </a:ln>
        </p:spPr>
        <p:txBody>
          <a:bodyPr wrap="square" lIns="0" tIns="0" rIns="0" bIns="0" rtlCol="0" anchor="ctr"/>
          <a:lstStyle/>
          <a:p>
            <a:pPr algn="ctr" indent="0" marL="0">
              <a:buNone/>
            </a:pPr>
            <a:r>
              <a:rPr lang="en-US" sz="1300" b="1" dirty="0">
                <a:solidFill>
                  <a:schemeClr val="bg1"/>
                </a:solidFill>
                <a:latin typeface="Consolas" pitchFamily="34" charset="0"/>
                <a:ea typeface="Consolas" pitchFamily="34" charset="-122"/>
                <a:cs typeface="Consolas" pitchFamily="34" charset="-120"/>
              </a:rPr>
              <a:t>name</a:t>
            </a:r>
            <a:endParaRPr lang="en-US" sz="1300" dirty="0"/>
          </a:p>
        </p:txBody>
      </p:sp>
      <p:sp>
        <p:nvSpPr>
          <p:cNvPr id="12" name="Token (Typ p, Typ q)"/>
          <p:cNvSpPr txBox="1"/>
          <p:nvPr/>
        </p:nvSpPr>
        <p:spPr>
          <a:xfrm>
            <a:off x="9788144" y="2514600"/>
            <a:ext cx="1670812" cy="457200"/>
          </a:xfrm>
          <a:prstGeom prst="roundRect">
            <a:avLst>
              <a:gd name="adj" fmla="val 12000"/>
            </a:avLst>
          </a:prstGeom>
          <a:solidFill>
            <a:schemeClr val="accent6"/>
          </a:solidFill>
          <a:ln w="15875">
            <a:solidFill>
              <a:schemeClr val="accent6"/>
            </a:solidFill>
          </a:ln>
        </p:spPr>
        <p:txBody>
          <a:bodyPr wrap="square" lIns="0" tIns="0" rIns="0" bIns="0" rtlCol="0" anchor="ctr"/>
          <a:lstStyle/>
          <a:p>
            <a:pPr algn="ctr" indent="0" marL="0">
              <a:buNone/>
            </a:pPr>
            <a:r>
              <a:rPr lang="en-US" sz="1300" b="1" dirty="0">
                <a:solidFill>
                  <a:schemeClr val="bg1"/>
                </a:solidFill>
                <a:latin typeface="Consolas" pitchFamily="34" charset="0"/>
                <a:ea typeface="Consolas" pitchFamily="34" charset="-122"/>
                <a:cs typeface="Consolas" pitchFamily="34" charset="-120"/>
              </a:rPr>
              <a:t>(Typ p, Typ q)</a:t>
            </a:r>
            <a:endParaRPr lang="en-US" sz="1300" dirty="0"/>
          </a:p>
        </p:txBody>
      </p:sp>
      <p:sp>
        <p:nvSpPr>
          <p:cNvPr id="13" name="Linie"/>
          <p:cNvSpPr/>
          <p:nvPr/>
        </p:nvSpPr>
        <p:spPr>
          <a:xfrm flipH="1">
            <a:off x="8303641" y="1901952"/>
            <a:ext cx="1102360" cy="585216"/>
          </a:xfrm>
          <a:prstGeom prst="line">
            <a:avLst/>
          </a:prstGeom>
          <a:noFill/>
          <a:ln w="31750">
            <a:solidFill>
              <a:schemeClr val="accent2"/>
            </a:solidFill>
            <a:prstDash val="solid"/>
            <a:tailEnd type="triangle"/>
          </a:ln>
        </p:spPr>
      </p:sp>
      <p:sp>
        <p:nvSpPr>
          <p:cNvPr id="14" name="Linie"/>
          <p:cNvSpPr/>
          <p:nvPr/>
        </p:nvSpPr>
        <p:spPr>
          <a:xfrm>
            <a:off x="6267196" y="1901952"/>
            <a:ext cx="3151632" cy="585216"/>
          </a:xfrm>
          <a:prstGeom prst="line">
            <a:avLst/>
          </a:prstGeom>
          <a:noFill/>
          <a:ln w="25400">
            <a:solidFill>
              <a:schemeClr val="accent1"/>
            </a:solidFill>
            <a:prstDash val="solid"/>
            <a:tailEnd type="triangle"/>
          </a:ln>
        </p:spPr>
      </p:sp>
      <p:sp>
        <p:nvSpPr>
          <p:cNvPr id="15" name="Linie"/>
          <p:cNvSpPr/>
          <p:nvPr/>
        </p:nvSpPr>
        <p:spPr>
          <a:xfrm>
            <a:off x="7638288" y="1901952"/>
            <a:ext cx="2985262" cy="585216"/>
          </a:xfrm>
          <a:prstGeom prst="line">
            <a:avLst/>
          </a:prstGeom>
          <a:noFill/>
          <a:ln w="25400">
            <a:solidFill>
              <a:schemeClr val="accent6"/>
            </a:solidFill>
            <a:prstDash val="solid"/>
            <a:tailEnd type="triangle"/>
          </a:ln>
        </p:spPr>
      </p:sp>
      <p:sp>
        <p:nvSpPr>
          <p:cNvPr id="16" name="Text 13"/>
          <p:cNvSpPr txBox="1"/>
          <p:nvPr/>
        </p:nvSpPr>
        <p:spPr>
          <a:xfrm>
            <a:off x="5486400" y="3035808"/>
            <a:ext cx="6126480" cy="292608"/>
          </a:xfrm>
          <a:prstGeom prst="rect">
            <a:avLst/>
          </a:prstGeom>
          <a:noFill/>
          <a:ln/>
        </p:spPr>
        <p:txBody>
          <a:bodyPr wrap="square" lIns="0" tIns="0" rIns="0" bIns="0" rtlCol="0" anchor="t"/>
          <a:lstStyle/>
          <a:p>
            <a:pPr indent="0" marL="0">
              <a:buNone/>
            </a:pPr>
            <a:r>
              <a:rPr lang="en-US" sz="1400" i="1" dirty="0">
                <a:solidFill>
                  <a:schemeClr val="accent6"/>
                </a:solidFill>
              </a:rPr>
              <a:t>Rückgabetyp nach vorn · in den Klammern Typ vor Name · Doppelpunkte weg</a:t>
            </a:r>
            <a:endParaRPr lang="en-US" sz="1400" dirty="0"/>
          </a:p>
        </p:txBody>
      </p:sp>
      <p:sp>
        <p:nvSpPr>
          <p:cNvPr id="17" name="Beispiel 1"/>
          <p:cNvSpPr/>
          <p:nvPr/>
        </p:nvSpPr>
        <p:spPr>
          <a:xfrm>
            <a:off x="5486400" y="3474720"/>
            <a:ext cx="6126480" cy="896112"/>
          </a:xfrm>
          <a:prstGeom prst="roundRect">
            <a:avLst>
              <a:gd name="adj" fmla="val 12245"/>
            </a:avLst>
          </a:prstGeom>
          <a:solidFill>
            <a:schemeClr val="bg1"/>
          </a:solidFill>
          <a:ln/>
          <a:effectLst>
            <a:outerShdw sx="100000" sy="100000" kx="0" ky="0" algn="bl" rotWithShape="0" blurRad="76200" dist="25400" dir="5400000">
              <a:srgbClr val="000000">
                <a:alpha val="18000"/>
              </a:srgbClr>
            </a:outerShdw>
          </a:effectLst>
        </p:spPr>
      </p:sp>
      <p:sp>
        <p:nvSpPr>
          <p:cNvPr id="18" name="Text 15"/>
          <p:cNvSpPr txBox="1"/>
          <p:nvPr/>
        </p:nvSpPr>
        <p:spPr>
          <a:xfrm>
            <a:off x="5669280" y="3474720"/>
            <a:ext cx="5852160" cy="896112"/>
          </a:xfrm>
          <a:prstGeom prst="rect">
            <a:avLst/>
          </a:prstGeom>
          <a:noFill/>
          <a:ln/>
        </p:spPr>
        <p:txBody>
          <a:bodyPr wrap="square" lIns="0" tIns="0" rIns="0" bIns="0" rtlCol="0" anchor="ctr"/>
          <a:lstStyle/>
          <a:p>
            <a:pPr indent="0" marL="0">
              <a:buNone/>
            </a:pPr>
            <a:r>
              <a:rPr lang="en-US" sz="1500" b="1" dirty="0">
                <a:solidFill>
                  <a:schemeClr val="accent1"/>
                </a:solidFill>
              </a:rPr>
              <a:t>bonus(stufe: Ganzzahl, kritisch: Wahrheitswert): Kommazahl</a:t>
            </a:r>
            <a:endParaRPr lang="en-US" sz="1800" dirty="0"/>
          </a:p>
          <a:p>
            <a:pPr indent="0" marL="0">
              <a:buNone/>
            </a:pPr>
            <a:r>
              <a:rPr lang="en-US" sz="1300" dirty="0">
                <a:solidFill>
                  <a:schemeClr val="tx1"/>
                </a:solidFill>
                <a:latin typeface="Consolas" pitchFamily="34" charset="0"/>
                <a:ea typeface="Consolas" pitchFamily="34" charset="-122"/>
                <a:cs typeface="Consolas" pitchFamily="34" charset="-120"/>
              </a:rPr>
              <a:t>public static double bonus(int stufe, boolean kritisch)</a:t>
            </a:r>
            <a:endParaRPr lang="en-US" sz="1800" dirty="0"/>
          </a:p>
        </p:txBody>
      </p:sp>
      <p:sp>
        <p:nvSpPr>
          <p:cNvPr id="19" name="Beispiel 2"/>
          <p:cNvSpPr/>
          <p:nvPr/>
        </p:nvSpPr>
        <p:spPr>
          <a:xfrm>
            <a:off x="5486400" y="4498848"/>
            <a:ext cx="6126480" cy="896112"/>
          </a:xfrm>
          <a:prstGeom prst="roundRect">
            <a:avLst>
              <a:gd name="adj" fmla="val 12245"/>
            </a:avLst>
          </a:prstGeom>
          <a:solidFill>
            <a:schemeClr val="bg1"/>
          </a:solidFill>
          <a:ln/>
          <a:effectLst>
            <a:outerShdw sx="100000" sy="100000" kx="0" ky="0" algn="bl" rotWithShape="0" blurRad="76200" dist="25400" dir="5400000">
              <a:srgbClr val="000000">
                <a:alpha val="18000"/>
              </a:srgbClr>
            </a:outerShdw>
          </a:effectLst>
        </p:spPr>
      </p:sp>
      <p:sp>
        <p:nvSpPr>
          <p:cNvPr id="20" name="Text 17"/>
          <p:cNvSpPr txBox="1"/>
          <p:nvPr/>
        </p:nvSpPr>
        <p:spPr>
          <a:xfrm>
            <a:off x="5669280" y="4498848"/>
            <a:ext cx="5852160" cy="896112"/>
          </a:xfrm>
          <a:prstGeom prst="rect">
            <a:avLst/>
          </a:prstGeom>
          <a:noFill/>
          <a:ln/>
        </p:spPr>
        <p:txBody>
          <a:bodyPr wrap="square" lIns="0" tIns="0" rIns="0" bIns="0" rtlCol="0" anchor="ctr"/>
          <a:lstStyle/>
          <a:p>
            <a:pPr indent="0" marL="0">
              <a:buNone/>
            </a:pPr>
            <a:r>
              <a:rPr lang="en-US" sz="1500" b="1" dirty="0">
                <a:solidFill>
                  <a:schemeClr val="accent1"/>
                </a:solidFill>
              </a:rPr>
              <a:t>markiere(namen: Reihung von Zeichenkette, i: Ganzzahl): nichts</a:t>
            </a:r>
            <a:endParaRPr lang="en-US" sz="1800" dirty="0"/>
          </a:p>
          <a:p>
            <a:pPr indent="0" marL="0">
              <a:buNone/>
            </a:pPr>
            <a:r>
              <a:rPr lang="en-US" sz="1300" dirty="0">
                <a:solidFill>
                  <a:schemeClr val="tx1"/>
                </a:solidFill>
                <a:latin typeface="Consolas" pitchFamily="34" charset="0"/>
                <a:ea typeface="Consolas" pitchFamily="34" charset="-122"/>
                <a:cs typeface="Consolas" pitchFamily="34" charset="-120"/>
              </a:rPr>
              <a:t>public static void markiere(String[] namen, int i)</a:t>
            </a:r>
            <a:endParaRPr lang="en-US" sz="1800" dirty="0"/>
          </a:p>
        </p:txBody>
      </p:sp>
      <p:sp>
        <p:nvSpPr>
          <p:cNvPr id="21" name="Fehler Kopf"/>
          <p:cNvSpPr/>
          <p:nvPr/>
        </p:nvSpPr>
        <p:spPr>
          <a:xfrm>
            <a:off x="548640" y="5440680"/>
            <a:ext cx="11064240" cy="685800"/>
          </a:xfrm>
          <a:prstGeom prst="roundRect">
            <a:avLst>
              <a:gd name="adj" fmla="val 16000"/>
            </a:avLst>
          </a:prstGeom>
          <a:solidFill>
            <a:schemeClr val="bg1"/>
          </a:solidFill>
          <a:ln w="25400">
            <a:solidFill>
              <a:schemeClr val="accent4"/>
            </a:solidFill>
            <a:prstDash val="solid"/>
          </a:ln>
        </p:spPr>
      </p:sp>
      <p:sp>
        <p:nvSpPr>
          <p:cNvPr id="22" name="Text 19"/>
          <p:cNvSpPr txBox="1"/>
          <p:nvPr/>
        </p:nvSpPr>
        <p:spPr>
          <a:xfrm>
            <a:off x="749808" y="5440680"/>
            <a:ext cx="10698480" cy="685800"/>
          </a:xfrm>
          <a:prstGeom prst="rect">
            <a:avLst/>
          </a:prstGeom>
          <a:noFill/>
          <a:ln/>
        </p:spPr>
        <p:txBody>
          <a:bodyPr wrap="square" lIns="0" tIns="0" rIns="0" bIns="0" rtlCol="0" anchor="ctr"/>
          <a:lstStyle/>
          <a:p>
            <a:pPr indent="0" marL="0">
              <a:buNone/>
            </a:pPr>
            <a:r>
              <a:rPr lang="en-US" sz="1600" b="1" dirty="0">
                <a:solidFill>
                  <a:schemeClr val="accent4"/>
                </a:solidFill>
              </a:rPr>
              <a:t>Typische Fehler: </a:t>
            </a:r>
            <a:pPr indent="0" marL="0">
              <a:buNone/>
            </a:pPr>
            <a:r>
              <a:rPr lang="en-US" sz="1600" dirty="0">
                <a:solidFill>
                  <a:schemeClr val="tx1"/>
                </a:solidFill>
              </a:rPr>
              <a:t>Rückgabetyp vergessen · </a:t>
            </a:r>
            <a:pPr indent="0" marL="0">
              <a:buNone/>
            </a:pPr>
            <a:r>
              <a:rPr lang="en-US" sz="1600" b="1" dirty="0">
                <a:solidFill>
                  <a:schemeClr val="tx1"/>
                </a:solidFill>
                <a:latin typeface="Consolas" pitchFamily="34" charset="0"/>
                <a:ea typeface="Consolas" pitchFamily="34" charset="-122"/>
                <a:cs typeface="Consolas" pitchFamily="34" charset="-120"/>
              </a:rPr>
              <a:t>Ganzzahl</a:t>
            </a:r>
            <a:pPr indent="0" marL="0">
              <a:buNone/>
            </a:pPr>
            <a:r>
              <a:rPr lang="en-US" sz="1600" dirty="0">
                <a:solidFill>
                  <a:schemeClr val="tx1"/>
                </a:solidFill>
              </a:rPr>
              <a:t> statt </a:t>
            </a:r>
            <a:pPr indent="0" marL="0">
              <a:buNone/>
            </a:pPr>
            <a:r>
              <a:rPr lang="en-US" sz="1600" b="1" dirty="0">
                <a:solidFill>
                  <a:schemeClr val="tx1"/>
                </a:solidFill>
                <a:latin typeface="Consolas" pitchFamily="34" charset="0"/>
                <a:ea typeface="Consolas" pitchFamily="34" charset="-122"/>
                <a:cs typeface="Consolas" pitchFamily="34" charset="-120"/>
              </a:rPr>
              <a:t>int</a:t>
            </a:r>
            <a:pPr indent="0" marL="0">
              <a:buNone/>
            </a:pPr>
            <a:r>
              <a:rPr lang="en-US" sz="1600" dirty="0">
                <a:solidFill>
                  <a:schemeClr val="tx1"/>
                </a:solidFill>
              </a:rPr>
              <a:t> · Parametertyp vergessen: </a:t>
            </a:r>
            <a:pPr indent="0" marL="0">
              <a:buNone/>
            </a:pPr>
            <a:r>
              <a:rPr lang="en-US" sz="1600" b="1" dirty="0">
                <a:solidFill>
                  <a:schemeClr val="tx1"/>
                </a:solidFill>
                <a:latin typeface="Consolas" pitchFamily="34" charset="0"/>
                <a:ea typeface="Consolas" pitchFamily="34" charset="-122"/>
                <a:cs typeface="Consolas" pitchFamily="34" charset="-120"/>
              </a:rPr>
              <a:t>int summe(a, b)</a:t>
            </a:r>
            <a:pPr indent="0" marL="0">
              <a:buNone/>
            </a:pPr>
            <a:r>
              <a:rPr lang="en-US" sz="1600" dirty="0">
                <a:solidFill>
                  <a:schemeClr val="tx1"/>
                </a:solidFill>
              </a:rPr>
              <a:t> · Reihenfolge vertauscht</a:t>
            </a:r>
            <a:endParaRPr lang="en-US" sz="1600" dirty="0"/>
          </a:p>
        </p:txBody>
      </p:sp>
      <p:sp>
        <p:nvSpPr>
          <p:cNvPr id="23" name="Text 20"/>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4 · Zauberschule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Parameter, Argumente und lokale Variablen</a:t>
            </a:r>
            <a:endParaRPr lang="en-US" sz="3600" dirty="0"/>
          </a:p>
        </p:txBody>
      </p:sp>
      <p:sp>
        <p:nvSpPr>
          <p:cNvPr id="3" name="Code"/>
          <p:cNvSpPr txBox="1"/>
          <p:nvPr/>
        </p:nvSpPr>
        <p:spPr>
          <a:xfrm>
            <a:off x="548640" y="1325880"/>
            <a:ext cx="5394960" cy="8351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2100"/>
              </a:lnSpc>
              <a:buNone/>
            </a:pPr>
            <a:r>
              <a:rPr lang="en-US" sz="1700" b="1" dirty="0">
                <a:solidFill>
                  <a:schemeClr val="accent1"/>
                </a:solidFill>
                <a:latin typeface="Consolas" pitchFamily="34" charset="0"/>
                <a:ea typeface="Consolas" pitchFamily="34" charset="-122"/>
                <a:cs typeface="Consolas" pitchFamily="34" charset="-120"/>
              </a:rPr>
              <a:t>int</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 </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helm</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 = 10;</a:t>
            </a:r>
            <a:endParaRPr lang="en-US" sz="1700" dirty="0"/>
          </a:p>
          <a:p>
            <a:pPr algn="l" indent="0" marL="0">
              <a:lnSpc>
                <a:spcPts val="2100"/>
              </a:lnSpc>
              <a:buNone/>
            </a:pPr>
            <a:r>
              <a:rPr lang="en-US" sz="1700" b="1" dirty="0">
                <a:solidFill>
                  <a:schemeClr val="accent1"/>
                </a:solidFill>
                <a:latin typeface="Consolas" pitchFamily="34" charset="0"/>
                <a:ea typeface="Consolas" pitchFamily="34" charset="-122"/>
                <a:cs typeface="Consolas" pitchFamily="34" charset="-120"/>
              </a:rPr>
              <a:t>int</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 </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s</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 = </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schutzwert</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helm</a:t>
            </a:r>
            <a:pPr algn="l" indent="0" marL="0">
              <a:lnSpc>
                <a:spcPts val="2100"/>
              </a:lnSpc>
              <a:buNone/>
            </a:pPr>
            <a:r>
              <a:rPr lang="en-US" sz="1700" dirty="0">
                <a:solidFill>
                  <a:schemeClr val="tx1"/>
                </a:solidFill>
                <a:latin typeface="Consolas" pitchFamily="34" charset="0"/>
                <a:ea typeface="Consolas" pitchFamily="34" charset="-122"/>
                <a:cs typeface="Consolas" pitchFamily="34" charset="-120"/>
              </a:rPr>
              <a:t> + 2, 3);</a:t>
            </a:r>
            <a:endParaRPr lang="en-US" sz="1700" dirty="0"/>
          </a:p>
        </p:txBody>
      </p:sp>
      <p:sp>
        <p:nvSpPr>
          <p:cNvPr id="4" name="Text 2"/>
          <p:cNvSpPr txBox="1"/>
          <p:nvPr/>
        </p:nvSpPr>
        <p:spPr>
          <a:xfrm>
            <a:off x="548640" y="2194560"/>
            <a:ext cx="5394960" cy="292608"/>
          </a:xfrm>
          <a:prstGeom prst="rect">
            <a:avLst/>
          </a:prstGeom>
          <a:noFill/>
          <a:ln/>
        </p:spPr>
        <p:txBody>
          <a:bodyPr wrap="square" lIns="0" tIns="0" rIns="0" bIns="0" rtlCol="0" anchor="t"/>
          <a:lstStyle/>
          <a:p>
            <a:pPr indent="0" marL="0">
              <a:buNone/>
            </a:pPr>
            <a:r>
              <a:rPr lang="en-US" sz="1500" b="1" dirty="0">
                <a:solidFill>
                  <a:schemeClr val="accent2"/>
                </a:solidFill>
              </a:rPr>
              <a:t>Argumente: Werte beim Aufruf</a:t>
            </a:r>
            <a:endParaRPr lang="en-US" sz="1500" dirty="0"/>
          </a:p>
        </p:txBody>
      </p:sp>
      <p:sp>
        <p:nvSpPr>
          <p:cNvPr id="5" name="Chip"/>
          <p:cNvSpPr txBox="1"/>
          <p:nvPr/>
        </p:nvSpPr>
        <p:spPr>
          <a:xfrm>
            <a:off x="731520" y="2560320"/>
            <a:ext cx="2377440" cy="438912"/>
          </a:xfrm>
          <a:prstGeom prst="roundRect">
            <a:avLst>
              <a:gd name="adj" fmla="val 50000"/>
            </a:avLst>
          </a:prstGeom>
          <a:solidFill>
            <a:schemeClr val="accent2"/>
          </a:solidFill>
          <a:ln/>
        </p:spPr>
        <p:txBody>
          <a:bodyPr wrap="square" lIns="0" tIns="0" rIns="0" bIns="0" rtlCol="0" anchor="ctr"/>
          <a:lstStyle/>
          <a:p>
            <a:pPr algn="ctr" indent="0" marL="0">
              <a:buNone/>
            </a:pPr>
            <a:r>
              <a:rPr lang="en-US" sz="1600" b="1" dirty="0">
                <a:solidFill>
                  <a:schemeClr val="bg1"/>
                </a:solidFill>
              </a:rPr>
              <a:t>helm + 2  →  12</a:t>
            </a:r>
            <a:endParaRPr lang="en-US" sz="1600" dirty="0"/>
          </a:p>
        </p:txBody>
      </p:sp>
      <p:sp>
        <p:nvSpPr>
          <p:cNvPr id="6" name="Chip"/>
          <p:cNvSpPr txBox="1"/>
          <p:nvPr/>
        </p:nvSpPr>
        <p:spPr>
          <a:xfrm>
            <a:off x="3566160" y="2560320"/>
            <a:ext cx="1097280" cy="438912"/>
          </a:xfrm>
          <a:prstGeom prst="roundRect">
            <a:avLst>
              <a:gd name="adj" fmla="val 50000"/>
            </a:avLst>
          </a:prstGeom>
          <a:solidFill>
            <a:schemeClr val="accent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7" name="Linie"/>
          <p:cNvSpPr/>
          <p:nvPr/>
        </p:nvSpPr>
        <p:spPr>
          <a:xfrm>
            <a:off x="1920240" y="3035808"/>
            <a:ext cx="91" cy="484632"/>
          </a:xfrm>
          <a:prstGeom prst="line">
            <a:avLst/>
          </a:prstGeom>
          <a:noFill/>
          <a:ln w="31750">
            <a:solidFill>
              <a:schemeClr val="accent2"/>
            </a:solidFill>
            <a:prstDash val="solid"/>
            <a:tailEnd type="triangle"/>
          </a:ln>
        </p:spPr>
      </p:sp>
      <p:sp>
        <p:nvSpPr>
          <p:cNvPr id="8" name="Linie"/>
          <p:cNvSpPr/>
          <p:nvPr/>
        </p:nvSpPr>
        <p:spPr>
          <a:xfrm>
            <a:off x="4114800" y="3035808"/>
            <a:ext cx="91" cy="484632"/>
          </a:xfrm>
          <a:prstGeom prst="line">
            <a:avLst/>
          </a:prstGeom>
          <a:noFill/>
          <a:ln w="31750">
            <a:solidFill>
              <a:schemeClr val="accent2"/>
            </a:solidFill>
            <a:prstDash val="solid"/>
            <a:tailEnd type="triangle"/>
          </a:ln>
        </p:spPr>
      </p:sp>
      <p:sp>
        <p:nvSpPr>
          <p:cNvPr id="9" name="Aufruf schutzwert"/>
          <p:cNvSpPr/>
          <p:nvPr/>
        </p:nvSpPr>
        <p:spPr>
          <a:xfrm>
            <a:off x="548640" y="3566160"/>
            <a:ext cx="5394960" cy="1417320"/>
          </a:xfrm>
          <a:prstGeom prst="roundRect">
            <a:avLst>
              <a:gd name="adj" fmla="val 7742"/>
            </a:avLst>
          </a:prstGeom>
          <a:solidFill>
            <a:schemeClr val="bg2"/>
          </a:solidFill>
          <a:ln w="19050">
            <a:solidFill>
              <a:schemeClr val="accent1"/>
            </a:solidFill>
            <a:prstDash val="solid"/>
          </a:ln>
        </p:spPr>
      </p:sp>
      <p:sp>
        <p:nvSpPr>
          <p:cNvPr id="10" name="Text 8"/>
          <p:cNvSpPr txBox="1"/>
          <p:nvPr/>
        </p:nvSpPr>
        <p:spPr>
          <a:xfrm>
            <a:off x="731520" y="3611880"/>
            <a:ext cx="5029200" cy="292608"/>
          </a:xfrm>
          <a:prstGeom prst="rect">
            <a:avLst/>
          </a:prstGeom>
          <a:noFill/>
          <a:ln/>
        </p:spPr>
        <p:txBody>
          <a:bodyPr wrap="square" lIns="0" tIns="0" rIns="0" bIns="0" rtlCol="0" anchor="t"/>
          <a:lstStyle/>
          <a:p>
            <a:pPr indent="0" marL="0">
              <a:buNone/>
            </a:pPr>
            <a:r>
              <a:rPr lang="en-US" sz="1400" b="1" dirty="0">
                <a:solidFill>
                  <a:schemeClr val="accent1"/>
                </a:solidFill>
              </a:rPr>
              <a:t>schutzwert – Parameter werden mit Kopien belegt</a:t>
            </a:r>
            <a:endParaRPr lang="en-US" sz="1400" dirty="0"/>
          </a:p>
        </p:txBody>
      </p:sp>
      <p:sp>
        <p:nvSpPr>
          <p:cNvPr id="11" name="Text 9"/>
          <p:cNvSpPr txBox="1"/>
          <p:nvPr/>
        </p:nvSpPr>
        <p:spPr>
          <a:xfrm>
            <a:off x="868680" y="3977640"/>
            <a:ext cx="2103120" cy="411480"/>
          </a:xfrm>
          <a:prstGeom prst="rect">
            <a:avLst/>
          </a:prstGeom>
          <a:solidFill>
            <a:schemeClr val="bg1"/>
          </a:solidFill>
          <a:ln w="19050">
            <a:solidFill>
              <a:schemeClr val="accent6"/>
            </a:solidFill>
          </a:ln>
        </p:spPr>
        <p:txBody>
          <a:bodyPr wrap="square" lIns="0" tIns="0" rIns="0" bIns="0" rtlCol="0" anchor="ctr"/>
          <a:lstStyle/>
          <a:p>
            <a:pPr algn="ctr" indent="0" marL="0">
              <a:buNone/>
            </a:pPr>
            <a:r>
              <a:rPr lang="en-US" sz="1500" b="1" dirty="0">
                <a:solidFill>
                  <a:schemeClr val="accent1"/>
                </a:solidFill>
                <a:latin typeface="Consolas" pitchFamily="34" charset="0"/>
                <a:ea typeface="Consolas" pitchFamily="34" charset="-122"/>
                <a:cs typeface="Consolas" pitchFamily="34" charset="-120"/>
              </a:rPr>
              <a:t>ruestung = 12</a:t>
            </a:r>
            <a:endParaRPr lang="en-US" sz="1500" dirty="0"/>
          </a:p>
        </p:txBody>
      </p:sp>
      <p:sp>
        <p:nvSpPr>
          <p:cNvPr id="12" name="Text 10"/>
          <p:cNvSpPr txBox="1"/>
          <p:nvPr/>
        </p:nvSpPr>
        <p:spPr>
          <a:xfrm>
            <a:off x="3246120" y="3977640"/>
            <a:ext cx="1737360" cy="411480"/>
          </a:xfrm>
          <a:prstGeom prst="rect">
            <a:avLst/>
          </a:prstGeom>
          <a:solidFill>
            <a:schemeClr val="bg1"/>
          </a:solidFill>
          <a:ln w="19050">
            <a:solidFill>
              <a:schemeClr val="accent6"/>
            </a:solidFill>
          </a:ln>
        </p:spPr>
        <p:txBody>
          <a:bodyPr wrap="square" lIns="0" tIns="0" rIns="0" bIns="0" rtlCol="0" anchor="ctr"/>
          <a:lstStyle/>
          <a:p>
            <a:pPr algn="ctr" indent="0" marL="0">
              <a:buNone/>
            </a:pPr>
            <a:r>
              <a:rPr lang="en-US" sz="1500" b="1" dirty="0">
                <a:solidFill>
                  <a:schemeClr val="accent1"/>
                </a:solidFill>
                <a:latin typeface="Consolas" pitchFamily="34" charset="0"/>
                <a:ea typeface="Consolas" pitchFamily="34" charset="-122"/>
                <a:cs typeface="Consolas" pitchFamily="34" charset="-120"/>
              </a:rPr>
              <a:t>stufe = 3</a:t>
            </a:r>
            <a:endParaRPr lang="en-US" sz="1500" dirty="0"/>
          </a:p>
        </p:txBody>
      </p:sp>
      <p:sp>
        <p:nvSpPr>
          <p:cNvPr id="13" name="Text 11"/>
          <p:cNvSpPr txBox="1"/>
          <p:nvPr/>
        </p:nvSpPr>
        <p:spPr>
          <a:xfrm>
            <a:off x="868680" y="4498848"/>
            <a:ext cx="4937760" cy="365760"/>
          </a:xfrm>
          <a:prstGeom prst="rect">
            <a:avLst/>
          </a:prstGeom>
          <a:noFill/>
          <a:ln/>
        </p:spPr>
        <p:txBody>
          <a:bodyPr wrap="square" lIns="0" tIns="0" rIns="0" bIns="0" rtlCol="0" anchor="ctr"/>
          <a:lstStyle/>
          <a:p>
            <a:pPr indent="0" marL="0">
              <a:buNone/>
            </a:pPr>
            <a:r>
              <a:rPr lang="en-US" sz="1500" b="1" dirty="0">
                <a:solidFill>
                  <a:schemeClr val="tx1"/>
                </a:solidFill>
                <a:latin typeface="Consolas" pitchFamily="34" charset="0"/>
                <a:ea typeface="Consolas" pitchFamily="34" charset="-122"/>
                <a:cs typeface="Consolas" pitchFamily="34" charset="-120"/>
              </a:rPr>
              <a:t>wert = 27</a:t>
            </a:r>
            <a:pPr indent="0" marL="0">
              <a:buNone/>
            </a:pPr>
            <a:r>
              <a:rPr lang="en-US" sz="1500" dirty="0">
                <a:solidFill>
                  <a:schemeClr val="tx1"/>
                </a:solidFill>
              </a:rPr>
              <a:t>  →  gib 27 zurück  →  </a:t>
            </a:r>
            <a:pPr indent="0" marL="0">
              <a:buNone/>
            </a:pPr>
            <a:r>
              <a:rPr lang="en-US" sz="1500" b="1" dirty="0">
                <a:solidFill>
                  <a:schemeClr val="accent2"/>
                </a:solidFill>
                <a:latin typeface="Consolas" pitchFamily="34" charset="0"/>
                <a:ea typeface="Consolas" pitchFamily="34" charset="-122"/>
                <a:cs typeface="Consolas" pitchFamily="34" charset="-120"/>
              </a:rPr>
              <a:t>s = 27</a:t>
            </a:r>
            <a:endParaRPr lang="en-US" sz="1500" dirty="0"/>
          </a:p>
        </p:txBody>
      </p:sp>
      <p:sp>
        <p:nvSpPr>
          <p:cNvPr id="14" name="Merke Parameter"/>
          <p:cNvSpPr/>
          <p:nvPr/>
        </p:nvSpPr>
        <p:spPr>
          <a:xfrm>
            <a:off x="548640" y="5166360"/>
            <a:ext cx="5394960" cy="960120"/>
          </a:xfrm>
          <a:prstGeom prst="roundRect">
            <a:avLst>
              <a:gd name="adj" fmla="val 11429"/>
            </a:avLst>
          </a:prstGeom>
          <a:solidFill>
            <a:schemeClr val="bg2"/>
          </a:solidFill>
          <a:ln/>
        </p:spPr>
      </p:sp>
      <p:sp>
        <p:nvSpPr>
          <p:cNvPr id="15" name="Text 13"/>
          <p:cNvSpPr txBox="1"/>
          <p:nvPr/>
        </p:nvSpPr>
        <p:spPr>
          <a:xfrm>
            <a:off x="749808" y="5166360"/>
            <a:ext cx="5029200" cy="960120"/>
          </a:xfrm>
          <a:prstGeom prst="rect">
            <a:avLst/>
          </a:prstGeom>
          <a:noFill/>
          <a:ln/>
        </p:spPr>
        <p:txBody>
          <a:bodyPr wrap="square" lIns="0" tIns="0" rIns="0" bIns="0" rtlCol="0" anchor="ctr"/>
          <a:lstStyle/>
          <a:p>
            <a:pPr indent="0" marL="0">
              <a:buNone/>
            </a:pPr>
            <a:r>
              <a:rPr lang="en-US" sz="1500" b="1" dirty="0">
                <a:solidFill>
                  <a:schemeClr val="accent1"/>
                </a:solidFill>
              </a:rPr>
              <a:t>Parameter </a:t>
            </a:r>
            <a:pPr indent="0" marL="0">
              <a:buNone/>
            </a:pPr>
            <a:r>
              <a:rPr lang="en-US" sz="1500" dirty="0">
                <a:solidFill>
                  <a:schemeClr val="tx1"/>
                </a:solidFill>
              </a:rPr>
              <a:t>stehen im Kopf, </a:t>
            </a:r>
            <a:pPr indent="0" marL="0">
              <a:buNone/>
            </a:pPr>
            <a:r>
              <a:rPr lang="en-US" sz="1500" b="1" dirty="0">
                <a:solidFill>
                  <a:schemeClr val="accent2"/>
                </a:solidFill>
              </a:rPr>
              <a:t>Argumente </a:t>
            </a:r>
            <a:pPr indent="0" marL="0">
              <a:buNone/>
            </a:pPr>
            <a:r>
              <a:rPr lang="en-US" sz="1500" dirty="0">
                <a:solidFill>
                  <a:schemeClr val="tx1"/>
                </a:solidFill>
              </a:rPr>
              <a:t>beim Aufruf. Anzahl, Reihenfolge und Typ müssen passen.</a:t>
            </a:r>
            <a:endParaRPr lang="en-US" sz="1500" dirty="0"/>
          </a:p>
        </p:txBody>
      </p:sp>
      <p:sp>
        <p:nvSpPr>
          <p:cNvPr id="16" name="Text 14"/>
          <p:cNvSpPr txBox="1"/>
          <p:nvPr/>
        </p:nvSpPr>
        <p:spPr>
          <a:xfrm>
            <a:off x="6309360" y="1280160"/>
            <a:ext cx="5303520" cy="365760"/>
          </a:xfrm>
          <a:prstGeom prst="rect">
            <a:avLst/>
          </a:prstGeom>
          <a:noFill/>
          <a:ln/>
        </p:spPr>
        <p:txBody>
          <a:bodyPr wrap="square" lIns="0" tIns="0" rIns="0" bIns="0" rtlCol="0" anchor="t"/>
          <a:lstStyle/>
          <a:p>
            <a:pPr indent="0" marL="0">
              <a:buNone/>
            </a:pPr>
            <a:r>
              <a:rPr lang="en-US" sz="1900" b="1" dirty="0">
                <a:solidFill>
                  <a:schemeClr val="accent1"/>
                </a:solidFill>
              </a:rPr>
              <a:t>Gültigkeit: Wo lebt eine Variable?</a:t>
            </a:r>
            <a:endParaRPr lang="en-US" sz="1900" dirty="0"/>
          </a:p>
        </p:txBody>
      </p:sp>
      <p:sp>
        <p:nvSpPr>
          <p:cNvPr id="17" name="Gueltigkeitsbereich"/>
          <p:cNvSpPr/>
          <p:nvPr/>
        </p:nvSpPr>
        <p:spPr>
          <a:xfrm>
            <a:off x="6309360" y="1737360"/>
            <a:ext cx="5303520" cy="1371600"/>
          </a:xfrm>
          <a:prstGeom prst="roundRect">
            <a:avLst>
              <a:gd name="adj" fmla="val 6667"/>
            </a:avLst>
          </a:prstGeom>
          <a:solidFill>
            <a:srgbClr val="FFF2CC"/>
          </a:solidFill>
          <a:ln w="25400">
            <a:solidFill>
              <a:schemeClr val="accent2"/>
            </a:solidFill>
            <a:prstDash val="dash"/>
          </a:ln>
        </p:spPr>
      </p:sp>
      <p:sp>
        <p:nvSpPr>
          <p:cNvPr id="18" name="Code"/>
          <p:cNvSpPr txBox="1"/>
          <p:nvPr/>
        </p:nvSpPr>
        <p:spPr>
          <a:xfrm>
            <a:off x="6446520" y="1874520"/>
            <a:ext cx="5029200" cy="11145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schutzwert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ruestung</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stufe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wert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ruestung</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+ 5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stufe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wert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p:txBody>
      </p:sp>
      <p:sp>
        <p:nvSpPr>
          <p:cNvPr id="19" name="Text 17"/>
          <p:cNvSpPr txBox="1"/>
          <p:nvPr/>
        </p:nvSpPr>
        <p:spPr>
          <a:xfrm>
            <a:off x="6309360" y="3154680"/>
            <a:ext cx="5303520" cy="274320"/>
          </a:xfrm>
          <a:prstGeom prst="rect">
            <a:avLst/>
          </a:prstGeom>
          <a:noFill/>
          <a:ln/>
        </p:spPr>
        <p:txBody>
          <a:bodyPr wrap="square" lIns="0" tIns="0" rIns="0" bIns="0" rtlCol="0" anchor="t"/>
          <a:lstStyle/>
          <a:p>
            <a:pPr indent="0" marL="0">
              <a:buNone/>
            </a:pPr>
            <a:r>
              <a:rPr lang="en-US" sz="1300" b="1" i="1" dirty="0">
                <a:solidFill>
                  <a:schemeClr val="accent2"/>
                </a:solidFill>
              </a:rPr>
              <a:t>ruestung, stufe, wert: nur hier, nur während des Aufrufs</a:t>
            </a:r>
            <a:endParaRPr lang="en-US" sz="1300" dirty="0"/>
          </a:p>
        </p:txBody>
      </p:sp>
      <p:sp>
        <p:nvSpPr>
          <p:cNvPr id="20" name="Code"/>
          <p:cNvSpPr txBox="1"/>
          <p:nvPr/>
        </p:nvSpPr>
        <p:spPr>
          <a:xfrm>
            <a:off x="6309360" y="3566160"/>
            <a:ext cx="5303520" cy="11145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s</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schutzwert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(12, 3);</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println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wert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i="1" dirty="0">
                <a:solidFill>
                  <a:schemeClr val="accent3"/>
                </a:solidFill>
                <a:latin typeface="Consolas" pitchFamily="34" charset="0"/>
                <a:ea typeface="Consolas" pitchFamily="34" charset="-122"/>
                <a:cs typeface="Consolas" pitchFamily="34" charset="-120"/>
              </a:rPr>
              <a:t>// Fehler: cannot find symbol</a:t>
            </a:r>
            <a:endParaRPr lang="en-US" sz="1300" dirty="0"/>
          </a:p>
          <a:p>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for</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0;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&lt; 3;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println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i="1" dirty="0">
                <a:solidFill>
                  <a:schemeClr val="accent3"/>
                </a:solidFill>
                <a:latin typeface="Consolas" pitchFamily="34" charset="0"/>
                <a:ea typeface="Consolas" pitchFamily="34" charset="-122"/>
                <a:cs typeface="Consolas" pitchFamily="34" charset="-120"/>
              </a:rPr>
              <a:t>// Fehler: cannot find symbol</a:t>
            </a:r>
            <a:endParaRPr lang="en-US" sz="1300" dirty="0"/>
          </a:p>
        </p:txBody>
      </p:sp>
      <p:sp>
        <p:nvSpPr>
          <p:cNvPr id="21" name="Gleicher Name"/>
          <p:cNvSpPr/>
          <p:nvPr/>
        </p:nvSpPr>
        <p:spPr>
          <a:xfrm>
            <a:off x="6309360" y="5166360"/>
            <a:ext cx="5303520" cy="960120"/>
          </a:xfrm>
          <a:prstGeom prst="roundRect">
            <a:avLst>
              <a:gd name="adj" fmla="val 11429"/>
            </a:avLst>
          </a:prstGeom>
          <a:solidFill>
            <a:schemeClr val="bg1"/>
          </a:solidFill>
          <a:ln w="25400">
            <a:solidFill>
              <a:schemeClr val="accent4"/>
            </a:solidFill>
            <a:prstDash val="solid"/>
          </a:ln>
        </p:spPr>
      </p:sp>
      <p:sp>
        <p:nvSpPr>
          <p:cNvPr id="22" name="Text 20"/>
          <p:cNvSpPr txBox="1"/>
          <p:nvPr/>
        </p:nvSpPr>
        <p:spPr>
          <a:xfrm>
            <a:off x="6510528" y="5166360"/>
            <a:ext cx="4937760" cy="960120"/>
          </a:xfrm>
          <a:prstGeom prst="rect">
            <a:avLst/>
          </a:prstGeom>
          <a:noFill/>
          <a:ln/>
        </p:spPr>
        <p:txBody>
          <a:bodyPr wrap="square" lIns="0" tIns="0" rIns="0" bIns="0" rtlCol="0" anchor="ctr"/>
          <a:lstStyle/>
          <a:p>
            <a:pPr indent="0" marL="0">
              <a:buNone/>
            </a:pPr>
            <a:r>
              <a:rPr lang="en-US" sz="1500" b="1" dirty="0">
                <a:solidFill>
                  <a:schemeClr val="accent4"/>
                </a:solidFill>
              </a:rPr>
              <a:t>Gleicher Name </a:t>
            </a:r>
            <a:pPr indent="0" marL="0">
              <a:buNone/>
            </a:pPr>
            <a:r>
              <a:rPr lang="en-US" sz="1500" dirty="0">
                <a:solidFill>
                  <a:schemeClr val="tx1"/>
                </a:solidFill>
              </a:rPr>
              <a:t>in zwei Methoden = zwei verschiedene Variablen. Ergebnis nach außen nur per </a:t>
            </a:r>
            <a:pPr indent="0" marL="0">
              <a:buNone/>
            </a:pPr>
            <a:r>
              <a:rPr lang="en-US" sz="1500" b="1" dirty="0">
                <a:solidFill>
                  <a:schemeClr val="tx1"/>
                </a:solidFill>
                <a:latin typeface="Consolas" pitchFamily="34" charset="0"/>
                <a:ea typeface="Consolas" pitchFamily="34" charset="-122"/>
                <a:cs typeface="Consolas" pitchFamily="34" charset="-120"/>
              </a:rPr>
              <a:t>return</a:t>
            </a:r>
            <a:pPr indent="0" marL="0">
              <a:buNone/>
            </a:pPr>
            <a:r>
              <a:rPr lang="en-US" sz="1500" dirty="0">
                <a:solidFill>
                  <a:schemeClr val="tx1"/>
                </a:solidFill>
              </a:rPr>
              <a:t>.</a:t>
            </a:r>
            <a:endParaRPr lang="en-US" sz="1500" dirty="0"/>
          </a:p>
        </p:txBody>
      </p:sp>
      <p:sp>
        <p:nvSpPr>
          <p:cNvPr id="23" name="Text 21"/>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4 · Zauberschule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return: jeder Weg braucht eine Rückgabe</a:t>
            </a:r>
            <a:endParaRPr lang="en-US" sz="3600" dirty="0"/>
          </a:p>
        </p:txBody>
      </p:sp>
      <p:sp>
        <p:nvSpPr>
          <p:cNvPr id="3" name="Chip"/>
          <p:cNvSpPr txBox="1"/>
          <p:nvPr/>
        </p:nvSpPr>
        <p:spPr>
          <a:xfrm>
            <a:off x="548640" y="1325880"/>
            <a:ext cx="1280160" cy="347472"/>
          </a:xfrm>
          <a:prstGeom prst="roundRect">
            <a:avLst>
              <a:gd name="adj" fmla="val 50000"/>
            </a:avLst>
          </a:prstGeom>
          <a:solidFill>
            <a:schemeClr val="accent4"/>
          </a:solidFill>
          <a:ln/>
        </p:spPr>
        <p:txBody>
          <a:bodyPr wrap="square" lIns="0" tIns="0" rIns="0" bIns="0" rtlCol="0" anchor="ctr"/>
          <a:lstStyle/>
          <a:p>
            <a:pPr algn="ctr" indent="0" marL="0">
              <a:buNone/>
            </a:pPr>
            <a:r>
              <a:rPr lang="en-US" sz="1400" b="1" dirty="0">
                <a:solidFill>
                  <a:schemeClr val="bg1"/>
                </a:solidFill>
              </a:rPr>
              <a:t>FALSCH</a:t>
            </a:r>
            <a:endParaRPr lang="en-US" sz="1400" dirty="0"/>
          </a:p>
        </p:txBody>
      </p:sp>
      <p:sp>
        <p:nvSpPr>
          <p:cNvPr id="4" name="Code"/>
          <p:cNvSpPr txBox="1"/>
          <p:nvPr/>
        </p:nvSpPr>
        <p:spPr>
          <a:xfrm>
            <a:off x="548640" y="1737360"/>
            <a:ext cx="5486400" cy="14447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public</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static</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String</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urteil</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punkte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if</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punkte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&gt;= 50)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return</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"bestanden"</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i="1" dirty="0">
                <a:solidFill>
                  <a:schemeClr val="accent3"/>
                </a:solidFill>
                <a:latin typeface="Consolas" pitchFamily="34" charset="0"/>
                <a:ea typeface="Consolas" pitchFamily="34" charset="-122"/>
                <a:cs typeface="Consolas" pitchFamily="34" charset="-120"/>
              </a:rPr>
              <a:t>// Fehler: missing return statement</a:t>
            </a:r>
            <a:endParaRPr lang="en-US" sz="1400" dirty="0"/>
          </a:p>
        </p:txBody>
      </p:sp>
      <p:sp>
        <p:nvSpPr>
          <p:cNvPr id="5" name="Chip"/>
          <p:cNvSpPr txBox="1"/>
          <p:nvPr/>
        </p:nvSpPr>
        <p:spPr>
          <a:xfrm>
            <a:off x="548640" y="3246120"/>
            <a:ext cx="1371600" cy="347472"/>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dirty="0">
                <a:solidFill>
                  <a:schemeClr val="bg1"/>
                </a:solidFill>
              </a:rPr>
              <a:t>RICHTIG</a:t>
            </a:r>
            <a:endParaRPr lang="en-US" sz="1400" dirty="0"/>
          </a:p>
        </p:txBody>
      </p:sp>
      <p:sp>
        <p:nvSpPr>
          <p:cNvPr id="6" name="Code"/>
          <p:cNvSpPr txBox="1"/>
          <p:nvPr/>
        </p:nvSpPr>
        <p:spPr>
          <a:xfrm>
            <a:off x="548640" y="3657600"/>
            <a:ext cx="5486400" cy="19019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public</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static</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String</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urteil</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punkte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if</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punkte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&gt;= 50)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return</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"bestanden"</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else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return</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"nicht bestanden"</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p:txBody>
      </p:sp>
      <p:pic>
        <p:nvPicPr>
          <p:cNvPr id="7" name="Struktogramm sg_urteil_bad" descr="Struktogramm sg_urteil_bad">    </p:cNvPr>
          <p:cNvPicPr>
            <a:picLocks noChangeAspect="1"/>
          </p:cNvPicPr>
          <p:nvPr/>
        </p:nvPicPr>
        <p:blipFill>
          <a:blip r:embed="rId1"/>
          <a:stretch>
            <a:fillRect/>
          </a:stretch>
        </p:blipFill>
        <p:spPr>
          <a:xfrm>
            <a:off x="6400800" y="1325880"/>
            <a:ext cx="4480560" cy="1482345"/>
          </a:xfrm>
          <a:prstGeom prst="rect">
            <a:avLst/>
          </a:prstGeom>
        </p:spPr>
      </p:pic>
      <p:sp>
        <p:nvSpPr>
          <p:cNvPr id="8" name="Text 5"/>
          <p:cNvSpPr txBox="1"/>
          <p:nvPr/>
        </p:nvSpPr>
        <p:spPr>
          <a:xfrm>
            <a:off x="6400800" y="2853945"/>
            <a:ext cx="5212080" cy="274320"/>
          </a:xfrm>
          <a:prstGeom prst="rect">
            <a:avLst/>
          </a:prstGeom>
          <a:noFill/>
          <a:ln/>
        </p:spPr>
        <p:txBody>
          <a:bodyPr wrap="square" lIns="0" tIns="0" rIns="0" bIns="0" rtlCol="0" anchor="t"/>
          <a:lstStyle/>
          <a:p>
            <a:pPr indent="0" marL="0">
              <a:buNone/>
            </a:pPr>
            <a:r>
              <a:rPr lang="en-US" sz="1400" b="1" i="1" dirty="0">
                <a:solidFill>
                  <a:schemeClr val="accent4"/>
                </a:solidFill>
              </a:rPr>
              <a:t>falsch-Weg endet ohne „gib … zurück“</a:t>
            </a:r>
            <a:endParaRPr lang="en-US" sz="1400" dirty="0"/>
          </a:p>
        </p:txBody>
      </p:sp>
      <p:pic>
        <p:nvPicPr>
          <p:cNvPr id="9" name="Struktogramm sg_urteil_ok" descr="Struktogramm sg_urteil_ok">    </p:cNvPr>
          <p:cNvPicPr>
            <a:picLocks noChangeAspect="1"/>
          </p:cNvPicPr>
          <p:nvPr/>
        </p:nvPicPr>
        <p:blipFill>
          <a:blip r:embed="rId2"/>
          <a:stretch>
            <a:fillRect/>
          </a:stretch>
        </p:blipFill>
        <p:spPr>
          <a:xfrm>
            <a:off x="6400800" y="3219705"/>
            <a:ext cx="4480560" cy="1482345"/>
          </a:xfrm>
          <a:prstGeom prst="rect">
            <a:avLst/>
          </a:prstGeom>
        </p:spPr>
      </p:pic>
      <p:sp>
        <p:nvSpPr>
          <p:cNvPr id="10" name="Text 6"/>
          <p:cNvSpPr txBox="1"/>
          <p:nvPr/>
        </p:nvSpPr>
        <p:spPr>
          <a:xfrm>
            <a:off x="6400800" y="4747770"/>
            <a:ext cx="5212080" cy="274320"/>
          </a:xfrm>
          <a:prstGeom prst="rect">
            <a:avLst/>
          </a:prstGeom>
          <a:noFill/>
          <a:ln/>
        </p:spPr>
        <p:txBody>
          <a:bodyPr wrap="square" lIns="0" tIns="0" rIns="0" bIns="0" rtlCol="0" anchor="t"/>
          <a:lstStyle/>
          <a:p>
            <a:pPr indent="0" marL="0">
              <a:buNone/>
            </a:pPr>
            <a:r>
              <a:rPr lang="en-US" sz="1400" b="1" i="1" dirty="0">
                <a:solidFill>
                  <a:schemeClr val="accent3"/>
                </a:solidFill>
              </a:rPr>
              <a:t>jeder Weg endet mit „gib … zurück“</a:t>
            </a:r>
            <a:endParaRPr lang="en-US" sz="1400" dirty="0"/>
          </a:p>
        </p:txBody>
      </p:sp>
      <p:sp>
        <p:nvSpPr>
          <p:cNvPr id="11" name="return beendet"/>
          <p:cNvSpPr/>
          <p:nvPr/>
        </p:nvSpPr>
        <p:spPr>
          <a:xfrm>
            <a:off x="6400800" y="5257800"/>
            <a:ext cx="5212080" cy="868680"/>
          </a:xfrm>
          <a:prstGeom prst="roundRect">
            <a:avLst>
              <a:gd name="adj" fmla="val 12632"/>
            </a:avLst>
          </a:prstGeom>
          <a:solidFill>
            <a:schemeClr val="bg2"/>
          </a:solidFill>
          <a:ln/>
        </p:spPr>
      </p:sp>
      <p:sp>
        <p:nvSpPr>
          <p:cNvPr id="12" name="Text 8"/>
          <p:cNvSpPr txBox="1"/>
          <p:nvPr/>
        </p:nvSpPr>
        <p:spPr>
          <a:xfrm>
            <a:off x="6601968" y="5257800"/>
            <a:ext cx="4846320" cy="868680"/>
          </a:xfrm>
          <a:prstGeom prst="rect">
            <a:avLst/>
          </a:prstGeom>
          <a:noFill/>
          <a:ln/>
        </p:spPr>
        <p:txBody>
          <a:bodyPr wrap="square" lIns="0" tIns="0" rIns="0" bIns="0" rtlCol="0" anchor="ctr"/>
          <a:lstStyle/>
          <a:p>
            <a:pPr indent="0" marL="0">
              <a:buNone/>
            </a:pPr>
            <a:r>
              <a:rPr lang="en-US" sz="1500" b="1" dirty="0">
                <a:solidFill>
                  <a:schemeClr val="tx1"/>
                </a:solidFill>
                <a:latin typeface="Consolas" pitchFamily="34" charset="0"/>
                <a:ea typeface="Consolas" pitchFamily="34" charset="-122"/>
                <a:cs typeface="Consolas" pitchFamily="34" charset="-120"/>
              </a:rPr>
              <a:t>return</a:t>
            </a:r>
            <a:pPr indent="0" marL="0">
              <a:buNone/>
            </a:pPr>
            <a:r>
              <a:rPr lang="en-US" sz="1500" dirty="0">
                <a:solidFill>
                  <a:schemeClr val="tx1"/>
                </a:solidFill>
              </a:rPr>
              <a:t> beendet sofort. Was danach steht, läuft nie: </a:t>
            </a:r>
            <a:pPr indent="0" marL="0">
              <a:buNone/>
            </a:pPr>
            <a:r>
              <a:rPr lang="en-US" sz="1500" b="1" dirty="0">
                <a:solidFill>
                  <a:schemeClr val="tx1"/>
                </a:solidFill>
              </a:rPr>
              <a:t>„unreachable statement“</a:t>
            </a:r>
            <a:endParaRPr lang="en-US" sz="1500" dirty="0"/>
          </a:p>
        </p:txBody>
      </p:sp>
      <p:sp>
        <p:nvSpPr>
          <p:cNvPr id="13" name="Text 9"/>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4 · Zauberschule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void oder Rückgabewert: was macht der Aufrufer?</a:t>
            </a:r>
            <a:endParaRPr lang="en-US" sz="3600" dirty="0"/>
          </a:p>
        </p:txBody>
      </p:sp>
      <p:sp>
        <p:nvSpPr>
          <p:cNvPr id="3" name="Text 1"/>
          <p:cNvSpPr txBox="1"/>
          <p:nvPr/>
        </p:nvSpPr>
        <p:spPr>
          <a:xfrm>
            <a:off x="548640" y="1280160"/>
            <a:ext cx="5486400" cy="365760"/>
          </a:xfrm>
          <a:prstGeom prst="rect">
            <a:avLst/>
          </a:prstGeom>
          <a:noFill/>
          <a:ln/>
        </p:spPr>
        <p:txBody>
          <a:bodyPr wrap="square" lIns="0" tIns="0" rIns="0" bIns="0" rtlCol="0" anchor="t"/>
          <a:lstStyle/>
          <a:p>
            <a:pPr indent="0" marL="0">
              <a:buNone/>
            </a:pPr>
            <a:r>
              <a:rPr lang="en-US" sz="1900" b="1" dirty="0">
                <a:solidFill>
                  <a:schemeClr val="accent1"/>
                </a:solidFill>
              </a:rPr>
              <a:t>nichts = void: </a:t>
            </a:r>
            <a:pPr indent="0" marL="0">
              <a:buNone/>
            </a:pPr>
            <a:r>
              <a:rPr lang="en-US" sz="1900" dirty="0">
                <a:solidFill>
                  <a:schemeClr val="accent6"/>
                </a:solidFill>
              </a:rPr>
              <a:t>tut etwas, liefert nichts</a:t>
            </a:r>
            <a:endParaRPr lang="en-US" sz="1900" dirty="0"/>
          </a:p>
        </p:txBody>
      </p:sp>
      <p:sp>
        <p:nvSpPr>
          <p:cNvPr id="4" name="Code"/>
          <p:cNvSpPr txBox="1"/>
          <p:nvPr/>
        </p:nvSpPr>
        <p:spPr>
          <a:xfrm>
            <a:off x="548640" y="1737360"/>
            <a:ext cx="5486400" cy="8732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public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static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void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zeigeLeben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String</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name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leben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println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name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leben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LP"</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p:txBody>
      </p:sp>
      <p:sp>
        <p:nvSpPr>
          <p:cNvPr id="5" name="Code"/>
          <p:cNvSpPr txBox="1"/>
          <p:nvPr/>
        </p:nvSpPr>
        <p:spPr>
          <a:xfrm>
            <a:off x="548640" y="2834640"/>
            <a:ext cx="3108960" cy="5430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zeigeLeben</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"Aria"</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80);</a:t>
            </a:r>
            <a:endParaRPr lang="en-US" sz="1500" dirty="0"/>
          </a:p>
        </p:txBody>
      </p:sp>
      <p:sp>
        <p:nvSpPr>
          <p:cNvPr id="6" name="Text 4"/>
          <p:cNvSpPr txBox="1"/>
          <p:nvPr/>
        </p:nvSpPr>
        <p:spPr>
          <a:xfrm>
            <a:off x="3886200" y="2834640"/>
            <a:ext cx="2148840" cy="457200"/>
          </a:xfrm>
          <a:prstGeom prst="rect">
            <a:avLst/>
          </a:prstGeom>
          <a:solidFill>
            <a:schemeClr val="tx1"/>
          </a:solidFill>
          <a:ln w="12700">
            <a:solidFill>
              <a:schemeClr val="tx1"/>
            </a:solidFill>
          </a:ln>
        </p:spPr>
        <p:txBody>
          <a:bodyPr wrap="square" lIns="101600" tIns="0" rIns="50800" bIns="0" rtlCol="0" anchor="ctr"/>
          <a:lstStyle/>
          <a:p>
            <a:pPr algn="l" indent="0" marL="0">
              <a:buNone/>
            </a:pPr>
            <a:r>
              <a:rPr lang="en-US" sz="1500" dirty="0">
                <a:solidFill>
                  <a:schemeClr val="bg1"/>
                </a:solidFill>
                <a:latin typeface="Consolas" pitchFamily="34" charset="0"/>
                <a:ea typeface="Consolas" pitchFamily="34" charset="-122"/>
                <a:cs typeface="Consolas" pitchFamily="34" charset="-120"/>
              </a:rPr>
              <a:t>Aria: 80 LP</a:t>
            </a:r>
            <a:endParaRPr lang="en-US" sz="1500" dirty="0"/>
          </a:p>
        </p:txBody>
      </p:sp>
      <p:sp>
        <p:nvSpPr>
          <p:cNvPr id="7" name="Text 5"/>
          <p:cNvSpPr txBox="1"/>
          <p:nvPr/>
        </p:nvSpPr>
        <p:spPr>
          <a:xfrm>
            <a:off x="3886200" y="3319272"/>
            <a:ext cx="2148840" cy="237744"/>
          </a:xfrm>
          <a:prstGeom prst="rect">
            <a:avLst/>
          </a:prstGeom>
          <a:noFill/>
          <a:ln/>
        </p:spPr>
        <p:txBody>
          <a:bodyPr wrap="square" lIns="0" tIns="0" rIns="0" bIns="0" rtlCol="0" anchor="t"/>
          <a:lstStyle/>
          <a:p>
            <a:pPr indent="0" marL="0">
              <a:buNone/>
            </a:pPr>
            <a:r>
              <a:rPr lang="en-US" sz="1200" i="1" dirty="0">
                <a:solidFill>
                  <a:schemeClr val="accent6"/>
                </a:solidFill>
              </a:rPr>
              <a:t>Konsole</a:t>
            </a:r>
            <a:endParaRPr lang="en-US" sz="1200" dirty="0"/>
          </a:p>
        </p:txBody>
      </p:sp>
      <p:sp>
        <p:nvSpPr>
          <p:cNvPr id="8" name="void speichern"/>
          <p:cNvSpPr/>
          <p:nvPr/>
        </p:nvSpPr>
        <p:spPr>
          <a:xfrm>
            <a:off x="548640" y="3840480"/>
            <a:ext cx="5486400" cy="1051560"/>
          </a:xfrm>
          <a:prstGeom prst="roundRect">
            <a:avLst>
              <a:gd name="adj" fmla="val 10435"/>
            </a:avLst>
          </a:prstGeom>
          <a:solidFill>
            <a:schemeClr val="bg1"/>
          </a:solidFill>
          <a:ln w="25400">
            <a:solidFill>
              <a:schemeClr val="accent4"/>
            </a:solidFill>
            <a:prstDash val="solid"/>
          </a:ln>
        </p:spPr>
      </p:sp>
      <p:sp>
        <p:nvSpPr>
          <p:cNvPr id="9" name="Text 7"/>
          <p:cNvSpPr txBox="1"/>
          <p:nvPr/>
        </p:nvSpPr>
        <p:spPr>
          <a:xfrm>
            <a:off x="749808" y="3840480"/>
            <a:ext cx="5120640" cy="1051560"/>
          </a:xfrm>
          <a:prstGeom prst="rect">
            <a:avLst/>
          </a:prstGeom>
          <a:noFill/>
          <a:ln/>
        </p:spPr>
        <p:txBody>
          <a:bodyPr wrap="square" lIns="0" tIns="0" rIns="0" bIns="0" rtlCol="0" anchor="ctr"/>
          <a:lstStyle/>
          <a:p>
            <a:pPr indent="0" marL="0">
              <a:buNone/>
            </a:pPr>
            <a:r>
              <a:rPr lang="en-US" sz="1500" b="1" dirty="0">
                <a:solidFill>
                  <a:schemeClr val="accent4"/>
                </a:solidFill>
              </a:rPr>
              <a:t>Fehler: </a:t>
            </a:r>
            <a:pPr indent="0" marL="0">
              <a:buNone/>
            </a:pPr>
            <a:r>
              <a:rPr lang="en-US" sz="1400" b="1" dirty="0">
                <a:solidFill>
                  <a:schemeClr val="tx1"/>
                </a:solidFill>
                <a:latin typeface="Consolas" pitchFamily="34" charset="0"/>
                <a:ea typeface="Consolas" pitchFamily="34" charset="-122"/>
                <a:cs typeface="Consolas" pitchFamily="34" charset="-120"/>
              </a:rPr>
              <a:t>int x = zeigeLeben("Aria", 80);</a:t>
            </a:r>
            <a:pPr indent="0" marL="0">
              <a:buNone/>
            </a:pPr>
            <a:r>
              <a:rPr lang="en-US" sz="1500" dirty="0">
                <a:solidFill>
                  <a:schemeClr val="tx1"/>
                </a:solidFill>
              </a:rPr>
              <a:t>  – void kann man nicht speichern.</a:t>
            </a:r>
            <a:endParaRPr lang="en-US" sz="1500" dirty="0"/>
          </a:p>
        </p:txBody>
      </p:sp>
      <p:sp>
        <p:nvSpPr>
          <p:cNvPr id="10" name="return void"/>
          <p:cNvSpPr/>
          <p:nvPr/>
        </p:nvSpPr>
        <p:spPr>
          <a:xfrm>
            <a:off x="548640" y="5074920"/>
            <a:ext cx="5486400" cy="1051560"/>
          </a:xfrm>
          <a:prstGeom prst="roundRect">
            <a:avLst>
              <a:gd name="adj" fmla="val 10435"/>
            </a:avLst>
          </a:prstGeom>
          <a:solidFill>
            <a:schemeClr val="bg2"/>
          </a:solidFill>
          <a:ln/>
        </p:spPr>
      </p:sp>
      <p:sp>
        <p:nvSpPr>
          <p:cNvPr id="11" name="Text 9"/>
          <p:cNvSpPr txBox="1"/>
          <p:nvPr/>
        </p:nvSpPr>
        <p:spPr>
          <a:xfrm>
            <a:off x="749808" y="5074920"/>
            <a:ext cx="5120640" cy="1051560"/>
          </a:xfrm>
          <a:prstGeom prst="rect">
            <a:avLst/>
          </a:prstGeom>
          <a:noFill/>
          <a:ln/>
        </p:spPr>
        <p:txBody>
          <a:bodyPr wrap="square" lIns="0" tIns="0" rIns="0" bIns="0" rtlCol="0" anchor="ctr"/>
          <a:lstStyle/>
          <a:p>
            <a:pPr indent="0" marL="0">
              <a:buNone/>
            </a:pPr>
            <a:r>
              <a:rPr lang="en-US" sz="1500" b="1" dirty="0">
                <a:solidFill>
                  <a:schemeClr val="accent1"/>
                </a:solidFill>
              </a:rPr>
              <a:t>Tipp: </a:t>
            </a:r>
            <a:pPr indent="0" marL="0">
              <a:buNone/>
            </a:pPr>
            <a:r>
              <a:rPr lang="en-US" sz="1500" b="1" dirty="0">
                <a:solidFill>
                  <a:schemeClr val="tx1"/>
                </a:solidFill>
                <a:latin typeface="Consolas" pitchFamily="34" charset="0"/>
                <a:ea typeface="Consolas" pitchFamily="34" charset="-122"/>
                <a:cs typeface="Consolas" pitchFamily="34" charset="-120"/>
              </a:rPr>
              <a:t>return;</a:t>
            </a:r>
            <a:pPr indent="0" marL="0">
              <a:buNone/>
            </a:pPr>
            <a:r>
              <a:rPr lang="en-US" sz="1500" dirty="0">
                <a:solidFill>
                  <a:schemeClr val="tx1"/>
                </a:solidFill>
              </a:rPr>
              <a:t> ohne Wert beendet eine void-Methode vorzeitig. Ein Wert hinter return ist hier verboten.</a:t>
            </a:r>
            <a:endParaRPr lang="en-US" sz="1500" dirty="0"/>
          </a:p>
        </p:txBody>
      </p:sp>
      <p:sp>
        <p:nvSpPr>
          <p:cNvPr id="12" name="Text 10"/>
          <p:cNvSpPr txBox="1"/>
          <p:nvPr/>
        </p:nvSpPr>
        <p:spPr>
          <a:xfrm>
            <a:off x="6400800" y="1280160"/>
            <a:ext cx="5212080" cy="365760"/>
          </a:xfrm>
          <a:prstGeom prst="rect">
            <a:avLst/>
          </a:prstGeom>
          <a:noFill/>
          <a:ln/>
        </p:spPr>
        <p:txBody>
          <a:bodyPr wrap="square" lIns="0" tIns="0" rIns="0" bIns="0" rtlCol="0" anchor="t"/>
          <a:lstStyle/>
          <a:p>
            <a:pPr indent="0" marL="0">
              <a:buNone/>
            </a:pPr>
            <a:r>
              <a:rPr lang="en-US" sz="1900" b="1" dirty="0">
                <a:solidFill>
                  <a:schemeClr val="accent1"/>
                </a:solidFill>
              </a:rPr>
              <a:t>Rückgabewert verwenden: </a:t>
            </a:r>
            <a:pPr indent="0" marL="0">
              <a:buNone/>
            </a:pPr>
            <a:r>
              <a:rPr lang="en-US" sz="1900" dirty="0">
                <a:solidFill>
                  <a:schemeClr val="accent6"/>
                </a:solidFill>
              </a:rPr>
              <a:t>drei Wege</a:t>
            </a:r>
            <a:endParaRPr lang="en-US" sz="1900" dirty="0"/>
          </a:p>
        </p:txBody>
      </p:sp>
      <p:sp>
        <p:nvSpPr>
          <p:cNvPr id="13" name="Nummer 1"/>
          <p:cNvSpPr txBox="1"/>
          <p:nvPr/>
        </p:nvSpPr>
        <p:spPr>
          <a:xfrm>
            <a:off x="6400800" y="1892808"/>
            <a:ext cx="457200" cy="45720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14" name="Text 12"/>
          <p:cNvSpPr txBox="1"/>
          <p:nvPr/>
        </p:nvSpPr>
        <p:spPr>
          <a:xfrm>
            <a:off x="6995160" y="1783080"/>
            <a:ext cx="4572000" cy="292608"/>
          </a:xfrm>
          <a:prstGeom prst="rect">
            <a:avLst/>
          </a:prstGeom>
          <a:noFill/>
          <a:ln/>
        </p:spPr>
        <p:txBody>
          <a:bodyPr wrap="square" lIns="0" tIns="0" rIns="0" bIns="0" rtlCol="0" anchor="t"/>
          <a:lstStyle/>
          <a:p>
            <a:pPr indent="0" marL="0">
              <a:buNone/>
            </a:pPr>
            <a:r>
              <a:rPr lang="en-US" sz="1600" b="1" dirty="0">
                <a:solidFill>
                  <a:schemeClr val="accent1"/>
                </a:solidFill>
              </a:rPr>
              <a:t>speichern</a:t>
            </a:r>
            <a:endParaRPr lang="en-US" sz="1600" dirty="0"/>
          </a:p>
        </p:txBody>
      </p:sp>
      <p:sp>
        <p:nvSpPr>
          <p:cNvPr id="15" name="Text 13"/>
          <p:cNvSpPr txBox="1"/>
          <p:nvPr/>
        </p:nvSpPr>
        <p:spPr>
          <a:xfrm>
            <a:off x="6995160" y="2112264"/>
            <a:ext cx="4617720" cy="411480"/>
          </a:xfrm>
          <a:prstGeom prst="rect">
            <a:avLst/>
          </a:prstGeom>
          <a:solidFill>
            <a:schemeClr val="accent5"/>
          </a:solidFill>
          <a:ln w="9525">
            <a:solidFill>
              <a:srgbClr val="D0D0D0"/>
            </a:solidFill>
          </a:ln>
        </p:spPr>
        <p:txBody>
          <a:bodyPr wrap="square" lIns="101600" tIns="0" rIns="50800" bIns="0" rtlCol="0" anchor="ctr"/>
          <a:lstStyle/>
          <a:p>
            <a:pPr indent="0" marL="0">
              <a:buNone/>
            </a:pPr>
            <a:r>
              <a:rPr lang="en-US" sz="1400" dirty="0">
                <a:solidFill>
                  <a:schemeClr val="tx1"/>
                </a:solidFill>
                <a:latin typeface="Consolas" pitchFamily="34" charset="0"/>
                <a:ea typeface="Consolas" pitchFamily="34" charset="-122"/>
                <a:cs typeface="Consolas" pitchFamily="34" charset="-120"/>
              </a:rPr>
              <a:t>int s = schutzwert(12, 3);</a:t>
            </a:r>
            <a:endParaRPr lang="en-US" sz="1400" dirty="0"/>
          </a:p>
        </p:txBody>
      </p:sp>
      <p:sp>
        <p:nvSpPr>
          <p:cNvPr id="16" name="Nummer 2"/>
          <p:cNvSpPr txBox="1"/>
          <p:nvPr/>
        </p:nvSpPr>
        <p:spPr>
          <a:xfrm>
            <a:off x="6400800" y="2807208"/>
            <a:ext cx="457200" cy="45720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7" name="Text 15"/>
          <p:cNvSpPr txBox="1"/>
          <p:nvPr/>
        </p:nvSpPr>
        <p:spPr>
          <a:xfrm>
            <a:off x="6995160" y="2697480"/>
            <a:ext cx="4572000" cy="292608"/>
          </a:xfrm>
          <a:prstGeom prst="rect">
            <a:avLst/>
          </a:prstGeom>
          <a:noFill/>
          <a:ln/>
        </p:spPr>
        <p:txBody>
          <a:bodyPr wrap="square" lIns="0" tIns="0" rIns="0" bIns="0" rtlCol="0" anchor="t"/>
          <a:lstStyle/>
          <a:p>
            <a:pPr indent="0" marL="0">
              <a:buNone/>
            </a:pPr>
            <a:r>
              <a:rPr lang="en-US" sz="1600" b="1" dirty="0">
                <a:solidFill>
                  <a:schemeClr val="accent1"/>
                </a:solidFill>
              </a:rPr>
              <a:t>ausgeben</a:t>
            </a:r>
            <a:endParaRPr lang="en-US" sz="1600" dirty="0"/>
          </a:p>
        </p:txBody>
      </p:sp>
      <p:sp>
        <p:nvSpPr>
          <p:cNvPr id="18" name="Text 16"/>
          <p:cNvSpPr txBox="1"/>
          <p:nvPr/>
        </p:nvSpPr>
        <p:spPr>
          <a:xfrm>
            <a:off x="6995160" y="3026664"/>
            <a:ext cx="4617720" cy="411480"/>
          </a:xfrm>
          <a:prstGeom prst="rect">
            <a:avLst/>
          </a:prstGeom>
          <a:solidFill>
            <a:schemeClr val="accent5"/>
          </a:solidFill>
          <a:ln w="9525">
            <a:solidFill>
              <a:srgbClr val="D0D0D0"/>
            </a:solidFill>
          </a:ln>
        </p:spPr>
        <p:txBody>
          <a:bodyPr wrap="square" lIns="101600" tIns="0" rIns="50800" bIns="0" rtlCol="0" anchor="ctr"/>
          <a:lstStyle/>
          <a:p>
            <a:pPr indent="0" marL="0">
              <a:buNone/>
            </a:pPr>
            <a:r>
              <a:rPr lang="en-US" sz="1400" dirty="0">
                <a:solidFill>
                  <a:schemeClr val="tx1"/>
                </a:solidFill>
                <a:latin typeface="Consolas" pitchFamily="34" charset="0"/>
                <a:ea typeface="Consolas" pitchFamily="34" charset="-122"/>
                <a:cs typeface="Consolas" pitchFamily="34" charset="-120"/>
              </a:rPr>
              <a:t>println(schutzwert(12, 3));</a:t>
            </a:r>
            <a:endParaRPr lang="en-US" sz="1400" dirty="0"/>
          </a:p>
        </p:txBody>
      </p:sp>
      <p:sp>
        <p:nvSpPr>
          <p:cNvPr id="19" name="Nummer 3"/>
          <p:cNvSpPr txBox="1"/>
          <p:nvPr/>
        </p:nvSpPr>
        <p:spPr>
          <a:xfrm>
            <a:off x="6400800" y="3721608"/>
            <a:ext cx="457200" cy="45720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20" name="Text 18"/>
          <p:cNvSpPr txBox="1"/>
          <p:nvPr/>
        </p:nvSpPr>
        <p:spPr>
          <a:xfrm>
            <a:off x="6995160" y="3611880"/>
            <a:ext cx="4572000" cy="292608"/>
          </a:xfrm>
          <a:prstGeom prst="rect">
            <a:avLst/>
          </a:prstGeom>
          <a:noFill/>
          <a:ln/>
        </p:spPr>
        <p:txBody>
          <a:bodyPr wrap="square" lIns="0" tIns="0" rIns="0" bIns="0" rtlCol="0" anchor="t"/>
          <a:lstStyle/>
          <a:p>
            <a:pPr indent="0" marL="0">
              <a:buNone/>
            </a:pPr>
            <a:r>
              <a:rPr lang="en-US" sz="1600" b="1" dirty="0">
                <a:solidFill>
                  <a:schemeClr val="accent1"/>
                </a:solidFill>
              </a:rPr>
              <a:t>weiterrechnen</a:t>
            </a:r>
            <a:endParaRPr lang="en-US" sz="1600" dirty="0"/>
          </a:p>
        </p:txBody>
      </p:sp>
      <p:sp>
        <p:nvSpPr>
          <p:cNvPr id="21" name="Text 19"/>
          <p:cNvSpPr txBox="1"/>
          <p:nvPr/>
        </p:nvSpPr>
        <p:spPr>
          <a:xfrm>
            <a:off x="6995160" y="3941064"/>
            <a:ext cx="4617720" cy="411480"/>
          </a:xfrm>
          <a:prstGeom prst="rect">
            <a:avLst/>
          </a:prstGeom>
          <a:solidFill>
            <a:schemeClr val="accent5"/>
          </a:solidFill>
          <a:ln w="9525">
            <a:solidFill>
              <a:srgbClr val="D0D0D0"/>
            </a:solidFill>
          </a:ln>
        </p:spPr>
        <p:txBody>
          <a:bodyPr wrap="square" lIns="101600" tIns="0" rIns="50800" bIns="0" rtlCol="0" anchor="ctr"/>
          <a:lstStyle/>
          <a:p>
            <a:pPr indent="0" marL="0">
              <a:buNone/>
            </a:pPr>
            <a:r>
              <a:rPr lang="en-US" sz="1400" dirty="0">
                <a:solidFill>
                  <a:schemeClr val="tx1"/>
                </a:solidFill>
                <a:latin typeface="Consolas" pitchFamily="34" charset="0"/>
                <a:ea typeface="Consolas" pitchFamily="34" charset="-122"/>
                <a:cs typeface="Consolas" pitchFamily="34" charset="-120"/>
              </a:rPr>
              <a:t>if (schutzwert(12, 3) &gt;= 30) {…}</a:t>
            </a:r>
            <a:endParaRPr lang="en-US" sz="1400" dirty="0"/>
          </a:p>
        </p:txBody>
      </p:sp>
      <p:sp>
        <p:nvSpPr>
          <p:cNvPr id="22" name="Ergebnis verpufft"/>
          <p:cNvSpPr/>
          <p:nvPr/>
        </p:nvSpPr>
        <p:spPr>
          <a:xfrm>
            <a:off x="6400800" y="4572000"/>
            <a:ext cx="5212080" cy="1554480"/>
          </a:xfrm>
          <a:prstGeom prst="roundRect">
            <a:avLst>
              <a:gd name="adj" fmla="val 7059"/>
            </a:avLst>
          </a:prstGeom>
          <a:solidFill>
            <a:schemeClr val="bg1"/>
          </a:solidFill>
          <a:ln w="25400">
            <a:solidFill>
              <a:schemeClr val="accent4"/>
            </a:solidFill>
            <a:prstDash val="solid"/>
          </a:ln>
        </p:spPr>
      </p:sp>
      <p:sp>
        <p:nvSpPr>
          <p:cNvPr id="23" name="Text 21"/>
          <p:cNvSpPr txBox="1"/>
          <p:nvPr/>
        </p:nvSpPr>
        <p:spPr>
          <a:xfrm>
            <a:off x="6601968" y="4572000"/>
            <a:ext cx="4846320" cy="1554480"/>
          </a:xfrm>
          <a:prstGeom prst="rect">
            <a:avLst/>
          </a:prstGeom>
          <a:noFill/>
          <a:ln/>
        </p:spPr>
        <p:txBody>
          <a:bodyPr wrap="square" lIns="0" tIns="0" rIns="0" bIns="0" rtlCol="0" anchor="ctr"/>
          <a:lstStyle/>
          <a:p>
            <a:pPr indent="0" marL="0">
              <a:buNone/>
            </a:pPr>
            <a:r>
              <a:rPr lang="en-US" sz="1500" b="1" dirty="0">
                <a:solidFill>
                  <a:schemeClr val="accent4"/>
                </a:solidFill>
              </a:rPr>
              <a:t>Falle: </a:t>
            </a:r>
            <a:pPr indent="0" marL="0">
              <a:buNone/>
            </a:pPr>
            <a:r>
              <a:rPr lang="en-US" sz="1400" b="1" dirty="0">
                <a:solidFill>
                  <a:schemeClr val="tx1"/>
                </a:solidFill>
                <a:latin typeface="Consolas" pitchFamily="34" charset="0"/>
                <a:ea typeface="Consolas" pitchFamily="34" charset="-122"/>
                <a:cs typeface="Consolas" pitchFamily="34" charset="-120"/>
              </a:rPr>
              <a:t>schutzwert(12, 3);</a:t>
            </a:r>
            <a:pPr indent="0" marL="0">
              <a:buNone/>
            </a:pPr>
            <a:r>
              <a:rPr lang="en-US" sz="1500" dirty="0">
                <a:solidFill>
                  <a:schemeClr val="tx1"/>
                </a:solidFill>
              </a:rPr>
              <a:t> allein kompiliert – aber das Ergebnis 27 verpufft. Wer etwas liefert, dessen Wert muss man auffangen.</a:t>
            </a:r>
            <a:endParaRPr lang="en-US" sz="1500" dirty="0"/>
          </a:p>
        </p:txBody>
      </p:sp>
      <p:sp>
        <p:nvSpPr>
          <p:cNvPr id="24" name="Text 22"/>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4 · Zauberschule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Methode ruft Methode: das Aufrufprotokoll</a:t>
            </a:r>
            <a:endParaRPr lang="en-US" sz="3600" dirty="0"/>
          </a:p>
        </p:txBody>
      </p:sp>
      <p:sp>
        <p:nvSpPr>
          <p:cNvPr id="3" name="Code"/>
          <p:cNvSpPr txBox="1"/>
          <p:nvPr/>
        </p:nvSpPr>
        <p:spPr>
          <a:xfrm>
            <a:off x="548640" y="1325880"/>
            <a:ext cx="5394960" cy="22067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public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static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schutzwert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ruestung</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stufe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wert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ruestung</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+ 5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stufe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return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wert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public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static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boolean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haeltStand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schaden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ruestung</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stufe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schutz</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schutzwert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ruestung</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stufe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return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schutz</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&gt;=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schaden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p:txBody>
      </p:sp>
      <p:sp>
        <p:nvSpPr>
          <p:cNvPr id="4" name="Merke Aufruf"/>
          <p:cNvSpPr/>
          <p:nvPr/>
        </p:nvSpPr>
        <p:spPr>
          <a:xfrm>
            <a:off x="548640" y="4023360"/>
            <a:ext cx="5394960" cy="1051560"/>
          </a:xfrm>
          <a:prstGeom prst="roundRect">
            <a:avLst>
              <a:gd name="adj" fmla="val 10435"/>
            </a:avLst>
          </a:prstGeom>
          <a:solidFill>
            <a:schemeClr val="bg2"/>
          </a:solidFill>
          <a:ln/>
        </p:spPr>
      </p:sp>
      <p:sp>
        <p:nvSpPr>
          <p:cNvPr id="5" name="Text 3"/>
          <p:cNvSpPr txBox="1"/>
          <p:nvPr/>
        </p:nvSpPr>
        <p:spPr>
          <a:xfrm>
            <a:off x="749808" y="4023360"/>
            <a:ext cx="5029200" cy="1051560"/>
          </a:xfrm>
          <a:prstGeom prst="rect">
            <a:avLst/>
          </a:prstGeom>
          <a:noFill/>
          <a:ln/>
        </p:spPr>
        <p:txBody>
          <a:bodyPr wrap="square" lIns="0" tIns="0" rIns="0" bIns="0" rtlCol="0" anchor="ctr"/>
          <a:lstStyle/>
          <a:p>
            <a:pPr indent="0" marL="0">
              <a:buNone/>
            </a:pPr>
            <a:r>
              <a:rPr lang="en-US" sz="1500" b="1" dirty="0">
                <a:solidFill>
                  <a:schemeClr val="accent1"/>
                </a:solidFill>
              </a:rPr>
              <a:t>Merke: </a:t>
            </a:r>
            <a:pPr indent="0" marL="0">
              <a:buNone/>
            </a:pPr>
            <a:r>
              <a:rPr lang="en-US" sz="1500" dirty="0">
                <a:solidFill>
                  <a:schemeClr val="tx1"/>
                </a:solidFill>
              </a:rPr>
              <a:t>Der Aufrufer wartet, bis die aufgerufene Methode ihren Wert liefert. Dann geht es genau an der Aufrufstelle weiter.</a:t>
            </a:r>
            <a:endParaRPr lang="en-US" sz="1500" dirty="0"/>
          </a:p>
        </p:txBody>
      </p:sp>
      <p:sp>
        <p:nvSpPr>
          <p:cNvPr id="6" name="Zerlegen"/>
          <p:cNvSpPr/>
          <p:nvPr/>
        </p:nvSpPr>
        <p:spPr>
          <a:xfrm>
            <a:off x="548640" y="5257800"/>
            <a:ext cx="5394960" cy="868680"/>
          </a:xfrm>
          <a:prstGeom prst="roundRect">
            <a:avLst>
              <a:gd name="adj" fmla="val 12632"/>
            </a:avLst>
          </a:prstGeom>
          <a:solidFill>
            <a:schemeClr val="bg1"/>
          </a:solidFill>
          <a:ln w="25400">
            <a:solidFill>
              <a:schemeClr val="accent3"/>
            </a:solidFill>
            <a:prstDash val="solid"/>
          </a:ln>
        </p:spPr>
      </p:sp>
      <p:sp>
        <p:nvSpPr>
          <p:cNvPr id="7" name="Text 5"/>
          <p:cNvSpPr txBox="1"/>
          <p:nvPr/>
        </p:nvSpPr>
        <p:spPr>
          <a:xfrm>
            <a:off x="749808" y="5257800"/>
            <a:ext cx="5029200" cy="868680"/>
          </a:xfrm>
          <a:prstGeom prst="rect">
            <a:avLst/>
          </a:prstGeom>
          <a:noFill/>
          <a:ln/>
        </p:spPr>
        <p:txBody>
          <a:bodyPr wrap="square" lIns="0" tIns="0" rIns="0" bIns="0" rtlCol="0" anchor="ctr"/>
          <a:lstStyle/>
          <a:p>
            <a:pPr indent="0" marL="0">
              <a:buNone/>
            </a:pPr>
            <a:r>
              <a:rPr lang="en-US" sz="1500" b="1" dirty="0">
                <a:solidFill>
                  <a:schemeClr val="accent3"/>
                </a:solidFill>
              </a:rPr>
              <a:t>Zerlegen lohnt: </a:t>
            </a:r>
            <a:pPr indent="0" marL="0">
              <a:buNone/>
            </a:pPr>
            <a:r>
              <a:rPr lang="en-US" sz="1500" dirty="0">
                <a:solidFill>
                  <a:schemeClr val="tx1"/>
                </a:solidFill>
              </a:rPr>
              <a:t>haeltStand rechnet nicht selbst, sondern nutzt schutzwert.</a:t>
            </a:r>
            <a:endParaRPr lang="en-US" sz="1500" dirty="0"/>
          </a:p>
        </p:txBody>
      </p:sp>
      <p:sp>
        <p:nvSpPr>
          <p:cNvPr id="8" name="Aufruf Hauptprogramm"/>
          <p:cNvSpPr/>
          <p:nvPr/>
        </p:nvSpPr>
        <p:spPr>
          <a:xfrm>
            <a:off x="6217920" y="1325880"/>
            <a:ext cx="5394960" cy="914400"/>
          </a:xfrm>
          <a:prstGeom prst="roundRect">
            <a:avLst>
              <a:gd name="adj" fmla="val 12000"/>
            </a:avLst>
          </a:prstGeom>
          <a:solidFill>
            <a:schemeClr val="accent5"/>
          </a:solidFill>
          <a:ln w="22225">
            <a:solidFill>
              <a:schemeClr val="accent1"/>
            </a:solidFill>
            <a:prstDash val="solid"/>
          </a:ln>
          <a:effectLst>
            <a:outerShdw sx="100000" sy="100000" kx="0" ky="0" algn="bl" rotWithShape="0" blurRad="76200" dist="25400" dir="5400000">
              <a:srgbClr val="000000">
                <a:alpha val="18000"/>
              </a:srgbClr>
            </a:outerShdw>
          </a:effectLst>
        </p:spPr>
      </p:sp>
      <p:sp>
        <p:nvSpPr>
          <p:cNvPr id="9" name="Text 7"/>
          <p:cNvSpPr txBox="1"/>
          <p:nvPr/>
        </p:nvSpPr>
        <p:spPr>
          <a:xfrm>
            <a:off x="6355080" y="1325880"/>
            <a:ext cx="5120640" cy="914400"/>
          </a:xfrm>
          <a:prstGeom prst="rect">
            <a:avLst/>
          </a:prstGeom>
          <a:noFill/>
          <a:ln/>
        </p:spPr>
        <p:txBody>
          <a:bodyPr wrap="square" lIns="0" tIns="0" rIns="0" bIns="0" rtlCol="0" anchor="ctr"/>
          <a:lstStyle/>
          <a:p>
            <a:pPr indent="0" marL="0">
              <a:buNone/>
            </a:pPr>
            <a:r>
              <a:rPr lang="en-US" sz="1600" b="1" dirty="0">
                <a:solidFill>
                  <a:schemeClr val="accent1"/>
                </a:solidFill>
              </a:rPr>
              <a:t>Hauptprogramm:  </a:t>
            </a:r>
            <a:pPr indent="0" marL="0">
              <a:buNone/>
            </a:pPr>
            <a:r>
              <a:rPr lang="en-US" sz="1600" dirty="0">
                <a:solidFill>
                  <a:schemeClr val="tx1"/>
                </a:solidFill>
              </a:rPr>
              <a:t>ok = haeltStand(30, 12, 3)</a:t>
            </a:r>
            <a:pPr indent="0" marL="0">
              <a:buNone/>
            </a:pPr>
            <a:endParaRPr lang="en-US" sz="1600" dirty="0"/>
          </a:p>
          <a:p>
            <a:pPr indent="0" marL="0">
              <a:buNone/>
            </a:pPr>
            <a:r>
              <a:rPr lang="en-US" sz="1500" dirty="0">
                <a:solidFill>
                  <a:schemeClr val="accent6"/>
                </a:solidFill>
              </a:rPr>
              <a:t>wartet …  dann ok = false</a:t>
            </a:r>
            <a:endParaRPr lang="en-US" sz="1600" dirty="0"/>
          </a:p>
        </p:txBody>
      </p:sp>
      <p:sp>
        <p:nvSpPr>
          <p:cNvPr id="10" name="Aufruf haeltStand"/>
          <p:cNvSpPr/>
          <p:nvPr/>
        </p:nvSpPr>
        <p:spPr>
          <a:xfrm>
            <a:off x="6675120" y="2423160"/>
            <a:ext cx="4937760" cy="914400"/>
          </a:xfrm>
          <a:prstGeom prst="roundRect">
            <a:avLst>
              <a:gd name="adj" fmla="val 12000"/>
            </a:avLst>
          </a:prstGeom>
          <a:solidFill>
            <a:schemeClr val="bg1"/>
          </a:solidFill>
          <a:ln w="22225">
            <a:solidFill>
              <a:schemeClr val="accent1"/>
            </a:solidFill>
            <a:prstDash val="solid"/>
          </a:ln>
          <a:effectLst>
            <a:outerShdw sx="100000" sy="100000" kx="0" ky="0" algn="bl" rotWithShape="0" blurRad="76200" dist="25400" dir="5400000">
              <a:srgbClr val="000000">
                <a:alpha val="18000"/>
              </a:srgbClr>
            </a:outerShdw>
          </a:effectLst>
        </p:spPr>
      </p:sp>
      <p:sp>
        <p:nvSpPr>
          <p:cNvPr id="11" name="Text 9"/>
          <p:cNvSpPr txBox="1"/>
          <p:nvPr/>
        </p:nvSpPr>
        <p:spPr>
          <a:xfrm>
            <a:off x="6812280" y="2423160"/>
            <a:ext cx="4663440" cy="914400"/>
          </a:xfrm>
          <a:prstGeom prst="rect">
            <a:avLst/>
          </a:prstGeom>
          <a:noFill/>
          <a:ln/>
        </p:spPr>
        <p:txBody>
          <a:bodyPr wrap="square" lIns="0" tIns="0" rIns="0" bIns="0" rtlCol="0" anchor="ctr"/>
          <a:lstStyle/>
          <a:p>
            <a:pPr indent="0" marL="0">
              <a:buNone/>
            </a:pPr>
            <a:r>
              <a:rPr lang="en-US" sz="1600" b="1" dirty="0">
                <a:solidFill>
                  <a:schemeClr val="accent1"/>
                </a:solidFill>
              </a:rPr>
              <a:t>haeltStand:  </a:t>
            </a:r>
            <a:pPr indent="0" marL="0">
              <a:buNone/>
            </a:pPr>
            <a:r>
              <a:rPr lang="en-US" sz="1600" dirty="0">
                <a:solidFill>
                  <a:schemeClr val="tx1"/>
                </a:solidFill>
              </a:rPr>
              <a:t>schaden = 30, ruestung = 12, stufe = 3</a:t>
            </a:r>
            <a:pPr indent="0" marL="0">
              <a:buNone/>
            </a:pPr>
            <a:endParaRPr lang="en-US" sz="1600" dirty="0"/>
          </a:p>
          <a:p>
            <a:pPr indent="0" marL="0">
              <a:buNone/>
            </a:pPr>
            <a:r>
              <a:rPr lang="en-US" sz="1500" dirty="0">
                <a:solidFill>
                  <a:schemeClr val="accent6"/>
                </a:solidFill>
              </a:rPr>
              <a:t>schutz = 27;  27 &gt;= 30 → gib false zurück</a:t>
            </a:r>
            <a:endParaRPr lang="en-US" sz="1600" dirty="0"/>
          </a:p>
        </p:txBody>
      </p:sp>
      <p:sp>
        <p:nvSpPr>
          <p:cNvPr id="12" name="Aufruf schutzwert"/>
          <p:cNvSpPr/>
          <p:nvPr/>
        </p:nvSpPr>
        <p:spPr>
          <a:xfrm>
            <a:off x="7132320" y="3520440"/>
            <a:ext cx="4480560" cy="914400"/>
          </a:xfrm>
          <a:prstGeom prst="roundRect">
            <a:avLst>
              <a:gd name="adj" fmla="val 12000"/>
            </a:avLst>
          </a:prstGeom>
          <a:solidFill>
            <a:schemeClr val="bg1"/>
          </a:solidFill>
          <a:ln w="22225">
            <a:solidFill>
              <a:schemeClr val="accent2"/>
            </a:solidFill>
            <a:prstDash val="solid"/>
          </a:ln>
          <a:effectLst>
            <a:outerShdw sx="100000" sy="100000" kx="0" ky="0" algn="bl" rotWithShape="0" blurRad="76200" dist="25400" dir="5400000">
              <a:srgbClr val="000000">
                <a:alpha val="18000"/>
              </a:srgbClr>
            </a:outerShdw>
          </a:effectLst>
        </p:spPr>
      </p:sp>
      <p:sp>
        <p:nvSpPr>
          <p:cNvPr id="13" name="Text 11"/>
          <p:cNvSpPr txBox="1"/>
          <p:nvPr/>
        </p:nvSpPr>
        <p:spPr>
          <a:xfrm>
            <a:off x="7269480" y="3520440"/>
            <a:ext cx="4206240" cy="914400"/>
          </a:xfrm>
          <a:prstGeom prst="rect">
            <a:avLst/>
          </a:prstGeom>
          <a:noFill/>
          <a:ln/>
        </p:spPr>
        <p:txBody>
          <a:bodyPr wrap="square" lIns="0" tIns="0" rIns="0" bIns="0" rtlCol="0" anchor="ctr"/>
          <a:lstStyle/>
          <a:p>
            <a:pPr indent="0" marL="0">
              <a:buNone/>
            </a:pPr>
            <a:r>
              <a:rPr lang="en-US" sz="1600" b="1" dirty="0">
                <a:solidFill>
                  <a:schemeClr val="accent1"/>
                </a:solidFill>
              </a:rPr>
              <a:t>schutzwert:  </a:t>
            </a:r>
            <a:pPr indent="0" marL="0">
              <a:buNone/>
            </a:pPr>
            <a:r>
              <a:rPr lang="en-US" sz="1600" dirty="0">
                <a:solidFill>
                  <a:schemeClr val="tx1"/>
                </a:solidFill>
              </a:rPr>
              <a:t>ruestung = 12, stufe = 3</a:t>
            </a:r>
            <a:pPr indent="0" marL="0">
              <a:buNone/>
            </a:pPr>
            <a:endParaRPr lang="en-US" sz="1600" dirty="0"/>
          </a:p>
          <a:p>
            <a:pPr indent="0" marL="0">
              <a:buNone/>
            </a:pPr>
            <a:r>
              <a:rPr lang="en-US" sz="1500" dirty="0">
                <a:solidFill>
                  <a:schemeClr val="accent6"/>
                </a:solidFill>
              </a:rPr>
              <a:t>wert = 27 → gib 27 zurück</a:t>
            </a:r>
            <a:endParaRPr lang="en-US" sz="1600" dirty="0"/>
          </a:p>
        </p:txBody>
      </p:sp>
      <p:sp>
        <p:nvSpPr>
          <p:cNvPr id="14" name="Linie"/>
          <p:cNvSpPr/>
          <p:nvPr/>
        </p:nvSpPr>
        <p:spPr>
          <a:xfrm>
            <a:off x="6446520" y="2240280"/>
            <a:ext cx="91" cy="457200"/>
          </a:xfrm>
          <a:prstGeom prst="line">
            <a:avLst/>
          </a:prstGeom>
          <a:noFill/>
          <a:ln w="28575">
            <a:solidFill>
              <a:schemeClr val="accent1"/>
            </a:solidFill>
            <a:prstDash val="solid"/>
            <a:tailEnd type="triangle"/>
          </a:ln>
        </p:spPr>
      </p:sp>
      <p:sp>
        <p:nvSpPr>
          <p:cNvPr id="15" name="Linie"/>
          <p:cNvSpPr/>
          <p:nvPr/>
        </p:nvSpPr>
        <p:spPr>
          <a:xfrm>
            <a:off x="6903720" y="3337560"/>
            <a:ext cx="91" cy="457200"/>
          </a:xfrm>
          <a:prstGeom prst="line">
            <a:avLst/>
          </a:prstGeom>
          <a:noFill/>
          <a:ln w="28575">
            <a:solidFill>
              <a:schemeClr val="accent1"/>
            </a:solidFill>
            <a:prstDash val="solid"/>
            <a:tailEnd type="triangle"/>
          </a:ln>
        </p:spPr>
      </p:sp>
      <p:sp>
        <p:nvSpPr>
          <p:cNvPr id="16" name="Text 14"/>
          <p:cNvSpPr txBox="1"/>
          <p:nvPr/>
        </p:nvSpPr>
        <p:spPr>
          <a:xfrm>
            <a:off x="5715000" y="3346704"/>
            <a:ext cx="1097280" cy="274320"/>
          </a:xfrm>
          <a:prstGeom prst="rect">
            <a:avLst/>
          </a:prstGeom>
          <a:noFill/>
          <a:ln/>
        </p:spPr>
        <p:txBody>
          <a:bodyPr wrap="square" lIns="0" tIns="0" rIns="0" bIns="0" rtlCol="0" anchor="t"/>
          <a:lstStyle/>
          <a:p>
            <a:pPr algn="r" indent="0" marL="0">
              <a:buNone/>
            </a:pPr>
            <a:r>
              <a:rPr lang="en-US" sz="1300" i="1" dirty="0">
                <a:solidFill>
                  <a:schemeClr val="accent1"/>
                </a:solidFill>
              </a:rPr>
              <a:t>ruft auf</a:t>
            </a:r>
            <a:endParaRPr lang="en-US" sz="1300" dirty="0"/>
          </a:p>
        </p:txBody>
      </p:sp>
      <p:graphicFrame>
        <p:nvGraphicFramePr>
          <p:cNvPr id="20" name="Aufrufprotokoll"/>
          <p:cNvGraphicFramePr>
            <a:graphicFrameLocks noGrp="1"/>
          </p:cNvGraphicFramePr>
          <p:nvPr>
            <p:extLst>
              <p:ext uri="{D42A27DB-BD31-4B8C-83A1-F6EECF244321}">
                <p14:modId xmlns:p14="http://schemas.microsoft.com/office/powerpoint/2010/main" val="1579011935"/>
              </p:ext>
            </p:extLst>
          </p:nvPr>
        </p:nvGraphicFramePr>
        <p:xfrm>
          <a:off x="6217920" y="4709160"/>
          <a:ext cx="5394960" cy="914400"/>
        </p:xfrm>
        <a:graphic>
          <a:graphicData uri="http://schemas.openxmlformats.org/drawingml/2006/table">
            <a:tbl>
              <a:tblPr/>
              <a:tblGrid>
                <a:gridCol w="2514600"/>
                <a:gridCol w="1783080"/>
                <a:gridCol w="1097280"/>
              </a:tblGrid>
              <a:tr h="384048">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Aufruf</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lokale Variable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Rückgabe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384048">
                <a:tc>
                  <a:txBody>
                    <a:bodyPr/>
                    <a:lstStyle/>
                    <a:p>
                      <a:pPr algn="l" indent="0" marL="0">
                        <a:buNone/>
                      </a:pPr>
                      <a:r>
                        <a:rPr lang="en-US" sz="1400" dirty="0">
                          <a:solidFill>
                            <a:schemeClr val="tx1"/>
                          </a:solidFill>
                          <a:latin typeface="Consolas" pitchFamily="34" charset="0"/>
                          <a:ea typeface="Consolas" pitchFamily="34" charset="-122"/>
                          <a:cs typeface="Consolas" pitchFamily="34" charset="-120"/>
                        </a:rPr>
                        <a:t>haeltStand(30, 12, 3)</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onsolas" pitchFamily="34" charset="0"/>
                          <a:ea typeface="Consolas" pitchFamily="34" charset="-122"/>
                          <a:cs typeface="Consolas" pitchFamily="34" charset="-120"/>
                        </a:rPr>
                        <a:t>schutz = 27</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latin typeface="Consolas" pitchFamily="34" charset="0"/>
                          <a:ea typeface="Consolas" pitchFamily="34" charset="-122"/>
                          <a:cs typeface="Consolas" pitchFamily="34" charset="-120"/>
                        </a:rPr>
                        <a:t>false</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l" indent="0" marL="0">
                        <a:buNone/>
                      </a:pPr>
                      <a:r>
                        <a:rPr lang="en-US" sz="1400" dirty="0">
                          <a:solidFill>
                            <a:schemeClr val="tx1"/>
                          </a:solidFill>
                          <a:latin typeface="Consolas" pitchFamily="34" charset="0"/>
                          <a:ea typeface="Consolas" pitchFamily="34" charset="-122"/>
                          <a:cs typeface="Consolas" pitchFamily="34" charset="-120"/>
                        </a:rPr>
                        <a:t>  schutzwert(12, 3)</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onsolas" pitchFamily="34" charset="0"/>
                          <a:ea typeface="Consolas" pitchFamily="34" charset="-122"/>
                          <a:cs typeface="Consolas" pitchFamily="34" charset="-120"/>
                        </a:rPr>
                        <a:t>wert = 27</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latin typeface="Consolas" pitchFamily="34" charset="0"/>
                          <a:ea typeface="Consolas" pitchFamily="34" charset="-122"/>
                          <a:cs typeface="Consolas" pitchFamily="34" charset="-120"/>
                        </a:rPr>
                        <a:t>27</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18" name="Text 15"/>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4 · Zauberschule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Vorhersage: Was gibt das Programm aus?</a:t>
            </a:r>
            <a:endParaRPr lang="en-US" sz="3600" dirty="0"/>
          </a:p>
        </p:txBody>
      </p:sp>
      <p:sp>
        <p:nvSpPr>
          <p:cNvPr id="3" name="Code"/>
          <p:cNvSpPr txBox="1"/>
          <p:nvPr/>
        </p:nvSpPr>
        <p:spPr>
          <a:xfrm>
            <a:off x="548640" y="1325880"/>
            <a:ext cx="6035040" cy="41879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public</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static</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void</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heile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leben</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leben</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leben</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+ 20;</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public</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static</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void</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heileAlle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team</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for</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0;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&lt;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team</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length</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team</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team</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+ 20;</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i="1" dirty="0">
                <a:solidFill>
                  <a:schemeClr val="accent3"/>
                </a:solidFill>
                <a:latin typeface="Consolas" pitchFamily="34" charset="0"/>
                <a:ea typeface="Consolas" pitchFamily="34" charset="-122"/>
                <a:cs typeface="Consolas" pitchFamily="34" charset="-120"/>
              </a:rPr>
              <a:t>// Hauptprogramm</a:t>
            </a:r>
            <a:endParaRPr lang="en-US" sz="1400" dirty="0"/>
          </a:p>
          <a:p>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held</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50;</a:t>
            </a:r>
            <a:endParaRPr lang="en-US" sz="1400" dirty="0"/>
          </a:p>
          <a:p>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gruppe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{50, 30};</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heile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held</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heileAlle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gruppe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println</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held</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i="1" dirty="0">
                <a:solidFill>
                  <a:schemeClr val="accent3"/>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println</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gruppe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[0]);   </a:t>
            </a:r>
            <a:pPr algn="l" indent="0" marL="0">
              <a:lnSpc>
                <a:spcPts val="1800"/>
              </a:lnSpc>
              <a:buNone/>
            </a:pPr>
            <a:r>
              <a:rPr lang="en-US" sz="1400" i="1" dirty="0">
                <a:solidFill>
                  <a:schemeClr val="accent3"/>
                </a:solidFill>
                <a:latin typeface="Consolas" pitchFamily="34" charset="0"/>
                <a:ea typeface="Consolas" pitchFamily="34" charset="-122"/>
                <a:cs typeface="Consolas" pitchFamily="34" charset="-120"/>
              </a:rPr>
              <a:t>// ?</a:t>
            </a:r>
            <a:endParaRPr lang="en-US" sz="1400" dirty="0"/>
          </a:p>
        </p:txBody>
      </p:sp>
      <p:sp>
        <p:nvSpPr>
          <p:cNvPr id="4" name="Text 2"/>
          <p:cNvSpPr txBox="1"/>
          <p:nvPr/>
        </p:nvSpPr>
        <p:spPr>
          <a:xfrm>
            <a:off x="6949440" y="1325880"/>
            <a:ext cx="4663440" cy="365760"/>
          </a:xfrm>
          <a:prstGeom prst="rect">
            <a:avLst/>
          </a:prstGeom>
          <a:noFill/>
          <a:ln/>
        </p:spPr>
        <p:txBody>
          <a:bodyPr wrap="square" lIns="0" tIns="0" rIns="0" bIns="0" rtlCol="0" anchor="t"/>
          <a:lstStyle/>
          <a:p>
            <a:pPr indent="0" marL="0">
              <a:buNone/>
            </a:pPr>
            <a:r>
              <a:rPr lang="en-US" sz="1900" b="1" dirty="0">
                <a:solidFill>
                  <a:schemeClr val="accent1"/>
                </a:solidFill>
              </a:rPr>
              <a:t>Team-Tipp (1 Minute, ohne Gerät)</a:t>
            </a:r>
            <a:endParaRPr lang="en-US" sz="1900" dirty="0"/>
          </a:p>
        </p:txBody>
      </p:sp>
      <p:sp>
        <p:nvSpPr>
          <p:cNvPr id="5" name="Option A"/>
          <p:cNvSpPr/>
          <p:nvPr/>
        </p:nvSpPr>
        <p:spPr>
          <a:xfrm>
            <a:off x="6949440" y="1874520"/>
            <a:ext cx="2194560" cy="914400"/>
          </a:xfrm>
          <a:prstGeom prst="roundRect">
            <a:avLst>
              <a:gd name="adj" fmla="val 12000"/>
            </a:avLst>
          </a:prstGeom>
          <a:solidFill>
            <a:schemeClr val="bg1"/>
          </a:solidFill>
          <a:ln/>
          <a:effectLst>
            <a:outerShdw sx="100000" sy="100000" kx="0" ky="0" algn="bl" rotWithShape="0" blurRad="76200" dist="25400" dir="5400000">
              <a:srgbClr val="000000">
                <a:alpha val="18000"/>
              </a:srgbClr>
            </a:outerShdw>
          </a:effectLst>
        </p:spPr>
      </p:sp>
      <p:sp>
        <p:nvSpPr>
          <p:cNvPr id="6" name="Nummer A"/>
          <p:cNvSpPr txBox="1"/>
          <p:nvPr/>
        </p:nvSpPr>
        <p:spPr>
          <a:xfrm>
            <a:off x="7114032" y="2093976"/>
            <a:ext cx="475488" cy="475488"/>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A</a:t>
            </a:r>
            <a:endParaRPr lang="en-US" sz="1700" dirty="0"/>
          </a:p>
        </p:txBody>
      </p:sp>
      <p:sp>
        <p:nvSpPr>
          <p:cNvPr id="7" name="Text 5"/>
          <p:cNvSpPr txBox="1"/>
          <p:nvPr/>
        </p:nvSpPr>
        <p:spPr>
          <a:xfrm>
            <a:off x="7726680" y="1874520"/>
            <a:ext cx="1371600" cy="914400"/>
          </a:xfrm>
          <a:prstGeom prst="rect">
            <a:avLst/>
          </a:prstGeom>
          <a:noFill/>
          <a:ln/>
        </p:spPr>
        <p:txBody>
          <a:bodyPr wrap="square" lIns="0" tIns="0" rIns="0" bIns="0" rtlCol="0" anchor="ctr"/>
          <a:lstStyle/>
          <a:p>
            <a:pPr indent="0" marL="0">
              <a:buNone/>
            </a:pPr>
            <a:r>
              <a:rPr lang="en-US" sz="1800" b="1" dirty="0">
                <a:solidFill>
                  <a:schemeClr val="accent1"/>
                </a:solidFill>
              </a:rPr>
              <a:t>50 und 50</a:t>
            </a:r>
            <a:endParaRPr lang="en-US" sz="1800" dirty="0"/>
          </a:p>
        </p:txBody>
      </p:sp>
      <p:sp>
        <p:nvSpPr>
          <p:cNvPr id="8" name="Option B"/>
          <p:cNvSpPr/>
          <p:nvPr/>
        </p:nvSpPr>
        <p:spPr>
          <a:xfrm>
            <a:off x="9326880" y="1874520"/>
            <a:ext cx="2194560" cy="914400"/>
          </a:xfrm>
          <a:prstGeom prst="roundRect">
            <a:avLst>
              <a:gd name="adj" fmla="val 12000"/>
            </a:avLst>
          </a:prstGeom>
          <a:solidFill>
            <a:schemeClr val="bg1"/>
          </a:solidFill>
          <a:ln/>
          <a:effectLst>
            <a:outerShdw sx="100000" sy="100000" kx="0" ky="0" algn="bl" rotWithShape="0" blurRad="76200" dist="25400" dir="5400000">
              <a:srgbClr val="000000">
                <a:alpha val="18000"/>
              </a:srgbClr>
            </a:outerShdw>
          </a:effectLst>
        </p:spPr>
      </p:sp>
      <p:sp>
        <p:nvSpPr>
          <p:cNvPr id="9" name="Nummer B"/>
          <p:cNvSpPr txBox="1"/>
          <p:nvPr/>
        </p:nvSpPr>
        <p:spPr>
          <a:xfrm>
            <a:off x="9491472" y="2093976"/>
            <a:ext cx="475488" cy="475488"/>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B</a:t>
            </a:r>
            <a:endParaRPr lang="en-US" sz="1700" dirty="0"/>
          </a:p>
        </p:txBody>
      </p:sp>
      <p:sp>
        <p:nvSpPr>
          <p:cNvPr id="10" name="Text 8"/>
          <p:cNvSpPr txBox="1"/>
          <p:nvPr/>
        </p:nvSpPr>
        <p:spPr>
          <a:xfrm>
            <a:off x="10104120" y="1874520"/>
            <a:ext cx="1371600" cy="914400"/>
          </a:xfrm>
          <a:prstGeom prst="rect">
            <a:avLst/>
          </a:prstGeom>
          <a:noFill/>
          <a:ln/>
        </p:spPr>
        <p:txBody>
          <a:bodyPr wrap="square" lIns="0" tIns="0" rIns="0" bIns="0" rtlCol="0" anchor="ctr"/>
          <a:lstStyle/>
          <a:p>
            <a:pPr indent="0" marL="0">
              <a:buNone/>
            </a:pPr>
            <a:r>
              <a:rPr lang="en-US" sz="1800" b="1" dirty="0">
                <a:solidFill>
                  <a:schemeClr val="accent1"/>
                </a:solidFill>
              </a:rPr>
              <a:t>70 und 70</a:t>
            </a:r>
            <a:endParaRPr lang="en-US" sz="1800" dirty="0"/>
          </a:p>
        </p:txBody>
      </p:sp>
      <p:sp>
        <p:nvSpPr>
          <p:cNvPr id="11" name="Option C"/>
          <p:cNvSpPr/>
          <p:nvPr/>
        </p:nvSpPr>
        <p:spPr>
          <a:xfrm>
            <a:off x="6949440" y="2971800"/>
            <a:ext cx="2194560" cy="914400"/>
          </a:xfrm>
          <a:prstGeom prst="roundRect">
            <a:avLst>
              <a:gd name="adj" fmla="val 12000"/>
            </a:avLst>
          </a:prstGeom>
          <a:solidFill>
            <a:schemeClr val="bg1"/>
          </a:solidFill>
          <a:ln/>
          <a:effectLst>
            <a:outerShdw sx="100000" sy="100000" kx="0" ky="0" algn="bl" rotWithShape="0" blurRad="76200" dist="25400" dir="5400000">
              <a:srgbClr val="000000">
                <a:alpha val="18000"/>
              </a:srgbClr>
            </a:outerShdw>
          </a:effectLst>
        </p:spPr>
      </p:sp>
      <p:sp>
        <p:nvSpPr>
          <p:cNvPr id="12" name="Nummer C"/>
          <p:cNvSpPr txBox="1"/>
          <p:nvPr/>
        </p:nvSpPr>
        <p:spPr>
          <a:xfrm>
            <a:off x="7114032" y="3191256"/>
            <a:ext cx="475488" cy="475488"/>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C</a:t>
            </a:r>
            <a:endParaRPr lang="en-US" sz="1700" dirty="0"/>
          </a:p>
        </p:txBody>
      </p:sp>
      <p:sp>
        <p:nvSpPr>
          <p:cNvPr id="13" name="Text 11"/>
          <p:cNvSpPr txBox="1"/>
          <p:nvPr/>
        </p:nvSpPr>
        <p:spPr>
          <a:xfrm>
            <a:off x="7726680" y="2971800"/>
            <a:ext cx="1371600" cy="914400"/>
          </a:xfrm>
          <a:prstGeom prst="rect">
            <a:avLst/>
          </a:prstGeom>
          <a:noFill/>
          <a:ln/>
        </p:spPr>
        <p:txBody>
          <a:bodyPr wrap="square" lIns="0" tIns="0" rIns="0" bIns="0" rtlCol="0" anchor="ctr"/>
          <a:lstStyle/>
          <a:p>
            <a:pPr indent="0" marL="0">
              <a:buNone/>
            </a:pPr>
            <a:r>
              <a:rPr lang="en-US" sz="1800" b="1" dirty="0">
                <a:solidFill>
                  <a:schemeClr val="accent1"/>
                </a:solidFill>
              </a:rPr>
              <a:t>50 und 70</a:t>
            </a:r>
            <a:endParaRPr lang="en-US" sz="1800" dirty="0"/>
          </a:p>
        </p:txBody>
      </p:sp>
      <p:sp>
        <p:nvSpPr>
          <p:cNvPr id="14" name="Option D"/>
          <p:cNvSpPr/>
          <p:nvPr/>
        </p:nvSpPr>
        <p:spPr>
          <a:xfrm>
            <a:off x="9326880" y="2971800"/>
            <a:ext cx="2194560" cy="914400"/>
          </a:xfrm>
          <a:prstGeom prst="roundRect">
            <a:avLst>
              <a:gd name="adj" fmla="val 12000"/>
            </a:avLst>
          </a:prstGeom>
          <a:solidFill>
            <a:schemeClr val="bg1"/>
          </a:solidFill>
          <a:ln/>
          <a:effectLst>
            <a:outerShdw sx="100000" sy="100000" kx="0" ky="0" algn="bl" rotWithShape="0" blurRad="76200" dist="25400" dir="5400000">
              <a:srgbClr val="000000">
                <a:alpha val="18000"/>
              </a:srgbClr>
            </a:outerShdw>
          </a:effectLst>
        </p:spPr>
      </p:sp>
      <p:sp>
        <p:nvSpPr>
          <p:cNvPr id="15" name="Nummer D"/>
          <p:cNvSpPr txBox="1"/>
          <p:nvPr/>
        </p:nvSpPr>
        <p:spPr>
          <a:xfrm>
            <a:off x="9491472" y="3191256"/>
            <a:ext cx="475488" cy="475488"/>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D</a:t>
            </a:r>
            <a:endParaRPr lang="en-US" sz="1700" dirty="0"/>
          </a:p>
        </p:txBody>
      </p:sp>
      <p:sp>
        <p:nvSpPr>
          <p:cNvPr id="16" name="Text 14"/>
          <p:cNvSpPr txBox="1"/>
          <p:nvPr/>
        </p:nvSpPr>
        <p:spPr>
          <a:xfrm>
            <a:off x="10104120" y="2971800"/>
            <a:ext cx="1371600" cy="914400"/>
          </a:xfrm>
          <a:prstGeom prst="rect">
            <a:avLst/>
          </a:prstGeom>
          <a:noFill/>
          <a:ln/>
        </p:spPr>
        <p:txBody>
          <a:bodyPr wrap="square" lIns="0" tIns="0" rIns="0" bIns="0" rtlCol="0" anchor="ctr"/>
          <a:lstStyle/>
          <a:p>
            <a:pPr indent="0" marL="0">
              <a:buNone/>
            </a:pPr>
            <a:r>
              <a:rPr lang="en-US" sz="1800" b="1" dirty="0">
                <a:solidFill>
                  <a:schemeClr val="accent1"/>
                </a:solidFill>
              </a:rPr>
              <a:t>70 und 50</a:t>
            </a:r>
            <a:endParaRPr lang="en-US" sz="1800" dirty="0"/>
          </a:p>
        </p:txBody>
      </p:sp>
      <p:sp>
        <p:nvSpPr>
          <p:cNvPr id="17" name="Frage"/>
          <p:cNvSpPr/>
          <p:nvPr/>
        </p:nvSpPr>
        <p:spPr>
          <a:xfrm>
            <a:off x="6949440" y="4206240"/>
            <a:ext cx="4663440" cy="1920240"/>
          </a:xfrm>
          <a:prstGeom prst="roundRect">
            <a:avLst>
              <a:gd name="adj" fmla="val 5714"/>
            </a:avLst>
          </a:prstGeom>
          <a:solidFill>
            <a:schemeClr val="accent1"/>
          </a:solidFill>
          <a:ln/>
          <a:effectLst>
            <a:outerShdw sx="100000" sy="100000" kx="0" ky="0" algn="bl" rotWithShape="0" blurRad="76200" dist="25400" dir="5400000">
              <a:srgbClr val="000000">
                <a:alpha val="18000"/>
              </a:srgbClr>
            </a:outerShdw>
          </a:effectLst>
        </p:spPr>
      </p:sp>
      <p:sp>
        <p:nvSpPr>
          <p:cNvPr id="18" name="Icon-Kreis"/>
          <p:cNvSpPr/>
          <p:nvPr/>
        </p:nvSpPr>
        <p:spPr>
          <a:xfrm>
            <a:off x="7178040" y="4480560"/>
            <a:ext cx="914400" cy="914400"/>
          </a:xfrm>
          <a:prstGeom prst="ellipse">
            <a:avLst/>
          </a:prstGeom>
          <a:solidFill>
            <a:schemeClr val="accent2"/>
          </a:solidFill>
          <a:ln/>
        </p:spPr>
      </p:sp>
      <p:pic>
        <p:nvPicPr>
          <p:cNvPr id="19" name="Icon GiThink" descr="preencoded.png">    </p:cNvPr>
          <p:cNvPicPr>
            <a:picLocks noChangeAspect="1"/>
          </p:cNvPicPr>
          <p:nvPr/>
        </p:nvPicPr>
        <p:blipFill>
          <a:blip r:embed="rId1"/>
          <a:stretch>
            <a:fillRect/>
          </a:stretch>
        </p:blipFill>
        <p:spPr>
          <a:xfrm>
            <a:off x="7379208" y="4681728"/>
            <a:ext cx="512064" cy="512064"/>
          </a:xfrm>
          <a:prstGeom prst="rect">
            <a:avLst/>
          </a:prstGeom>
        </p:spPr>
      </p:pic>
      <p:sp>
        <p:nvSpPr>
          <p:cNvPr id="20" name="Text 17"/>
          <p:cNvSpPr txBox="1"/>
          <p:nvPr/>
        </p:nvSpPr>
        <p:spPr>
          <a:xfrm>
            <a:off x="8275320" y="4206240"/>
            <a:ext cx="3200400" cy="1920240"/>
          </a:xfrm>
          <a:prstGeom prst="rect">
            <a:avLst/>
          </a:prstGeom>
          <a:noFill/>
          <a:ln/>
        </p:spPr>
        <p:txBody>
          <a:bodyPr wrap="square" lIns="0" tIns="0" rIns="0" bIns="0" rtlCol="0" anchor="ctr"/>
          <a:lstStyle/>
          <a:p>
            <a:pPr indent="0" marL="0">
              <a:buNone/>
            </a:pPr>
            <a:r>
              <a:rPr lang="en-US" sz="1900" b="1" dirty="0">
                <a:solidFill>
                  <a:schemeClr val="accent2"/>
                </a:solidFill>
              </a:rPr>
              <a:t>Begründet euren Tipp:</a:t>
            </a:r>
            <a:endParaRPr lang="en-US" sz="1800" dirty="0"/>
          </a:p>
          <a:p>
            <a:pPr indent="0" marL="0">
              <a:buNone/>
            </a:pPr>
            <a:r>
              <a:rPr lang="en-US" sz="1600" dirty="0">
                <a:solidFill>
                  <a:schemeClr val="bg1"/>
                </a:solidFill>
              </a:rPr>
              <a:t>Was bekommt heile übergeben – und was heileAlle?</a:t>
            </a:r>
            <a:endParaRPr lang="en-US" sz="1800" dirty="0"/>
          </a:p>
        </p:txBody>
      </p:sp>
      <p:sp>
        <p:nvSpPr>
          <p:cNvPr id="21" name="Text 18"/>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5 · Zauberschule II</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Auflösung: Kopie des Werts – Kopie des Pfeils</a:t>
            </a:r>
            <a:endParaRPr lang="en-US" sz="3600" dirty="0"/>
          </a:p>
        </p:txBody>
      </p:sp>
      <p:sp>
        <p:nvSpPr>
          <p:cNvPr id="3" name="Text 1"/>
          <p:cNvSpPr txBox="1"/>
          <p:nvPr/>
        </p:nvSpPr>
        <p:spPr>
          <a:xfrm>
            <a:off x="548640" y="1280160"/>
            <a:ext cx="5394960" cy="365760"/>
          </a:xfrm>
          <a:prstGeom prst="rect">
            <a:avLst/>
          </a:prstGeom>
          <a:noFill/>
          <a:ln/>
        </p:spPr>
        <p:txBody>
          <a:bodyPr wrap="square" lIns="0" tIns="0" rIns="0" bIns="0" rtlCol="0" anchor="t"/>
          <a:lstStyle/>
          <a:p>
            <a:pPr indent="0" marL="0">
              <a:buNone/>
            </a:pPr>
            <a:r>
              <a:rPr lang="en-US" sz="1800" b="1" dirty="0">
                <a:solidFill>
                  <a:schemeClr val="accent1"/>
                </a:solidFill>
                <a:latin typeface="Consolas" pitchFamily="34" charset="0"/>
                <a:ea typeface="Consolas" pitchFamily="34" charset="-122"/>
                <a:cs typeface="Consolas" pitchFamily="34" charset="-120"/>
              </a:rPr>
              <a:t>heile(held)</a:t>
            </a:r>
            <a:pPr indent="0" marL="0">
              <a:buNone/>
            </a:pPr>
            <a:r>
              <a:rPr lang="en-US" sz="1800" dirty="0">
                <a:solidFill>
                  <a:schemeClr val="accent6"/>
                </a:solidFill>
              </a:rPr>
              <a:t>  int: Kopie des Werts</a:t>
            </a:r>
            <a:endParaRPr lang="en-US" sz="1800" dirty="0"/>
          </a:p>
        </p:txBody>
      </p:sp>
      <p:sp>
        <p:nvSpPr>
          <p:cNvPr id="4" name="Rahmen Hauptprogramm"/>
          <p:cNvSpPr/>
          <p:nvPr/>
        </p:nvSpPr>
        <p:spPr>
          <a:xfrm>
            <a:off x="548640" y="1783080"/>
            <a:ext cx="2194560" cy="2194560"/>
          </a:xfrm>
          <a:prstGeom prst="roundRect">
            <a:avLst>
              <a:gd name="adj" fmla="val 5000"/>
            </a:avLst>
          </a:prstGeom>
          <a:solidFill>
            <a:schemeClr val="accent5"/>
          </a:solidFill>
          <a:ln/>
        </p:spPr>
      </p:sp>
      <p:sp>
        <p:nvSpPr>
          <p:cNvPr id="5" name="Text 3"/>
          <p:cNvSpPr txBox="1"/>
          <p:nvPr/>
        </p:nvSpPr>
        <p:spPr>
          <a:xfrm>
            <a:off x="640080" y="1828800"/>
            <a:ext cx="2011680" cy="274320"/>
          </a:xfrm>
          <a:prstGeom prst="rect">
            <a:avLst/>
          </a:prstGeom>
          <a:noFill/>
          <a:ln/>
        </p:spPr>
        <p:txBody>
          <a:bodyPr wrap="square" lIns="0" tIns="0" rIns="0" bIns="0" rtlCol="0" anchor="t"/>
          <a:lstStyle/>
          <a:p>
            <a:pPr algn="ctr" indent="0" marL="0">
              <a:buNone/>
            </a:pPr>
            <a:r>
              <a:rPr lang="en-US" sz="1300" b="1" dirty="0">
                <a:solidFill>
                  <a:schemeClr val="accent6"/>
                </a:solidFill>
              </a:rPr>
              <a:t>Hauptprogramm</a:t>
            </a:r>
            <a:endParaRPr lang="en-US" sz="1300" dirty="0"/>
          </a:p>
        </p:txBody>
      </p:sp>
      <p:sp>
        <p:nvSpPr>
          <p:cNvPr id="6" name="Text 4"/>
          <p:cNvSpPr txBox="1"/>
          <p:nvPr/>
        </p:nvSpPr>
        <p:spPr>
          <a:xfrm>
            <a:off x="1097280" y="2267712"/>
            <a:ext cx="1097280" cy="274320"/>
          </a:xfrm>
          <a:prstGeom prst="rect">
            <a:avLst/>
          </a:prstGeom>
          <a:noFill/>
          <a:ln/>
        </p:spPr>
        <p:txBody>
          <a:bodyPr wrap="square" lIns="0" tIns="0" rIns="0" bIns="0" rtlCol="0" anchor="t"/>
          <a:lstStyle/>
          <a:p>
            <a:pPr algn="ctr" indent="0" marL="0">
              <a:buNone/>
            </a:pPr>
            <a:r>
              <a:rPr lang="en-US" sz="1400" b="1" dirty="0">
                <a:solidFill>
                  <a:schemeClr val="accent1"/>
                </a:solidFill>
                <a:latin typeface="Consolas" pitchFamily="34" charset="0"/>
                <a:ea typeface="Consolas" pitchFamily="34" charset="-122"/>
                <a:cs typeface="Consolas" pitchFamily="34" charset="-120"/>
              </a:rPr>
              <a:t>held</a:t>
            </a:r>
            <a:endParaRPr lang="en-US" sz="1400" dirty="0"/>
          </a:p>
        </p:txBody>
      </p:sp>
      <p:sp>
        <p:nvSpPr>
          <p:cNvPr id="7" name="Wert held"/>
          <p:cNvSpPr txBox="1"/>
          <p:nvPr/>
        </p:nvSpPr>
        <p:spPr>
          <a:xfrm>
            <a:off x="1097280" y="2560320"/>
            <a:ext cx="1097280" cy="566928"/>
          </a:xfrm>
          <a:prstGeom prst="rect">
            <a:avLst/>
          </a:prstGeom>
          <a:solidFill>
            <a:schemeClr val="bg1"/>
          </a:solidFill>
          <a:ln w="22225">
            <a:solidFill>
              <a:schemeClr val="accent1"/>
            </a:solidFill>
          </a:ln>
        </p:spPr>
        <p:txBody>
          <a:bodyPr wrap="square" lIns="0" tIns="0" rIns="0" bIns="0" rtlCol="0" anchor="ctr"/>
          <a:lstStyle/>
          <a:p>
            <a:pPr algn="ctr" indent="0" marL="0">
              <a:buNone/>
            </a:pPr>
            <a:r>
              <a:rPr lang="en-US" sz="2000" b="1" dirty="0">
                <a:solidFill>
                  <a:schemeClr val="accent1"/>
                </a:solidFill>
              </a:rPr>
              <a:t>50</a:t>
            </a:r>
            <a:endParaRPr lang="en-US" sz="2000" dirty="0"/>
          </a:p>
        </p:txBody>
      </p:sp>
      <p:sp>
        <p:nvSpPr>
          <p:cNvPr id="8" name="Text 6"/>
          <p:cNvSpPr txBox="1"/>
          <p:nvPr/>
        </p:nvSpPr>
        <p:spPr>
          <a:xfrm>
            <a:off x="640080" y="3246120"/>
            <a:ext cx="2011680" cy="292608"/>
          </a:xfrm>
          <a:prstGeom prst="rect">
            <a:avLst/>
          </a:prstGeom>
          <a:noFill/>
          <a:ln/>
        </p:spPr>
        <p:txBody>
          <a:bodyPr wrap="square" lIns="0" tIns="0" rIns="0" bIns="0" rtlCol="0" anchor="t"/>
          <a:lstStyle/>
          <a:p>
            <a:pPr algn="ctr" indent="0" marL="0">
              <a:buNone/>
            </a:pPr>
            <a:r>
              <a:rPr lang="en-US" sz="1500" b="1" dirty="0">
                <a:solidFill>
                  <a:schemeClr val="accent3"/>
                </a:solidFill>
              </a:rPr>
              <a:t>bleibt 50</a:t>
            </a:r>
            <a:endParaRPr lang="en-US" sz="1500" dirty="0"/>
          </a:p>
        </p:txBody>
      </p:sp>
      <p:sp>
        <p:nvSpPr>
          <p:cNvPr id="9" name="Rahmen heile"/>
          <p:cNvSpPr/>
          <p:nvPr/>
        </p:nvSpPr>
        <p:spPr>
          <a:xfrm>
            <a:off x="3749040" y="1783080"/>
            <a:ext cx="2194560" cy="2194560"/>
          </a:xfrm>
          <a:prstGeom prst="roundRect">
            <a:avLst>
              <a:gd name="adj" fmla="val 5000"/>
            </a:avLst>
          </a:prstGeom>
          <a:solidFill>
            <a:schemeClr val="bg2"/>
          </a:solidFill>
          <a:ln/>
        </p:spPr>
      </p:sp>
      <p:sp>
        <p:nvSpPr>
          <p:cNvPr id="10" name="Text 8"/>
          <p:cNvSpPr txBox="1"/>
          <p:nvPr/>
        </p:nvSpPr>
        <p:spPr>
          <a:xfrm>
            <a:off x="3794760" y="1828800"/>
            <a:ext cx="2103120" cy="274320"/>
          </a:xfrm>
          <a:prstGeom prst="rect">
            <a:avLst/>
          </a:prstGeom>
          <a:noFill/>
          <a:ln/>
        </p:spPr>
        <p:txBody>
          <a:bodyPr wrap="square" lIns="0" tIns="0" rIns="0" bIns="0" rtlCol="0" anchor="t"/>
          <a:lstStyle/>
          <a:p>
            <a:pPr algn="ctr" indent="0" marL="0">
              <a:buNone/>
            </a:pPr>
            <a:r>
              <a:rPr lang="en-US" sz="1200" b="1" dirty="0">
                <a:solidFill>
                  <a:schemeClr val="accent6"/>
                </a:solidFill>
              </a:rPr>
              <a:t>heile (während des Aufrufs)</a:t>
            </a:r>
            <a:endParaRPr lang="en-US" sz="1200" dirty="0"/>
          </a:p>
        </p:txBody>
      </p:sp>
      <p:sp>
        <p:nvSpPr>
          <p:cNvPr id="11" name="Text 9"/>
          <p:cNvSpPr txBox="1"/>
          <p:nvPr/>
        </p:nvSpPr>
        <p:spPr>
          <a:xfrm>
            <a:off x="4069080" y="2267712"/>
            <a:ext cx="1554480" cy="274320"/>
          </a:xfrm>
          <a:prstGeom prst="rect">
            <a:avLst/>
          </a:prstGeom>
          <a:noFill/>
          <a:ln/>
        </p:spPr>
        <p:txBody>
          <a:bodyPr wrap="square" lIns="0" tIns="0" rIns="0" bIns="0" rtlCol="0" anchor="t"/>
          <a:lstStyle/>
          <a:p>
            <a:pPr algn="ctr" indent="0" marL="0">
              <a:buNone/>
            </a:pPr>
            <a:r>
              <a:rPr lang="en-US" sz="1400" b="1" dirty="0">
                <a:solidFill>
                  <a:schemeClr val="accent1"/>
                </a:solidFill>
                <a:latin typeface="Consolas" pitchFamily="34" charset="0"/>
                <a:ea typeface="Consolas" pitchFamily="34" charset="-122"/>
                <a:cs typeface="Consolas" pitchFamily="34" charset="-120"/>
              </a:rPr>
              <a:t>leben</a:t>
            </a:r>
            <a:endParaRPr lang="en-US" sz="1400" dirty="0"/>
          </a:p>
        </p:txBody>
      </p:sp>
      <p:sp>
        <p:nvSpPr>
          <p:cNvPr id="12" name="Wert leben"/>
          <p:cNvSpPr txBox="1"/>
          <p:nvPr/>
        </p:nvSpPr>
        <p:spPr>
          <a:xfrm>
            <a:off x="4069080" y="2560320"/>
            <a:ext cx="1554480" cy="566928"/>
          </a:xfrm>
          <a:prstGeom prst="rect">
            <a:avLst/>
          </a:prstGeom>
          <a:solidFill>
            <a:schemeClr val="bg1"/>
          </a:solidFill>
          <a:ln w="22225">
            <a:solidFill>
              <a:schemeClr val="accent1"/>
            </a:solidFill>
          </a:ln>
        </p:spPr>
        <p:txBody>
          <a:bodyPr wrap="square" lIns="0" tIns="0" rIns="0" bIns="0" rtlCol="0" anchor="ctr"/>
          <a:lstStyle/>
          <a:p>
            <a:pPr algn="ctr" indent="0" marL="0">
              <a:buNone/>
            </a:pPr>
            <a:r>
              <a:rPr lang="en-US" sz="1800" b="1" dirty="0">
                <a:solidFill>
                  <a:schemeClr val="accent1"/>
                </a:solidFill>
              </a:rPr>
              <a:t>50 → 70</a:t>
            </a:r>
            <a:endParaRPr lang="en-US" sz="1800" dirty="0"/>
          </a:p>
        </p:txBody>
      </p:sp>
      <p:sp>
        <p:nvSpPr>
          <p:cNvPr id="13" name="Text 11"/>
          <p:cNvSpPr txBox="1"/>
          <p:nvPr/>
        </p:nvSpPr>
        <p:spPr>
          <a:xfrm>
            <a:off x="3794760" y="3246120"/>
            <a:ext cx="2103120" cy="292608"/>
          </a:xfrm>
          <a:prstGeom prst="rect">
            <a:avLst/>
          </a:prstGeom>
          <a:noFill/>
          <a:ln/>
        </p:spPr>
        <p:txBody>
          <a:bodyPr wrap="square" lIns="0" tIns="0" rIns="0" bIns="0" rtlCol="0" anchor="t"/>
          <a:lstStyle/>
          <a:p>
            <a:pPr algn="ctr" indent="0" marL="0">
              <a:buNone/>
            </a:pPr>
            <a:r>
              <a:rPr lang="en-US" sz="1400" i="1" dirty="0">
                <a:solidFill>
                  <a:schemeClr val="accent6"/>
                </a:solidFill>
              </a:rPr>
              <a:t>verschwindet danach</a:t>
            </a:r>
            <a:endParaRPr lang="en-US" sz="1400" dirty="0"/>
          </a:p>
        </p:txBody>
      </p:sp>
      <p:sp>
        <p:nvSpPr>
          <p:cNvPr id="14" name="Linie"/>
          <p:cNvSpPr/>
          <p:nvPr/>
        </p:nvSpPr>
        <p:spPr>
          <a:xfrm>
            <a:off x="2240280" y="2843784"/>
            <a:ext cx="1783080" cy="91"/>
          </a:xfrm>
          <a:prstGeom prst="line">
            <a:avLst/>
          </a:prstGeom>
          <a:noFill/>
          <a:ln w="31750">
            <a:solidFill>
              <a:schemeClr val="accent2"/>
            </a:solidFill>
            <a:prstDash val="solid"/>
            <a:tailEnd type="triangle"/>
          </a:ln>
        </p:spPr>
      </p:sp>
      <p:sp>
        <p:nvSpPr>
          <p:cNvPr id="15" name="Text 13"/>
          <p:cNvSpPr txBox="1"/>
          <p:nvPr/>
        </p:nvSpPr>
        <p:spPr>
          <a:xfrm>
            <a:off x="2286000" y="2926080"/>
            <a:ext cx="1645920" cy="274320"/>
          </a:xfrm>
          <a:prstGeom prst="rect">
            <a:avLst/>
          </a:prstGeom>
          <a:noFill/>
          <a:ln/>
        </p:spPr>
        <p:txBody>
          <a:bodyPr wrap="square" lIns="0" tIns="0" rIns="0" bIns="0" rtlCol="0" anchor="t"/>
          <a:lstStyle/>
          <a:p>
            <a:pPr algn="ctr" indent="0" marL="0">
              <a:buNone/>
            </a:pPr>
            <a:r>
              <a:rPr lang="en-US" sz="1300" b="1" dirty="0">
                <a:solidFill>
                  <a:schemeClr val="accent2"/>
                </a:solidFill>
              </a:rPr>
              <a:t>Wert 50 kopiert</a:t>
            </a:r>
            <a:endParaRPr lang="en-US" sz="1300" dirty="0"/>
          </a:p>
        </p:txBody>
      </p:sp>
      <p:sp>
        <p:nvSpPr>
          <p:cNvPr id="16" name="Text 14"/>
          <p:cNvSpPr txBox="1"/>
          <p:nvPr/>
        </p:nvSpPr>
        <p:spPr>
          <a:xfrm>
            <a:off x="6217920" y="1280160"/>
            <a:ext cx="5394960" cy="365760"/>
          </a:xfrm>
          <a:prstGeom prst="rect">
            <a:avLst/>
          </a:prstGeom>
          <a:noFill/>
          <a:ln/>
        </p:spPr>
        <p:txBody>
          <a:bodyPr wrap="square" lIns="0" tIns="0" rIns="0" bIns="0" rtlCol="0" anchor="t"/>
          <a:lstStyle/>
          <a:p>
            <a:pPr indent="0" marL="0">
              <a:buNone/>
            </a:pPr>
            <a:r>
              <a:rPr lang="en-US" sz="1800" b="1" dirty="0">
                <a:solidFill>
                  <a:schemeClr val="accent1"/>
                </a:solidFill>
                <a:latin typeface="Consolas" pitchFamily="34" charset="0"/>
                <a:ea typeface="Consolas" pitchFamily="34" charset="-122"/>
                <a:cs typeface="Consolas" pitchFamily="34" charset="-120"/>
              </a:rPr>
              <a:t>heileAlle(gruppe)</a:t>
            </a:r>
            <a:pPr indent="0" marL="0">
              <a:buNone/>
            </a:pPr>
            <a:r>
              <a:rPr lang="en-US" sz="1800" dirty="0">
                <a:solidFill>
                  <a:schemeClr val="accent6"/>
                </a:solidFill>
              </a:rPr>
              <a:t>  Reihung: Kopie des Pfeils</a:t>
            </a:r>
            <a:endParaRPr lang="en-US" sz="1800" dirty="0"/>
          </a:p>
        </p:txBody>
      </p:sp>
      <p:sp>
        <p:nvSpPr>
          <p:cNvPr id="17" name="Text 15"/>
          <p:cNvSpPr txBox="1"/>
          <p:nvPr/>
        </p:nvSpPr>
        <p:spPr>
          <a:xfrm>
            <a:off x="6217920" y="1874520"/>
            <a:ext cx="1005840" cy="457200"/>
          </a:xfrm>
          <a:prstGeom prst="rect">
            <a:avLst/>
          </a:prstGeom>
          <a:noFill/>
          <a:ln/>
        </p:spPr>
        <p:txBody>
          <a:bodyPr wrap="square" lIns="0" tIns="0" rIns="0" bIns="0" rtlCol="0" anchor="ctr"/>
          <a:lstStyle/>
          <a:p>
            <a:pPr algn="r" indent="0" marL="0">
              <a:buNone/>
            </a:pPr>
            <a:r>
              <a:rPr lang="en-US" sz="1600" b="1" dirty="0">
                <a:solidFill>
                  <a:schemeClr val="accent1"/>
                </a:solidFill>
                <a:latin typeface="Consolas" pitchFamily="34" charset="0"/>
                <a:ea typeface="Consolas" pitchFamily="34" charset="-122"/>
                <a:cs typeface="Consolas" pitchFamily="34" charset="-120"/>
              </a:rPr>
              <a:t>gruppe</a:t>
            </a:r>
            <a:endParaRPr lang="en-US" sz="1600" dirty="0"/>
          </a:p>
        </p:txBody>
      </p:sp>
      <p:sp>
        <p:nvSpPr>
          <p:cNvPr id="18" name="Variable gruppe"/>
          <p:cNvSpPr/>
          <p:nvPr/>
        </p:nvSpPr>
        <p:spPr>
          <a:xfrm>
            <a:off x="7315200" y="1874520"/>
            <a:ext cx="457200" cy="457200"/>
          </a:xfrm>
          <a:prstGeom prst="rect">
            <a:avLst/>
          </a:prstGeom>
          <a:solidFill>
            <a:schemeClr val="bg1"/>
          </a:solidFill>
          <a:ln w="19050">
            <a:solidFill>
              <a:schemeClr val="accent1"/>
            </a:solidFill>
            <a:prstDash val="solid"/>
          </a:ln>
        </p:spPr>
      </p:sp>
      <p:sp>
        <p:nvSpPr>
          <p:cNvPr id="19" name="Referenzpunkt gruppe"/>
          <p:cNvSpPr/>
          <p:nvPr/>
        </p:nvSpPr>
        <p:spPr>
          <a:xfrm>
            <a:off x="7488936" y="2048256"/>
            <a:ext cx="109728" cy="109728"/>
          </a:xfrm>
          <a:prstGeom prst="ellipse">
            <a:avLst/>
          </a:prstGeom>
          <a:solidFill>
            <a:schemeClr val="accent1"/>
          </a:solidFill>
          <a:ln/>
        </p:spPr>
      </p:sp>
      <p:sp>
        <p:nvSpPr>
          <p:cNvPr id="20" name="Text 18"/>
          <p:cNvSpPr txBox="1"/>
          <p:nvPr/>
        </p:nvSpPr>
        <p:spPr>
          <a:xfrm>
            <a:off x="6217920" y="3246120"/>
            <a:ext cx="1005840" cy="457200"/>
          </a:xfrm>
          <a:prstGeom prst="rect">
            <a:avLst/>
          </a:prstGeom>
          <a:noFill/>
          <a:ln/>
        </p:spPr>
        <p:txBody>
          <a:bodyPr wrap="square" lIns="0" tIns="0" rIns="0" bIns="0" rtlCol="0" anchor="ctr"/>
          <a:lstStyle/>
          <a:p>
            <a:pPr algn="r" indent="0" marL="0">
              <a:buNone/>
            </a:pPr>
            <a:r>
              <a:rPr lang="en-US" sz="1600" b="1" dirty="0">
                <a:solidFill>
                  <a:schemeClr val="accent1"/>
                </a:solidFill>
                <a:latin typeface="Consolas" pitchFamily="34" charset="0"/>
                <a:ea typeface="Consolas" pitchFamily="34" charset="-122"/>
                <a:cs typeface="Consolas" pitchFamily="34" charset="-120"/>
              </a:rPr>
              <a:t>team</a:t>
            </a:r>
            <a:endParaRPr lang="en-US" sz="1600" dirty="0"/>
          </a:p>
        </p:txBody>
      </p:sp>
      <p:sp>
        <p:nvSpPr>
          <p:cNvPr id="21" name="Variable team"/>
          <p:cNvSpPr/>
          <p:nvPr/>
        </p:nvSpPr>
        <p:spPr>
          <a:xfrm>
            <a:off x="7315200" y="3246120"/>
            <a:ext cx="457200" cy="457200"/>
          </a:xfrm>
          <a:prstGeom prst="rect">
            <a:avLst/>
          </a:prstGeom>
          <a:solidFill>
            <a:schemeClr val="bg1"/>
          </a:solidFill>
          <a:ln w="19050">
            <a:solidFill>
              <a:schemeClr val="accent1"/>
            </a:solidFill>
            <a:prstDash val="solid"/>
          </a:ln>
        </p:spPr>
      </p:sp>
      <p:sp>
        <p:nvSpPr>
          <p:cNvPr id="22" name="Referenzpunkt team"/>
          <p:cNvSpPr/>
          <p:nvPr/>
        </p:nvSpPr>
        <p:spPr>
          <a:xfrm>
            <a:off x="7488936" y="3419856"/>
            <a:ext cx="109728" cy="109728"/>
          </a:xfrm>
          <a:prstGeom prst="ellipse">
            <a:avLst/>
          </a:prstGeom>
          <a:solidFill>
            <a:schemeClr val="accent1"/>
          </a:solidFill>
          <a:ln/>
        </p:spPr>
      </p:sp>
      <p:sp>
        <p:nvSpPr>
          <p:cNvPr id="23" name="Regal gruppe 0"/>
          <p:cNvSpPr txBox="1"/>
          <p:nvPr/>
        </p:nvSpPr>
        <p:spPr>
          <a:xfrm>
            <a:off x="9418320" y="2423160"/>
            <a:ext cx="1005840" cy="68580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2200" b="1" dirty="0">
                <a:solidFill>
                  <a:schemeClr val="accent1"/>
                </a:solidFill>
              </a:rPr>
              <a:t>70</a:t>
            </a:r>
            <a:endParaRPr lang="en-US" sz="2200" dirty="0"/>
          </a:p>
        </p:txBody>
      </p:sp>
      <p:sp>
        <p:nvSpPr>
          <p:cNvPr id="24" name="Regal gruppe 1"/>
          <p:cNvSpPr txBox="1"/>
          <p:nvPr/>
        </p:nvSpPr>
        <p:spPr>
          <a:xfrm>
            <a:off x="10424160" y="2423160"/>
            <a:ext cx="1005840" cy="68580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2200" b="1" dirty="0">
                <a:solidFill>
                  <a:schemeClr val="accent1"/>
                </a:solidFill>
              </a:rPr>
              <a:t>50</a:t>
            </a:r>
            <a:endParaRPr lang="en-US" sz="2200" dirty="0"/>
          </a:p>
        </p:txBody>
      </p:sp>
      <p:sp>
        <p:nvSpPr>
          <p:cNvPr id="25" name="Text 23"/>
          <p:cNvSpPr txBox="1"/>
          <p:nvPr/>
        </p:nvSpPr>
        <p:spPr>
          <a:xfrm>
            <a:off x="9418320" y="3127248"/>
            <a:ext cx="1005840" cy="256032"/>
          </a:xfrm>
          <a:prstGeom prst="rect">
            <a:avLst/>
          </a:prstGeom>
          <a:noFill/>
          <a:ln/>
        </p:spPr>
        <p:txBody>
          <a:bodyPr wrap="square" lIns="0" tIns="0" rIns="0" bIns="0" rtlCol="0" anchor="t"/>
          <a:lstStyle/>
          <a:p>
            <a:pPr algn="ctr" indent="0" marL="0">
              <a:buNone/>
            </a:pPr>
            <a:r>
              <a:rPr lang="en-US" sz="1300" dirty="0">
                <a:solidFill>
                  <a:schemeClr val="accent6"/>
                </a:solidFill>
              </a:rPr>
              <a:t>0</a:t>
            </a:r>
            <a:endParaRPr lang="en-US" sz="1300" dirty="0"/>
          </a:p>
        </p:txBody>
      </p:sp>
      <p:sp>
        <p:nvSpPr>
          <p:cNvPr id="26" name="Text 24"/>
          <p:cNvSpPr txBox="1"/>
          <p:nvPr/>
        </p:nvSpPr>
        <p:spPr>
          <a:xfrm>
            <a:off x="10424160" y="3127248"/>
            <a:ext cx="1005840" cy="256032"/>
          </a:xfrm>
          <a:prstGeom prst="rect">
            <a:avLst/>
          </a:prstGeom>
          <a:noFill/>
          <a:ln/>
        </p:spPr>
        <p:txBody>
          <a:bodyPr wrap="square" lIns="0" tIns="0" rIns="0" bIns="0" rtlCol="0" anchor="t"/>
          <a:lstStyle/>
          <a:p>
            <a:pPr algn="ctr" indent="0" marL="0">
              <a:buNone/>
            </a:pPr>
            <a:r>
              <a:rPr lang="en-US" sz="1300" dirty="0">
                <a:solidFill>
                  <a:schemeClr val="accent6"/>
                </a:solidFill>
              </a:rPr>
              <a:t>1</a:t>
            </a:r>
            <a:endParaRPr lang="en-US" sz="1300" dirty="0"/>
          </a:p>
        </p:txBody>
      </p:sp>
      <p:sp>
        <p:nvSpPr>
          <p:cNvPr id="27" name="Linie"/>
          <p:cNvSpPr/>
          <p:nvPr/>
        </p:nvSpPr>
        <p:spPr>
          <a:xfrm>
            <a:off x="7543800" y="2103120"/>
            <a:ext cx="1828800" cy="502920"/>
          </a:xfrm>
          <a:prstGeom prst="line">
            <a:avLst/>
          </a:prstGeom>
          <a:noFill/>
          <a:ln w="28575">
            <a:solidFill>
              <a:schemeClr val="accent1"/>
            </a:solidFill>
            <a:prstDash val="solid"/>
            <a:tailEnd type="triangle"/>
          </a:ln>
        </p:spPr>
      </p:sp>
      <p:sp>
        <p:nvSpPr>
          <p:cNvPr id="28" name="Linie"/>
          <p:cNvSpPr/>
          <p:nvPr/>
        </p:nvSpPr>
        <p:spPr>
          <a:xfrm flipV="1">
            <a:off x="7543800" y="2926080"/>
            <a:ext cx="1828800" cy="548640"/>
          </a:xfrm>
          <a:prstGeom prst="line">
            <a:avLst/>
          </a:prstGeom>
          <a:noFill/>
          <a:ln w="28575">
            <a:solidFill>
              <a:schemeClr val="accent2"/>
            </a:solidFill>
            <a:prstDash val="solid"/>
            <a:tailEnd type="triangle"/>
          </a:ln>
        </p:spPr>
      </p:sp>
      <p:sp>
        <p:nvSpPr>
          <p:cNvPr id="29" name="Text 27"/>
          <p:cNvSpPr txBox="1"/>
          <p:nvPr/>
        </p:nvSpPr>
        <p:spPr>
          <a:xfrm>
            <a:off x="9418320" y="2057400"/>
            <a:ext cx="2011680" cy="274320"/>
          </a:xfrm>
          <a:prstGeom prst="rect">
            <a:avLst/>
          </a:prstGeom>
          <a:noFill/>
          <a:ln/>
        </p:spPr>
        <p:txBody>
          <a:bodyPr wrap="square" lIns="0" tIns="0" rIns="0" bIns="0" rtlCol="0" anchor="t"/>
          <a:lstStyle/>
          <a:p>
            <a:pPr algn="ctr" indent="0" marL="0">
              <a:buNone/>
            </a:pPr>
            <a:r>
              <a:rPr lang="en-US" sz="1300" i="1" dirty="0">
                <a:solidFill>
                  <a:schemeClr val="accent6"/>
                </a:solidFill>
              </a:rPr>
              <a:t>vorher {50, 30}</a:t>
            </a:r>
            <a:endParaRPr lang="en-US" sz="1300" dirty="0"/>
          </a:p>
        </p:txBody>
      </p:sp>
      <p:sp>
        <p:nvSpPr>
          <p:cNvPr id="30" name="Text 28"/>
          <p:cNvSpPr txBox="1"/>
          <p:nvPr/>
        </p:nvSpPr>
        <p:spPr>
          <a:xfrm>
            <a:off x="6217920" y="3749040"/>
            <a:ext cx="3017520" cy="274320"/>
          </a:xfrm>
          <a:prstGeom prst="rect">
            <a:avLst/>
          </a:prstGeom>
          <a:noFill/>
          <a:ln/>
        </p:spPr>
        <p:txBody>
          <a:bodyPr wrap="square" lIns="0" tIns="0" rIns="0" bIns="0" rtlCol="0" anchor="t"/>
          <a:lstStyle/>
          <a:p>
            <a:pPr indent="0" marL="0">
              <a:buNone/>
            </a:pPr>
            <a:r>
              <a:rPr lang="en-US" sz="1300" i="1" dirty="0">
                <a:solidFill>
                  <a:schemeClr val="accent6"/>
                </a:solidFill>
              </a:rPr>
              <a:t>team gehört zu heileAlle</a:t>
            </a:r>
            <a:endParaRPr lang="en-US" sz="1300" dirty="0"/>
          </a:p>
        </p:txBody>
      </p:sp>
      <p:sp>
        <p:nvSpPr>
          <p:cNvPr id="31" name="Antwort"/>
          <p:cNvSpPr/>
          <p:nvPr/>
        </p:nvSpPr>
        <p:spPr>
          <a:xfrm>
            <a:off x="548640" y="4343400"/>
            <a:ext cx="4114800" cy="1783080"/>
          </a:xfrm>
          <a:prstGeom prst="roundRect">
            <a:avLst>
              <a:gd name="adj" fmla="val 6154"/>
            </a:avLst>
          </a:prstGeom>
          <a:solidFill>
            <a:schemeClr val="accent1"/>
          </a:solidFill>
          <a:ln/>
          <a:effectLst>
            <a:outerShdw sx="100000" sy="100000" kx="0" ky="0" algn="bl" rotWithShape="0" blurRad="76200" dist="25400" dir="5400000">
              <a:srgbClr val="000000">
                <a:alpha val="18000"/>
              </a:srgbClr>
            </a:outerShdw>
          </a:effectLst>
        </p:spPr>
      </p:sp>
      <p:sp>
        <p:nvSpPr>
          <p:cNvPr id="32" name="Text 30"/>
          <p:cNvSpPr txBox="1"/>
          <p:nvPr/>
        </p:nvSpPr>
        <p:spPr>
          <a:xfrm>
            <a:off x="777240" y="4343400"/>
            <a:ext cx="3749040" cy="1783080"/>
          </a:xfrm>
          <a:prstGeom prst="rect">
            <a:avLst/>
          </a:prstGeom>
          <a:noFill/>
          <a:ln/>
        </p:spPr>
        <p:txBody>
          <a:bodyPr wrap="square" lIns="0" tIns="0" rIns="0" bIns="0" rtlCol="0" anchor="ctr"/>
          <a:lstStyle/>
          <a:p>
            <a:pPr indent="0" marL="0">
              <a:buNone/>
            </a:pPr>
            <a:r>
              <a:rPr lang="en-US" sz="2400" b="1" dirty="0">
                <a:solidFill>
                  <a:schemeClr val="accent2"/>
                </a:solidFill>
              </a:rPr>
              <a:t>Antwort C</a:t>
            </a:r>
            <a:endParaRPr lang="en-US" sz="1800" dirty="0"/>
          </a:p>
          <a:p>
            <a:pPr indent="0" marL="0">
              <a:buNone/>
            </a:pPr>
            <a:r>
              <a:rPr lang="en-US" sz="1600" dirty="0">
                <a:solidFill>
                  <a:schemeClr val="bg1"/>
                </a:solidFill>
                <a:latin typeface="Consolas" pitchFamily="34" charset="0"/>
                <a:ea typeface="Consolas" pitchFamily="34" charset="-122"/>
                <a:cs typeface="Consolas" pitchFamily="34" charset="-120"/>
              </a:rPr>
              <a:t>println(held)  →  50</a:t>
            </a:r>
            <a:endParaRPr lang="en-US" sz="1800" dirty="0"/>
          </a:p>
          <a:p>
            <a:pPr indent="0" marL="0">
              <a:buNone/>
            </a:pPr>
            <a:r>
              <a:rPr lang="en-US" sz="1600" dirty="0">
                <a:solidFill>
                  <a:schemeClr val="bg1"/>
                </a:solidFill>
                <a:latin typeface="Consolas" pitchFamily="34" charset="0"/>
                <a:ea typeface="Consolas" pitchFamily="34" charset="-122"/>
                <a:cs typeface="Consolas" pitchFamily="34" charset="-120"/>
              </a:rPr>
              <a:t>println(gruppe[0])  →  70</a:t>
            </a:r>
            <a:endParaRPr lang="en-US" sz="1800" dirty="0"/>
          </a:p>
        </p:txBody>
      </p:sp>
      <p:sp>
        <p:nvSpPr>
          <p:cNvPr id="33" name="Merke Uebergabe"/>
          <p:cNvSpPr/>
          <p:nvPr/>
        </p:nvSpPr>
        <p:spPr>
          <a:xfrm>
            <a:off x="4937760" y="4343400"/>
            <a:ext cx="6675120" cy="1783080"/>
          </a:xfrm>
          <a:prstGeom prst="roundRect">
            <a:avLst>
              <a:gd name="adj" fmla="val 6154"/>
            </a:avLst>
          </a:prstGeom>
          <a:solidFill>
            <a:schemeClr val="bg2"/>
          </a:solidFill>
          <a:ln/>
        </p:spPr>
      </p:sp>
      <p:sp>
        <p:nvSpPr>
          <p:cNvPr id="34" name="Text 32"/>
          <p:cNvSpPr txBox="1"/>
          <p:nvPr/>
        </p:nvSpPr>
        <p:spPr>
          <a:xfrm>
            <a:off x="5138928" y="4343400"/>
            <a:ext cx="6309360" cy="1783080"/>
          </a:xfrm>
          <a:prstGeom prst="rect">
            <a:avLst/>
          </a:prstGeom>
          <a:noFill/>
          <a:ln/>
        </p:spPr>
        <p:txBody>
          <a:bodyPr wrap="square" lIns="0" tIns="0" rIns="0" bIns="0" rtlCol="0" anchor="ctr"/>
          <a:lstStyle/>
          <a:p>
            <a:pPr indent="0" marL="0">
              <a:buNone/>
            </a:pPr>
            <a:r>
              <a:rPr lang="en-US" sz="1600" b="1" dirty="0">
                <a:solidFill>
                  <a:schemeClr val="accent1"/>
                </a:solidFill>
              </a:rPr>
              <a:t>Merke: </a:t>
            </a:r>
            <a:pPr indent="0" marL="0">
              <a:buNone/>
            </a:pPr>
            <a:r>
              <a:rPr lang="en-US" sz="1600" dirty="0">
                <a:solidFill>
                  <a:schemeClr val="tx1"/>
                </a:solidFill>
              </a:rPr>
              <a:t>Java übergibt immer eine Kopie. Bei </a:t>
            </a:r>
            <a:pPr indent="0" marL="0">
              <a:buNone/>
            </a:pPr>
            <a:r>
              <a:rPr lang="en-US" sz="1600" b="1" dirty="0">
                <a:solidFill>
                  <a:schemeClr val="tx1"/>
                </a:solidFill>
                <a:latin typeface="Consolas" pitchFamily="34" charset="0"/>
                <a:ea typeface="Consolas" pitchFamily="34" charset="-122"/>
                <a:cs typeface="Consolas" pitchFamily="34" charset="-120"/>
              </a:rPr>
              <a:t>int</a:t>
            </a:r>
            <a:pPr indent="0" marL="0">
              <a:buNone/>
            </a:pPr>
            <a:r>
              <a:rPr lang="en-US" sz="1600" dirty="0">
                <a:solidFill>
                  <a:schemeClr val="tx1"/>
                </a:solidFill>
              </a:rPr>
              <a:t> ist das der Wert – die Methode kann die Variable des Aufrufers nie ändern. Bei Reihungen ist es der Pfeil: Beide zeigen auf dasselbe Regal, Änderungen am Inhalt wirken nach außen.</a:t>
            </a:r>
            <a:endParaRPr lang="en-US" sz="1600" dirty="0"/>
          </a:p>
        </p:txBody>
      </p:sp>
      <p:sp>
        <p:nvSpPr>
          <p:cNvPr id="35" name="Text 33"/>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5 · Zauberschule II</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Reihung verändern oder neue Reihung liefern?</a:t>
            </a:r>
            <a:endParaRPr lang="en-US" sz="3600" dirty="0"/>
          </a:p>
        </p:txBody>
      </p:sp>
      <p:sp>
        <p:nvSpPr>
          <p:cNvPr id="3" name="Text 1"/>
          <p:cNvSpPr txBox="1"/>
          <p:nvPr/>
        </p:nvSpPr>
        <p:spPr>
          <a:xfrm>
            <a:off x="548640" y="1280160"/>
            <a:ext cx="5394960" cy="411480"/>
          </a:xfrm>
          <a:prstGeom prst="rect">
            <a:avLst/>
          </a:prstGeom>
          <a:noFill/>
          <a:ln/>
        </p:spPr>
        <p:txBody>
          <a:bodyPr wrap="square" lIns="0" tIns="0" rIns="0" bIns="0" rtlCol="0" anchor="ctr"/>
          <a:lstStyle/>
          <a:p>
            <a:pPr indent="0" marL="0">
              <a:buNone/>
            </a:pPr>
            <a:r>
              <a:rPr lang="en-US" sz="1500" b="1" dirty="0">
                <a:solidFill>
                  <a:schemeClr val="accent1"/>
                </a:solidFill>
              </a:rPr>
              <a:t>halbiereAlle(r: Reihung von Ganzzahl): nichts</a:t>
            </a:r>
            <a:endParaRPr lang="en-US" sz="1500" dirty="0"/>
          </a:p>
        </p:txBody>
      </p:sp>
      <p:sp>
        <p:nvSpPr>
          <p:cNvPr id="4" name="Code"/>
          <p:cNvSpPr txBox="1"/>
          <p:nvPr/>
        </p:nvSpPr>
        <p:spPr>
          <a:xfrm>
            <a:off x="548640" y="1737360"/>
            <a:ext cx="5394960" cy="14447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public</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static</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void</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halbiereAlle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r</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for</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0;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&lt;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r</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length</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r</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r</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2;</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p:txBody>
      </p:sp>
      <p:sp>
        <p:nvSpPr>
          <p:cNvPr id="5" name="Text 3"/>
          <p:cNvSpPr txBox="1"/>
          <p:nvPr/>
        </p:nvSpPr>
        <p:spPr>
          <a:xfrm>
            <a:off x="548640" y="3767328"/>
            <a:ext cx="1280160" cy="457200"/>
          </a:xfrm>
          <a:prstGeom prst="rect">
            <a:avLst/>
          </a:prstGeom>
          <a:noFill/>
          <a:ln/>
        </p:spPr>
        <p:txBody>
          <a:bodyPr wrap="square" lIns="0" tIns="0" rIns="0" bIns="0" rtlCol="0" anchor="ctr"/>
          <a:lstStyle/>
          <a:p>
            <a:pPr indent="0" marL="0">
              <a:buNone/>
            </a:pPr>
            <a:r>
              <a:rPr lang="en-US" sz="1500" b="1" dirty="0">
                <a:solidFill>
                  <a:schemeClr val="accent1"/>
                </a:solidFill>
                <a:latin typeface="Consolas" pitchFamily="34" charset="0"/>
                <a:ea typeface="Consolas" pitchFamily="34" charset="-122"/>
                <a:cs typeface="Consolas" pitchFamily="34" charset="-120"/>
              </a:rPr>
              <a:t>r vorher</a:t>
            </a:r>
            <a:endParaRPr lang="en-US" sz="1500" dirty="0"/>
          </a:p>
        </p:txBody>
      </p:sp>
      <p:sp>
        <p:nvSpPr>
          <p:cNvPr id="6" name="r vorher 0"/>
          <p:cNvSpPr txBox="1"/>
          <p:nvPr/>
        </p:nvSpPr>
        <p:spPr>
          <a:xfrm>
            <a:off x="1920240" y="3767328"/>
            <a:ext cx="685800"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8</a:t>
            </a:r>
            <a:endParaRPr lang="en-US" sz="1600" dirty="0"/>
          </a:p>
        </p:txBody>
      </p:sp>
      <p:sp>
        <p:nvSpPr>
          <p:cNvPr id="7" name="r vorher 1"/>
          <p:cNvSpPr txBox="1"/>
          <p:nvPr/>
        </p:nvSpPr>
        <p:spPr>
          <a:xfrm>
            <a:off x="2606040" y="3767328"/>
            <a:ext cx="685800"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5</a:t>
            </a:r>
            <a:endParaRPr lang="en-US" sz="1600" dirty="0"/>
          </a:p>
        </p:txBody>
      </p:sp>
      <p:sp>
        <p:nvSpPr>
          <p:cNvPr id="8" name="r vorher 2"/>
          <p:cNvSpPr txBox="1"/>
          <p:nvPr/>
        </p:nvSpPr>
        <p:spPr>
          <a:xfrm>
            <a:off x="3291840" y="3767328"/>
            <a:ext cx="685800"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12</a:t>
            </a:r>
            <a:endParaRPr lang="en-US" sz="1600" dirty="0"/>
          </a:p>
        </p:txBody>
      </p:sp>
      <p:sp>
        <p:nvSpPr>
          <p:cNvPr id="9" name="Text 7"/>
          <p:cNvSpPr txBox="1"/>
          <p:nvPr/>
        </p:nvSpPr>
        <p:spPr>
          <a:xfrm>
            <a:off x="548640" y="4334256"/>
            <a:ext cx="1280160" cy="457200"/>
          </a:xfrm>
          <a:prstGeom prst="rect">
            <a:avLst/>
          </a:prstGeom>
          <a:noFill/>
          <a:ln/>
        </p:spPr>
        <p:txBody>
          <a:bodyPr wrap="square" lIns="0" tIns="0" rIns="0" bIns="0" rtlCol="0" anchor="ctr"/>
          <a:lstStyle/>
          <a:p>
            <a:pPr indent="0" marL="0">
              <a:buNone/>
            </a:pPr>
            <a:r>
              <a:rPr lang="en-US" sz="1500" b="1" dirty="0">
                <a:solidFill>
                  <a:schemeClr val="accent1"/>
                </a:solidFill>
                <a:latin typeface="Consolas" pitchFamily="34" charset="0"/>
                <a:ea typeface="Consolas" pitchFamily="34" charset="-122"/>
                <a:cs typeface="Consolas" pitchFamily="34" charset="-120"/>
              </a:rPr>
              <a:t>r nachher</a:t>
            </a:r>
            <a:endParaRPr lang="en-US" sz="1500" dirty="0"/>
          </a:p>
        </p:txBody>
      </p:sp>
      <p:sp>
        <p:nvSpPr>
          <p:cNvPr id="10" name="r nachher 0"/>
          <p:cNvSpPr txBox="1"/>
          <p:nvPr/>
        </p:nvSpPr>
        <p:spPr>
          <a:xfrm>
            <a:off x="1920240" y="4334256"/>
            <a:ext cx="685800" cy="45720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600" b="1" dirty="0">
                <a:solidFill>
                  <a:schemeClr val="accent1"/>
                </a:solidFill>
              </a:rPr>
              <a:t>4</a:t>
            </a:r>
            <a:endParaRPr lang="en-US" sz="1600" dirty="0"/>
          </a:p>
        </p:txBody>
      </p:sp>
      <p:sp>
        <p:nvSpPr>
          <p:cNvPr id="11" name="r nachher 1"/>
          <p:cNvSpPr txBox="1"/>
          <p:nvPr/>
        </p:nvSpPr>
        <p:spPr>
          <a:xfrm>
            <a:off x="2606040" y="4334256"/>
            <a:ext cx="685800" cy="45720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12" name="r nachher 2"/>
          <p:cNvSpPr txBox="1"/>
          <p:nvPr/>
        </p:nvSpPr>
        <p:spPr>
          <a:xfrm>
            <a:off x="3291840" y="4334256"/>
            <a:ext cx="685800" cy="45720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600" b="1" dirty="0">
                <a:solidFill>
                  <a:schemeClr val="accent1"/>
                </a:solidFill>
              </a:rPr>
              <a:t>6</a:t>
            </a:r>
            <a:endParaRPr lang="en-US" sz="1600" dirty="0"/>
          </a:p>
        </p:txBody>
      </p:sp>
      <p:sp>
        <p:nvSpPr>
          <p:cNvPr id="13" name="Text 11"/>
          <p:cNvSpPr txBox="1"/>
          <p:nvPr/>
        </p:nvSpPr>
        <p:spPr>
          <a:xfrm>
            <a:off x="4114800" y="3767328"/>
            <a:ext cx="1828800" cy="1024128"/>
          </a:xfrm>
          <a:prstGeom prst="rect">
            <a:avLst/>
          </a:prstGeom>
          <a:noFill/>
          <a:ln/>
        </p:spPr>
        <p:txBody>
          <a:bodyPr wrap="square" lIns="0" tIns="0" rIns="0" bIns="0" rtlCol="0" anchor="ctr"/>
          <a:lstStyle/>
          <a:p>
            <a:pPr indent="0" marL="0">
              <a:buNone/>
            </a:pPr>
            <a:r>
              <a:rPr lang="en-US" sz="1400" b="1" i="1" dirty="0">
                <a:solidFill>
                  <a:schemeClr val="accent6"/>
                </a:solidFill>
              </a:rPr>
              <a:t>in-place: r selbst ändert sich</a:t>
            </a:r>
            <a:endParaRPr lang="en-US" sz="1400" dirty="0"/>
          </a:p>
        </p:txBody>
      </p:sp>
      <p:sp>
        <p:nvSpPr>
          <p:cNvPr id="14" name="Text 12"/>
          <p:cNvSpPr txBox="1"/>
          <p:nvPr/>
        </p:nvSpPr>
        <p:spPr>
          <a:xfrm>
            <a:off x="6217920" y="1280160"/>
            <a:ext cx="5394960" cy="411480"/>
          </a:xfrm>
          <a:prstGeom prst="rect">
            <a:avLst/>
          </a:prstGeom>
          <a:noFill/>
          <a:ln/>
        </p:spPr>
        <p:txBody>
          <a:bodyPr wrap="square" lIns="0" tIns="0" rIns="0" bIns="0" rtlCol="0" anchor="ctr"/>
          <a:lstStyle/>
          <a:p>
            <a:pPr indent="0" marL="0">
              <a:buNone/>
            </a:pPr>
            <a:r>
              <a:rPr lang="en-US" sz="1500" b="1" dirty="0">
                <a:solidFill>
                  <a:schemeClr val="accent1"/>
                </a:solidFill>
              </a:rPr>
              <a:t>halbierteKopie(r: Reihung von Ganzzahl): Reihung von Ganzzahl</a:t>
            </a:r>
            <a:endParaRPr lang="en-US" sz="1500" dirty="0"/>
          </a:p>
        </p:txBody>
      </p:sp>
      <p:sp>
        <p:nvSpPr>
          <p:cNvPr id="15" name="Code"/>
          <p:cNvSpPr txBox="1"/>
          <p:nvPr/>
        </p:nvSpPr>
        <p:spPr>
          <a:xfrm>
            <a:off x="6217920" y="1737360"/>
            <a:ext cx="5394960" cy="19019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public</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static</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halbierteKopie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r</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neu</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new</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r</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length</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for</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0;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&lt;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r</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length</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neu</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r</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2;</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return</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neu</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p:txBody>
      </p:sp>
      <p:sp>
        <p:nvSpPr>
          <p:cNvPr id="16" name="Text 14"/>
          <p:cNvSpPr txBox="1"/>
          <p:nvPr/>
        </p:nvSpPr>
        <p:spPr>
          <a:xfrm>
            <a:off x="6217920" y="3767328"/>
            <a:ext cx="1280160" cy="457200"/>
          </a:xfrm>
          <a:prstGeom prst="rect">
            <a:avLst/>
          </a:prstGeom>
          <a:noFill/>
          <a:ln/>
        </p:spPr>
        <p:txBody>
          <a:bodyPr wrap="square" lIns="0" tIns="0" rIns="0" bIns="0" rtlCol="0" anchor="ctr"/>
          <a:lstStyle/>
          <a:p>
            <a:pPr indent="0" marL="0">
              <a:buNone/>
            </a:pPr>
            <a:r>
              <a:rPr lang="en-US" sz="1500" b="1" dirty="0">
                <a:solidFill>
                  <a:schemeClr val="accent1"/>
                </a:solidFill>
                <a:latin typeface="Consolas" pitchFamily="34" charset="0"/>
                <a:ea typeface="Consolas" pitchFamily="34" charset="-122"/>
                <a:cs typeface="Consolas" pitchFamily="34" charset="-120"/>
              </a:rPr>
              <a:t>r</a:t>
            </a:r>
            <a:endParaRPr lang="en-US" sz="1500" dirty="0"/>
          </a:p>
        </p:txBody>
      </p:sp>
      <p:sp>
        <p:nvSpPr>
          <p:cNvPr id="17" name="r 0"/>
          <p:cNvSpPr txBox="1"/>
          <p:nvPr/>
        </p:nvSpPr>
        <p:spPr>
          <a:xfrm>
            <a:off x="7589520" y="3767328"/>
            <a:ext cx="685800"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8</a:t>
            </a:r>
            <a:endParaRPr lang="en-US" sz="1600" dirty="0"/>
          </a:p>
        </p:txBody>
      </p:sp>
      <p:sp>
        <p:nvSpPr>
          <p:cNvPr id="18" name="r 1"/>
          <p:cNvSpPr txBox="1"/>
          <p:nvPr/>
        </p:nvSpPr>
        <p:spPr>
          <a:xfrm>
            <a:off x="8275320" y="3767328"/>
            <a:ext cx="685800"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5</a:t>
            </a:r>
            <a:endParaRPr lang="en-US" sz="1600" dirty="0"/>
          </a:p>
        </p:txBody>
      </p:sp>
      <p:sp>
        <p:nvSpPr>
          <p:cNvPr id="19" name="r 2"/>
          <p:cNvSpPr txBox="1"/>
          <p:nvPr/>
        </p:nvSpPr>
        <p:spPr>
          <a:xfrm>
            <a:off x="8961120" y="3767328"/>
            <a:ext cx="685800"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12</a:t>
            </a:r>
            <a:endParaRPr lang="en-US" sz="1600" dirty="0"/>
          </a:p>
        </p:txBody>
      </p:sp>
      <p:sp>
        <p:nvSpPr>
          <p:cNvPr id="20" name="Text 18"/>
          <p:cNvSpPr txBox="1"/>
          <p:nvPr/>
        </p:nvSpPr>
        <p:spPr>
          <a:xfrm>
            <a:off x="6217920" y="4334256"/>
            <a:ext cx="1280160" cy="457200"/>
          </a:xfrm>
          <a:prstGeom prst="rect">
            <a:avLst/>
          </a:prstGeom>
          <a:noFill/>
          <a:ln/>
        </p:spPr>
        <p:txBody>
          <a:bodyPr wrap="square" lIns="0" tIns="0" rIns="0" bIns="0" rtlCol="0" anchor="ctr"/>
          <a:lstStyle/>
          <a:p>
            <a:pPr indent="0" marL="0">
              <a:buNone/>
            </a:pPr>
            <a:r>
              <a:rPr lang="en-US" sz="1500" b="1" dirty="0">
                <a:solidFill>
                  <a:schemeClr val="accent1"/>
                </a:solidFill>
                <a:latin typeface="Consolas" pitchFamily="34" charset="0"/>
                <a:ea typeface="Consolas" pitchFamily="34" charset="-122"/>
                <a:cs typeface="Consolas" pitchFamily="34" charset="-120"/>
              </a:rPr>
              <a:t>neu</a:t>
            </a:r>
            <a:endParaRPr lang="en-US" sz="1500" dirty="0"/>
          </a:p>
        </p:txBody>
      </p:sp>
      <p:sp>
        <p:nvSpPr>
          <p:cNvPr id="21" name="neu 0"/>
          <p:cNvSpPr txBox="1"/>
          <p:nvPr/>
        </p:nvSpPr>
        <p:spPr>
          <a:xfrm>
            <a:off x="7589520" y="4334256"/>
            <a:ext cx="685800" cy="45720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600" b="1" dirty="0">
                <a:solidFill>
                  <a:schemeClr val="accent1"/>
                </a:solidFill>
              </a:rPr>
              <a:t>4</a:t>
            </a:r>
            <a:endParaRPr lang="en-US" sz="1600" dirty="0"/>
          </a:p>
        </p:txBody>
      </p:sp>
      <p:sp>
        <p:nvSpPr>
          <p:cNvPr id="22" name="neu 1"/>
          <p:cNvSpPr txBox="1"/>
          <p:nvPr/>
        </p:nvSpPr>
        <p:spPr>
          <a:xfrm>
            <a:off x="8275320" y="4334256"/>
            <a:ext cx="685800" cy="45720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23" name="neu 2"/>
          <p:cNvSpPr txBox="1"/>
          <p:nvPr/>
        </p:nvSpPr>
        <p:spPr>
          <a:xfrm>
            <a:off x="8961120" y="4334256"/>
            <a:ext cx="685800" cy="45720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600" b="1" dirty="0">
                <a:solidFill>
                  <a:schemeClr val="accent1"/>
                </a:solidFill>
              </a:rPr>
              <a:t>6</a:t>
            </a:r>
            <a:endParaRPr lang="en-US" sz="1600" dirty="0"/>
          </a:p>
        </p:txBody>
      </p:sp>
      <p:sp>
        <p:nvSpPr>
          <p:cNvPr id="24" name="Text 22"/>
          <p:cNvSpPr txBox="1"/>
          <p:nvPr/>
        </p:nvSpPr>
        <p:spPr>
          <a:xfrm>
            <a:off x="9784080" y="3767328"/>
            <a:ext cx="1828800" cy="1024128"/>
          </a:xfrm>
          <a:prstGeom prst="rect">
            <a:avLst/>
          </a:prstGeom>
          <a:noFill/>
          <a:ln/>
        </p:spPr>
        <p:txBody>
          <a:bodyPr wrap="square" lIns="0" tIns="0" rIns="0" bIns="0" rtlCol="0" anchor="ctr"/>
          <a:lstStyle/>
          <a:p>
            <a:pPr indent="0" marL="0">
              <a:buNone/>
            </a:pPr>
            <a:r>
              <a:rPr lang="en-US" sz="1400" b="1" i="1" dirty="0">
                <a:solidFill>
                  <a:schemeClr val="accent6"/>
                </a:solidFill>
              </a:rPr>
              <a:t>neue Reihung, r bleibt unverändert</a:t>
            </a:r>
            <a:endParaRPr lang="en-US" sz="1400" dirty="0"/>
          </a:p>
        </p:txBody>
      </p:sp>
      <p:sp>
        <p:nvSpPr>
          <p:cNvPr id="25" name="Signatur verraet"/>
          <p:cNvSpPr/>
          <p:nvPr/>
        </p:nvSpPr>
        <p:spPr>
          <a:xfrm>
            <a:off x="548640" y="5074920"/>
            <a:ext cx="5394960" cy="1051560"/>
          </a:xfrm>
          <a:prstGeom prst="roundRect">
            <a:avLst>
              <a:gd name="adj" fmla="val 10435"/>
            </a:avLst>
          </a:prstGeom>
          <a:solidFill>
            <a:schemeClr val="bg2"/>
          </a:solidFill>
          <a:ln/>
        </p:spPr>
      </p:sp>
      <p:sp>
        <p:nvSpPr>
          <p:cNvPr id="26" name="Text 24"/>
          <p:cNvSpPr txBox="1"/>
          <p:nvPr/>
        </p:nvSpPr>
        <p:spPr>
          <a:xfrm>
            <a:off x="749808" y="5074920"/>
            <a:ext cx="5029200" cy="1051560"/>
          </a:xfrm>
          <a:prstGeom prst="rect">
            <a:avLst/>
          </a:prstGeom>
          <a:noFill/>
          <a:ln/>
        </p:spPr>
        <p:txBody>
          <a:bodyPr wrap="square" lIns="0" tIns="0" rIns="0" bIns="0" rtlCol="0" anchor="ctr"/>
          <a:lstStyle/>
          <a:p>
            <a:pPr indent="0" marL="0">
              <a:buNone/>
            </a:pPr>
            <a:r>
              <a:rPr lang="en-US" sz="1500" b="1" dirty="0">
                <a:solidFill>
                  <a:schemeClr val="accent1"/>
                </a:solidFill>
              </a:rPr>
              <a:t>Die Signatur verrät es: </a:t>
            </a:r>
            <a:pPr indent="0" marL="0">
              <a:buNone/>
            </a:pPr>
            <a:r>
              <a:rPr lang="en-US" sz="1500" dirty="0">
                <a:solidFill>
                  <a:schemeClr val="tx1"/>
                </a:solidFill>
              </a:rPr>
              <a:t>Rückgabe nichts → in r arbeiten. Rückgabe Reihung → mit </a:t>
            </a:r>
            <a:pPr indent="0" marL="0">
              <a:buNone/>
            </a:pPr>
            <a:r>
              <a:rPr lang="en-US" sz="1500" b="1" dirty="0">
                <a:solidFill>
                  <a:schemeClr val="tx1"/>
                </a:solidFill>
                <a:latin typeface="Consolas" pitchFamily="34" charset="0"/>
                <a:ea typeface="Consolas" pitchFamily="34" charset="-122"/>
                <a:cs typeface="Consolas" pitchFamily="34" charset="-120"/>
              </a:rPr>
              <a:t>new</a:t>
            </a:r>
            <a:pPr indent="0" marL="0">
              <a:buNone/>
            </a:pPr>
            <a:r>
              <a:rPr lang="en-US" sz="1500" dirty="0">
                <a:solidFill>
                  <a:schemeClr val="tx1"/>
                </a:solidFill>
              </a:rPr>
              <a:t> neu anlegen.</a:t>
            </a:r>
            <a:endParaRPr lang="en-US" sz="1500" dirty="0"/>
          </a:p>
        </p:txBody>
      </p:sp>
      <p:sp>
        <p:nvSpPr>
          <p:cNvPr id="27" name="Falle Kopie"/>
          <p:cNvSpPr/>
          <p:nvPr/>
        </p:nvSpPr>
        <p:spPr>
          <a:xfrm>
            <a:off x="6217920" y="5074920"/>
            <a:ext cx="5394960" cy="1051560"/>
          </a:xfrm>
          <a:prstGeom prst="roundRect">
            <a:avLst>
              <a:gd name="adj" fmla="val 10435"/>
            </a:avLst>
          </a:prstGeom>
          <a:solidFill>
            <a:schemeClr val="bg1"/>
          </a:solidFill>
          <a:ln w="25400">
            <a:solidFill>
              <a:schemeClr val="accent4"/>
            </a:solidFill>
            <a:prstDash val="solid"/>
          </a:ln>
        </p:spPr>
      </p:sp>
      <p:sp>
        <p:nvSpPr>
          <p:cNvPr id="28" name="Text 26"/>
          <p:cNvSpPr txBox="1"/>
          <p:nvPr/>
        </p:nvSpPr>
        <p:spPr>
          <a:xfrm>
            <a:off x="6419088" y="5074920"/>
            <a:ext cx="5029200" cy="1051560"/>
          </a:xfrm>
          <a:prstGeom prst="rect">
            <a:avLst/>
          </a:prstGeom>
          <a:noFill/>
          <a:ln/>
        </p:spPr>
        <p:txBody>
          <a:bodyPr wrap="square" lIns="0" tIns="0" rIns="0" bIns="0" rtlCol="0" anchor="ctr"/>
          <a:lstStyle/>
          <a:p>
            <a:pPr indent="0" marL="0">
              <a:buNone/>
            </a:pPr>
            <a:r>
              <a:rPr lang="en-US" sz="1500" b="1" dirty="0">
                <a:solidFill>
                  <a:schemeClr val="accent4"/>
                </a:solidFill>
              </a:rPr>
              <a:t>Falle: </a:t>
            </a:r>
            <a:pPr indent="0" marL="0">
              <a:buNone/>
            </a:pPr>
            <a:r>
              <a:rPr lang="en-US" sz="1500" b="1" dirty="0">
                <a:solidFill>
                  <a:schemeClr val="tx1"/>
                </a:solidFill>
                <a:latin typeface="Consolas" pitchFamily="34" charset="0"/>
                <a:ea typeface="Consolas" pitchFamily="34" charset="-122"/>
                <a:cs typeface="Consolas" pitchFamily="34" charset="-120"/>
              </a:rPr>
              <a:t>int[] neu = r;</a:t>
            </a:r>
            <a:pPr indent="0" marL="0">
              <a:buNone/>
            </a:pPr>
            <a:r>
              <a:rPr lang="en-US" sz="1500" dirty="0">
                <a:solidFill>
                  <a:schemeClr val="tx1"/>
                </a:solidFill>
              </a:rPr>
              <a:t> ist keine Kopie – danach ist auch r halbiert: {4, 2, 6}.</a:t>
            </a:r>
            <a:endParaRPr lang="en-US" sz="1500" dirty="0"/>
          </a:p>
        </p:txBody>
      </p:sp>
      <p:sp>
        <p:nvSpPr>
          <p:cNvPr id="29" name="Text 27"/>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5 · Zauberschule II</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Hilfsmethoden: große Aufgaben zerlegen</a:t>
            </a:r>
            <a:endParaRPr lang="en-US" sz="3600" dirty="0"/>
          </a:p>
        </p:txBody>
      </p:sp>
      <p:sp>
        <p:nvSpPr>
          <p:cNvPr id="3" name="Code"/>
          <p:cNvSpPr txBox="1"/>
          <p:nvPr/>
        </p:nvSpPr>
        <p:spPr>
          <a:xfrm>
            <a:off x="548640" y="1325880"/>
            <a:ext cx="5394960" cy="35529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public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static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boolean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istVokal</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char</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o</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u</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O</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U</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public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static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anzahlVokale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String</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s</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anzahl</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0;</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for</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0;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&lt;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s</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length</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if</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istVokal</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s</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charAt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anzahl</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anzahl</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p:txBody>
      </p:sp>
      <p:sp>
        <p:nvSpPr>
          <p:cNvPr id="4" name="Hauptmethode"/>
          <p:cNvSpPr/>
          <p:nvPr/>
        </p:nvSpPr>
        <p:spPr>
          <a:xfrm>
            <a:off x="6583680" y="1325880"/>
            <a:ext cx="4389120" cy="640080"/>
          </a:xfrm>
          <a:prstGeom prst="roundRect">
            <a:avLst>
              <a:gd name="adj" fmla="val 17143"/>
            </a:avLst>
          </a:prstGeom>
          <a:solidFill>
            <a:schemeClr val="accent1"/>
          </a:solidFill>
          <a:ln/>
          <a:effectLst>
            <a:outerShdw sx="100000" sy="100000" kx="0" ky="0" algn="bl" rotWithShape="0" blurRad="76200" dist="25400" dir="5400000">
              <a:srgbClr val="000000">
                <a:alpha val="18000"/>
              </a:srgbClr>
            </a:outerShdw>
          </a:effectLst>
        </p:spPr>
      </p:sp>
      <p:sp>
        <p:nvSpPr>
          <p:cNvPr id="5" name="Text 3"/>
          <p:cNvSpPr txBox="1"/>
          <p:nvPr/>
        </p:nvSpPr>
        <p:spPr>
          <a:xfrm>
            <a:off x="6583680" y="1325880"/>
            <a:ext cx="4389120" cy="640080"/>
          </a:xfrm>
          <a:prstGeom prst="rect">
            <a:avLst/>
          </a:prstGeom>
          <a:noFill/>
          <a:ln/>
        </p:spPr>
        <p:txBody>
          <a:bodyPr wrap="square" lIns="0" tIns="0" rIns="0" bIns="0" rtlCol="0" anchor="ctr"/>
          <a:lstStyle/>
          <a:p>
            <a:pPr algn="ctr" indent="0" marL="0">
              <a:buNone/>
            </a:pPr>
            <a:r>
              <a:rPr lang="en-US" sz="1800" b="1" dirty="0">
                <a:solidFill>
                  <a:schemeClr val="bg1"/>
                </a:solidFill>
                <a:latin typeface="Consolas" pitchFamily="34" charset="0"/>
                <a:ea typeface="Consolas" pitchFamily="34" charset="-122"/>
                <a:cs typeface="Consolas" pitchFamily="34" charset="-120"/>
              </a:rPr>
              <a:t>anzahlVokale(s)</a:t>
            </a:r>
            <a:endParaRPr lang="en-US" sz="1800" dirty="0"/>
          </a:p>
        </p:txBody>
      </p:sp>
      <p:sp>
        <p:nvSpPr>
          <p:cNvPr id="6" name="Linie"/>
          <p:cNvSpPr/>
          <p:nvPr/>
        </p:nvSpPr>
        <p:spPr>
          <a:xfrm>
            <a:off x="8778240" y="1984248"/>
            <a:ext cx="91" cy="411480"/>
          </a:xfrm>
          <a:prstGeom prst="line">
            <a:avLst/>
          </a:prstGeom>
          <a:noFill/>
          <a:ln w="31750">
            <a:solidFill>
              <a:schemeClr val="accent2"/>
            </a:solidFill>
            <a:prstDash val="solid"/>
            <a:tailEnd type="triangle"/>
          </a:ln>
        </p:spPr>
      </p:sp>
      <p:sp>
        <p:nvSpPr>
          <p:cNvPr id="7" name="Text 5"/>
          <p:cNvSpPr txBox="1"/>
          <p:nvPr/>
        </p:nvSpPr>
        <p:spPr>
          <a:xfrm>
            <a:off x="8915400" y="2029968"/>
            <a:ext cx="2377440" cy="292608"/>
          </a:xfrm>
          <a:prstGeom prst="rect">
            <a:avLst/>
          </a:prstGeom>
          <a:noFill/>
          <a:ln/>
        </p:spPr>
        <p:txBody>
          <a:bodyPr wrap="square" lIns="0" tIns="0" rIns="0" bIns="0" rtlCol="0" anchor="t"/>
          <a:lstStyle/>
          <a:p>
            <a:pPr indent="0" marL="0">
              <a:buNone/>
            </a:pPr>
            <a:r>
              <a:rPr lang="en-US" sz="1300" i="1" dirty="0">
                <a:solidFill>
                  <a:schemeClr val="accent6"/>
                </a:solidFill>
              </a:rPr>
              <a:t>fragt je Zeichen</a:t>
            </a:r>
            <a:endParaRPr lang="en-US" sz="1300" dirty="0"/>
          </a:p>
        </p:txBody>
      </p:sp>
      <p:sp>
        <p:nvSpPr>
          <p:cNvPr id="8" name="Hilfsmethode"/>
          <p:cNvSpPr/>
          <p:nvPr/>
        </p:nvSpPr>
        <p:spPr>
          <a:xfrm>
            <a:off x="7498080" y="2423160"/>
            <a:ext cx="2560320" cy="548640"/>
          </a:xfrm>
          <a:prstGeom prst="roundRect">
            <a:avLst>
              <a:gd name="adj" fmla="val 20000"/>
            </a:avLst>
          </a:prstGeom>
          <a:solidFill>
            <a:schemeClr val="bg1"/>
          </a:solidFill>
          <a:ln w="25400">
            <a:solidFill>
              <a:schemeClr val="accent2"/>
            </a:solidFill>
            <a:prstDash val="solid"/>
          </a:ln>
          <a:effectLst>
            <a:outerShdw sx="100000" sy="100000" kx="0" ky="0" algn="bl" rotWithShape="0" blurRad="76200" dist="25400" dir="5400000">
              <a:srgbClr val="000000">
                <a:alpha val="18000"/>
              </a:srgbClr>
            </a:outerShdw>
          </a:effectLst>
        </p:spPr>
      </p:sp>
      <p:sp>
        <p:nvSpPr>
          <p:cNvPr id="9" name="Text 7"/>
          <p:cNvSpPr txBox="1"/>
          <p:nvPr/>
        </p:nvSpPr>
        <p:spPr>
          <a:xfrm>
            <a:off x="7498080" y="2423160"/>
            <a:ext cx="2560320" cy="548640"/>
          </a:xfrm>
          <a:prstGeom prst="rect">
            <a:avLst/>
          </a:prstGeom>
          <a:noFill/>
          <a:ln/>
        </p:spPr>
        <p:txBody>
          <a:bodyPr wrap="square" lIns="0" tIns="0" rIns="0" bIns="0" rtlCol="0" anchor="ctr"/>
          <a:lstStyle/>
          <a:p>
            <a:pPr algn="ctr" indent="0" marL="0">
              <a:buNone/>
            </a:pPr>
            <a:r>
              <a:rPr lang="en-US" sz="1700" b="1" dirty="0">
                <a:solidFill>
                  <a:schemeClr val="accent1"/>
                </a:solidFill>
                <a:latin typeface="Consolas" pitchFamily="34" charset="0"/>
                <a:ea typeface="Consolas" pitchFamily="34" charset="-122"/>
                <a:cs typeface="Consolas" pitchFamily="34" charset="-120"/>
              </a:rPr>
              <a:t>istVokal(c)</a:t>
            </a:r>
            <a:endParaRPr lang="en-US" sz="1700" dirty="0"/>
          </a:p>
        </p:txBody>
      </p:sp>
      <p:sp>
        <p:nvSpPr>
          <p:cNvPr id="10" name="Buchstabe 0"/>
          <p:cNvSpPr txBox="1"/>
          <p:nvPr/>
        </p:nvSpPr>
        <p:spPr>
          <a:xfrm>
            <a:off x="6400800" y="3246120"/>
            <a:ext cx="594360" cy="50292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800" b="1" dirty="0">
                <a:solidFill>
                  <a:schemeClr val="accent1"/>
                </a:solidFill>
              </a:rPr>
              <a:t>A</a:t>
            </a:r>
            <a:endParaRPr lang="en-US" sz="1800" dirty="0"/>
          </a:p>
        </p:txBody>
      </p:sp>
      <p:sp>
        <p:nvSpPr>
          <p:cNvPr id="11" name="Buchstabe 1"/>
          <p:cNvSpPr txBox="1"/>
          <p:nvPr/>
        </p:nvSpPr>
        <p:spPr>
          <a:xfrm>
            <a:off x="6995160" y="3246120"/>
            <a:ext cx="594360" cy="50292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800" b="1" dirty="0">
                <a:solidFill>
                  <a:schemeClr val="accent1"/>
                </a:solidFill>
              </a:rPr>
              <a:t>k</a:t>
            </a:r>
            <a:endParaRPr lang="en-US" sz="1800" dirty="0"/>
          </a:p>
        </p:txBody>
      </p:sp>
      <p:sp>
        <p:nvSpPr>
          <p:cNvPr id="12" name="Buchstabe 2"/>
          <p:cNvSpPr txBox="1"/>
          <p:nvPr/>
        </p:nvSpPr>
        <p:spPr>
          <a:xfrm>
            <a:off x="7589520" y="3246120"/>
            <a:ext cx="594360" cy="50292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800" b="1" dirty="0">
                <a:solidFill>
                  <a:schemeClr val="accent1"/>
                </a:solidFill>
              </a:rPr>
              <a:t>a</a:t>
            </a:r>
            <a:endParaRPr lang="en-US" sz="1800" dirty="0"/>
          </a:p>
        </p:txBody>
      </p:sp>
      <p:sp>
        <p:nvSpPr>
          <p:cNvPr id="13" name="Buchstabe 3"/>
          <p:cNvSpPr txBox="1"/>
          <p:nvPr/>
        </p:nvSpPr>
        <p:spPr>
          <a:xfrm>
            <a:off x="8183880" y="3246120"/>
            <a:ext cx="594360" cy="50292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800" b="1" dirty="0">
                <a:solidFill>
                  <a:schemeClr val="accent1"/>
                </a:solidFill>
              </a:rPr>
              <a:t>d</a:t>
            </a:r>
            <a:endParaRPr lang="en-US" sz="1800" dirty="0"/>
          </a:p>
        </p:txBody>
      </p:sp>
      <p:sp>
        <p:nvSpPr>
          <p:cNvPr id="14" name="Buchstabe 4"/>
          <p:cNvSpPr txBox="1"/>
          <p:nvPr/>
        </p:nvSpPr>
        <p:spPr>
          <a:xfrm>
            <a:off x="8778240" y="3246120"/>
            <a:ext cx="594360" cy="50292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800" b="1" dirty="0">
                <a:solidFill>
                  <a:schemeClr val="accent1"/>
                </a:solidFill>
              </a:rPr>
              <a:t>e</a:t>
            </a:r>
            <a:endParaRPr lang="en-US" sz="1800" dirty="0"/>
          </a:p>
        </p:txBody>
      </p:sp>
      <p:sp>
        <p:nvSpPr>
          <p:cNvPr id="15" name="Buchstabe 5"/>
          <p:cNvSpPr txBox="1"/>
          <p:nvPr/>
        </p:nvSpPr>
        <p:spPr>
          <a:xfrm>
            <a:off x="9372600" y="3246120"/>
            <a:ext cx="594360" cy="50292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800" b="1" dirty="0">
                <a:solidFill>
                  <a:schemeClr val="accent1"/>
                </a:solidFill>
              </a:rPr>
              <a:t>m</a:t>
            </a:r>
            <a:endParaRPr lang="en-US" sz="1800" dirty="0"/>
          </a:p>
        </p:txBody>
      </p:sp>
      <p:sp>
        <p:nvSpPr>
          <p:cNvPr id="16" name="Buchstabe 6"/>
          <p:cNvSpPr txBox="1"/>
          <p:nvPr/>
        </p:nvSpPr>
        <p:spPr>
          <a:xfrm>
            <a:off x="9966960" y="3246120"/>
            <a:ext cx="594360" cy="50292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800" b="1" dirty="0">
                <a:solidFill>
                  <a:schemeClr val="accent1"/>
                </a:solidFill>
              </a:rPr>
              <a:t>i</a:t>
            </a:r>
            <a:endParaRPr lang="en-US" sz="1800" dirty="0"/>
          </a:p>
        </p:txBody>
      </p:sp>
      <p:sp>
        <p:nvSpPr>
          <p:cNvPr id="17" name="Buchstabe 7"/>
          <p:cNvSpPr txBox="1"/>
          <p:nvPr/>
        </p:nvSpPr>
        <p:spPr>
          <a:xfrm>
            <a:off x="10561320" y="3246120"/>
            <a:ext cx="594360" cy="50292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800" b="1" dirty="0">
                <a:solidFill>
                  <a:schemeClr val="accent1"/>
                </a:solidFill>
              </a:rPr>
              <a:t>e</a:t>
            </a:r>
            <a:endParaRPr lang="en-US" sz="1800" dirty="0"/>
          </a:p>
        </p:txBody>
      </p:sp>
      <p:sp>
        <p:nvSpPr>
          <p:cNvPr id="18" name="Text 16"/>
          <p:cNvSpPr txBox="1"/>
          <p:nvPr/>
        </p:nvSpPr>
        <p:spPr>
          <a:xfrm>
            <a:off x="6400800" y="3822192"/>
            <a:ext cx="5212080" cy="347472"/>
          </a:xfrm>
          <a:prstGeom prst="rect">
            <a:avLst/>
          </a:prstGeom>
          <a:noFill/>
          <a:ln/>
        </p:spPr>
        <p:txBody>
          <a:bodyPr wrap="square" lIns="0" tIns="0" rIns="0" bIns="0" rtlCol="0" anchor="t"/>
          <a:lstStyle/>
          <a:p>
            <a:pPr indent="0" marL="0">
              <a:buNone/>
            </a:pPr>
            <a:r>
              <a:rPr lang="en-US" sz="1500" b="1" dirty="0">
                <a:solidFill>
                  <a:schemeClr val="tx1"/>
                </a:solidFill>
                <a:latin typeface="Consolas" pitchFamily="34" charset="0"/>
                <a:ea typeface="Consolas" pitchFamily="34" charset="-122"/>
                <a:cs typeface="Consolas" pitchFamily="34" charset="-120"/>
              </a:rPr>
              <a:t>anzahlVokale("Akademie")</a:t>
            </a:r>
            <a:pPr indent="0" marL="0">
              <a:buNone/>
            </a:pPr>
            <a:r>
              <a:rPr lang="en-US" sz="1800" b="1" dirty="0">
                <a:solidFill>
                  <a:schemeClr val="accent2"/>
                </a:solidFill>
              </a:rPr>
              <a:t>  →  5</a:t>
            </a:r>
            <a:endParaRPr lang="en-US" sz="1800" dirty="0"/>
          </a:p>
        </p:txBody>
      </p:sp>
      <p:sp>
        <p:nvSpPr>
          <p:cNvPr id="19" name="Text 17"/>
          <p:cNvSpPr txBox="1"/>
          <p:nvPr/>
        </p:nvSpPr>
        <p:spPr>
          <a:xfrm>
            <a:off x="6400800" y="4343400"/>
            <a:ext cx="5212080" cy="292608"/>
          </a:xfrm>
          <a:prstGeom prst="rect">
            <a:avLst/>
          </a:prstGeom>
          <a:noFill/>
          <a:ln/>
        </p:spPr>
        <p:txBody>
          <a:bodyPr wrap="square" lIns="0" tIns="0" rIns="0" bIns="0" rtlCol="0" anchor="t"/>
          <a:lstStyle/>
          <a:p>
            <a:pPr indent="0" marL="0">
              <a:buNone/>
            </a:pPr>
            <a:r>
              <a:rPr lang="en-US" sz="1500" b="1" dirty="0">
                <a:solidFill>
                  <a:schemeClr val="accent1"/>
                </a:solidFill>
              </a:rPr>
              <a:t>Werkzeugkiste aus Level 0: einmal schreiben, oft aufrufen</a:t>
            </a:r>
            <a:endParaRPr lang="en-US" sz="1500" dirty="0"/>
          </a:p>
        </p:txBody>
      </p:sp>
      <p:sp>
        <p:nvSpPr>
          <p:cNvPr id="20" name="Chip"/>
          <p:cNvSpPr txBox="1"/>
          <p:nvPr/>
        </p:nvSpPr>
        <p:spPr>
          <a:xfrm>
            <a:off x="6400800" y="4709160"/>
            <a:ext cx="2514600" cy="402336"/>
          </a:xfrm>
          <a:prstGeom prst="roundRect">
            <a:avLst>
              <a:gd name="adj" fmla="val 50000"/>
            </a:avLst>
          </a:prstGeom>
          <a:solidFill>
            <a:schemeClr val="bg2"/>
          </a:solidFill>
          <a:ln w="15875">
            <a:solidFill>
              <a:schemeClr val="accent1"/>
            </a:solidFill>
          </a:ln>
        </p:spPr>
        <p:txBody>
          <a:bodyPr wrap="square" lIns="0" tIns="0" rIns="0" bIns="0" rtlCol="0" anchor="ctr"/>
          <a:lstStyle/>
          <a:p>
            <a:pPr algn="ctr" indent="0" marL="0">
              <a:buNone/>
            </a:pPr>
            <a:r>
              <a:rPr lang="en-US" sz="1400" b="1" dirty="0">
                <a:solidFill>
                  <a:schemeClr val="accent1"/>
                </a:solidFill>
              </a:rPr>
              <a:t>summe(r)</a:t>
            </a:r>
            <a:endParaRPr lang="en-US" sz="1400" dirty="0"/>
          </a:p>
        </p:txBody>
      </p:sp>
      <p:sp>
        <p:nvSpPr>
          <p:cNvPr id="21" name="Chip"/>
          <p:cNvSpPr txBox="1"/>
          <p:nvPr/>
        </p:nvSpPr>
        <p:spPr>
          <a:xfrm>
            <a:off x="9052560" y="4709160"/>
            <a:ext cx="2514600" cy="402336"/>
          </a:xfrm>
          <a:prstGeom prst="roundRect">
            <a:avLst>
              <a:gd name="adj" fmla="val 50000"/>
            </a:avLst>
          </a:prstGeom>
          <a:solidFill>
            <a:schemeClr val="bg2"/>
          </a:solidFill>
          <a:ln w="15875">
            <a:solidFill>
              <a:schemeClr val="accent1"/>
            </a:solidFill>
          </a:ln>
        </p:spPr>
        <p:txBody>
          <a:bodyPr wrap="square" lIns="0" tIns="0" rIns="0" bIns="0" rtlCol="0" anchor="ctr"/>
          <a:lstStyle/>
          <a:p>
            <a:pPr algn="ctr" indent="0" marL="0">
              <a:buNone/>
            </a:pPr>
            <a:r>
              <a:rPr lang="en-US" sz="1400" b="1" dirty="0">
                <a:solidFill>
                  <a:schemeClr val="accent1"/>
                </a:solidFill>
              </a:rPr>
              <a:t>maximum(r)</a:t>
            </a:r>
            <a:endParaRPr lang="en-US" sz="1400" dirty="0"/>
          </a:p>
        </p:txBody>
      </p:sp>
      <p:sp>
        <p:nvSpPr>
          <p:cNvPr id="22" name="Chip"/>
          <p:cNvSpPr txBox="1"/>
          <p:nvPr/>
        </p:nvSpPr>
        <p:spPr>
          <a:xfrm>
            <a:off x="6400800" y="5212080"/>
            <a:ext cx="2514600" cy="402336"/>
          </a:xfrm>
          <a:prstGeom prst="roundRect">
            <a:avLst>
              <a:gd name="adj" fmla="val 50000"/>
            </a:avLst>
          </a:prstGeom>
          <a:solidFill>
            <a:schemeClr val="bg2"/>
          </a:solidFill>
          <a:ln w="15875">
            <a:solidFill>
              <a:schemeClr val="accent1"/>
            </a:solidFill>
          </a:ln>
        </p:spPr>
        <p:txBody>
          <a:bodyPr wrap="square" lIns="0" tIns="0" rIns="0" bIns="0" rtlCol="0" anchor="ctr"/>
          <a:lstStyle/>
          <a:p>
            <a:pPr algn="ctr" indent="0" marL="0">
              <a:buNone/>
            </a:pPr>
            <a:r>
              <a:rPr lang="en-US" sz="1400" b="1" dirty="0">
                <a:solidFill>
                  <a:schemeClr val="accent1"/>
                </a:solidFill>
              </a:rPr>
              <a:t>zaehle(r, x)</a:t>
            </a:r>
            <a:endParaRPr lang="en-US" sz="1400" dirty="0"/>
          </a:p>
        </p:txBody>
      </p:sp>
      <p:sp>
        <p:nvSpPr>
          <p:cNvPr id="23" name="Chip"/>
          <p:cNvSpPr txBox="1"/>
          <p:nvPr/>
        </p:nvSpPr>
        <p:spPr>
          <a:xfrm>
            <a:off x="9052560" y="5212080"/>
            <a:ext cx="2514600" cy="402336"/>
          </a:xfrm>
          <a:prstGeom prst="roundRect">
            <a:avLst>
              <a:gd name="adj" fmla="val 50000"/>
            </a:avLst>
          </a:prstGeom>
          <a:solidFill>
            <a:schemeClr val="bg2"/>
          </a:solidFill>
          <a:ln w="15875">
            <a:solidFill>
              <a:schemeClr val="accent1"/>
            </a:solidFill>
          </a:ln>
        </p:spPr>
        <p:txBody>
          <a:bodyPr wrap="square" lIns="0" tIns="0" rIns="0" bIns="0" rtlCol="0" anchor="ctr"/>
          <a:lstStyle/>
          <a:p>
            <a:pPr algn="ctr" indent="0" marL="0">
              <a:buNone/>
            </a:pPr>
            <a:r>
              <a:rPr lang="en-US" sz="1400" b="1" dirty="0">
                <a:solidFill>
                  <a:schemeClr val="accent1"/>
                </a:solidFill>
              </a:rPr>
              <a:t>indexVon(r, x)</a:t>
            </a:r>
            <a:endParaRPr lang="en-US" sz="1400" dirty="0"/>
          </a:p>
        </p:txBody>
      </p:sp>
      <p:sp>
        <p:nvSpPr>
          <p:cNvPr id="24" name="Achtung implementiert"/>
          <p:cNvSpPr/>
          <p:nvPr/>
        </p:nvSpPr>
        <p:spPr>
          <a:xfrm>
            <a:off x="548640" y="5303520"/>
            <a:ext cx="5394960" cy="822960"/>
          </a:xfrm>
          <a:prstGeom prst="roundRect">
            <a:avLst>
              <a:gd name="adj" fmla="val 13333"/>
            </a:avLst>
          </a:prstGeom>
          <a:solidFill>
            <a:schemeClr val="bg1"/>
          </a:solidFill>
          <a:ln w="25400">
            <a:solidFill>
              <a:schemeClr val="accent4"/>
            </a:solidFill>
            <a:prstDash val="solid"/>
          </a:ln>
        </p:spPr>
      </p:sp>
      <p:sp>
        <p:nvSpPr>
          <p:cNvPr id="25" name="Text 23"/>
          <p:cNvSpPr txBox="1"/>
          <p:nvPr/>
        </p:nvSpPr>
        <p:spPr>
          <a:xfrm>
            <a:off x="749808" y="5303520"/>
            <a:ext cx="5029200" cy="822960"/>
          </a:xfrm>
          <a:prstGeom prst="rect">
            <a:avLst/>
          </a:prstGeom>
          <a:noFill/>
          <a:ln/>
        </p:spPr>
        <p:txBody>
          <a:bodyPr wrap="square" lIns="0" tIns="0" rIns="0" bIns="0" rtlCol="0" anchor="ctr"/>
          <a:lstStyle/>
          <a:p>
            <a:pPr indent="0" marL="0">
              <a:buNone/>
            </a:pPr>
            <a:r>
              <a:rPr lang="en-US" sz="1500" b="1" dirty="0">
                <a:solidFill>
                  <a:schemeClr val="accent4"/>
                </a:solidFill>
              </a:rPr>
              <a:t>Achtung Abi: </a:t>
            </a:r>
            <a:pPr indent="0" marL="0">
              <a:buNone/>
            </a:pPr>
            <a:r>
              <a:rPr lang="en-US" sz="1500" dirty="0">
                <a:solidFill>
                  <a:schemeClr val="tx1"/>
                </a:solidFill>
              </a:rPr>
              <a:t>„bereits implementiert“ heißt: aufrufen, nicht neu schreiben.</a:t>
            </a:r>
            <a:endParaRPr lang="en-US" sz="1500" dirty="0"/>
          </a:p>
        </p:txBody>
      </p:sp>
      <p:sp>
        <p:nvSpPr>
          <p:cNvPr id="26" name="Text 24"/>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5 · Zauberschule II</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Das Rezept: von der Aufgabe zur Methode</a:t>
            </a:r>
            <a:endParaRPr lang="en-US" sz="3600" dirty="0"/>
          </a:p>
        </p:txBody>
      </p:sp>
      <p:sp>
        <p:nvSpPr>
          <p:cNvPr id="3" name="Linie"/>
          <p:cNvSpPr/>
          <p:nvPr/>
        </p:nvSpPr>
        <p:spPr>
          <a:xfrm>
            <a:off x="1841863" y="2011680"/>
            <a:ext cx="574766" cy="91"/>
          </a:xfrm>
          <a:prstGeom prst="line">
            <a:avLst/>
          </a:prstGeom>
          <a:noFill/>
          <a:ln w="31750">
            <a:solidFill>
              <a:schemeClr val="accent2"/>
            </a:solidFill>
            <a:prstDash val="solid"/>
            <a:tailEnd type="triangle"/>
          </a:ln>
        </p:spPr>
      </p:sp>
      <p:sp>
        <p:nvSpPr>
          <p:cNvPr id="4" name="Icon-Kreis"/>
          <p:cNvSpPr/>
          <p:nvPr/>
        </p:nvSpPr>
        <p:spPr>
          <a:xfrm>
            <a:off x="881743" y="1554480"/>
            <a:ext cx="914400" cy="914400"/>
          </a:xfrm>
          <a:prstGeom prst="ellipse">
            <a:avLst/>
          </a:prstGeom>
          <a:solidFill>
            <a:schemeClr val="accent1"/>
          </a:solidFill>
          <a:ln/>
        </p:spPr>
      </p:sp>
      <p:pic>
        <p:nvPicPr>
          <p:cNvPr id="5" name="Icon GiMagnifyingGlass" descr="preencoded.png">    </p:cNvPr>
          <p:cNvPicPr>
            <a:picLocks noChangeAspect="1"/>
          </p:cNvPicPr>
          <p:nvPr/>
        </p:nvPicPr>
        <p:blipFill>
          <a:blip r:embed="rId1"/>
          <a:stretch>
            <a:fillRect/>
          </a:stretch>
        </p:blipFill>
        <p:spPr>
          <a:xfrm>
            <a:off x="1082911" y="1755648"/>
            <a:ext cx="512064" cy="512064"/>
          </a:xfrm>
          <a:prstGeom prst="rect">
            <a:avLst/>
          </a:prstGeom>
        </p:spPr>
      </p:pic>
      <p:sp>
        <p:nvSpPr>
          <p:cNvPr id="6" name="Nummer 1"/>
          <p:cNvSpPr txBox="1"/>
          <p:nvPr/>
        </p:nvSpPr>
        <p:spPr>
          <a:xfrm>
            <a:off x="1521823" y="1371600"/>
            <a:ext cx="384048" cy="384048"/>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7" name="Text 4"/>
          <p:cNvSpPr txBox="1"/>
          <p:nvPr/>
        </p:nvSpPr>
        <p:spPr>
          <a:xfrm>
            <a:off x="594360" y="2606040"/>
            <a:ext cx="1489166" cy="365760"/>
          </a:xfrm>
          <a:prstGeom prst="rect">
            <a:avLst/>
          </a:prstGeom>
          <a:noFill/>
          <a:ln/>
        </p:spPr>
        <p:txBody>
          <a:bodyPr wrap="square" lIns="0" tIns="0" rIns="0" bIns="0" rtlCol="0" anchor="t"/>
          <a:lstStyle/>
          <a:p>
            <a:pPr algn="ctr" indent="0" marL="0">
              <a:buNone/>
            </a:pPr>
            <a:r>
              <a:rPr lang="en-US" sz="1700" b="1" dirty="0">
                <a:solidFill>
                  <a:schemeClr val="accent1"/>
                </a:solidFill>
              </a:rPr>
              <a:t>Lesen</a:t>
            </a:r>
            <a:endParaRPr lang="en-US" sz="1700" dirty="0"/>
          </a:p>
        </p:txBody>
      </p:sp>
      <p:sp>
        <p:nvSpPr>
          <p:cNvPr id="8" name="Text 5"/>
          <p:cNvSpPr txBox="1"/>
          <p:nvPr/>
        </p:nvSpPr>
        <p:spPr>
          <a:xfrm>
            <a:off x="621792" y="3017520"/>
            <a:ext cx="1434302" cy="1188720"/>
          </a:xfrm>
          <a:prstGeom prst="rect">
            <a:avLst/>
          </a:prstGeom>
          <a:noFill/>
          <a:ln/>
        </p:spPr>
        <p:txBody>
          <a:bodyPr wrap="square" lIns="0" tIns="0" rIns="0" bIns="0" rtlCol="0" anchor="t"/>
          <a:lstStyle/>
          <a:p>
            <a:pPr algn="ctr" indent="0" marL="0">
              <a:buNone/>
            </a:pPr>
            <a:r>
              <a:rPr lang="en-US" sz="1400" dirty="0">
                <a:solidFill>
                  <a:schemeClr val="tx1"/>
                </a:solidFill>
              </a:rPr>
              <a:t>Eingabe, Ergebnis, Randfälle markieren</a:t>
            </a:r>
            <a:endParaRPr lang="en-US" sz="1400" dirty="0"/>
          </a:p>
        </p:txBody>
      </p:sp>
      <p:sp>
        <p:nvSpPr>
          <p:cNvPr id="9" name="Linie"/>
          <p:cNvSpPr/>
          <p:nvPr/>
        </p:nvSpPr>
        <p:spPr>
          <a:xfrm>
            <a:off x="3422469" y="2011680"/>
            <a:ext cx="574766" cy="91"/>
          </a:xfrm>
          <a:prstGeom prst="line">
            <a:avLst/>
          </a:prstGeom>
          <a:noFill/>
          <a:ln w="31750">
            <a:solidFill>
              <a:schemeClr val="accent2"/>
            </a:solidFill>
            <a:prstDash val="solid"/>
            <a:tailEnd type="triangle"/>
          </a:ln>
        </p:spPr>
      </p:sp>
      <p:sp>
        <p:nvSpPr>
          <p:cNvPr id="10" name="Icon-Kreis"/>
          <p:cNvSpPr/>
          <p:nvPr/>
        </p:nvSpPr>
        <p:spPr>
          <a:xfrm>
            <a:off x="2462349" y="1554480"/>
            <a:ext cx="914400" cy="914400"/>
          </a:xfrm>
          <a:prstGeom prst="ellipse">
            <a:avLst/>
          </a:prstGeom>
          <a:solidFill>
            <a:schemeClr val="accent1"/>
          </a:solidFill>
          <a:ln/>
        </p:spPr>
      </p:sp>
      <p:pic>
        <p:nvPicPr>
          <p:cNvPr id="11" name="Icon GiScrollUnfurled" descr="preencoded.png">    </p:cNvPr>
          <p:cNvPicPr>
            <a:picLocks noChangeAspect="1"/>
          </p:cNvPicPr>
          <p:nvPr/>
        </p:nvPicPr>
        <p:blipFill>
          <a:blip r:embed="rId2"/>
          <a:stretch>
            <a:fillRect/>
          </a:stretch>
        </p:blipFill>
        <p:spPr>
          <a:xfrm>
            <a:off x="2663517" y="1755648"/>
            <a:ext cx="512064" cy="512064"/>
          </a:xfrm>
          <a:prstGeom prst="rect">
            <a:avLst/>
          </a:prstGeom>
        </p:spPr>
      </p:pic>
      <p:sp>
        <p:nvSpPr>
          <p:cNvPr id="12" name="Nummer 2"/>
          <p:cNvSpPr txBox="1"/>
          <p:nvPr/>
        </p:nvSpPr>
        <p:spPr>
          <a:xfrm>
            <a:off x="3102429" y="1371600"/>
            <a:ext cx="384048" cy="384048"/>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3" name="Text 9"/>
          <p:cNvSpPr txBox="1"/>
          <p:nvPr/>
        </p:nvSpPr>
        <p:spPr>
          <a:xfrm>
            <a:off x="2174966" y="2606040"/>
            <a:ext cx="1489166" cy="365760"/>
          </a:xfrm>
          <a:prstGeom prst="rect">
            <a:avLst/>
          </a:prstGeom>
          <a:noFill/>
          <a:ln/>
        </p:spPr>
        <p:txBody>
          <a:bodyPr wrap="square" lIns="0" tIns="0" rIns="0" bIns="0" rtlCol="0" anchor="t"/>
          <a:lstStyle/>
          <a:p>
            <a:pPr algn="ctr" indent="0" marL="0">
              <a:buNone/>
            </a:pPr>
            <a:r>
              <a:rPr lang="en-US" sz="1700" b="1" dirty="0">
                <a:solidFill>
                  <a:schemeClr val="accent1"/>
                </a:solidFill>
              </a:rPr>
              <a:t>Signatur</a:t>
            </a:r>
            <a:endParaRPr lang="en-US" sz="1700" dirty="0"/>
          </a:p>
        </p:txBody>
      </p:sp>
      <p:sp>
        <p:nvSpPr>
          <p:cNvPr id="14" name="Text 10"/>
          <p:cNvSpPr txBox="1"/>
          <p:nvPr/>
        </p:nvSpPr>
        <p:spPr>
          <a:xfrm>
            <a:off x="2202398" y="3017520"/>
            <a:ext cx="1434302" cy="1188720"/>
          </a:xfrm>
          <a:prstGeom prst="rect">
            <a:avLst/>
          </a:prstGeom>
          <a:noFill/>
          <a:ln/>
        </p:spPr>
        <p:txBody>
          <a:bodyPr wrap="square" lIns="0" tIns="0" rIns="0" bIns="0" rtlCol="0" anchor="t"/>
          <a:lstStyle/>
          <a:p>
            <a:pPr algn="ctr" indent="0" marL="0">
              <a:buNone/>
            </a:pPr>
            <a:r>
              <a:rPr lang="en-US" sz="1400" dirty="0">
                <a:solidFill>
                  <a:schemeClr val="tx1"/>
                </a:solidFill>
              </a:rPr>
              <a:t>Abi-Signatur → Java-Kopf</a:t>
            </a:r>
            <a:endParaRPr lang="en-US" sz="1400" dirty="0"/>
          </a:p>
        </p:txBody>
      </p:sp>
      <p:sp>
        <p:nvSpPr>
          <p:cNvPr id="15" name="Linie"/>
          <p:cNvSpPr/>
          <p:nvPr/>
        </p:nvSpPr>
        <p:spPr>
          <a:xfrm>
            <a:off x="5003074" y="2011680"/>
            <a:ext cx="574766" cy="91"/>
          </a:xfrm>
          <a:prstGeom prst="line">
            <a:avLst/>
          </a:prstGeom>
          <a:noFill/>
          <a:ln w="31750">
            <a:solidFill>
              <a:schemeClr val="accent2"/>
            </a:solidFill>
            <a:prstDash val="solid"/>
            <a:tailEnd type="triangle"/>
          </a:ln>
        </p:spPr>
      </p:sp>
      <p:sp>
        <p:nvSpPr>
          <p:cNvPr id="16" name="Icon-Kreis"/>
          <p:cNvSpPr/>
          <p:nvPr/>
        </p:nvSpPr>
        <p:spPr>
          <a:xfrm>
            <a:off x="4042954" y="1554480"/>
            <a:ext cx="914400" cy="914400"/>
          </a:xfrm>
          <a:prstGeom prst="ellipse">
            <a:avLst/>
          </a:prstGeom>
          <a:solidFill>
            <a:schemeClr val="accent1"/>
          </a:solidFill>
          <a:ln/>
        </p:spPr>
      </p:sp>
      <p:pic>
        <p:nvPicPr>
          <p:cNvPr id="17" name="Icon GiNotebook" descr="preencoded.png">    </p:cNvPr>
          <p:cNvPicPr>
            <a:picLocks noChangeAspect="1"/>
          </p:cNvPicPr>
          <p:nvPr/>
        </p:nvPicPr>
        <p:blipFill>
          <a:blip r:embed="rId3"/>
          <a:stretch>
            <a:fillRect/>
          </a:stretch>
        </p:blipFill>
        <p:spPr>
          <a:xfrm>
            <a:off x="4244122" y="1755648"/>
            <a:ext cx="512064" cy="512064"/>
          </a:xfrm>
          <a:prstGeom prst="rect">
            <a:avLst/>
          </a:prstGeom>
        </p:spPr>
      </p:pic>
      <p:sp>
        <p:nvSpPr>
          <p:cNvPr id="18" name="Nummer 3"/>
          <p:cNvSpPr txBox="1"/>
          <p:nvPr/>
        </p:nvSpPr>
        <p:spPr>
          <a:xfrm>
            <a:off x="4683034" y="1371600"/>
            <a:ext cx="384048" cy="384048"/>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19" name="Text 14"/>
          <p:cNvSpPr txBox="1"/>
          <p:nvPr/>
        </p:nvSpPr>
        <p:spPr>
          <a:xfrm>
            <a:off x="3755571" y="2606040"/>
            <a:ext cx="1489166" cy="365760"/>
          </a:xfrm>
          <a:prstGeom prst="rect">
            <a:avLst/>
          </a:prstGeom>
          <a:noFill/>
          <a:ln/>
        </p:spPr>
        <p:txBody>
          <a:bodyPr wrap="square" lIns="0" tIns="0" rIns="0" bIns="0" rtlCol="0" anchor="t"/>
          <a:lstStyle/>
          <a:p>
            <a:pPr algn="ctr" indent="0" marL="0">
              <a:buNone/>
            </a:pPr>
            <a:r>
              <a:rPr lang="en-US" sz="1700" b="1" dirty="0">
                <a:solidFill>
                  <a:schemeClr val="accent1"/>
                </a:solidFill>
              </a:rPr>
              <a:t>Beispiele</a:t>
            </a:r>
            <a:endParaRPr lang="en-US" sz="1700" dirty="0"/>
          </a:p>
        </p:txBody>
      </p:sp>
      <p:sp>
        <p:nvSpPr>
          <p:cNvPr id="20" name="Text 15"/>
          <p:cNvSpPr txBox="1"/>
          <p:nvPr/>
        </p:nvSpPr>
        <p:spPr>
          <a:xfrm>
            <a:off x="3783003" y="3017520"/>
            <a:ext cx="1434302" cy="1188720"/>
          </a:xfrm>
          <a:prstGeom prst="rect">
            <a:avLst/>
          </a:prstGeom>
          <a:noFill/>
          <a:ln/>
        </p:spPr>
        <p:txBody>
          <a:bodyPr wrap="square" lIns="0" tIns="0" rIns="0" bIns="0" rtlCol="0" anchor="t"/>
          <a:lstStyle/>
          <a:p>
            <a:pPr algn="ctr" indent="0" marL="0">
              <a:buNone/>
            </a:pPr>
            <a:r>
              <a:rPr lang="en-US" sz="1400" dirty="0">
                <a:solidFill>
                  <a:schemeClr val="tx1"/>
                </a:solidFill>
              </a:rPr>
              <a:t>Tabelle: Eingabe → Ergebnis, Randfälle zuerst</a:t>
            </a:r>
            <a:endParaRPr lang="en-US" sz="1400" dirty="0"/>
          </a:p>
        </p:txBody>
      </p:sp>
      <p:sp>
        <p:nvSpPr>
          <p:cNvPr id="21" name="Linie"/>
          <p:cNvSpPr/>
          <p:nvPr/>
        </p:nvSpPr>
        <p:spPr>
          <a:xfrm>
            <a:off x="6583680" y="2011680"/>
            <a:ext cx="574766" cy="91"/>
          </a:xfrm>
          <a:prstGeom prst="line">
            <a:avLst/>
          </a:prstGeom>
          <a:noFill/>
          <a:ln w="31750">
            <a:solidFill>
              <a:schemeClr val="accent2"/>
            </a:solidFill>
            <a:prstDash val="solid"/>
            <a:tailEnd type="triangle"/>
          </a:ln>
        </p:spPr>
      </p:sp>
      <p:sp>
        <p:nvSpPr>
          <p:cNvPr id="22" name="Icon-Kreis"/>
          <p:cNvSpPr/>
          <p:nvPr/>
        </p:nvSpPr>
        <p:spPr>
          <a:xfrm>
            <a:off x="5623560" y="1554480"/>
            <a:ext cx="914400" cy="914400"/>
          </a:xfrm>
          <a:prstGeom prst="ellipse">
            <a:avLst/>
          </a:prstGeom>
          <a:solidFill>
            <a:schemeClr val="accent1"/>
          </a:solidFill>
          <a:ln/>
        </p:spPr>
      </p:sp>
      <p:pic>
        <p:nvPicPr>
          <p:cNvPr id="23" name="Icon GiTreasureMap" descr="preencoded.png">    </p:cNvPr>
          <p:cNvPicPr>
            <a:picLocks noChangeAspect="1"/>
          </p:cNvPicPr>
          <p:nvPr/>
        </p:nvPicPr>
        <p:blipFill>
          <a:blip r:embed="rId4"/>
          <a:stretch>
            <a:fillRect/>
          </a:stretch>
        </p:blipFill>
        <p:spPr>
          <a:xfrm>
            <a:off x="5824728" y="1755648"/>
            <a:ext cx="512064" cy="512064"/>
          </a:xfrm>
          <a:prstGeom prst="rect">
            <a:avLst/>
          </a:prstGeom>
        </p:spPr>
      </p:pic>
      <p:sp>
        <p:nvSpPr>
          <p:cNvPr id="24" name="Nummer 4"/>
          <p:cNvSpPr txBox="1"/>
          <p:nvPr/>
        </p:nvSpPr>
        <p:spPr>
          <a:xfrm>
            <a:off x="6263640" y="1371600"/>
            <a:ext cx="384048" cy="384048"/>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25" name="Text 19"/>
          <p:cNvSpPr txBox="1"/>
          <p:nvPr/>
        </p:nvSpPr>
        <p:spPr>
          <a:xfrm>
            <a:off x="5336177" y="2606040"/>
            <a:ext cx="1489166" cy="365760"/>
          </a:xfrm>
          <a:prstGeom prst="rect">
            <a:avLst/>
          </a:prstGeom>
          <a:noFill/>
          <a:ln/>
        </p:spPr>
        <p:txBody>
          <a:bodyPr wrap="square" lIns="0" tIns="0" rIns="0" bIns="0" rtlCol="0" anchor="t"/>
          <a:lstStyle/>
          <a:p>
            <a:pPr algn="ctr" indent="0" marL="0">
              <a:buNone/>
            </a:pPr>
            <a:r>
              <a:rPr lang="en-US" sz="1700" b="1" dirty="0">
                <a:solidFill>
                  <a:schemeClr val="accent1"/>
                </a:solidFill>
              </a:rPr>
              <a:t>Plan</a:t>
            </a:r>
            <a:endParaRPr lang="en-US" sz="1700" dirty="0"/>
          </a:p>
        </p:txBody>
      </p:sp>
      <p:sp>
        <p:nvSpPr>
          <p:cNvPr id="26" name="Text 20"/>
          <p:cNvSpPr txBox="1"/>
          <p:nvPr/>
        </p:nvSpPr>
        <p:spPr>
          <a:xfrm>
            <a:off x="5363609" y="3017520"/>
            <a:ext cx="1434302" cy="1188720"/>
          </a:xfrm>
          <a:prstGeom prst="rect">
            <a:avLst/>
          </a:prstGeom>
          <a:noFill/>
          <a:ln/>
        </p:spPr>
        <p:txBody>
          <a:bodyPr wrap="square" lIns="0" tIns="0" rIns="0" bIns="0" rtlCol="0" anchor="t"/>
          <a:lstStyle/>
          <a:p>
            <a:pPr algn="ctr" indent="0" marL="0">
              <a:buNone/>
            </a:pPr>
            <a:r>
              <a:rPr lang="en-US" sz="1400" dirty="0">
                <a:solidFill>
                  <a:schemeClr val="tx1"/>
                </a:solidFill>
              </a:rPr>
              <a:t>Struktogramm oder Stichpunkte</a:t>
            </a:r>
            <a:endParaRPr lang="en-US" sz="1400" dirty="0"/>
          </a:p>
        </p:txBody>
      </p:sp>
      <p:sp>
        <p:nvSpPr>
          <p:cNvPr id="27" name="Linie"/>
          <p:cNvSpPr/>
          <p:nvPr/>
        </p:nvSpPr>
        <p:spPr>
          <a:xfrm>
            <a:off x="8164286" y="2011680"/>
            <a:ext cx="574766" cy="91"/>
          </a:xfrm>
          <a:prstGeom prst="line">
            <a:avLst/>
          </a:prstGeom>
          <a:noFill/>
          <a:ln w="31750">
            <a:solidFill>
              <a:schemeClr val="accent2"/>
            </a:solidFill>
            <a:prstDash val="solid"/>
            <a:tailEnd type="triangle"/>
          </a:ln>
        </p:spPr>
      </p:sp>
      <p:sp>
        <p:nvSpPr>
          <p:cNvPr id="28" name="Icon-Kreis"/>
          <p:cNvSpPr/>
          <p:nvPr/>
        </p:nvSpPr>
        <p:spPr>
          <a:xfrm>
            <a:off x="7204166" y="1554480"/>
            <a:ext cx="914400" cy="914400"/>
          </a:xfrm>
          <a:prstGeom prst="ellipse">
            <a:avLst/>
          </a:prstGeom>
          <a:solidFill>
            <a:schemeClr val="accent1"/>
          </a:solidFill>
          <a:ln/>
        </p:spPr>
      </p:sp>
      <p:pic>
        <p:nvPicPr>
          <p:cNvPr id="29" name="Icon GiQuillInk" descr="preencoded.png">    </p:cNvPr>
          <p:cNvPicPr>
            <a:picLocks noChangeAspect="1"/>
          </p:cNvPicPr>
          <p:nvPr/>
        </p:nvPicPr>
        <p:blipFill>
          <a:blip r:embed="rId5"/>
          <a:stretch>
            <a:fillRect/>
          </a:stretch>
        </p:blipFill>
        <p:spPr>
          <a:xfrm>
            <a:off x="7405334" y="1755648"/>
            <a:ext cx="512064" cy="512064"/>
          </a:xfrm>
          <a:prstGeom prst="rect">
            <a:avLst/>
          </a:prstGeom>
        </p:spPr>
      </p:pic>
      <p:sp>
        <p:nvSpPr>
          <p:cNvPr id="30" name="Nummer 5"/>
          <p:cNvSpPr txBox="1"/>
          <p:nvPr/>
        </p:nvSpPr>
        <p:spPr>
          <a:xfrm>
            <a:off x="7844246" y="1371600"/>
            <a:ext cx="384048" cy="384048"/>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bg1"/>
                </a:solidFill>
              </a:rPr>
              <a:t>5</a:t>
            </a:r>
            <a:endParaRPr lang="en-US" sz="1700" dirty="0"/>
          </a:p>
        </p:txBody>
      </p:sp>
      <p:sp>
        <p:nvSpPr>
          <p:cNvPr id="31" name="Text 24"/>
          <p:cNvSpPr txBox="1"/>
          <p:nvPr/>
        </p:nvSpPr>
        <p:spPr>
          <a:xfrm>
            <a:off x="6916783" y="2606040"/>
            <a:ext cx="1489166" cy="365760"/>
          </a:xfrm>
          <a:prstGeom prst="rect">
            <a:avLst/>
          </a:prstGeom>
          <a:noFill/>
          <a:ln/>
        </p:spPr>
        <p:txBody>
          <a:bodyPr wrap="square" lIns="0" tIns="0" rIns="0" bIns="0" rtlCol="0" anchor="t"/>
          <a:lstStyle/>
          <a:p>
            <a:pPr algn="ctr" indent="0" marL="0">
              <a:buNone/>
            </a:pPr>
            <a:r>
              <a:rPr lang="en-US" sz="1700" b="1" dirty="0">
                <a:solidFill>
                  <a:schemeClr val="accent1"/>
                </a:solidFill>
              </a:rPr>
              <a:t>Java</a:t>
            </a:r>
            <a:endParaRPr lang="en-US" sz="1700" dirty="0"/>
          </a:p>
        </p:txBody>
      </p:sp>
      <p:sp>
        <p:nvSpPr>
          <p:cNvPr id="32" name="Text 25"/>
          <p:cNvSpPr txBox="1"/>
          <p:nvPr/>
        </p:nvSpPr>
        <p:spPr>
          <a:xfrm>
            <a:off x="6944215" y="3017520"/>
            <a:ext cx="1434302" cy="1188720"/>
          </a:xfrm>
          <a:prstGeom prst="rect">
            <a:avLst/>
          </a:prstGeom>
          <a:noFill/>
          <a:ln/>
        </p:spPr>
        <p:txBody>
          <a:bodyPr wrap="square" lIns="0" tIns="0" rIns="0" bIns="0" rtlCol="0" anchor="t"/>
          <a:lstStyle/>
          <a:p>
            <a:pPr algn="ctr" indent="0" marL="0">
              <a:buNone/>
            </a:pPr>
            <a:r>
              <a:rPr lang="en-US" sz="1400" dirty="0">
                <a:solidFill>
                  <a:schemeClr val="tx1"/>
                </a:solidFill>
              </a:rPr>
              <a:t>auf Papier, sauber eingerückt</a:t>
            </a:r>
            <a:endParaRPr lang="en-US" sz="1400" dirty="0"/>
          </a:p>
        </p:txBody>
      </p:sp>
      <p:sp>
        <p:nvSpPr>
          <p:cNvPr id="33" name="Linie"/>
          <p:cNvSpPr/>
          <p:nvPr/>
        </p:nvSpPr>
        <p:spPr>
          <a:xfrm>
            <a:off x="9744891" y="2011680"/>
            <a:ext cx="574766" cy="91"/>
          </a:xfrm>
          <a:prstGeom prst="line">
            <a:avLst/>
          </a:prstGeom>
          <a:noFill/>
          <a:ln w="31750">
            <a:solidFill>
              <a:schemeClr val="accent2"/>
            </a:solidFill>
            <a:prstDash val="solid"/>
            <a:tailEnd type="triangle"/>
          </a:ln>
        </p:spPr>
      </p:sp>
      <p:sp>
        <p:nvSpPr>
          <p:cNvPr id="34" name="Icon-Kreis"/>
          <p:cNvSpPr/>
          <p:nvPr/>
        </p:nvSpPr>
        <p:spPr>
          <a:xfrm>
            <a:off x="8784771" y="1554480"/>
            <a:ext cx="914400" cy="914400"/>
          </a:xfrm>
          <a:prstGeom prst="ellipse">
            <a:avLst/>
          </a:prstGeom>
          <a:solidFill>
            <a:schemeClr val="accent1"/>
          </a:solidFill>
          <a:ln/>
        </p:spPr>
      </p:sp>
      <p:pic>
        <p:nvPicPr>
          <p:cNvPr id="35" name="Icon GiCheckMark" descr="preencoded.png">    </p:cNvPr>
          <p:cNvPicPr>
            <a:picLocks noChangeAspect="1"/>
          </p:cNvPicPr>
          <p:nvPr/>
        </p:nvPicPr>
        <p:blipFill>
          <a:blip r:embed="rId6"/>
          <a:stretch>
            <a:fillRect/>
          </a:stretch>
        </p:blipFill>
        <p:spPr>
          <a:xfrm>
            <a:off x="8985939" y="1755648"/>
            <a:ext cx="512064" cy="512064"/>
          </a:xfrm>
          <a:prstGeom prst="rect">
            <a:avLst/>
          </a:prstGeom>
        </p:spPr>
      </p:pic>
      <p:sp>
        <p:nvSpPr>
          <p:cNvPr id="36" name="Nummer 6"/>
          <p:cNvSpPr txBox="1"/>
          <p:nvPr/>
        </p:nvSpPr>
        <p:spPr>
          <a:xfrm>
            <a:off x="9424851" y="1371600"/>
            <a:ext cx="384048" cy="384048"/>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bg1"/>
                </a:solidFill>
              </a:rPr>
              <a:t>6</a:t>
            </a:r>
            <a:endParaRPr lang="en-US" sz="1700" dirty="0"/>
          </a:p>
        </p:txBody>
      </p:sp>
      <p:sp>
        <p:nvSpPr>
          <p:cNvPr id="37" name="Text 29"/>
          <p:cNvSpPr txBox="1"/>
          <p:nvPr/>
        </p:nvSpPr>
        <p:spPr>
          <a:xfrm>
            <a:off x="8497389" y="2606040"/>
            <a:ext cx="1489166" cy="365760"/>
          </a:xfrm>
          <a:prstGeom prst="rect">
            <a:avLst/>
          </a:prstGeom>
          <a:noFill/>
          <a:ln/>
        </p:spPr>
        <p:txBody>
          <a:bodyPr wrap="square" lIns="0" tIns="0" rIns="0" bIns="0" rtlCol="0" anchor="t"/>
          <a:lstStyle/>
          <a:p>
            <a:pPr algn="ctr" indent="0" marL="0">
              <a:buNone/>
            </a:pPr>
            <a:r>
              <a:rPr lang="en-US" sz="1700" b="1" dirty="0">
                <a:solidFill>
                  <a:schemeClr val="accent1"/>
                </a:solidFill>
              </a:rPr>
              <a:t>Abi-Check</a:t>
            </a:r>
            <a:endParaRPr lang="en-US" sz="1700" dirty="0"/>
          </a:p>
        </p:txBody>
      </p:sp>
      <p:sp>
        <p:nvSpPr>
          <p:cNvPr id="38" name="Text 30"/>
          <p:cNvSpPr txBox="1"/>
          <p:nvPr/>
        </p:nvSpPr>
        <p:spPr>
          <a:xfrm>
            <a:off x="8524821" y="3017520"/>
            <a:ext cx="1434302" cy="1188720"/>
          </a:xfrm>
          <a:prstGeom prst="rect">
            <a:avLst/>
          </a:prstGeom>
          <a:noFill/>
          <a:ln/>
        </p:spPr>
        <p:txBody>
          <a:bodyPr wrap="square" lIns="0" tIns="0" rIns="0" bIns="0" rtlCol="0" anchor="t"/>
          <a:lstStyle/>
          <a:p>
            <a:pPr algn="ctr" indent="0" marL="0">
              <a:buNone/>
            </a:pPr>
            <a:r>
              <a:rPr lang="en-US" sz="1400" dirty="0">
                <a:solidFill>
                  <a:schemeClr val="tx1"/>
                </a:solidFill>
              </a:rPr>
              <a:t>Checkliste abhaken</a:t>
            </a:r>
            <a:endParaRPr lang="en-US" sz="1400" dirty="0"/>
          </a:p>
        </p:txBody>
      </p:sp>
      <p:sp>
        <p:nvSpPr>
          <p:cNvPr id="39" name="Icon-Kreis"/>
          <p:cNvSpPr/>
          <p:nvPr/>
        </p:nvSpPr>
        <p:spPr>
          <a:xfrm>
            <a:off x="10365377" y="1554480"/>
            <a:ext cx="914400" cy="914400"/>
          </a:xfrm>
          <a:prstGeom prst="ellipse">
            <a:avLst/>
          </a:prstGeom>
          <a:solidFill>
            <a:schemeClr val="accent2"/>
          </a:solidFill>
          <a:ln/>
        </p:spPr>
      </p:sp>
      <p:pic>
        <p:nvPicPr>
          <p:cNvPr id="40" name="Icon GiProcessor" descr="preencoded.png">    </p:cNvPr>
          <p:cNvPicPr>
            <a:picLocks noChangeAspect="1"/>
          </p:cNvPicPr>
          <p:nvPr/>
        </p:nvPicPr>
        <p:blipFill>
          <a:blip r:embed="rId7"/>
          <a:stretch>
            <a:fillRect/>
          </a:stretch>
        </p:blipFill>
        <p:spPr>
          <a:xfrm>
            <a:off x="10566545" y="1755648"/>
            <a:ext cx="512064" cy="512064"/>
          </a:xfrm>
          <a:prstGeom prst="rect">
            <a:avLst/>
          </a:prstGeom>
        </p:spPr>
      </p:pic>
      <p:sp>
        <p:nvSpPr>
          <p:cNvPr id="41" name="Nummer 7"/>
          <p:cNvSpPr txBox="1"/>
          <p:nvPr/>
        </p:nvSpPr>
        <p:spPr>
          <a:xfrm>
            <a:off x="11005457" y="1371600"/>
            <a:ext cx="384048" cy="384048"/>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7</a:t>
            </a:r>
            <a:endParaRPr lang="en-US" sz="1700" dirty="0"/>
          </a:p>
        </p:txBody>
      </p:sp>
      <p:sp>
        <p:nvSpPr>
          <p:cNvPr id="42" name="Text 33"/>
          <p:cNvSpPr txBox="1"/>
          <p:nvPr/>
        </p:nvSpPr>
        <p:spPr>
          <a:xfrm>
            <a:off x="10077994" y="2606040"/>
            <a:ext cx="1489166" cy="365760"/>
          </a:xfrm>
          <a:prstGeom prst="rect">
            <a:avLst/>
          </a:prstGeom>
          <a:noFill/>
          <a:ln/>
        </p:spPr>
        <p:txBody>
          <a:bodyPr wrap="square" lIns="0" tIns="0" rIns="0" bIns="0" rtlCol="0" anchor="t"/>
          <a:lstStyle/>
          <a:p>
            <a:pPr algn="ctr" indent="0" marL="0">
              <a:buNone/>
            </a:pPr>
            <a:r>
              <a:rPr lang="en-US" sz="1700" b="1" dirty="0">
                <a:solidFill>
                  <a:schemeClr val="accent1"/>
                </a:solidFill>
              </a:rPr>
              <a:t>Papier-Compiler</a:t>
            </a:r>
            <a:endParaRPr lang="en-US" sz="1700" dirty="0"/>
          </a:p>
        </p:txBody>
      </p:sp>
      <p:sp>
        <p:nvSpPr>
          <p:cNvPr id="43" name="Text 34"/>
          <p:cNvSpPr txBox="1"/>
          <p:nvPr/>
        </p:nvSpPr>
        <p:spPr>
          <a:xfrm>
            <a:off x="10105426" y="3017520"/>
            <a:ext cx="1434302" cy="1188720"/>
          </a:xfrm>
          <a:prstGeom prst="rect">
            <a:avLst/>
          </a:prstGeom>
          <a:noFill/>
          <a:ln/>
        </p:spPr>
        <p:txBody>
          <a:bodyPr wrap="square" lIns="0" tIns="0" rIns="0" bIns="0" rtlCol="0" anchor="t"/>
          <a:lstStyle/>
          <a:p>
            <a:pPr algn="ctr" indent="0" marL="0">
              <a:buNone/>
            </a:pPr>
            <a:r>
              <a:rPr lang="en-US" sz="1400" dirty="0">
                <a:solidFill>
                  <a:schemeClr val="tx1"/>
                </a:solidFill>
              </a:rPr>
              <a:t>unverändert abtippen, Tests grün?</a:t>
            </a:r>
            <a:endParaRPr lang="en-US" sz="1400" dirty="0"/>
          </a:p>
        </p:txBody>
      </p:sp>
      <p:sp>
        <p:nvSpPr>
          <p:cNvPr id="44" name="Rahmen Vorarbeit"/>
          <p:cNvSpPr/>
          <p:nvPr/>
        </p:nvSpPr>
        <p:spPr>
          <a:xfrm>
            <a:off x="548640" y="1234440"/>
            <a:ext cx="4741817" cy="3063240"/>
          </a:xfrm>
          <a:prstGeom prst="roundRect">
            <a:avLst>
              <a:gd name="adj" fmla="val 3582"/>
            </a:avLst>
          </a:prstGeom>
          <a:ln w="19050">
            <a:solidFill>
              <a:schemeClr val="accent6"/>
            </a:solidFill>
            <a:prstDash val="dash"/>
          </a:ln>
        </p:spPr>
      </p:sp>
      <p:sp>
        <p:nvSpPr>
          <p:cNvPr id="45" name="Text 36"/>
          <p:cNvSpPr txBox="1"/>
          <p:nvPr/>
        </p:nvSpPr>
        <p:spPr>
          <a:xfrm>
            <a:off x="548640" y="4343400"/>
            <a:ext cx="4741817" cy="292608"/>
          </a:xfrm>
          <a:prstGeom prst="rect">
            <a:avLst/>
          </a:prstGeom>
          <a:noFill/>
          <a:ln/>
        </p:spPr>
        <p:txBody>
          <a:bodyPr wrap="square" lIns="0" tIns="0" rIns="0" bIns="0" rtlCol="0" anchor="t"/>
          <a:lstStyle/>
          <a:p>
            <a:pPr algn="ctr" indent="0" marL="0">
              <a:buNone/>
            </a:pPr>
            <a:r>
              <a:rPr lang="en-US" sz="1400" b="1" i="1" dirty="0">
                <a:solidFill>
                  <a:schemeClr val="accent6"/>
                </a:solidFill>
              </a:rPr>
              <a:t>Vorarbeit: liefert Leerabfrage und Grenzen gratis</a:t>
            </a:r>
            <a:endParaRPr lang="en-US" sz="1400" dirty="0"/>
          </a:p>
        </p:txBody>
      </p:sp>
      <p:sp>
        <p:nvSpPr>
          <p:cNvPr id="46" name="Zeitbudget"/>
          <p:cNvSpPr/>
          <p:nvPr/>
        </p:nvSpPr>
        <p:spPr>
          <a:xfrm>
            <a:off x="548640" y="4892040"/>
            <a:ext cx="5394960" cy="1234440"/>
          </a:xfrm>
          <a:prstGeom prst="roundRect">
            <a:avLst>
              <a:gd name="adj" fmla="val 8889"/>
            </a:avLst>
          </a:prstGeom>
          <a:solidFill>
            <a:schemeClr val="accent1"/>
          </a:solidFill>
          <a:ln/>
          <a:effectLst>
            <a:outerShdw sx="100000" sy="100000" kx="0" ky="0" algn="bl" rotWithShape="0" blurRad="76200" dist="25400" dir="5400000">
              <a:srgbClr val="000000">
                <a:alpha val="18000"/>
              </a:srgbClr>
            </a:outerShdw>
          </a:effectLst>
        </p:spPr>
      </p:sp>
      <p:sp>
        <p:nvSpPr>
          <p:cNvPr id="47" name="Icon-Kreis"/>
          <p:cNvSpPr/>
          <p:nvPr/>
        </p:nvSpPr>
        <p:spPr>
          <a:xfrm>
            <a:off x="777240" y="5074920"/>
            <a:ext cx="868680" cy="868680"/>
          </a:xfrm>
          <a:prstGeom prst="ellipse">
            <a:avLst/>
          </a:prstGeom>
          <a:solidFill>
            <a:schemeClr val="accent2"/>
          </a:solidFill>
          <a:ln/>
        </p:spPr>
      </p:sp>
      <p:pic>
        <p:nvPicPr>
          <p:cNvPr id="48" name="Icon GiHourglass" descr="preencoded.png">    </p:cNvPr>
          <p:cNvPicPr>
            <a:picLocks noChangeAspect="1"/>
          </p:cNvPicPr>
          <p:nvPr/>
        </p:nvPicPr>
        <p:blipFill>
          <a:blip r:embed="rId8"/>
          <a:stretch>
            <a:fillRect/>
          </a:stretch>
        </p:blipFill>
        <p:spPr>
          <a:xfrm>
            <a:off x="968350" y="5266030"/>
            <a:ext cx="486461" cy="486461"/>
          </a:xfrm>
          <a:prstGeom prst="rect">
            <a:avLst/>
          </a:prstGeom>
        </p:spPr>
      </p:pic>
      <p:sp>
        <p:nvSpPr>
          <p:cNvPr id="49" name="Text 39"/>
          <p:cNvSpPr txBox="1"/>
          <p:nvPr/>
        </p:nvSpPr>
        <p:spPr>
          <a:xfrm>
            <a:off x="1828800" y="4892040"/>
            <a:ext cx="4023360" cy="1234440"/>
          </a:xfrm>
          <a:prstGeom prst="rect">
            <a:avLst/>
          </a:prstGeom>
          <a:noFill/>
          <a:ln/>
        </p:spPr>
        <p:txBody>
          <a:bodyPr wrap="square" lIns="0" tIns="0" rIns="0" bIns="0" rtlCol="0" anchor="ctr"/>
          <a:lstStyle/>
          <a:p>
            <a:pPr indent="0" marL="0">
              <a:buNone/>
            </a:pPr>
            <a:r>
              <a:rPr lang="en-US" sz="1900" b="1" dirty="0">
                <a:solidFill>
                  <a:schemeClr val="accent2"/>
                </a:solidFill>
              </a:rPr>
              <a:t>Zeitbudget Abi: ≈ 2,5 min je BE</a:t>
            </a:r>
            <a:endParaRPr lang="en-US" sz="1800" dirty="0"/>
          </a:p>
          <a:p>
            <a:pPr indent="0" marL="0">
              <a:buNone/>
            </a:pPr>
            <a:r>
              <a:rPr lang="en-US" sz="1500" dirty="0">
                <a:solidFill>
                  <a:schemeClr val="bg1"/>
                </a:solidFill>
              </a:rPr>
              <a:t>5 BE ≈ 12 min – davon 3 min für die Schritte 1–3</a:t>
            </a:r>
            <a:endParaRPr lang="en-US" sz="1800" dirty="0"/>
          </a:p>
        </p:txBody>
      </p:sp>
      <p:sp>
        <p:nvSpPr>
          <p:cNvPr id="50" name="Papier-Compiler"/>
          <p:cNvSpPr/>
          <p:nvPr/>
        </p:nvSpPr>
        <p:spPr>
          <a:xfrm>
            <a:off x="6217920" y="4892040"/>
            <a:ext cx="5394960" cy="1234440"/>
          </a:xfrm>
          <a:prstGeom prst="roundRect">
            <a:avLst>
              <a:gd name="adj" fmla="val 8889"/>
            </a:avLst>
          </a:prstGeom>
          <a:solidFill>
            <a:schemeClr val="bg2"/>
          </a:solidFill>
          <a:ln/>
        </p:spPr>
      </p:sp>
      <p:sp>
        <p:nvSpPr>
          <p:cNvPr id="51" name="Text 41"/>
          <p:cNvSpPr txBox="1"/>
          <p:nvPr/>
        </p:nvSpPr>
        <p:spPr>
          <a:xfrm>
            <a:off x="6419088" y="4892040"/>
            <a:ext cx="5029200" cy="1234440"/>
          </a:xfrm>
          <a:prstGeom prst="rect">
            <a:avLst/>
          </a:prstGeom>
          <a:noFill/>
          <a:ln/>
        </p:spPr>
        <p:txBody>
          <a:bodyPr wrap="square" lIns="0" tIns="0" rIns="0" bIns="0" rtlCol="0" anchor="ctr"/>
          <a:lstStyle/>
          <a:p>
            <a:pPr indent="0" marL="0">
              <a:buNone/>
            </a:pPr>
            <a:r>
              <a:rPr lang="en-US" sz="1500" b="1" dirty="0">
                <a:solidFill>
                  <a:schemeClr val="accent1"/>
                </a:solidFill>
              </a:rPr>
              <a:t>Papier-Compiler 0: </a:t>
            </a:r>
            <a:pPr indent="0" marL="0">
              <a:buNone/>
            </a:pPr>
            <a:r>
              <a:rPr lang="en-US" sz="1500" dirty="0">
                <a:solidFill>
                  <a:schemeClr val="tx1"/>
                </a:solidFill>
              </a:rPr>
              <a:t>Methode auf AB 5 von Hand, dann unverändert abtippen. Alle Tests grün beim 1. Versuch? Dann „compiliert“ deine Handschrift.</a:t>
            </a:r>
            <a:endParaRPr lang="en-US" sz="1500" dirty="0"/>
          </a:p>
        </p:txBody>
      </p:sp>
      <p:sp>
        <p:nvSpPr>
          <p:cNvPr id="52" name="Text 42"/>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6 · Methoden-Werkstatt</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Vorgemacht (1): letzterIndexVon</a:t>
            </a:r>
            <a:endParaRPr lang="en-US" sz="3600" dirty="0"/>
          </a:p>
        </p:txBody>
      </p:sp>
      <p:sp>
        <p:nvSpPr>
          <p:cNvPr id="3" name="Aufgabe"/>
          <p:cNvSpPr/>
          <p:nvPr/>
        </p:nvSpPr>
        <p:spPr>
          <a:xfrm>
            <a:off x="548640" y="1325880"/>
            <a:ext cx="5669280" cy="2697480"/>
          </a:xfrm>
          <a:prstGeom prst="roundRect">
            <a:avLst>
              <a:gd name="adj" fmla="val 4068"/>
            </a:avLst>
          </a:prstGeom>
          <a:solidFill>
            <a:schemeClr val="accent1"/>
          </a:solidFill>
          <a:ln/>
          <a:effectLst>
            <a:outerShdw sx="100000" sy="100000" kx="0" ky="0" algn="bl" rotWithShape="0" blurRad="76200" dist="25400" dir="5400000">
              <a:srgbClr val="000000">
                <a:alpha val="18000"/>
              </a:srgbClr>
            </a:outerShdw>
          </a:effectLst>
        </p:spPr>
      </p:sp>
      <p:sp>
        <p:nvSpPr>
          <p:cNvPr id="4" name="Chip"/>
          <p:cNvSpPr txBox="1"/>
          <p:nvPr/>
        </p:nvSpPr>
        <p:spPr>
          <a:xfrm>
            <a:off x="749808" y="1463040"/>
            <a:ext cx="3566160" cy="365760"/>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bg1"/>
                </a:solidFill>
              </a:rPr>
              <a:t>AUFGABE (Beispiel) · 4 BE ≈ 10 min</a:t>
            </a:r>
            <a:endParaRPr lang="en-US" sz="1400" dirty="0"/>
          </a:p>
        </p:txBody>
      </p:sp>
      <p:sp>
        <p:nvSpPr>
          <p:cNvPr id="5" name="Text 3"/>
          <p:cNvSpPr txBox="1"/>
          <p:nvPr/>
        </p:nvSpPr>
        <p:spPr>
          <a:xfrm>
            <a:off x="749808" y="1920240"/>
            <a:ext cx="5303520" cy="2057400"/>
          </a:xfrm>
          <a:prstGeom prst="rect">
            <a:avLst/>
          </a:prstGeom>
          <a:noFill/>
          <a:ln/>
        </p:spPr>
        <p:txBody>
          <a:bodyPr wrap="square" lIns="0" tIns="0" rIns="0" bIns="0" rtlCol="0" anchor="t"/>
          <a:lstStyle/>
          <a:p>
            <a:pPr indent="0" marL="0">
              <a:spcAft>
                <a:spcPts val="600"/>
              </a:spcAft>
              <a:buNone/>
            </a:pPr>
            <a:r>
              <a:rPr lang="en-US" sz="1600" dirty="0">
                <a:solidFill>
                  <a:schemeClr val="bg1"/>
                </a:solidFill>
              </a:rPr>
              <a:t>Die Operation letzterIndexVon liefert den </a:t>
            </a:r>
            <a:pPr indent="0" marL="0">
              <a:spcAft>
                <a:spcPts val="600"/>
              </a:spcAft>
              <a:buNone/>
            </a:pPr>
            <a:r>
              <a:rPr lang="en-US" sz="1600" b="1" dirty="0">
                <a:solidFill>
                  <a:schemeClr val="accent2"/>
                </a:solidFill>
              </a:rPr>
              <a:t>Index</a:t>
            </a:r>
            <a:pPr indent="0" marL="0">
              <a:spcAft>
                <a:spcPts val="600"/>
              </a:spcAft>
              <a:buNone/>
            </a:pPr>
            <a:r>
              <a:rPr lang="en-US" sz="1600" dirty="0">
                <a:solidFill>
                  <a:schemeClr val="bg1"/>
                </a:solidFill>
              </a:rPr>
              <a:t> des </a:t>
            </a:r>
            <a:pPr indent="0" marL="0">
              <a:spcAft>
                <a:spcPts val="600"/>
              </a:spcAft>
              <a:buNone/>
            </a:pPr>
            <a:r>
              <a:rPr lang="en-US" sz="1600" b="1" dirty="0">
                <a:solidFill>
                  <a:schemeClr val="accent2"/>
                </a:solidFill>
              </a:rPr>
              <a:t>letzten Vorkommens</a:t>
            </a:r>
            <a:pPr indent="0" marL="0">
              <a:spcAft>
                <a:spcPts val="600"/>
              </a:spcAft>
              <a:buNone/>
            </a:pPr>
            <a:r>
              <a:rPr lang="en-US" sz="1600" dirty="0">
                <a:solidFill>
                  <a:schemeClr val="bg1"/>
                </a:solidFill>
              </a:rPr>
              <a:t> des Werts x in der Reihung r. Ist x </a:t>
            </a:r>
            <a:pPr indent="0" marL="0">
              <a:spcAft>
                <a:spcPts val="600"/>
              </a:spcAft>
              <a:buNone/>
            </a:pPr>
            <a:r>
              <a:rPr lang="en-US" sz="1600" b="1" dirty="0">
                <a:solidFill>
                  <a:schemeClr val="accent2"/>
                </a:solidFill>
              </a:rPr>
              <a:t>nicht in r enthalten</a:t>
            </a:r>
            <a:pPr indent="0" marL="0">
              <a:spcAft>
                <a:spcPts val="600"/>
              </a:spcAft>
              <a:buNone/>
            </a:pPr>
            <a:r>
              <a:rPr lang="en-US" sz="1600" dirty="0">
                <a:solidFill>
                  <a:schemeClr val="bg1"/>
                </a:solidFill>
              </a:rPr>
              <a:t>, wird </a:t>
            </a:r>
            <a:pPr indent="0" marL="0">
              <a:spcAft>
                <a:spcPts val="600"/>
              </a:spcAft>
              <a:buNone/>
            </a:pPr>
            <a:r>
              <a:rPr lang="en-US" sz="1600" b="1" dirty="0">
                <a:solidFill>
                  <a:schemeClr val="accent2"/>
                </a:solidFill>
              </a:rPr>
              <a:t>−1</a:t>
            </a:r>
            <a:pPr indent="0" marL="0">
              <a:spcAft>
                <a:spcPts val="600"/>
              </a:spcAft>
              <a:buNone/>
            </a:pPr>
            <a:r>
              <a:rPr lang="en-US" sz="1600" dirty="0">
                <a:solidFill>
                  <a:schemeClr val="bg1"/>
                </a:solidFill>
              </a:rPr>
              <a:t> geliefert.</a:t>
            </a:r>
            <a:endParaRPr lang="en-US" sz="1600" dirty="0"/>
          </a:p>
          <a:p>
            <a:pPr indent="0" marL="0">
              <a:spcAft>
                <a:spcPts val="600"/>
              </a:spcAft>
              <a:buNone/>
            </a:pPr>
            <a:r>
              <a:rPr lang="en-US" sz="1600" b="1" dirty="0">
                <a:solidFill>
                  <a:schemeClr val="bg1"/>
                </a:solidFill>
              </a:rPr>
              <a:t>letzterIndexVon(r: Reihung von Ganzzahl, x: Ganzzahl): Ganzzahl</a:t>
            </a:r>
            <a:endParaRPr lang="en-US" sz="1600" dirty="0"/>
          </a:p>
          <a:p>
            <a:pPr indent="0" marL="0">
              <a:spcAft>
                <a:spcPts val="600"/>
              </a:spcAft>
              <a:buNone/>
            </a:pPr>
            <a:r>
              <a:rPr lang="en-US" sz="1600" i="1" dirty="0">
                <a:solidFill>
                  <a:schemeClr val="bg1"/>
                </a:solidFill>
              </a:rPr>
              <a:t>Implementieren Sie die Operation letzterIndexVon.</a:t>
            </a:r>
            <a:endParaRPr lang="en-US" sz="1600" dirty="0"/>
          </a:p>
        </p:txBody>
      </p:sp>
      <p:sp>
        <p:nvSpPr>
          <p:cNvPr id="6" name="Nummer 1"/>
          <p:cNvSpPr txBox="1"/>
          <p:nvPr/>
        </p:nvSpPr>
        <p:spPr>
          <a:xfrm>
            <a:off x="6492240" y="1325880"/>
            <a:ext cx="457200" cy="457200"/>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7" name="Text 5"/>
          <p:cNvSpPr txBox="1"/>
          <p:nvPr/>
        </p:nvSpPr>
        <p:spPr>
          <a:xfrm>
            <a:off x="7086600" y="1325880"/>
            <a:ext cx="4572000" cy="457200"/>
          </a:xfrm>
          <a:prstGeom prst="rect">
            <a:avLst/>
          </a:prstGeom>
          <a:noFill/>
          <a:ln/>
        </p:spPr>
        <p:txBody>
          <a:bodyPr wrap="square" lIns="0" tIns="0" rIns="0" bIns="0" rtlCol="0" anchor="ctr"/>
          <a:lstStyle/>
          <a:p>
            <a:pPr indent="0" marL="0">
              <a:buNone/>
            </a:pPr>
            <a:r>
              <a:rPr lang="en-US" sz="1800" b="1" dirty="0">
                <a:solidFill>
                  <a:schemeClr val="accent1"/>
                </a:solidFill>
              </a:rPr>
              <a:t>Lesen und markieren</a:t>
            </a:r>
            <a:endParaRPr lang="en-US" sz="1800" dirty="0"/>
          </a:p>
        </p:txBody>
      </p:sp>
      <p:sp>
        <p:nvSpPr>
          <p:cNvPr id="8" name="Text 6"/>
          <p:cNvSpPr txBox="1"/>
          <p:nvPr/>
        </p:nvSpPr>
        <p:spPr>
          <a:xfrm>
            <a:off x="7086600" y="1828800"/>
            <a:ext cx="4526280" cy="1188720"/>
          </a:xfrm>
          <a:prstGeom prst="rect">
            <a:avLst/>
          </a:prstGeom>
          <a:noFill/>
          <a:ln/>
        </p:spPr>
        <p:txBody>
          <a:bodyPr wrap="square" lIns="0" tIns="0" rIns="0" bIns="0" rtlCol="0" anchor="t"/>
          <a:lstStyle/>
          <a:p>
            <a:pPr indent="0" marL="0">
              <a:buNone/>
            </a:pPr>
            <a:r>
              <a:rPr lang="en-US" sz="1500" b="1" dirty="0">
                <a:solidFill>
                  <a:schemeClr val="tx1"/>
                </a:solidFill>
              </a:rPr>
              <a:t>Eingabe: </a:t>
            </a:r>
            <a:pPr indent="0" marL="0">
              <a:buNone/>
            </a:pPr>
            <a:r>
              <a:rPr lang="en-US" sz="1500" dirty="0">
                <a:solidFill>
                  <a:schemeClr val="tx1"/>
                </a:solidFill>
              </a:rPr>
              <a:t>Reihung r, Wert x</a:t>
            </a:r>
            <a:endParaRPr lang="en-US" sz="1500" dirty="0"/>
          </a:p>
          <a:p>
            <a:pPr indent="0" marL="0">
              <a:buNone/>
            </a:pPr>
            <a:r>
              <a:rPr lang="en-US" sz="1500" b="1" dirty="0">
                <a:solidFill>
                  <a:schemeClr val="tx1"/>
                </a:solidFill>
              </a:rPr>
              <a:t>Ergebnis: </a:t>
            </a:r>
            <a:pPr indent="0" marL="0">
              <a:buNone/>
            </a:pPr>
            <a:r>
              <a:rPr lang="en-US" sz="1500" dirty="0">
                <a:solidFill>
                  <a:schemeClr val="tx1"/>
                </a:solidFill>
              </a:rPr>
              <a:t>ein Index (Ganzzahl)</a:t>
            </a:r>
            <a:endParaRPr lang="en-US" sz="1500" dirty="0"/>
          </a:p>
          <a:p>
            <a:pPr indent="0" marL="0">
              <a:buNone/>
            </a:pPr>
            <a:r>
              <a:rPr lang="en-US" sz="1500" b="1" dirty="0">
                <a:solidFill>
                  <a:schemeClr val="accent4"/>
                </a:solidFill>
              </a:rPr>
              <a:t>Randfälle: </a:t>
            </a:r>
            <a:pPr indent="0" marL="0">
              <a:buNone/>
            </a:pPr>
            <a:r>
              <a:rPr lang="en-US" sz="1500" dirty="0">
                <a:solidFill>
                  <a:schemeClr val="tx1"/>
                </a:solidFill>
              </a:rPr>
              <a:t>x fehlt → −1 · r leer → −1 · x mehrfach → letztes</a:t>
            </a:r>
            <a:endParaRPr lang="en-US" sz="1500" dirty="0"/>
          </a:p>
        </p:txBody>
      </p:sp>
      <p:sp>
        <p:nvSpPr>
          <p:cNvPr id="9" name="Nummer 2"/>
          <p:cNvSpPr txBox="1"/>
          <p:nvPr/>
        </p:nvSpPr>
        <p:spPr>
          <a:xfrm>
            <a:off x="6492240" y="3154680"/>
            <a:ext cx="457200" cy="457200"/>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0" name="Text 8"/>
          <p:cNvSpPr txBox="1"/>
          <p:nvPr/>
        </p:nvSpPr>
        <p:spPr>
          <a:xfrm>
            <a:off x="7086600" y="3154680"/>
            <a:ext cx="4572000" cy="457200"/>
          </a:xfrm>
          <a:prstGeom prst="rect">
            <a:avLst/>
          </a:prstGeom>
          <a:noFill/>
          <a:ln/>
        </p:spPr>
        <p:txBody>
          <a:bodyPr wrap="square" lIns="0" tIns="0" rIns="0" bIns="0" rtlCol="0" anchor="ctr"/>
          <a:lstStyle/>
          <a:p>
            <a:pPr indent="0" marL="0">
              <a:buNone/>
            </a:pPr>
            <a:r>
              <a:rPr lang="en-US" sz="1800" b="1" dirty="0">
                <a:solidFill>
                  <a:schemeClr val="accent1"/>
                </a:solidFill>
              </a:rPr>
              <a:t>Signatur → Java-Kopf</a:t>
            </a:r>
            <a:endParaRPr lang="en-US" sz="1800" dirty="0"/>
          </a:p>
        </p:txBody>
      </p:sp>
      <p:sp>
        <p:nvSpPr>
          <p:cNvPr id="11" name="Code"/>
          <p:cNvSpPr txBox="1"/>
          <p:nvPr/>
        </p:nvSpPr>
        <p:spPr>
          <a:xfrm>
            <a:off x="6492240" y="3703320"/>
            <a:ext cx="5120640" cy="4922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public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static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letzterIndexVon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x</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p:txBody>
      </p:sp>
      <p:sp>
        <p:nvSpPr>
          <p:cNvPr id="12" name="Nummer 3"/>
          <p:cNvSpPr txBox="1"/>
          <p:nvPr/>
        </p:nvSpPr>
        <p:spPr>
          <a:xfrm>
            <a:off x="548640" y="4160520"/>
            <a:ext cx="457200" cy="457200"/>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13" name="Text 11"/>
          <p:cNvSpPr txBox="1"/>
          <p:nvPr/>
        </p:nvSpPr>
        <p:spPr>
          <a:xfrm>
            <a:off x="1143000" y="4160520"/>
            <a:ext cx="5029200" cy="457200"/>
          </a:xfrm>
          <a:prstGeom prst="rect">
            <a:avLst/>
          </a:prstGeom>
          <a:noFill/>
          <a:ln/>
        </p:spPr>
        <p:txBody>
          <a:bodyPr wrap="square" lIns="0" tIns="0" rIns="0" bIns="0" rtlCol="0" anchor="ctr"/>
          <a:lstStyle/>
          <a:p>
            <a:pPr indent="0" marL="0">
              <a:buNone/>
            </a:pPr>
            <a:r>
              <a:rPr lang="en-US" sz="1800" b="1" dirty="0">
                <a:solidFill>
                  <a:schemeClr val="accent1"/>
                </a:solidFill>
              </a:rPr>
              <a:t>Beispiele – Randfälle zuerst</a:t>
            </a:r>
            <a:endParaRPr lang="en-US" sz="1800" dirty="0"/>
          </a:p>
        </p:txBody>
      </p:sp>
      <p:graphicFrame>
        <p:nvGraphicFramePr>
          <p:cNvPr id="26" name="Beispieltabelle"/>
          <p:cNvGraphicFramePr>
            <a:graphicFrameLocks noGrp="1"/>
          </p:cNvGraphicFramePr>
          <p:nvPr>
            <p:extLst>
              <p:ext uri="{D42A27DB-BD31-4B8C-83A1-F6EECF244321}">
                <p14:modId xmlns:p14="http://schemas.microsoft.com/office/powerpoint/2010/main" val="1579011935"/>
              </p:ext>
            </p:extLst>
          </p:nvPr>
        </p:nvGraphicFramePr>
        <p:xfrm>
          <a:off x="548640" y="4681728"/>
          <a:ext cx="5669280" cy="914400"/>
        </p:xfrm>
        <a:graphic>
          <a:graphicData uri="http://schemas.openxmlformats.org/drawingml/2006/table">
            <a:tbl>
              <a:tblPr/>
              <a:tblGrid>
                <a:gridCol w="1691640"/>
                <a:gridCol w="548640"/>
                <a:gridCol w="1143000"/>
                <a:gridCol w="2286000"/>
              </a:tblGrid>
              <a:tr h="283464">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r</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x</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Ergebnis</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Warum?</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283464">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{4, 9, 4, 7}</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4</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2</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letztes von zwei</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83464">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{4, 9, 4, 7}</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7</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3</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ganz am Ende: Grenze!</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83464">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{4, 9, 4, 7}</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5</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4"/>
                          </a:solidFill>
                          <a:latin typeface="Consolas" pitchFamily="34" charset="0"/>
                          <a:ea typeface="Consolas" pitchFamily="34" charset="-122"/>
                          <a:cs typeface="Consolas" pitchFamily="34" charset="-120"/>
                        </a:rPr>
                        <a:t>-1</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nicht enthalten</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83464">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4</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4"/>
                          </a:solidFill>
                          <a:latin typeface="Consolas" pitchFamily="34" charset="0"/>
                          <a:ea typeface="Consolas" pitchFamily="34" charset="-122"/>
                          <a:cs typeface="Consolas" pitchFamily="34" charset="-120"/>
                        </a:rPr>
                        <a:t>-1</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leere Reihung</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15" name="Idee"/>
          <p:cNvSpPr/>
          <p:nvPr/>
        </p:nvSpPr>
        <p:spPr>
          <a:xfrm>
            <a:off x="6492240" y="4343400"/>
            <a:ext cx="5120640" cy="1783080"/>
          </a:xfrm>
          <a:prstGeom prst="roundRect">
            <a:avLst>
              <a:gd name="adj" fmla="val 6154"/>
            </a:avLst>
          </a:prstGeom>
          <a:solidFill>
            <a:schemeClr val="bg2"/>
          </a:solidFill>
          <a:ln/>
        </p:spPr>
      </p:sp>
      <p:sp>
        <p:nvSpPr>
          <p:cNvPr id="16" name="Text 13"/>
          <p:cNvSpPr txBox="1"/>
          <p:nvPr/>
        </p:nvSpPr>
        <p:spPr>
          <a:xfrm>
            <a:off x="6693408" y="4343400"/>
            <a:ext cx="4754880" cy="1783080"/>
          </a:xfrm>
          <a:prstGeom prst="rect">
            <a:avLst/>
          </a:prstGeom>
          <a:noFill/>
          <a:ln/>
        </p:spPr>
        <p:txBody>
          <a:bodyPr wrap="square" lIns="0" tIns="0" rIns="0" bIns="0" rtlCol="0" anchor="ctr"/>
          <a:lstStyle/>
          <a:p>
            <a:pPr indent="0" marL="0">
              <a:buNone/>
            </a:pPr>
            <a:r>
              <a:rPr lang="en-US" sz="1600" b="1" dirty="0">
                <a:solidFill>
                  <a:schemeClr val="accent1"/>
                </a:solidFill>
              </a:rPr>
              <a:t>Idee: </a:t>
            </a:r>
            <a:pPr indent="0" marL="0">
              <a:buNone/>
            </a:pPr>
            <a:r>
              <a:rPr lang="en-US" sz="1600" dirty="0">
                <a:solidFill>
                  <a:schemeClr val="tx1"/>
                </a:solidFill>
              </a:rPr>
              <a:t>Von vorn nach hinten laufen und jeden Treffer merken – der zuletzt gemerkte ist der letzte. Startwert −1 deckt „nicht enthalten“ und „leer“ ab.</a:t>
            </a:r>
            <a:endParaRPr lang="en-US" sz="1600" dirty="0"/>
          </a:p>
        </p:txBody>
      </p:sp>
      <p:sp>
        <p:nvSpPr>
          <p:cNvPr id="17" name="Text 14"/>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6 · Methoden-Werkstatt</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Vorgemacht (2): Plan, Java, Abi-Check</a:t>
            </a:r>
            <a:endParaRPr lang="en-US" sz="3600" dirty="0"/>
          </a:p>
        </p:txBody>
      </p:sp>
      <p:sp>
        <p:nvSpPr>
          <p:cNvPr id="3" name="Nummer 4"/>
          <p:cNvSpPr txBox="1"/>
          <p:nvPr/>
        </p:nvSpPr>
        <p:spPr>
          <a:xfrm>
            <a:off x="548640" y="1325880"/>
            <a:ext cx="457200" cy="457200"/>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4" name="Text 2"/>
          <p:cNvSpPr txBox="1"/>
          <p:nvPr/>
        </p:nvSpPr>
        <p:spPr>
          <a:xfrm>
            <a:off x="1143000" y="1325880"/>
            <a:ext cx="4114800" cy="457200"/>
          </a:xfrm>
          <a:prstGeom prst="rect">
            <a:avLst/>
          </a:prstGeom>
          <a:noFill/>
          <a:ln/>
        </p:spPr>
        <p:txBody>
          <a:bodyPr wrap="square" lIns="0" tIns="0" rIns="0" bIns="0" rtlCol="0" anchor="ctr"/>
          <a:lstStyle/>
          <a:p>
            <a:pPr indent="0" marL="0">
              <a:buNone/>
            </a:pPr>
            <a:r>
              <a:rPr lang="en-US" sz="1800" b="1" dirty="0">
                <a:solidFill>
                  <a:schemeClr val="accent1"/>
                </a:solidFill>
              </a:rPr>
              <a:t>Struktogramm</a:t>
            </a:r>
            <a:endParaRPr lang="en-US" sz="1800" dirty="0"/>
          </a:p>
        </p:txBody>
      </p:sp>
      <p:pic>
        <p:nvPicPr>
          <p:cNvPr id="5" name="Struktogramm sg_letzter" descr="Struktogramm sg_letzter">    </p:cNvPr>
          <p:cNvPicPr>
            <a:picLocks noChangeAspect="1"/>
          </p:cNvPicPr>
          <p:nvPr/>
        </p:nvPicPr>
        <p:blipFill>
          <a:blip r:embed="rId1"/>
          <a:stretch>
            <a:fillRect/>
          </a:stretch>
        </p:blipFill>
        <p:spPr>
          <a:xfrm>
            <a:off x="548640" y="1920240"/>
            <a:ext cx="5394960" cy="2576560"/>
          </a:xfrm>
          <a:prstGeom prst="rect">
            <a:avLst/>
          </a:prstGeom>
        </p:spPr>
      </p:pic>
      <p:sp>
        <p:nvSpPr>
          <p:cNvPr id="6" name="Nummer 5"/>
          <p:cNvSpPr txBox="1"/>
          <p:nvPr/>
        </p:nvSpPr>
        <p:spPr>
          <a:xfrm>
            <a:off x="6309360" y="1325880"/>
            <a:ext cx="457200" cy="457200"/>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bg1"/>
                </a:solidFill>
              </a:rPr>
              <a:t>5</a:t>
            </a:r>
            <a:endParaRPr lang="en-US" sz="1700" dirty="0"/>
          </a:p>
        </p:txBody>
      </p:sp>
      <p:sp>
        <p:nvSpPr>
          <p:cNvPr id="7" name="Text 4"/>
          <p:cNvSpPr txBox="1"/>
          <p:nvPr/>
        </p:nvSpPr>
        <p:spPr>
          <a:xfrm>
            <a:off x="6903720" y="1325880"/>
            <a:ext cx="4114800" cy="457200"/>
          </a:xfrm>
          <a:prstGeom prst="rect">
            <a:avLst/>
          </a:prstGeom>
          <a:noFill/>
          <a:ln/>
        </p:spPr>
        <p:txBody>
          <a:bodyPr wrap="square" lIns="0" tIns="0" rIns="0" bIns="0" rtlCol="0" anchor="ctr"/>
          <a:lstStyle/>
          <a:p>
            <a:pPr indent="0" marL="0">
              <a:buNone/>
            </a:pPr>
            <a:r>
              <a:rPr lang="en-US" sz="1800" b="1" dirty="0">
                <a:solidFill>
                  <a:schemeClr val="accent1"/>
                </a:solidFill>
              </a:rPr>
              <a:t>Java auf Papier</a:t>
            </a:r>
            <a:endParaRPr lang="en-US" sz="1800" dirty="0"/>
          </a:p>
        </p:txBody>
      </p:sp>
      <p:sp>
        <p:nvSpPr>
          <p:cNvPr id="8" name="Code"/>
          <p:cNvSpPr txBox="1"/>
          <p:nvPr/>
        </p:nvSpPr>
        <p:spPr>
          <a:xfrm>
            <a:off x="6309360" y="1920240"/>
            <a:ext cx="5303520" cy="20162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public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static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letzterIndexVon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x</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pos</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-1;</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for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0;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&lt;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length</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x</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pos</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return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pos</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p:txBody>
      </p:sp>
      <p:sp>
        <p:nvSpPr>
          <p:cNvPr id="9" name="Nummer 6"/>
          <p:cNvSpPr txBox="1"/>
          <p:nvPr/>
        </p:nvSpPr>
        <p:spPr>
          <a:xfrm>
            <a:off x="548640" y="4709160"/>
            <a:ext cx="457200" cy="457200"/>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bg1"/>
                </a:solidFill>
              </a:rPr>
              <a:t>6</a:t>
            </a:r>
            <a:endParaRPr lang="en-US" sz="1700" dirty="0"/>
          </a:p>
        </p:txBody>
      </p:sp>
      <p:sp>
        <p:nvSpPr>
          <p:cNvPr id="10" name="Text 7"/>
          <p:cNvSpPr txBox="1"/>
          <p:nvPr/>
        </p:nvSpPr>
        <p:spPr>
          <a:xfrm>
            <a:off x="1143000" y="4709160"/>
            <a:ext cx="2743200" cy="457200"/>
          </a:xfrm>
          <a:prstGeom prst="rect">
            <a:avLst/>
          </a:prstGeom>
          <a:noFill/>
          <a:ln/>
        </p:spPr>
        <p:txBody>
          <a:bodyPr wrap="square" lIns="0" tIns="0" rIns="0" bIns="0" rtlCol="0" anchor="ctr"/>
          <a:lstStyle/>
          <a:p>
            <a:pPr indent="0" marL="0">
              <a:buNone/>
            </a:pPr>
            <a:r>
              <a:rPr lang="en-US" sz="1800" b="1" dirty="0">
                <a:solidFill>
                  <a:schemeClr val="accent1"/>
                </a:solidFill>
              </a:rPr>
              <a:t>Abi-Check</a:t>
            </a:r>
            <a:endParaRPr lang="en-US" sz="1800" dirty="0"/>
          </a:p>
        </p:txBody>
      </p:sp>
      <p:sp>
        <p:nvSpPr>
          <p:cNvPr id="11" name="Icon-Kreis"/>
          <p:cNvSpPr/>
          <p:nvPr/>
        </p:nvSpPr>
        <p:spPr>
          <a:xfrm>
            <a:off x="548640" y="5257800"/>
            <a:ext cx="237744" cy="237744"/>
          </a:xfrm>
          <a:prstGeom prst="ellipse">
            <a:avLst/>
          </a:prstGeom>
          <a:solidFill>
            <a:schemeClr val="accent3"/>
          </a:solidFill>
          <a:ln/>
        </p:spPr>
      </p:sp>
      <p:pic>
        <p:nvPicPr>
          <p:cNvPr id="12" name="Icon GiCheckMark" descr="preencoded.png">    </p:cNvPr>
          <p:cNvPicPr>
            <a:picLocks noChangeAspect="1"/>
          </p:cNvPicPr>
          <p:nvPr/>
        </p:nvPicPr>
        <p:blipFill>
          <a:blip r:embed="rId2"/>
          <a:stretch>
            <a:fillRect/>
          </a:stretch>
        </p:blipFill>
        <p:spPr>
          <a:xfrm>
            <a:off x="591434" y="5300594"/>
            <a:ext cx="152156" cy="152156"/>
          </a:xfrm>
          <a:prstGeom prst="rect">
            <a:avLst/>
          </a:prstGeom>
        </p:spPr>
      </p:pic>
      <p:sp>
        <p:nvSpPr>
          <p:cNvPr id="13" name="Text 9"/>
          <p:cNvSpPr txBox="1"/>
          <p:nvPr/>
        </p:nvSpPr>
        <p:spPr>
          <a:xfrm>
            <a:off x="896112" y="5230368"/>
            <a:ext cx="4983480" cy="292608"/>
          </a:xfrm>
          <a:prstGeom prst="rect">
            <a:avLst/>
          </a:prstGeom>
          <a:noFill/>
          <a:ln/>
        </p:spPr>
        <p:txBody>
          <a:bodyPr wrap="square" lIns="0" tIns="0" rIns="0" bIns="0" rtlCol="0" anchor="ctr"/>
          <a:lstStyle/>
          <a:p>
            <a:pPr indent="0" marL="0">
              <a:buNone/>
            </a:pPr>
            <a:r>
              <a:rPr lang="en-US" sz="1400" dirty="0">
                <a:solidFill>
                  <a:schemeClr val="tx1"/>
                </a:solidFill>
              </a:rPr>
              <a:t>Kopf wie Signatur: Name, Reihenfolge, Typen</a:t>
            </a:r>
            <a:endParaRPr lang="en-US" sz="1400" dirty="0"/>
          </a:p>
        </p:txBody>
      </p:sp>
      <p:sp>
        <p:nvSpPr>
          <p:cNvPr id="14" name="Icon-Kreis"/>
          <p:cNvSpPr/>
          <p:nvPr/>
        </p:nvSpPr>
        <p:spPr>
          <a:xfrm>
            <a:off x="548640" y="5568696"/>
            <a:ext cx="237744" cy="237744"/>
          </a:xfrm>
          <a:prstGeom prst="ellipse">
            <a:avLst/>
          </a:prstGeom>
          <a:solidFill>
            <a:schemeClr val="accent3"/>
          </a:solidFill>
          <a:ln/>
        </p:spPr>
      </p:sp>
      <p:pic>
        <p:nvPicPr>
          <p:cNvPr id="15" name="Icon GiCheckMark" descr="preencoded.png">    </p:cNvPr>
          <p:cNvPicPr>
            <a:picLocks noChangeAspect="1"/>
          </p:cNvPicPr>
          <p:nvPr/>
        </p:nvPicPr>
        <p:blipFill>
          <a:blip r:embed="rId3"/>
          <a:stretch>
            <a:fillRect/>
          </a:stretch>
        </p:blipFill>
        <p:spPr>
          <a:xfrm>
            <a:off x="591434" y="5611490"/>
            <a:ext cx="152156" cy="152156"/>
          </a:xfrm>
          <a:prstGeom prst="rect">
            <a:avLst/>
          </a:prstGeom>
        </p:spPr>
      </p:pic>
      <p:sp>
        <p:nvSpPr>
          <p:cNvPr id="16" name="Text 11"/>
          <p:cNvSpPr txBox="1"/>
          <p:nvPr/>
        </p:nvSpPr>
        <p:spPr>
          <a:xfrm>
            <a:off x="896112" y="5541264"/>
            <a:ext cx="4983480" cy="292608"/>
          </a:xfrm>
          <a:prstGeom prst="rect">
            <a:avLst/>
          </a:prstGeom>
          <a:noFill/>
          <a:ln/>
        </p:spPr>
        <p:txBody>
          <a:bodyPr wrap="square" lIns="0" tIns="0" rIns="0" bIns="0" rtlCol="0" anchor="ctr"/>
          <a:lstStyle/>
          <a:p>
            <a:pPr indent="0" marL="0">
              <a:buNone/>
            </a:pPr>
            <a:r>
              <a:rPr lang="en-US" sz="1400" dirty="0">
                <a:solidFill>
                  <a:schemeClr val="tx1"/>
                </a:solidFill>
              </a:rPr>
              <a:t>return in jedem Pfad – genau eins, am Ende</a:t>
            </a:r>
            <a:endParaRPr lang="en-US" sz="1400" dirty="0"/>
          </a:p>
        </p:txBody>
      </p:sp>
      <p:sp>
        <p:nvSpPr>
          <p:cNvPr id="17" name="Icon-Kreis"/>
          <p:cNvSpPr/>
          <p:nvPr/>
        </p:nvSpPr>
        <p:spPr>
          <a:xfrm>
            <a:off x="548640" y="5879592"/>
            <a:ext cx="237744" cy="237744"/>
          </a:xfrm>
          <a:prstGeom prst="ellipse">
            <a:avLst/>
          </a:prstGeom>
          <a:solidFill>
            <a:schemeClr val="accent3"/>
          </a:solidFill>
          <a:ln/>
        </p:spPr>
      </p:sp>
      <p:pic>
        <p:nvPicPr>
          <p:cNvPr id="18" name="Icon GiCheckMark" descr="preencoded.png">    </p:cNvPr>
          <p:cNvPicPr>
            <a:picLocks noChangeAspect="1"/>
          </p:cNvPicPr>
          <p:nvPr/>
        </p:nvPicPr>
        <p:blipFill>
          <a:blip r:embed="rId4"/>
          <a:stretch>
            <a:fillRect/>
          </a:stretch>
        </p:blipFill>
        <p:spPr>
          <a:xfrm>
            <a:off x="591434" y="5922386"/>
            <a:ext cx="152156" cy="152156"/>
          </a:xfrm>
          <a:prstGeom prst="rect">
            <a:avLst/>
          </a:prstGeom>
        </p:spPr>
      </p:pic>
      <p:sp>
        <p:nvSpPr>
          <p:cNvPr id="19" name="Text 13"/>
          <p:cNvSpPr txBox="1"/>
          <p:nvPr/>
        </p:nvSpPr>
        <p:spPr>
          <a:xfrm>
            <a:off x="896112" y="5852160"/>
            <a:ext cx="4983480" cy="292608"/>
          </a:xfrm>
          <a:prstGeom prst="rect">
            <a:avLst/>
          </a:prstGeom>
          <a:noFill/>
          <a:ln/>
        </p:spPr>
        <p:txBody>
          <a:bodyPr wrap="square" lIns="0" tIns="0" rIns="0" bIns="0" rtlCol="0" anchor="ctr"/>
          <a:lstStyle/>
          <a:p>
            <a:pPr indent="0" marL="0">
              <a:buNone/>
            </a:pPr>
            <a:r>
              <a:rPr lang="en-US" sz="1400" dirty="0">
                <a:solidFill>
                  <a:schemeClr val="tx1"/>
                </a:solidFill>
              </a:rPr>
              <a:t>Leerabfrage nötig? Nein: kein Zugriff auf r[0], Schleife läuft 0-mal</a:t>
            </a:r>
            <a:endParaRPr lang="en-US" sz="1400" dirty="0"/>
          </a:p>
        </p:txBody>
      </p:sp>
      <p:sp>
        <p:nvSpPr>
          <p:cNvPr id="20" name="Icon-Kreis"/>
          <p:cNvSpPr/>
          <p:nvPr/>
        </p:nvSpPr>
        <p:spPr>
          <a:xfrm>
            <a:off x="6309360" y="5257800"/>
            <a:ext cx="237744" cy="237744"/>
          </a:xfrm>
          <a:prstGeom prst="ellipse">
            <a:avLst/>
          </a:prstGeom>
          <a:solidFill>
            <a:schemeClr val="accent3"/>
          </a:solidFill>
          <a:ln/>
        </p:spPr>
      </p:sp>
      <p:pic>
        <p:nvPicPr>
          <p:cNvPr id="21" name="Icon GiCheckMark" descr="preencoded.png">    </p:cNvPr>
          <p:cNvPicPr>
            <a:picLocks noChangeAspect="1"/>
          </p:cNvPicPr>
          <p:nvPr/>
        </p:nvPicPr>
        <p:blipFill>
          <a:blip r:embed="rId5"/>
          <a:stretch>
            <a:fillRect/>
          </a:stretch>
        </p:blipFill>
        <p:spPr>
          <a:xfrm>
            <a:off x="6352154" y="5300594"/>
            <a:ext cx="152156" cy="152156"/>
          </a:xfrm>
          <a:prstGeom prst="rect">
            <a:avLst/>
          </a:prstGeom>
        </p:spPr>
      </p:pic>
      <p:sp>
        <p:nvSpPr>
          <p:cNvPr id="22" name="Text 15"/>
          <p:cNvSpPr txBox="1"/>
          <p:nvPr/>
        </p:nvSpPr>
        <p:spPr>
          <a:xfrm>
            <a:off x="6656832" y="5230368"/>
            <a:ext cx="4983480" cy="292608"/>
          </a:xfrm>
          <a:prstGeom prst="rect">
            <a:avLst/>
          </a:prstGeom>
          <a:noFill/>
          <a:ln/>
        </p:spPr>
        <p:txBody>
          <a:bodyPr wrap="square" lIns="0" tIns="0" rIns="0" bIns="0" rtlCol="0" anchor="ctr"/>
          <a:lstStyle/>
          <a:p>
            <a:pPr indent="0" marL="0">
              <a:buNone/>
            </a:pPr>
            <a:r>
              <a:rPr lang="en-US" sz="1400" dirty="0">
                <a:solidFill>
                  <a:schemeClr val="tx1"/>
                </a:solidFill>
              </a:rPr>
              <a:t>Grenzen: i von 0 bis r.length − 1</a:t>
            </a:r>
            <a:endParaRPr lang="en-US" sz="1400" dirty="0"/>
          </a:p>
        </p:txBody>
      </p:sp>
      <p:sp>
        <p:nvSpPr>
          <p:cNvPr id="23" name="Icon-Kreis"/>
          <p:cNvSpPr/>
          <p:nvPr/>
        </p:nvSpPr>
        <p:spPr>
          <a:xfrm>
            <a:off x="6309360" y="5568696"/>
            <a:ext cx="237744" cy="237744"/>
          </a:xfrm>
          <a:prstGeom prst="ellipse">
            <a:avLst/>
          </a:prstGeom>
          <a:solidFill>
            <a:schemeClr val="accent3"/>
          </a:solidFill>
          <a:ln/>
        </p:spPr>
      </p:sp>
      <p:pic>
        <p:nvPicPr>
          <p:cNvPr id="24" name="Icon GiCheckMark" descr="preencoded.png">    </p:cNvPr>
          <p:cNvPicPr>
            <a:picLocks noChangeAspect="1"/>
          </p:cNvPicPr>
          <p:nvPr/>
        </p:nvPicPr>
        <p:blipFill>
          <a:blip r:embed="rId6"/>
          <a:stretch>
            <a:fillRect/>
          </a:stretch>
        </p:blipFill>
        <p:spPr>
          <a:xfrm>
            <a:off x="6352154" y="5611490"/>
            <a:ext cx="152156" cy="152156"/>
          </a:xfrm>
          <a:prstGeom prst="rect">
            <a:avLst/>
          </a:prstGeom>
        </p:spPr>
      </p:pic>
      <p:sp>
        <p:nvSpPr>
          <p:cNvPr id="25" name="Text 17"/>
          <p:cNvSpPr txBox="1"/>
          <p:nvPr/>
        </p:nvSpPr>
        <p:spPr>
          <a:xfrm>
            <a:off x="6656832" y="5541264"/>
            <a:ext cx="4983480" cy="292608"/>
          </a:xfrm>
          <a:prstGeom prst="rect">
            <a:avLst/>
          </a:prstGeom>
          <a:noFill/>
          <a:ln/>
        </p:spPr>
        <p:txBody>
          <a:bodyPr wrap="square" lIns="0" tIns="0" rIns="0" bIns="0" rtlCol="0" anchor="ctr"/>
          <a:lstStyle/>
          <a:p>
            <a:pPr indent="0" marL="0">
              <a:buNone/>
            </a:pPr>
            <a:r>
              <a:rPr lang="en-US" sz="1400" dirty="0">
                <a:solidFill>
                  <a:schemeClr val="tx1"/>
                </a:solidFill>
              </a:rPr>
              <a:t>kein return in der Schleife – sonst wäre es das erste Vorkommen</a:t>
            </a:r>
            <a:endParaRPr lang="en-US" sz="1400" dirty="0"/>
          </a:p>
        </p:txBody>
      </p:sp>
      <p:sp>
        <p:nvSpPr>
          <p:cNvPr id="26" name="Icon-Kreis"/>
          <p:cNvSpPr/>
          <p:nvPr/>
        </p:nvSpPr>
        <p:spPr>
          <a:xfrm>
            <a:off x="6309360" y="5879592"/>
            <a:ext cx="237744" cy="237744"/>
          </a:xfrm>
          <a:prstGeom prst="ellipse">
            <a:avLst/>
          </a:prstGeom>
          <a:solidFill>
            <a:schemeClr val="accent3"/>
          </a:solidFill>
          <a:ln/>
        </p:spPr>
      </p:sp>
      <p:pic>
        <p:nvPicPr>
          <p:cNvPr id="27" name="Icon GiCheckMark" descr="preencoded.png">    </p:cNvPr>
          <p:cNvPicPr>
            <a:picLocks noChangeAspect="1"/>
          </p:cNvPicPr>
          <p:nvPr/>
        </p:nvPicPr>
        <p:blipFill>
          <a:blip r:embed="rId7"/>
          <a:stretch>
            <a:fillRect/>
          </a:stretch>
        </p:blipFill>
        <p:spPr>
          <a:xfrm>
            <a:off x="6352154" y="5922386"/>
            <a:ext cx="152156" cy="152156"/>
          </a:xfrm>
          <a:prstGeom prst="rect">
            <a:avLst/>
          </a:prstGeom>
        </p:spPr>
      </p:pic>
      <p:sp>
        <p:nvSpPr>
          <p:cNvPr id="28" name="Text 19"/>
          <p:cNvSpPr txBox="1"/>
          <p:nvPr/>
        </p:nvSpPr>
        <p:spPr>
          <a:xfrm>
            <a:off x="6656832" y="5852160"/>
            <a:ext cx="4983480" cy="292608"/>
          </a:xfrm>
          <a:prstGeom prst="rect">
            <a:avLst/>
          </a:prstGeom>
          <a:noFill/>
          <a:ln/>
        </p:spPr>
        <p:txBody>
          <a:bodyPr wrap="square" lIns="0" tIns="0" rIns="0" bIns="0" rtlCol="0" anchor="ctr"/>
          <a:lstStyle/>
          <a:p>
            <a:pPr indent="0" marL="0">
              <a:buNone/>
            </a:pPr>
            <a:r>
              <a:rPr lang="en-US" sz="1400" dirty="0">
                <a:solidFill>
                  <a:schemeClr val="tx1"/>
                </a:solidFill>
              </a:rPr>
              <a:t>r wird nicht verändert</a:t>
            </a:r>
            <a:endParaRPr lang="en-US" sz="1400" dirty="0"/>
          </a:p>
        </p:txBody>
      </p:sp>
      <p:sp>
        <p:nvSpPr>
          <p:cNvPr id="29" name="Text 20"/>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6 · Methoden-Werkstatt</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Fehlergalerie: die Top 6 der Akademie</a:t>
            </a:r>
            <a:endParaRPr lang="en-US" sz="3600" dirty="0"/>
          </a:p>
        </p:txBody>
      </p:sp>
      <p:sp>
        <p:nvSpPr>
          <p:cNvPr id="3" name="Fehler 1"/>
          <p:cNvSpPr/>
          <p:nvPr/>
        </p:nvSpPr>
        <p:spPr>
          <a:xfrm>
            <a:off x="548640" y="1298448"/>
            <a:ext cx="3566160" cy="2331720"/>
          </a:xfrm>
          <a:prstGeom prst="roundRect">
            <a:avLst>
              <a:gd name="adj" fmla="val 4706"/>
            </a:avLst>
          </a:prstGeom>
          <a:solidFill>
            <a:schemeClr val="bg1"/>
          </a:solidFill>
          <a:ln w="19050">
            <a:solidFill>
              <a:schemeClr val="accent4"/>
            </a:solidFill>
            <a:prstDash val="solid"/>
          </a:ln>
        </p:spPr>
      </p:sp>
      <p:sp>
        <p:nvSpPr>
          <p:cNvPr id="4" name="Text 2"/>
          <p:cNvSpPr txBox="1"/>
          <p:nvPr/>
        </p:nvSpPr>
        <p:spPr>
          <a:xfrm>
            <a:off x="685800" y="1371600"/>
            <a:ext cx="3291840" cy="347472"/>
          </a:xfrm>
          <a:prstGeom prst="rect">
            <a:avLst/>
          </a:prstGeom>
          <a:noFill/>
          <a:ln/>
        </p:spPr>
        <p:txBody>
          <a:bodyPr wrap="square" lIns="0" tIns="0" rIns="0" bIns="0" rtlCol="0" anchor="ctr"/>
          <a:lstStyle/>
          <a:p>
            <a:pPr indent="0" marL="0">
              <a:buNone/>
            </a:pPr>
            <a:r>
              <a:rPr lang="en-US" sz="1700" b="1" dirty="0">
                <a:solidFill>
                  <a:schemeClr val="accent2"/>
                </a:solidFill>
              </a:rPr>
              <a:t>1  </a:t>
            </a:r>
            <a:pPr indent="0" marL="0">
              <a:buNone/>
            </a:pPr>
            <a:r>
              <a:rPr lang="en-US" sz="1700" b="1" dirty="0">
                <a:solidFill>
                  <a:schemeClr val="accent4"/>
                </a:solidFill>
              </a:rPr>
              <a:t>Fehlender Rückgabepfad</a:t>
            </a:r>
            <a:endParaRPr lang="en-US" sz="1700" dirty="0"/>
          </a:p>
        </p:txBody>
      </p:sp>
      <p:sp>
        <p:nvSpPr>
          <p:cNvPr id="5" name="Text 3"/>
          <p:cNvSpPr txBox="1"/>
          <p:nvPr/>
        </p:nvSpPr>
        <p:spPr>
          <a:xfrm>
            <a:off x="685800" y="1755648"/>
            <a:ext cx="3291840" cy="777240"/>
          </a:xfrm>
          <a:prstGeom prst="rect">
            <a:avLst/>
          </a:prstGeom>
          <a:solidFill>
            <a:srgbClr val="FBE5E5"/>
          </a:solidFill>
          <a:ln w="9525">
            <a:solidFill>
              <a:srgbClr val="E8B0B0"/>
            </a:solidFill>
          </a:ln>
        </p:spPr>
        <p:txBody>
          <a:bodyPr wrap="square" lIns="101600" tIns="25400" rIns="50800" bIns="25400" rtlCol="0" anchor="ctr"/>
          <a:lstStyle/>
          <a:p>
            <a:pPr indent="0" marL="0">
              <a:buNone/>
            </a:pPr>
            <a:r>
              <a:rPr lang="en-US" sz="1300" dirty="0">
                <a:solidFill>
                  <a:schemeClr val="tx1"/>
                </a:solidFill>
                <a:latin typeface="Consolas" pitchFamily="34" charset="0"/>
                <a:ea typeface="Consolas" pitchFamily="34" charset="-122"/>
                <a:cs typeface="Consolas" pitchFamily="34" charset="-120"/>
              </a:rPr>
              <a:t>if (n &gt; 0) {</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return 1;</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 und dann?</a:t>
            </a:r>
            <a:endParaRPr lang="en-US" sz="1300" dirty="0"/>
          </a:p>
        </p:txBody>
      </p:sp>
      <p:sp>
        <p:nvSpPr>
          <p:cNvPr id="6" name="Text 4"/>
          <p:cNvSpPr txBox="1"/>
          <p:nvPr/>
        </p:nvSpPr>
        <p:spPr>
          <a:xfrm>
            <a:off x="685800" y="2596896"/>
            <a:ext cx="3291840" cy="411480"/>
          </a:xfrm>
          <a:prstGeom prst="rect">
            <a:avLst/>
          </a:prstGeom>
          <a:noFill/>
          <a:ln/>
        </p:spPr>
        <p:txBody>
          <a:bodyPr wrap="square" lIns="0" tIns="0" rIns="0" bIns="0" rtlCol="0" anchor="ctr"/>
          <a:lstStyle/>
          <a:p>
            <a:pPr indent="0" marL="0">
              <a:buNone/>
            </a:pPr>
            <a:r>
              <a:rPr lang="en-US" sz="1400" b="1" dirty="0">
                <a:solidFill>
                  <a:schemeClr val="tx1"/>
                </a:solidFill>
              </a:rPr>
              <a:t>Folge: </a:t>
            </a:r>
            <a:pPr indent="0" marL="0">
              <a:buNone/>
            </a:pPr>
            <a:r>
              <a:rPr lang="en-US" sz="1400" dirty="0">
                <a:solidFill>
                  <a:schemeClr val="tx1"/>
                </a:solidFill>
              </a:rPr>
              <a:t>Compiler: missing return statement</a:t>
            </a:r>
            <a:endParaRPr lang="en-US" sz="1400" dirty="0"/>
          </a:p>
        </p:txBody>
      </p:sp>
      <p:sp>
        <p:nvSpPr>
          <p:cNvPr id="7" name="Text 5"/>
          <p:cNvSpPr txBox="1"/>
          <p:nvPr/>
        </p:nvSpPr>
        <p:spPr>
          <a:xfrm>
            <a:off x="685800" y="3054096"/>
            <a:ext cx="3291840" cy="457200"/>
          </a:xfrm>
          <a:prstGeom prst="rect">
            <a:avLst/>
          </a:prstGeom>
          <a:noFill/>
          <a:ln/>
        </p:spPr>
        <p:txBody>
          <a:bodyPr wrap="square" lIns="0" tIns="0" rIns="0" bIns="0" rtlCol="0" anchor="ctr"/>
          <a:lstStyle/>
          <a:p>
            <a:pPr indent="0" marL="0">
              <a:buNone/>
            </a:pPr>
            <a:r>
              <a:rPr lang="en-US" sz="1400" b="1" dirty="0">
                <a:solidFill>
                  <a:schemeClr val="accent3"/>
                </a:solidFill>
              </a:rPr>
              <a:t>Fix: </a:t>
            </a:r>
            <a:pPr indent="0" marL="0">
              <a:buNone/>
            </a:pPr>
            <a:r>
              <a:rPr lang="en-US" sz="1300" b="1" dirty="0">
                <a:solidFill>
                  <a:schemeClr val="tx1"/>
                </a:solidFill>
                <a:latin typeface="Consolas" pitchFamily="34" charset="0"/>
                <a:ea typeface="Consolas" pitchFamily="34" charset="-122"/>
                <a:cs typeface="Consolas" pitchFamily="34" charset="-120"/>
              </a:rPr>
              <a:t>else-Zweig oder return am Ende</a:t>
            </a:r>
            <a:endParaRPr lang="en-US" sz="1400" dirty="0"/>
          </a:p>
        </p:txBody>
      </p:sp>
      <p:sp>
        <p:nvSpPr>
          <p:cNvPr id="8" name="Fehler 2"/>
          <p:cNvSpPr/>
          <p:nvPr/>
        </p:nvSpPr>
        <p:spPr>
          <a:xfrm>
            <a:off x="4297680" y="1298448"/>
            <a:ext cx="3566160" cy="2331720"/>
          </a:xfrm>
          <a:prstGeom prst="roundRect">
            <a:avLst>
              <a:gd name="adj" fmla="val 4706"/>
            </a:avLst>
          </a:prstGeom>
          <a:solidFill>
            <a:schemeClr val="bg1"/>
          </a:solidFill>
          <a:ln w="19050">
            <a:solidFill>
              <a:schemeClr val="accent4"/>
            </a:solidFill>
            <a:prstDash val="solid"/>
          </a:ln>
        </p:spPr>
      </p:sp>
      <p:sp>
        <p:nvSpPr>
          <p:cNvPr id="9" name="Text 7"/>
          <p:cNvSpPr txBox="1"/>
          <p:nvPr/>
        </p:nvSpPr>
        <p:spPr>
          <a:xfrm>
            <a:off x="4434840" y="1371600"/>
            <a:ext cx="3291840" cy="347472"/>
          </a:xfrm>
          <a:prstGeom prst="rect">
            <a:avLst/>
          </a:prstGeom>
          <a:noFill/>
          <a:ln/>
        </p:spPr>
        <p:txBody>
          <a:bodyPr wrap="square" lIns="0" tIns="0" rIns="0" bIns="0" rtlCol="0" anchor="ctr"/>
          <a:lstStyle/>
          <a:p>
            <a:pPr indent="0" marL="0">
              <a:buNone/>
            </a:pPr>
            <a:r>
              <a:rPr lang="en-US" sz="1700" b="1" dirty="0">
                <a:solidFill>
                  <a:schemeClr val="accent2"/>
                </a:solidFill>
              </a:rPr>
              <a:t>2  </a:t>
            </a:r>
            <a:pPr indent="0" marL="0">
              <a:buNone/>
            </a:pPr>
            <a:r>
              <a:rPr lang="en-US" sz="1700" b="1" dirty="0">
                <a:solidFill>
                  <a:schemeClr val="accent4"/>
                </a:solidFill>
              </a:rPr>
              <a:t>Off-by-one</a:t>
            </a:r>
            <a:endParaRPr lang="en-US" sz="1700" dirty="0"/>
          </a:p>
        </p:txBody>
      </p:sp>
      <p:sp>
        <p:nvSpPr>
          <p:cNvPr id="10" name="Text 8"/>
          <p:cNvSpPr txBox="1"/>
          <p:nvPr/>
        </p:nvSpPr>
        <p:spPr>
          <a:xfrm>
            <a:off x="4434840" y="1755648"/>
            <a:ext cx="3291840" cy="777240"/>
          </a:xfrm>
          <a:prstGeom prst="rect">
            <a:avLst/>
          </a:prstGeom>
          <a:solidFill>
            <a:srgbClr val="FBE5E5"/>
          </a:solidFill>
          <a:ln w="9525">
            <a:solidFill>
              <a:srgbClr val="E8B0B0"/>
            </a:solidFill>
          </a:ln>
        </p:spPr>
        <p:txBody>
          <a:bodyPr wrap="square" lIns="101600" tIns="25400" rIns="50800" bIns="25400" rtlCol="0" anchor="ctr"/>
          <a:lstStyle/>
          <a:p>
            <a:pPr indent="0" marL="0">
              <a:buNone/>
            </a:pPr>
            <a:r>
              <a:rPr lang="en-US" sz="1300" dirty="0">
                <a:solidFill>
                  <a:schemeClr val="tx1"/>
                </a:solidFill>
                <a:latin typeface="Consolas" pitchFamily="34" charset="0"/>
                <a:ea typeface="Consolas" pitchFamily="34" charset="-122"/>
                <a:cs typeface="Consolas" pitchFamily="34" charset="-120"/>
              </a:rPr>
              <a:t>for (int i = 0;</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i &lt;= r.length; i++)</a:t>
            </a:r>
            <a:endParaRPr lang="en-US" sz="1300" dirty="0"/>
          </a:p>
        </p:txBody>
      </p:sp>
      <p:sp>
        <p:nvSpPr>
          <p:cNvPr id="11" name="Text 9"/>
          <p:cNvSpPr txBox="1"/>
          <p:nvPr/>
        </p:nvSpPr>
        <p:spPr>
          <a:xfrm>
            <a:off x="4434840" y="2596896"/>
            <a:ext cx="3291840" cy="411480"/>
          </a:xfrm>
          <a:prstGeom prst="rect">
            <a:avLst/>
          </a:prstGeom>
          <a:noFill/>
          <a:ln/>
        </p:spPr>
        <p:txBody>
          <a:bodyPr wrap="square" lIns="0" tIns="0" rIns="0" bIns="0" rtlCol="0" anchor="ctr"/>
          <a:lstStyle/>
          <a:p>
            <a:pPr indent="0" marL="0">
              <a:buNone/>
            </a:pPr>
            <a:r>
              <a:rPr lang="en-US" sz="1400" b="1" dirty="0">
                <a:solidFill>
                  <a:schemeClr val="tx1"/>
                </a:solidFill>
              </a:rPr>
              <a:t>Folge: </a:t>
            </a:r>
            <a:pPr indent="0" marL="0">
              <a:buNone/>
            </a:pPr>
            <a:r>
              <a:rPr lang="en-US" sz="1400" dirty="0">
                <a:solidFill>
                  <a:schemeClr val="tx1"/>
                </a:solidFill>
              </a:rPr>
              <a:t>Absturz beim Index r.length</a:t>
            </a:r>
            <a:endParaRPr lang="en-US" sz="1400" dirty="0"/>
          </a:p>
        </p:txBody>
      </p:sp>
      <p:sp>
        <p:nvSpPr>
          <p:cNvPr id="12" name="Text 10"/>
          <p:cNvSpPr txBox="1"/>
          <p:nvPr/>
        </p:nvSpPr>
        <p:spPr>
          <a:xfrm>
            <a:off x="4434840" y="3054096"/>
            <a:ext cx="3291840" cy="457200"/>
          </a:xfrm>
          <a:prstGeom prst="rect">
            <a:avLst/>
          </a:prstGeom>
          <a:noFill/>
          <a:ln/>
        </p:spPr>
        <p:txBody>
          <a:bodyPr wrap="square" lIns="0" tIns="0" rIns="0" bIns="0" rtlCol="0" anchor="ctr"/>
          <a:lstStyle/>
          <a:p>
            <a:pPr indent="0" marL="0">
              <a:buNone/>
            </a:pPr>
            <a:r>
              <a:rPr lang="en-US" sz="1400" b="1" dirty="0">
                <a:solidFill>
                  <a:schemeClr val="accent3"/>
                </a:solidFill>
              </a:rPr>
              <a:t>Fix: </a:t>
            </a:r>
            <a:pPr indent="0" marL="0">
              <a:buNone/>
            </a:pPr>
            <a:r>
              <a:rPr lang="en-US" sz="1300" b="1" dirty="0">
                <a:solidFill>
                  <a:schemeClr val="tx1"/>
                </a:solidFill>
                <a:latin typeface="Consolas" pitchFamily="34" charset="0"/>
                <a:ea typeface="Consolas" pitchFamily="34" charset="-122"/>
                <a:cs typeface="Consolas" pitchFamily="34" charset="-120"/>
              </a:rPr>
              <a:t>i &lt; r.length</a:t>
            </a:r>
            <a:endParaRPr lang="en-US" sz="1400" dirty="0"/>
          </a:p>
        </p:txBody>
      </p:sp>
      <p:sp>
        <p:nvSpPr>
          <p:cNvPr id="13" name="Fehler 3"/>
          <p:cNvSpPr/>
          <p:nvPr/>
        </p:nvSpPr>
        <p:spPr>
          <a:xfrm>
            <a:off x="8046720" y="1298448"/>
            <a:ext cx="3566160" cy="2331720"/>
          </a:xfrm>
          <a:prstGeom prst="roundRect">
            <a:avLst>
              <a:gd name="adj" fmla="val 4706"/>
            </a:avLst>
          </a:prstGeom>
          <a:solidFill>
            <a:schemeClr val="bg1"/>
          </a:solidFill>
          <a:ln w="19050">
            <a:solidFill>
              <a:schemeClr val="accent4"/>
            </a:solidFill>
            <a:prstDash val="solid"/>
          </a:ln>
        </p:spPr>
      </p:sp>
      <p:sp>
        <p:nvSpPr>
          <p:cNvPr id="14" name="Text 12"/>
          <p:cNvSpPr txBox="1"/>
          <p:nvPr/>
        </p:nvSpPr>
        <p:spPr>
          <a:xfrm>
            <a:off x="8183880" y="1371600"/>
            <a:ext cx="3291840" cy="347472"/>
          </a:xfrm>
          <a:prstGeom prst="rect">
            <a:avLst/>
          </a:prstGeom>
          <a:noFill/>
          <a:ln/>
        </p:spPr>
        <p:txBody>
          <a:bodyPr wrap="square" lIns="0" tIns="0" rIns="0" bIns="0" rtlCol="0" anchor="ctr"/>
          <a:lstStyle/>
          <a:p>
            <a:pPr indent="0" marL="0">
              <a:buNone/>
            </a:pPr>
            <a:r>
              <a:rPr lang="en-US" sz="1700" b="1" dirty="0">
                <a:solidFill>
                  <a:schemeClr val="accent2"/>
                </a:solidFill>
              </a:rPr>
              <a:t>3  </a:t>
            </a:r>
            <a:pPr indent="0" marL="0">
              <a:buNone/>
            </a:pPr>
            <a:r>
              <a:rPr lang="en-US" sz="1700" b="1" dirty="0">
                <a:solidFill>
                  <a:schemeClr val="accent4"/>
                </a:solidFill>
              </a:rPr>
              <a:t>= statt ==</a:t>
            </a:r>
            <a:endParaRPr lang="en-US" sz="1700" dirty="0"/>
          </a:p>
        </p:txBody>
      </p:sp>
      <p:sp>
        <p:nvSpPr>
          <p:cNvPr id="15" name="Text 13"/>
          <p:cNvSpPr txBox="1"/>
          <p:nvPr/>
        </p:nvSpPr>
        <p:spPr>
          <a:xfrm>
            <a:off x="8183880" y="1755648"/>
            <a:ext cx="3291840" cy="777240"/>
          </a:xfrm>
          <a:prstGeom prst="rect">
            <a:avLst/>
          </a:prstGeom>
          <a:solidFill>
            <a:srgbClr val="FBE5E5"/>
          </a:solidFill>
          <a:ln w="9525">
            <a:solidFill>
              <a:srgbClr val="E8B0B0"/>
            </a:solidFill>
          </a:ln>
        </p:spPr>
        <p:txBody>
          <a:bodyPr wrap="square" lIns="101600" tIns="25400" rIns="50800" bIns="25400" rtlCol="0" anchor="ctr"/>
          <a:lstStyle/>
          <a:p>
            <a:pPr indent="0" marL="0">
              <a:buNone/>
            </a:pPr>
            <a:r>
              <a:rPr lang="en-US" sz="1300" dirty="0">
                <a:solidFill>
                  <a:schemeClr val="tx1"/>
                </a:solidFill>
                <a:latin typeface="Consolas" pitchFamily="34" charset="0"/>
                <a:ea typeface="Consolas" pitchFamily="34" charset="-122"/>
                <a:cs typeface="Consolas" pitchFamily="34" charset="-120"/>
              </a:rPr>
              <a:t>if (gefunden = true) {</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a:t>
            </a:r>
            <a:endParaRPr lang="en-US" sz="1300" dirty="0"/>
          </a:p>
        </p:txBody>
      </p:sp>
      <p:sp>
        <p:nvSpPr>
          <p:cNvPr id="16" name="Text 14"/>
          <p:cNvSpPr txBox="1"/>
          <p:nvPr/>
        </p:nvSpPr>
        <p:spPr>
          <a:xfrm>
            <a:off x="8183880" y="2596896"/>
            <a:ext cx="3291840" cy="411480"/>
          </a:xfrm>
          <a:prstGeom prst="rect">
            <a:avLst/>
          </a:prstGeom>
          <a:noFill/>
          <a:ln/>
        </p:spPr>
        <p:txBody>
          <a:bodyPr wrap="square" lIns="0" tIns="0" rIns="0" bIns="0" rtlCol="0" anchor="ctr"/>
          <a:lstStyle/>
          <a:p>
            <a:pPr indent="0" marL="0">
              <a:buNone/>
            </a:pPr>
            <a:r>
              <a:rPr lang="en-US" sz="1400" b="1" dirty="0">
                <a:solidFill>
                  <a:schemeClr val="tx1"/>
                </a:solidFill>
              </a:rPr>
              <a:t>Folge: </a:t>
            </a:r>
            <a:pPr indent="0" marL="0">
              <a:buNone/>
            </a:pPr>
            <a:r>
              <a:rPr lang="en-US" sz="1400" dirty="0">
                <a:solidFill>
                  <a:schemeClr val="tx1"/>
                </a:solidFill>
              </a:rPr>
              <a:t>Zuweisung: immer wahr</a:t>
            </a:r>
            <a:endParaRPr lang="en-US" sz="1400" dirty="0"/>
          </a:p>
        </p:txBody>
      </p:sp>
      <p:sp>
        <p:nvSpPr>
          <p:cNvPr id="17" name="Text 15"/>
          <p:cNvSpPr txBox="1"/>
          <p:nvPr/>
        </p:nvSpPr>
        <p:spPr>
          <a:xfrm>
            <a:off x="8183880" y="3054096"/>
            <a:ext cx="3291840" cy="457200"/>
          </a:xfrm>
          <a:prstGeom prst="rect">
            <a:avLst/>
          </a:prstGeom>
          <a:noFill/>
          <a:ln/>
        </p:spPr>
        <p:txBody>
          <a:bodyPr wrap="square" lIns="0" tIns="0" rIns="0" bIns="0" rtlCol="0" anchor="ctr"/>
          <a:lstStyle/>
          <a:p>
            <a:pPr indent="0" marL="0">
              <a:buNone/>
            </a:pPr>
            <a:r>
              <a:rPr lang="en-US" sz="1400" b="1" dirty="0">
                <a:solidFill>
                  <a:schemeClr val="accent3"/>
                </a:solidFill>
              </a:rPr>
              <a:t>Fix: </a:t>
            </a:r>
            <a:pPr indent="0" marL="0">
              <a:buNone/>
            </a:pPr>
            <a:r>
              <a:rPr lang="en-US" sz="1300" b="1" dirty="0">
                <a:solidFill>
                  <a:schemeClr val="tx1"/>
                </a:solidFill>
                <a:latin typeface="Consolas" pitchFamily="34" charset="0"/>
                <a:ea typeface="Consolas" pitchFamily="34" charset="-122"/>
                <a:cs typeface="Consolas" pitchFamily="34" charset="-120"/>
              </a:rPr>
              <a:t>if (gefunden)  bzw.  ==</a:t>
            </a:r>
            <a:endParaRPr lang="en-US" sz="1400" dirty="0"/>
          </a:p>
        </p:txBody>
      </p:sp>
      <p:sp>
        <p:nvSpPr>
          <p:cNvPr id="18" name="Fehler 4"/>
          <p:cNvSpPr/>
          <p:nvPr/>
        </p:nvSpPr>
        <p:spPr>
          <a:xfrm>
            <a:off x="548640" y="3767328"/>
            <a:ext cx="3566160" cy="2331720"/>
          </a:xfrm>
          <a:prstGeom prst="roundRect">
            <a:avLst>
              <a:gd name="adj" fmla="val 4706"/>
            </a:avLst>
          </a:prstGeom>
          <a:solidFill>
            <a:schemeClr val="bg1"/>
          </a:solidFill>
          <a:ln w="19050">
            <a:solidFill>
              <a:schemeClr val="accent4"/>
            </a:solidFill>
            <a:prstDash val="solid"/>
          </a:ln>
        </p:spPr>
      </p:sp>
      <p:sp>
        <p:nvSpPr>
          <p:cNvPr id="19" name="Text 17"/>
          <p:cNvSpPr txBox="1"/>
          <p:nvPr/>
        </p:nvSpPr>
        <p:spPr>
          <a:xfrm>
            <a:off x="685800" y="3840480"/>
            <a:ext cx="3291840" cy="347472"/>
          </a:xfrm>
          <a:prstGeom prst="rect">
            <a:avLst/>
          </a:prstGeom>
          <a:noFill/>
          <a:ln/>
        </p:spPr>
        <p:txBody>
          <a:bodyPr wrap="square" lIns="0" tIns="0" rIns="0" bIns="0" rtlCol="0" anchor="ctr"/>
          <a:lstStyle/>
          <a:p>
            <a:pPr indent="0" marL="0">
              <a:buNone/>
            </a:pPr>
            <a:r>
              <a:rPr lang="en-US" sz="1700" b="1" dirty="0">
                <a:solidFill>
                  <a:schemeClr val="accent2"/>
                </a:solidFill>
              </a:rPr>
              <a:t>4  </a:t>
            </a:r>
            <a:pPr indent="0" marL="0">
              <a:buNone/>
            </a:pPr>
            <a:r>
              <a:rPr lang="en-US" sz="1700" b="1" dirty="0">
                <a:solidFill>
                  <a:schemeClr val="accent4"/>
                </a:solidFill>
              </a:rPr>
              <a:t>Ganzzahlige Division</a:t>
            </a:r>
            <a:endParaRPr lang="en-US" sz="1700" dirty="0"/>
          </a:p>
        </p:txBody>
      </p:sp>
      <p:sp>
        <p:nvSpPr>
          <p:cNvPr id="20" name="Text 18"/>
          <p:cNvSpPr txBox="1"/>
          <p:nvPr/>
        </p:nvSpPr>
        <p:spPr>
          <a:xfrm>
            <a:off x="685800" y="4224528"/>
            <a:ext cx="3291840" cy="777240"/>
          </a:xfrm>
          <a:prstGeom prst="rect">
            <a:avLst/>
          </a:prstGeom>
          <a:solidFill>
            <a:srgbClr val="FBE5E5"/>
          </a:solidFill>
          <a:ln w="9525">
            <a:solidFill>
              <a:srgbClr val="E8B0B0"/>
            </a:solidFill>
          </a:ln>
        </p:spPr>
        <p:txBody>
          <a:bodyPr wrap="square" lIns="101600" tIns="25400" rIns="50800" bIns="25400" rtlCol="0" anchor="ctr"/>
          <a:lstStyle/>
          <a:p>
            <a:pPr indent="0" marL="0">
              <a:buNone/>
            </a:pPr>
            <a:r>
              <a:rPr lang="en-US" sz="1300" dirty="0">
                <a:solidFill>
                  <a:schemeClr val="tx1"/>
                </a:solidFill>
                <a:latin typeface="Consolas" pitchFamily="34" charset="0"/>
                <a:ea typeface="Consolas" pitchFamily="34" charset="-122"/>
                <a:cs typeface="Consolas" pitchFamily="34" charset="-120"/>
              </a:rPr>
              <a:t>double d = summe / r.length;</a:t>
            </a:r>
            <a:endParaRPr lang="en-US" sz="1300" dirty="0"/>
          </a:p>
        </p:txBody>
      </p:sp>
      <p:sp>
        <p:nvSpPr>
          <p:cNvPr id="21" name="Text 19"/>
          <p:cNvSpPr txBox="1"/>
          <p:nvPr/>
        </p:nvSpPr>
        <p:spPr>
          <a:xfrm>
            <a:off x="685800" y="5065776"/>
            <a:ext cx="3291840" cy="411480"/>
          </a:xfrm>
          <a:prstGeom prst="rect">
            <a:avLst/>
          </a:prstGeom>
          <a:noFill/>
          <a:ln/>
        </p:spPr>
        <p:txBody>
          <a:bodyPr wrap="square" lIns="0" tIns="0" rIns="0" bIns="0" rtlCol="0" anchor="ctr"/>
          <a:lstStyle/>
          <a:p>
            <a:pPr indent="0" marL="0">
              <a:buNone/>
            </a:pPr>
            <a:r>
              <a:rPr lang="en-US" sz="1400" b="1" dirty="0">
                <a:solidFill>
                  <a:schemeClr val="tx1"/>
                </a:solidFill>
              </a:rPr>
              <a:t>Folge: </a:t>
            </a:r>
            <a:pPr indent="0" marL="0">
              <a:buNone/>
            </a:pPr>
            <a:r>
              <a:rPr lang="en-US" sz="1400" dirty="0">
                <a:solidFill>
                  <a:schemeClr val="tx1"/>
                </a:solidFill>
              </a:rPr>
              <a:t>7 / 3 ergibt 2.0 statt 2.33…</a:t>
            </a:r>
            <a:endParaRPr lang="en-US" sz="1400" dirty="0"/>
          </a:p>
        </p:txBody>
      </p:sp>
      <p:sp>
        <p:nvSpPr>
          <p:cNvPr id="22" name="Text 20"/>
          <p:cNvSpPr txBox="1"/>
          <p:nvPr/>
        </p:nvSpPr>
        <p:spPr>
          <a:xfrm>
            <a:off x="685800" y="5522976"/>
            <a:ext cx="3291840" cy="457200"/>
          </a:xfrm>
          <a:prstGeom prst="rect">
            <a:avLst/>
          </a:prstGeom>
          <a:noFill/>
          <a:ln/>
        </p:spPr>
        <p:txBody>
          <a:bodyPr wrap="square" lIns="0" tIns="0" rIns="0" bIns="0" rtlCol="0" anchor="ctr"/>
          <a:lstStyle/>
          <a:p>
            <a:pPr indent="0" marL="0">
              <a:buNone/>
            </a:pPr>
            <a:r>
              <a:rPr lang="en-US" sz="1400" b="1" dirty="0">
                <a:solidFill>
                  <a:schemeClr val="accent3"/>
                </a:solidFill>
              </a:rPr>
              <a:t>Fix: </a:t>
            </a:r>
            <a:pPr indent="0" marL="0">
              <a:buNone/>
            </a:pPr>
            <a:r>
              <a:rPr lang="en-US" sz="1300" b="1" dirty="0">
                <a:solidFill>
                  <a:schemeClr val="tx1"/>
                </a:solidFill>
                <a:latin typeface="Consolas" pitchFamily="34" charset="0"/>
                <a:ea typeface="Consolas" pitchFamily="34" charset="-122"/>
                <a:cs typeface="Consolas" pitchFamily="34" charset="-120"/>
              </a:rPr>
              <a:t>(double) summe / r.length</a:t>
            </a:r>
            <a:endParaRPr lang="en-US" sz="1400" dirty="0"/>
          </a:p>
        </p:txBody>
      </p:sp>
      <p:sp>
        <p:nvSpPr>
          <p:cNvPr id="23" name="Fehler 5"/>
          <p:cNvSpPr/>
          <p:nvPr/>
        </p:nvSpPr>
        <p:spPr>
          <a:xfrm>
            <a:off x="4297680" y="3767328"/>
            <a:ext cx="3566160" cy="2331720"/>
          </a:xfrm>
          <a:prstGeom prst="roundRect">
            <a:avLst>
              <a:gd name="adj" fmla="val 4706"/>
            </a:avLst>
          </a:prstGeom>
          <a:solidFill>
            <a:schemeClr val="bg1"/>
          </a:solidFill>
          <a:ln w="19050">
            <a:solidFill>
              <a:schemeClr val="accent4"/>
            </a:solidFill>
            <a:prstDash val="solid"/>
          </a:ln>
        </p:spPr>
      </p:sp>
      <p:sp>
        <p:nvSpPr>
          <p:cNvPr id="24" name="Text 22"/>
          <p:cNvSpPr txBox="1"/>
          <p:nvPr/>
        </p:nvSpPr>
        <p:spPr>
          <a:xfrm>
            <a:off x="4434840" y="3840480"/>
            <a:ext cx="3291840" cy="347472"/>
          </a:xfrm>
          <a:prstGeom prst="rect">
            <a:avLst/>
          </a:prstGeom>
          <a:noFill/>
          <a:ln/>
        </p:spPr>
        <p:txBody>
          <a:bodyPr wrap="square" lIns="0" tIns="0" rIns="0" bIns="0" rtlCol="0" anchor="ctr"/>
          <a:lstStyle/>
          <a:p>
            <a:pPr indent="0" marL="0">
              <a:buNone/>
            </a:pPr>
            <a:r>
              <a:rPr lang="en-US" sz="1700" b="1" dirty="0">
                <a:solidFill>
                  <a:schemeClr val="accent2"/>
                </a:solidFill>
              </a:rPr>
              <a:t>5  </a:t>
            </a:r>
            <a:pPr indent="0" marL="0">
              <a:buNone/>
            </a:pPr>
            <a:r>
              <a:rPr lang="en-US" sz="1700" b="1" dirty="0">
                <a:solidFill>
                  <a:schemeClr val="accent4"/>
                </a:solidFill>
              </a:rPr>
              <a:t>Rückgabe zu früh</a:t>
            </a:r>
            <a:endParaRPr lang="en-US" sz="1700" dirty="0"/>
          </a:p>
        </p:txBody>
      </p:sp>
      <p:sp>
        <p:nvSpPr>
          <p:cNvPr id="25" name="Text 23"/>
          <p:cNvSpPr txBox="1"/>
          <p:nvPr/>
        </p:nvSpPr>
        <p:spPr>
          <a:xfrm>
            <a:off x="4434840" y="4224528"/>
            <a:ext cx="3291840" cy="777240"/>
          </a:xfrm>
          <a:prstGeom prst="rect">
            <a:avLst/>
          </a:prstGeom>
          <a:solidFill>
            <a:srgbClr val="FBE5E5"/>
          </a:solidFill>
          <a:ln w="9525">
            <a:solidFill>
              <a:srgbClr val="E8B0B0"/>
            </a:solidFill>
          </a:ln>
        </p:spPr>
        <p:txBody>
          <a:bodyPr wrap="square" lIns="101600" tIns="25400" rIns="50800" bIns="25400" rtlCol="0" anchor="ctr"/>
          <a:lstStyle/>
          <a:p>
            <a:pPr indent="0" marL="0">
              <a:buNone/>
            </a:pPr>
            <a:r>
              <a:rPr lang="en-US" sz="1300" dirty="0">
                <a:solidFill>
                  <a:schemeClr val="tx1"/>
                </a:solidFill>
                <a:latin typeface="Consolas" pitchFamily="34" charset="0"/>
                <a:ea typeface="Consolas" pitchFamily="34" charset="-122"/>
                <a:cs typeface="Consolas" pitchFamily="34" charset="-120"/>
              </a:rPr>
              <a:t>if (r[i] == x) { return true; }</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else { return false; }</a:t>
            </a:r>
            <a:endParaRPr lang="en-US" sz="1300" dirty="0"/>
          </a:p>
        </p:txBody>
      </p:sp>
      <p:sp>
        <p:nvSpPr>
          <p:cNvPr id="26" name="Text 24"/>
          <p:cNvSpPr txBox="1"/>
          <p:nvPr/>
        </p:nvSpPr>
        <p:spPr>
          <a:xfrm>
            <a:off x="4434840" y="5065776"/>
            <a:ext cx="3291840" cy="411480"/>
          </a:xfrm>
          <a:prstGeom prst="rect">
            <a:avLst/>
          </a:prstGeom>
          <a:noFill/>
          <a:ln/>
        </p:spPr>
        <p:txBody>
          <a:bodyPr wrap="square" lIns="0" tIns="0" rIns="0" bIns="0" rtlCol="0" anchor="ctr"/>
          <a:lstStyle/>
          <a:p>
            <a:pPr indent="0" marL="0">
              <a:buNone/>
            </a:pPr>
            <a:r>
              <a:rPr lang="en-US" sz="1400" b="1" dirty="0">
                <a:solidFill>
                  <a:schemeClr val="tx1"/>
                </a:solidFill>
              </a:rPr>
              <a:t>Folge: </a:t>
            </a:r>
            <a:pPr indent="0" marL="0">
              <a:buNone/>
            </a:pPr>
            <a:r>
              <a:rPr lang="en-US" sz="1400" dirty="0">
                <a:solidFill>
                  <a:schemeClr val="tx1"/>
                </a:solidFill>
              </a:rPr>
              <a:t>nur r[0] wird geprüft</a:t>
            </a:r>
            <a:endParaRPr lang="en-US" sz="1400" dirty="0"/>
          </a:p>
        </p:txBody>
      </p:sp>
      <p:sp>
        <p:nvSpPr>
          <p:cNvPr id="27" name="Text 25"/>
          <p:cNvSpPr txBox="1"/>
          <p:nvPr/>
        </p:nvSpPr>
        <p:spPr>
          <a:xfrm>
            <a:off x="4434840" y="5522976"/>
            <a:ext cx="3291840" cy="457200"/>
          </a:xfrm>
          <a:prstGeom prst="rect">
            <a:avLst/>
          </a:prstGeom>
          <a:noFill/>
          <a:ln/>
        </p:spPr>
        <p:txBody>
          <a:bodyPr wrap="square" lIns="0" tIns="0" rIns="0" bIns="0" rtlCol="0" anchor="ctr"/>
          <a:lstStyle/>
          <a:p>
            <a:pPr indent="0" marL="0">
              <a:buNone/>
            </a:pPr>
            <a:r>
              <a:rPr lang="en-US" sz="1400" b="1" dirty="0">
                <a:solidFill>
                  <a:schemeClr val="accent3"/>
                </a:solidFill>
              </a:rPr>
              <a:t>Fix: </a:t>
            </a:r>
            <a:pPr indent="0" marL="0">
              <a:buNone/>
            </a:pPr>
            <a:r>
              <a:rPr lang="en-US" sz="1300" b="1" dirty="0">
                <a:solidFill>
                  <a:schemeClr val="tx1"/>
                </a:solidFill>
                <a:latin typeface="Consolas" pitchFamily="34" charset="0"/>
                <a:ea typeface="Consolas" pitchFamily="34" charset="-122"/>
                <a:cs typeface="Consolas" pitchFamily="34" charset="-120"/>
              </a:rPr>
              <a:t>return false nach der Schleife</a:t>
            </a:r>
            <a:endParaRPr lang="en-US" sz="1400" dirty="0"/>
          </a:p>
        </p:txBody>
      </p:sp>
      <p:sp>
        <p:nvSpPr>
          <p:cNvPr id="28" name="Fehler 6"/>
          <p:cNvSpPr/>
          <p:nvPr/>
        </p:nvSpPr>
        <p:spPr>
          <a:xfrm>
            <a:off x="8046720" y="3767328"/>
            <a:ext cx="3566160" cy="2331720"/>
          </a:xfrm>
          <a:prstGeom prst="roundRect">
            <a:avLst>
              <a:gd name="adj" fmla="val 4706"/>
            </a:avLst>
          </a:prstGeom>
          <a:solidFill>
            <a:schemeClr val="bg1"/>
          </a:solidFill>
          <a:ln w="19050">
            <a:solidFill>
              <a:schemeClr val="accent4"/>
            </a:solidFill>
            <a:prstDash val="solid"/>
          </a:ln>
        </p:spPr>
      </p:sp>
      <p:sp>
        <p:nvSpPr>
          <p:cNvPr id="29" name="Text 27"/>
          <p:cNvSpPr txBox="1"/>
          <p:nvPr/>
        </p:nvSpPr>
        <p:spPr>
          <a:xfrm>
            <a:off x="8183880" y="3840480"/>
            <a:ext cx="3291840" cy="347472"/>
          </a:xfrm>
          <a:prstGeom prst="rect">
            <a:avLst/>
          </a:prstGeom>
          <a:noFill/>
          <a:ln/>
        </p:spPr>
        <p:txBody>
          <a:bodyPr wrap="square" lIns="0" tIns="0" rIns="0" bIns="0" rtlCol="0" anchor="ctr"/>
          <a:lstStyle/>
          <a:p>
            <a:pPr indent="0" marL="0">
              <a:buNone/>
            </a:pPr>
            <a:r>
              <a:rPr lang="en-US" sz="1700" b="1" dirty="0">
                <a:solidFill>
                  <a:schemeClr val="accent2"/>
                </a:solidFill>
              </a:rPr>
              <a:t>6  </a:t>
            </a:r>
            <a:pPr indent="0" marL="0">
              <a:buNone/>
            </a:pPr>
            <a:r>
              <a:rPr lang="en-US" sz="1700" b="1" dirty="0">
                <a:solidFill>
                  <a:schemeClr val="accent4"/>
                </a:solidFill>
              </a:rPr>
              <a:t>Reihung verändert statt Kopie</a:t>
            </a:r>
            <a:endParaRPr lang="en-US" sz="1700" dirty="0"/>
          </a:p>
        </p:txBody>
      </p:sp>
      <p:sp>
        <p:nvSpPr>
          <p:cNvPr id="30" name="Text 28"/>
          <p:cNvSpPr txBox="1"/>
          <p:nvPr/>
        </p:nvSpPr>
        <p:spPr>
          <a:xfrm>
            <a:off x="8183880" y="4224528"/>
            <a:ext cx="3291840" cy="777240"/>
          </a:xfrm>
          <a:prstGeom prst="rect">
            <a:avLst/>
          </a:prstGeom>
          <a:solidFill>
            <a:srgbClr val="FBE5E5"/>
          </a:solidFill>
          <a:ln w="9525">
            <a:solidFill>
              <a:srgbClr val="E8B0B0"/>
            </a:solidFill>
          </a:ln>
        </p:spPr>
        <p:txBody>
          <a:bodyPr wrap="square" lIns="101600" tIns="25400" rIns="50800" bIns="25400" rtlCol="0" anchor="ctr"/>
          <a:lstStyle/>
          <a:p>
            <a:pPr indent="0" marL="0">
              <a:buNone/>
            </a:pPr>
            <a:r>
              <a:rPr lang="en-US" sz="1300" dirty="0">
                <a:solidFill>
                  <a:schemeClr val="tx1"/>
                </a:solidFill>
                <a:latin typeface="Consolas" pitchFamily="34" charset="0"/>
                <a:ea typeface="Consolas" pitchFamily="34" charset="-122"/>
                <a:cs typeface="Consolas" pitchFamily="34" charset="-120"/>
              </a:rPr>
              <a:t>int[] neu = r;</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neu[i] = r[i] / 2;</a:t>
            </a:r>
            <a:endParaRPr lang="en-US" sz="1300" dirty="0"/>
          </a:p>
        </p:txBody>
      </p:sp>
      <p:sp>
        <p:nvSpPr>
          <p:cNvPr id="31" name="Text 29"/>
          <p:cNvSpPr txBox="1"/>
          <p:nvPr/>
        </p:nvSpPr>
        <p:spPr>
          <a:xfrm>
            <a:off x="8183880" y="5065776"/>
            <a:ext cx="3291840" cy="411480"/>
          </a:xfrm>
          <a:prstGeom prst="rect">
            <a:avLst/>
          </a:prstGeom>
          <a:noFill/>
          <a:ln/>
        </p:spPr>
        <p:txBody>
          <a:bodyPr wrap="square" lIns="0" tIns="0" rIns="0" bIns="0" rtlCol="0" anchor="ctr"/>
          <a:lstStyle/>
          <a:p>
            <a:pPr indent="0" marL="0">
              <a:buNone/>
            </a:pPr>
            <a:r>
              <a:rPr lang="en-US" sz="1400" b="1" dirty="0">
                <a:solidFill>
                  <a:schemeClr val="tx1"/>
                </a:solidFill>
              </a:rPr>
              <a:t>Folge: </a:t>
            </a:r>
            <a:pPr indent="0" marL="0">
              <a:buNone/>
            </a:pPr>
            <a:r>
              <a:rPr lang="en-US" sz="1400" dirty="0">
                <a:solidFill>
                  <a:schemeClr val="tx1"/>
                </a:solidFill>
              </a:rPr>
              <a:t>Original wird mit verändert</a:t>
            </a:r>
            <a:endParaRPr lang="en-US" sz="1400" dirty="0"/>
          </a:p>
        </p:txBody>
      </p:sp>
      <p:sp>
        <p:nvSpPr>
          <p:cNvPr id="32" name="Text 30"/>
          <p:cNvSpPr txBox="1"/>
          <p:nvPr/>
        </p:nvSpPr>
        <p:spPr>
          <a:xfrm>
            <a:off x="8183880" y="5522976"/>
            <a:ext cx="3291840" cy="457200"/>
          </a:xfrm>
          <a:prstGeom prst="rect">
            <a:avLst/>
          </a:prstGeom>
          <a:noFill/>
          <a:ln/>
        </p:spPr>
        <p:txBody>
          <a:bodyPr wrap="square" lIns="0" tIns="0" rIns="0" bIns="0" rtlCol="0" anchor="ctr"/>
          <a:lstStyle/>
          <a:p>
            <a:pPr indent="0" marL="0">
              <a:buNone/>
            </a:pPr>
            <a:r>
              <a:rPr lang="en-US" sz="1400" b="1" dirty="0">
                <a:solidFill>
                  <a:schemeClr val="accent3"/>
                </a:solidFill>
              </a:rPr>
              <a:t>Fix: </a:t>
            </a:r>
            <a:pPr indent="0" marL="0">
              <a:buNone/>
            </a:pPr>
            <a:r>
              <a:rPr lang="en-US" sz="1300" b="1" dirty="0">
                <a:solidFill>
                  <a:schemeClr val="tx1"/>
                </a:solidFill>
                <a:latin typeface="Consolas" pitchFamily="34" charset="0"/>
                <a:ea typeface="Consolas" pitchFamily="34" charset="-122"/>
                <a:cs typeface="Consolas" pitchFamily="34" charset="-120"/>
              </a:rPr>
              <a:t>int[] neu = new int[r.length];</a:t>
            </a:r>
            <a:endParaRPr lang="en-US" sz="1400" dirty="0"/>
          </a:p>
        </p:txBody>
      </p:sp>
      <p:sp>
        <p:nvSpPr>
          <p:cNvPr id="33" name="Text 31"/>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6 · Methoden-Werkstatt</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Abi-Format und Abi-Check</a:t>
            </a:r>
            <a:endParaRPr lang="en-US" sz="3600" dirty="0"/>
          </a:p>
        </p:txBody>
      </p:sp>
      <p:sp>
        <p:nvSpPr>
          <p:cNvPr id="3" name="Abi-Format"/>
          <p:cNvSpPr/>
          <p:nvPr/>
        </p:nvSpPr>
        <p:spPr>
          <a:xfrm>
            <a:off x="548640" y="1325880"/>
            <a:ext cx="5394960" cy="4800600"/>
          </a:xfrm>
          <a:prstGeom prst="roundRect">
            <a:avLst>
              <a:gd name="adj" fmla="val 2286"/>
            </a:avLst>
          </a:prstGeom>
          <a:solidFill>
            <a:schemeClr val="accent1"/>
          </a:solidFill>
          <a:ln/>
          <a:effectLst>
            <a:outerShdw sx="100000" sy="100000" kx="0" ky="0" algn="bl" rotWithShape="0" blurRad="76200" dist="25400" dir="5400000">
              <a:srgbClr val="000000">
                <a:alpha val="18000"/>
              </a:srgbClr>
            </a:outerShdw>
          </a:effectLst>
        </p:spPr>
      </p:sp>
      <p:sp>
        <p:nvSpPr>
          <p:cNvPr id="4" name="Chip"/>
          <p:cNvSpPr txBox="1"/>
          <p:nvPr/>
        </p:nvSpPr>
        <p:spPr>
          <a:xfrm>
            <a:off x="777240" y="1508760"/>
            <a:ext cx="2926080" cy="365760"/>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bg1"/>
                </a:solidFill>
              </a:rPr>
              <a:t>SO KLINGT ES IM ABITUR</a:t>
            </a:r>
            <a:endParaRPr lang="en-US" sz="1400" dirty="0"/>
          </a:p>
        </p:txBody>
      </p:sp>
      <p:sp>
        <p:nvSpPr>
          <p:cNvPr id="5" name="Text 3"/>
          <p:cNvSpPr txBox="1"/>
          <p:nvPr/>
        </p:nvSpPr>
        <p:spPr>
          <a:xfrm>
            <a:off x="777240" y="2057400"/>
            <a:ext cx="5029200" cy="731520"/>
          </a:xfrm>
          <a:prstGeom prst="rect">
            <a:avLst/>
          </a:prstGeom>
          <a:noFill/>
          <a:ln/>
        </p:spPr>
        <p:txBody>
          <a:bodyPr wrap="square" lIns="0" tIns="0" rIns="0" bIns="0" rtlCol="0" anchor="t"/>
          <a:lstStyle/>
          <a:p>
            <a:pPr indent="0" marL="0">
              <a:buNone/>
            </a:pPr>
            <a:r>
              <a:rPr lang="en-US" sz="1600" b="1" dirty="0">
                <a:solidFill>
                  <a:schemeClr val="bg1"/>
                </a:solidFill>
              </a:rPr>
              <a:t>„Implementieren Sie die Methode …“</a:t>
            </a:r>
            <a:endParaRPr lang="en-US" sz="1800" dirty="0"/>
          </a:p>
          <a:p>
            <a:pPr indent="0" marL="0">
              <a:buNone/>
            </a:pPr>
            <a:r>
              <a:rPr lang="en-US" sz="1400" dirty="0">
                <a:solidFill>
                  <a:schemeClr val="bg2"/>
                </a:solidFill>
              </a:rPr>
              <a:t>Java mit Methodenkopf nach Signatur</a:t>
            </a:r>
            <a:endParaRPr lang="en-US" sz="1800" dirty="0"/>
          </a:p>
        </p:txBody>
      </p:sp>
      <p:sp>
        <p:nvSpPr>
          <p:cNvPr id="6" name="Text 4"/>
          <p:cNvSpPr txBox="1"/>
          <p:nvPr/>
        </p:nvSpPr>
        <p:spPr>
          <a:xfrm>
            <a:off x="777240" y="2843784"/>
            <a:ext cx="5029200" cy="731520"/>
          </a:xfrm>
          <a:prstGeom prst="rect">
            <a:avLst/>
          </a:prstGeom>
          <a:noFill/>
          <a:ln/>
        </p:spPr>
        <p:txBody>
          <a:bodyPr wrap="square" lIns="0" tIns="0" rIns="0" bIns="0" rtlCol="0" anchor="t"/>
          <a:lstStyle/>
          <a:p>
            <a:pPr indent="0" marL="0">
              <a:buNone/>
            </a:pPr>
            <a:r>
              <a:rPr lang="en-US" sz="1600" b="1" dirty="0">
                <a:solidFill>
                  <a:schemeClr val="bg1"/>
                </a:solidFill>
              </a:rPr>
              <a:t>„Entwickeln Sie ein Struktogramm …“</a:t>
            </a:r>
            <a:endParaRPr lang="en-US" sz="1800" dirty="0"/>
          </a:p>
          <a:p>
            <a:pPr indent="0" marL="0">
              <a:buNone/>
            </a:pPr>
            <a:r>
              <a:rPr lang="en-US" sz="1400" dirty="0">
                <a:solidFill>
                  <a:schemeClr val="bg2"/>
                </a:solidFill>
              </a:rPr>
              <a:t>Kopf mit Signatur, ←, „gib … zurück“</a:t>
            </a:r>
            <a:endParaRPr lang="en-US" sz="1800" dirty="0"/>
          </a:p>
        </p:txBody>
      </p:sp>
      <p:sp>
        <p:nvSpPr>
          <p:cNvPr id="7" name="Text 5"/>
          <p:cNvSpPr txBox="1"/>
          <p:nvPr/>
        </p:nvSpPr>
        <p:spPr>
          <a:xfrm>
            <a:off x="777240" y="3630168"/>
            <a:ext cx="5029200" cy="731520"/>
          </a:xfrm>
          <a:prstGeom prst="rect">
            <a:avLst/>
          </a:prstGeom>
          <a:noFill/>
          <a:ln/>
        </p:spPr>
        <p:txBody>
          <a:bodyPr wrap="square" lIns="0" tIns="0" rIns="0" bIns="0" rtlCol="0" anchor="t"/>
          <a:lstStyle/>
          <a:p>
            <a:pPr indent="0" marL="0">
              <a:buNone/>
            </a:pPr>
            <a:r>
              <a:rPr lang="en-US" sz="1600" b="1" dirty="0">
                <a:solidFill>
                  <a:schemeClr val="bg1"/>
                </a:solidFill>
              </a:rPr>
              <a:t>„Geben Sie den Methodenkopf an.“</a:t>
            </a:r>
            <a:endParaRPr lang="en-US" sz="1800" dirty="0"/>
          </a:p>
          <a:p>
            <a:pPr indent="0" marL="0">
              <a:buNone/>
            </a:pPr>
            <a:r>
              <a:rPr lang="en-US" sz="1400" dirty="0">
                <a:solidFill>
                  <a:schemeClr val="bg2"/>
                </a:solidFill>
              </a:rPr>
              <a:t>nur der Java-Kopf, kein Rumpf</a:t>
            </a:r>
            <a:endParaRPr lang="en-US" sz="1800" dirty="0"/>
          </a:p>
        </p:txBody>
      </p:sp>
      <p:sp>
        <p:nvSpPr>
          <p:cNvPr id="8" name="Text 6"/>
          <p:cNvSpPr txBox="1"/>
          <p:nvPr/>
        </p:nvSpPr>
        <p:spPr>
          <a:xfrm>
            <a:off x="777240" y="4416552"/>
            <a:ext cx="5029200" cy="731520"/>
          </a:xfrm>
          <a:prstGeom prst="rect">
            <a:avLst/>
          </a:prstGeom>
          <a:noFill/>
          <a:ln/>
        </p:spPr>
        <p:txBody>
          <a:bodyPr wrap="square" lIns="0" tIns="0" rIns="0" bIns="0" rtlCol="0" anchor="t"/>
          <a:lstStyle/>
          <a:p>
            <a:pPr indent="0" marL="0">
              <a:buNone/>
            </a:pPr>
            <a:r>
              <a:rPr lang="en-US" sz="1600" b="1" dirty="0">
                <a:solidFill>
                  <a:schemeClr val="bg1"/>
                </a:solidFill>
              </a:rPr>
              <a:t>„Dokumentieren Sie … in einer Tracetabelle.“</a:t>
            </a:r>
            <a:endParaRPr lang="en-US" sz="1800" dirty="0"/>
          </a:p>
          <a:p>
            <a:pPr indent="0" marL="0">
              <a:buNone/>
            </a:pPr>
            <a:r>
              <a:rPr lang="en-US" sz="1400" dirty="0">
                <a:solidFill>
                  <a:schemeClr val="bg2"/>
                </a:solidFill>
              </a:rPr>
              <a:t>eine Zeile je Durchlauf bzw. Aufruf</a:t>
            </a:r>
            <a:endParaRPr lang="en-US" sz="1800" dirty="0"/>
          </a:p>
        </p:txBody>
      </p:sp>
      <p:sp>
        <p:nvSpPr>
          <p:cNvPr id="9" name="Text 7"/>
          <p:cNvSpPr txBox="1"/>
          <p:nvPr/>
        </p:nvSpPr>
        <p:spPr>
          <a:xfrm>
            <a:off x="777240" y="5202936"/>
            <a:ext cx="5029200" cy="731520"/>
          </a:xfrm>
          <a:prstGeom prst="rect">
            <a:avLst/>
          </a:prstGeom>
          <a:noFill/>
          <a:ln/>
        </p:spPr>
        <p:txBody>
          <a:bodyPr wrap="square" lIns="0" tIns="0" rIns="0" bIns="0" rtlCol="0" anchor="t"/>
          <a:lstStyle/>
          <a:p>
            <a:pPr indent="0" marL="0">
              <a:buNone/>
            </a:pPr>
            <a:r>
              <a:rPr lang="en-US" sz="1600" b="1" dirty="0">
                <a:solidFill>
                  <a:schemeClr val="bg1"/>
                </a:solidFill>
              </a:rPr>
              <a:t>„Erläutern Sie … / Begründen Sie …“</a:t>
            </a:r>
            <a:endParaRPr lang="en-US" sz="1800" dirty="0"/>
          </a:p>
          <a:p>
            <a:pPr indent="0" marL="0">
              <a:buNone/>
            </a:pPr>
            <a:r>
              <a:rPr lang="en-US" sz="1400" dirty="0">
                <a:solidFill>
                  <a:schemeClr val="bg2"/>
                </a:solidFill>
              </a:rPr>
              <a:t>in ganzen Sätzen, mit Bezug zum Code</a:t>
            </a:r>
            <a:endParaRPr lang="en-US" sz="1800" dirty="0"/>
          </a:p>
        </p:txBody>
      </p:sp>
      <p:sp>
        <p:nvSpPr>
          <p:cNvPr id="10" name="Text 8"/>
          <p:cNvSpPr txBox="1"/>
          <p:nvPr/>
        </p:nvSpPr>
        <p:spPr>
          <a:xfrm>
            <a:off x="777240" y="5760720"/>
            <a:ext cx="5029200" cy="292608"/>
          </a:xfrm>
          <a:prstGeom prst="rect">
            <a:avLst/>
          </a:prstGeom>
          <a:noFill/>
          <a:ln/>
        </p:spPr>
        <p:txBody>
          <a:bodyPr wrap="square" lIns="0" tIns="0" rIns="0" bIns="0" rtlCol="0" anchor="t"/>
          <a:lstStyle/>
          <a:p>
            <a:pPr indent="0" marL="0">
              <a:buNone/>
            </a:pPr>
            <a:r>
              <a:rPr lang="en-US" sz="1400" i="1" dirty="0">
                <a:solidFill>
                  <a:schemeClr val="accent2"/>
                </a:solidFill>
              </a:rPr>
              <a:t>Jede Teilaufgabe nennt ihre BE: ≈ 2,5 min je BE.</a:t>
            </a:r>
            <a:endParaRPr lang="en-US" sz="1400" dirty="0"/>
          </a:p>
        </p:txBody>
      </p:sp>
      <p:sp>
        <p:nvSpPr>
          <p:cNvPr id="11" name="Text 9"/>
          <p:cNvSpPr txBox="1"/>
          <p:nvPr/>
        </p:nvSpPr>
        <p:spPr>
          <a:xfrm>
            <a:off x="6309360" y="1325880"/>
            <a:ext cx="5303520" cy="411480"/>
          </a:xfrm>
          <a:prstGeom prst="rect">
            <a:avLst/>
          </a:prstGeom>
          <a:noFill/>
          <a:ln/>
        </p:spPr>
        <p:txBody>
          <a:bodyPr wrap="square" lIns="0" tIns="0" rIns="0" bIns="0" rtlCol="0" anchor="t"/>
          <a:lstStyle/>
          <a:p>
            <a:pPr indent="0" marL="0">
              <a:buNone/>
            </a:pPr>
            <a:r>
              <a:rPr lang="en-US" sz="2100" b="1" dirty="0">
                <a:solidFill>
                  <a:schemeClr val="accent1"/>
                </a:solidFill>
              </a:rPr>
              <a:t>Abi-Check vor der Abgabe</a:t>
            </a:r>
            <a:endParaRPr lang="en-US" sz="2100" dirty="0"/>
          </a:p>
        </p:txBody>
      </p:sp>
      <p:sp>
        <p:nvSpPr>
          <p:cNvPr id="12" name="Icon-Kreis"/>
          <p:cNvSpPr/>
          <p:nvPr/>
        </p:nvSpPr>
        <p:spPr>
          <a:xfrm>
            <a:off x="6309360" y="1947672"/>
            <a:ext cx="384048" cy="384048"/>
          </a:xfrm>
          <a:prstGeom prst="ellipse">
            <a:avLst/>
          </a:prstGeom>
          <a:solidFill>
            <a:schemeClr val="accent3"/>
          </a:solidFill>
          <a:ln/>
        </p:spPr>
      </p:sp>
      <p:pic>
        <p:nvPicPr>
          <p:cNvPr id="13" name="Icon GiCheckMark" descr="preencoded.png">    </p:cNvPr>
          <p:cNvPicPr>
            <a:picLocks noChangeAspect="1"/>
          </p:cNvPicPr>
          <p:nvPr/>
        </p:nvPicPr>
        <p:blipFill>
          <a:blip r:embed="rId1"/>
          <a:stretch>
            <a:fillRect/>
          </a:stretch>
        </p:blipFill>
        <p:spPr>
          <a:xfrm>
            <a:off x="6378489" y="2016801"/>
            <a:ext cx="245791" cy="245791"/>
          </a:xfrm>
          <a:prstGeom prst="rect">
            <a:avLst/>
          </a:prstGeom>
        </p:spPr>
      </p:pic>
      <p:sp>
        <p:nvSpPr>
          <p:cNvPr id="14" name="Text 11"/>
          <p:cNvSpPr txBox="1"/>
          <p:nvPr/>
        </p:nvSpPr>
        <p:spPr>
          <a:xfrm>
            <a:off x="6858000" y="1874520"/>
            <a:ext cx="4754880" cy="530352"/>
          </a:xfrm>
          <a:prstGeom prst="rect">
            <a:avLst/>
          </a:prstGeom>
          <a:noFill/>
          <a:ln/>
        </p:spPr>
        <p:txBody>
          <a:bodyPr wrap="square" lIns="0" tIns="0" rIns="0" bIns="0" rtlCol="0" anchor="ctr"/>
          <a:lstStyle/>
          <a:p>
            <a:pPr indent="0" marL="0">
              <a:buNone/>
            </a:pPr>
            <a:r>
              <a:rPr lang="en-US" sz="1600" dirty="0">
                <a:solidFill>
                  <a:schemeClr val="tx1"/>
                </a:solidFill>
              </a:rPr>
              <a:t>Signatur wie gefordert: Name, Reihenfolge, Typen, Rückgabetyp</a:t>
            </a:r>
            <a:endParaRPr lang="en-US" sz="1600" dirty="0"/>
          </a:p>
        </p:txBody>
      </p:sp>
      <p:sp>
        <p:nvSpPr>
          <p:cNvPr id="15" name="Icon-Kreis"/>
          <p:cNvSpPr/>
          <p:nvPr/>
        </p:nvSpPr>
        <p:spPr>
          <a:xfrm>
            <a:off x="6309360" y="2551176"/>
            <a:ext cx="384048" cy="384048"/>
          </a:xfrm>
          <a:prstGeom prst="ellipse">
            <a:avLst/>
          </a:prstGeom>
          <a:solidFill>
            <a:schemeClr val="accent3"/>
          </a:solidFill>
          <a:ln/>
        </p:spPr>
      </p:sp>
      <p:pic>
        <p:nvPicPr>
          <p:cNvPr id="16" name="Icon GiCheckMark" descr="preencoded.png">    </p:cNvPr>
          <p:cNvPicPr>
            <a:picLocks noChangeAspect="1"/>
          </p:cNvPicPr>
          <p:nvPr/>
        </p:nvPicPr>
        <p:blipFill>
          <a:blip r:embed="rId2"/>
          <a:stretch>
            <a:fillRect/>
          </a:stretch>
        </p:blipFill>
        <p:spPr>
          <a:xfrm>
            <a:off x="6378489" y="2620305"/>
            <a:ext cx="245791" cy="245791"/>
          </a:xfrm>
          <a:prstGeom prst="rect">
            <a:avLst/>
          </a:prstGeom>
        </p:spPr>
      </p:pic>
      <p:sp>
        <p:nvSpPr>
          <p:cNvPr id="17" name="Text 13"/>
          <p:cNvSpPr txBox="1"/>
          <p:nvPr/>
        </p:nvSpPr>
        <p:spPr>
          <a:xfrm>
            <a:off x="6858000" y="2478024"/>
            <a:ext cx="4754880" cy="530352"/>
          </a:xfrm>
          <a:prstGeom prst="rect">
            <a:avLst/>
          </a:prstGeom>
          <a:noFill/>
          <a:ln/>
        </p:spPr>
        <p:txBody>
          <a:bodyPr wrap="square" lIns="0" tIns="0" rIns="0" bIns="0" rtlCol="0" anchor="ctr"/>
          <a:lstStyle/>
          <a:p>
            <a:pPr indent="0" marL="0">
              <a:buNone/>
            </a:pPr>
            <a:r>
              <a:rPr lang="en-US" sz="1600" dirty="0">
                <a:solidFill>
                  <a:schemeClr val="tx1"/>
                </a:solidFill>
              </a:rPr>
              <a:t>return in jedem Pfad – auch nach der Schleife</a:t>
            </a:r>
            <a:endParaRPr lang="en-US" sz="1600" dirty="0"/>
          </a:p>
        </p:txBody>
      </p:sp>
      <p:sp>
        <p:nvSpPr>
          <p:cNvPr id="18" name="Icon-Kreis"/>
          <p:cNvSpPr/>
          <p:nvPr/>
        </p:nvSpPr>
        <p:spPr>
          <a:xfrm>
            <a:off x="6309360" y="3154680"/>
            <a:ext cx="384048" cy="384048"/>
          </a:xfrm>
          <a:prstGeom prst="ellipse">
            <a:avLst/>
          </a:prstGeom>
          <a:solidFill>
            <a:schemeClr val="accent3"/>
          </a:solidFill>
          <a:ln/>
        </p:spPr>
      </p:sp>
      <p:pic>
        <p:nvPicPr>
          <p:cNvPr id="19" name="Icon GiCheckMark" descr="preencoded.png">    </p:cNvPr>
          <p:cNvPicPr>
            <a:picLocks noChangeAspect="1"/>
          </p:cNvPicPr>
          <p:nvPr/>
        </p:nvPicPr>
        <p:blipFill>
          <a:blip r:embed="rId3"/>
          <a:stretch>
            <a:fillRect/>
          </a:stretch>
        </p:blipFill>
        <p:spPr>
          <a:xfrm>
            <a:off x="6378489" y="3223809"/>
            <a:ext cx="245791" cy="245791"/>
          </a:xfrm>
          <a:prstGeom prst="rect">
            <a:avLst/>
          </a:prstGeom>
        </p:spPr>
      </p:pic>
      <p:sp>
        <p:nvSpPr>
          <p:cNvPr id="20" name="Text 15"/>
          <p:cNvSpPr txBox="1"/>
          <p:nvPr/>
        </p:nvSpPr>
        <p:spPr>
          <a:xfrm>
            <a:off x="6858000" y="3081528"/>
            <a:ext cx="4754880" cy="530352"/>
          </a:xfrm>
          <a:prstGeom prst="rect">
            <a:avLst/>
          </a:prstGeom>
          <a:noFill/>
          <a:ln/>
        </p:spPr>
        <p:txBody>
          <a:bodyPr wrap="square" lIns="0" tIns="0" rIns="0" bIns="0" rtlCol="0" anchor="ctr"/>
          <a:lstStyle/>
          <a:p>
            <a:pPr indent="0" marL="0">
              <a:buNone/>
            </a:pPr>
            <a:r>
              <a:rPr lang="en-US" sz="1600" dirty="0">
                <a:solidFill>
                  <a:schemeClr val="tx1"/>
                </a:solidFill>
              </a:rPr>
              <a:t>vor jedem Zugriff: Leer- bzw. Indexabfrage</a:t>
            </a:r>
            <a:endParaRPr lang="en-US" sz="1600" dirty="0"/>
          </a:p>
        </p:txBody>
      </p:sp>
      <p:sp>
        <p:nvSpPr>
          <p:cNvPr id="21" name="Icon-Kreis"/>
          <p:cNvSpPr/>
          <p:nvPr/>
        </p:nvSpPr>
        <p:spPr>
          <a:xfrm>
            <a:off x="6309360" y="3758184"/>
            <a:ext cx="384048" cy="384048"/>
          </a:xfrm>
          <a:prstGeom prst="ellipse">
            <a:avLst/>
          </a:prstGeom>
          <a:solidFill>
            <a:schemeClr val="accent3"/>
          </a:solidFill>
          <a:ln/>
        </p:spPr>
      </p:sp>
      <p:pic>
        <p:nvPicPr>
          <p:cNvPr id="22" name="Icon GiCheckMark" descr="preencoded.png">    </p:cNvPr>
          <p:cNvPicPr>
            <a:picLocks noChangeAspect="1"/>
          </p:cNvPicPr>
          <p:nvPr/>
        </p:nvPicPr>
        <p:blipFill>
          <a:blip r:embed="rId4"/>
          <a:stretch>
            <a:fillRect/>
          </a:stretch>
        </p:blipFill>
        <p:spPr>
          <a:xfrm>
            <a:off x="6378489" y="3827313"/>
            <a:ext cx="245791" cy="245791"/>
          </a:xfrm>
          <a:prstGeom prst="rect">
            <a:avLst/>
          </a:prstGeom>
        </p:spPr>
      </p:pic>
      <p:sp>
        <p:nvSpPr>
          <p:cNvPr id="23" name="Text 17"/>
          <p:cNvSpPr txBox="1"/>
          <p:nvPr/>
        </p:nvSpPr>
        <p:spPr>
          <a:xfrm>
            <a:off x="6858000" y="3685032"/>
            <a:ext cx="4754880" cy="530352"/>
          </a:xfrm>
          <a:prstGeom prst="rect">
            <a:avLst/>
          </a:prstGeom>
          <a:noFill/>
          <a:ln/>
        </p:spPr>
        <p:txBody>
          <a:bodyPr wrap="square" lIns="0" tIns="0" rIns="0" bIns="0" rtlCol="0" anchor="ctr"/>
          <a:lstStyle/>
          <a:p>
            <a:pPr indent="0" marL="0">
              <a:buNone/>
            </a:pPr>
            <a:r>
              <a:rPr lang="en-US" sz="1600" dirty="0">
                <a:solidFill>
                  <a:schemeClr val="tx1"/>
                </a:solidFill>
              </a:rPr>
              <a:t>Schleifengrenzen: 0 bis length − 1</a:t>
            </a:r>
            <a:endParaRPr lang="en-US" sz="1600" dirty="0"/>
          </a:p>
        </p:txBody>
      </p:sp>
      <p:sp>
        <p:nvSpPr>
          <p:cNvPr id="24" name="Icon-Kreis"/>
          <p:cNvSpPr/>
          <p:nvPr/>
        </p:nvSpPr>
        <p:spPr>
          <a:xfrm>
            <a:off x="6309360" y="4361688"/>
            <a:ext cx="384048" cy="384048"/>
          </a:xfrm>
          <a:prstGeom prst="ellipse">
            <a:avLst/>
          </a:prstGeom>
          <a:solidFill>
            <a:schemeClr val="accent3"/>
          </a:solidFill>
          <a:ln/>
        </p:spPr>
      </p:sp>
      <p:pic>
        <p:nvPicPr>
          <p:cNvPr id="25" name="Icon GiCheckMark" descr="preencoded.png">    </p:cNvPr>
          <p:cNvPicPr>
            <a:picLocks noChangeAspect="1"/>
          </p:cNvPicPr>
          <p:nvPr/>
        </p:nvPicPr>
        <p:blipFill>
          <a:blip r:embed="rId5"/>
          <a:stretch>
            <a:fillRect/>
          </a:stretch>
        </p:blipFill>
        <p:spPr>
          <a:xfrm>
            <a:off x="6378489" y="4430817"/>
            <a:ext cx="245791" cy="245791"/>
          </a:xfrm>
          <a:prstGeom prst="rect">
            <a:avLst/>
          </a:prstGeom>
        </p:spPr>
      </p:pic>
      <p:sp>
        <p:nvSpPr>
          <p:cNvPr id="26" name="Text 19"/>
          <p:cNvSpPr txBox="1"/>
          <p:nvPr/>
        </p:nvSpPr>
        <p:spPr>
          <a:xfrm>
            <a:off x="6858000" y="4288536"/>
            <a:ext cx="4754880" cy="530352"/>
          </a:xfrm>
          <a:prstGeom prst="rect">
            <a:avLst/>
          </a:prstGeom>
          <a:noFill/>
          <a:ln/>
        </p:spPr>
        <p:txBody>
          <a:bodyPr wrap="square" lIns="0" tIns="0" rIns="0" bIns="0" rtlCol="0" anchor="ctr"/>
          <a:lstStyle/>
          <a:p>
            <a:pPr indent="0" marL="0">
              <a:buNone/>
            </a:pPr>
            <a:r>
              <a:rPr lang="en-US" sz="1600" dirty="0">
                <a:solidFill>
                  <a:schemeClr val="tx1"/>
                </a:solidFill>
              </a:rPr>
              <a:t>Original unverändert, falls eine neue Reihung verlangt ist</a:t>
            </a:r>
            <a:endParaRPr lang="en-US" sz="1600" dirty="0"/>
          </a:p>
        </p:txBody>
      </p:sp>
      <p:sp>
        <p:nvSpPr>
          <p:cNvPr id="27" name="Icon-Kreis"/>
          <p:cNvSpPr/>
          <p:nvPr/>
        </p:nvSpPr>
        <p:spPr>
          <a:xfrm>
            <a:off x="6309360" y="4965192"/>
            <a:ext cx="384048" cy="384048"/>
          </a:xfrm>
          <a:prstGeom prst="ellipse">
            <a:avLst/>
          </a:prstGeom>
          <a:solidFill>
            <a:schemeClr val="accent3"/>
          </a:solidFill>
          <a:ln/>
        </p:spPr>
      </p:sp>
      <p:pic>
        <p:nvPicPr>
          <p:cNvPr id="28" name="Icon GiCheckMark" descr="preencoded.png">    </p:cNvPr>
          <p:cNvPicPr>
            <a:picLocks noChangeAspect="1"/>
          </p:cNvPicPr>
          <p:nvPr/>
        </p:nvPicPr>
        <p:blipFill>
          <a:blip r:embed="rId6"/>
          <a:stretch>
            <a:fillRect/>
          </a:stretch>
        </p:blipFill>
        <p:spPr>
          <a:xfrm>
            <a:off x="6378489" y="5034321"/>
            <a:ext cx="245791" cy="245791"/>
          </a:xfrm>
          <a:prstGeom prst="rect">
            <a:avLst/>
          </a:prstGeom>
        </p:spPr>
      </p:pic>
      <p:sp>
        <p:nvSpPr>
          <p:cNvPr id="29" name="Text 21"/>
          <p:cNvSpPr txBox="1"/>
          <p:nvPr/>
        </p:nvSpPr>
        <p:spPr>
          <a:xfrm>
            <a:off x="6858000" y="4892040"/>
            <a:ext cx="4754880" cy="530352"/>
          </a:xfrm>
          <a:prstGeom prst="rect">
            <a:avLst/>
          </a:prstGeom>
          <a:noFill/>
          <a:ln/>
        </p:spPr>
        <p:txBody>
          <a:bodyPr wrap="square" lIns="0" tIns="0" rIns="0" bIns="0" rtlCol="0" anchor="ctr"/>
          <a:lstStyle/>
          <a:p>
            <a:pPr indent="0" marL="0">
              <a:buNone/>
            </a:pPr>
            <a:r>
              <a:rPr lang="en-US" sz="1600" dirty="0">
                <a:solidFill>
                  <a:schemeClr val="tx1"/>
                </a:solidFill>
              </a:rPr>
              <a:t>nur erlaubte Zeichenketten-Operationen, Vergleich mit equals</a:t>
            </a:r>
            <a:endParaRPr lang="en-US" sz="1600" dirty="0"/>
          </a:p>
        </p:txBody>
      </p:sp>
      <p:sp>
        <p:nvSpPr>
          <p:cNvPr id="30" name="Icon-Kreis"/>
          <p:cNvSpPr/>
          <p:nvPr/>
        </p:nvSpPr>
        <p:spPr>
          <a:xfrm>
            <a:off x="6309360" y="5568696"/>
            <a:ext cx="384048" cy="384048"/>
          </a:xfrm>
          <a:prstGeom prst="ellipse">
            <a:avLst/>
          </a:prstGeom>
          <a:solidFill>
            <a:schemeClr val="accent3"/>
          </a:solidFill>
          <a:ln/>
        </p:spPr>
      </p:sp>
      <p:pic>
        <p:nvPicPr>
          <p:cNvPr id="31" name="Icon GiCheckMark" descr="preencoded.png">    </p:cNvPr>
          <p:cNvPicPr>
            <a:picLocks noChangeAspect="1"/>
          </p:cNvPicPr>
          <p:nvPr/>
        </p:nvPicPr>
        <p:blipFill>
          <a:blip r:embed="rId7"/>
          <a:stretch>
            <a:fillRect/>
          </a:stretch>
        </p:blipFill>
        <p:spPr>
          <a:xfrm>
            <a:off x="6378489" y="5637825"/>
            <a:ext cx="245791" cy="245791"/>
          </a:xfrm>
          <a:prstGeom prst="rect">
            <a:avLst/>
          </a:prstGeom>
        </p:spPr>
      </p:pic>
      <p:sp>
        <p:nvSpPr>
          <p:cNvPr id="32" name="Text 23"/>
          <p:cNvSpPr txBox="1"/>
          <p:nvPr/>
        </p:nvSpPr>
        <p:spPr>
          <a:xfrm>
            <a:off x="6858000" y="5495544"/>
            <a:ext cx="4754880" cy="530352"/>
          </a:xfrm>
          <a:prstGeom prst="rect">
            <a:avLst/>
          </a:prstGeom>
          <a:noFill/>
          <a:ln/>
        </p:spPr>
        <p:txBody>
          <a:bodyPr wrap="square" lIns="0" tIns="0" rIns="0" bIns="0" rtlCol="0" anchor="ctr"/>
          <a:lstStyle/>
          <a:p>
            <a:pPr indent="0" marL="0">
              <a:buNone/>
            </a:pPr>
            <a:r>
              <a:rPr lang="en-US" sz="1600" dirty="0">
                <a:solidFill>
                  <a:schemeClr val="tx1"/>
                </a:solidFill>
              </a:rPr>
              <a:t>unsichere Stellen kurz kommentieren (//)</a:t>
            </a:r>
            <a:endParaRPr lang="en-US" sz="1600" dirty="0"/>
          </a:p>
        </p:txBody>
      </p:sp>
      <p:sp>
        <p:nvSpPr>
          <p:cNvPr id="33" name="Text 24"/>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6 · Methoden-Werkstatt</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bg1"/>
                </a:solidFill>
              </a:rPr>
              <a:t>Boss 0: Die Aufnahmeprüfung der Akademie</a:t>
            </a:r>
            <a:endParaRPr lang="en-US" sz="3600" dirty="0"/>
          </a:p>
        </p:txBody>
      </p:sp>
      <p:sp>
        <p:nvSpPr>
          <p:cNvPr id="3" name="Icon-Kreis"/>
          <p:cNvSpPr/>
          <p:nvPr/>
        </p:nvSpPr>
        <p:spPr>
          <a:xfrm>
            <a:off x="822960" y="1600200"/>
            <a:ext cx="2926080" cy="2926080"/>
          </a:xfrm>
          <a:prstGeom prst="ellipse">
            <a:avLst/>
          </a:prstGeom>
          <a:solidFill>
            <a:schemeClr val="accent4"/>
          </a:solidFill>
          <a:ln w="63500">
            <a:solidFill>
              <a:schemeClr val="accent2"/>
            </a:solidFill>
            <a:prstDash val="solid"/>
          </a:ln>
        </p:spPr>
      </p:sp>
      <p:pic>
        <p:nvPicPr>
          <p:cNvPr id="4" name="Icon GiDungeonGate" descr="preencoded.png">    </p:cNvPr>
          <p:cNvPicPr>
            <a:picLocks noChangeAspect="1"/>
          </p:cNvPicPr>
          <p:nvPr/>
        </p:nvPicPr>
        <p:blipFill>
          <a:blip r:embed="rId1"/>
          <a:stretch>
            <a:fillRect/>
          </a:stretch>
        </p:blipFill>
        <p:spPr>
          <a:xfrm>
            <a:off x="1349654" y="2126894"/>
            <a:ext cx="1872691" cy="1872691"/>
          </a:xfrm>
          <a:prstGeom prst="rect">
            <a:avLst/>
          </a:prstGeom>
        </p:spPr>
      </p:pic>
      <p:sp>
        <p:nvSpPr>
          <p:cNvPr id="5" name="Chip"/>
          <p:cNvSpPr txBox="1"/>
          <p:nvPr/>
        </p:nvSpPr>
        <p:spPr>
          <a:xfrm>
            <a:off x="1600200" y="4754880"/>
            <a:ext cx="1371600" cy="457200"/>
          </a:xfrm>
          <a:prstGeom prst="roundRect">
            <a:avLst>
              <a:gd name="adj" fmla="val 50000"/>
            </a:avLst>
          </a:prstGeom>
          <a:solidFill>
            <a:schemeClr val="accent2"/>
          </a:solidFill>
          <a:ln/>
        </p:spPr>
        <p:txBody>
          <a:bodyPr wrap="square" lIns="0" tIns="0" rIns="0" bIns="0" rtlCol="0" anchor="ctr"/>
          <a:lstStyle/>
          <a:p>
            <a:pPr algn="ctr" indent="0" marL="0">
              <a:buNone/>
            </a:pPr>
            <a:r>
              <a:rPr lang="en-US" sz="2000" b="1" dirty="0">
                <a:solidFill>
                  <a:schemeClr val="bg1"/>
                </a:solidFill>
              </a:rPr>
              <a:t>DS 7</a:t>
            </a:r>
            <a:endParaRPr lang="en-US" sz="2000" dirty="0"/>
          </a:p>
        </p:txBody>
      </p:sp>
      <p:sp>
        <p:nvSpPr>
          <p:cNvPr id="6" name="Icon-Kreis"/>
          <p:cNvSpPr/>
          <p:nvPr/>
        </p:nvSpPr>
        <p:spPr>
          <a:xfrm>
            <a:off x="4480560" y="1325880"/>
            <a:ext cx="777240" cy="777240"/>
          </a:xfrm>
          <a:prstGeom prst="ellipse">
            <a:avLst/>
          </a:prstGeom>
          <a:solidFill>
            <a:schemeClr val="bg1"/>
          </a:solidFill>
          <a:ln/>
        </p:spPr>
      </p:sp>
      <p:pic>
        <p:nvPicPr>
          <p:cNvPr id="7" name="Icon GiHourglass" descr="preencoded.png">    </p:cNvPr>
          <p:cNvPicPr>
            <a:picLocks noChangeAspect="1"/>
          </p:cNvPicPr>
          <p:nvPr/>
        </p:nvPicPr>
        <p:blipFill>
          <a:blip r:embed="rId2"/>
          <a:stretch>
            <a:fillRect/>
          </a:stretch>
        </p:blipFill>
        <p:spPr>
          <a:xfrm>
            <a:off x="4651553" y="1496873"/>
            <a:ext cx="435254" cy="435254"/>
          </a:xfrm>
          <a:prstGeom prst="rect">
            <a:avLst/>
          </a:prstGeom>
        </p:spPr>
      </p:pic>
      <p:sp>
        <p:nvSpPr>
          <p:cNvPr id="8" name="Text 4"/>
          <p:cNvSpPr txBox="1"/>
          <p:nvPr/>
        </p:nvSpPr>
        <p:spPr>
          <a:xfrm>
            <a:off x="5486400" y="1280160"/>
            <a:ext cx="6126480" cy="868680"/>
          </a:xfrm>
          <a:prstGeom prst="rect">
            <a:avLst/>
          </a:prstGeom>
          <a:noFill/>
          <a:ln/>
        </p:spPr>
        <p:txBody>
          <a:bodyPr wrap="square" lIns="0" tIns="0" rIns="0" bIns="0" rtlCol="0" anchor="ctr"/>
          <a:lstStyle/>
          <a:p>
            <a:pPr indent="0" marL="0">
              <a:buNone/>
            </a:pPr>
            <a:r>
              <a:rPr lang="en-US" sz="2200" b="1" dirty="0">
                <a:solidFill>
                  <a:schemeClr val="accent2"/>
                </a:solidFill>
              </a:rPr>
              <a:t>60 Minuten · 24 BE</a:t>
            </a:r>
            <a:endParaRPr lang="en-US" sz="1800" dirty="0"/>
          </a:p>
          <a:p>
            <a:pPr indent="0" marL="0">
              <a:buNone/>
            </a:pPr>
            <a:r>
              <a:rPr lang="en-US" sz="1800" dirty="0">
                <a:solidFill>
                  <a:schemeClr val="bg1"/>
                </a:solidFill>
              </a:rPr>
              <a:t>Zeitbudget wie im Abi: ≈ 2,5 min pro BE</a:t>
            </a:r>
            <a:endParaRPr lang="en-US" sz="1800" dirty="0"/>
          </a:p>
        </p:txBody>
      </p:sp>
      <p:sp>
        <p:nvSpPr>
          <p:cNvPr id="9" name="Icon-Kreis"/>
          <p:cNvSpPr/>
          <p:nvPr/>
        </p:nvSpPr>
        <p:spPr>
          <a:xfrm>
            <a:off x="4480560" y="2331720"/>
            <a:ext cx="777240" cy="777240"/>
          </a:xfrm>
          <a:prstGeom prst="ellipse">
            <a:avLst/>
          </a:prstGeom>
          <a:solidFill>
            <a:schemeClr val="bg1"/>
          </a:solidFill>
          <a:ln/>
        </p:spPr>
      </p:sp>
      <p:pic>
        <p:nvPicPr>
          <p:cNvPr id="10" name="Icon GiQuillInk" descr="preencoded.png">    </p:cNvPr>
          <p:cNvPicPr>
            <a:picLocks noChangeAspect="1"/>
          </p:cNvPicPr>
          <p:nvPr/>
        </p:nvPicPr>
        <p:blipFill>
          <a:blip r:embed="rId3"/>
          <a:stretch>
            <a:fillRect/>
          </a:stretch>
        </p:blipFill>
        <p:spPr>
          <a:xfrm>
            <a:off x="4651553" y="2502713"/>
            <a:ext cx="435254" cy="435254"/>
          </a:xfrm>
          <a:prstGeom prst="rect">
            <a:avLst/>
          </a:prstGeom>
        </p:spPr>
      </p:pic>
      <p:sp>
        <p:nvSpPr>
          <p:cNvPr id="11" name="Text 6"/>
          <p:cNvSpPr txBox="1"/>
          <p:nvPr/>
        </p:nvSpPr>
        <p:spPr>
          <a:xfrm>
            <a:off x="5486400" y="2286000"/>
            <a:ext cx="6126480" cy="868680"/>
          </a:xfrm>
          <a:prstGeom prst="rect">
            <a:avLst/>
          </a:prstGeom>
          <a:noFill/>
          <a:ln/>
        </p:spPr>
        <p:txBody>
          <a:bodyPr wrap="square" lIns="0" tIns="0" rIns="0" bIns="0" rtlCol="0" anchor="ctr"/>
          <a:lstStyle/>
          <a:p>
            <a:pPr indent="0" marL="0">
              <a:buNone/>
            </a:pPr>
            <a:r>
              <a:rPr lang="en-US" sz="2200" b="1" dirty="0">
                <a:solidFill>
                  <a:schemeClr val="accent2"/>
                </a:solidFill>
              </a:rPr>
              <a:t>Papier, ohne Gerät</a:t>
            </a:r>
            <a:endParaRPr lang="en-US" sz="1800" dirty="0"/>
          </a:p>
          <a:p>
            <a:pPr indent="0" marL="0">
              <a:buNone/>
            </a:pPr>
            <a:r>
              <a:rPr lang="en-US" sz="1800" dirty="0">
                <a:solidFill>
                  <a:schemeClr val="bg1"/>
                </a:solidFill>
              </a:rPr>
              <a:t>erlaubt sind nur deine Werkzeugkarten</a:t>
            </a:r>
            <a:endParaRPr lang="en-US" sz="1800" dirty="0"/>
          </a:p>
        </p:txBody>
      </p:sp>
      <p:sp>
        <p:nvSpPr>
          <p:cNvPr id="12" name="Icon-Kreis"/>
          <p:cNvSpPr/>
          <p:nvPr/>
        </p:nvSpPr>
        <p:spPr>
          <a:xfrm>
            <a:off x="4480560" y="3337560"/>
            <a:ext cx="777240" cy="777240"/>
          </a:xfrm>
          <a:prstGeom prst="ellipse">
            <a:avLst/>
          </a:prstGeom>
          <a:solidFill>
            <a:schemeClr val="bg1"/>
          </a:solidFill>
          <a:ln/>
        </p:spPr>
      </p:sp>
      <p:pic>
        <p:nvPicPr>
          <p:cNvPr id="13" name="Icon GiBookPile" descr="preencoded.png">    </p:cNvPr>
          <p:cNvPicPr>
            <a:picLocks noChangeAspect="1"/>
          </p:cNvPicPr>
          <p:nvPr/>
        </p:nvPicPr>
        <p:blipFill>
          <a:blip r:embed="rId4"/>
          <a:stretch>
            <a:fillRect/>
          </a:stretch>
        </p:blipFill>
        <p:spPr>
          <a:xfrm>
            <a:off x="4651553" y="3508553"/>
            <a:ext cx="435254" cy="435254"/>
          </a:xfrm>
          <a:prstGeom prst="rect">
            <a:avLst/>
          </a:prstGeom>
        </p:spPr>
      </p:pic>
      <p:sp>
        <p:nvSpPr>
          <p:cNvPr id="14" name="Text 8"/>
          <p:cNvSpPr txBox="1"/>
          <p:nvPr/>
        </p:nvSpPr>
        <p:spPr>
          <a:xfrm>
            <a:off x="5486400" y="3291840"/>
            <a:ext cx="6126480" cy="868680"/>
          </a:xfrm>
          <a:prstGeom prst="rect">
            <a:avLst/>
          </a:prstGeom>
          <a:noFill/>
          <a:ln/>
        </p:spPr>
        <p:txBody>
          <a:bodyPr wrap="square" lIns="0" tIns="0" rIns="0" bIns="0" rtlCol="0" anchor="ctr"/>
          <a:lstStyle/>
          <a:p>
            <a:pPr indent="0" marL="0">
              <a:buNone/>
            </a:pPr>
            <a:r>
              <a:rPr lang="en-US" sz="2200" b="1" dirty="0">
                <a:solidFill>
                  <a:schemeClr val="accent2"/>
                </a:solidFill>
              </a:rPr>
              <a:t>Neuer Kontext</a:t>
            </a:r>
            <a:endParaRPr lang="en-US" sz="1800" dirty="0"/>
          </a:p>
          <a:p>
            <a:pPr indent="0" marL="0">
              <a:buNone/>
            </a:pPr>
            <a:r>
              <a:rPr lang="en-US" sz="1800" dirty="0">
                <a:solidFill>
                  <a:schemeClr val="bg1"/>
                </a:solidFill>
              </a:rPr>
              <a:t>gleiches Handwerk wie in der Akademie – Transfer</a:t>
            </a:r>
            <a:endParaRPr lang="en-US" sz="1800" dirty="0"/>
          </a:p>
        </p:txBody>
      </p:sp>
      <p:sp>
        <p:nvSpPr>
          <p:cNvPr id="15" name="Icon-Kreis"/>
          <p:cNvSpPr/>
          <p:nvPr/>
        </p:nvSpPr>
        <p:spPr>
          <a:xfrm>
            <a:off x="4480560" y="4343400"/>
            <a:ext cx="777240" cy="777240"/>
          </a:xfrm>
          <a:prstGeom prst="ellipse">
            <a:avLst/>
          </a:prstGeom>
          <a:solidFill>
            <a:schemeClr val="bg1"/>
          </a:solidFill>
          <a:ln/>
        </p:spPr>
      </p:sp>
      <p:pic>
        <p:nvPicPr>
          <p:cNvPr id="16" name="Icon GiCrossedSwords" descr="preencoded.png">    </p:cNvPr>
          <p:cNvPicPr>
            <a:picLocks noChangeAspect="1"/>
          </p:cNvPicPr>
          <p:nvPr/>
        </p:nvPicPr>
        <p:blipFill>
          <a:blip r:embed="rId5"/>
          <a:stretch>
            <a:fillRect/>
          </a:stretch>
        </p:blipFill>
        <p:spPr>
          <a:xfrm>
            <a:off x="4651553" y="4514393"/>
            <a:ext cx="435254" cy="435254"/>
          </a:xfrm>
          <a:prstGeom prst="rect">
            <a:avLst/>
          </a:prstGeom>
        </p:spPr>
      </p:pic>
      <p:sp>
        <p:nvSpPr>
          <p:cNvPr id="17" name="Text 10"/>
          <p:cNvSpPr txBox="1"/>
          <p:nvPr/>
        </p:nvSpPr>
        <p:spPr>
          <a:xfrm>
            <a:off x="5486400" y="4297680"/>
            <a:ext cx="6126480" cy="868680"/>
          </a:xfrm>
          <a:prstGeom prst="rect">
            <a:avLst/>
          </a:prstGeom>
          <a:noFill/>
          <a:ln/>
        </p:spPr>
        <p:txBody>
          <a:bodyPr wrap="square" lIns="0" tIns="0" rIns="0" bIns="0" rtlCol="0" anchor="ctr"/>
          <a:lstStyle/>
          <a:p>
            <a:pPr indent="0" marL="0">
              <a:buNone/>
            </a:pPr>
            <a:r>
              <a:rPr lang="en-US" sz="2200" b="1" dirty="0">
                <a:solidFill>
                  <a:schemeClr val="accent2"/>
                </a:solidFill>
              </a:rPr>
              <a:t>Zusätzlich im Lab: Online-Boss</a:t>
            </a:r>
            <a:endParaRPr lang="en-US" sz="1800" dirty="0"/>
          </a:p>
          <a:p>
            <a:pPr indent="0" marL="0">
              <a:buNone/>
            </a:pPr>
            <a:r>
              <a:rPr lang="en-US" sz="1800" dirty="0">
                <a:solidFill>
                  <a:schemeClr val="bg1"/>
                </a:solidFill>
              </a:rPr>
              <a:t>„Aufnahmeprüfung: Die Bibliothek der Akademie“ · 25 min</a:t>
            </a:r>
            <a:endParaRPr lang="en-US" sz="1800" dirty="0"/>
          </a:p>
        </p:txBody>
      </p:sp>
      <p:sp>
        <p:nvSpPr>
          <p:cNvPr id="18" name="Text 11"/>
          <p:cNvSpPr txBox="1"/>
          <p:nvPr/>
        </p:nvSpPr>
        <p:spPr>
          <a:xfrm>
            <a:off x="4480560" y="5440680"/>
            <a:ext cx="7132320" cy="731520"/>
          </a:xfrm>
          <a:prstGeom prst="rect">
            <a:avLst/>
          </a:prstGeom>
          <a:noFill/>
          <a:ln/>
        </p:spPr>
        <p:txBody>
          <a:bodyPr wrap="square" lIns="0" tIns="0" rIns="0" bIns="0" rtlCol="0" anchor="ctr"/>
          <a:lstStyle/>
          <a:p>
            <a:pPr indent="0" marL="0">
              <a:buNone/>
            </a:pPr>
            <a:r>
              <a:rPr lang="en-US" sz="1800" b="1" dirty="0">
                <a:solidFill>
                  <a:schemeClr val="accent2"/>
                </a:solidFill>
              </a:rPr>
              <a:t>Vorbereitung: </a:t>
            </a:r>
            <a:pPr indent="0" marL="0">
              <a:buNone/>
            </a:pPr>
            <a:r>
              <a:rPr lang="en-US" sz="1800" dirty="0">
                <a:solidFill>
                  <a:schemeClr val="bg1"/>
                </a:solidFill>
              </a:rPr>
              <a:t>Warm-up-Karten W0-09 bis W0-22 · Werkzeugkarten · Abi-Check</a:t>
            </a:r>
            <a:endParaRPr lang="en-US" sz="1800" dirty="0"/>
          </a:p>
        </p:txBody>
      </p:sp>
      <p:sp>
        <p:nvSpPr>
          <p:cNvPr id="19" name="Text 12"/>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7 · Boss 0</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Algo Quest">
  <a:themeElements>
    <a:clrScheme name="Algo Quest">
      <a:dk1>
        <a:srgbClr val="1A1A1A"/>
      </a:dk1>
      <a:lt1>
        <a:srgbClr val="FFFFFF"/>
      </a:lt1>
      <a:dk2>
        <a:srgbClr val="1F4E79"/>
      </a:dk2>
      <a:lt2>
        <a:srgbClr val="DBE7F5"/>
      </a:lt2>
      <a:accent1>
        <a:srgbClr val="1F4E79"/>
      </a:accent1>
      <a:accent2>
        <a:srgbClr val="B8860B"/>
      </a:accent2>
      <a:accent3>
        <a:srgbClr val="548235"/>
      </a:accent3>
      <a:accent4>
        <a:srgbClr val="C00000"/>
      </a:accent4>
      <a:accent5>
        <a:srgbClr val="F0F0F0"/>
      </a:accent5>
      <a:accent6>
        <a:srgbClr val="2E75B6"/>
      </a:accent6>
      <a:hlink>
        <a:srgbClr val="2E75B6"/>
      </a:hlink>
      <a:folHlink>
        <a:srgbClr val="7030A0"/>
      </a:folHlink>
    </a:clrScheme>
    <a:fontScheme name="Algo Ques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Max-Planck-Gymnasium Delmenhorst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 Quest – Welt 0: Die Akademie</dc:title>
  <dc:subject>PptxGenJS Presentation</dc:subject>
  <dc:creator>Frank Juchim</dc:creator>
  <cp:lastModifiedBy>Frank Juchim</cp:lastModifiedBy>
  <cp:revision>1</cp:revision>
  <dcterms:created xsi:type="dcterms:W3CDTF">2026-10-08T18:30:31Z</dcterms:created>
  <dcterms:modified xsi:type="dcterms:W3CDTF">2026-10-08T18:30:31Z</dcterms:modified>
</cp:coreProperties>
</file>