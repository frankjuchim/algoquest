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8b043565-65a2-04c6-d9f6-74e888a0c744}">
          <p14:sldIdLst>
            <p14:sldId id="256"/>
          </p14:sldIdLst>
        </p14:section>
        <p14:section name="Warum?" id="{52539c2d-b7a9-5dfa-f951-d97c4ddce2dc}">
          <p14:sldIdLst>
            <p14:sldId id="257"/>
            <p14:sldId id="258"/>
          </p14:sldIdLst>
        </p14:section>
        <p14:section name="Die Quest" id="{44f38217-d70d-eedd-b942-751689bd8def}">
          <p14:sldIdLst>
            <p14:sldId id="259"/>
            <p14:sldId id="260"/>
            <p14:sldId id="261"/>
          </p14:sldIdLst>
        </p14:section>
        <p14:section name="Spielregeln" id="{bcccb29d-a879-984c-57ab-fc8df8f927af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Werkzeuge" id="{1a0ff963-0e83-a15b-f122-910be9559a98}">
          <p14:sldIdLst>
            <p14:sldId id="271"/>
            <p14:sldId id="272"/>
            <p14:sldId id="273"/>
          </p14:sldIdLst>
        </p14:section>
        <p14:section name="Los geht’s" id="{9a4f0e52-cebb-9588-fd67-220dc3033840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 und Einstieg (ca. 2 min). Kurs als Game-Studio vorstellen: In den nächsten 14 Wochen arbeiten wir uns in Teams und im Algo Quest Lab durch sieben Welten – von der Akademie bis zum Endgegner. Neugier wecken, noch keine Regeln erklären; die kleinen Punkte unten sind die sieben Welten.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Ehrliche Ausgangslage (ca. 3 min): Block 1 bringt 60 BE je Wahlaufgabe, rund 80 % davon sind Algorithmik – und Block 1 macht die Hälfte der schriftlichen Note aus. Faustregel 2,5 Minuten pro BE: Wer langsam schreibt, verliert Punkte. Betonen: In allen 22 Wahlaufgaben 2022–2026 musste implementiert und getraced werden, und zwar von Hand. Daraus folgt unser Konzept: üben in der IDE, bestehen auf Papier.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vier Handschrift-Stufen erklären (ca. 2 min): Erst lesen und tracen, dann Lücken füllen und Puzzles legen, dann Papier-first mit dem Papier-Compiler, am Ende Abi-Aufgaben auf Zeit im Boss-Kampf. Jede Welt durchläuft diese Treppe erneut. Wichtig: Die IDE ist Trainingsgelände, das Abitur findet auf Papier statt.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Rahmengeschichte (ca. 2 min): Wir sind ein Game-Studio und bauen Stück für Stück ein Dungeon-Spiel. Jede Welt liefert ein Bauteil – Helden und Monster, eine Highscore-Liste, ein Labyrinth, einen Hafen mit Warteschlangen, einen Wald aus Bäumen. Hinter jedem Bauteil steckt ein Abi-Thema (blaue Zeile).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Quest-Map zeigen (ca. 3 min): Welt 0, die Akademie, beginnt heute und dauert knapp drei Wochen (DS 1–7), danach je zwei bis drei Wochen pro Welt – der Wochenbalken unten zeigt die Aufteilung der 14 Wochen. Am Ende jeder Welt von 0 bis 5 wartet ein Boss-Kampf, also eine Abi-Teilaufgabe auf Zeit. Welt 6 ist der Endgegner: Probeklausur und Klausur. Hinweis: Die Map hängt im Raum; im Algo Quest Lab erscheint dieselbe Weltkarte mit den Lab-Leveln jeder Welt, damit alle sehen, wo wir stehen.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Akademie im Überblick (ca. 2 min): Welt 0 umfasst sieben Doppelstunden. Erst das Handwerk: Basics in der Werkstatt, Reihungen in der Vorratskammer, dann eigene Methoden in der Zauberschule – eine Methode ist eine Zauberformel mit Name, Zutaten (Parametern) und Wirkung (Rückgabe). In DS 6 wird in der Methoden-Werkstatt vor allem auf Papier gearbeitet, in DS 7 wartet Boss 0, die Aufnahmeprüfung der Akademie – auf Papier und zusätzlich als Online-Boss im Lab. Die goldene Zeile unten nennt das passende Lab-Level 0.1 bis 0.6. Begründung für den Kurs: In allen 22 Abi-Aufgaben 2022–2026 wurde implementiert – immer als Methode mit vorgegebener Signatur.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Teams erklären (ca. 2 min): Ihr arbeitet in Tischgruppen mit drei bis vier Personen, leistungsgemischt – die Einteilung mache ich. Im Team wird erklärt, nicht vorgesagt: Wer einer anderen Person hilft, ist Helfer:in, dafür gibt es keine Punkte, aber es ist die beste Übung fürs Abitur. Code-Reviews und Peer-Korrekturen machen wir im Team. Punkte sammelt jede und jeder selbst und automatisch im Algo Quest Lab. Team-Spiele wie das Sortier-Duell (Welt 2) oder das Dungeon-Rennen (Welt 3) laufen an der Tafel bzw. am Beamer – ohne Wertung im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Beitritt ins Algo Quest Lab (ca. 3 min): Vorher im Lehrkraft-Bereich den Kurs anlegen und unter „Beitritt &amp; QR“ den QR-Code am Beamer zeigen; algoquest.frankjuchim.de vor dem Einsatz durch die echte Adresse ersetzen. Alle öffnen das Lab, tippen den Kurscode und ihren Namen ein – Vorname plus Initial des Nachnamens, z. B. „Lena S.“. Danach zeigt das Lab den persönlichen Code: unbedingt notieren oder fotografieren. Mit Name und Code kann man auf jedem Gerät weiterspielen. Wer den Code verliert, bekommt von mir in der Schülerliste einen neuen.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Weltkarte zeigen (ca. 2 min, am besten live): Jede Welt hat Lab-Level – in der Akademie Level 0.1 bis 0.6, eins pro Doppelstunde, passend zum Arbeitsblatt. Die interaktiven Aufgaben prüft das Lab sofort: Prüfen, bei Bedarf Tipp, im Notfall Lösung zeigen. Der Trainingsplatz liefert Zufallsaufgaben zum Wiederholen. Am Ende jeder Welt wartet ein Online-Boss. Programmiert wird weiterhin in der Online-IDE; das Lab zeigt nur an, welches IDE-Level dazugehört.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Punkte erklären (ca. 2 min): Niemand trägt Punkte ein – das Lab vergibt sie automatisch, wenn eine Aufgabe zum ersten Mal gelöst wird. Stufe 1, 2, 3 bringen 10, 20 oder 30 Punkte. Jeder Fehlversuch zieht 25 %, jeder Tipp 20 % ab, mindestens bleiben 25 %. Wer „Lösung zeigen“ wählt, bekommt 0 Punkte, sieht aber die Erklärung. Beispiele: Stufe 2 mit einem Fehlversuch = 15 Punkte, Stufe 3 mit einem Tipp = 24 Punkte. Der Trainingsplatz bringt 1 Punkt je Aufgabe, höchstens 30 am Tag; beim Online-Boss zählt der beste Versuch. Papier-Warm-up, Papier-Compiler, IDE-Level und Papier-Boss gibt es weiterhin – ohne Punkte.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Ränge (ca. 1 min): Fünf Ränge von Novize bis Großmeister. Das Lab berechnet sie automatisch aus dem Anteil der Level-Punkte aller Welten, die ich freigeschaltet habe: ab 10 % Lehrling, ab 30 % Geselle, ab 55 % Meister, ab 80 % Großmeister. Schaltet die Lehrkraft eine neue Welt frei, wächst die Messlatte mit – dranbleiben lohnt sich. Großmeister heißt: abiturbereit.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Abzeichen kurz zeigen (ca. 1 min): Das Lab vergibt sie automatisch – niemand muss etwas beantragen. „Welt gemeistert“ und „Boss besiegt“ gibt es für jede Welt einzeln, z. B. „Die Akademie gemeistert“ und „Aufnahmeprüfung: Die Bibliothek der Akademie besiegt“. Fallensucher passt zum Fallen-Profil (P1–P10), das ihr im Profil unter „Deine Fallen“ seht. Warm-up-Meister gibt es für den Warm-up-Trainer, der selbst keine Punkte vergibt.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Boss-Kämpfe (ca. 2 min): Am Ende jeder Welt kommt eine Abi-Teilaufgabe auf Papier, mit echten Operatoren und BE-Angaben, auf Zeit. Der erste Boss, die Aufnahmeprüfung der Akademie (Boss 0 in DS 7), hat etwa 24 BE in 60 Minuten. Rückmeldung gibt es nach Erwartungshorizont – von mir oder in Selbst- bzw. Peer-Korrektur. Zusätzlich gibt es im Lab einen Online-Boss („Aufnahmeprüfung: Die Bibliothek der Akademie“, 25 Minuten): kein Feedback während des Kampfes, Auswertung am Ende, der beste Versuch zählt, besiegt ab 50 %. So wird das Abitur-Format bis zum Frühjahr zur Routine.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Papier-Compiler erklären (ca. 2 min): Erst komplett auf Papier schreiben, dann exakt so abtippen, wie es auf dem Blatt steht – Fehler werden nicht beim Tippen korrigiert. Laufen alle Tests beim ersten Versuch, hat die Handschrift „compiliert“; sonst kommt die Ursache ins Fehlerlogbuch. Punkte gibt es dafür nicht – der Papier-Compiler trainiert genau die Sorgfalt, die im Abitur ohne Compiler zählt. Im Lab übt Level 0.6 die typischen Fehler aus der Fehlergalerie.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feste Rhythmus jeder Doppelstunde (ca. 1 min): 10 Minuten Papier-Warm-up zum Ankommen, ohne Gerät – nachüben kann man jederzeit im Warm-up-Trainer des Lab. 15 Minuten Input oder ein Unplugged-Einstieg, 50 Minuten Arbeit im Team: erst das passende Lab-Level, dann das IDE-Level in der Online-IDE. 15 Minuten Sicherung mit Abi-Check und Fehlerlogbuch. Punkte muss niemand eintragen – das Lab zählt automatisch. Ausnahmen sind Boss-Stunden und reine Papier-Stunden wie die Methoden-Werkstatt (DS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Werkzeuge (ca. 2 min): Programmiert wird in der Online-IDE im Browser, Tests laufen im Reiter Testrunner – die IDE bleibt extern und vergibt keine Punkte. Das Algo Quest Lab ist unsere Übungsplattform: Weltkarte mit Lab-Leveln, automatisch geprüfte Aufgaben, Punkte, Rang und Abzeichen, Online-Boss, Trainingsplatz und Warm-up-Trainer; Beitritt mit Kurscode und Name, danach Anmeldung mit Name und persönlichem Code. Die YouTube-Playlist enthält Erklärvideos und Boss-Lösungen. Vor dem Einsatz algoquest.frankjuchim.de durch die echte Adresse und den QR-Platzhalter durch den Playlist-Link ersetzen.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live oder per Screenshot zeigen (ca. 2 min): Im Profil stehen Punkte, Rang, Abzeichen, der Fortschritt je Welt und „Deine Fallen“ – dort seht ihr, bei welchen typischen Abi-Fallen (P1–P10) ihr noch Fehlversuche habt. Dort findet ihr auch euren persönlichen Code wieder. Das Scoreboard zeigt Namen und Punkte innerhalb des Kurses; ich kann es in den Einstellungen ausblenden, am Beamer gibt es optional ein Beamer-Board. Der Warm-up-Trainer arbeitet mit Karteikästen: Karten, die man sicher kann, kommen seltener. Er vergibt keine Punkte – er ist zum ehrlichen Üben 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Spielregeln (ca. 2 min): Ganz deutlich sagen, dass Punkte nicht in die Note eingehen – sie sind Motivation und Rückmeldung. Datenschutz: Im Lab nur Vorname plus Initial, der persönliche Code bleibt privat; das Scoreboard ist nur kursintern sichtbar und kann ausgeblendet werden. Ehrlichkeit bei Papier-Aufgaben liegt im eigenen Interesse. Helfer:innen erklären, statt vorzusagen. Bug-Meldung als Einladung, das Material kritisch zu lesen – wer einen Fehler findet, meldet ihn, ohne Punkte.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Arbeitsauftrag (Rest der Stunde): Zuerst setzen sich alle in ihre Teams und treten dem Lab bei, etwa 10 Minuten: QR-Code am Beamer, Kurscode und Name, Code notieren – ich gehe herum und prüfe, dass alle ihren Code aufgeschrieben haben. Wer fertig ist, öffnet Lab-Level 0.1 „Das Portal: Notation fürs Abitur“. Danach Level 0 in der Online-IDE: Die Diagnose-Methoden auf Reihungen zeigen mir und euch, wo ihr nach der Pause steht. Wer Basis schafft, geht weiter zu Erweiterung und Experte. Punkte zählt das Lab automatisch; die IDE-Stufen sind ohne Punkte.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Q Tite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69494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20240"/>
            <a:ext cx="71323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429000"/>
            <a:ext cx="69494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Q Inhal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Informatik LK · Algo Quest · Welt 0 – Die Akademie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Q Dunke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Informatik LK · Algo Quest · Welt 0 – Die Akademie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accent2"/>
                </a:solidFill>
              </a:rPr>
              <a:t>INFORMATIK LK · WELT 0 – DIE AKADEMIE · DS 1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20240"/>
            <a:ext cx="7132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Algo Quest</a:t>
            </a: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4290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2"/>
                </a:solidFill>
              </a:rPr>
              <a:t>Das Dungeon der Datenstrukturen</a:t>
            </a:r>
            <a:endParaRPr lang="en-US" sz="3000" dirty="0"/>
          </a:p>
        </p:txBody>
      </p:sp>
      <p:sp>
        <p:nvSpPr>
          <p:cNvPr id="5" name="Icon-Kreis"/>
          <p:cNvSpPr/>
          <p:nvPr/>
        </p:nvSpPr>
        <p:spPr>
          <a:xfrm>
            <a:off x="8229600" y="1325880"/>
            <a:ext cx="3200400" cy="320040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accent2"/>
            </a:solidFill>
            <a:prstDash val="solid"/>
          </a:ln>
        </p:spPr>
      </p:sp>
      <p:pic>
        <p:nvPicPr>
          <p:cNvPr id="6" name="Icon GiMagicPorta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3668" y="1869948"/>
            <a:ext cx="2112264" cy="2112264"/>
          </a:xfrm>
          <a:prstGeom prst="rect">
            <a:avLst/>
          </a:prstGeom>
        </p:spPr>
      </p:pic>
      <p:sp>
        <p:nvSpPr>
          <p:cNvPr id="7" name="Linie"/>
          <p:cNvSpPr/>
          <p:nvPr/>
        </p:nvSpPr>
        <p:spPr>
          <a:xfrm>
            <a:off x="1188720" y="4983480"/>
            <a:ext cx="411480" cy="91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ysDot"/>
          </a:ln>
        </p:spPr>
      </p:sp>
      <p:sp>
        <p:nvSpPr>
          <p:cNvPr id="8" name="Weltpunkt 0"/>
          <p:cNvSpPr txBox="1"/>
          <p:nvPr/>
        </p:nvSpPr>
        <p:spPr>
          <a:xfrm>
            <a:off x="731520" y="4754880"/>
            <a:ext cx="457200" cy="4572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</a:t>
            </a:r>
            <a:endParaRPr lang="en-US" sz="1600" dirty="0"/>
          </a:p>
        </p:txBody>
      </p:sp>
      <p:sp>
        <p:nvSpPr>
          <p:cNvPr id="9" name="Linie"/>
          <p:cNvSpPr/>
          <p:nvPr/>
        </p:nvSpPr>
        <p:spPr>
          <a:xfrm>
            <a:off x="2057400" y="4983480"/>
            <a:ext cx="411480" cy="91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ysDot"/>
          </a:ln>
        </p:spPr>
      </p:sp>
      <p:sp>
        <p:nvSpPr>
          <p:cNvPr id="10" name="Weltpunkt 1"/>
          <p:cNvSpPr txBox="1"/>
          <p:nvPr/>
        </p:nvSpPr>
        <p:spPr>
          <a:xfrm>
            <a:off x="1600200" y="475488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Linie"/>
          <p:cNvSpPr/>
          <p:nvPr/>
        </p:nvSpPr>
        <p:spPr>
          <a:xfrm>
            <a:off x="2926080" y="4983480"/>
            <a:ext cx="411480" cy="91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ysDot"/>
          </a:ln>
        </p:spPr>
      </p:sp>
      <p:sp>
        <p:nvSpPr>
          <p:cNvPr id="12" name="Weltpunkt 2"/>
          <p:cNvSpPr txBox="1"/>
          <p:nvPr/>
        </p:nvSpPr>
        <p:spPr>
          <a:xfrm>
            <a:off x="2468880" y="475488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Linie"/>
          <p:cNvSpPr/>
          <p:nvPr/>
        </p:nvSpPr>
        <p:spPr>
          <a:xfrm>
            <a:off x="3794760" y="4983480"/>
            <a:ext cx="411480" cy="91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ysDot"/>
          </a:ln>
        </p:spPr>
      </p:sp>
      <p:sp>
        <p:nvSpPr>
          <p:cNvPr id="14" name="Weltpunkt 3"/>
          <p:cNvSpPr txBox="1"/>
          <p:nvPr/>
        </p:nvSpPr>
        <p:spPr>
          <a:xfrm>
            <a:off x="3337560" y="475488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Linie"/>
          <p:cNvSpPr/>
          <p:nvPr/>
        </p:nvSpPr>
        <p:spPr>
          <a:xfrm>
            <a:off x="4663440" y="4983480"/>
            <a:ext cx="411480" cy="91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ysDot"/>
          </a:ln>
        </p:spPr>
      </p:sp>
      <p:sp>
        <p:nvSpPr>
          <p:cNvPr id="16" name="Weltpunkt 4"/>
          <p:cNvSpPr txBox="1"/>
          <p:nvPr/>
        </p:nvSpPr>
        <p:spPr>
          <a:xfrm>
            <a:off x="4206240" y="475488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Linie"/>
          <p:cNvSpPr/>
          <p:nvPr/>
        </p:nvSpPr>
        <p:spPr>
          <a:xfrm>
            <a:off x="5532120" y="4983480"/>
            <a:ext cx="411480" cy="91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ysDot"/>
          </a:ln>
        </p:spPr>
      </p:sp>
      <p:sp>
        <p:nvSpPr>
          <p:cNvPr id="18" name="Weltpunkt 5"/>
          <p:cNvSpPr txBox="1"/>
          <p:nvPr/>
        </p:nvSpPr>
        <p:spPr>
          <a:xfrm>
            <a:off x="5074920" y="475488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Weltpunkt 6"/>
          <p:cNvSpPr txBox="1"/>
          <p:nvPr/>
        </p:nvSpPr>
        <p:spPr>
          <a:xfrm>
            <a:off x="5943600" y="475488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53949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7 Welten · 14 Wochen · 1 Ziel: das Abitur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Euer Abitur: Block 1</a:t>
            </a:r>
            <a:endParaRPr lang="en-US" sz="3600" dirty="0"/>
          </a:p>
        </p:txBody>
      </p:sp>
      <p:sp>
        <p:nvSpPr>
          <p:cNvPr id="3" name="Kennzahl 1"/>
          <p:cNvSpPr/>
          <p:nvPr/>
        </p:nvSpPr>
        <p:spPr>
          <a:xfrm>
            <a:off x="548640" y="1371600"/>
            <a:ext cx="256032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chemeClr val="accent1"/>
                </a:solidFill>
              </a:rPr>
              <a:t>60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5059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BE je Wahlaufgabe</a:t>
            </a:r>
            <a:endParaRPr lang="en-US" sz="1700" dirty="0"/>
          </a:p>
        </p:txBody>
      </p:sp>
      <p:sp>
        <p:nvSpPr>
          <p:cNvPr id="6" name="Kennzahl 2"/>
          <p:cNvSpPr/>
          <p:nvPr/>
        </p:nvSpPr>
        <p:spPr>
          <a:xfrm>
            <a:off x="3383280" y="1371600"/>
            <a:ext cx="256032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66160" y="148132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chemeClr val="accent1"/>
                </a:solidFill>
              </a:rPr>
              <a:t>≈ 80 %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45059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davon Algorithmik und Datenstrukturen</a:t>
            </a:r>
            <a:endParaRPr lang="en-US" sz="1700" dirty="0"/>
          </a:p>
        </p:txBody>
      </p:sp>
      <p:sp>
        <p:nvSpPr>
          <p:cNvPr id="9" name="Kennzahl 3"/>
          <p:cNvSpPr/>
          <p:nvPr/>
        </p:nvSpPr>
        <p:spPr>
          <a:xfrm>
            <a:off x="6217920" y="1371600"/>
            <a:ext cx="256032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48132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chemeClr val="accent1"/>
                </a:solidFill>
              </a:rPr>
              <a:t>50 %</a:t>
            </a:r>
            <a:endParaRPr lang="en-US" sz="5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45059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Block 1 = Hälfte der schriftlichen Note</a:t>
            </a:r>
            <a:endParaRPr lang="en-US" sz="1700" dirty="0"/>
          </a:p>
        </p:txBody>
      </p:sp>
      <p:sp>
        <p:nvSpPr>
          <p:cNvPr id="12" name="Kennzahl 4"/>
          <p:cNvSpPr/>
          <p:nvPr/>
        </p:nvSpPr>
        <p:spPr>
          <a:xfrm>
            <a:off x="9052560" y="1371600"/>
            <a:ext cx="256032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235440" y="148132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chemeClr val="accent1"/>
                </a:solidFill>
              </a:rPr>
              <a:t>2,5</a:t>
            </a:r>
            <a:endParaRPr lang="en-US" sz="50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45059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Minuten pro BE (Faustregel)</a:t>
            </a:r>
            <a:endParaRPr lang="en-US" sz="1700" dirty="0"/>
          </a:p>
        </p:txBody>
      </p:sp>
      <p:sp>
        <p:nvSpPr>
          <p:cNvPr id="15" name="Befund Implementieren"/>
          <p:cNvSpPr/>
          <p:nvPr/>
        </p:nvSpPr>
        <p:spPr>
          <a:xfrm>
            <a:off x="548640" y="3794760"/>
            <a:ext cx="110642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6" name="Icon-Kreis"/>
          <p:cNvSpPr/>
          <p:nvPr/>
        </p:nvSpPr>
        <p:spPr>
          <a:xfrm>
            <a:off x="731520" y="393192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con GiCheckMar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4082796"/>
            <a:ext cx="384048" cy="38404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645920" y="379476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In allen 22 Abi-Aufgaben 2022–2026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wurde implementiert und ein Algorithmus getraced.</a:t>
            </a:r>
            <a:endParaRPr lang="en-US" sz="2000" dirty="0"/>
          </a:p>
        </p:txBody>
      </p:sp>
      <p:sp>
        <p:nvSpPr>
          <p:cNvPr id="19" name="Befund Handschrift"/>
          <p:cNvSpPr/>
          <p:nvPr/>
        </p:nvSpPr>
        <p:spPr>
          <a:xfrm>
            <a:off x="548640" y="5029200"/>
            <a:ext cx="110642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20" name="Icon-Kreis"/>
          <p:cNvSpPr/>
          <p:nvPr/>
        </p:nvSpPr>
        <p:spPr>
          <a:xfrm>
            <a:off x="731520" y="516636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con GiQuillIn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5317236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645920" y="502920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Alles handschriftlich: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Java-Code, Struktogramme, Tracetabellen – ohne Compiler.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Unser Weg: vom Lesen zum Abi auf Zeit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In der IDE übt ihr. Auf Papier besteht ihr.</a:t>
            </a:r>
            <a:endParaRPr lang="en-US" sz="18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Jede Welt führt euch diese Treppe hinauf.</a:t>
            </a:r>
            <a:endParaRPr lang="en-US" sz="1800" dirty="0"/>
          </a:p>
        </p:txBody>
      </p:sp>
      <p:sp>
        <p:nvSpPr>
          <p:cNvPr id="4" name="Stufe 1"/>
          <p:cNvSpPr/>
          <p:nvPr/>
        </p:nvSpPr>
        <p:spPr>
          <a:xfrm>
            <a:off x="548640" y="4572000"/>
            <a:ext cx="2697480" cy="1554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47091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STUFE 1</a:t>
            </a:r>
            <a:endParaRPr lang="en-US" sz="18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Lesen &amp; Tracen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Code verstehen, Tracetabellen ausfüllen</a:t>
            </a:r>
            <a:endParaRPr lang="en-US" sz="1800" dirty="0"/>
          </a:p>
        </p:txBody>
      </p:sp>
      <p:sp>
        <p:nvSpPr>
          <p:cNvPr id="6" name="Icon-Kreis"/>
          <p:cNvSpPr/>
          <p:nvPr/>
        </p:nvSpPr>
        <p:spPr>
          <a:xfrm>
            <a:off x="1508760" y="3675888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 GiMagnifyingGlas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9753" y="3846881"/>
            <a:ext cx="435254" cy="435254"/>
          </a:xfrm>
          <a:prstGeom prst="rect">
            <a:avLst/>
          </a:prstGeom>
        </p:spPr>
      </p:pic>
      <p:sp>
        <p:nvSpPr>
          <p:cNvPr id="8" name="Stufe 2"/>
          <p:cNvSpPr/>
          <p:nvPr/>
        </p:nvSpPr>
        <p:spPr>
          <a:xfrm>
            <a:off x="3337560" y="3794760"/>
            <a:ext cx="2697480" cy="233172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502152" y="39319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STUFE 2</a:t>
            </a:r>
            <a:endParaRPr lang="en-US" sz="18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Lücken &amp; Puzzle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Lückencode und Parsons-Puzzle</a:t>
            </a:r>
            <a:endParaRPr lang="en-US" sz="1800" dirty="0"/>
          </a:p>
        </p:txBody>
      </p:sp>
      <p:sp>
        <p:nvSpPr>
          <p:cNvPr id="10" name="Icon-Kreis"/>
          <p:cNvSpPr/>
          <p:nvPr/>
        </p:nvSpPr>
        <p:spPr>
          <a:xfrm>
            <a:off x="4297680" y="2898648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 GiCardPlay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673" y="3069641"/>
            <a:ext cx="435254" cy="435254"/>
          </a:xfrm>
          <a:prstGeom prst="rect">
            <a:avLst/>
          </a:prstGeom>
        </p:spPr>
      </p:pic>
      <p:sp>
        <p:nvSpPr>
          <p:cNvPr id="12" name="Stufe 3"/>
          <p:cNvSpPr/>
          <p:nvPr/>
        </p:nvSpPr>
        <p:spPr>
          <a:xfrm>
            <a:off x="6126480" y="3017520"/>
            <a:ext cx="2697480" cy="3108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291072" y="31546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STUFE 3</a:t>
            </a:r>
            <a:endParaRPr lang="en-US" sz="18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Papier-first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erst Papier, dann Papier-Compiler</a:t>
            </a:r>
            <a:endParaRPr lang="en-US" sz="1800" dirty="0"/>
          </a:p>
        </p:txBody>
      </p:sp>
      <p:sp>
        <p:nvSpPr>
          <p:cNvPr id="14" name="Icon-Kreis"/>
          <p:cNvSpPr/>
          <p:nvPr/>
        </p:nvSpPr>
        <p:spPr>
          <a:xfrm>
            <a:off x="7086600" y="2121408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 GiQuillIn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593" y="2292401"/>
            <a:ext cx="435254" cy="435254"/>
          </a:xfrm>
          <a:prstGeom prst="rect">
            <a:avLst/>
          </a:prstGeom>
        </p:spPr>
      </p:pic>
      <p:sp>
        <p:nvSpPr>
          <p:cNvPr id="16" name="Stufe 4"/>
          <p:cNvSpPr/>
          <p:nvPr/>
        </p:nvSpPr>
        <p:spPr>
          <a:xfrm>
            <a:off x="8915400" y="2240280"/>
            <a:ext cx="2697480" cy="38862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9079992" y="2377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STUFE 4</a:t>
            </a:r>
            <a:endParaRPr lang="en-US" sz="18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Abi auf Zeit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Boss-Kampf mit Abi-Aufgaben</a:t>
            </a:r>
            <a:endParaRPr lang="en-US" sz="1800" dirty="0"/>
          </a:p>
        </p:txBody>
      </p:sp>
      <p:sp>
        <p:nvSpPr>
          <p:cNvPr id="18" name="Icon-Kreis"/>
          <p:cNvSpPr/>
          <p:nvPr/>
        </p:nvSpPr>
        <p:spPr>
          <a:xfrm>
            <a:off x="9875520" y="1344168"/>
            <a:ext cx="777240" cy="777240"/>
          </a:xfrm>
          <a:prstGeom prst="ellipse">
            <a:avLst/>
          </a:prstGeom>
          <a:solidFill>
            <a:schemeClr val="accent2"/>
          </a:solidFill>
          <a:ln w="31750">
            <a:solidFill>
              <a:schemeClr val="accent1"/>
            </a:solidFill>
            <a:prstDash val="solid"/>
          </a:ln>
        </p:spPr>
      </p:sp>
      <p:pic>
        <p:nvPicPr>
          <p:cNvPr id="19" name="Icon GiSpikedDragonHea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6513" y="1515161"/>
            <a:ext cx="435254" cy="43525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Die Story: Wir bauen ein Dungeon-Spiel</a:t>
            </a:r>
            <a:endParaRPr lang="en-US" sz="3600" dirty="0"/>
          </a:p>
        </p:txBody>
      </p:sp>
      <p:sp>
        <p:nvSpPr>
          <p:cNvPr id="3" name="Icon-Kreis"/>
          <p:cNvSpPr/>
          <p:nvPr/>
        </p:nvSpPr>
        <p:spPr>
          <a:xfrm>
            <a:off x="548640" y="1417320"/>
            <a:ext cx="1554480" cy="155448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accent2"/>
            </a:solidFill>
            <a:prstDash val="solid"/>
          </a:ln>
        </p:spPr>
      </p:sp>
      <p:pic>
        <p:nvPicPr>
          <p:cNvPr id="4" name="Icon GiDungeonGa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6" y="1759306"/>
            <a:ext cx="870509" cy="87050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2004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Unser Kurs ist ein Game-Studio.</a:t>
            </a:r>
            <a:endParaRPr lang="en-US" sz="1800" dirty="0"/>
          </a:p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Jede Welt liefert ein Bauteil für unser Spiel – und genau die Algorithmen, die im Abitur drankommen.</a:t>
            </a:r>
            <a:endParaRPr lang="en-US" sz="1800" dirty="0"/>
          </a:p>
        </p:txBody>
      </p:sp>
      <p:sp>
        <p:nvSpPr>
          <p:cNvPr id="6" name="Bauteil Heldenschmiede"/>
          <p:cNvSpPr/>
          <p:nvPr/>
        </p:nvSpPr>
        <p:spPr>
          <a:xfrm>
            <a:off x="4846320" y="1325880"/>
            <a:ext cx="6766560" cy="841248"/>
          </a:xfrm>
          <a:prstGeom prst="roundRect">
            <a:avLst>
              <a:gd name="adj" fmla="val 13043"/>
            </a:avLst>
          </a:prstGeom>
          <a:solidFill>
            <a:schemeClr val="accent5"/>
          </a:solidFill>
          <a:ln/>
        </p:spPr>
      </p:sp>
      <p:sp>
        <p:nvSpPr>
          <p:cNvPr id="7" name="Icon-Kreis"/>
          <p:cNvSpPr/>
          <p:nvPr/>
        </p:nvSpPr>
        <p:spPr>
          <a:xfrm>
            <a:off x="4983480" y="1426464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 GiAnvi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298" y="1567282"/>
            <a:ext cx="358445" cy="35844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06440" y="1325880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Heldenschmiede: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Helden, Monster und Schätze</a:t>
            </a:r>
            <a:endParaRPr lang="en-US" sz="19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→ Klassen, Objekte, Vererbung</a:t>
            </a:r>
            <a:endParaRPr lang="en-US" sz="1900" dirty="0"/>
          </a:p>
        </p:txBody>
      </p:sp>
      <p:sp>
        <p:nvSpPr>
          <p:cNvPr id="10" name="Bauteil Rangliste"/>
          <p:cNvSpPr/>
          <p:nvPr/>
        </p:nvSpPr>
        <p:spPr>
          <a:xfrm>
            <a:off x="4846320" y="2313432"/>
            <a:ext cx="6766560" cy="841248"/>
          </a:xfrm>
          <a:prstGeom prst="roundRect">
            <a:avLst>
              <a:gd name="adj" fmla="val 13043"/>
            </a:avLst>
          </a:prstGeom>
          <a:solidFill>
            <a:schemeClr val="accent5"/>
          </a:solidFill>
          <a:ln/>
        </p:spPr>
      </p:sp>
      <p:sp>
        <p:nvSpPr>
          <p:cNvPr id="11" name="Icon-Kreis"/>
          <p:cNvSpPr/>
          <p:nvPr/>
        </p:nvSpPr>
        <p:spPr>
          <a:xfrm>
            <a:off x="4983480" y="2414016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 GiPodium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4298" y="2554834"/>
            <a:ext cx="358445" cy="35844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806440" y="2313432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Rangliste: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Highscores finden und ordnen</a:t>
            </a:r>
            <a:endParaRPr lang="en-US" sz="19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→ Suchen, Sortieren, Effizienz</a:t>
            </a:r>
            <a:endParaRPr lang="en-US" sz="1900" dirty="0"/>
          </a:p>
        </p:txBody>
      </p:sp>
      <p:sp>
        <p:nvSpPr>
          <p:cNvPr id="14" name="Bauteil Labyrinth"/>
          <p:cNvSpPr/>
          <p:nvPr/>
        </p:nvSpPr>
        <p:spPr>
          <a:xfrm>
            <a:off x="4846320" y="3300984"/>
            <a:ext cx="6766560" cy="841248"/>
          </a:xfrm>
          <a:prstGeom prst="roundRect">
            <a:avLst>
              <a:gd name="adj" fmla="val 13043"/>
            </a:avLst>
          </a:prstGeom>
          <a:solidFill>
            <a:schemeClr val="accent5"/>
          </a:solidFill>
          <a:ln/>
        </p:spPr>
      </p:sp>
      <p:sp>
        <p:nvSpPr>
          <p:cNvPr id="15" name="Icon-Kreis"/>
          <p:cNvSpPr/>
          <p:nvPr/>
        </p:nvSpPr>
        <p:spPr>
          <a:xfrm>
            <a:off x="4983480" y="340156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 GiMaz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4298" y="3542386"/>
            <a:ext cx="358445" cy="35844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806440" y="3300984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Labyrinth: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den Weg durchs Dungeon finden</a:t>
            </a:r>
            <a:endParaRPr lang="en-US" sz="19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→ Rekursion, Teile und herrsche, 2D</a:t>
            </a:r>
            <a:endParaRPr lang="en-US" sz="1900" dirty="0"/>
          </a:p>
        </p:txBody>
      </p:sp>
      <p:sp>
        <p:nvSpPr>
          <p:cNvPr id="18" name="Bauteil Hafen"/>
          <p:cNvSpPr/>
          <p:nvPr/>
        </p:nvSpPr>
        <p:spPr>
          <a:xfrm>
            <a:off x="4846320" y="4288536"/>
            <a:ext cx="6766560" cy="841248"/>
          </a:xfrm>
          <a:prstGeom prst="roundRect">
            <a:avLst>
              <a:gd name="adj" fmla="val 13043"/>
            </a:avLst>
          </a:prstGeom>
          <a:solidFill>
            <a:schemeClr val="accent5"/>
          </a:solidFill>
          <a:ln/>
        </p:spPr>
      </p:sp>
      <p:sp>
        <p:nvSpPr>
          <p:cNvPr id="19" name="Icon-Kreis"/>
          <p:cNvSpPr/>
          <p:nvPr/>
        </p:nvSpPr>
        <p:spPr>
          <a:xfrm>
            <a:off x="4983480" y="4389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 GiAnchor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4298" y="4529938"/>
            <a:ext cx="358445" cy="35844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806440" y="4288536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Hafen: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Warteschlangen und Frachtstapel</a:t>
            </a:r>
            <a:endParaRPr lang="en-US" sz="19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→ Stack, Queue, DynArray</a:t>
            </a:r>
            <a:endParaRPr lang="en-US" sz="1900" dirty="0"/>
          </a:p>
        </p:txBody>
      </p:sp>
      <p:sp>
        <p:nvSpPr>
          <p:cNvPr id="22" name="Bauteil Wald"/>
          <p:cNvSpPr/>
          <p:nvPr/>
        </p:nvSpPr>
        <p:spPr>
          <a:xfrm>
            <a:off x="4846320" y="5276088"/>
            <a:ext cx="6766560" cy="841248"/>
          </a:xfrm>
          <a:prstGeom prst="roundRect">
            <a:avLst>
              <a:gd name="adj" fmla="val 13043"/>
            </a:avLst>
          </a:prstGeom>
          <a:solidFill>
            <a:schemeClr val="accent5"/>
          </a:solidFill>
          <a:ln/>
        </p:spPr>
      </p:sp>
      <p:sp>
        <p:nvSpPr>
          <p:cNvPr id="23" name="Icon-Kreis"/>
          <p:cNvSpPr/>
          <p:nvPr/>
        </p:nvSpPr>
        <p:spPr>
          <a:xfrm>
            <a:off x="4983480" y="537667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on GiPineTre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4298" y="5517490"/>
            <a:ext cx="358445" cy="35844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806440" y="5276088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Wald: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Schatzsuche im Baum</a:t>
            </a:r>
            <a:endParaRPr lang="en-US" sz="19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→ Binärbaum, Suchbaum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Die Quest-Map: 7 Welten in 14 Wochen</a:t>
            </a:r>
            <a:endParaRPr lang="en-US" sz="3600" dirty="0"/>
          </a:p>
        </p:txBody>
      </p:sp>
      <p:sp>
        <p:nvSpPr>
          <p:cNvPr id="3" name="Questpfad 0"/>
          <p:cNvSpPr/>
          <p:nvPr/>
        </p:nvSpPr>
        <p:spPr>
          <a:xfrm>
            <a:off x="1463040" y="2606040"/>
            <a:ext cx="1538935" cy="132588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dash"/>
          </a:ln>
        </p:spPr>
      </p:sp>
      <p:sp>
        <p:nvSpPr>
          <p:cNvPr id="4" name="Questpfad 1"/>
          <p:cNvSpPr/>
          <p:nvPr/>
        </p:nvSpPr>
        <p:spPr>
          <a:xfrm flipV="1">
            <a:off x="3001975" y="2606040"/>
            <a:ext cx="1538935" cy="132588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dash"/>
          </a:ln>
        </p:spPr>
      </p:sp>
      <p:sp>
        <p:nvSpPr>
          <p:cNvPr id="5" name="Questpfad 2"/>
          <p:cNvSpPr/>
          <p:nvPr/>
        </p:nvSpPr>
        <p:spPr>
          <a:xfrm>
            <a:off x="4540910" y="2606040"/>
            <a:ext cx="1538935" cy="132588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dash"/>
          </a:ln>
        </p:spPr>
      </p:sp>
      <p:sp>
        <p:nvSpPr>
          <p:cNvPr id="6" name="Questpfad 3"/>
          <p:cNvSpPr/>
          <p:nvPr/>
        </p:nvSpPr>
        <p:spPr>
          <a:xfrm flipV="1">
            <a:off x="6079846" y="2606040"/>
            <a:ext cx="1538935" cy="132588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dash"/>
          </a:ln>
        </p:spPr>
      </p:sp>
      <p:sp>
        <p:nvSpPr>
          <p:cNvPr id="7" name="Questpfad 4"/>
          <p:cNvSpPr/>
          <p:nvPr/>
        </p:nvSpPr>
        <p:spPr>
          <a:xfrm>
            <a:off x="7618781" y="2606040"/>
            <a:ext cx="1538935" cy="132588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dash"/>
          </a:ln>
        </p:spPr>
      </p:sp>
      <p:sp>
        <p:nvSpPr>
          <p:cNvPr id="8" name="Questpfad 5"/>
          <p:cNvSpPr/>
          <p:nvPr/>
        </p:nvSpPr>
        <p:spPr>
          <a:xfrm flipV="1">
            <a:off x="9157716" y="2606040"/>
            <a:ext cx="1538935" cy="132588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dash"/>
          </a:ln>
        </p:spPr>
      </p:sp>
      <p:sp>
        <p:nvSpPr>
          <p:cNvPr id="9" name="Welt 0"/>
          <p:cNvSpPr/>
          <p:nvPr/>
        </p:nvSpPr>
        <p:spPr>
          <a:xfrm>
            <a:off x="960120" y="2103120"/>
            <a:ext cx="1005840" cy="1005840"/>
          </a:xfrm>
          <a:prstGeom prst="ellipse">
            <a:avLst/>
          </a:prstGeom>
          <a:solidFill>
            <a:schemeClr val="accent1"/>
          </a:solidFill>
          <a:ln w="44450">
            <a:solidFill>
              <a:schemeClr val="accent2"/>
            </a:solidFill>
            <a:prstDash val="solid"/>
          </a:ln>
        </p:spPr>
      </p:sp>
      <p:pic>
        <p:nvPicPr>
          <p:cNvPr id="10" name="Icon GiGraduateCa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405" y="2324405"/>
            <a:ext cx="563270" cy="563270"/>
          </a:xfrm>
          <a:prstGeom prst="rect">
            <a:avLst/>
          </a:prstGeom>
        </p:spPr>
      </p:pic>
      <p:sp>
        <p:nvSpPr>
          <p:cNvPr id="11" name="Boss-Marke 0"/>
          <p:cNvSpPr txBox="1"/>
          <p:nvPr/>
        </p:nvSpPr>
        <p:spPr>
          <a:xfrm>
            <a:off x="1572768" y="2916936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5875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BOSS 0</a:t>
            </a:r>
            <a:endParaRPr lang="en-US" sz="1300" dirty="0"/>
          </a:p>
        </p:txBody>
      </p:sp>
      <p:sp>
        <p:nvSpPr>
          <p:cNvPr id="12" name="Start-Marke"/>
          <p:cNvSpPr txBox="1"/>
          <p:nvPr/>
        </p:nvSpPr>
        <p:spPr>
          <a:xfrm>
            <a:off x="484632" y="2916936"/>
            <a:ext cx="777240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5875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START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105156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WELT 0 · WOCHE 1–3</a:t>
            </a:r>
            <a:endParaRPr lang="en-US" sz="18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Akademie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Basics &amp; eigene Methoden</a:t>
            </a:r>
            <a:endParaRPr lang="en-US" sz="1800" dirty="0"/>
          </a:p>
        </p:txBody>
      </p:sp>
      <p:sp>
        <p:nvSpPr>
          <p:cNvPr id="14" name="Welt 1"/>
          <p:cNvSpPr/>
          <p:nvPr/>
        </p:nvSpPr>
        <p:spPr>
          <a:xfrm>
            <a:off x="2499055" y="3429000"/>
            <a:ext cx="1005840" cy="1005840"/>
          </a:xfrm>
          <a:prstGeom prst="ellipse">
            <a:avLst/>
          </a:prstGeom>
          <a:solidFill>
            <a:schemeClr val="accent1"/>
          </a:solidFill>
          <a:ln w="44450">
            <a:solidFill>
              <a:schemeClr val="accent2"/>
            </a:solidFill>
            <a:prstDash val="solid"/>
          </a:ln>
        </p:spPr>
      </p:sp>
      <p:pic>
        <p:nvPicPr>
          <p:cNvPr id="15" name="Icon GiAnvi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340" y="3650285"/>
            <a:ext cx="563270" cy="563270"/>
          </a:xfrm>
          <a:prstGeom prst="rect">
            <a:avLst/>
          </a:prstGeom>
        </p:spPr>
      </p:pic>
      <p:sp>
        <p:nvSpPr>
          <p:cNvPr id="16" name="Boss-Marke 1"/>
          <p:cNvSpPr txBox="1"/>
          <p:nvPr/>
        </p:nvSpPr>
        <p:spPr>
          <a:xfrm>
            <a:off x="3111703" y="4242816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5875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BOSS 1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584655" y="452628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WELT 1 · WOCHE 3–4</a:t>
            </a:r>
            <a:endParaRPr lang="en-US" sz="18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Heldenschmiede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Klassen, Objekte, Vererbung</a:t>
            </a:r>
            <a:endParaRPr lang="en-US" sz="1800" dirty="0"/>
          </a:p>
        </p:txBody>
      </p:sp>
      <p:sp>
        <p:nvSpPr>
          <p:cNvPr id="18" name="Welt 2"/>
          <p:cNvSpPr/>
          <p:nvPr/>
        </p:nvSpPr>
        <p:spPr>
          <a:xfrm>
            <a:off x="4037990" y="2103120"/>
            <a:ext cx="1005840" cy="1005840"/>
          </a:xfrm>
          <a:prstGeom prst="ellipse">
            <a:avLst/>
          </a:prstGeom>
          <a:solidFill>
            <a:schemeClr val="accent1"/>
          </a:solidFill>
          <a:ln w="44450">
            <a:solidFill>
              <a:schemeClr val="accent2"/>
            </a:solidFill>
            <a:prstDash val="solid"/>
          </a:ln>
        </p:spPr>
      </p:sp>
      <p:pic>
        <p:nvPicPr>
          <p:cNvPr id="19" name="Icon GiPodium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9275" y="2324405"/>
            <a:ext cx="563270" cy="563270"/>
          </a:xfrm>
          <a:prstGeom prst="rect">
            <a:avLst/>
          </a:prstGeom>
        </p:spPr>
      </p:pic>
      <p:sp>
        <p:nvSpPr>
          <p:cNvPr id="20" name="Boss-Marke 2"/>
          <p:cNvSpPr txBox="1"/>
          <p:nvPr/>
        </p:nvSpPr>
        <p:spPr>
          <a:xfrm>
            <a:off x="4650638" y="2916936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5875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BOSS 2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3123590" y="105156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WELT 2 · WOCHE 5–6</a:t>
            </a:r>
            <a:endParaRPr lang="en-US" sz="18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Rangliste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Suchen, Sortieren, Effizienz</a:t>
            </a:r>
            <a:endParaRPr lang="en-US" sz="1800" dirty="0"/>
          </a:p>
        </p:txBody>
      </p:sp>
      <p:sp>
        <p:nvSpPr>
          <p:cNvPr id="22" name="Welt 3"/>
          <p:cNvSpPr/>
          <p:nvPr/>
        </p:nvSpPr>
        <p:spPr>
          <a:xfrm>
            <a:off x="5576926" y="3429000"/>
            <a:ext cx="1005840" cy="1005840"/>
          </a:xfrm>
          <a:prstGeom prst="ellipse">
            <a:avLst/>
          </a:prstGeom>
          <a:solidFill>
            <a:schemeClr val="accent1"/>
          </a:solidFill>
          <a:ln w="44450">
            <a:solidFill>
              <a:schemeClr val="accent2"/>
            </a:solidFill>
            <a:prstDash val="solid"/>
          </a:ln>
        </p:spPr>
      </p:sp>
      <p:pic>
        <p:nvPicPr>
          <p:cNvPr id="23" name="Icon GiMaz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210" y="3650285"/>
            <a:ext cx="563270" cy="563270"/>
          </a:xfrm>
          <a:prstGeom prst="rect">
            <a:avLst/>
          </a:prstGeom>
        </p:spPr>
      </p:pic>
      <p:sp>
        <p:nvSpPr>
          <p:cNvPr id="24" name="Boss-Marke 3"/>
          <p:cNvSpPr txBox="1"/>
          <p:nvPr/>
        </p:nvSpPr>
        <p:spPr>
          <a:xfrm>
            <a:off x="6189574" y="4242816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5875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BOSS 3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4662526" y="452628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WELT 3 · WOCHE 6–8</a:t>
            </a:r>
            <a:endParaRPr lang="en-US" sz="18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Labyrinth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Rekursion, Teile &amp; herrsche, 2D</a:t>
            </a:r>
            <a:endParaRPr lang="en-US" sz="1800" dirty="0"/>
          </a:p>
        </p:txBody>
      </p:sp>
      <p:sp>
        <p:nvSpPr>
          <p:cNvPr id="26" name="Welt 4"/>
          <p:cNvSpPr/>
          <p:nvPr/>
        </p:nvSpPr>
        <p:spPr>
          <a:xfrm>
            <a:off x="7115861" y="2103120"/>
            <a:ext cx="1005840" cy="1005840"/>
          </a:xfrm>
          <a:prstGeom prst="ellipse">
            <a:avLst/>
          </a:prstGeom>
          <a:solidFill>
            <a:schemeClr val="accent1"/>
          </a:solidFill>
          <a:ln w="44450">
            <a:solidFill>
              <a:schemeClr val="accent2"/>
            </a:solidFill>
            <a:prstDash val="solid"/>
          </a:ln>
        </p:spPr>
      </p:sp>
      <p:pic>
        <p:nvPicPr>
          <p:cNvPr id="27" name="Icon GiAnchor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7146" y="2324405"/>
            <a:ext cx="563270" cy="563270"/>
          </a:xfrm>
          <a:prstGeom prst="rect">
            <a:avLst/>
          </a:prstGeom>
        </p:spPr>
      </p:pic>
      <p:sp>
        <p:nvSpPr>
          <p:cNvPr id="28" name="Boss-Marke 4"/>
          <p:cNvSpPr txBox="1"/>
          <p:nvPr/>
        </p:nvSpPr>
        <p:spPr>
          <a:xfrm>
            <a:off x="7728509" y="2916936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5875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BOSS 4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6201461" y="105156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WELT 4 · WOCHE 8–10</a:t>
            </a:r>
            <a:endParaRPr lang="en-US" sz="18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Hafen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Stack, Queue, DynArray</a:t>
            </a:r>
            <a:endParaRPr lang="en-US" sz="1800" dirty="0"/>
          </a:p>
        </p:txBody>
      </p:sp>
      <p:sp>
        <p:nvSpPr>
          <p:cNvPr id="30" name="Welt 5"/>
          <p:cNvSpPr/>
          <p:nvPr/>
        </p:nvSpPr>
        <p:spPr>
          <a:xfrm>
            <a:off x="8654796" y="3429000"/>
            <a:ext cx="1005840" cy="1005840"/>
          </a:xfrm>
          <a:prstGeom prst="ellipse">
            <a:avLst/>
          </a:prstGeom>
          <a:solidFill>
            <a:schemeClr val="accent1"/>
          </a:solidFill>
          <a:ln w="44450">
            <a:solidFill>
              <a:schemeClr val="accent2"/>
            </a:solidFill>
            <a:prstDash val="solid"/>
          </a:ln>
        </p:spPr>
      </p:sp>
      <p:pic>
        <p:nvPicPr>
          <p:cNvPr id="31" name="Icon GiPineTre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6081" y="3650285"/>
            <a:ext cx="563270" cy="563270"/>
          </a:xfrm>
          <a:prstGeom prst="rect">
            <a:avLst/>
          </a:prstGeom>
        </p:spPr>
      </p:pic>
      <p:sp>
        <p:nvSpPr>
          <p:cNvPr id="32" name="Boss-Marke 5"/>
          <p:cNvSpPr txBox="1"/>
          <p:nvPr/>
        </p:nvSpPr>
        <p:spPr>
          <a:xfrm>
            <a:off x="9267444" y="4242816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5875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BOSS 5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7740396" y="452628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WELT 5 · WOCHE 11–12</a:t>
            </a:r>
            <a:endParaRPr lang="en-US" sz="18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Wald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Binärbaum, Suchbaum</a:t>
            </a:r>
            <a:endParaRPr lang="en-US" sz="1800" dirty="0"/>
          </a:p>
        </p:txBody>
      </p:sp>
      <p:sp>
        <p:nvSpPr>
          <p:cNvPr id="34" name="Welt 6"/>
          <p:cNvSpPr/>
          <p:nvPr/>
        </p:nvSpPr>
        <p:spPr>
          <a:xfrm>
            <a:off x="10102291" y="2011680"/>
            <a:ext cx="1188720" cy="1188720"/>
          </a:xfrm>
          <a:prstGeom prst="ellipse">
            <a:avLst/>
          </a:prstGeom>
          <a:solidFill>
            <a:schemeClr val="accent4"/>
          </a:solidFill>
          <a:ln w="44450">
            <a:solidFill>
              <a:schemeClr val="accent2"/>
            </a:solidFill>
            <a:prstDash val="solid"/>
          </a:ln>
        </p:spPr>
      </p:sp>
      <p:pic>
        <p:nvPicPr>
          <p:cNvPr id="35" name="Icon GiSpikedDragonHead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3810" y="2273198"/>
            <a:ext cx="665683" cy="665683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8988552" y="105156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WELT 6 · WOCHE 13–14</a:t>
            </a:r>
            <a:endParaRPr lang="en-US" sz="18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Endgegner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Probeklausur + Klausur</a:t>
            </a:r>
            <a:endParaRPr lang="en-US" sz="1800" dirty="0"/>
          </a:p>
        </p:txBody>
      </p:sp>
      <p:sp>
        <p:nvSpPr>
          <p:cNvPr id="37" name="Wochenbalken Welt 0"/>
          <p:cNvSpPr txBox="1"/>
          <p:nvPr/>
        </p:nvSpPr>
        <p:spPr>
          <a:xfrm>
            <a:off x="548640" y="5650992"/>
            <a:ext cx="1844040" cy="310896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Welt 0</a:t>
            </a:r>
            <a:endParaRPr lang="en-US" sz="1200" dirty="0"/>
          </a:p>
        </p:txBody>
      </p:sp>
      <p:sp>
        <p:nvSpPr>
          <p:cNvPr id="38" name="Wochenbalken Welt 1"/>
          <p:cNvSpPr txBox="1"/>
          <p:nvPr/>
        </p:nvSpPr>
        <p:spPr>
          <a:xfrm>
            <a:off x="2392680" y="5650992"/>
            <a:ext cx="1317171" cy="310896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Welt 1</a:t>
            </a:r>
            <a:endParaRPr lang="en-US" sz="1200" dirty="0"/>
          </a:p>
        </p:txBody>
      </p:sp>
      <p:sp>
        <p:nvSpPr>
          <p:cNvPr id="39" name="Wochenbalken Welt 2"/>
          <p:cNvSpPr txBox="1"/>
          <p:nvPr/>
        </p:nvSpPr>
        <p:spPr>
          <a:xfrm>
            <a:off x="3709851" y="5650992"/>
            <a:ext cx="1317171" cy="310896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Welt 2</a:t>
            </a:r>
            <a:endParaRPr lang="en-US" sz="1200" dirty="0"/>
          </a:p>
        </p:txBody>
      </p:sp>
      <p:sp>
        <p:nvSpPr>
          <p:cNvPr id="40" name="Wochenbalken Welt 3"/>
          <p:cNvSpPr txBox="1"/>
          <p:nvPr/>
        </p:nvSpPr>
        <p:spPr>
          <a:xfrm>
            <a:off x="5027023" y="5650992"/>
            <a:ext cx="1580606" cy="310896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Welt 3</a:t>
            </a:r>
            <a:endParaRPr lang="en-US" sz="1200" dirty="0"/>
          </a:p>
        </p:txBody>
      </p:sp>
      <p:sp>
        <p:nvSpPr>
          <p:cNvPr id="41" name="Wochenbalken Welt 4"/>
          <p:cNvSpPr txBox="1"/>
          <p:nvPr/>
        </p:nvSpPr>
        <p:spPr>
          <a:xfrm>
            <a:off x="6607629" y="5650992"/>
            <a:ext cx="1844040" cy="310896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Welt 4</a:t>
            </a:r>
            <a:endParaRPr lang="en-US" sz="1200" dirty="0"/>
          </a:p>
        </p:txBody>
      </p:sp>
      <p:sp>
        <p:nvSpPr>
          <p:cNvPr id="42" name="Wochenbalken Welt 5"/>
          <p:cNvSpPr txBox="1"/>
          <p:nvPr/>
        </p:nvSpPr>
        <p:spPr>
          <a:xfrm>
            <a:off x="8451669" y="5650992"/>
            <a:ext cx="1580606" cy="310896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Welt 5</a:t>
            </a:r>
            <a:endParaRPr lang="en-US" sz="1200" dirty="0"/>
          </a:p>
        </p:txBody>
      </p:sp>
      <p:sp>
        <p:nvSpPr>
          <p:cNvPr id="43" name="Wochenbalken Welt 6"/>
          <p:cNvSpPr txBox="1"/>
          <p:nvPr/>
        </p:nvSpPr>
        <p:spPr>
          <a:xfrm>
            <a:off x="10032274" y="5650992"/>
            <a:ext cx="1580606" cy="310896"/>
          </a:xfrm>
          <a:prstGeom prst="rect">
            <a:avLst/>
          </a:prstGeom>
          <a:solidFill>
            <a:schemeClr val="accent4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Welt 6 · Klausur</a:t>
            </a:r>
            <a:endParaRPr lang="en-US" sz="1200" dirty="0"/>
          </a:p>
        </p:txBody>
      </p:sp>
      <p:sp>
        <p:nvSpPr>
          <p:cNvPr id="44" name="Text 35"/>
          <p:cNvSpPr txBox="1"/>
          <p:nvPr/>
        </p:nvSpPr>
        <p:spPr>
          <a:xfrm>
            <a:off x="548640" y="5980176"/>
            <a:ext cx="790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</a:t>
            </a:r>
            <a:endParaRPr lang="en-US" sz="1100" dirty="0"/>
          </a:p>
        </p:txBody>
      </p:sp>
      <p:sp>
        <p:nvSpPr>
          <p:cNvPr id="45" name="Text 36"/>
          <p:cNvSpPr txBox="1"/>
          <p:nvPr/>
        </p:nvSpPr>
        <p:spPr>
          <a:xfrm>
            <a:off x="1338943" y="5980176"/>
            <a:ext cx="790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</a:t>
            </a:r>
            <a:endParaRPr lang="en-US" sz="1100" dirty="0"/>
          </a:p>
        </p:txBody>
      </p:sp>
      <p:sp>
        <p:nvSpPr>
          <p:cNvPr id="46" name="Text 37"/>
          <p:cNvSpPr txBox="1"/>
          <p:nvPr/>
        </p:nvSpPr>
        <p:spPr>
          <a:xfrm>
            <a:off x="2129246" y="5980176"/>
            <a:ext cx="790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</a:t>
            </a:r>
            <a:endParaRPr lang="en-US" sz="1100" dirty="0"/>
          </a:p>
        </p:txBody>
      </p:sp>
      <p:sp>
        <p:nvSpPr>
          <p:cNvPr id="47" name="Text 38"/>
          <p:cNvSpPr txBox="1"/>
          <p:nvPr/>
        </p:nvSpPr>
        <p:spPr>
          <a:xfrm>
            <a:off x="2919549" y="5980176"/>
            <a:ext cx="790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4</a:t>
            </a:r>
            <a:endParaRPr lang="en-US" sz="1100" dirty="0"/>
          </a:p>
        </p:txBody>
      </p:sp>
      <p:sp>
        <p:nvSpPr>
          <p:cNvPr id="48" name="Text 39"/>
          <p:cNvSpPr txBox="1"/>
          <p:nvPr/>
        </p:nvSpPr>
        <p:spPr>
          <a:xfrm>
            <a:off x="3709851" y="5980176"/>
            <a:ext cx="790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5</a:t>
            </a:r>
            <a:endParaRPr lang="en-US" sz="1100" dirty="0"/>
          </a:p>
        </p:txBody>
      </p:sp>
      <p:sp>
        <p:nvSpPr>
          <p:cNvPr id="49" name="Text 40"/>
          <p:cNvSpPr txBox="1"/>
          <p:nvPr/>
        </p:nvSpPr>
        <p:spPr>
          <a:xfrm>
            <a:off x="4500154" y="5980176"/>
            <a:ext cx="790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6</a:t>
            </a:r>
            <a:endParaRPr lang="en-US" sz="1100" dirty="0"/>
          </a:p>
        </p:txBody>
      </p:sp>
      <p:sp>
        <p:nvSpPr>
          <p:cNvPr id="50" name="Text 41"/>
          <p:cNvSpPr txBox="1"/>
          <p:nvPr/>
        </p:nvSpPr>
        <p:spPr>
          <a:xfrm>
            <a:off x="5290457" y="5980176"/>
            <a:ext cx="790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7</a:t>
            </a:r>
            <a:endParaRPr lang="en-US" sz="1100" dirty="0"/>
          </a:p>
        </p:txBody>
      </p:sp>
      <p:sp>
        <p:nvSpPr>
          <p:cNvPr id="51" name="Text 42"/>
          <p:cNvSpPr txBox="1"/>
          <p:nvPr/>
        </p:nvSpPr>
        <p:spPr>
          <a:xfrm>
            <a:off x="6080760" y="5980176"/>
            <a:ext cx="790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8</a:t>
            </a:r>
            <a:endParaRPr lang="en-US" sz="1100" dirty="0"/>
          </a:p>
        </p:txBody>
      </p:sp>
      <p:sp>
        <p:nvSpPr>
          <p:cNvPr id="52" name="Text 43"/>
          <p:cNvSpPr txBox="1"/>
          <p:nvPr/>
        </p:nvSpPr>
        <p:spPr>
          <a:xfrm>
            <a:off x="6871063" y="5980176"/>
            <a:ext cx="790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9</a:t>
            </a:r>
            <a:endParaRPr lang="en-US" sz="1100" dirty="0"/>
          </a:p>
        </p:txBody>
      </p:sp>
      <p:sp>
        <p:nvSpPr>
          <p:cNvPr id="53" name="Text 44"/>
          <p:cNvSpPr txBox="1"/>
          <p:nvPr/>
        </p:nvSpPr>
        <p:spPr>
          <a:xfrm>
            <a:off x="7661366" y="5980176"/>
            <a:ext cx="790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10</a:t>
            </a:r>
            <a:endParaRPr lang="en-US" sz="1100" dirty="0"/>
          </a:p>
        </p:txBody>
      </p:sp>
      <p:sp>
        <p:nvSpPr>
          <p:cNvPr id="54" name="Text 45"/>
          <p:cNvSpPr txBox="1"/>
          <p:nvPr/>
        </p:nvSpPr>
        <p:spPr>
          <a:xfrm>
            <a:off x="8451669" y="5980176"/>
            <a:ext cx="790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11</a:t>
            </a:r>
            <a:endParaRPr lang="en-US" sz="1100" dirty="0"/>
          </a:p>
        </p:txBody>
      </p:sp>
      <p:sp>
        <p:nvSpPr>
          <p:cNvPr id="55" name="Text 46"/>
          <p:cNvSpPr txBox="1"/>
          <p:nvPr/>
        </p:nvSpPr>
        <p:spPr>
          <a:xfrm>
            <a:off x="9241971" y="5980176"/>
            <a:ext cx="790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12</a:t>
            </a:r>
            <a:endParaRPr lang="en-US" sz="1100" dirty="0"/>
          </a:p>
        </p:txBody>
      </p:sp>
      <p:sp>
        <p:nvSpPr>
          <p:cNvPr id="56" name="Text 47"/>
          <p:cNvSpPr txBox="1"/>
          <p:nvPr/>
        </p:nvSpPr>
        <p:spPr>
          <a:xfrm>
            <a:off x="10032274" y="5980176"/>
            <a:ext cx="790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13</a:t>
            </a:r>
            <a:endParaRPr lang="en-US" sz="1100" dirty="0"/>
          </a:p>
        </p:txBody>
      </p:sp>
      <p:sp>
        <p:nvSpPr>
          <p:cNvPr id="57" name="Text 48"/>
          <p:cNvSpPr txBox="1"/>
          <p:nvPr/>
        </p:nvSpPr>
        <p:spPr>
          <a:xfrm>
            <a:off x="10822577" y="5980176"/>
            <a:ext cx="790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14</a:t>
            </a:r>
            <a:endParaRPr lang="en-US" sz="1100" dirty="0"/>
          </a:p>
        </p:txBody>
      </p:sp>
      <p:sp>
        <p:nvSpPr>
          <p:cNvPr id="58" name="Text 49"/>
          <p:cNvSpPr txBox="1"/>
          <p:nvPr/>
        </p:nvSpPr>
        <p:spPr>
          <a:xfrm>
            <a:off x="502920" y="54041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Woche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Die Akademie: erst das Handwerk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Bevor euer Studio Helden schmieden darf, durchlauft ihr die Akademie der Baumeister.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Im Abitur ist jede Implementierung eine Methode mit vorgegebener Signatur – darum lernt ihr eigene Methoden von Grund auf.</a:t>
            </a:r>
            <a:endParaRPr lang="en-US" sz="1800" dirty="0"/>
          </a:p>
        </p:txBody>
      </p:sp>
      <p:sp>
        <p:nvSpPr>
          <p:cNvPr id="4" name="Akademie DS 1"/>
          <p:cNvSpPr/>
          <p:nvPr/>
        </p:nvSpPr>
        <p:spPr>
          <a:xfrm>
            <a:off x="548640" y="2148840"/>
            <a:ext cx="1463040" cy="388620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Icon-Kreis"/>
          <p:cNvSpPr/>
          <p:nvPr/>
        </p:nvSpPr>
        <p:spPr>
          <a:xfrm>
            <a:off x="845820" y="23317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 GiMagicPorta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2522830"/>
            <a:ext cx="486461" cy="486461"/>
          </a:xfrm>
          <a:prstGeom prst="rect">
            <a:avLst/>
          </a:prstGeom>
        </p:spPr>
      </p:pic>
      <p:sp>
        <p:nvSpPr>
          <p:cNvPr id="7" name="Chip"/>
          <p:cNvSpPr txBox="1"/>
          <p:nvPr/>
        </p:nvSpPr>
        <p:spPr>
          <a:xfrm>
            <a:off x="868680" y="3337560"/>
            <a:ext cx="82296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DS 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379476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IDE-Level 0</a:t>
            </a:r>
            <a:endParaRPr lang="en-US" sz="18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Portal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4709160"/>
            <a:ext cx="1316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Kick-off, Lab-Beitritt, Diagnose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559612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Lab-Level 0.1</a:t>
            </a:r>
            <a:endParaRPr lang="en-US" sz="1300" dirty="0"/>
          </a:p>
        </p:txBody>
      </p:sp>
      <p:sp>
        <p:nvSpPr>
          <p:cNvPr id="11" name="Akademie DS 2"/>
          <p:cNvSpPr/>
          <p:nvPr/>
        </p:nvSpPr>
        <p:spPr>
          <a:xfrm>
            <a:off x="2148840" y="2148840"/>
            <a:ext cx="1463040" cy="388620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Icon-Kreis"/>
          <p:cNvSpPr/>
          <p:nvPr/>
        </p:nvSpPr>
        <p:spPr>
          <a:xfrm>
            <a:off x="2446020" y="23317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 GiAnvilImpac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130" y="2522830"/>
            <a:ext cx="486461" cy="486461"/>
          </a:xfrm>
          <a:prstGeom prst="rect">
            <a:avLst/>
          </a:prstGeom>
        </p:spPr>
      </p:pic>
      <p:sp>
        <p:nvSpPr>
          <p:cNvPr id="14" name="Chip"/>
          <p:cNvSpPr txBox="1"/>
          <p:nvPr/>
        </p:nvSpPr>
        <p:spPr>
          <a:xfrm>
            <a:off x="2468880" y="3337560"/>
            <a:ext cx="82296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DS 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221992" y="379476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IDE-Level 0.2</a:t>
            </a:r>
            <a:endParaRPr lang="en-US" sz="18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Werkstatt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2221992" y="4709160"/>
            <a:ext cx="1316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Datentypen, Operatoren, Verzweigung, Schleifen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2221992" y="559612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Lab-Level 0.2</a:t>
            </a:r>
            <a:endParaRPr lang="en-US" sz="1300" dirty="0"/>
          </a:p>
        </p:txBody>
      </p:sp>
      <p:sp>
        <p:nvSpPr>
          <p:cNvPr id="18" name="Akademie DS 3"/>
          <p:cNvSpPr/>
          <p:nvPr/>
        </p:nvSpPr>
        <p:spPr>
          <a:xfrm>
            <a:off x="3749040" y="2148840"/>
            <a:ext cx="1463040" cy="388620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Icon-Kreis"/>
          <p:cNvSpPr/>
          <p:nvPr/>
        </p:nvSpPr>
        <p:spPr>
          <a:xfrm>
            <a:off x="4046220" y="23317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 GiWoodenCrat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330" y="2522830"/>
            <a:ext cx="486461" cy="486461"/>
          </a:xfrm>
          <a:prstGeom prst="rect">
            <a:avLst/>
          </a:prstGeom>
        </p:spPr>
      </p:pic>
      <p:sp>
        <p:nvSpPr>
          <p:cNvPr id="21" name="Chip"/>
          <p:cNvSpPr txBox="1"/>
          <p:nvPr/>
        </p:nvSpPr>
        <p:spPr>
          <a:xfrm>
            <a:off x="4069080" y="3337560"/>
            <a:ext cx="82296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DS 3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3822192" y="379476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IDE-Level 0.3</a:t>
            </a:r>
            <a:endParaRPr lang="en-US" sz="18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Vorratskammer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3822192" y="4709160"/>
            <a:ext cx="1316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Reihungen anlegen, durchlaufen, kopieren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3822192" y="559612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Lab-Level 0.3</a:t>
            </a:r>
            <a:endParaRPr lang="en-US" sz="1300" dirty="0"/>
          </a:p>
        </p:txBody>
      </p:sp>
      <p:sp>
        <p:nvSpPr>
          <p:cNvPr id="25" name="Akademie DS 4"/>
          <p:cNvSpPr/>
          <p:nvPr/>
        </p:nvSpPr>
        <p:spPr>
          <a:xfrm>
            <a:off x="5349240" y="2148840"/>
            <a:ext cx="1463040" cy="388620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6" name="Icon-Kreis"/>
          <p:cNvSpPr/>
          <p:nvPr/>
        </p:nvSpPr>
        <p:spPr>
          <a:xfrm>
            <a:off x="5646420" y="23317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con GiSpellBoo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7530" y="2522830"/>
            <a:ext cx="486461" cy="486461"/>
          </a:xfrm>
          <a:prstGeom prst="rect">
            <a:avLst/>
          </a:prstGeom>
        </p:spPr>
      </p:pic>
      <p:sp>
        <p:nvSpPr>
          <p:cNvPr id="28" name="Chip"/>
          <p:cNvSpPr txBox="1"/>
          <p:nvPr/>
        </p:nvSpPr>
        <p:spPr>
          <a:xfrm>
            <a:off x="5669280" y="3337560"/>
            <a:ext cx="82296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DS 4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5422392" y="379476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IDE-Level 0.4</a:t>
            </a:r>
            <a:endParaRPr lang="en-US" sz="18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Zauberschule I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5422392" y="4709160"/>
            <a:ext cx="1316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Eigene Methoden: Signatur, Parameter, return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5422392" y="559612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Lab-Level 0.4</a:t>
            </a:r>
            <a:endParaRPr lang="en-US" sz="1300" dirty="0"/>
          </a:p>
        </p:txBody>
      </p:sp>
      <p:sp>
        <p:nvSpPr>
          <p:cNvPr id="32" name="Akademie DS 5"/>
          <p:cNvSpPr/>
          <p:nvPr/>
        </p:nvSpPr>
        <p:spPr>
          <a:xfrm>
            <a:off x="6949440" y="2148840"/>
            <a:ext cx="1463040" cy="388620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3" name="Icon-Kreis"/>
          <p:cNvSpPr/>
          <p:nvPr/>
        </p:nvSpPr>
        <p:spPr>
          <a:xfrm>
            <a:off x="7246620" y="23317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Icon GiMagicSwirl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7730" y="2522830"/>
            <a:ext cx="486461" cy="486461"/>
          </a:xfrm>
          <a:prstGeom prst="rect">
            <a:avLst/>
          </a:prstGeom>
        </p:spPr>
      </p:pic>
      <p:sp>
        <p:nvSpPr>
          <p:cNvPr id="35" name="Chip"/>
          <p:cNvSpPr txBox="1"/>
          <p:nvPr/>
        </p:nvSpPr>
        <p:spPr>
          <a:xfrm>
            <a:off x="7269480" y="3337560"/>
            <a:ext cx="82296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DS 5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7022592" y="379476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IDE-Level 0.5</a:t>
            </a:r>
            <a:endParaRPr lang="en-US" sz="18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Zauberschule II</a:t>
            </a:r>
            <a:endParaRPr lang="en-US" sz="1800" dirty="0"/>
          </a:p>
        </p:txBody>
      </p:sp>
      <p:sp>
        <p:nvSpPr>
          <p:cNvPr id="37" name="Text 30"/>
          <p:cNvSpPr txBox="1"/>
          <p:nvPr/>
        </p:nvSpPr>
        <p:spPr>
          <a:xfrm>
            <a:off x="7022592" y="4709160"/>
            <a:ext cx="1316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Reihungen als Parameter, Wert vs. Referenz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7022592" y="559612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Lab-Level 0.5</a:t>
            </a:r>
            <a:endParaRPr lang="en-US" sz="1300" dirty="0"/>
          </a:p>
        </p:txBody>
      </p:sp>
      <p:sp>
        <p:nvSpPr>
          <p:cNvPr id="39" name="Akademie DS 6"/>
          <p:cNvSpPr/>
          <p:nvPr/>
        </p:nvSpPr>
        <p:spPr>
          <a:xfrm>
            <a:off x="8549640" y="2148840"/>
            <a:ext cx="1463040" cy="388620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0" name="Icon-Kreis"/>
          <p:cNvSpPr/>
          <p:nvPr/>
        </p:nvSpPr>
        <p:spPr>
          <a:xfrm>
            <a:off x="8846820" y="23317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1" name="Icon GiScrollQuill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7930" y="2522830"/>
            <a:ext cx="486461" cy="486461"/>
          </a:xfrm>
          <a:prstGeom prst="rect">
            <a:avLst/>
          </a:prstGeom>
        </p:spPr>
      </p:pic>
      <p:sp>
        <p:nvSpPr>
          <p:cNvPr id="42" name="Chip"/>
          <p:cNvSpPr txBox="1"/>
          <p:nvPr/>
        </p:nvSpPr>
        <p:spPr>
          <a:xfrm>
            <a:off x="8869680" y="3337560"/>
            <a:ext cx="82296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DS 6</a:t>
            </a:r>
            <a:endParaRPr lang="en-US" sz="1400" dirty="0"/>
          </a:p>
        </p:txBody>
      </p:sp>
      <p:sp>
        <p:nvSpPr>
          <p:cNvPr id="43" name="Text 35"/>
          <p:cNvSpPr txBox="1"/>
          <p:nvPr/>
        </p:nvSpPr>
        <p:spPr>
          <a:xfrm>
            <a:off x="8622792" y="379476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Papier-Compiler 0</a:t>
            </a:r>
            <a:endParaRPr lang="en-US" sz="18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Methoden-Werkstatt</a:t>
            </a:r>
            <a:endParaRPr lang="en-US" sz="1800" dirty="0"/>
          </a:p>
        </p:txBody>
      </p:sp>
      <p:sp>
        <p:nvSpPr>
          <p:cNvPr id="44" name="Text 36"/>
          <p:cNvSpPr txBox="1"/>
          <p:nvPr/>
        </p:nvSpPr>
        <p:spPr>
          <a:xfrm>
            <a:off x="8622792" y="4709160"/>
            <a:ext cx="1316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Vom Aufgabentext zur Methode auf Papier</a:t>
            </a:r>
            <a:endParaRPr lang="en-US" sz="1300" dirty="0"/>
          </a:p>
        </p:txBody>
      </p:sp>
      <p:sp>
        <p:nvSpPr>
          <p:cNvPr id="45" name="Text 37"/>
          <p:cNvSpPr txBox="1"/>
          <p:nvPr/>
        </p:nvSpPr>
        <p:spPr>
          <a:xfrm>
            <a:off x="8622792" y="559612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Lab-Level 0.6</a:t>
            </a:r>
            <a:endParaRPr lang="en-US" sz="1300" dirty="0"/>
          </a:p>
        </p:txBody>
      </p:sp>
      <p:sp>
        <p:nvSpPr>
          <p:cNvPr id="46" name="Akademie DS 7"/>
          <p:cNvSpPr/>
          <p:nvPr/>
        </p:nvSpPr>
        <p:spPr>
          <a:xfrm>
            <a:off x="10149840" y="2148840"/>
            <a:ext cx="1463040" cy="388620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7" name="Icon-Kreis"/>
          <p:cNvSpPr/>
          <p:nvPr/>
        </p:nvSpPr>
        <p:spPr>
          <a:xfrm>
            <a:off x="10447020" y="2331720"/>
            <a:ext cx="868680" cy="8686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48" name="Icon GiSpikedDragonHead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38130" y="2522830"/>
            <a:ext cx="486461" cy="486461"/>
          </a:xfrm>
          <a:prstGeom prst="rect">
            <a:avLst/>
          </a:prstGeom>
        </p:spPr>
      </p:pic>
      <p:sp>
        <p:nvSpPr>
          <p:cNvPr id="49" name="Chip"/>
          <p:cNvSpPr txBox="1"/>
          <p:nvPr/>
        </p:nvSpPr>
        <p:spPr>
          <a:xfrm>
            <a:off x="10469880" y="3337560"/>
            <a:ext cx="82296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DS 7</a:t>
            </a:r>
            <a:endParaRPr lang="en-US" sz="1400" dirty="0"/>
          </a:p>
        </p:txBody>
      </p:sp>
      <p:sp>
        <p:nvSpPr>
          <p:cNvPr id="50" name="Text 41"/>
          <p:cNvSpPr txBox="1"/>
          <p:nvPr/>
        </p:nvSpPr>
        <p:spPr>
          <a:xfrm>
            <a:off x="10222992" y="379476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Boss 0</a:t>
            </a:r>
            <a:endParaRPr lang="en-US" sz="18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Aufnahme­prüfung</a:t>
            </a:r>
            <a:endParaRPr lang="en-US" sz="1800" dirty="0"/>
          </a:p>
        </p:txBody>
      </p:sp>
      <p:sp>
        <p:nvSpPr>
          <p:cNvPr id="51" name="Text 42"/>
          <p:cNvSpPr txBox="1"/>
          <p:nvPr/>
        </p:nvSpPr>
        <p:spPr>
          <a:xfrm>
            <a:off x="10222992" y="4709160"/>
            <a:ext cx="1316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Abi auf Zeit: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≈ 24 BE in 60 min</a:t>
            </a:r>
            <a:endParaRPr lang="en-US" sz="1300" dirty="0"/>
          </a:p>
        </p:txBody>
      </p:sp>
      <p:sp>
        <p:nvSpPr>
          <p:cNvPr id="52" name="Text 43"/>
          <p:cNvSpPr txBox="1"/>
          <p:nvPr/>
        </p:nvSpPr>
        <p:spPr>
          <a:xfrm>
            <a:off x="10222992" y="559612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Lab: Online-Boss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Teams: Gemeinsam durchs Dungeon</a:t>
            </a:r>
            <a:endParaRPr lang="en-US" sz="3600" dirty="0"/>
          </a:p>
        </p:txBody>
      </p:sp>
      <p:sp>
        <p:nvSpPr>
          <p:cNvPr id="3" name="Icon-Kreis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 GiThreeFriend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750" y="1562710"/>
            <a:ext cx="486461" cy="48646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32588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Tischgruppe mit 3–4 Personen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leistungsgemischt, Einteilung durch die Lehrkraft</a:t>
            </a:r>
            <a:endParaRPr lang="en-US" sz="1800" dirty="0"/>
          </a:p>
        </p:txBody>
      </p:sp>
      <p:sp>
        <p:nvSpPr>
          <p:cNvPr id="6" name="Icon-Kreis"/>
          <p:cNvSpPr/>
          <p:nvPr/>
        </p:nvSpPr>
        <p:spPr>
          <a:xfrm>
            <a:off x="548640" y="2542032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 GiTal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50" y="2733142"/>
            <a:ext cx="486461" cy="48646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2496312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Erklären statt vorsagen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Helfer:innen erklären – jede Person schreibt ihren eigenen Code</a:t>
            </a:r>
            <a:endParaRPr lang="en-US" sz="1800" dirty="0"/>
          </a:p>
        </p:txBody>
      </p:sp>
      <p:sp>
        <p:nvSpPr>
          <p:cNvPr id="9" name="Icon-Kreis"/>
          <p:cNvSpPr/>
          <p:nvPr/>
        </p:nvSpPr>
        <p:spPr>
          <a:xfrm>
            <a:off x="548640" y="3712464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 GiMagnifyingGlas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50" y="3903574"/>
            <a:ext cx="486461" cy="48646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45920" y="3666744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Code-Review und Peer-Korrektur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gegenseitig prüfen: Kopf, Grenzen, Leerfall</a:t>
            </a:r>
            <a:endParaRPr lang="en-US" sz="1800" dirty="0"/>
          </a:p>
        </p:txBody>
      </p:sp>
      <p:sp>
        <p:nvSpPr>
          <p:cNvPr id="12" name="Icon-Kreis"/>
          <p:cNvSpPr/>
          <p:nvPr/>
        </p:nvSpPr>
        <p:spPr>
          <a:xfrm>
            <a:off x="548640" y="4882896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 GiTwoCoin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50" y="5074006"/>
            <a:ext cx="486461" cy="48646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645920" y="4837176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Punkte sammelt jede und jeder selbst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automatisch im Lab – das Team hilft beim Verstehen</a:t>
            </a:r>
            <a:endParaRPr lang="en-US" sz="1800" dirty="0"/>
          </a:p>
        </p:txBody>
      </p:sp>
      <p:sp>
        <p:nvSpPr>
          <p:cNvPr id="15" name="Team-Karte"/>
          <p:cNvSpPr/>
          <p:nvPr/>
        </p:nvSpPr>
        <p:spPr>
          <a:xfrm>
            <a:off x="7498080" y="1371600"/>
            <a:ext cx="4114800" cy="4572000"/>
          </a:xfrm>
          <a:prstGeom prst="roundRect">
            <a:avLst>
              <a:gd name="adj" fmla="val 2667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Team-Symbol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1600200"/>
            <a:ext cx="1645920" cy="16459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680960" y="3383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Unsere Team-Regel</a:t>
            </a:r>
            <a:endParaRPr lang="en-US" sz="2000" dirty="0"/>
          </a:p>
        </p:txBody>
      </p:sp>
      <p:sp>
        <p:nvSpPr>
          <p:cNvPr id="18" name="Text 11"/>
          <p:cNvSpPr txBox="1"/>
          <p:nvPr/>
        </p:nvSpPr>
        <p:spPr>
          <a:xfrm>
            <a:off x="7680960" y="37947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„Wir erklären, statt vorzusagen.“</a:t>
            </a:r>
            <a:endParaRPr lang="en-US" sz="2400" dirty="0"/>
          </a:p>
        </p:txBody>
      </p:sp>
      <p:sp>
        <p:nvSpPr>
          <p:cNvPr id="19" name="Icon-Kreis"/>
          <p:cNvSpPr/>
          <p:nvPr/>
        </p:nvSpPr>
        <p:spPr>
          <a:xfrm>
            <a:off x="7909560" y="4892040"/>
            <a:ext cx="685800" cy="6858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0" name="Icon GiPers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2430" y="4994910"/>
            <a:ext cx="480060" cy="480060"/>
          </a:xfrm>
          <a:prstGeom prst="rect">
            <a:avLst/>
          </a:prstGeom>
        </p:spPr>
      </p:pic>
      <p:sp>
        <p:nvSpPr>
          <p:cNvPr id="21" name="Icon-Kreis"/>
          <p:cNvSpPr/>
          <p:nvPr/>
        </p:nvSpPr>
        <p:spPr>
          <a:xfrm>
            <a:off x="8778240" y="4892040"/>
            <a:ext cx="685800" cy="6858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2" name="Icon GiPers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1110" y="4994910"/>
            <a:ext cx="480060" cy="480060"/>
          </a:xfrm>
          <a:prstGeom prst="rect">
            <a:avLst/>
          </a:prstGeom>
        </p:spPr>
      </p:pic>
      <p:sp>
        <p:nvSpPr>
          <p:cNvPr id="23" name="Icon-Kreis"/>
          <p:cNvSpPr/>
          <p:nvPr/>
        </p:nvSpPr>
        <p:spPr>
          <a:xfrm>
            <a:off x="9646920" y="4892040"/>
            <a:ext cx="685800" cy="6858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4" name="Icon GiPers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49790" y="4994910"/>
            <a:ext cx="480060" cy="480060"/>
          </a:xfrm>
          <a:prstGeom prst="rect">
            <a:avLst/>
          </a:prstGeom>
        </p:spPr>
      </p:pic>
      <p:sp>
        <p:nvSpPr>
          <p:cNvPr id="25" name="Icon-Kreis"/>
          <p:cNvSpPr/>
          <p:nvPr/>
        </p:nvSpPr>
        <p:spPr>
          <a:xfrm>
            <a:off x="10515600" y="4892040"/>
            <a:ext cx="685800" cy="6858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6" name="Icon GiPers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18470" y="4994910"/>
            <a:ext cx="480060" cy="4800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Algo Quest Lab: in 3 Schritten dabei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37160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Lab öffnen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algoquest.frankjuchim.de im Browser oder QR-Code scannen – Tablet, Laptop oder Handy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24328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578608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Kurs beitreten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Kurscode + dein Name: Vorname + Initial, z. B. „Lena S.“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31336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3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3785616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Code notieren!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Du bekommst einen persönlichen Code, z. B. KMQ-427 – ins Heft schreiben oder fotografieren</a:t>
            </a:r>
            <a:endParaRPr lang="en-US" sz="1800" dirty="0"/>
          </a:p>
        </p:txBody>
      </p:sp>
      <p:sp>
        <p:nvSpPr>
          <p:cNvPr id="9" name="Hinweis Weiterspielen"/>
          <p:cNvSpPr/>
          <p:nvPr/>
        </p:nvSpPr>
        <p:spPr>
          <a:xfrm>
            <a:off x="548640" y="5074920"/>
            <a:ext cx="64922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507492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Weiterspielen auf jedem Gerät: Name + Code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pic>
        <p:nvPicPr>
          <p:cNvPr id="11" name="Screenshot Code notieren" descr="/tmp/claude-0/-home-claude/3cd22a81-f637-5ed7-b623-6c1c326592db/scratchpad/mat_w0/shots/lab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371600"/>
            <a:ext cx="4160520" cy="3039953"/>
          </a:xfrm>
          <a:prstGeom prst="rect">
            <a:avLst/>
          </a:prstGeom>
        </p:spPr>
      </p:pic>
      <p:sp>
        <p:nvSpPr>
          <p:cNvPr id="12" name="Rahmen Code notieren"/>
          <p:cNvSpPr/>
          <p:nvPr/>
        </p:nvSpPr>
        <p:spPr>
          <a:xfrm>
            <a:off x="7452360" y="1371600"/>
            <a:ext cx="4160520" cy="3410712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52360" y="493776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Nach dem Beitritt: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Das Lab zeigt deinen Code genau einmal groß an.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Die Weltkarte: Level, Training, Boss</a:t>
            </a:r>
            <a:endParaRPr lang="en-US" sz="3600" dirty="0"/>
          </a:p>
        </p:txBody>
      </p:sp>
      <p:pic>
        <p:nvPicPr>
          <p:cNvPr id="3" name="Screenshot Weltkarte" descr="/tmp/claude-0/-home-claude/3cd22a81-f637-5ed7-b623-6c1c326592db/scratchpad/mat_w0/shots/lab_weltkar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035040" cy="4123944"/>
          </a:xfrm>
          <a:prstGeom prst="rect">
            <a:avLst/>
          </a:prstGeom>
        </p:spPr>
      </p:pic>
      <p:sp>
        <p:nvSpPr>
          <p:cNvPr id="4" name="Rahmen Weltkarte"/>
          <p:cNvSpPr/>
          <p:nvPr/>
        </p:nvSpPr>
        <p:spPr>
          <a:xfrm>
            <a:off x="548640" y="1371600"/>
            <a:ext cx="6035040" cy="4123944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559612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Weltkarte im Lab: Welt 0 „Die Akademie“ mit Level 0.1 bis 0.6, Trainingsplatz und Boss</a:t>
            </a:r>
            <a:endParaRPr lang="en-US" sz="1500" dirty="0"/>
          </a:p>
        </p:txBody>
      </p:sp>
      <p:sp>
        <p:nvSpPr>
          <p:cNvPr id="6" name="Icon-Kreis"/>
          <p:cNvSpPr/>
          <p:nvPr/>
        </p:nvSpPr>
        <p:spPr>
          <a:xfrm>
            <a:off x="6903720" y="1417320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 GiTreasureMa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631" y="1574231"/>
            <a:ext cx="399410" cy="39941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0" y="137160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Lab-Level je Welt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Welt 0: Level 0.1 bis 0.6 – passend zu jeder Doppelstunde</a:t>
            </a:r>
            <a:endParaRPr lang="en-US" sz="1800" dirty="0"/>
          </a:p>
        </p:txBody>
      </p:sp>
      <p:sp>
        <p:nvSpPr>
          <p:cNvPr id="9" name="Icon-Kreis"/>
          <p:cNvSpPr/>
          <p:nvPr/>
        </p:nvSpPr>
        <p:spPr>
          <a:xfrm>
            <a:off x="6903720" y="2368296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 GiCheckMar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631" y="2525207"/>
            <a:ext cx="399410" cy="39941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772400" y="2322576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Automatisch geprüft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„Prüfen“, „Tipp“, „Lösung zeigen“ – mit Erklärung</a:t>
            </a:r>
            <a:endParaRPr lang="en-US" sz="1800" dirty="0"/>
          </a:p>
        </p:txBody>
      </p:sp>
      <p:sp>
        <p:nvSpPr>
          <p:cNvPr id="12" name="Icon-Kreis"/>
          <p:cNvSpPr/>
          <p:nvPr/>
        </p:nvSpPr>
        <p:spPr>
          <a:xfrm>
            <a:off x="6903720" y="3319272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 GiArcheryTarge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0631" y="3476183"/>
            <a:ext cx="399410" cy="39941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772400" y="3273552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Trainingsplatz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Zufallsaufgaben, z. B. Ausdruck → Typ und Wert</a:t>
            </a:r>
            <a:endParaRPr lang="en-US" sz="1800" dirty="0"/>
          </a:p>
        </p:txBody>
      </p:sp>
      <p:sp>
        <p:nvSpPr>
          <p:cNvPr id="15" name="Icon-Kreis"/>
          <p:cNvSpPr/>
          <p:nvPr/>
        </p:nvSpPr>
        <p:spPr>
          <a:xfrm>
            <a:off x="6903720" y="4270248"/>
            <a:ext cx="713232" cy="71323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Icon GiCrossedSword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0631" y="4427159"/>
            <a:ext cx="399410" cy="39941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772400" y="4224528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Online-Boss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am Ende jeder Welt: auf Zeit, Auswertung am Schluss</a:t>
            </a:r>
            <a:endParaRPr lang="en-US" sz="1800" dirty="0"/>
          </a:p>
        </p:txBody>
      </p:sp>
      <p:sp>
        <p:nvSpPr>
          <p:cNvPr id="18" name="Icon-Kreis"/>
          <p:cNvSpPr/>
          <p:nvPr/>
        </p:nvSpPr>
        <p:spPr>
          <a:xfrm>
            <a:off x="6903720" y="5221224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 GiLaptop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0631" y="5378135"/>
            <a:ext cx="399410" cy="39941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772400" y="5175504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Hinweis Online-IDE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jedes Level nennt das passende IDE-Level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Punkte: automatisch beim ersten Lösen</a:t>
            </a:r>
            <a:endParaRPr lang="en-US" sz="3600" dirty="0"/>
          </a:p>
        </p:txBody>
      </p:sp>
      <p:graphicFrame>
        <p:nvGraphicFramePr>
          <p:cNvPr id="11" name="Punkte-Tabel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Punkte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Aufgabe Stufe 1 · 2 · 3 (★ · ★★ · ★★★)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· 20 · 30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 Fehlversuch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− 25 %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 Tipp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− 20 %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mindestens (wenn selbst gelöst)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„Lösung zeigen“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Trainingsplatz: je Zufallsaufgabe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(max. 30 pro Tag)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Online-Boss: richtig gelöste Aufgaben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bester Versuch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578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Ohne Punkte: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Papier-Warm-up, Papier-Compiler, IDE-Level und Papier-Boss – sie trainieren direkt fürs Abitur.</a:t>
            </a:r>
            <a:endParaRPr lang="en-US" sz="1700" dirty="0"/>
          </a:p>
        </p:txBody>
      </p:sp>
      <p:sp>
        <p:nvSpPr>
          <p:cNvPr id="5" name="Beispiel 1"/>
          <p:cNvSpPr/>
          <p:nvPr/>
        </p:nvSpPr>
        <p:spPr>
          <a:xfrm>
            <a:off x="8138160" y="1371600"/>
            <a:ext cx="347472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366760" y="1536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BEISPIEL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8288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Stufe-2-Aufgabe, ein Fehlversuch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36676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+15 Punkte</a:t>
            </a:r>
            <a:endParaRPr lang="en-US" sz="4000" dirty="0"/>
          </a:p>
        </p:txBody>
      </p:sp>
      <p:sp>
        <p:nvSpPr>
          <p:cNvPr id="9" name="Beispiel 2"/>
          <p:cNvSpPr/>
          <p:nvPr/>
        </p:nvSpPr>
        <p:spPr>
          <a:xfrm>
            <a:off x="8138160" y="3520440"/>
            <a:ext cx="347472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366760" y="3685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BEISPIEL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366760" y="39776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Stufe-3-Aufgabe mit einem Tipp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4526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+24 Punkte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Ränge: Vom Novizen zum Großmeister</a:t>
            </a:r>
            <a:endParaRPr lang="en-US" sz="3600" dirty="0"/>
          </a:p>
        </p:txBody>
      </p:sp>
      <p:sp>
        <p:nvSpPr>
          <p:cNvPr id="3" name="Leiste 0"/>
          <p:cNvSpPr/>
          <p:nvPr/>
        </p:nvSpPr>
        <p:spPr>
          <a:xfrm>
            <a:off x="1463040" y="2395728"/>
            <a:ext cx="2286000" cy="32918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Leiste 1"/>
          <p:cNvSpPr/>
          <p:nvPr/>
        </p:nvSpPr>
        <p:spPr>
          <a:xfrm>
            <a:off x="3749040" y="2395728"/>
            <a:ext cx="2286000" cy="32918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5" name="Leiste 2"/>
          <p:cNvSpPr/>
          <p:nvPr/>
        </p:nvSpPr>
        <p:spPr>
          <a:xfrm>
            <a:off x="6035040" y="2395728"/>
            <a:ext cx="2286000" cy="32918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Leiste 3"/>
          <p:cNvSpPr/>
          <p:nvPr/>
        </p:nvSpPr>
        <p:spPr>
          <a:xfrm>
            <a:off x="8321040" y="2395728"/>
            <a:ext cx="2286000" cy="32918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Icon-Kreis"/>
          <p:cNvSpPr/>
          <p:nvPr/>
        </p:nvSpPr>
        <p:spPr>
          <a:xfrm>
            <a:off x="868680" y="1965960"/>
            <a:ext cx="1188720" cy="118872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1"/>
            </a:solidFill>
            <a:prstDash val="solid"/>
          </a:ln>
        </p:spPr>
      </p:sp>
      <p:pic>
        <p:nvPicPr>
          <p:cNvPr id="8" name="Icon GiHoo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" y="2227478"/>
            <a:ext cx="665683" cy="66568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65760" y="3337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Novize</a:t>
            </a:r>
            <a:endParaRPr lang="en-US" sz="18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ab 0 %</a:t>
            </a:r>
            <a:endParaRPr lang="en-US" sz="1800" dirty="0"/>
          </a:p>
        </p:txBody>
      </p:sp>
      <p:sp>
        <p:nvSpPr>
          <p:cNvPr id="10" name="Icon-Kreis"/>
          <p:cNvSpPr/>
          <p:nvPr/>
        </p:nvSpPr>
        <p:spPr>
          <a:xfrm>
            <a:off x="3154680" y="1965960"/>
            <a:ext cx="1188720" cy="118872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1"/>
            </a:solidFill>
            <a:prstDash val="solid"/>
          </a:ln>
        </p:spPr>
      </p:sp>
      <p:pic>
        <p:nvPicPr>
          <p:cNvPr id="11" name="Icon GiSpellBoo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198" y="2227478"/>
            <a:ext cx="665683" cy="66568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51760" y="3337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Lehrling</a:t>
            </a:r>
            <a:endParaRPr lang="en-US" sz="18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ab 10 %</a:t>
            </a:r>
            <a:endParaRPr lang="en-US" sz="1800" dirty="0"/>
          </a:p>
        </p:txBody>
      </p:sp>
      <p:sp>
        <p:nvSpPr>
          <p:cNvPr id="13" name="Icon-Kreis"/>
          <p:cNvSpPr/>
          <p:nvPr/>
        </p:nvSpPr>
        <p:spPr>
          <a:xfrm>
            <a:off x="5440680" y="1965960"/>
            <a:ext cx="1188720" cy="118872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1"/>
            </a:solidFill>
            <a:prstDash val="solid"/>
          </a:ln>
        </p:spPr>
      </p:sp>
      <p:pic>
        <p:nvPicPr>
          <p:cNvPr id="14" name="Icon GiSwordma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198" y="2227478"/>
            <a:ext cx="665683" cy="66568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937760" y="3337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Geselle</a:t>
            </a:r>
            <a:endParaRPr lang="en-US" sz="18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ab 30 %</a:t>
            </a:r>
            <a:endParaRPr lang="en-US" sz="1800" dirty="0"/>
          </a:p>
        </p:txBody>
      </p:sp>
      <p:sp>
        <p:nvSpPr>
          <p:cNvPr id="16" name="Icon-Kreis"/>
          <p:cNvSpPr/>
          <p:nvPr/>
        </p:nvSpPr>
        <p:spPr>
          <a:xfrm>
            <a:off x="7726680" y="1965960"/>
            <a:ext cx="1188720" cy="118872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1"/>
            </a:solidFill>
            <a:prstDash val="solid"/>
          </a:ln>
        </p:spPr>
      </p:sp>
      <p:pic>
        <p:nvPicPr>
          <p:cNvPr id="17" name="Icon GiWizardStaff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8198" y="2227478"/>
            <a:ext cx="665683" cy="66568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223760" y="3337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Meister</a:t>
            </a:r>
            <a:endParaRPr lang="en-US" sz="18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ab 55 %</a:t>
            </a:r>
            <a:endParaRPr lang="en-US" sz="1800" dirty="0"/>
          </a:p>
        </p:txBody>
      </p:sp>
      <p:sp>
        <p:nvSpPr>
          <p:cNvPr id="19" name="Icon-Kreis"/>
          <p:cNvSpPr/>
          <p:nvPr/>
        </p:nvSpPr>
        <p:spPr>
          <a:xfrm>
            <a:off x="10012680" y="1965960"/>
            <a:ext cx="1188720" cy="1188720"/>
          </a:xfrm>
          <a:prstGeom prst="ellipse">
            <a:avLst/>
          </a:prstGeom>
          <a:solidFill>
            <a:schemeClr val="accent2"/>
          </a:solidFill>
          <a:ln w="50800">
            <a:solidFill>
              <a:schemeClr val="accent1"/>
            </a:solidFill>
            <a:prstDash val="solid"/>
          </a:ln>
        </p:spPr>
      </p:sp>
      <p:pic>
        <p:nvPicPr>
          <p:cNvPr id="20" name="Icon GiCrow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4198" y="2227478"/>
            <a:ext cx="665683" cy="66568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509760" y="3337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Großmeister</a:t>
            </a:r>
            <a:endParaRPr lang="en-US" sz="18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ab 80 %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950976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„abiturbereit“</a:t>
            </a:r>
            <a:endParaRPr lang="en-US" sz="1800" dirty="0"/>
          </a:p>
        </p:txBody>
      </p:sp>
      <p:sp>
        <p:nvSpPr>
          <p:cNvPr id="23" name="Hinweis Rang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accent5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77240" y="48920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Prozent der Level-Punkte aller freigeschalteten Welten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– der Rang steigt automatisch. Du siehst ihn auf der Weltkarte und im Profil.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Abzeichen: automatisch im Lab</a:t>
            </a:r>
            <a:endParaRPr lang="en-US" sz="3600" dirty="0"/>
          </a:p>
        </p:txBody>
      </p:sp>
      <p:sp>
        <p:nvSpPr>
          <p:cNvPr id="3" name="Abzeichen Erste Schritte"/>
          <p:cNvSpPr/>
          <p:nvPr/>
        </p:nvSpPr>
        <p:spPr>
          <a:xfrm>
            <a:off x="548640" y="1325880"/>
            <a:ext cx="2651760" cy="1481328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Icon-Kreis"/>
          <p:cNvSpPr/>
          <p:nvPr/>
        </p:nvSpPr>
        <p:spPr>
          <a:xfrm>
            <a:off x="685800" y="1481328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 GiFootprin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641" y="1626169"/>
            <a:ext cx="368686" cy="3686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44752" y="148132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Erste Schritte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04088" y="21945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erste Aufgabe gelöst</a:t>
            </a:r>
            <a:endParaRPr lang="en-US" sz="1400" dirty="0"/>
          </a:p>
        </p:txBody>
      </p:sp>
      <p:sp>
        <p:nvSpPr>
          <p:cNvPr id="8" name="Abzeichen Zehnerserie"/>
          <p:cNvSpPr/>
          <p:nvPr/>
        </p:nvSpPr>
        <p:spPr>
          <a:xfrm>
            <a:off x="3383280" y="1325880"/>
            <a:ext cx="2651760" cy="1481328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Icon-Kreis"/>
          <p:cNvSpPr/>
          <p:nvPr/>
        </p:nvSpPr>
        <p:spPr>
          <a:xfrm>
            <a:off x="3520440" y="1481328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 GiStarMeda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281" y="1626169"/>
            <a:ext cx="368686" cy="36868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79392" y="148132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Zehnerserie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38728" y="21945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 Aufgaben in Folge ohne Fehlversuch</a:t>
            </a:r>
            <a:endParaRPr lang="en-US" sz="1400" dirty="0"/>
          </a:p>
        </p:txBody>
      </p:sp>
      <p:sp>
        <p:nvSpPr>
          <p:cNvPr id="13" name="Abzeichen Fleißig"/>
          <p:cNvSpPr/>
          <p:nvPr/>
        </p:nvSpPr>
        <p:spPr>
          <a:xfrm>
            <a:off x="6217920" y="1325880"/>
            <a:ext cx="2651760" cy="1481328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Icon-Kreis"/>
          <p:cNvSpPr/>
          <p:nvPr/>
        </p:nvSpPr>
        <p:spPr>
          <a:xfrm>
            <a:off x="6355080" y="1481328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con GiBe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921" y="1626169"/>
            <a:ext cx="368686" cy="36868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114032" y="148132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Fleißig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373368" y="21945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50 Aufgaben gelöst</a:t>
            </a:r>
            <a:endParaRPr lang="en-US" sz="1400" dirty="0"/>
          </a:p>
        </p:txBody>
      </p:sp>
      <p:sp>
        <p:nvSpPr>
          <p:cNvPr id="18" name="Abzeichen Unermüdlich"/>
          <p:cNvSpPr/>
          <p:nvPr/>
        </p:nvSpPr>
        <p:spPr>
          <a:xfrm>
            <a:off x="9052560" y="1325880"/>
            <a:ext cx="2651760" cy="1481328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Icon-Kreis"/>
          <p:cNvSpPr/>
          <p:nvPr/>
        </p:nvSpPr>
        <p:spPr>
          <a:xfrm>
            <a:off x="9189720" y="1481328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con GiFir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61" y="1626169"/>
            <a:ext cx="368686" cy="36868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948672" y="148132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Unermüdlich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9208008" y="21945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150 Aufgaben gelöst</a:t>
            </a:r>
            <a:endParaRPr lang="en-US" sz="1400" dirty="0"/>
          </a:p>
        </p:txBody>
      </p:sp>
      <p:sp>
        <p:nvSpPr>
          <p:cNvPr id="23" name="Abzeichen Weltenbummler"/>
          <p:cNvSpPr/>
          <p:nvPr/>
        </p:nvSpPr>
        <p:spPr>
          <a:xfrm>
            <a:off x="548640" y="2953512"/>
            <a:ext cx="2651760" cy="1481328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Icon-Kreis"/>
          <p:cNvSpPr/>
          <p:nvPr/>
        </p:nvSpPr>
        <p:spPr>
          <a:xfrm>
            <a:off x="685800" y="3108960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con GiCompas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41" y="3253801"/>
            <a:ext cx="368686" cy="36868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44752" y="310896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Weltenbummler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704088" y="38221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 jeder Welt mindestens eine Aufgabe</a:t>
            </a:r>
            <a:endParaRPr lang="en-US" sz="1400" dirty="0"/>
          </a:p>
        </p:txBody>
      </p:sp>
      <p:sp>
        <p:nvSpPr>
          <p:cNvPr id="28" name="Abzeichen „Welt“ gemeistert"/>
          <p:cNvSpPr/>
          <p:nvPr/>
        </p:nvSpPr>
        <p:spPr>
          <a:xfrm>
            <a:off x="3383280" y="2953512"/>
            <a:ext cx="2651760" cy="1481328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9" name="Icon-Kreis"/>
          <p:cNvSpPr/>
          <p:nvPr/>
        </p:nvSpPr>
        <p:spPr>
          <a:xfrm>
            <a:off x="3520440" y="3108960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Icon GiTrophy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5281" y="3253801"/>
            <a:ext cx="368686" cy="36868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279392" y="310896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„Welt“ gemeistert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3538728" y="38221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alle Level-Aufgaben einer Welt gelöst</a:t>
            </a:r>
            <a:endParaRPr lang="en-US" sz="1400" dirty="0"/>
          </a:p>
        </p:txBody>
      </p:sp>
      <p:sp>
        <p:nvSpPr>
          <p:cNvPr id="33" name="Abzeichen „Boss“ besiegt"/>
          <p:cNvSpPr/>
          <p:nvPr/>
        </p:nvSpPr>
        <p:spPr>
          <a:xfrm>
            <a:off x="6217920" y="2953512"/>
            <a:ext cx="2651760" cy="1481328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4" name="Icon-Kreis"/>
          <p:cNvSpPr/>
          <p:nvPr/>
        </p:nvSpPr>
        <p:spPr>
          <a:xfrm>
            <a:off x="6355080" y="3108960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5" name="Icon GiCrossedSwords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9921" y="3253801"/>
            <a:ext cx="368686" cy="368686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114032" y="310896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„Boss“ besiegt</a:t>
            </a:r>
            <a:endParaRPr lang="en-US" sz="1700" dirty="0"/>
          </a:p>
        </p:txBody>
      </p:sp>
      <p:sp>
        <p:nvSpPr>
          <p:cNvPr id="37" name="Text 28"/>
          <p:cNvSpPr txBox="1"/>
          <p:nvPr/>
        </p:nvSpPr>
        <p:spPr>
          <a:xfrm>
            <a:off x="6373368" y="38221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Online-Boss ab 50 % besiegt</a:t>
            </a:r>
            <a:endParaRPr lang="en-US" sz="1400" dirty="0"/>
          </a:p>
        </p:txBody>
      </p:sp>
      <p:sp>
        <p:nvSpPr>
          <p:cNvPr id="38" name="Abzeichen Makellos"/>
          <p:cNvSpPr/>
          <p:nvPr/>
        </p:nvSpPr>
        <p:spPr>
          <a:xfrm>
            <a:off x="9052560" y="2953512"/>
            <a:ext cx="2651760" cy="1481328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9" name="Icon-Kreis"/>
          <p:cNvSpPr/>
          <p:nvPr/>
        </p:nvSpPr>
        <p:spPr>
          <a:xfrm>
            <a:off x="9189720" y="3108960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0" name="Icon GiCutDiamond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4561" y="3253801"/>
            <a:ext cx="368686" cy="368686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9948672" y="310896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Makellos</a:t>
            </a:r>
            <a:endParaRPr lang="en-US" sz="1700" dirty="0"/>
          </a:p>
        </p:txBody>
      </p:sp>
      <p:sp>
        <p:nvSpPr>
          <p:cNvPr id="42" name="Text 32"/>
          <p:cNvSpPr txBox="1"/>
          <p:nvPr/>
        </p:nvSpPr>
        <p:spPr>
          <a:xfrm>
            <a:off x="9208008" y="38221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einen Boss mit 100 % besiegt</a:t>
            </a:r>
            <a:endParaRPr lang="en-US" sz="1400" dirty="0"/>
          </a:p>
        </p:txBody>
      </p:sp>
      <p:sp>
        <p:nvSpPr>
          <p:cNvPr id="43" name="Abzeichen Fallensucher"/>
          <p:cNvSpPr/>
          <p:nvPr/>
        </p:nvSpPr>
        <p:spPr>
          <a:xfrm>
            <a:off x="548640" y="4581144"/>
            <a:ext cx="2651760" cy="1481328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4" name="Icon-Kreis"/>
          <p:cNvSpPr/>
          <p:nvPr/>
        </p:nvSpPr>
        <p:spPr>
          <a:xfrm>
            <a:off x="685800" y="4736592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5" name="Icon GiTrapMask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41" y="4881433"/>
            <a:ext cx="368686" cy="368686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1444752" y="473659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Fallensucher</a:t>
            </a:r>
            <a:endParaRPr lang="en-US" sz="1700" dirty="0"/>
          </a:p>
        </p:txBody>
      </p:sp>
      <p:sp>
        <p:nvSpPr>
          <p:cNvPr id="47" name="Text 36"/>
          <p:cNvSpPr txBox="1"/>
          <p:nvPr/>
        </p:nvSpPr>
        <p:spPr>
          <a:xfrm>
            <a:off x="704088" y="54498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zu jeder Falle P1–P10 drei Aufgaben ohne Fehlversuch</a:t>
            </a:r>
            <a:endParaRPr lang="en-US" sz="1400" dirty="0"/>
          </a:p>
        </p:txBody>
      </p:sp>
      <p:sp>
        <p:nvSpPr>
          <p:cNvPr id="48" name="Abzeichen Trainingsprofi"/>
          <p:cNvSpPr/>
          <p:nvPr/>
        </p:nvSpPr>
        <p:spPr>
          <a:xfrm>
            <a:off x="3383280" y="4581144"/>
            <a:ext cx="2651760" cy="1481328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9" name="Icon-Kreis"/>
          <p:cNvSpPr/>
          <p:nvPr/>
        </p:nvSpPr>
        <p:spPr>
          <a:xfrm>
            <a:off x="3520440" y="4736592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0" name="Icon GiWeightLiftingUp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65281" y="4881433"/>
            <a:ext cx="368686" cy="368686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4279392" y="473659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Trainingsprofi</a:t>
            </a:r>
            <a:endParaRPr lang="en-US" sz="1700" dirty="0"/>
          </a:p>
        </p:txBody>
      </p:sp>
      <p:sp>
        <p:nvSpPr>
          <p:cNvPr id="52" name="Text 40"/>
          <p:cNvSpPr txBox="1"/>
          <p:nvPr/>
        </p:nvSpPr>
        <p:spPr>
          <a:xfrm>
            <a:off x="3538728" y="54498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100 Trainingsaufgaben</a:t>
            </a:r>
            <a:endParaRPr lang="en-US" sz="1400" dirty="0"/>
          </a:p>
        </p:txBody>
      </p:sp>
      <p:sp>
        <p:nvSpPr>
          <p:cNvPr id="53" name="Abzeichen Ohne Tipp"/>
          <p:cNvSpPr/>
          <p:nvPr/>
        </p:nvSpPr>
        <p:spPr>
          <a:xfrm>
            <a:off x="6217920" y="4581144"/>
            <a:ext cx="2651760" cy="1481328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4" name="Icon-Kreis"/>
          <p:cNvSpPr/>
          <p:nvPr/>
        </p:nvSpPr>
        <p:spPr>
          <a:xfrm>
            <a:off x="6355080" y="4736592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5" name="Icon GiBrain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9921" y="4881433"/>
            <a:ext cx="368686" cy="368686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7114032" y="473659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Ohne Tipp</a:t>
            </a:r>
            <a:endParaRPr lang="en-US" sz="1700" dirty="0"/>
          </a:p>
        </p:txBody>
      </p:sp>
      <p:sp>
        <p:nvSpPr>
          <p:cNvPr id="57" name="Text 44"/>
          <p:cNvSpPr txBox="1"/>
          <p:nvPr/>
        </p:nvSpPr>
        <p:spPr>
          <a:xfrm>
            <a:off x="6373368" y="54498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 Stufe-3-Aufgaben ohne Tipp</a:t>
            </a:r>
            <a:endParaRPr lang="en-US" sz="1400" dirty="0"/>
          </a:p>
        </p:txBody>
      </p:sp>
      <p:sp>
        <p:nvSpPr>
          <p:cNvPr id="58" name="Abzeichen Kata-Meister"/>
          <p:cNvSpPr/>
          <p:nvPr/>
        </p:nvSpPr>
        <p:spPr>
          <a:xfrm>
            <a:off x="9052560" y="4581144"/>
            <a:ext cx="2651760" cy="1481328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9" name="Icon-Kreis"/>
          <p:cNvSpPr/>
          <p:nvPr/>
        </p:nvSpPr>
        <p:spPr>
          <a:xfrm>
            <a:off x="9189720" y="4736592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0" name="Icon GiKimono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34561" y="4881433"/>
            <a:ext cx="368686" cy="368686"/>
          </a:xfrm>
          <a:prstGeom prst="rect">
            <a:avLst/>
          </a:prstGeom>
        </p:spPr>
      </p:pic>
      <p:sp>
        <p:nvSpPr>
          <p:cNvPr id="61" name="Text 47"/>
          <p:cNvSpPr txBox="1"/>
          <p:nvPr/>
        </p:nvSpPr>
        <p:spPr>
          <a:xfrm>
            <a:off x="9948672" y="473659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Warm-up-Meister</a:t>
            </a:r>
            <a:endParaRPr lang="en-US" sz="1700" dirty="0"/>
          </a:p>
        </p:txBody>
      </p:sp>
      <p:sp>
        <p:nvSpPr>
          <p:cNvPr id="62" name="Text 48"/>
          <p:cNvSpPr txBox="1"/>
          <p:nvPr/>
        </p:nvSpPr>
        <p:spPr>
          <a:xfrm>
            <a:off x="9208008" y="54498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30 Warm-up-Karten in Fach 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Boss-Kämpfe: Abi auf Zeit</a:t>
            </a:r>
            <a:endParaRPr lang="en-US" sz="3600" dirty="0"/>
          </a:p>
        </p:txBody>
      </p:sp>
      <p:sp>
        <p:nvSpPr>
          <p:cNvPr id="3" name="Icon-Kreis"/>
          <p:cNvSpPr/>
          <p:nvPr/>
        </p:nvSpPr>
        <p:spPr>
          <a:xfrm>
            <a:off x="822960" y="1508760"/>
            <a:ext cx="2743200" cy="2743200"/>
          </a:xfrm>
          <a:prstGeom prst="ellipse">
            <a:avLst/>
          </a:prstGeom>
          <a:solidFill>
            <a:schemeClr val="accent4"/>
          </a:solidFill>
          <a:ln w="63500">
            <a:solidFill>
              <a:schemeClr val="accent2"/>
            </a:solidFill>
            <a:prstDash val="solid"/>
          </a:ln>
        </p:spPr>
      </p:sp>
      <p:pic>
        <p:nvPicPr>
          <p:cNvPr id="4" name="Icon GiSpikedDragonHea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736" y="2002536"/>
            <a:ext cx="1755648" cy="1755648"/>
          </a:xfrm>
          <a:prstGeom prst="rect">
            <a:avLst/>
          </a:prstGeom>
        </p:spPr>
      </p:pic>
      <p:sp>
        <p:nvSpPr>
          <p:cNvPr id="5" name="Chip"/>
          <p:cNvSpPr txBox="1"/>
          <p:nvPr/>
        </p:nvSpPr>
        <p:spPr>
          <a:xfrm>
            <a:off x="685800" y="4526280"/>
            <a:ext cx="3017520" cy="502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am Ende jeder Welt</a:t>
            </a:r>
            <a:endParaRPr lang="en-US" sz="1800" dirty="0"/>
          </a:p>
        </p:txBody>
      </p:sp>
      <p:sp>
        <p:nvSpPr>
          <p:cNvPr id="6" name="Icon-Kreis"/>
          <p:cNvSpPr/>
          <p:nvPr/>
        </p:nvSpPr>
        <p:spPr>
          <a:xfrm>
            <a:off x="4389120" y="13716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 GiScrollUnfurled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054" y="1532534"/>
            <a:ext cx="409651" cy="40965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349240" y="1289304"/>
            <a:ext cx="6263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Echte Abi-Formate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Operatoren, BE-Angaben, Teilaufgaben wie im Abitur</a:t>
            </a:r>
            <a:endParaRPr lang="en-US" sz="1800" dirty="0"/>
          </a:p>
        </p:txBody>
      </p:sp>
      <p:sp>
        <p:nvSpPr>
          <p:cNvPr id="9" name="Icon-Kreis"/>
          <p:cNvSpPr/>
          <p:nvPr/>
        </p:nvSpPr>
        <p:spPr>
          <a:xfrm>
            <a:off x="4389120" y="23317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 GiQuillIn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054" y="2492654"/>
            <a:ext cx="409651" cy="40965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349240" y="2249424"/>
            <a:ext cx="6263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Nur Papier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ohne Gerät – alles handschriftlich</a:t>
            </a:r>
            <a:endParaRPr lang="en-US" sz="1800" dirty="0"/>
          </a:p>
        </p:txBody>
      </p:sp>
      <p:sp>
        <p:nvSpPr>
          <p:cNvPr id="12" name="Icon-Kreis"/>
          <p:cNvSpPr/>
          <p:nvPr/>
        </p:nvSpPr>
        <p:spPr>
          <a:xfrm>
            <a:off x="4389120" y="3291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 GiHourglas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0054" y="3452774"/>
            <a:ext cx="409651" cy="40965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349240" y="3209544"/>
            <a:ext cx="6263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Auf Zeit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≈ 2,5 min pro BE · Boss 0: ≈ 24 BE in 60 min</a:t>
            </a:r>
            <a:endParaRPr lang="en-US" sz="1800" dirty="0"/>
          </a:p>
        </p:txBody>
      </p:sp>
      <p:sp>
        <p:nvSpPr>
          <p:cNvPr id="15" name="Icon-Kreis"/>
          <p:cNvSpPr/>
          <p:nvPr/>
        </p:nvSpPr>
        <p:spPr>
          <a:xfrm>
            <a:off x="4389120" y="42519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 GiChecklis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0054" y="4412894"/>
            <a:ext cx="409651" cy="409651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349240" y="4169664"/>
            <a:ext cx="6263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Rückmeldung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nach Erwartungshorizont – Lehrkraft oder Selbst-/Peer-Korrektur</a:t>
            </a:r>
            <a:endParaRPr lang="en-US" sz="1800" dirty="0"/>
          </a:p>
        </p:txBody>
      </p:sp>
      <p:sp>
        <p:nvSpPr>
          <p:cNvPr id="18" name="Icon-Kreis"/>
          <p:cNvSpPr/>
          <p:nvPr/>
        </p:nvSpPr>
        <p:spPr>
          <a:xfrm>
            <a:off x="4389120" y="521208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9" name="Icon GiCrossedSwords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0054" y="5373014"/>
            <a:ext cx="409651" cy="409651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349240" y="5129784"/>
            <a:ext cx="6263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Zusätzlich im Lab: Online-Boss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„Aufnahmeprüfung: Die Bibliothek der Akademie“ · 25 min · bester Versuch zählt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Der Papier-Compiler</a:t>
            </a:r>
            <a:endParaRPr lang="en-US" sz="3600" dirty="0"/>
          </a:p>
        </p:txBody>
      </p:sp>
      <p:sp>
        <p:nvSpPr>
          <p:cNvPr id="3" name="Schritt 1"/>
          <p:cNvSpPr/>
          <p:nvPr/>
        </p:nvSpPr>
        <p:spPr>
          <a:xfrm>
            <a:off x="548640" y="1371600"/>
            <a:ext cx="251460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Icon-Kreis"/>
          <p:cNvSpPr/>
          <p:nvPr/>
        </p:nvSpPr>
        <p:spPr>
          <a:xfrm>
            <a:off x="1371600" y="1536192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GiQuillIn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2710" y="1727302"/>
            <a:ext cx="486461" cy="4864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  Schreiben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94436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Methode komplett von Hand auf Papier</a:t>
            </a:r>
            <a:endParaRPr lang="en-US" sz="1700" dirty="0"/>
          </a:p>
        </p:txBody>
      </p:sp>
      <p:sp>
        <p:nvSpPr>
          <p:cNvPr id="8" name="Linie"/>
          <p:cNvSpPr/>
          <p:nvPr/>
        </p:nvSpPr>
        <p:spPr>
          <a:xfrm>
            <a:off x="3108960" y="2628900"/>
            <a:ext cx="246888" cy="91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Schritt 2"/>
          <p:cNvSpPr/>
          <p:nvPr/>
        </p:nvSpPr>
        <p:spPr>
          <a:xfrm>
            <a:off x="3401568" y="1371600"/>
            <a:ext cx="251460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Icon-Kreis"/>
          <p:cNvSpPr/>
          <p:nvPr/>
        </p:nvSpPr>
        <p:spPr>
          <a:xfrm>
            <a:off x="4224528" y="1536192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 GiKeyboard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638" y="1727302"/>
            <a:ext cx="486461" cy="48646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38728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  Abtippen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3584448" y="294436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1 : 1 in die Online-IDE – nichts verbessern!</a:t>
            </a:r>
            <a:endParaRPr lang="en-US" sz="1700" dirty="0"/>
          </a:p>
        </p:txBody>
      </p:sp>
      <p:sp>
        <p:nvSpPr>
          <p:cNvPr id="14" name="Linie"/>
          <p:cNvSpPr/>
          <p:nvPr/>
        </p:nvSpPr>
        <p:spPr>
          <a:xfrm>
            <a:off x="5961888" y="2628900"/>
            <a:ext cx="246888" cy="91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Schritt 3"/>
          <p:cNvSpPr/>
          <p:nvPr/>
        </p:nvSpPr>
        <p:spPr>
          <a:xfrm>
            <a:off x="6254496" y="1371600"/>
            <a:ext cx="251460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Icon-Kreis"/>
          <p:cNvSpPr/>
          <p:nvPr/>
        </p:nvSpPr>
        <p:spPr>
          <a:xfrm>
            <a:off x="7077456" y="1536192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 GiPlayButt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8566" y="1727302"/>
            <a:ext cx="486461" cy="48646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91656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  Testen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6437376" y="294436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Tests im Testrunner starten</a:t>
            </a:r>
            <a:endParaRPr lang="en-US" sz="1700" dirty="0"/>
          </a:p>
        </p:txBody>
      </p:sp>
      <p:sp>
        <p:nvSpPr>
          <p:cNvPr id="20" name="Linie"/>
          <p:cNvSpPr/>
          <p:nvPr/>
        </p:nvSpPr>
        <p:spPr>
          <a:xfrm>
            <a:off x="8814816" y="2628900"/>
            <a:ext cx="246888" cy="91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Schritt 4"/>
          <p:cNvSpPr/>
          <p:nvPr/>
        </p:nvSpPr>
        <p:spPr>
          <a:xfrm>
            <a:off x="9107424" y="1371600"/>
            <a:ext cx="251460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Icon-Kreis"/>
          <p:cNvSpPr/>
          <p:nvPr/>
        </p:nvSpPr>
        <p:spPr>
          <a:xfrm>
            <a:off x="9930384" y="1536192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Icon GiCheckMar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1494" y="1727302"/>
            <a:ext cx="486461" cy="48646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44584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4  Alles grün?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9290304" y="294436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Sonst: Ursache ins Fehlerlogbuch</a:t>
            </a:r>
            <a:endParaRPr lang="en-US" sz="1700" dirty="0"/>
          </a:p>
        </p:txBody>
      </p:sp>
      <p:sp>
        <p:nvSpPr>
          <p:cNvPr id="26" name="Warum"/>
          <p:cNvSpPr/>
          <p:nvPr/>
        </p:nvSpPr>
        <p:spPr>
          <a:xfrm>
            <a:off x="548640" y="4206240"/>
            <a:ext cx="11064240" cy="1143000"/>
          </a:xfrm>
          <a:prstGeom prst="roundRect">
            <a:avLst>
              <a:gd name="adj" fmla="val 9600"/>
            </a:avLst>
          </a:prstGeom>
          <a:solidFill>
            <a:schemeClr val="accent5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777240" y="420624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Warum?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Im Abi gibt es keinen Compiler. Der Papier-Compiler zeigt ehrlich, ob eure Handschrift „compiliert“ – jede vergessene Klammer, jedes fehlende return.</a:t>
            </a:r>
            <a:endParaRPr lang="en-US" sz="1900" dirty="0"/>
          </a:p>
        </p:txBody>
      </p:sp>
      <p:sp>
        <p:nvSpPr>
          <p:cNvPr id="28" name="Icon-Kreis"/>
          <p:cNvSpPr/>
          <p:nvPr/>
        </p:nvSpPr>
        <p:spPr>
          <a:xfrm>
            <a:off x="548640" y="559612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Icon GiQuillIn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687" y="5698175"/>
            <a:ext cx="362834" cy="36283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280160" y="55961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Im Lab: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Level 0.6 „Die Methoden-Werkstatt: Fehlergalerie und Abi-Check“ übt genau diese Fehler.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Rhythmus einer Doppelstunde</a:t>
            </a:r>
            <a:endParaRPr lang="en-US" sz="3600" dirty="0"/>
          </a:p>
        </p:txBody>
      </p:sp>
      <p:sp>
        <p:nvSpPr>
          <p:cNvPr id="3" name="Phase Papier-Kata"/>
          <p:cNvSpPr txBox="1"/>
          <p:nvPr/>
        </p:nvSpPr>
        <p:spPr>
          <a:xfrm>
            <a:off x="548640" y="1463040"/>
            <a:ext cx="1229360" cy="86868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10 min</a:t>
            </a:r>
            <a:endParaRPr lang="en-US" sz="2200" dirty="0"/>
          </a:p>
        </p:txBody>
      </p:sp>
      <p:sp>
        <p:nvSpPr>
          <p:cNvPr id="4" name="Phase Input / Unplugged"/>
          <p:cNvSpPr txBox="1"/>
          <p:nvPr/>
        </p:nvSpPr>
        <p:spPr>
          <a:xfrm>
            <a:off x="1778000" y="1463040"/>
            <a:ext cx="1844040" cy="868680"/>
          </a:xfrm>
          <a:prstGeom prst="rect">
            <a:avLst/>
          </a:prstGeom>
          <a:solidFill>
            <a:schemeClr val="accent6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15 min</a:t>
            </a:r>
            <a:endParaRPr lang="en-US" sz="2200" dirty="0"/>
          </a:p>
        </p:txBody>
      </p:sp>
      <p:sp>
        <p:nvSpPr>
          <p:cNvPr id="5" name="Phase Lab + Online-IDE"/>
          <p:cNvSpPr txBox="1"/>
          <p:nvPr/>
        </p:nvSpPr>
        <p:spPr>
          <a:xfrm>
            <a:off x="3622040" y="1463040"/>
            <a:ext cx="6146800" cy="86868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50 min</a:t>
            </a:r>
            <a:endParaRPr lang="en-US" sz="2200" dirty="0"/>
          </a:p>
        </p:txBody>
      </p:sp>
      <p:sp>
        <p:nvSpPr>
          <p:cNvPr id="6" name="Phase Sicherung"/>
          <p:cNvSpPr txBox="1"/>
          <p:nvPr/>
        </p:nvSpPr>
        <p:spPr>
          <a:xfrm>
            <a:off x="9768840" y="1463040"/>
            <a:ext cx="1844040" cy="86868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15 min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78408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90 min</a:t>
            </a:r>
            <a:endParaRPr lang="en-US" sz="1400" dirty="0"/>
          </a:p>
        </p:txBody>
      </p:sp>
      <p:sp>
        <p:nvSpPr>
          <p:cNvPr id="8" name="Phase-Karte Papier-Kata"/>
          <p:cNvSpPr/>
          <p:nvPr/>
        </p:nvSpPr>
        <p:spPr>
          <a:xfrm>
            <a:off x="548640" y="288036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Icon-Kreis"/>
          <p:cNvSpPr/>
          <p:nvPr/>
        </p:nvSpPr>
        <p:spPr>
          <a:xfrm>
            <a:off x="731520" y="306324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 GiCardDraw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513" y="3234233"/>
            <a:ext cx="435254" cy="43525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1520" y="3977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Papier-Warm-up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4348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Eine Karte, ohne Gerät. Nachüben im Warm-up-Trainer.</a:t>
            </a:r>
            <a:endParaRPr lang="en-US" sz="1700" dirty="0"/>
          </a:p>
        </p:txBody>
      </p:sp>
      <p:sp>
        <p:nvSpPr>
          <p:cNvPr id="13" name="Phase-Karte Input / Unplugged"/>
          <p:cNvSpPr/>
          <p:nvPr/>
        </p:nvSpPr>
        <p:spPr>
          <a:xfrm>
            <a:off x="3360420" y="288036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Icon-Kreis"/>
          <p:cNvSpPr/>
          <p:nvPr/>
        </p:nvSpPr>
        <p:spPr>
          <a:xfrm>
            <a:off x="3543300" y="3063240"/>
            <a:ext cx="777240" cy="7772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5" name="Icon GiSpellBoo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293" y="3234233"/>
            <a:ext cx="435254" cy="43525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543300" y="3977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Input / Unplugged</a:t>
            </a:r>
            <a:endParaRPr lang="en-US" sz="2100" dirty="0"/>
          </a:p>
        </p:txBody>
      </p:sp>
      <p:sp>
        <p:nvSpPr>
          <p:cNvPr id="17" name="Text 13"/>
          <p:cNvSpPr txBox="1"/>
          <p:nvPr/>
        </p:nvSpPr>
        <p:spPr>
          <a:xfrm>
            <a:off x="3543300" y="44348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Neues Konzept – an der Tafel oder zum Anfassen.</a:t>
            </a:r>
            <a:endParaRPr lang="en-US" sz="1700" dirty="0"/>
          </a:p>
        </p:txBody>
      </p:sp>
      <p:sp>
        <p:nvSpPr>
          <p:cNvPr id="18" name="Phase-Karte Lab + Online-IDE"/>
          <p:cNvSpPr/>
          <p:nvPr/>
        </p:nvSpPr>
        <p:spPr>
          <a:xfrm>
            <a:off x="6172200" y="288036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Icon-Kreis"/>
          <p:cNvSpPr/>
          <p:nvPr/>
        </p:nvSpPr>
        <p:spPr>
          <a:xfrm>
            <a:off x="6355080" y="30632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 GiLapto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073" y="3234233"/>
            <a:ext cx="435254" cy="43525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355080" y="3977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Lab + Online-IDE</a:t>
            </a:r>
            <a:endParaRPr lang="en-US" sz="2100" dirty="0"/>
          </a:p>
        </p:txBody>
      </p:sp>
      <p:sp>
        <p:nvSpPr>
          <p:cNvPr id="22" name="Text 17"/>
          <p:cNvSpPr txBox="1"/>
          <p:nvPr/>
        </p:nvSpPr>
        <p:spPr>
          <a:xfrm>
            <a:off x="6355080" y="44348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Lab-Level, dann IDE: Basis → Erweiterung → Experte.</a:t>
            </a:r>
            <a:endParaRPr lang="en-US" sz="1700" dirty="0"/>
          </a:p>
        </p:txBody>
      </p:sp>
      <p:sp>
        <p:nvSpPr>
          <p:cNvPr id="23" name="Phase-Karte Sicherung"/>
          <p:cNvSpPr/>
          <p:nvPr/>
        </p:nvSpPr>
        <p:spPr>
          <a:xfrm>
            <a:off x="8983980" y="288036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Icon-Kreis"/>
          <p:cNvSpPr/>
          <p:nvPr/>
        </p:nvSpPr>
        <p:spPr>
          <a:xfrm>
            <a:off x="9166860" y="306324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Icon GiChecklis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7853" y="3234233"/>
            <a:ext cx="435254" cy="43525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166860" y="3977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Sicherung</a:t>
            </a:r>
            <a:endParaRPr lang="en-US" sz="2100" dirty="0"/>
          </a:p>
        </p:txBody>
      </p:sp>
      <p:sp>
        <p:nvSpPr>
          <p:cNvPr id="27" name="Text 21"/>
          <p:cNvSpPr txBox="1"/>
          <p:nvPr/>
        </p:nvSpPr>
        <p:spPr>
          <a:xfrm>
            <a:off x="9166860" y="44348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Ergebnisse vergleichen, Abi-Check, Fehlerlogbuch.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Eure Werkzeuge</a:t>
            </a:r>
            <a:endParaRPr lang="en-US" sz="3600" dirty="0"/>
          </a:p>
        </p:txBody>
      </p:sp>
      <p:sp>
        <p:nvSpPr>
          <p:cNvPr id="3" name="Werkzeug Online-IDE"/>
          <p:cNvSpPr/>
          <p:nvPr/>
        </p:nvSpPr>
        <p:spPr>
          <a:xfrm>
            <a:off x="548640" y="1371600"/>
            <a:ext cx="3566160" cy="4663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Icon-Kreis"/>
          <p:cNvSpPr/>
          <p:nvPr/>
        </p:nvSpPr>
        <p:spPr>
          <a:xfrm>
            <a:off x="777240" y="1572768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GiLapto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350" y="1763878"/>
            <a:ext cx="486461" cy="4864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560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Online-IDE</a:t>
            </a:r>
            <a:endParaRPr lang="en-US" sz="18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online-ide.de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47472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Java direkt im Browser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ein Workspace pro Welt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Tests im Reiter „Testrunner“</a:t>
            </a:r>
            <a:endParaRPr lang="en-US" sz="1800" dirty="0"/>
          </a:p>
        </p:txBody>
      </p:sp>
      <p:sp>
        <p:nvSpPr>
          <p:cNvPr id="8" name="Werkzeug Algo Quest Lab"/>
          <p:cNvSpPr/>
          <p:nvPr/>
        </p:nvSpPr>
        <p:spPr>
          <a:xfrm>
            <a:off x="4297680" y="1371600"/>
            <a:ext cx="3566160" cy="4663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Icon-Kreis"/>
          <p:cNvSpPr/>
          <p:nvPr/>
        </p:nvSpPr>
        <p:spPr>
          <a:xfrm>
            <a:off x="4526280" y="1572768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 GiTowerFla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390" y="1763878"/>
            <a:ext cx="486461" cy="48646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26280" y="2560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Algo Quest Lab</a:t>
            </a:r>
            <a:endParaRPr lang="en-US" sz="18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Kurscode + Name → persönlicher Code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347472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Weltkarte mit Lab-Leveln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Punkte, Rang, Abzeichen automatisch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Online-Boss, Training, Warm-up-Trainer</a:t>
            </a:r>
            <a:endParaRPr lang="en-US" sz="1800" dirty="0"/>
          </a:p>
        </p:txBody>
      </p:sp>
      <p:sp>
        <p:nvSpPr>
          <p:cNvPr id="13" name="Werkzeug YouTube-Playlist"/>
          <p:cNvSpPr/>
          <p:nvPr/>
        </p:nvSpPr>
        <p:spPr>
          <a:xfrm>
            <a:off x="8046720" y="1371600"/>
            <a:ext cx="3566160" cy="4663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Icon-Kreis"/>
          <p:cNvSpPr/>
          <p:nvPr/>
        </p:nvSpPr>
        <p:spPr>
          <a:xfrm>
            <a:off x="8275320" y="1572768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 GiVideoCamer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430" y="1763878"/>
            <a:ext cx="486461" cy="48646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75320" y="2560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YouTube-Playlist</a:t>
            </a:r>
            <a:endParaRPr lang="en-US" sz="18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„Algo Quest“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347472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Erklärvideos und Live-Coding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Boss-Lösungen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4526280" y="53492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algoquest.frankjuchim.de</a:t>
            </a:r>
            <a:endParaRPr lang="en-US" sz="1600" dirty="0"/>
          </a:p>
        </p:txBody>
      </p:sp>
      <p:sp>
        <p:nvSpPr>
          <p:cNvPr id="19" name="QR-Platzhalter"/>
          <p:cNvSpPr/>
          <p:nvPr/>
        </p:nvSpPr>
        <p:spPr>
          <a:xfrm>
            <a:off x="8275320" y="4434840"/>
            <a:ext cx="1371600" cy="1371600"/>
          </a:xfrm>
          <a:prstGeom prst="rect">
            <a:avLst/>
          </a:prstGeom>
          <a:solidFill>
            <a:schemeClr val="accent5"/>
          </a:solidFill>
          <a:ln w="25400">
            <a:solidFill>
              <a:schemeClr val="accent6"/>
            </a:solidFill>
            <a:prstDash val="dash"/>
          </a:ln>
        </p:spPr>
      </p:sp>
      <p:sp>
        <p:nvSpPr>
          <p:cNvPr id="20" name="Text 15"/>
          <p:cNvSpPr txBox="1"/>
          <p:nvPr/>
        </p:nvSpPr>
        <p:spPr>
          <a:xfrm>
            <a:off x="8275320" y="4434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QR-Code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Playlist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(folgt)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Profil, Scoreboard und Warm-up-Trainer</a:t>
            </a:r>
            <a:endParaRPr lang="en-US" sz="3600" dirty="0"/>
          </a:p>
        </p:txBody>
      </p:sp>
      <p:pic>
        <p:nvPicPr>
          <p:cNvPr id="3" name="Screenshot Profil" descr="/tmp/claude-0/-home-claude/3cd22a81-f637-5ed7-b623-6c1c326592db/scratchpad/mat_w0/shots/lab_prof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760720" cy="1911096"/>
          </a:xfrm>
          <a:prstGeom prst="rect">
            <a:avLst/>
          </a:prstGeom>
        </p:spPr>
      </p:pic>
      <p:sp>
        <p:nvSpPr>
          <p:cNvPr id="4" name="Rahmen Profil"/>
          <p:cNvSpPr/>
          <p:nvPr/>
        </p:nvSpPr>
        <p:spPr>
          <a:xfrm>
            <a:off x="548640" y="1325880"/>
            <a:ext cx="5760720" cy="1911096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32918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Profil: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Punkte, Rang, Abzeichen, „Deine Fallen“ (P1–P10), dein Code.</a:t>
            </a:r>
            <a:endParaRPr lang="en-US" sz="1500" dirty="0"/>
          </a:p>
        </p:txBody>
      </p:sp>
      <p:pic>
        <p:nvPicPr>
          <p:cNvPr id="6" name="Screenshot Scoreboard" descr="/tmp/claude-0/-home-claude/3cd22a81-f637-5ed7-b623-6c1c326592db/scratchpad/mat_w0/shots/lab_score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31920"/>
            <a:ext cx="5760720" cy="1856232"/>
          </a:xfrm>
          <a:prstGeom prst="rect">
            <a:avLst/>
          </a:prstGeom>
        </p:spPr>
      </p:pic>
      <p:sp>
        <p:nvSpPr>
          <p:cNvPr id="7" name="Rahmen Scoreboard"/>
          <p:cNvSpPr/>
          <p:nvPr/>
        </p:nvSpPr>
        <p:spPr>
          <a:xfrm>
            <a:off x="548640" y="3931920"/>
            <a:ext cx="5760720" cy="1856232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583387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Scoreboard: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Namen und Punkte im Kurs – von der Lehrkraft ausblendbar.</a:t>
            </a:r>
            <a:endParaRPr lang="en-US" sz="1500" dirty="0"/>
          </a:p>
        </p:txBody>
      </p:sp>
      <p:pic>
        <p:nvPicPr>
          <p:cNvPr id="9" name="Screenshot Kata-Trainer" descr="/tmp/claude-0/-home-claude/3cd22a81-f637-5ed7-b623-6c1c326592db/scratchpad/mat_w0/shots/lab_ka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325880"/>
            <a:ext cx="4937760" cy="3182112"/>
          </a:xfrm>
          <a:prstGeom prst="rect">
            <a:avLst/>
          </a:prstGeom>
        </p:spPr>
      </p:pic>
      <p:sp>
        <p:nvSpPr>
          <p:cNvPr id="10" name="Rahmen Kata-Trainer"/>
          <p:cNvSpPr/>
          <p:nvPr/>
        </p:nvSpPr>
        <p:spPr>
          <a:xfrm>
            <a:off x="6675120" y="1325880"/>
            <a:ext cx="4937760" cy="3182112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675120" y="46177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Warm-up-Trainer: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Karte ziehen, auf Papier lösen, Lösung aufdecken, ehrlich einschätzen – ohne Punkte.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Spielregeln &amp; Fairness</a:t>
            </a:r>
            <a:endParaRPr lang="en-US" sz="3600" dirty="0"/>
          </a:p>
        </p:txBody>
      </p:sp>
      <p:sp>
        <p:nvSpPr>
          <p:cNvPr id="3" name="Regel Punkte ≠ Note"/>
          <p:cNvSpPr/>
          <p:nvPr/>
        </p:nvSpPr>
        <p:spPr>
          <a:xfrm>
            <a:off x="548640" y="1371600"/>
            <a:ext cx="356616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Icon-Kreis"/>
          <p:cNvSpPr/>
          <p:nvPr/>
        </p:nvSpPr>
        <p:spPr>
          <a:xfrm>
            <a:off x="749808" y="157276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 GiCheckedShiel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742" y="1733702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57276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Punkte ≠ Note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957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Punkte zeigen euren Fortschritt. In die Note fließen sie nicht ein.</a:t>
            </a:r>
            <a:endParaRPr lang="en-US" sz="1700" dirty="0"/>
          </a:p>
        </p:txBody>
      </p:sp>
      <p:sp>
        <p:nvSpPr>
          <p:cNvPr id="8" name="Regel Vorname + Initial"/>
          <p:cNvSpPr/>
          <p:nvPr/>
        </p:nvSpPr>
        <p:spPr>
          <a:xfrm>
            <a:off x="4297680" y="1371600"/>
            <a:ext cx="356616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Icon-Kreis"/>
          <p:cNvSpPr/>
          <p:nvPr/>
        </p:nvSpPr>
        <p:spPr>
          <a:xfrm>
            <a:off x="4498848" y="1572768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 GiHoodedFigur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782" y="1733702"/>
            <a:ext cx="409651" cy="4096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157276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Vorname + Initial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23957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Im Lab nur „Lena S.“ – keine vollen Namen. Deinen Code behältst du für dich.</a:t>
            </a:r>
            <a:endParaRPr lang="en-US" sz="1700" dirty="0"/>
          </a:p>
        </p:txBody>
      </p:sp>
      <p:sp>
        <p:nvSpPr>
          <p:cNvPr id="13" name="Regel Scoreboard im Kurs"/>
          <p:cNvSpPr/>
          <p:nvPr/>
        </p:nvSpPr>
        <p:spPr>
          <a:xfrm>
            <a:off x="8046720" y="1371600"/>
            <a:ext cx="356616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Icon-Kreis"/>
          <p:cNvSpPr/>
          <p:nvPr/>
        </p:nvSpPr>
        <p:spPr>
          <a:xfrm>
            <a:off x="8247888" y="1572768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 GiPodium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822" y="1733702"/>
            <a:ext cx="409651" cy="40965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44000" y="157276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Scoreboard im Kurs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23957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Namen und Punkte nur im Kurs sichtbar; die Lehrkraft kann es ausblenden.</a:t>
            </a:r>
            <a:endParaRPr lang="en-US" sz="1700" dirty="0"/>
          </a:p>
        </p:txBody>
      </p:sp>
      <p:sp>
        <p:nvSpPr>
          <p:cNvPr id="18" name="Regel Ehrlich auf Papier"/>
          <p:cNvSpPr/>
          <p:nvPr/>
        </p:nvSpPr>
        <p:spPr>
          <a:xfrm>
            <a:off x="548640" y="3566160"/>
            <a:ext cx="356616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Icon-Kreis"/>
          <p:cNvSpPr/>
          <p:nvPr/>
        </p:nvSpPr>
        <p:spPr>
          <a:xfrm>
            <a:off x="749808" y="3767328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 GiQuillIn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" y="3928262"/>
            <a:ext cx="409651" cy="40965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45920" y="3767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Ehrlich auf Papier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459028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Warm-ups und Bosse ohne Gerät – nur so wisst ihr, wo ihr steht.</a:t>
            </a:r>
            <a:endParaRPr lang="en-US" sz="1700" dirty="0"/>
          </a:p>
        </p:txBody>
      </p:sp>
      <p:sp>
        <p:nvSpPr>
          <p:cNvPr id="23" name="Regel Erklären statt vorsagen"/>
          <p:cNvSpPr/>
          <p:nvPr/>
        </p:nvSpPr>
        <p:spPr>
          <a:xfrm>
            <a:off x="4297680" y="3566160"/>
            <a:ext cx="356616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Icon-Kreis"/>
          <p:cNvSpPr/>
          <p:nvPr/>
        </p:nvSpPr>
        <p:spPr>
          <a:xfrm>
            <a:off x="4498848" y="3767328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 GiShakingHand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9782" y="3928262"/>
            <a:ext cx="409651" cy="40965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94960" y="3767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Erklären statt vorsagen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4526280" y="459028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Als Helfer:in erklärst du – ohne Punkte. Abschreiben bringt nichts.</a:t>
            </a:r>
            <a:endParaRPr lang="en-US" sz="1700" dirty="0"/>
          </a:p>
        </p:txBody>
      </p:sp>
      <p:sp>
        <p:nvSpPr>
          <p:cNvPr id="28" name="Regel Bug-Meldung"/>
          <p:cNvSpPr/>
          <p:nvPr/>
        </p:nvSpPr>
        <p:spPr>
          <a:xfrm>
            <a:off x="8046720" y="3566160"/>
            <a:ext cx="356616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9" name="Icon-Kreis"/>
          <p:cNvSpPr/>
          <p:nvPr/>
        </p:nvSpPr>
        <p:spPr>
          <a:xfrm>
            <a:off x="8247888" y="3767328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 GiBugNet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8822" y="3928262"/>
            <a:ext cx="409651" cy="409651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144000" y="3767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Bug-Meldung</a:t>
            </a:r>
            <a:endParaRPr lang="en-US" sz="2000" dirty="0"/>
          </a:p>
        </p:txBody>
      </p:sp>
      <p:sp>
        <p:nvSpPr>
          <p:cNvPr id="32" name="Text 24"/>
          <p:cNvSpPr txBox="1"/>
          <p:nvPr/>
        </p:nvSpPr>
        <p:spPr>
          <a:xfrm>
            <a:off x="8275320" y="459028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Fehler im Material gefunden? Meldet ihn – ohne Punkte, aber mit Dank.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Los geht’s!</a:t>
            </a:r>
            <a:endParaRPr lang="en-US" sz="3600" dirty="0"/>
          </a:p>
        </p:txBody>
      </p:sp>
      <p:sp>
        <p:nvSpPr>
          <p:cNvPr id="3" name="Auftrag Lab"/>
          <p:cNvSpPr/>
          <p:nvPr/>
        </p:nvSpPr>
        <p:spPr>
          <a:xfrm>
            <a:off x="548640" y="1371600"/>
            <a:ext cx="5120640" cy="466344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600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Lab beitreten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algoquest.frankjuchim.de öffnen oder QR-Code scannen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Kurscode + Name (Vorname + Initial)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persönlichen Code notieren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Lab-Level 0.1 „Das Portal: Notation fürs Abitur“ öffnen</a:t>
            </a:r>
            <a:endParaRPr lang="en-US" sz="2000" dirty="0"/>
          </a:p>
        </p:txBody>
      </p:sp>
      <p:sp>
        <p:nvSpPr>
          <p:cNvPr id="7" name="Chip"/>
          <p:cNvSpPr txBox="1"/>
          <p:nvPr/>
        </p:nvSpPr>
        <p:spPr>
          <a:xfrm>
            <a:off x="822960" y="530352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≈ 10 min</a:t>
            </a:r>
            <a:endParaRPr lang="en-US" sz="1600" dirty="0"/>
          </a:p>
        </p:txBody>
      </p:sp>
      <p:sp>
        <p:nvSpPr>
          <p:cNvPr id="8" name="Auftrag Level 0"/>
          <p:cNvSpPr/>
          <p:nvPr/>
        </p:nvSpPr>
        <p:spPr>
          <a:xfrm>
            <a:off x="6035040" y="1371600"/>
            <a:ext cx="5577840" cy="466344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15544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Level 0: Diagnose</a:t>
            </a:r>
            <a:endParaRPr lang="en-US" sz="28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Online-IDE · class Diagnose</a:t>
            </a:r>
            <a:endParaRPr lang="en-US" sz="2800" dirty="0"/>
          </a:p>
        </p:txBody>
      </p:sp>
      <p:sp>
        <p:nvSpPr>
          <p:cNvPr id="11" name="Chip"/>
          <p:cNvSpPr txBox="1"/>
          <p:nvPr/>
        </p:nvSpPr>
        <p:spPr>
          <a:xfrm>
            <a:off x="6309360" y="2743200"/>
            <a:ext cx="1143000" cy="4114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★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2651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Basis</a:t>
            </a:r>
            <a:endParaRPr lang="en-US" sz="20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summe · maximum · zaehle</a:t>
            </a:r>
            <a:endParaRPr lang="en-US" sz="2000" dirty="0"/>
          </a:p>
        </p:txBody>
      </p:sp>
      <p:sp>
        <p:nvSpPr>
          <p:cNvPr id="13" name="Chip"/>
          <p:cNvSpPr txBox="1"/>
          <p:nvPr/>
        </p:nvSpPr>
        <p:spPr>
          <a:xfrm>
            <a:off x="6309360" y="3794760"/>
            <a:ext cx="1143000" cy="4114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★★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3703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Erweiterung</a:t>
            </a:r>
            <a:endParaRPr lang="en-US" sz="20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indexVon · istAufsteigendSortiert · durchschnitt</a:t>
            </a:r>
            <a:endParaRPr lang="en-US" sz="2000" dirty="0"/>
          </a:p>
        </p:txBody>
      </p:sp>
      <p:sp>
        <p:nvSpPr>
          <p:cNvPr id="15" name="Chip"/>
          <p:cNvSpPr txBox="1"/>
          <p:nvPr/>
        </p:nvSpPr>
        <p:spPr>
          <a:xfrm>
            <a:off x="6309360" y="4846320"/>
            <a:ext cx="1143000" cy="4114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★★★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47548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Experte</a:t>
            </a:r>
            <a:endParaRPr lang="en-US" sz="20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anzahlVokale · istPalindrom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go Quest">
  <a:themeElements>
    <a:clrScheme name="Algo Quest">
      <a:dk1>
        <a:srgbClr val="1A1A1A"/>
      </a:dk1>
      <a:lt1>
        <a:srgbClr val="FFFFFF"/>
      </a:lt1>
      <a:dk2>
        <a:srgbClr val="1F4E79"/>
      </a:dk2>
      <a:lt2>
        <a:srgbClr val="DBE7F5"/>
      </a:lt2>
      <a:accent1>
        <a:srgbClr val="1F4E79"/>
      </a:accent1>
      <a:accent2>
        <a:srgbClr val="B8860B"/>
      </a:accent2>
      <a:accent3>
        <a:srgbClr val="548235"/>
      </a:accent3>
      <a:accent4>
        <a:srgbClr val="C00000"/>
      </a:accent4>
      <a:accent5>
        <a:srgbClr val="F0F0F0"/>
      </a:accent5>
      <a:accent6>
        <a:srgbClr val="2E75B6"/>
      </a:accent6>
      <a:hlink>
        <a:srgbClr val="2E75B6"/>
      </a:hlink>
      <a:folHlink>
        <a:srgbClr val="7030A0"/>
      </a:folHlink>
    </a:clrScheme>
    <a:fontScheme name="Algo Ques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 Quest – Kick-off</dc:title>
  <dc:subject>PptxGenJS Presentation</dc:subject>
  <dc:creator>Frank Juchim</dc:creator>
  <cp:lastModifiedBy>Frank Juchim</cp:lastModifiedBy>
  <cp:revision>1</cp:revision>
  <dcterms:created xsi:type="dcterms:W3CDTF">2026-10-08T18:35:53Z</dcterms:created>
  <dcterms:modified xsi:type="dcterms:W3CDTF">2026-10-08T18:35:53Z</dcterms:modified>
</cp:coreProperties>
</file>