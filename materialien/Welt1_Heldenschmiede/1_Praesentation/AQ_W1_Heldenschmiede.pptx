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014ffc0a-ae03-414d-995e-5f8e4953d069}">
          <p14:sldIdLst>
            <p14:sldId id="256"/>
            <p14:sldId id="257"/>
          </p14:sldIdLst>
        </p14:section>
        <p14:section name="Klassen und Objekte" id="{7e671278-d84b-aa8c-e054-9e8fc62506b5}">
          <p14:sldIdLst>
            <p14:sldId id="258"/>
            <p14:sldId id="259"/>
            <p14:sldId id="260"/>
            <p14:sldId id="261"/>
            <p14:sldId id="262"/>
            <p14:sldId id="263"/>
            <p14:sldId id="264"/>
            <p14:sldId id="265"/>
            <p14:sldId id="266"/>
          </p14:sldIdLst>
        </p14:section>
        <p14:section name="Vererbung" id="{ac3533b9-e227-74ca-c9a9-1aeb4f4c828e}">
          <p14:sldIdLst>
            <p14:sldId id="267"/>
            <p14:sldId id="268"/>
            <p14:sldId id="269"/>
            <p14:sldId id="270"/>
            <p14:sldId id="271"/>
            <p14:sldId id="272"/>
          </p14:sldIdLst>
        </p14:section>
        <p14:section name="Abi-Training" id="{7c62e6cd-9128-c788-f5ab-9de538a55dec}">
          <p14:sldIdLst>
            <p14:sldId id="273"/>
            <p14:sldId id="274"/>
            <p14:sldId id="275"/>
          </p14:sldIdLst>
        </p14:section>
        <p14:section name="Boss 1" id="{c0e76062-1a5d-b282-356d-5ad084b2afb4}">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in Welt 1 (ca. 1 min): In der Heldenschmiede bauen wir die Figuren und Gegenstände unseres Dungeon-Spiels. Fachlich geht es um Klassen, Objekte, Referenzen und Vererbung – Abi-Klassiker wie „Klasse erläutern“ und Objektkarten. Die Präsentation begleitet DS 8 bis 12; einzelne Folien je nach Stunde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Überblick über Welt 1 (ca. 2 min): Vier IDE-Level in DS 8 bis 11, jeweils mit Basis-, Erweiterungs- und Experten-Tests, danach Boss-Kampf 1 in DS 12. Alle Level arbeiten an derselben Klassenwelt: Held, Monster, Gegenstand und deren Unterklassen. Zu jedem Level gibt es im Algo Quest Lab das Lab-Level mit gleicher Nummer: automatisch geprüfte Aufgaben, Punkte vergibt nur das Lab. Die Folie kann zu Beginn jeder Stunde zur Orientierung gezeigt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Klasse und Objekt unterscheiden (ca. 3 min): Die Klasse ist der Bauplan mit Attributen und Methoden, Objekte sind konkrete Exemplare mit eigenen Werten. Mit new wird jeweils ein neues Objekt erzeugt; Brann entsteht über den zweiten Konstruktor. Abi-Formulierung: „Ein Objekt ist eine Instanz einer Klasse.“ Kurz an die Warm-up-Kategorie „Klasse vs. Objekt“ erinnern.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Bestandteile am Code zeigen (ca. 4 min): Klassenkopf, private Attribute, Konstruktor, öffentliche Methoden. Betonen: Der Konstruktor hat keinen Rückgabetyp und heißt wie die Klasse. Sondierende Methoden liefern Informationen, verändernde ändern den Zustand. Das ist exakt die Struktur aus Level 1.1 – die Warm-up-Kategorie heißt „Bestandteile einer Klasse“.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Klassenkarte nach den Ergänzenden Hinweisen (ca. 4 min): Sichtbarkeit mit Plus und Minus ist Pflicht, Konstruktoren bekommen ein vorangestelltes c, Typen stehen hinter dem Doppelpunkt mit deutschen Namen – void heißt „nichts“, ein Array heißt „Reihung von …“. Nicht gezeigte Elemente werden mit drei Punkten angedeutet. Die Tabelle rechts ist auch auf der Werkzeugkarte.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Objektkarte zeichnen (ca. 4 min): Erst den Code gemeinsam „ausführen“, dann die Karte mit den aktuellen Werten zeichnen – leben ist nach dem Treffer 70, gold 15. inventar ist eine Referenz auf eine eigene Reihung, deshalb ein Pfeil; die Plätze sind noch null. waffe zeigt auf kein Objekt und steht als null in der Karte. Häufiger Fehler: Typen statt Werte eintragen.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Konstruktoren (ca. 4 min): Zwei Konstruktoren mit gleichem Namen und verschiedenen Parameterlisten – das ist Überladen. this.name meint das Attribut, name allein den Parameter; ohne this würde der Parameter sich selbst zugewiesen. Häufiger Fehler aus Level 1.2: Im zweiten Konstruktor wird das Inventar vergessen, dann stürzt aufnehmen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Referenz-Rätsel aus Level 1.2 (ca. 5 min): Erst raten lassen, dann mit Pfeilbild auflösen – Held b = a erzeugt kein neues Objekt, beide Variablen zeigen auf dasselbe, deshalb hat auch a nur noch 70 Leben. Unten: Eine Variable ohne Objekt enthält null; jeder Zugriff darauf führt zum Laufzeitfehler. Im Abi werden Laufzeitfehler explizit ausgeschlossen – also immer zuerst abfragen.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Monster und Kampf aus Level 1.2 (ca. 4 min): Held und Monster greifen sich gegenseitig an, indem sie eine Methode des anderen Objekts aufrufen – man spricht von Botschaften. Der direkte Zugriff auf das Attribut leben eines anderen Objekts ist wegen private nicht erlaubt. angriffswert liefert in Level 1.2 zunächst nur die Stärke, in Level 1.4 kommt die Waffe dazu.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Inventar aus Level 1.3 (ca. 5 min): Der Held kennt Gegenstände über das Attribut inventar – im Klassendiagramm eine einfache Linie. Die Reihung hat fünf Plätze, anzahl zählt die belegten und ist zugleich der nächste freie Index. Bei aufnehmen zuerst die Sonderfälle abfangen, dann einfügen. Alle Schleifen über das Inventar laufen nur bis anzahl − 1, sonst greift man auf null zu.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Klassendiagramm nach den Ergänzenden Hinweisen (ca. 3 min): Eine Assoziation wird nur als einfache, unbeschriftete Linie gezeichnet – ohne Kardinalitäten, Rauten oder Pfeile. Die Linie entsteht, weil Held ein Attribut vom Typ „Reihung von Gegenstand“ hat. Das Attribut selbst bleibt trotzdem in der Klassenkarte stehen.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Vererbung aus Level 1.4 (ca. 4 min): Waffe, Trank und Schluessel sind spezielle Gegenstände – „ist ein“-Beziehung. Sie erben name, wert und alle Methoden und ergänzen eigene Attribute. Notation: Pfeil mit hohler Dreiecksspitze zur Oberklasse, geerbte Elemente werden in der Unterklasse nicht wiederholt. Schluessel überschreibt beschreibung() bewusst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 an der Klasse Waffe (ca. 4 min): Der Konstruktor der Unterklasse ruft mit super(name, wert) zuerst den Konstruktor der Oberklasse auf, danach wird nur das neue Attribut gesetzt. In beschreibung() liefert super.beschreibung() den Teil „Schwert (50 Gold)“ – direkt auf name und wert zugreifen geht nicht, weil sie in Gegenstand private sind. Typischer Fehler: Attribute name und wert in Waffe noch einmal deklarieren.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Überschreiben (ca. 3 min): Gleiche Methode, verschiedene Ergebnisse je nach Objekt. Waffe und Trank überschreiben beschreibung(), Schluessel nicht – dort läuft die geerbte Version. Unbedingt Überschreiben und Überladen sauber trennen, das wird in Erläuterungsaufgaben gern verwechselt.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Polymorphie-Rätsel (ca. 4 min inkl. Teamphase): Zwei Minuten im Team auf Papier lösen lassen, dann mit der nächsten Folie auflösen. Die Variable g hat immer den Typ Gegenstand, die Objekte sind aber Waffe, Schluessel und Trank. Erwartete Fehlvorstellung: Weil g ein Gegenstand ist, laufe immer die Gegenstand-Version.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Auflösung (ca. 3 min): Zur Laufzeit entscheidet das tatsächliche Objekt, welche beschreibung() läuft – das nennt man dynamisches Binden oder Polymorphie. Der Schlüssel nutzt die geerbte Version, weil Schluessel nicht überschreibt. Genau das macht inventarAusgeben() in Level 1.4. Merksatz an der Tafel sichern.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Zuweisungskompatibilität (ca. 4 min): Annahme für alle Zeilen: Held held = new Held("Aria"). Eine Variable vom Typ der Oberklasse kann ein Unterklassen-Objekt aufnehmen, umgekehrt nicht. Welche Methoden aufrufbar sind, entscheidet der Typ der Variablen – deshalb scheitert g.getSchaden(), obwohl das Objekt eine Waffe ist. Zeilen einzeln aufdecken und begründen lassen.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Abi-Operator „erläutern“ (ca. 5 min): Erst die Aufgabe zeigen und 5 Minuten selbst schreiben lassen, Musterantwort zunächst abdecken. Dann vergleichen: Die Antwort nennt nicht nur Bestandteile, sondern erklärt, wozu sie dienen – etwa warum private sinnvoll ist. Zeitbudget: 5 BE entsprechen etwa 12 Minuten.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Kernpunkte als Checkliste (ca. 3 min): Damit können die Teams die eigenen Antworten von Folie 18 gegenseitig prüfen – je Kernpunkt ein Haken. Wichtigster Unterschied zwischen nennen und erläutern: das Wozu. Diese Kernpunkte gelten auch für den Boss-Kampf.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Abi-Check (ca. 2 min, danach in jeder Sicherungsphase): Die sechs Punkte stehen auch auf der Abi-Check-Karte bei den Werkzeugen. Vor jeder Abgabe – im Boss-Kampf wie im Abitur – wird die eigene Lösung damit durchgegangen. Die blaue Zeile zeigt jeweils das Beispiel aus Welt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Boss-Vorschau am Ende von DS 11 (ca. 2 min): Rahmen nennen, aber keine Aufgaben verraten – es kommt ein neuer Kontext, in dem dieselben Konzepte aus Welt 1 angewendet werden. 60 Minuten, etwa 24 BE, nur Papier. Zur Vorbereitung die Lab-Level 1.1 bis 1.4 und den Warm-up-Trainer im Lab nutzen und die Abi-Check-Karte bereithalten. Zusätzlich gibt es im Lab den Online-Boss „Der Reitstall der Heldenschmiede“ (25 min, automatische Auswertung, bester Versuch zählt); der Papier-Boss wird von der Lehrkraft oder per Selbst-/Peer-Korrektur nach Erwartungshorizont ausgewertet.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Q Titel">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rtlCol="0"/>
          <a:lstStyle>
            <a:lvl1pPr indent="0" marL="0">
              <a:buNone/>
              <a:defRPr lang="en-US" sz="3000" dirty="0">
                <a:solidFill>
                  <a:schemeClr val="bg2"/>
                </a:solidFill>
              </a:defRPr>
            </a:lvl1pPr>
          </a:lstStyle>
          <a:p>
            <a:pPr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Q 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indent="0" marL="0">
              <a:buNone/>
              <a:defRPr lang="en-US" sz="3600" b="1" dirty="0">
                <a:solidFill>
                  <a:schemeClr val="accent1"/>
                </a:solidFill>
              </a:defRPr>
            </a:lvl1pPr>
          </a:lstStyle>
          <a:p>
            <a:pPr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t"/>
          <a:lstStyle/>
          <a:p>
            <a:pPr indent="0" marL="0">
              <a:buNone/>
            </a:pPr>
            <a:r>
              <a:rPr lang="en-US" sz="1100" dirty="0">
                <a:solidFill>
                  <a:schemeClr val="accent6"/>
                </a:solidFill>
              </a:rPr>
              <a:t>Informatik LK · Algo Quest · Welt 1 – Heldenschmiede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Q Dunkel">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t"/>
          <a:lstStyle/>
          <a:p>
            <a:pPr indent="0" marL="0">
              <a:buNone/>
            </a:pPr>
            <a:r>
              <a:rPr lang="en-US" sz="1100" dirty="0">
                <a:solidFill>
                  <a:schemeClr val="bg2"/>
                </a:solidFill>
              </a:rPr>
              <a:t>Informatik LK · Algo Quest · Welt 1 – Heldenschmiede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3.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4.xml"/><Relationship Id="rId7"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lIns="0" tIns="0" rIns="0" bIns="0" rtlCol="0" anchor="t"/>
          <a:lstStyle/>
          <a:p>
            <a:pPr indent="0" marL="0">
              <a:buNone/>
            </a:pPr>
            <a:r>
              <a:rPr lang="en-US" sz="1800" b="1" spc="200" kern="0" dirty="0">
                <a:solidFill>
                  <a:schemeClr val="accent2"/>
                </a:solidFill>
              </a:rPr>
              <a:t>INFORMATIK LK · WELT 1 · DS 8–12</a:t>
            </a: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lIns="0" tIns="0" rIns="0" bIns="0" rtlCol="0" anchor="t"/>
          <a:lstStyle/>
          <a:p>
            <a:pPr algn="l" indent="0" marL="0">
              <a:buNone/>
            </a:pPr>
            <a:r>
              <a:rPr lang="en-US" sz="6000" b="1" dirty="0">
                <a:solidFill>
                  <a:schemeClr val="bg1"/>
                </a:solidFill>
              </a:rPr>
              <a:t>Die Heldenschmiede</a:t>
            </a: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lIns="0" tIns="0" rIns="0" bIns="0" rtlCol="0" anchor="t"/>
          <a:lstStyle/>
          <a:p>
            <a:pPr indent="0" marL="0">
              <a:buNone/>
            </a:pPr>
            <a:r>
              <a:rPr lang="en-US" sz="3000" dirty="0">
                <a:solidFill>
                  <a:schemeClr val="bg2"/>
                </a:solidFill>
              </a:rPr>
              <a:t>Klassen, Objekte, Vererbung</a:t>
            </a:r>
            <a:endParaRPr lang="en-US" sz="3000" dirty="0"/>
          </a:p>
        </p:txBody>
      </p:sp>
      <p:sp>
        <p:nvSpPr>
          <p:cNvPr id="5" name="Icon-Kreis"/>
          <p:cNvSpPr/>
          <p:nvPr/>
        </p:nvSpPr>
        <p:spPr>
          <a:xfrm>
            <a:off x="8229600" y="1325880"/>
            <a:ext cx="3200400" cy="3200400"/>
          </a:xfrm>
          <a:prstGeom prst="ellipse">
            <a:avLst/>
          </a:prstGeom>
          <a:solidFill>
            <a:schemeClr val="accent1"/>
          </a:solidFill>
          <a:ln w="63500">
            <a:solidFill>
              <a:schemeClr val="accent2"/>
            </a:solidFill>
            <a:prstDash val="solid"/>
          </a:ln>
        </p:spPr>
      </p:sp>
      <p:pic>
        <p:nvPicPr>
          <p:cNvPr id="6" name="Icon GiAnvil" descr="preencoded.png">    </p:cNvPr>
          <p:cNvPicPr>
            <a:picLocks noChangeAspect="1"/>
          </p:cNvPicPr>
          <p:nvPr/>
        </p:nvPicPr>
        <p:blipFill>
          <a:blip r:embed="rId1"/>
          <a:stretch>
            <a:fillRect/>
          </a:stretch>
        </p:blipFill>
        <p:spPr>
          <a:xfrm>
            <a:off x="8869680" y="1965960"/>
            <a:ext cx="1920240" cy="1920240"/>
          </a:xfrm>
          <a:prstGeom prst="rect">
            <a:avLst/>
          </a:prstGeom>
        </p:spPr>
      </p:pic>
      <p:sp>
        <p:nvSpPr>
          <p:cNvPr id="7" name="Linie"/>
          <p:cNvSpPr/>
          <p:nvPr/>
        </p:nvSpPr>
        <p:spPr>
          <a:xfrm>
            <a:off x="1600200" y="4983480"/>
            <a:ext cx="365760" cy="91"/>
          </a:xfrm>
          <a:prstGeom prst="line">
            <a:avLst/>
          </a:prstGeom>
          <a:noFill/>
          <a:ln w="31750">
            <a:solidFill>
              <a:schemeClr val="accent2"/>
            </a:solidFill>
            <a:prstDash val="sysDot"/>
          </a:ln>
        </p:spPr>
      </p:sp>
      <p:sp>
        <p:nvSpPr>
          <p:cNvPr id="8" name="Chip"/>
          <p:cNvSpPr txBox="1"/>
          <p:nvPr/>
        </p:nvSpPr>
        <p:spPr>
          <a:xfrm>
            <a:off x="731520" y="4773168"/>
            <a:ext cx="8686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L1.1</a:t>
            </a:r>
            <a:endParaRPr lang="en-US" sz="1500" dirty="0"/>
          </a:p>
        </p:txBody>
      </p:sp>
      <p:sp>
        <p:nvSpPr>
          <p:cNvPr id="9" name="Linie"/>
          <p:cNvSpPr/>
          <p:nvPr/>
        </p:nvSpPr>
        <p:spPr>
          <a:xfrm>
            <a:off x="2834640" y="4983480"/>
            <a:ext cx="365760" cy="91"/>
          </a:xfrm>
          <a:prstGeom prst="line">
            <a:avLst/>
          </a:prstGeom>
          <a:noFill/>
          <a:ln w="31750">
            <a:solidFill>
              <a:schemeClr val="accent2"/>
            </a:solidFill>
            <a:prstDash val="sysDot"/>
          </a:ln>
        </p:spPr>
      </p:sp>
      <p:sp>
        <p:nvSpPr>
          <p:cNvPr id="10" name="Chip"/>
          <p:cNvSpPr txBox="1"/>
          <p:nvPr/>
        </p:nvSpPr>
        <p:spPr>
          <a:xfrm>
            <a:off x="1965960" y="4773168"/>
            <a:ext cx="8686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L1.2</a:t>
            </a:r>
            <a:endParaRPr lang="en-US" sz="1500" dirty="0"/>
          </a:p>
        </p:txBody>
      </p:sp>
      <p:sp>
        <p:nvSpPr>
          <p:cNvPr id="11" name="Linie"/>
          <p:cNvSpPr/>
          <p:nvPr/>
        </p:nvSpPr>
        <p:spPr>
          <a:xfrm>
            <a:off x="4069080" y="4983480"/>
            <a:ext cx="365760" cy="91"/>
          </a:xfrm>
          <a:prstGeom prst="line">
            <a:avLst/>
          </a:prstGeom>
          <a:noFill/>
          <a:ln w="31750">
            <a:solidFill>
              <a:schemeClr val="accent2"/>
            </a:solidFill>
            <a:prstDash val="sysDot"/>
          </a:ln>
        </p:spPr>
      </p:sp>
      <p:sp>
        <p:nvSpPr>
          <p:cNvPr id="12" name="Chip"/>
          <p:cNvSpPr txBox="1"/>
          <p:nvPr/>
        </p:nvSpPr>
        <p:spPr>
          <a:xfrm>
            <a:off x="3200400" y="4773168"/>
            <a:ext cx="8686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L1.3</a:t>
            </a:r>
            <a:endParaRPr lang="en-US" sz="1500" dirty="0"/>
          </a:p>
        </p:txBody>
      </p:sp>
      <p:sp>
        <p:nvSpPr>
          <p:cNvPr id="13" name="Linie"/>
          <p:cNvSpPr/>
          <p:nvPr/>
        </p:nvSpPr>
        <p:spPr>
          <a:xfrm>
            <a:off x="5303520" y="4983480"/>
            <a:ext cx="365760" cy="91"/>
          </a:xfrm>
          <a:prstGeom prst="line">
            <a:avLst/>
          </a:prstGeom>
          <a:noFill/>
          <a:ln w="31750">
            <a:solidFill>
              <a:schemeClr val="accent2"/>
            </a:solidFill>
            <a:prstDash val="sysDot"/>
          </a:ln>
        </p:spPr>
      </p:sp>
      <p:sp>
        <p:nvSpPr>
          <p:cNvPr id="14" name="Chip"/>
          <p:cNvSpPr txBox="1"/>
          <p:nvPr/>
        </p:nvSpPr>
        <p:spPr>
          <a:xfrm>
            <a:off x="4434840" y="4773168"/>
            <a:ext cx="8686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L1.4</a:t>
            </a:r>
            <a:endParaRPr lang="en-US" sz="1500" dirty="0"/>
          </a:p>
        </p:txBody>
      </p:sp>
      <p:sp>
        <p:nvSpPr>
          <p:cNvPr id="15" name="Chip"/>
          <p:cNvSpPr txBox="1"/>
          <p:nvPr/>
        </p:nvSpPr>
        <p:spPr>
          <a:xfrm>
            <a:off x="5669280" y="4773168"/>
            <a:ext cx="868680" cy="420624"/>
          </a:xfrm>
          <a:prstGeom prst="roundRect">
            <a:avLst>
              <a:gd name="adj" fmla="val 50000"/>
            </a:avLst>
          </a:prstGeom>
          <a:solidFill>
            <a:schemeClr val="accent4"/>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BOSS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Welt 1 im Überblick</a:t>
            </a:r>
            <a:endParaRPr lang="en-US" sz="3600" dirty="0"/>
          </a:p>
        </p:txBody>
      </p:sp>
      <p:sp>
        <p:nvSpPr>
          <p:cNvPr id="3" name="Level 1.1"/>
          <p:cNvSpPr/>
          <p:nvPr/>
        </p:nvSpPr>
        <p:spPr>
          <a:xfrm>
            <a:off x="548640" y="1371600"/>
            <a:ext cx="2103120" cy="4434840"/>
          </a:xfrm>
          <a:prstGeom prst="roundRect">
            <a:avLst>
              <a:gd name="adj" fmla="val 5217"/>
            </a:avLst>
          </a:prstGeom>
          <a:solidFill>
            <a:schemeClr val="bg1"/>
          </a:solidFill>
          <a:ln/>
          <a:effectLst>
            <a:outerShdw sx="100000" sy="100000" kx="0" ky="0" algn="bl" rotWithShape="0" blurRad="76200" dist="25400" dir="5400000">
              <a:srgbClr val="000000">
                <a:alpha val="18000"/>
              </a:srgbClr>
            </a:outerShdw>
          </a:effectLst>
        </p:spPr>
      </p:sp>
      <p:sp>
        <p:nvSpPr>
          <p:cNvPr id="4" name="Icon-Kreis"/>
          <p:cNvSpPr/>
          <p:nvPr/>
        </p:nvSpPr>
        <p:spPr>
          <a:xfrm>
            <a:off x="1097280" y="1600200"/>
            <a:ext cx="1005840" cy="1005840"/>
          </a:xfrm>
          <a:prstGeom prst="ellipse">
            <a:avLst/>
          </a:prstGeom>
          <a:solidFill>
            <a:schemeClr val="accent1"/>
          </a:solidFill>
          <a:ln/>
        </p:spPr>
      </p:sp>
      <p:pic>
        <p:nvPicPr>
          <p:cNvPr id="5" name="Icon GiSwordman" descr="preencoded.png">    </p:cNvPr>
          <p:cNvPicPr>
            <a:picLocks noChangeAspect="1"/>
          </p:cNvPicPr>
          <p:nvPr/>
        </p:nvPicPr>
        <p:blipFill>
          <a:blip r:embed="rId1"/>
          <a:stretch>
            <a:fillRect/>
          </a:stretch>
        </p:blipFill>
        <p:spPr>
          <a:xfrm>
            <a:off x="1318565" y="1821485"/>
            <a:ext cx="563270" cy="563270"/>
          </a:xfrm>
          <a:prstGeom prst="rect">
            <a:avLst/>
          </a:prstGeom>
        </p:spPr>
      </p:pic>
      <p:sp>
        <p:nvSpPr>
          <p:cNvPr id="6" name="Chip"/>
          <p:cNvSpPr txBox="1"/>
          <p:nvPr/>
        </p:nvSpPr>
        <p:spPr>
          <a:xfrm>
            <a:off x="1143000" y="2743200"/>
            <a:ext cx="9144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8</a:t>
            </a:r>
            <a:endParaRPr lang="en-US" sz="1500" dirty="0"/>
          </a:p>
        </p:txBody>
      </p:sp>
      <p:sp>
        <p:nvSpPr>
          <p:cNvPr id="7" name="Text 4"/>
          <p:cNvSpPr txBox="1"/>
          <p:nvPr/>
        </p:nvSpPr>
        <p:spPr>
          <a:xfrm>
            <a:off x="685800" y="3246120"/>
            <a:ext cx="1828800" cy="868680"/>
          </a:xfrm>
          <a:prstGeom prst="rect">
            <a:avLst/>
          </a:prstGeom>
          <a:noFill/>
          <a:ln/>
        </p:spPr>
        <p:txBody>
          <a:bodyPr wrap="square" lIns="0" tIns="0" rIns="0" bIns="0" rtlCol="0" anchor="t"/>
          <a:lstStyle/>
          <a:p>
            <a:pPr algn="ctr" indent="0" marL="0">
              <a:buNone/>
            </a:pPr>
            <a:r>
              <a:rPr lang="en-US" sz="1600" b="1" dirty="0">
                <a:solidFill>
                  <a:schemeClr val="accent6"/>
                </a:solidFill>
              </a:rPr>
              <a:t>Level 1.1</a:t>
            </a:r>
            <a:endParaRPr lang="en-US" sz="1800" dirty="0"/>
          </a:p>
          <a:p>
            <a:pPr algn="ctr" indent="0" marL="0">
              <a:buNone/>
            </a:pPr>
            <a:r>
              <a:rPr lang="en-US" sz="2100" b="1" dirty="0">
                <a:solidFill>
                  <a:schemeClr val="accent1"/>
                </a:solidFill>
              </a:rPr>
              <a:t>Held</a:t>
            </a:r>
            <a:endParaRPr lang="en-US" sz="1800" dirty="0"/>
          </a:p>
        </p:txBody>
      </p:sp>
      <p:sp>
        <p:nvSpPr>
          <p:cNvPr id="8" name="Text 5"/>
          <p:cNvSpPr txBox="1"/>
          <p:nvPr/>
        </p:nvSpPr>
        <p:spPr>
          <a:xfrm>
            <a:off x="685800" y="4160520"/>
            <a:ext cx="1828800" cy="1005840"/>
          </a:xfrm>
          <a:prstGeom prst="rect">
            <a:avLst/>
          </a:prstGeom>
          <a:noFill/>
          <a:ln/>
        </p:spPr>
        <p:txBody>
          <a:bodyPr wrap="square" lIns="0" tIns="0" rIns="0" bIns="0" rtlCol="0" anchor="t"/>
          <a:lstStyle/>
          <a:p>
            <a:pPr algn="ctr" indent="0" marL="0">
              <a:buNone/>
            </a:pPr>
            <a:r>
              <a:rPr lang="en-US" sz="1600" dirty="0">
                <a:solidFill>
                  <a:schemeClr val="tx1"/>
                </a:solidFill>
              </a:rPr>
              <a:t>Attribute, Konstruktor, Getter, Schaden und Heilen</a:t>
            </a:r>
            <a:endParaRPr lang="en-US" sz="1600" dirty="0"/>
          </a:p>
        </p:txBody>
      </p:sp>
      <p:sp>
        <p:nvSpPr>
          <p:cNvPr id="9" name="Text 6"/>
          <p:cNvSpPr txBox="1"/>
          <p:nvPr/>
        </p:nvSpPr>
        <p:spPr>
          <a:xfrm>
            <a:off x="685800" y="5303520"/>
            <a:ext cx="1828800" cy="320040"/>
          </a:xfrm>
          <a:prstGeom prst="rect">
            <a:avLst/>
          </a:prstGeom>
          <a:noFill/>
          <a:ln/>
        </p:spPr>
        <p:txBody>
          <a:bodyPr wrap="square" lIns="0" tIns="0" rIns="0" bIns="0" rtlCol="0" anchor="t"/>
          <a:lstStyle/>
          <a:p>
            <a:pPr algn="ctr" indent="0" marL="0">
              <a:buNone/>
            </a:pPr>
            <a:r>
              <a:rPr lang="en-US" sz="1500" b="1" dirty="0">
                <a:solidFill>
                  <a:schemeClr val="accent2"/>
                </a:solidFill>
              </a:rPr>
              <a:t>IDE + Lab 1.1</a:t>
            </a:r>
            <a:endParaRPr lang="en-US" sz="1500" dirty="0"/>
          </a:p>
        </p:txBody>
      </p:sp>
      <p:sp>
        <p:nvSpPr>
          <p:cNvPr id="10" name="Level 1.2"/>
          <p:cNvSpPr/>
          <p:nvPr/>
        </p:nvSpPr>
        <p:spPr>
          <a:xfrm>
            <a:off x="2788920" y="1371600"/>
            <a:ext cx="2103120" cy="4434840"/>
          </a:xfrm>
          <a:prstGeom prst="roundRect">
            <a:avLst>
              <a:gd name="adj" fmla="val 5217"/>
            </a:avLst>
          </a:prstGeom>
          <a:solidFill>
            <a:schemeClr val="bg1"/>
          </a:solidFill>
          <a:ln/>
          <a:effectLst>
            <a:outerShdw sx="100000" sy="100000" kx="0" ky="0" algn="bl" rotWithShape="0" blurRad="76200" dist="25400" dir="5400000">
              <a:srgbClr val="000000">
                <a:alpha val="18000"/>
              </a:srgbClr>
            </a:outerShdw>
          </a:effectLst>
        </p:spPr>
      </p:sp>
      <p:sp>
        <p:nvSpPr>
          <p:cNvPr id="11" name="Icon-Kreis"/>
          <p:cNvSpPr/>
          <p:nvPr/>
        </p:nvSpPr>
        <p:spPr>
          <a:xfrm>
            <a:off x="3337560" y="1600200"/>
            <a:ext cx="1005840" cy="1005840"/>
          </a:xfrm>
          <a:prstGeom prst="ellipse">
            <a:avLst/>
          </a:prstGeom>
          <a:solidFill>
            <a:schemeClr val="accent1"/>
          </a:solidFill>
          <a:ln/>
        </p:spPr>
      </p:sp>
      <p:pic>
        <p:nvPicPr>
          <p:cNvPr id="12" name="Icon GiGoblinHead" descr="preencoded.png">    </p:cNvPr>
          <p:cNvPicPr>
            <a:picLocks noChangeAspect="1"/>
          </p:cNvPicPr>
          <p:nvPr/>
        </p:nvPicPr>
        <p:blipFill>
          <a:blip r:embed="rId2"/>
          <a:stretch>
            <a:fillRect/>
          </a:stretch>
        </p:blipFill>
        <p:spPr>
          <a:xfrm>
            <a:off x="3558845" y="1821485"/>
            <a:ext cx="563270" cy="563270"/>
          </a:xfrm>
          <a:prstGeom prst="rect">
            <a:avLst/>
          </a:prstGeom>
        </p:spPr>
      </p:pic>
      <p:sp>
        <p:nvSpPr>
          <p:cNvPr id="13" name="Chip"/>
          <p:cNvSpPr txBox="1"/>
          <p:nvPr/>
        </p:nvSpPr>
        <p:spPr>
          <a:xfrm>
            <a:off x="3383280" y="2743200"/>
            <a:ext cx="9144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9</a:t>
            </a:r>
            <a:endParaRPr lang="en-US" sz="1500" dirty="0"/>
          </a:p>
        </p:txBody>
      </p:sp>
      <p:sp>
        <p:nvSpPr>
          <p:cNvPr id="14" name="Text 10"/>
          <p:cNvSpPr txBox="1"/>
          <p:nvPr/>
        </p:nvSpPr>
        <p:spPr>
          <a:xfrm>
            <a:off x="2926080" y="3246120"/>
            <a:ext cx="1828800" cy="868680"/>
          </a:xfrm>
          <a:prstGeom prst="rect">
            <a:avLst/>
          </a:prstGeom>
          <a:noFill/>
          <a:ln/>
        </p:spPr>
        <p:txBody>
          <a:bodyPr wrap="square" lIns="0" tIns="0" rIns="0" bIns="0" rtlCol="0" anchor="t"/>
          <a:lstStyle/>
          <a:p>
            <a:pPr algn="ctr" indent="0" marL="0">
              <a:buNone/>
            </a:pPr>
            <a:r>
              <a:rPr lang="en-US" sz="1600" b="1" dirty="0">
                <a:solidFill>
                  <a:schemeClr val="accent6"/>
                </a:solidFill>
              </a:rPr>
              <a:t>Level 1.2</a:t>
            </a:r>
            <a:endParaRPr lang="en-US" sz="1800" dirty="0"/>
          </a:p>
          <a:p>
            <a:pPr algn="ctr" indent="0" marL="0">
              <a:buNone/>
            </a:pPr>
            <a:r>
              <a:rPr lang="en-US" sz="2100" b="1" dirty="0">
                <a:solidFill>
                  <a:schemeClr val="accent1"/>
                </a:solidFill>
              </a:rPr>
              <a:t>Monster &amp; Kampf</a:t>
            </a:r>
            <a:endParaRPr lang="en-US" sz="1800" dirty="0"/>
          </a:p>
        </p:txBody>
      </p:sp>
      <p:sp>
        <p:nvSpPr>
          <p:cNvPr id="15" name="Text 11"/>
          <p:cNvSpPr txBox="1"/>
          <p:nvPr/>
        </p:nvSpPr>
        <p:spPr>
          <a:xfrm>
            <a:off x="2926080" y="4160520"/>
            <a:ext cx="1828800" cy="1005840"/>
          </a:xfrm>
          <a:prstGeom prst="rect">
            <a:avLst/>
          </a:prstGeom>
          <a:noFill/>
          <a:ln/>
        </p:spPr>
        <p:txBody>
          <a:bodyPr wrap="square" lIns="0" tIns="0" rIns="0" bIns="0" rtlCol="0" anchor="t"/>
          <a:lstStyle/>
          <a:p>
            <a:pPr algn="ctr" indent="0" marL="0">
              <a:buNone/>
            </a:pPr>
            <a:r>
              <a:rPr lang="en-US" sz="1600" dirty="0">
                <a:solidFill>
                  <a:schemeClr val="tx1"/>
                </a:solidFill>
              </a:rPr>
              <a:t>Überladen, Monster, angreifen, Referenzen</a:t>
            </a:r>
            <a:endParaRPr lang="en-US" sz="1600" dirty="0"/>
          </a:p>
        </p:txBody>
      </p:sp>
      <p:sp>
        <p:nvSpPr>
          <p:cNvPr id="16" name="Text 12"/>
          <p:cNvSpPr txBox="1"/>
          <p:nvPr/>
        </p:nvSpPr>
        <p:spPr>
          <a:xfrm>
            <a:off x="2926080" y="5303520"/>
            <a:ext cx="1828800" cy="320040"/>
          </a:xfrm>
          <a:prstGeom prst="rect">
            <a:avLst/>
          </a:prstGeom>
          <a:noFill/>
          <a:ln/>
        </p:spPr>
        <p:txBody>
          <a:bodyPr wrap="square" lIns="0" tIns="0" rIns="0" bIns="0" rtlCol="0" anchor="t"/>
          <a:lstStyle/>
          <a:p>
            <a:pPr algn="ctr" indent="0" marL="0">
              <a:buNone/>
            </a:pPr>
            <a:r>
              <a:rPr lang="en-US" sz="1500" b="1" dirty="0">
                <a:solidFill>
                  <a:schemeClr val="accent2"/>
                </a:solidFill>
              </a:rPr>
              <a:t>IDE + Lab 1.2</a:t>
            </a:r>
            <a:endParaRPr lang="en-US" sz="1500" dirty="0"/>
          </a:p>
        </p:txBody>
      </p:sp>
      <p:sp>
        <p:nvSpPr>
          <p:cNvPr id="17" name="Level 1.3"/>
          <p:cNvSpPr/>
          <p:nvPr/>
        </p:nvSpPr>
        <p:spPr>
          <a:xfrm>
            <a:off x="5029200" y="1371600"/>
            <a:ext cx="2103120" cy="4434840"/>
          </a:xfrm>
          <a:prstGeom prst="roundRect">
            <a:avLst>
              <a:gd name="adj" fmla="val 5217"/>
            </a:avLst>
          </a:prstGeom>
          <a:solidFill>
            <a:schemeClr val="bg1"/>
          </a:solidFill>
          <a:ln/>
          <a:effectLst>
            <a:outerShdw sx="100000" sy="100000" kx="0" ky="0" algn="bl" rotWithShape="0" blurRad="76200" dist="25400" dir="5400000">
              <a:srgbClr val="000000">
                <a:alpha val="18000"/>
              </a:srgbClr>
            </a:outerShdw>
          </a:effectLst>
        </p:spPr>
      </p:sp>
      <p:sp>
        <p:nvSpPr>
          <p:cNvPr id="18" name="Icon-Kreis"/>
          <p:cNvSpPr/>
          <p:nvPr/>
        </p:nvSpPr>
        <p:spPr>
          <a:xfrm>
            <a:off x="5577840" y="1600200"/>
            <a:ext cx="1005840" cy="1005840"/>
          </a:xfrm>
          <a:prstGeom prst="ellipse">
            <a:avLst/>
          </a:prstGeom>
          <a:solidFill>
            <a:schemeClr val="accent1"/>
          </a:solidFill>
          <a:ln/>
        </p:spPr>
      </p:sp>
      <p:pic>
        <p:nvPicPr>
          <p:cNvPr id="19" name="Icon GiBackpack" descr="preencoded.png">    </p:cNvPr>
          <p:cNvPicPr>
            <a:picLocks noChangeAspect="1"/>
          </p:cNvPicPr>
          <p:nvPr/>
        </p:nvPicPr>
        <p:blipFill>
          <a:blip r:embed="rId3"/>
          <a:stretch>
            <a:fillRect/>
          </a:stretch>
        </p:blipFill>
        <p:spPr>
          <a:xfrm>
            <a:off x="5799125" y="1821485"/>
            <a:ext cx="563270" cy="563270"/>
          </a:xfrm>
          <a:prstGeom prst="rect">
            <a:avLst/>
          </a:prstGeom>
        </p:spPr>
      </p:pic>
      <p:sp>
        <p:nvSpPr>
          <p:cNvPr id="20" name="Chip"/>
          <p:cNvSpPr txBox="1"/>
          <p:nvPr/>
        </p:nvSpPr>
        <p:spPr>
          <a:xfrm>
            <a:off x="5623560" y="2743200"/>
            <a:ext cx="9144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10</a:t>
            </a:r>
            <a:endParaRPr lang="en-US" sz="1500" dirty="0"/>
          </a:p>
        </p:txBody>
      </p:sp>
      <p:sp>
        <p:nvSpPr>
          <p:cNvPr id="21" name="Text 16"/>
          <p:cNvSpPr txBox="1"/>
          <p:nvPr/>
        </p:nvSpPr>
        <p:spPr>
          <a:xfrm>
            <a:off x="5166360" y="3246120"/>
            <a:ext cx="1828800" cy="868680"/>
          </a:xfrm>
          <a:prstGeom prst="rect">
            <a:avLst/>
          </a:prstGeom>
          <a:noFill/>
          <a:ln/>
        </p:spPr>
        <p:txBody>
          <a:bodyPr wrap="square" lIns="0" tIns="0" rIns="0" bIns="0" rtlCol="0" anchor="t"/>
          <a:lstStyle/>
          <a:p>
            <a:pPr algn="ctr" indent="0" marL="0">
              <a:buNone/>
            </a:pPr>
            <a:r>
              <a:rPr lang="en-US" sz="1600" b="1" dirty="0">
                <a:solidFill>
                  <a:schemeClr val="accent6"/>
                </a:solidFill>
              </a:rPr>
              <a:t>Level 1.3</a:t>
            </a:r>
            <a:endParaRPr lang="en-US" sz="1800" dirty="0"/>
          </a:p>
          <a:p>
            <a:pPr algn="ctr" indent="0" marL="0">
              <a:buNone/>
            </a:pPr>
            <a:r>
              <a:rPr lang="en-US" sz="2100" b="1" dirty="0">
                <a:solidFill>
                  <a:schemeClr val="accent1"/>
                </a:solidFill>
              </a:rPr>
              <a:t>Inventar</a:t>
            </a:r>
            <a:endParaRPr lang="en-US" sz="1800" dirty="0"/>
          </a:p>
        </p:txBody>
      </p:sp>
      <p:sp>
        <p:nvSpPr>
          <p:cNvPr id="22" name="Text 17"/>
          <p:cNvSpPr txBox="1"/>
          <p:nvPr/>
        </p:nvSpPr>
        <p:spPr>
          <a:xfrm>
            <a:off x="5166360" y="4160520"/>
            <a:ext cx="1828800" cy="1005840"/>
          </a:xfrm>
          <a:prstGeom prst="rect">
            <a:avLst/>
          </a:prstGeom>
          <a:noFill/>
          <a:ln/>
        </p:spPr>
        <p:txBody>
          <a:bodyPr wrap="square" lIns="0" tIns="0" rIns="0" bIns="0" rtlCol="0" anchor="t"/>
          <a:lstStyle/>
          <a:p>
            <a:pPr algn="ctr" indent="0" marL="0">
              <a:buNone/>
            </a:pPr>
            <a:r>
              <a:rPr lang="en-US" sz="1600" dirty="0">
                <a:solidFill>
                  <a:schemeClr val="tx1"/>
                </a:solidFill>
              </a:rPr>
              <a:t>Gegenstand, Reihung von Objekten</a:t>
            </a:r>
            <a:endParaRPr lang="en-US" sz="1600" dirty="0"/>
          </a:p>
        </p:txBody>
      </p:sp>
      <p:sp>
        <p:nvSpPr>
          <p:cNvPr id="23" name="Text 18"/>
          <p:cNvSpPr txBox="1"/>
          <p:nvPr/>
        </p:nvSpPr>
        <p:spPr>
          <a:xfrm>
            <a:off x="5166360" y="5303520"/>
            <a:ext cx="1828800" cy="320040"/>
          </a:xfrm>
          <a:prstGeom prst="rect">
            <a:avLst/>
          </a:prstGeom>
          <a:noFill/>
          <a:ln/>
        </p:spPr>
        <p:txBody>
          <a:bodyPr wrap="square" lIns="0" tIns="0" rIns="0" bIns="0" rtlCol="0" anchor="t"/>
          <a:lstStyle/>
          <a:p>
            <a:pPr algn="ctr" indent="0" marL="0">
              <a:buNone/>
            </a:pPr>
            <a:r>
              <a:rPr lang="en-US" sz="1500" b="1" dirty="0">
                <a:solidFill>
                  <a:schemeClr val="accent2"/>
                </a:solidFill>
              </a:rPr>
              <a:t>IDE + Lab 1.3</a:t>
            </a:r>
            <a:endParaRPr lang="en-US" sz="1500" dirty="0"/>
          </a:p>
        </p:txBody>
      </p:sp>
      <p:sp>
        <p:nvSpPr>
          <p:cNvPr id="24" name="Level 1.4"/>
          <p:cNvSpPr/>
          <p:nvPr/>
        </p:nvSpPr>
        <p:spPr>
          <a:xfrm>
            <a:off x="7269480" y="1371600"/>
            <a:ext cx="2103120" cy="4434840"/>
          </a:xfrm>
          <a:prstGeom prst="roundRect">
            <a:avLst>
              <a:gd name="adj" fmla="val 5217"/>
            </a:avLst>
          </a:prstGeom>
          <a:solidFill>
            <a:schemeClr val="bg1"/>
          </a:solidFill>
          <a:ln/>
          <a:effectLst>
            <a:outerShdw sx="100000" sy="100000" kx="0" ky="0" algn="bl" rotWithShape="0" blurRad="76200" dist="25400" dir="5400000">
              <a:srgbClr val="000000">
                <a:alpha val="18000"/>
              </a:srgbClr>
            </a:outerShdw>
          </a:effectLst>
        </p:spPr>
      </p:sp>
      <p:sp>
        <p:nvSpPr>
          <p:cNvPr id="25" name="Icon-Kreis"/>
          <p:cNvSpPr/>
          <p:nvPr/>
        </p:nvSpPr>
        <p:spPr>
          <a:xfrm>
            <a:off x="7818120" y="1600200"/>
            <a:ext cx="1005840" cy="1005840"/>
          </a:xfrm>
          <a:prstGeom prst="ellipse">
            <a:avLst/>
          </a:prstGeom>
          <a:solidFill>
            <a:schemeClr val="accent1"/>
          </a:solidFill>
          <a:ln/>
        </p:spPr>
      </p:sp>
      <p:pic>
        <p:nvPicPr>
          <p:cNvPr id="26" name="Icon GiCrossedSwords" descr="preencoded.png">    </p:cNvPr>
          <p:cNvPicPr>
            <a:picLocks noChangeAspect="1"/>
          </p:cNvPicPr>
          <p:nvPr/>
        </p:nvPicPr>
        <p:blipFill>
          <a:blip r:embed="rId4"/>
          <a:stretch>
            <a:fillRect/>
          </a:stretch>
        </p:blipFill>
        <p:spPr>
          <a:xfrm>
            <a:off x="8039405" y="1821485"/>
            <a:ext cx="563270" cy="563270"/>
          </a:xfrm>
          <a:prstGeom prst="rect">
            <a:avLst/>
          </a:prstGeom>
        </p:spPr>
      </p:pic>
      <p:sp>
        <p:nvSpPr>
          <p:cNvPr id="27" name="Chip"/>
          <p:cNvSpPr txBox="1"/>
          <p:nvPr/>
        </p:nvSpPr>
        <p:spPr>
          <a:xfrm>
            <a:off x="7863840" y="2743200"/>
            <a:ext cx="9144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11</a:t>
            </a:r>
            <a:endParaRPr lang="en-US" sz="1500" dirty="0"/>
          </a:p>
        </p:txBody>
      </p:sp>
      <p:sp>
        <p:nvSpPr>
          <p:cNvPr id="28" name="Text 22"/>
          <p:cNvSpPr txBox="1"/>
          <p:nvPr/>
        </p:nvSpPr>
        <p:spPr>
          <a:xfrm>
            <a:off x="7406640" y="3246120"/>
            <a:ext cx="1828800" cy="868680"/>
          </a:xfrm>
          <a:prstGeom prst="rect">
            <a:avLst/>
          </a:prstGeom>
          <a:noFill/>
          <a:ln/>
        </p:spPr>
        <p:txBody>
          <a:bodyPr wrap="square" lIns="0" tIns="0" rIns="0" bIns="0" rtlCol="0" anchor="t"/>
          <a:lstStyle/>
          <a:p>
            <a:pPr algn="ctr" indent="0" marL="0">
              <a:buNone/>
            </a:pPr>
            <a:r>
              <a:rPr lang="en-US" sz="1600" b="1" dirty="0">
                <a:solidFill>
                  <a:schemeClr val="accent6"/>
                </a:solidFill>
              </a:rPr>
              <a:t>Level 1.4</a:t>
            </a:r>
            <a:endParaRPr lang="en-US" sz="1800" dirty="0"/>
          </a:p>
          <a:p>
            <a:pPr algn="ctr" indent="0" marL="0">
              <a:buNone/>
            </a:pPr>
            <a:r>
              <a:rPr lang="en-US" sz="2100" b="1" dirty="0">
                <a:solidFill>
                  <a:schemeClr val="accent1"/>
                </a:solidFill>
              </a:rPr>
              <a:t>Vererbung</a:t>
            </a:r>
            <a:endParaRPr lang="en-US" sz="1800" dirty="0"/>
          </a:p>
        </p:txBody>
      </p:sp>
      <p:sp>
        <p:nvSpPr>
          <p:cNvPr id="29" name="Text 23"/>
          <p:cNvSpPr txBox="1"/>
          <p:nvPr/>
        </p:nvSpPr>
        <p:spPr>
          <a:xfrm>
            <a:off x="7406640" y="4160520"/>
            <a:ext cx="1828800" cy="1005840"/>
          </a:xfrm>
          <a:prstGeom prst="rect">
            <a:avLst/>
          </a:prstGeom>
          <a:noFill/>
          <a:ln/>
        </p:spPr>
        <p:txBody>
          <a:bodyPr wrap="square" lIns="0" tIns="0" rIns="0" bIns="0" rtlCol="0" anchor="t"/>
          <a:lstStyle/>
          <a:p>
            <a:pPr algn="ctr" indent="0" marL="0">
              <a:buNone/>
            </a:pPr>
            <a:r>
              <a:rPr lang="en-US" sz="1600" dirty="0">
                <a:solidFill>
                  <a:schemeClr val="tx1"/>
                </a:solidFill>
              </a:rPr>
              <a:t>Waffe, Trank, Schlüssel, Überschreiben</a:t>
            </a:r>
            <a:endParaRPr lang="en-US" sz="1600" dirty="0"/>
          </a:p>
        </p:txBody>
      </p:sp>
      <p:sp>
        <p:nvSpPr>
          <p:cNvPr id="30" name="Text 24"/>
          <p:cNvSpPr txBox="1"/>
          <p:nvPr/>
        </p:nvSpPr>
        <p:spPr>
          <a:xfrm>
            <a:off x="7406640" y="5303520"/>
            <a:ext cx="1828800" cy="320040"/>
          </a:xfrm>
          <a:prstGeom prst="rect">
            <a:avLst/>
          </a:prstGeom>
          <a:noFill/>
          <a:ln/>
        </p:spPr>
        <p:txBody>
          <a:bodyPr wrap="square" lIns="0" tIns="0" rIns="0" bIns="0" rtlCol="0" anchor="t"/>
          <a:lstStyle/>
          <a:p>
            <a:pPr algn="ctr" indent="0" marL="0">
              <a:buNone/>
            </a:pPr>
            <a:r>
              <a:rPr lang="en-US" sz="1500" b="1" dirty="0">
                <a:solidFill>
                  <a:schemeClr val="accent2"/>
                </a:solidFill>
              </a:rPr>
              <a:t>IDE + Lab 1.4</a:t>
            </a:r>
            <a:endParaRPr lang="en-US" sz="1500" dirty="0"/>
          </a:p>
        </p:txBody>
      </p:sp>
      <p:sp>
        <p:nvSpPr>
          <p:cNvPr id="31" name="Boss 1"/>
          <p:cNvSpPr/>
          <p:nvPr/>
        </p:nvSpPr>
        <p:spPr>
          <a:xfrm>
            <a:off x="9509760" y="1371600"/>
            <a:ext cx="2103120" cy="4434840"/>
          </a:xfrm>
          <a:prstGeom prst="roundRect">
            <a:avLst>
              <a:gd name="adj" fmla="val 5217"/>
            </a:avLst>
          </a:prstGeom>
          <a:solidFill>
            <a:schemeClr val="accent4"/>
          </a:solidFill>
          <a:ln/>
          <a:effectLst>
            <a:outerShdw sx="100000" sy="100000" kx="0" ky="0" algn="bl" rotWithShape="0" blurRad="76200" dist="25400" dir="5400000">
              <a:srgbClr val="000000">
                <a:alpha val="18000"/>
              </a:srgbClr>
            </a:outerShdw>
          </a:effectLst>
        </p:spPr>
      </p:sp>
      <p:sp>
        <p:nvSpPr>
          <p:cNvPr id="32" name="Icon-Kreis"/>
          <p:cNvSpPr/>
          <p:nvPr/>
        </p:nvSpPr>
        <p:spPr>
          <a:xfrm>
            <a:off x="10058400" y="1600200"/>
            <a:ext cx="1005840" cy="1005840"/>
          </a:xfrm>
          <a:prstGeom prst="ellipse">
            <a:avLst/>
          </a:prstGeom>
          <a:solidFill>
            <a:schemeClr val="bg1"/>
          </a:solidFill>
          <a:ln/>
        </p:spPr>
      </p:sp>
      <p:pic>
        <p:nvPicPr>
          <p:cNvPr id="33" name="Icon GiSpikedDragonHead" descr="preencoded.png">    </p:cNvPr>
          <p:cNvPicPr>
            <a:picLocks noChangeAspect="1"/>
          </p:cNvPicPr>
          <p:nvPr/>
        </p:nvPicPr>
        <p:blipFill>
          <a:blip r:embed="rId5"/>
          <a:stretch>
            <a:fillRect/>
          </a:stretch>
        </p:blipFill>
        <p:spPr>
          <a:xfrm>
            <a:off x="10279685" y="1821485"/>
            <a:ext cx="563270" cy="563270"/>
          </a:xfrm>
          <a:prstGeom prst="rect">
            <a:avLst/>
          </a:prstGeom>
        </p:spPr>
      </p:pic>
      <p:sp>
        <p:nvSpPr>
          <p:cNvPr id="34" name="Chip"/>
          <p:cNvSpPr txBox="1"/>
          <p:nvPr/>
        </p:nvSpPr>
        <p:spPr>
          <a:xfrm>
            <a:off x="10104120" y="2743200"/>
            <a:ext cx="9144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12</a:t>
            </a:r>
            <a:endParaRPr lang="en-US" sz="1500" dirty="0"/>
          </a:p>
        </p:txBody>
      </p:sp>
      <p:sp>
        <p:nvSpPr>
          <p:cNvPr id="35" name="Text 28"/>
          <p:cNvSpPr txBox="1"/>
          <p:nvPr/>
        </p:nvSpPr>
        <p:spPr>
          <a:xfrm>
            <a:off x="9646920" y="3246120"/>
            <a:ext cx="1828800" cy="868680"/>
          </a:xfrm>
          <a:prstGeom prst="rect">
            <a:avLst/>
          </a:prstGeom>
          <a:noFill/>
          <a:ln/>
        </p:spPr>
        <p:txBody>
          <a:bodyPr wrap="square" lIns="0" tIns="0" rIns="0" bIns="0" rtlCol="0" anchor="t"/>
          <a:lstStyle/>
          <a:p>
            <a:pPr algn="ctr" indent="0" marL="0">
              <a:buNone/>
            </a:pPr>
            <a:r>
              <a:rPr lang="en-US" sz="1600" b="1" dirty="0">
                <a:solidFill>
                  <a:schemeClr val="bg1"/>
                </a:solidFill>
              </a:rPr>
              <a:t>Boss 1</a:t>
            </a:r>
            <a:endParaRPr lang="en-US" sz="1800" dirty="0"/>
          </a:p>
          <a:p>
            <a:pPr algn="ctr" indent="0" marL="0">
              <a:buNone/>
            </a:pPr>
            <a:r>
              <a:rPr lang="en-US" sz="2100" b="1" dirty="0">
                <a:solidFill>
                  <a:schemeClr val="bg1"/>
                </a:solidFill>
              </a:rPr>
              <a:t>Die Gildenhalle</a:t>
            </a:r>
            <a:endParaRPr lang="en-US" sz="1800" dirty="0"/>
          </a:p>
        </p:txBody>
      </p:sp>
      <p:sp>
        <p:nvSpPr>
          <p:cNvPr id="36" name="Text 29"/>
          <p:cNvSpPr txBox="1"/>
          <p:nvPr/>
        </p:nvSpPr>
        <p:spPr>
          <a:xfrm>
            <a:off x="9646920" y="4160520"/>
            <a:ext cx="1828800" cy="1005840"/>
          </a:xfrm>
          <a:prstGeom prst="rect">
            <a:avLst/>
          </a:prstGeom>
          <a:noFill/>
          <a:ln/>
        </p:spPr>
        <p:txBody>
          <a:bodyPr wrap="square" lIns="0" tIns="0" rIns="0" bIns="0" rtlCol="0" anchor="t"/>
          <a:lstStyle/>
          <a:p>
            <a:pPr algn="ctr" indent="0" marL="0">
              <a:buNone/>
            </a:pPr>
            <a:r>
              <a:rPr lang="en-US" sz="1600" dirty="0">
                <a:solidFill>
                  <a:schemeClr val="bg1"/>
                </a:solidFill>
              </a:rPr>
              <a:t>Abi auf Zeit: ≈ 24 BE in 60 min</a:t>
            </a:r>
            <a:endParaRPr lang="en-US" sz="1600" dirty="0"/>
          </a:p>
        </p:txBody>
      </p:sp>
      <p:sp>
        <p:nvSpPr>
          <p:cNvPr id="37" name="Text 30"/>
          <p:cNvSpPr txBox="1"/>
          <p:nvPr/>
        </p:nvSpPr>
        <p:spPr>
          <a:xfrm>
            <a:off x="9646920" y="5303520"/>
            <a:ext cx="1828800" cy="320040"/>
          </a:xfrm>
          <a:prstGeom prst="rect">
            <a:avLst/>
          </a:prstGeom>
          <a:noFill/>
          <a:ln/>
        </p:spPr>
        <p:txBody>
          <a:bodyPr wrap="square" lIns="0" tIns="0" rIns="0" bIns="0" rtlCol="0" anchor="t"/>
          <a:lstStyle/>
          <a:p>
            <a:pPr algn="ctr" indent="0" marL="0">
              <a:buNone/>
            </a:pPr>
            <a:r>
              <a:rPr lang="en-US" sz="1500" b="1" dirty="0">
                <a:solidFill>
                  <a:schemeClr val="bg1"/>
                </a:solidFill>
              </a:rPr>
              <a:t>Papier + Online-Boss</a:t>
            </a:r>
            <a:endParaRPr lang="en-US" sz="15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Klasse vs. Objekt</a:t>
            </a:r>
            <a:endParaRPr lang="en-US" sz="3600" dirty="0"/>
          </a:p>
        </p:txBody>
      </p:sp>
      <p:sp>
        <p:nvSpPr>
          <p:cNvPr id="3" name="Chip"/>
          <p:cNvSpPr txBox="1"/>
          <p:nvPr/>
        </p:nvSpPr>
        <p:spPr>
          <a:xfrm>
            <a:off x="548640" y="1371600"/>
            <a:ext cx="2743200"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chemeClr val="bg1"/>
                </a:solidFill>
              </a:rPr>
              <a:t>KLASSE = Bauplan</a:t>
            </a:r>
            <a:endParaRPr lang="en-US" sz="1600" dirty="0"/>
          </a:p>
        </p:txBody>
      </p:sp>
      <p:sp>
        <p:nvSpPr>
          <p:cNvPr id="4" name="Klassenkarte Held"/>
          <p:cNvSpPr/>
          <p:nvPr/>
        </p:nvSpPr>
        <p:spPr>
          <a:xfrm>
            <a:off x="548640" y="1920240"/>
            <a:ext cx="4572000" cy="2422144"/>
          </a:xfrm>
          <a:prstGeom prst="rect">
            <a:avLst/>
          </a:prstGeom>
          <a:solidFill>
            <a:schemeClr val="bg1"/>
          </a:solidFill>
          <a:ln w="22225">
            <a:solidFill>
              <a:schemeClr val="accent1"/>
            </a:solidFill>
            <a:prstDash val="solid"/>
          </a:ln>
        </p:spPr>
      </p:sp>
      <p:sp>
        <p:nvSpPr>
          <p:cNvPr id="5" name="Klassenname Held"/>
          <p:cNvSpPr txBox="1"/>
          <p:nvPr/>
        </p:nvSpPr>
        <p:spPr>
          <a:xfrm>
            <a:off x="548640" y="1920240"/>
            <a:ext cx="4572000" cy="394208"/>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700" b="1" dirty="0">
                <a:solidFill>
                  <a:schemeClr val="accent1"/>
                </a:solidFill>
              </a:rPr>
              <a:t>Held</a:t>
            </a:r>
            <a:endParaRPr lang="en-US" sz="1700" dirty="0"/>
          </a:p>
        </p:txBody>
      </p:sp>
      <p:sp>
        <p:nvSpPr>
          <p:cNvPr id="6" name="Attribute Held"/>
          <p:cNvSpPr txBox="1"/>
          <p:nvPr/>
        </p:nvSpPr>
        <p:spPr>
          <a:xfrm>
            <a:off x="548640" y="2314448"/>
            <a:ext cx="4572000" cy="1137920"/>
          </a:xfrm>
          <a:prstGeom prst="rect">
            <a:avLst/>
          </a:prstGeom>
          <a:noFill/>
          <a:ln/>
        </p:spPr>
        <p:txBody>
          <a:bodyPr wrap="square" lIns="109728" tIns="73152" rIns="73152" bIns="73152" rtlCol="0" anchor="t"/>
          <a:lstStyle/>
          <a:p>
            <a:pPr algn="l" indent="0" marL="0">
              <a:lnSpc>
                <a:spcPts val="2000"/>
              </a:lnSpc>
              <a:buNone/>
            </a:pPr>
            <a:r>
              <a:rPr lang="en-US" sz="1600" dirty="0">
                <a:solidFill>
                  <a:schemeClr val="tx1"/>
                </a:solidFill>
              </a:rPr>
              <a:t>- name: Zeichenkette</a:t>
            </a:r>
            <a:endParaRPr lang="en-US" sz="1600" dirty="0"/>
          </a:p>
          <a:p>
            <a:pPr algn="l" indent="0" marL="0">
              <a:lnSpc>
                <a:spcPts val="2000"/>
              </a:lnSpc>
              <a:buNone/>
            </a:pPr>
            <a:r>
              <a:rPr lang="en-US" sz="1600" dirty="0">
                <a:solidFill>
                  <a:schemeClr val="tx1"/>
                </a:solidFill>
              </a:rPr>
              <a:t>- leben: Ganzzahl</a:t>
            </a:r>
            <a:endParaRPr lang="en-US" sz="1600" dirty="0"/>
          </a:p>
          <a:p>
            <a:pPr algn="l" indent="0" marL="0">
              <a:lnSpc>
                <a:spcPts val="2000"/>
              </a:lnSpc>
              <a:buNone/>
            </a:pPr>
            <a:r>
              <a:rPr lang="en-US" sz="1600" dirty="0">
                <a:solidFill>
                  <a:schemeClr val="tx1"/>
                </a:solidFill>
              </a:rPr>
              <a:t>- staerke: Ganzzahl</a:t>
            </a:r>
            <a:endParaRPr lang="en-US" sz="1600" dirty="0"/>
          </a:p>
          <a:p>
            <a:pPr algn="l" indent="0" marL="0">
              <a:lnSpc>
                <a:spcPts val="2000"/>
              </a:lnSpc>
              <a:buNone/>
            </a:pPr>
            <a:r>
              <a:rPr lang="en-US" sz="1600" dirty="0">
                <a:solidFill>
                  <a:schemeClr val="tx1"/>
                </a:solidFill>
              </a:rPr>
              <a:t>…</a:t>
            </a:r>
            <a:endParaRPr lang="en-US" sz="1600" dirty="0"/>
          </a:p>
        </p:txBody>
      </p:sp>
      <p:sp>
        <p:nvSpPr>
          <p:cNvPr id="7" name="Linie"/>
          <p:cNvSpPr/>
          <p:nvPr/>
        </p:nvSpPr>
        <p:spPr>
          <a:xfrm>
            <a:off x="548640" y="3452368"/>
            <a:ext cx="4572000" cy="91"/>
          </a:xfrm>
          <a:prstGeom prst="line">
            <a:avLst/>
          </a:prstGeom>
          <a:noFill/>
          <a:ln w="22225">
            <a:solidFill>
              <a:schemeClr val="accent1"/>
            </a:solidFill>
            <a:prstDash val="solid"/>
          </a:ln>
        </p:spPr>
      </p:sp>
      <p:sp>
        <p:nvSpPr>
          <p:cNvPr id="8" name="Methoden Held"/>
          <p:cNvSpPr txBox="1"/>
          <p:nvPr/>
        </p:nvSpPr>
        <p:spPr>
          <a:xfrm>
            <a:off x="548640" y="3452368"/>
            <a:ext cx="4572000" cy="890016"/>
          </a:xfrm>
          <a:prstGeom prst="rect">
            <a:avLst/>
          </a:prstGeom>
          <a:noFill/>
          <a:ln/>
        </p:spPr>
        <p:txBody>
          <a:bodyPr wrap="square" lIns="109728" tIns="73152" rIns="73152" bIns="73152" rtlCol="0" anchor="t"/>
          <a:lstStyle/>
          <a:p>
            <a:pPr algn="l" indent="0" marL="0">
              <a:lnSpc>
                <a:spcPts val="2000"/>
              </a:lnSpc>
              <a:buNone/>
            </a:pPr>
            <a:r>
              <a:rPr lang="en-US" sz="1600" dirty="0">
                <a:solidFill>
                  <a:schemeClr val="tx1"/>
                </a:solidFill>
              </a:rPr>
              <a:t>+ c Held(name: Zeichenkette)</a:t>
            </a:r>
            <a:endParaRPr lang="en-US" sz="1600" dirty="0"/>
          </a:p>
          <a:p>
            <a:pPr algn="l" indent="0" marL="0">
              <a:lnSpc>
                <a:spcPts val="2000"/>
              </a:lnSpc>
              <a:buNone/>
            </a:pPr>
            <a:r>
              <a:rPr lang="en-US" sz="1600" dirty="0">
                <a:solidFill>
                  <a:schemeClr val="tx1"/>
                </a:solidFill>
              </a:rPr>
              <a:t>+ nimmSchaden(schaden: Ganzzahl): nichts</a:t>
            </a:r>
            <a:endParaRPr lang="en-US" sz="1600" dirty="0"/>
          </a:p>
          <a:p>
            <a:pPr algn="l" indent="0" marL="0">
              <a:lnSpc>
                <a:spcPts val="2000"/>
              </a:lnSpc>
              <a:buNone/>
            </a:pPr>
            <a:r>
              <a:rPr lang="en-US" sz="1600" dirty="0">
                <a:solidFill>
                  <a:schemeClr val="tx1"/>
                </a:solidFill>
              </a:rPr>
              <a:t>…</a:t>
            </a:r>
            <a:endParaRPr lang="en-US" sz="1600" dirty="0"/>
          </a:p>
        </p:txBody>
      </p:sp>
      <p:sp>
        <p:nvSpPr>
          <p:cNvPr id="9" name="Chip"/>
          <p:cNvSpPr txBox="1"/>
          <p:nvPr/>
        </p:nvSpPr>
        <p:spPr>
          <a:xfrm>
            <a:off x="7863840" y="1371600"/>
            <a:ext cx="3108960" cy="384048"/>
          </a:xfrm>
          <a:prstGeom prst="roundRect">
            <a:avLst>
              <a:gd name="adj" fmla="val 50000"/>
            </a:avLst>
          </a:prstGeom>
          <a:solidFill>
            <a:schemeClr val="accent6"/>
          </a:solidFill>
          <a:ln/>
        </p:spPr>
        <p:txBody>
          <a:bodyPr wrap="square" lIns="0" tIns="0" rIns="0" bIns="0" rtlCol="0" anchor="ctr"/>
          <a:lstStyle/>
          <a:p>
            <a:pPr algn="ctr" indent="0" marL="0">
              <a:buNone/>
            </a:pPr>
            <a:r>
              <a:rPr lang="en-US" sz="1600" b="1" dirty="0">
                <a:solidFill>
                  <a:schemeClr val="bg1"/>
                </a:solidFill>
              </a:rPr>
              <a:t>OBJEKTE = Exemplare</a:t>
            </a:r>
            <a:endParaRPr lang="en-US" sz="1600" dirty="0"/>
          </a:p>
        </p:txBody>
      </p:sp>
      <p:sp>
        <p:nvSpPr>
          <p:cNvPr id="10" name="Objektkarte aria: Held"/>
          <p:cNvSpPr/>
          <p:nvPr/>
        </p:nvSpPr>
        <p:spPr>
          <a:xfrm>
            <a:off x="7863840" y="1920240"/>
            <a:ext cx="3749040" cy="1623568"/>
          </a:xfrm>
          <a:prstGeom prst="roundRect">
            <a:avLst>
              <a:gd name="adj" fmla="val 4506"/>
            </a:avLst>
          </a:prstGeom>
          <a:solidFill>
            <a:schemeClr val="bg1"/>
          </a:solidFill>
          <a:ln w="22225">
            <a:solidFill>
              <a:schemeClr val="accent6"/>
            </a:solidFill>
            <a:prstDash val="solid"/>
          </a:ln>
        </p:spPr>
      </p:sp>
      <p:sp>
        <p:nvSpPr>
          <p:cNvPr id="11" name="Objektname aria: Held"/>
          <p:cNvSpPr txBox="1"/>
          <p:nvPr/>
        </p:nvSpPr>
        <p:spPr>
          <a:xfrm>
            <a:off x="7863840" y="1920240"/>
            <a:ext cx="3749040" cy="394208"/>
          </a:xfrm>
          <a:prstGeom prst="rect">
            <a:avLst/>
          </a:prstGeom>
          <a:noFill/>
          <a:ln/>
        </p:spPr>
        <p:txBody>
          <a:bodyPr wrap="square" lIns="0" tIns="0" rIns="0" bIns="0" rtlCol="0" anchor="ctr"/>
          <a:lstStyle/>
          <a:p>
            <a:pPr algn="ctr" indent="0" marL="0">
              <a:buNone/>
            </a:pPr>
            <a:r>
              <a:rPr lang="en-US" sz="1700" b="1" dirty="0">
                <a:solidFill>
                  <a:schemeClr val="accent1"/>
                </a:solidFill>
              </a:rPr>
              <a:t>aria: Held</a:t>
            </a:r>
            <a:endParaRPr lang="en-US" sz="1700" dirty="0"/>
          </a:p>
        </p:txBody>
      </p:sp>
      <p:sp>
        <p:nvSpPr>
          <p:cNvPr id="12" name="Linie"/>
          <p:cNvSpPr/>
          <p:nvPr/>
        </p:nvSpPr>
        <p:spPr>
          <a:xfrm>
            <a:off x="7863840" y="2314448"/>
            <a:ext cx="3749040" cy="91"/>
          </a:xfrm>
          <a:prstGeom prst="line">
            <a:avLst/>
          </a:prstGeom>
          <a:noFill/>
          <a:ln w="15875">
            <a:solidFill>
              <a:schemeClr val="accent6"/>
            </a:solidFill>
            <a:prstDash val="solid"/>
          </a:ln>
        </p:spPr>
      </p:sp>
      <p:sp>
        <p:nvSpPr>
          <p:cNvPr id="13" name="Objektwerte aria: Held"/>
          <p:cNvSpPr txBox="1"/>
          <p:nvPr/>
        </p:nvSpPr>
        <p:spPr>
          <a:xfrm>
            <a:off x="7863840" y="2314448"/>
            <a:ext cx="3749040" cy="1229360"/>
          </a:xfrm>
          <a:prstGeom prst="rect">
            <a:avLst/>
          </a:prstGeom>
          <a:noFill/>
          <a:ln/>
        </p:spPr>
        <p:txBody>
          <a:bodyPr wrap="square" lIns="128016" tIns="73152" rIns="73152" bIns="73152" rtlCol="0" anchor="t"/>
          <a:lstStyle/>
          <a:p>
            <a:pPr indent="0" marL="0">
              <a:lnSpc>
                <a:spcPts val="2000"/>
              </a:lnSpc>
              <a:buNone/>
            </a:pPr>
            <a:r>
              <a:rPr lang="en-US" sz="1600" dirty="0">
                <a:solidFill>
                  <a:schemeClr val="tx1"/>
                </a:solidFill>
              </a:rPr>
              <a:t>name = "Aria"</a:t>
            </a:r>
            <a:endParaRPr lang="en-US" sz="1600" dirty="0"/>
          </a:p>
          <a:p>
            <a:pPr indent="0" marL="0">
              <a:lnSpc>
                <a:spcPts val="2000"/>
              </a:lnSpc>
              <a:buNone/>
            </a:pPr>
            <a:r>
              <a:rPr lang="en-US" sz="1600" dirty="0">
                <a:solidFill>
                  <a:schemeClr val="tx1"/>
                </a:solidFill>
              </a:rPr>
              <a:t>leben = 100</a:t>
            </a:r>
            <a:endParaRPr lang="en-US" sz="1600" dirty="0"/>
          </a:p>
          <a:p>
            <a:pPr indent="0" marL="0">
              <a:lnSpc>
                <a:spcPts val="2000"/>
              </a:lnSpc>
              <a:buNone/>
            </a:pPr>
            <a:r>
              <a:rPr lang="en-US" sz="1600" dirty="0">
                <a:solidFill>
                  <a:schemeClr val="tx1"/>
                </a:solidFill>
              </a:rPr>
              <a:t>staerke = 10</a:t>
            </a:r>
            <a:endParaRPr lang="en-US" sz="1600" dirty="0"/>
          </a:p>
          <a:p>
            <a:pPr indent="0" marL="0">
              <a:lnSpc>
                <a:spcPts val="2000"/>
              </a:lnSpc>
              <a:buNone/>
            </a:pPr>
            <a:r>
              <a:rPr lang="en-US" sz="1600" dirty="0">
                <a:solidFill>
                  <a:schemeClr val="tx1"/>
                </a:solidFill>
              </a:rPr>
              <a:t>…</a:t>
            </a:r>
            <a:endParaRPr lang="en-US" sz="1600" dirty="0"/>
          </a:p>
        </p:txBody>
      </p:sp>
      <p:sp>
        <p:nvSpPr>
          <p:cNvPr id="14" name="Objektkarte brann: Held"/>
          <p:cNvSpPr/>
          <p:nvPr/>
        </p:nvSpPr>
        <p:spPr>
          <a:xfrm>
            <a:off x="7863840" y="3749040"/>
            <a:ext cx="3749040" cy="1623568"/>
          </a:xfrm>
          <a:prstGeom prst="roundRect">
            <a:avLst>
              <a:gd name="adj" fmla="val 4506"/>
            </a:avLst>
          </a:prstGeom>
          <a:solidFill>
            <a:schemeClr val="bg1"/>
          </a:solidFill>
          <a:ln w="22225">
            <a:solidFill>
              <a:schemeClr val="accent6"/>
            </a:solidFill>
            <a:prstDash val="solid"/>
          </a:ln>
        </p:spPr>
      </p:sp>
      <p:sp>
        <p:nvSpPr>
          <p:cNvPr id="15" name="Objektname brann: Held"/>
          <p:cNvSpPr txBox="1"/>
          <p:nvPr/>
        </p:nvSpPr>
        <p:spPr>
          <a:xfrm>
            <a:off x="7863840" y="3749040"/>
            <a:ext cx="3749040" cy="394208"/>
          </a:xfrm>
          <a:prstGeom prst="rect">
            <a:avLst/>
          </a:prstGeom>
          <a:noFill/>
          <a:ln/>
        </p:spPr>
        <p:txBody>
          <a:bodyPr wrap="square" lIns="0" tIns="0" rIns="0" bIns="0" rtlCol="0" anchor="ctr"/>
          <a:lstStyle/>
          <a:p>
            <a:pPr algn="ctr" indent="0" marL="0">
              <a:buNone/>
            </a:pPr>
            <a:r>
              <a:rPr lang="en-US" sz="1700" b="1" dirty="0">
                <a:solidFill>
                  <a:schemeClr val="accent1"/>
                </a:solidFill>
              </a:rPr>
              <a:t>brann: Held</a:t>
            </a:r>
            <a:endParaRPr lang="en-US" sz="1700" dirty="0"/>
          </a:p>
        </p:txBody>
      </p:sp>
      <p:sp>
        <p:nvSpPr>
          <p:cNvPr id="16" name="Linie"/>
          <p:cNvSpPr/>
          <p:nvPr/>
        </p:nvSpPr>
        <p:spPr>
          <a:xfrm>
            <a:off x="7863840" y="4143248"/>
            <a:ext cx="3749040" cy="91"/>
          </a:xfrm>
          <a:prstGeom prst="line">
            <a:avLst/>
          </a:prstGeom>
          <a:noFill/>
          <a:ln w="15875">
            <a:solidFill>
              <a:schemeClr val="accent6"/>
            </a:solidFill>
            <a:prstDash val="solid"/>
          </a:ln>
        </p:spPr>
      </p:sp>
      <p:sp>
        <p:nvSpPr>
          <p:cNvPr id="17" name="Objektwerte brann: Held"/>
          <p:cNvSpPr txBox="1"/>
          <p:nvPr/>
        </p:nvSpPr>
        <p:spPr>
          <a:xfrm>
            <a:off x="7863840" y="4143248"/>
            <a:ext cx="3749040" cy="1229360"/>
          </a:xfrm>
          <a:prstGeom prst="rect">
            <a:avLst/>
          </a:prstGeom>
          <a:noFill/>
          <a:ln/>
        </p:spPr>
        <p:txBody>
          <a:bodyPr wrap="square" lIns="128016" tIns="73152" rIns="73152" bIns="73152" rtlCol="0" anchor="t"/>
          <a:lstStyle/>
          <a:p>
            <a:pPr indent="0" marL="0">
              <a:lnSpc>
                <a:spcPts val="2000"/>
              </a:lnSpc>
              <a:buNone/>
            </a:pPr>
            <a:r>
              <a:rPr lang="en-US" sz="1600" dirty="0">
                <a:solidFill>
                  <a:schemeClr val="tx1"/>
                </a:solidFill>
              </a:rPr>
              <a:t>name = "Brann"</a:t>
            </a:r>
            <a:endParaRPr lang="en-US" sz="1600" dirty="0"/>
          </a:p>
          <a:p>
            <a:pPr indent="0" marL="0">
              <a:lnSpc>
                <a:spcPts val="2000"/>
              </a:lnSpc>
              <a:buNone/>
            </a:pPr>
            <a:r>
              <a:rPr lang="en-US" sz="1600" dirty="0">
                <a:solidFill>
                  <a:schemeClr val="tx1"/>
                </a:solidFill>
              </a:rPr>
              <a:t>leben = 80</a:t>
            </a:r>
            <a:endParaRPr lang="en-US" sz="1600" dirty="0"/>
          </a:p>
          <a:p>
            <a:pPr indent="0" marL="0">
              <a:lnSpc>
                <a:spcPts val="2000"/>
              </a:lnSpc>
              <a:buNone/>
            </a:pPr>
            <a:r>
              <a:rPr lang="en-US" sz="1600" dirty="0">
                <a:solidFill>
                  <a:schemeClr val="tx1"/>
                </a:solidFill>
              </a:rPr>
              <a:t>staerke = 14</a:t>
            </a:r>
            <a:endParaRPr lang="en-US" sz="1600" dirty="0"/>
          </a:p>
          <a:p>
            <a:pPr indent="0" marL="0">
              <a:lnSpc>
                <a:spcPts val="2000"/>
              </a:lnSpc>
              <a:buNone/>
            </a:pPr>
            <a:r>
              <a:rPr lang="en-US" sz="1600" dirty="0">
                <a:solidFill>
                  <a:schemeClr val="tx1"/>
                </a:solidFill>
              </a:rPr>
              <a:t>…</a:t>
            </a:r>
            <a:endParaRPr lang="en-US" sz="1600" dirty="0"/>
          </a:p>
        </p:txBody>
      </p:sp>
      <p:sp>
        <p:nvSpPr>
          <p:cNvPr id="18" name="Linie"/>
          <p:cNvSpPr/>
          <p:nvPr/>
        </p:nvSpPr>
        <p:spPr>
          <a:xfrm flipV="1">
            <a:off x="5212080" y="2732024"/>
            <a:ext cx="2560320" cy="102616"/>
          </a:xfrm>
          <a:prstGeom prst="line">
            <a:avLst/>
          </a:prstGeom>
          <a:noFill/>
          <a:ln w="38100">
            <a:solidFill>
              <a:schemeClr val="accent2"/>
            </a:solidFill>
            <a:prstDash val="solid"/>
            <a:tailEnd type="triangle"/>
          </a:ln>
        </p:spPr>
      </p:sp>
      <p:sp>
        <p:nvSpPr>
          <p:cNvPr id="19" name="Linie"/>
          <p:cNvSpPr/>
          <p:nvPr/>
        </p:nvSpPr>
        <p:spPr>
          <a:xfrm>
            <a:off x="5212080" y="3749040"/>
            <a:ext cx="2560320" cy="811784"/>
          </a:xfrm>
          <a:prstGeom prst="line">
            <a:avLst/>
          </a:prstGeom>
          <a:noFill/>
          <a:ln w="38100">
            <a:solidFill>
              <a:schemeClr val="accent2"/>
            </a:solidFill>
            <a:prstDash val="solid"/>
            <a:tailEnd type="triangle"/>
          </a:ln>
        </p:spPr>
      </p:sp>
      <p:sp>
        <p:nvSpPr>
          <p:cNvPr id="20" name="Text 18"/>
          <p:cNvSpPr txBox="1"/>
          <p:nvPr/>
        </p:nvSpPr>
        <p:spPr>
          <a:xfrm>
            <a:off x="5166360" y="2103120"/>
            <a:ext cx="2651760" cy="320040"/>
          </a:xfrm>
          <a:prstGeom prst="rect">
            <a:avLst/>
          </a:prstGeom>
          <a:noFill/>
          <a:ln/>
        </p:spPr>
        <p:txBody>
          <a:bodyPr wrap="square" lIns="0" tIns="0" rIns="0" bIns="0" rtlCol="0" anchor="t"/>
          <a:lstStyle/>
          <a:p>
            <a:pPr algn="ctr" indent="0" marL="0">
              <a:buNone/>
            </a:pPr>
            <a:r>
              <a:rPr lang="en-US" sz="1500" b="1" dirty="0">
                <a:solidFill>
                  <a:schemeClr val="accent1"/>
                </a:solidFill>
                <a:latin typeface="Consolas" pitchFamily="34" charset="0"/>
                <a:ea typeface="Consolas" pitchFamily="34" charset="-122"/>
                <a:cs typeface="Consolas" pitchFamily="34" charset="-120"/>
              </a:rPr>
              <a:t>new Held("Aria")</a:t>
            </a:r>
            <a:endParaRPr lang="en-US" sz="1500" dirty="0"/>
          </a:p>
        </p:txBody>
      </p:sp>
      <p:sp>
        <p:nvSpPr>
          <p:cNvPr id="21" name="Text 19"/>
          <p:cNvSpPr txBox="1"/>
          <p:nvPr/>
        </p:nvSpPr>
        <p:spPr>
          <a:xfrm>
            <a:off x="5029200" y="4709160"/>
            <a:ext cx="2788920" cy="320040"/>
          </a:xfrm>
          <a:prstGeom prst="rect">
            <a:avLst/>
          </a:prstGeom>
          <a:noFill/>
          <a:ln/>
        </p:spPr>
        <p:txBody>
          <a:bodyPr wrap="square" lIns="0" tIns="0" rIns="0" bIns="0" rtlCol="0" anchor="t"/>
          <a:lstStyle/>
          <a:p>
            <a:pPr algn="ctr" indent="0" marL="0">
              <a:buNone/>
            </a:pPr>
            <a:r>
              <a:rPr lang="en-US" sz="1400" b="1" dirty="0">
                <a:solidFill>
                  <a:schemeClr val="accent1"/>
                </a:solidFill>
                <a:latin typeface="Consolas" pitchFamily="34" charset="0"/>
                <a:ea typeface="Consolas" pitchFamily="34" charset="-122"/>
                <a:cs typeface="Consolas" pitchFamily="34" charset="-120"/>
              </a:rPr>
              <a:t>new Held("Brann", 80, 14)</a:t>
            </a:r>
            <a:endParaRPr lang="en-US" sz="1400" dirty="0"/>
          </a:p>
        </p:txBody>
      </p:sp>
      <p:sp>
        <p:nvSpPr>
          <p:cNvPr id="22" name="Merksatz"/>
          <p:cNvSpPr/>
          <p:nvPr/>
        </p:nvSpPr>
        <p:spPr>
          <a:xfrm>
            <a:off x="548640" y="5486400"/>
            <a:ext cx="11064240" cy="594360"/>
          </a:xfrm>
          <a:prstGeom prst="roundRect">
            <a:avLst>
              <a:gd name="adj" fmla="val 18462"/>
            </a:avLst>
          </a:prstGeom>
          <a:solidFill>
            <a:schemeClr val="bg2"/>
          </a:solidFill>
          <a:ln/>
        </p:spPr>
      </p:sp>
      <p:sp>
        <p:nvSpPr>
          <p:cNvPr id="23" name="Text 21"/>
          <p:cNvSpPr txBox="1"/>
          <p:nvPr/>
        </p:nvSpPr>
        <p:spPr>
          <a:xfrm>
            <a:off x="777240" y="5486400"/>
            <a:ext cx="10607040" cy="594360"/>
          </a:xfrm>
          <a:prstGeom prst="rect">
            <a:avLst/>
          </a:prstGeom>
          <a:noFill/>
          <a:ln/>
        </p:spPr>
        <p:txBody>
          <a:bodyPr wrap="square" lIns="0" tIns="0" rIns="0" bIns="0" rtlCol="0" anchor="ctr"/>
          <a:lstStyle/>
          <a:p>
            <a:pPr indent="0" marL="0">
              <a:buNone/>
            </a:pPr>
            <a:r>
              <a:rPr lang="en-US" sz="1900" b="1" dirty="0">
                <a:solidFill>
                  <a:schemeClr val="accent1"/>
                </a:solidFill>
              </a:rPr>
              <a:t>Merke: </a:t>
            </a:r>
            <a:pPr indent="0" marL="0">
              <a:buNone/>
            </a:pPr>
            <a:r>
              <a:rPr lang="en-US" sz="1900" dirty="0">
                <a:solidFill>
                  <a:schemeClr val="tx1"/>
                </a:solidFill>
              </a:rPr>
              <a:t>Eine Klasse – beliebig viele Objekte. Jedes Objekt hat eigene Attributwerte.</a:t>
            </a:r>
            <a:endParaRPr lang="en-US" sz="19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Bestandteile einer Klasse</a:t>
            </a:r>
            <a:endParaRPr lang="en-US" sz="3600" dirty="0"/>
          </a:p>
        </p:txBody>
      </p:sp>
      <p:sp>
        <p:nvSpPr>
          <p:cNvPr id="3" name="Code"/>
          <p:cNvSpPr txBox="1"/>
          <p:nvPr/>
        </p:nvSpPr>
        <p:spPr>
          <a:xfrm>
            <a:off x="548640" y="1325880"/>
            <a:ext cx="6400800" cy="42133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public</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class</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Held</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endParaRPr lang="en-US" sz="1800" dirty="0"/>
          </a:p>
          <a:p>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private</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String</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name</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a:t>
            </a:r>
            <a:endParaRPr lang="en-US" sz="1800" dirty="0"/>
          </a:p>
          <a:p>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private</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int</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leben</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a:t>
            </a:r>
            <a:endParaRPr lang="en-US" sz="1800" dirty="0"/>
          </a:p>
          <a:p>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private</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int</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maxLeben</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a:t>
            </a:r>
            <a:endParaRPr lang="en-US" sz="1800" dirty="0"/>
          </a:p>
          <a:p>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endParaRPr lang="en-US" sz="1800" dirty="0"/>
          </a:p>
          <a:p>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public</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Held</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String</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name</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endParaRPr lang="en-US" sz="1800" dirty="0"/>
          </a:p>
          <a:p>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this</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name</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 </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name</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a:t>
            </a:r>
            <a:endParaRPr lang="en-US" sz="1800" dirty="0"/>
          </a:p>
          <a:p>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maxLeben</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 100;</a:t>
            </a:r>
            <a:endParaRPr lang="en-US" sz="1800" dirty="0"/>
          </a:p>
          <a:p>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leben</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 100;</a:t>
            </a:r>
            <a:endParaRPr lang="en-US" sz="1800" dirty="0"/>
          </a:p>
          <a:p>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i="1" dirty="0">
                <a:solidFill>
                  <a:schemeClr val="accent3"/>
                </a:solidFill>
                <a:latin typeface="Consolas" pitchFamily="34" charset="0"/>
                <a:ea typeface="Consolas" pitchFamily="34" charset="-122"/>
                <a:cs typeface="Consolas" pitchFamily="34" charset="-120"/>
              </a:rPr>
              <a:t>// … staerke, gold, inventar</a:t>
            </a:r>
            <a:endParaRPr lang="en-US" sz="1800" dirty="0"/>
          </a:p>
          <a:p>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endParaRPr lang="en-US" sz="1800" dirty="0"/>
          </a:p>
          <a:p>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public</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int</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getLeben</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 </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return</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leben</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endParaRPr lang="en-US" sz="1800" dirty="0"/>
          </a:p>
          <a:p>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public</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void</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heilen</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a:t>
            </a:r>
            <a:pPr algn="l" indent="0" marL="0">
              <a:lnSpc>
                <a:spcPts val="2200"/>
              </a:lnSpc>
              <a:buNone/>
            </a:pPr>
            <a:r>
              <a:rPr lang="en-US" sz="1800" b="1" dirty="0">
                <a:solidFill>
                  <a:schemeClr val="accent1"/>
                </a:solidFill>
                <a:latin typeface="Consolas" pitchFamily="34" charset="0"/>
                <a:ea typeface="Consolas" pitchFamily="34" charset="-122"/>
                <a:cs typeface="Consolas" pitchFamily="34" charset="-120"/>
              </a:rPr>
              <a:t>int</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punkte</a:t>
            </a:r>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 { … }</a:t>
            </a:r>
            <a:endParaRPr lang="en-US" sz="1800" dirty="0"/>
          </a:p>
          <a:p>
            <a:pPr algn="l" indent="0" marL="0">
              <a:lnSpc>
                <a:spcPts val="2200"/>
              </a:lnSpc>
              <a:buNone/>
            </a:pPr>
            <a:r>
              <a:rPr lang="en-US" sz="1800" dirty="0">
                <a:solidFill>
                  <a:schemeClr val="tx1"/>
                </a:solidFill>
                <a:latin typeface="Consolas" pitchFamily="34" charset="0"/>
                <a:ea typeface="Consolas" pitchFamily="34" charset="-122"/>
                <a:cs typeface="Consolas" pitchFamily="34" charset="-120"/>
              </a:rPr>
              <a:t>}</a:t>
            </a:r>
            <a:endParaRPr lang="en-US" sz="1800" dirty="0"/>
          </a:p>
        </p:txBody>
      </p:sp>
      <p:sp>
        <p:nvSpPr>
          <p:cNvPr id="4" name="Klammer Klassenkopf"/>
          <p:cNvSpPr/>
          <p:nvPr/>
        </p:nvSpPr>
        <p:spPr>
          <a:xfrm>
            <a:off x="7086600" y="1472184"/>
            <a:ext cx="228600" cy="242824"/>
          </a:xfrm>
          <a:prstGeom prst="rightBrace">
            <a:avLst/>
          </a:prstGeom>
          <a:ln w="31750">
            <a:solidFill>
              <a:schemeClr val="accent2"/>
            </a:solidFill>
            <a:prstDash val="solid"/>
          </a:ln>
        </p:spPr>
      </p:sp>
      <p:sp>
        <p:nvSpPr>
          <p:cNvPr id="5" name="Text 3"/>
          <p:cNvSpPr txBox="1"/>
          <p:nvPr/>
        </p:nvSpPr>
        <p:spPr>
          <a:xfrm>
            <a:off x="7498080" y="1261872"/>
            <a:ext cx="4114800" cy="685800"/>
          </a:xfrm>
          <a:prstGeom prst="rect">
            <a:avLst/>
          </a:prstGeom>
          <a:noFill/>
          <a:ln/>
        </p:spPr>
        <p:txBody>
          <a:bodyPr wrap="square" lIns="0" tIns="0" rIns="0" bIns="0" rtlCol="0" anchor="t"/>
          <a:lstStyle/>
          <a:p>
            <a:pPr indent="0" marL="0">
              <a:buNone/>
            </a:pPr>
            <a:r>
              <a:rPr lang="en-US" sz="2000" b="1" dirty="0">
                <a:solidFill>
                  <a:schemeClr val="accent2"/>
                </a:solidFill>
              </a:rPr>
              <a:t>Klassenkopf</a:t>
            </a:r>
            <a:endParaRPr lang="en-US" sz="1800" dirty="0"/>
          </a:p>
          <a:p>
            <a:pPr indent="0" marL="0">
              <a:buNone/>
            </a:pPr>
            <a:r>
              <a:rPr lang="en-US" sz="1600" dirty="0">
                <a:solidFill>
                  <a:schemeClr val="tx1"/>
                </a:solidFill>
              </a:rPr>
              <a:t>class + Klassenname</a:t>
            </a:r>
            <a:endParaRPr lang="en-US" sz="1800" dirty="0"/>
          </a:p>
        </p:txBody>
      </p:sp>
      <p:sp>
        <p:nvSpPr>
          <p:cNvPr id="6" name="Klammer Attribute"/>
          <p:cNvSpPr/>
          <p:nvPr/>
        </p:nvSpPr>
        <p:spPr>
          <a:xfrm>
            <a:off x="7086600" y="1751584"/>
            <a:ext cx="228600" cy="801624"/>
          </a:xfrm>
          <a:prstGeom prst="rightBrace">
            <a:avLst/>
          </a:prstGeom>
          <a:ln w="31750">
            <a:solidFill>
              <a:schemeClr val="accent1"/>
            </a:solidFill>
            <a:prstDash val="solid"/>
          </a:ln>
        </p:spPr>
      </p:sp>
      <p:sp>
        <p:nvSpPr>
          <p:cNvPr id="7" name="Text 5"/>
          <p:cNvSpPr txBox="1"/>
          <p:nvPr/>
        </p:nvSpPr>
        <p:spPr>
          <a:xfrm>
            <a:off x="7498080" y="2020824"/>
            <a:ext cx="4114800" cy="685800"/>
          </a:xfrm>
          <a:prstGeom prst="rect">
            <a:avLst/>
          </a:prstGeom>
          <a:noFill/>
          <a:ln/>
        </p:spPr>
        <p:txBody>
          <a:bodyPr wrap="square" lIns="0" tIns="0" rIns="0" bIns="0" rtlCol="0" anchor="t"/>
          <a:lstStyle/>
          <a:p>
            <a:pPr indent="0" marL="0">
              <a:buNone/>
            </a:pPr>
            <a:r>
              <a:rPr lang="en-US" sz="2000" b="1" dirty="0">
                <a:solidFill>
                  <a:schemeClr val="accent1"/>
                </a:solidFill>
              </a:rPr>
              <a:t>Attribute</a:t>
            </a:r>
            <a:endParaRPr lang="en-US" sz="1800" dirty="0"/>
          </a:p>
          <a:p>
            <a:pPr indent="0" marL="0">
              <a:buNone/>
            </a:pPr>
            <a:r>
              <a:rPr lang="en-US" sz="1600" dirty="0">
                <a:solidFill>
                  <a:schemeClr val="tx1"/>
                </a:solidFill>
              </a:rPr>
              <a:t>private → Datenkapselung</a:t>
            </a:r>
            <a:endParaRPr lang="en-US" sz="1800" dirty="0"/>
          </a:p>
        </p:txBody>
      </p:sp>
      <p:sp>
        <p:nvSpPr>
          <p:cNvPr id="8" name="Klammer Konstruktor"/>
          <p:cNvSpPr/>
          <p:nvPr/>
        </p:nvSpPr>
        <p:spPr>
          <a:xfrm>
            <a:off x="7086600" y="2869184"/>
            <a:ext cx="228600" cy="1639824"/>
          </a:xfrm>
          <a:prstGeom prst="rightBrace">
            <a:avLst/>
          </a:prstGeom>
          <a:ln w="31750">
            <a:solidFill>
              <a:schemeClr val="accent3"/>
            </a:solidFill>
            <a:prstDash val="solid"/>
          </a:ln>
        </p:spPr>
      </p:sp>
      <p:sp>
        <p:nvSpPr>
          <p:cNvPr id="9" name="Text 7"/>
          <p:cNvSpPr txBox="1"/>
          <p:nvPr/>
        </p:nvSpPr>
        <p:spPr>
          <a:xfrm>
            <a:off x="7498080" y="3346196"/>
            <a:ext cx="4114800" cy="685800"/>
          </a:xfrm>
          <a:prstGeom prst="rect">
            <a:avLst/>
          </a:prstGeom>
          <a:noFill/>
          <a:ln/>
        </p:spPr>
        <p:txBody>
          <a:bodyPr wrap="square" lIns="0" tIns="0" rIns="0" bIns="0" rtlCol="0" anchor="t"/>
          <a:lstStyle/>
          <a:p>
            <a:pPr indent="0" marL="0">
              <a:buNone/>
            </a:pPr>
            <a:r>
              <a:rPr lang="en-US" sz="2000" b="1" dirty="0">
                <a:solidFill>
                  <a:schemeClr val="accent3"/>
                </a:solidFill>
              </a:rPr>
              <a:t>Konstruktor</a:t>
            </a:r>
            <a:endParaRPr lang="en-US" sz="1800" dirty="0"/>
          </a:p>
          <a:p>
            <a:pPr indent="0" marL="0">
              <a:buNone/>
            </a:pPr>
            <a:r>
              <a:rPr lang="en-US" sz="1600" dirty="0">
                <a:solidFill>
                  <a:schemeClr val="tx1"/>
                </a:solidFill>
              </a:rPr>
              <a:t>heißt wie die Klasse, kein Rückgabetyp, setzt Startwerte</a:t>
            </a:r>
            <a:endParaRPr lang="en-US" sz="1800" dirty="0"/>
          </a:p>
        </p:txBody>
      </p:sp>
      <p:sp>
        <p:nvSpPr>
          <p:cNvPr id="10" name="Klammer Methoden"/>
          <p:cNvSpPr/>
          <p:nvPr/>
        </p:nvSpPr>
        <p:spPr>
          <a:xfrm>
            <a:off x="7086600" y="4545584"/>
            <a:ext cx="228600" cy="522224"/>
          </a:xfrm>
          <a:prstGeom prst="rightBrace">
            <a:avLst/>
          </a:prstGeom>
          <a:ln w="31750">
            <a:solidFill>
              <a:schemeClr val="accent6"/>
            </a:solidFill>
            <a:prstDash val="solid"/>
          </a:ln>
        </p:spPr>
      </p:sp>
      <p:sp>
        <p:nvSpPr>
          <p:cNvPr id="11" name="Text 9"/>
          <p:cNvSpPr txBox="1"/>
          <p:nvPr/>
        </p:nvSpPr>
        <p:spPr>
          <a:xfrm>
            <a:off x="7498080" y="4463796"/>
            <a:ext cx="4114800" cy="685800"/>
          </a:xfrm>
          <a:prstGeom prst="rect">
            <a:avLst/>
          </a:prstGeom>
          <a:noFill/>
          <a:ln/>
        </p:spPr>
        <p:txBody>
          <a:bodyPr wrap="square" lIns="0" tIns="0" rIns="0" bIns="0" rtlCol="0" anchor="t"/>
          <a:lstStyle/>
          <a:p>
            <a:pPr indent="0" marL="0">
              <a:buNone/>
            </a:pPr>
            <a:r>
              <a:rPr lang="en-US" sz="2000" b="1" dirty="0">
                <a:solidFill>
                  <a:schemeClr val="accent6"/>
                </a:solidFill>
              </a:rPr>
              <a:t>Methoden</a:t>
            </a:r>
            <a:endParaRPr lang="en-US" sz="1800" dirty="0"/>
          </a:p>
          <a:p>
            <a:pPr indent="0" marL="0">
              <a:buNone/>
            </a:pPr>
            <a:r>
              <a:rPr lang="en-US" sz="1600" dirty="0">
                <a:solidFill>
                  <a:schemeClr val="tx1"/>
                </a:solidFill>
              </a:rPr>
              <a:t>public – sondierend (getLeben) oder verändernd (heilen)</a:t>
            </a:r>
            <a:endParaRPr lang="en-US" sz="1800" dirty="0"/>
          </a:p>
        </p:txBody>
      </p:sp>
      <p:sp>
        <p:nvSpPr>
          <p:cNvPr id="12" name="Text 10"/>
          <p:cNvSpPr txBox="1"/>
          <p:nvPr/>
        </p:nvSpPr>
        <p:spPr>
          <a:xfrm>
            <a:off x="548640" y="5648960"/>
            <a:ext cx="6400800" cy="365760"/>
          </a:xfrm>
          <a:prstGeom prst="rect">
            <a:avLst/>
          </a:prstGeom>
          <a:noFill/>
          <a:ln/>
        </p:spPr>
        <p:txBody>
          <a:bodyPr wrap="square" lIns="0" tIns="0" rIns="0" bIns="0" rtlCol="0" anchor="t"/>
          <a:lstStyle/>
          <a:p>
            <a:pPr indent="0" marL="0">
              <a:buNone/>
            </a:pPr>
            <a:r>
              <a:rPr lang="en-US" sz="1500" i="1" dirty="0">
                <a:solidFill>
                  <a:schemeClr val="accent6"/>
                </a:solidFill>
              </a:rPr>
              <a:t>…  = hier gekürzt</a:t>
            </a:r>
            <a:endParaRPr lang="en-US" sz="15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Die Klassenkarte im Abi-Format</a:t>
            </a:r>
            <a:endParaRPr lang="en-US" sz="3600" dirty="0"/>
          </a:p>
        </p:txBody>
      </p:sp>
      <p:sp>
        <p:nvSpPr>
          <p:cNvPr id="3" name="Klassenkarte Held"/>
          <p:cNvSpPr/>
          <p:nvPr/>
        </p:nvSpPr>
        <p:spPr>
          <a:xfrm>
            <a:off x="548640" y="1325880"/>
            <a:ext cx="5852160" cy="4157472"/>
          </a:xfrm>
          <a:prstGeom prst="rect">
            <a:avLst/>
          </a:prstGeom>
          <a:solidFill>
            <a:schemeClr val="bg1"/>
          </a:solidFill>
          <a:ln w="22225">
            <a:solidFill>
              <a:schemeClr val="accent1"/>
            </a:solidFill>
            <a:prstDash val="solid"/>
          </a:ln>
        </p:spPr>
      </p:sp>
      <p:sp>
        <p:nvSpPr>
          <p:cNvPr id="4" name="Klassenname Held"/>
          <p:cNvSpPr txBox="1"/>
          <p:nvPr/>
        </p:nvSpPr>
        <p:spPr>
          <a:xfrm>
            <a:off x="548640" y="1325880"/>
            <a:ext cx="5852160" cy="378714"/>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600" b="1" dirty="0">
                <a:solidFill>
                  <a:schemeClr val="accent1"/>
                </a:solidFill>
              </a:rPr>
              <a:t>Held</a:t>
            </a:r>
            <a:endParaRPr lang="en-US" sz="1600" dirty="0"/>
          </a:p>
        </p:txBody>
      </p:sp>
      <p:sp>
        <p:nvSpPr>
          <p:cNvPr id="5" name="Attribute Held"/>
          <p:cNvSpPr txBox="1"/>
          <p:nvPr/>
        </p:nvSpPr>
        <p:spPr>
          <a:xfrm>
            <a:off x="548640" y="1704594"/>
            <a:ext cx="5852160" cy="200558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name: Zeichenkette</a:t>
            </a:r>
            <a:endParaRPr lang="en-US" sz="1500" dirty="0"/>
          </a:p>
          <a:p>
            <a:pPr algn="l" indent="0" marL="0">
              <a:lnSpc>
                <a:spcPts val="1800"/>
              </a:lnSpc>
              <a:buNone/>
            </a:pPr>
            <a:r>
              <a:rPr lang="en-US" sz="1500" dirty="0">
                <a:solidFill>
                  <a:schemeClr val="tx1"/>
                </a:solidFill>
              </a:rPr>
              <a:t>- leben: Ganzzahl</a:t>
            </a:r>
            <a:endParaRPr lang="en-US" sz="1500" dirty="0"/>
          </a:p>
          <a:p>
            <a:pPr algn="l" indent="0" marL="0">
              <a:lnSpc>
                <a:spcPts val="1800"/>
              </a:lnSpc>
              <a:buNone/>
            </a:pPr>
            <a:r>
              <a:rPr lang="en-US" sz="1500" dirty="0">
                <a:solidFill>
                  <a:schemeClr val="tx1"/>
                </a:solidFill>
              </a:rPr>
              <a:t>- maxLeben: Ganzzahl</a:t>
            </a:r>
            <a:endParaRPr lang="en-US" sz="1500" dirty="0"/>
          </a:p>
          <a:p>
            <a:pPr algn="l" indent="0" marL="0">
              <a:lnSpc>
                <a:spcPts val="1800"/>
              </a:lnSpc>
              <a:buNone/>
            </a:pPr>
            <a:r>
              <a:rPr lang="en-US" sz="1500" dirty="0">
                <a:solidFill>
                  <a:schemeClr val="tx1"/>
                </a:solidFill>
              </a:rPr>
              <a:t>- staerke: Ganzzahl</a:t>
            </a:r>
            <a:endParaRPr lang="en-US" sz="1500" dirty="0"/>
          </a:p>
          <a:p>
            <a:pPr algn="l" indent="0" marL="0">
              <a:lnSpc>
                <a:spcPts val="1800"/>
              </a:lnSpc>
              <a:buNone/>
            </a:pPr>
            <a:r>
              <a:rPr lang="en-US" sz="1500" dirty="0">
                <a:solidFill>
                  <a:schemeClr val="tx1"/>
                </a:solidFill>
              </a:rPr>
              <a:t>- gold: Ganzzahl</a:t>
            </a:r>
            <a:endParaRPr lang="en-US" sz="1500" dirty="0"/>
          </a:p>
          <a:p>
            <a:pPr algn="l" indent="0" marL="0">
              <a:lnSpc>
                <a:spcPts val="1800"/>
              </a:lnSpc>
              <a:buNone/>
            </a:pPr>
            <a:r>
              <a:rPr lang="en-US" sz="1500" dirty="0">
                <a:solidFill>
                  <a:schemeClr val="tx1"/>
                </a:solidFill>
              </a:rPr>
              <a:t>- inventar: Reihung von Gegenstand</a:t>
            </a:r>
            <a:endParaRPr lang="en-US" sz="1500" dirty="0"/>
          </a:p>
          <a:p>
            <a:pPr algn="l" indent="0" marL="0">
              <a:lnSpc>
                <a:spcPts val="1800"/>
              </a:lnSpc>
              <a:buNone/>
            </a:pPr>
            <a:r>
              <a:rPr lang="en-US" sz="1500" dirty="0">
                <a:solidFill>
                  <a:schemeClr val="tx1"/>
                </a:solidFill>
              </a:rPr>
              <a:t>- anzahl: Ganzzahl</a:t>
            </a:r>
            <a:endParaRPr lang="en-US" sz="1500" dirty="0"/>
          </a:p>
          <a:p>
            <a:pPr algn="l" indent="0" marL="0">
              <a:lnSpc>
                <a:spcPts val="1800"/>
              </a:lnSpc>
              <a:buNone/>
            </a:pPr>
            <a:r>
              <a:rPr lang="en-US" sz="1500" dirty="0">
                <a:solidFill>
                  <a:schemeClr val="tx1"/>
                </a:solidFill>
              </a:rPr>
              <a:t>- waffe: Waffe</a:t>
            </a:r>
            <a:endParaRPr lang="en-US" sz="1500" dirty="0"/>
          </a:p>
        </p:txBody>
      </p:sp>
      <p:sp>
        <p:nvSpPr>
          <p:cNvPr id="6" name="Linie"/>
          <p:cNvSpPr/>
          <p:nvPr/>
        </p:nvSpPr>
        <p:spPr>
          <a:xfrm>
            <a:off x="548640" y="3710178"/>
            <a:ext cx="5852160" cy="91"/>
          </a:xfrm>
          <a:prstGeom prst="line">
            <a:avLst/>
          </a:prstGeom>
          <a:noFill/>
          <a:ln w="22225">
            <a:solidFill>
              <a:schemeClr val="accent1"/>
            </a:solidFill>
            <a:prstDash val="solid"/>
          </a:ln>
        </p:spPr>
      </p:sp>
      <p:sp>
        <p:nvSpPr>
          <p:cNvPr id="7" name="Methoden Held"/>
          <p:cNvSpPr txBox="1"/>
          <p:nvPr/>
        </p:nvSpPr>
        <p:spPr>
          <a:xfrm>
            <a:off x="548640" y="3710178"/>
            <a:ext cx="5852160" cy="177317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c Held(name: Zeichenkette)</a:t>
            </a:r>
            <a:endParaRPr lang="en-US" sz="1500" dirty="0"/>
          </a:p>
          <a:p>
            <a:pPr algn="l" indent="0" marL="0">
              <a:lnSpc>
                <a:spcPts val="1800"/>
              </a:lnSpc>
              <a:buNone/>
            </a:pPr>
            <a:r>
              <a:rPr lang="en-US" sz="1500" dirty="0">
                <a:solidFill>
                  <a:schemeClr val="tx1"/>
                </a:solidFill>
              </a:rPr>
              <a:t>+ c Held(name: Zeichenkette, maxLeben: Ganzzahl, staerke: Ganzzahl)</a:t>
            </a:r>
            <a:endParaRPr lang="en-US" sz="1500" dirty="0"/>
          </a:p>
          <a:p>
            <a:pPr algn="l" indent="0" marL="0">
              <a:lnSpc>
                <a:spcPts val="1800"/>
              </a:lnSpc>
              <a:buNone/>
            </a:pPr>
            <a:r>
              <a:rPr lang="en-US" sz="1500" dirty="0">
                <a:solidFill>
                  <a:schemeClr val="tx1"/>
                </a:solidFill>
              </a:rPr>
              <a:t>+ getLeben(): Ganzzahl</a:t>
            </a:r>
            <a:endParaRPr lang="en-US" sz="1500" dirty="0"/>
          </a:p>
          <a:p>
            <a:pPr algn="l" indent="0" marL="0">
              <a:lnSpc>
                <a:spcPts val="1800"/>
              </a:lnSpc>
              <a:buNone/>
            </a:pPr>
            <a:r>
              <a:rPr lang="en-US" sz="1500" dirty="0">
                <a:solidFill>
                  <a:schemeClr val="tx1"/>
                </a:solidFill>
              </a:rPr>
              <a:t>+ nimmSchaden(schaden: Ganzzahl): nichts</a:t>
            </a:r>
            <a:endParaRPr lang="en-US" sz="1500" dirty="0"/>
          </a:p>
          <a:p>
            <a:pPr algn="l" indent="0" marL="0">
              <a:lnSpc>
                <a:spcPts val="1800"/>
              </a:lnSpc>
              <a:buNone/>
            </a:pPr>
            <a:r>
              <a:rPr lang="en-US" sz="1500" dirty="0">
                <a:solidFill>
                  <a:schemeClr val="tx1"/>
                </a:solidFill>
              </a:rPr>
              <a:t>+ aufnehmen(g: Gegenstand): Wahrheitswert</a:t>
            </a:r>
            <a:endParaRPr lang="en-US" sz="1500" dirty="0"/>
          </a:p>
          <a:p>
            <a:pPr algn="l" indent="0" marL="0">
              <a:lnSpc>
                <a:spcPts val="1800"/>
              </a:lnSpc>
              <a:buNone/>
            </a:pPr>
            <a:r>
              <a:rPr lang="en-US" sz="1500" dirty="0">
                <a:solidFill>
                  <a:schemeClr val="tx1"/>
                </a:solidFill>
              </a:rPr>
              <a:t>+ wertvollsterGegenstand(): Gegenstand</a:t>
            </a:r>
            <a:endParaRPr lang="en-US" sz="1500" dirty="0"/>
          </a:p>
          <a:p>
            <a:pPr algn="l" indent="0" marL="0">
              <a:lnSpc>
                <a:spcPts val="1800"/>
              </a:lnSpc>
              <a:buNone/>
            </a:pPr>
            <a:r>
              <a:rPr lang="en-US" sz="1500" dirty="0">
                <a:solidFill>
                  <a:schemeClr val="tx1"/>
                </a:solidFill>
              </a:rPr>
              <a:t>…</a:t>
            </a:r>
            <a:endParaRPr lang="en-US" sz="1500" dirty="0"/>
          </a:p>
        </p:txBody>
      </p:sp>
      <p:graphicFrame>
        <p:nvGraphicFramePr>
          <p:cNvPr id="6" name="Typnamen"/>
          <p:cNvGraphicFramePr>
            <a:graphicFrameLocks noGrp="1"/>
          </p:cNvGraphicFramePr>
          <p:nvPr>
            <p:extLst>
              <p:ext uri="{D42A27DB-BD31-4B8C-83A1-F6EECF244321}">
                <p14:modId xmlns:p14="http://schemas.microsoft.com/office/powerpoint/2010/main" val="1579011935"/>
              </p:ext>
            </p:extLst>
          </p:nvPr>
        </p:nvGraphicFramePr>
        <p:xfrm>
          <a:off x="6858000" y="1325880"/>
          <a:ext cx="4754880" cy="914400"/>
        </p:xfrm>
        <a:graphic>
          <a:graphicData uri="http://schemas.openxmlformats.org/drawingml/2006/table">
            <a:tbl>
              <a:tblPr/>
              <a:tblGrid>
                <a:gridCol w="1828800"/>
                <a:gridCol w="2926080"/>
              </a:tblGrid>
              <a:tr h="329184">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Java</a:t>
                      </a:r>
                      <a:endParaRPr lang="en-US" sz="1600" dirty="0">
                        <a:latin typeface="Calibri" charset="0"/>
                        <a:ea typeface="Calibri" charset="0"/>
                        <a:cs typeface="Calibri"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Klassenkarte</a:t>
                      </a:r>
                      <a:endParaRPr lang="en-US" sz="1600" dirty="0">
                        <a:latin typeface="Calibri" charset="0"/>
                        <a:ea typeface="Calibri" charset="0"/>
                        <a:cs typeface="Calibri"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29184">
                <a:tc>
                  <a:txBody>
                    <a:bodyPr/>
                    <a:lstStyle/>
                    <a:p>
                      <a:pPr indent="0" marL="0">
                        <a:buNone/>
                      </a:pPr>
                      <a:r>
                        <a:rPr lang="en-US" sz="1500" b="1" dirty="0">
                          <a:solidFill>
                            <a:schemeClr val="accent1"/>
                          </a:solidFill>
                          <a:latin typeface="Consolas" pitchFamily="34" charset="0"/>
                          <a:ea typeface="Consolas" pitchFamily="34" charset="-122"/>
                          <a:cs typeface="Consolas" pitchFamily="34" charset="-120"/>
                        </a:rPr>
                        <a:t>int</a:t>
                      </a:r>
                      <a:endParaRPr lang="en-US" sz="1500" dirty="0">
                        <a:latin typeface="Consolas" charset="0"/>
                        <a:ea typeface="Consolas" charset="0"/>
                        <a:cs typeface="Consolas"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Ganzzahl</a:t>
                      </a:r>
                      <a:endParaRPr lang="en-US" sz="1600" dirty="0">
                        <a:latin typeface="Calibri" charset="0"/>
                        <a:ea typeface="Calibri" charset="0"/>
                        <a:cs typeface="Calibri"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r>
              <a:tr h="329184">
                <a:tc>
                  <a:txBody>
                    <a:bodyPr/>
                    <a:lstStyle/>
                    <a:p>
                      <a:pPr indent="0" marL="0">
                        <a:buNone/>
                      </a:pPr>
                      <a:r>
                        <a:rPr lang="en-US" sz="1500" b="1" dirty="0">
                          <a:solidFill>
                            <a:schemeClr val="accent1"/>
                          </a:solidFill>
                          <a:latin typeface="Consolas" pitchFamily="34" charset="0"/>
                          <a:ea typeface="Consolas" pitchFamily="34" charset="-122"/>
                          <a:cs typeface="Consolas" pitchFamily="34" charset="-120"/>
                        </a:rPr>
                        <a:t>double</a:t>
                      </a:r>
                      <a:endParaRPr lang="en-US" sz="1500" dirty="0">
                        <a:latin typeface="Consolas" charset="0"/>
                        <a:ea typeface="Consolas" charset="0"/>
                        <a:cs typeface="Consolas"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Kommazahl</a:t>
                      </a:r>
                      <a:endParaRPr lang="en-US" sz="1600" dirty="0">
                        <a:latin typeface="Calibri" charset="0"/>
                        <a:ea typeface="Calibri" charset="0"/>
                        <a:cs typeface="Calibri"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29184">
                <a:tc>
                  <a:txBody>
                    <a:bodyPr/>
                    <a:lstStyle/>
                    <a:p>
                      <a:pPr indent="0" marL="0">
                        <a:buNone/>
                      </a:pPr>
                      <a:r>
                        <a:rPr lang="en-US" sz="1500" b="1" dirty="0">
                          <a:solidFill>
                            <a:schemeClr val="accent1"/>
                          </a:solidFill>
                          <a:latin typeface="Consolas" pitchFamily="34" charset="0"/>
                          <a:ea typeface="Consolas" pitchFamily="34" charset="-122"/>
                          <a:cs typeface="Consolas" pitchFamily="34" charset="-120"/>
                        </a:rPr>
                        <a:t>boolean</a:t>
                      </a:r>
                      <a:endParaRPr lang="en-US" sz="1500" dirty="0">
                        <a:latin typeface="Consolas" charset="0"/>
                        <a:ea typeface="Consolas" charset="0"/>
                        <a:cs typeface="Consolas"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Wahrheitswert</a:t>
                      </a:r>
                      <a:endParaRPr lang="en-US" sz="1600" dirty="0">
                        <a:latin typeface="Calibri" charset="0"/>
                        <a:ea typeface="Calibri" charset="0"/>
                        <a:cs typeface="Calibri"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r>
              <a:tr h="329184">
                <a:tc>
                  <a:txBody>
                    <a:bodyPr/>
                    <a:lstStyle/>
                    <a:p>
                      <a:pPr indent="0" marL="0">
                        <a:buNone/>
                      </a:pPr>
                      <a:r>
                        <a:rPr lang="en-US" sz="1500" b="1" dirty="0">
                          <a:solidFill>
                            <a:schemeClr val="accent1"/>
                          </a:solidFill>
                          <a:latin typeface="Consolas" pitchFamily="34" charset="0"/>
                          <a:ea typeface="Consolas" pitchFamily="34" charset="-122"/>
                          <a:cs typeface="Consolas" pitchFamily="34" charset="-120"/>
                        </a:rPr>
                        <a:t>char</a:t>
                      </a:r>
                      <a:endParaRPr lang="en-US" sz="1500" dirty="0">
                        <a:latin typeface="Consolas" charset="0"/>
                        <a:ea typeface="Consolas" charset="0"/>
                        <a:cs typeface="Consolas"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Zeichen</a:t>
                      </a:r>
                      <a:endParaRPr lang="en-US" sz="1600" dirty="0">
                        <a:latin typeface="Calibri" charset="0"/>
                        <a:ea typeface="Calibri" charset="0"/>
                        <a:cs typeface="Calibri"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29184">
                <a:tc>
                  <a:txBody>
                    <a:bodyPr/>
                    <a:lstStyle/>
                    <a:p>
                      <a:pPr indent="0" marL="0">
                        <a:buNone/>
                      </a:pPr>
                      <a:r>
                        <a:rPr lang="en-US" sz="1500" b="1" dirty="0">
                          <a:solidFill>
                            <a:schemeClr val="accent1"/>
                          </a:solidFill>
                          <a:latin typeface="Consolas" pitchFamily="34" charset="0"/>
                          <a:ea typeface="Consolas" pitchFamily="34" charset="-122"/>
                          <a:cs typeface="Consolas" pitchFamily="34" charset="-120"/>
                        </a:rPr>
                        <a:t>String</a:t>
                      </a:r>
                      <a:endParaRPr lang="en-US" sz="1500" dirty="0">
                        <a:latin typeface="Consolas" charset="0"/>
                        <a:ea typeface="Consolas" charset="0"/>
                        <a:cs typeface="Consolas"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Zeichenkette</a:t>
                      </a:r>
                      <a:endParaRPr lang="en-US" sz="1600" dirty="0">
                        <a:latin typeface="Calibri" charset="0"/>
                        <a:ea typeface="Calibri" charset="0"/>
                        <a:cs typeface="Calibri"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r>
              <a:tr h="329184">
                <a:tc>
                  <a:txBody>
                    <a:bodyPr/>
                    <a:lstStyle/>
                    <a:p>
                      <a:pPr indent="0" marL="0">
                        <a:buNone/>
                      </a:pPr>
                      <a:r>
                        <a:rPr lang="en-US" sz="1500" b="1" dirty="0">
                          <a:solidFill>
                            <a:schemeClr val="accent1"/>
                          </a:solidFill>
                          <a:latin typeface="Consolas" pitchFamily="34" charset="0"/>
                          <a:ea typeface="Consolas" pitchFamily="34" charset="-122"/>
                          <a:cs typeface="Consolas" pitchFamily="34" charset="-120"/>
                        </a:rPr>
                        <a:t>void</a:t>
                      </a:r>
                      <a:endParaRPr lang="en-US" sz="1500" dirty="0">
                        <a:latin typeface="Consolas" charset="0"/>
                        <a:ea typeface="Consolas" charset="0"/>
                        <a:cs typeface="Consolas"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nichts</a:t>
                      </a:r>
                      <a:endParaRPr lang="en-US" sz="1600" dirty="0">
                        <a:latin typeface="Calibri" charset="0"/>
                        <a:ea typeface="Calibri" charset="0"/>
                        <a:cs typeface="Calibri"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29184">
                <a:tc>
                  <a:txBody>
                    <a:bodyPr/>
                    <a:lstStyle/>
                    <a:p>
                      <a:pPr indent="0" marL="0">
                        <a:buNone/>
                      </a:pPr>
                      <a:r>
                        <a:rPr lang="en-US" sz="1500" b="1" dirty="0">
                          <a:solidFill>
                            <a:schemeClr val="accent1"/>
                          </a:solidFill>
                          <a:latin typeface="Consolas" pitchFamily="34" charset="0"/>
                          <a:ea typeface="Consolas" pitchFamily="34" charset="-122"/>
                          <a:cs typeface="Consolas" pitchFamily="34" charset="-120"/>
                        </a:rPr>
                        <a:t>Gegenstand[]</a:t>
                      </a:r>
                      <a:endParaRPr lang="en-US" sz="1500" dirty="0">
                        <a:latin typeface="Consolas" charset="0"/>
                        <a:ea typeface="Consolas" charset="0"/>
                        <a:cs typeface="Consolas"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Reihung von Gegenstand</a:t>
                      </a:r>
                      <a:endParaRPr lang="en-US" sz="1600" dirty="0">
                        <a:latin typeface="Calibri" charset="0"/>
                        <a:ea typeface="Calibri" charset="0"/>
                        <a:cs typeface="Calibri" charset="0"/>
                      </a:endParaRPr>
                    </a:p>
                  </a:txBody>
                  <a:tcPr marL="91440" marR="91440"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r>
            </a:tbl>
          </a:graphicData>
        </a:graphic>
      </p:graphicFrame>
      <p:sp>
        <p:nvSpPr>
          <p:cNvPr id="9" name="Text 6"/>
          <p:cNvSpPr txBox="1"/>
          <p:nvPr/>
        </p:nvSpPr>
        <p:spPr>
          <a:xfrm>
            <a:off x="6858000" y="4160520"/>
            <a:ext cx="868680" cy="411480"/>
          </a:xfrm>
          <a:prstGeom prst="roundRect">
            <a:avLst>
              <a:gd name="adj" fmla="val 13333"/>
            </a:avLst>
          </a:prstGeom>
          <a:solidFill>
            <a:schemeClr val="bg2"/>
          </a:solidFill>
          <a:ln/>
        </p:spPr>
        <p:txBody>
          <a:bodyPr wrap="square" lIns="0" tIns="0" rIns="0" bIns="0" rtlCol="0" anchor="ctr"/>
          <a:lstStyle/>
          <a:p>
            <a:pPr algn="ctr" indent="0" marL="0">
              <a:buNone/>
            </a:pPr>
            <a:r>
              <a:rPr lang="en-US" sz="1700" b="1" dirty="0">
                <a:solidFill>
                  <a:schemeClr val="accent1"/>
                </a:solidFill>
                <a:latin typeface="Consolas" pitchFamily="34" charset="0"/>
                <a:ea typeface="Consolas" pitchFamily="34" charset="-122"/>
                <a:cs typeface="Consolas" pitchFamily="34" charset="-120"/>
              </a:rPr>
              <a:t>+ / -</a:t>
            </a:r>
            <a:endParaRPr lang="en-US" sz="1700" dirty="0"/>
          </a:p>
        </p:txBody>
      </p:sp>
      <p:sp>
        <p:nvSpPr>
          <p:cNvPr id="10" name="Text 7"/>
          <p:cNvSpPr txBox="1"/>
          <p:nvPr/>
        </p:nvSpPr>
        <p:spPr>
          <a:xfrm>
            <a:off x="7863840" y="4160520"/>
            <a:ext cx="3749040" cy="411480"/>
          </a:xfrm>
          <a:prstGeom prst="rect">
            <a:avLst/>
          </a:prstGeom>
          <a:noFill/>
          <a:ln/>
        </p:spPr>
        <p:txBody>
          <a:bodyPr wrap="square" lIns="0" tIns="0" rIns="0" bIns="0" rtlCol="0" anchor="ctr"/>
          <a:lstStyle/>
          <a:p>
            <a:pPr indent="0" marL="0">
              <a:buNone/>
            </a:pPr>
            <a:r>
              <a:rPr lang="en-US" sz="1700" dirty="0">
                <a:solidFill>
                  <a:schemeClr val="tx1"/>
                </a:solidFill>
              </a:rPr>
              <a:t>Sichtbarkeit ist Pflicht: + public, - private</a:t>
            </a:r>
            <a:endParaRPr lang="en-US" sz="1700" dirty="0"/>
          </a:p>
        </p:txBody>
      </p:sp>
      <p:sp>
        <p:nvSpPr>
          <p:cNvPr id="11" name="Text 8"/>
          <p:cNvSpPr txBox="1"/>
          <p:nvPr/>
        </p:nvSpPr>
        <p:spPr>
          <a:xfrm>
            <a:off x="6858000" y="4663440"/>
            <a:ext cx="868680" cy="411480"/>
          </a:xfrm>
          <a:prstGeom prst="roundRect">
            <a:avLst>
              <a:gd name="adj" fmla="val 13333"/>
            </a:avLst>
          </a:prstGeom>
          <a:solidFill>
            <a:schemeClr val="bg2"/>
          </a:solidFill>
          <a:ln/>
        </p:spPr>
        <p:txBody>
          <a:bodyPr wrap="square" lIns="0" tIns="0" rIns="0" bIns="0" rtlCol="0" anchor="ctr"/>
          <a:lstStyle/>
          <a:p>
            <a:pPr algn="ctr" indent="0" marL="0">
              <a:buNone/>
            </a:pPr>
            <a:r>
              <a:rPr lang="en-US" sz="1700" b="1" dirty="0">
                <a:solidFill>
                  <a:schemeClr val="accent1"/>
                </a:solidFill>
                <a:latin typeface="Consolas" pitchFamily="34" charset="0"/>
                <a:ea typeface="Consolas" pitchFamily="34" charset="-122"/>
                <a:cs typeface="Consolas" pitchFamily="34" charset="-120"/>
              </a:rPr>
              <a:t>c</a:t>
            </a:r>
            <a:endParaRPr lang="en-US" sz="1700" dirty="0"/>
          </a:p>
        </p:txBody>
      </p:sp>
      <p:sp>
        <p:nvSpPr>
          <p:cNvPr id="12" name="Text 9"/>
          <p:cNvSpPr txBox="1"/>
          <p:nvPr/>
        </p:nvSpPr>
        <p:spPr>
          <a:xfrm>
            <a:off x="7863840" y="4663440"/>
            <a:ext cx="3749040" cy="411480"/>
          </a:xfrm>
          <a:prstGeom prst="rect">
            <a:avLst/>
          </a:prstGeom>
          <a:noFill/>
          <a:ln/>
        </p:spPr>
        <p:txBody>
          <a:bodyPr wrap="square" lIns="0" tIns="0" rIns="0" bIns="0" rtlCol="0" anchor="ctr"/>
          <a:lstStyle/>
          <a:p>
            <a:pPr indent="0" marL="0">
              <a:buNone/>
            </a:pPr>
            <a:r>
              <a:rPr lang="en-US" sz="1700" dirty="0">
                <a:solidFill>
                  <a:schemeClr val="tx1"/>
                </a:solidFill>
              </a:rPr>
              <a:t>kennzeichnet Konstruktoren</a:t>
            </a:r>
            <a:endParaRPr lang="en-US" sz="1700" dirty="0"/>
          </a:p>
        </p:txBody>
      </p:sp>
      <p:sp>
        <p:nvSpPr>
          <p:cNvPr id="13" name="Text 10"/>
          <p:cNvSpPr txBox="1"/>
          <p:nvPr/>
        </p:nvSpPr>
        <p:spPr>
          <a:xfrm>
            <a:off x="6858000" y="5166360"/>
            <a:ext cx="868680" cy="411480"/>
          </a:xfrm>
          <a:prstGeom prst="roundRect">
            <a:avLst>
              <a:gd name="adj" fmla="val 13333"/>
            </a:avLst>
          </a:prstGeom>
          <a:solidFill>
            <a:schemeClr val="bg2"/>
          </a:solidFill>
          <a:ln/>
        </p:spPr>
        <p:txBody>
          <a:bodyPr wrap="square" lIns="0" tIns="0" rIns="0" bIns="0" rtlCol="0" anchor="ctr"/>
          <a:lstStyle/>
          <a:p>
            <a:pPr algn="ctr" indent="0" marL="0">
              <a:buNone/>
            </a:pPr>
            <a:r>
              <a:rPr lang="en-US" sz="1700" b="1" dirty="0">
                <a:solidFill>
                  <a:schemeClr val="accent1"/>
                </a:solidFill>
                <a:latin typeface="Consolas" pitchFamily="34" charset="0"/>
                <a:ea typeface="Consolas" pitchFamily="34" charset="-122"/>
                <a:cs typeface="Consolas" pitchFamily="34" charset="-120"/>
              </a:rPr>
              <a:t>…</a:t>
            </a:r>
            <a:endParaRPr lang="en-US" sz="1700" dirty="0"/>
          </a:p>
        </p:txBody>
      </p:sp>
      <p:sp>
        <p:nvSpPr>
          <p:cNvPr id="14" name="Text 11"/>
          <p:cNvSpPr txBox="1"/>
          <p:nvPr/>
        </p:nvSpPr>
        <p:spPr>
          <a:xfrm>
            <a:off x="7863840" y="5166360"/>
            <a:ext cx="3749040" cy="411480"/>
          </a:xfrm>
          <a:prstGeom prst="rect">
            <a:avLst/>
          </a:prstGeom>
          <a:noFill/>
          <a:ln/>
        </p:spPr>
        <p:txBody>
          <a:bodyPr wrap="square" lIns="0" tIns="0" rIns="0" bIns="0" rtlCol="0" anchor="ctr"/>
          <a:lstStyle/>
          <a:p>
            <a:pPr indent="0" marL="0">
              <a:buNone/>
            </a:pPr>
            <a:r>
              <a:rPr lang="en-US" sz="1700" dirty="0">
                <a:solidFill>
                  <a:schemeClr val="tx1"/>
                </a:solidFill>
              </a:rPr>
              <a:t>nicht gezeigte Elemente</a:t>
            </a:r>
            <a:endParaRPr lang="en-US" sz="1700" dirty="0"/>
          </a:p>
        </p:txBody>
      </p:sp>
      <p:sp>
        <p:nvSpPr>
          <p:cNvPr id="15" name="Text 12"/>
          <p:cNvSpPr txBox="1"/>
          <p:nvPr/>
        </p:nvSpPr>
        <p:spPr>
          <a:xfrm>
            <a:off x="6858000" y="5669280"/>
            <a:ext cx="868680" cy="411480"/>
          </a:xfrm>
          <a:prstGeom prst="roundRect">
            <a:avLst>
              <a:gd name="adj" fmla="val 13333"/>
            </a:avLst>
          </a:prstGeom>
          <a:solidFill>
            <a:schemeClr val="bg2"/>
          </a:solidFill>
          <a:ln/>
        </p:spPr>
        <p:txBody>
          <a:bodyPr wrap="square" lIns="0" tIns="0" rIns="0" bIns="0" rtlCol="0" anchor="ctr"/>
          <a:lstStyle/>
          <a:p>
            <a:pPr algn="ctr" indent="0" marL="0">
              <a:buNone/>
            </a:pPr>
            <a:r>
              <a:rPr lang="en-US" sz="1700" b="1" dirty="0">
                <a:solidFill>
                  <a:schemeClr val="accent1"/>
                </a:solidFill>
                <a:latin typeface="Consolas" pitchFamily="34" charset="0"/>
                <a:ea typeface="Consolas" pitchFamily="34" charset="-122"/>
                <a:cs typeface="Consolas" pitchFamily="34" charset="-120"/>
              </a:rPr>
              <a:t>: Typ</a:t>
            </a:r>
            <a:endParaRPr lang="en-US" sz="1700" dirty="0"/>
          </a:p>
        </p:txBody>
      </p:sp>
      <p:sp>
        <p:nvSpPr>
          <p:cNvPr id="16" name="Text 13"/>
          <p:cNvSpPr txBox="1"/>
          <p:nvPr/>
        </p:nvSpPr>
        <p:spPr>
          <a:xfrm>
            <a:off x="7863840" y="5669280"/>
            <a:ext cx="3749040" cy="411480"/>
          </a:xfrm>
          <a:prstGeom prst="rect">
            <a:avLst/>
          </a:prstGeom>
          <a:noFill/>
          <a:ln/>
        </p:spPr>
        <p:txBody>
          <a:bodyPr wrap="square" lIns="0" tIns="0" rIns="0" bIns="0" rtlCol="0" anchor="ctr"/>
          <a:lstStyle/>
          <a:p>
            <a:pPr indent="0" marL="0">
              <a:buNone/>
            </a:pPr>
            <a:r>
              <a:rPr lang="en-US" sz="1700" dirty="0">
                <a:solidFill>
                  <a:schemeClr val="tx1"/>
                </a:solidFill>
              </a:rPr>
              <a:t>Typ hinter dem Doppelpunkt (deutsch)</a:t>
            </a:r>
            <a:endParaRPr lang="en-US" sz="17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Die Objektkarte: ein Objekt zur Laufzeit</a:t>
            </a:r>
            <a:endParaRPr lang="en-US" sz="3600" dirty="0"/>
          </a:p>
        </p:txBody>
      </p:sp>
      <p:sp>
        <p:nvSpPr>
          <p:cNvPr id="3" name="Code"/>
          <p:cNvSpPr txBox="1"/>
          <p:nvPr/>
        </p:nvSpPr>
        <p:spPr>
          <a:xfrm>
            <a:off x="548640" y="1371600"/>
            <a:ext cx="5120640" cy="1063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Held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aria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new</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Held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"Aria"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aria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nimmSchaden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(30);</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aria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erhalteGold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(15);</a:t>
            </a:r>
            <a:endParaRPr lang="en-US" sz="1600" dirty="0"/>
          </a:p>
        </p:txBody>
      </p:sp>
      <p:sp>
        <p:nvSpPr>
          <p:cNvPr id="4" name="Regeln Objektkarte"/>
          <p:cNvSpPr/>
          <p:nvPr/>
        </p:nvSpPr>
        <p:spPr>
          <a:xfrm>
            <a:off x="548640" y="2743200"/>
            <a:ext cx="5120640" cy="2697480"/>
          </a:xfrm>
          <a:prstGeom prst="roundRect">
            <a:avLst>
              <a:gd name="adj" fmla="val 4068"/>
            </a:avLst>
          </a:prstGeom>
          <a:solidFill>
            <a:schemeClr val="bg2"/>
          </a:solidFill>
          <a:ln/>
        </p:spPr>
      </p:sp>
      <p:sp>
        <p:nvSpPr>
          <p:cNvPr id="5" name="Text 3"/>
          <p:cNvSpPr txBox="1"/>
          <p:nvPr/>
        </p:nvSpPr>
        <p:spPr>
          <a:xfrm>
            <a:off x="777240" y="2880360"/>
            <a:ext cx="4754880" cy="2468880"/>
          </a:xfrm>
          <a:prstGeom prst="rect">
            <a:avLst/>
          </a:prstGeom>
          <a:noFill/>
          <a:ln/>
        </p:spPr>
        <p:txBody>
          <a:bodyPr wrap="square" lIns="0" tIns="0" rIns="0" bIns="0" rtlCol="0" anchor="t"/>
          <a:lstStyle/>
          <a:p>
            <a:pPr indent="0" marL="0">
              <a:spcAft>
                <a:spcPts val="600"/>
              </a:spcAft>
              <a:buNone/>
            </a:pPr>
            <a:r>
              <a:rPr lang="en-US" sz="2000" b="1" dirty="0">
                <a:solidFill>
                  <a:schemeClr val="accent1"/>
                </a:solidFill>
              </a:rPr>
              <a:t>So zeichnest du Objektkarten</a:t>
            </a:r>
            <a:endParaRPr lang="en-US" sz="1800" dirty="0"/>
          </a:p>
          <a:p>
            <a:pPr marL="342900" indent="-342900">
              <a:spcAft>
                <a:spcPts val="600"/>
              </a:spcAft>
              <a:buSzPct val="100000"/>
              <a:buChar char="•"/>
            </a:pPr>
            <a:r>
              <a:rPr lang="en-US" sz="1800" dirty="0">
                <a:solidFill>
                  <a:schemeClr val="tx1"/>
                </a:solidFill>
              </a:rPr>
              <a:t>Kopf: objektname: Klasse</a:t>
            </a:r>
            <a:endParaRPr lang="en-US" sz="1800" dirty="0"/>
          </a:p>
          <a:p>
            <a:pPr marL="342900" indent="-342900">
              <a:spcAft>
                <a:spcPts val="600"/>
              </a:spcAft>
              <a:buSzPct val="100000"/>
              <a:buChar char="•"/>
            </a:pPr>
            <a:r>
              <a:rPr lang="en-US" sz="1800" dirty="0">
                <a:solidFill>
                  <a:schemeClr val="tx1"/>
                </a:solidFill>
              </a:rPr>
              <a:t>aktuelle Werte statt Typen</a:t>
            </a:r>
            <a:endParaRPr lang="en-US" sz="1800" dirty="0"/>
          </a:p>
          <a:p>
            <a:pPr marL="342900" indent="-342900">
              <a:spcAft>
                <a:spcPts val="600"/>
              </a:spcAft>
              <a:buSzPct val="100000"/>
              <a:buChar char="•"/>
            </a:pPr>
            <a:r>
              <a:rPr lang="en-US" sz="1800" dirty="0">
                <a:solidFill>
                  <a:schemeClr val="tx1"/>
                </a:solidFill>
              </a:rPr>
              <a:t>Zeichenketten in Anführungszeichen</a:t>
            </a:r>
            <a:endParaRPr lang="en-US" sz="1800" dirty="0"/>
          </a:p>
          <a:p>
            <a:pPr marL="342900" indent="-342900">
              <a:spcAft>
                <a:spcPts val="600"/>
              </a:spcAft>
              <a:buSzPct val="100000"/>
              <a:buChar char="•"/>
            </a:pPr>
            <a:r>
              <a:rPr lang="en-US" sz="1800" dirty="0">
                <a:solidFill>
                  <a:schemeClr val="tx1"/>
                </a:solidFill>
              </a:rPr>
              <a:t>Referenz = Pfeil auf ein Objekt</a:t>
            </a:r>
            <a:endParaRPr lang="en-US" sz="1800" dirty="0"/>
          </a:p>
          <a:p>
            <a:pPr marL="342900" indent="-342900">
              <a:spcAft>
                <a:spcPts val="600"/>
              </a:spcAft>
              <a:buSzPct val="100000"/>
              <a:buChar char="•"/>
            </a:pPr>
            <a:r>
              <a:rPr lang="en-US" sz="1800" dirty="0">
                <a:solidFill>
                  <a:schemeClr val="tx1"/>
                </a:solidFill>
              </a:rPr>
              <a:t>keine Referenz: null</a:t>
            </a:r>
            <a:endParaRPr lang="en-US" sz="1800" dirty="0"/>
          </a:p>
        </p:txBody>
      </p:sp>
      <p:sp>
        <p:nvSpPr>
          <p:cNvPr id="6" name="Objektkarte aria: Held"/>
          <p:cNvSpPr/>
          <p:nvPr/>
        </p:nvSpPr>
        <p:spPr>
          <a:xfrm>
            <a:off x="6400800" y="1371600"/>
            <a:ext cx="3291840" cy="2615184"/>
          </a:xfrm>
          <a:prstGeom prst="roundRect">
            <a:avLst>
              <a:gd name="adj" fmla="val 2797"/>
            </a:avLst>
          </a:prstGeom>
          <a:solidFill>
            <a:schemeClr val="bg1"/>
          </a:solidFill>
          <a:ln w="22225">
            <a:solidFill>
              <a:schemeClr val="accent6"/>
            </a:solidFill>
            <a:prstDash val="solid"/>
          </a:ln>
        </p:spPr>
      </p:sp>
      <p:sp>
        <p:nvSpPr>
          <p:cNvPr id="7" name="Objektname aria: Held"/>
          <p:cNvSpPr txBox="1"/>
          <p:nvPr/>
        </p:nvSpPr>
        <p:spPr>
          <a:xfrm>
            <a:off x="6400800" y="1371600"/>
            <a:ext cx="3291840" cy="394208"/>
          </a:xfrm>
          <a:prstGeom prst="rect">
            <a:avLst/>
          </a:prstGeom>
          <a:noFill/>
          <a:ln/>
        </p:spPr>
        <p:txBody>
          <a:bodyPr wrap="square" lIns="0" tIns="0" rIns="0" bIns="0" rtlCol="0" anchor="ctr"/>
          <a:lstStyle/>
          <a:p>
            <a:pPr algn="ctr" indent="0" marL="0">
              <a:buNone/>
            </a:pPr>
            <a:r>
              <a:rPr lang="en-US" sz="1700" b="1" dirty="0">
                <a:solidFill>
                  <a:schemeClr val="accent1"/>
                </a:solidFill>
              </a:rPr>
              <a:t>aria: Held</a:t>
            </a:r>
            <a:endParaRPr lang="en-US" sz="1700" dirty="0"/>
          </a:p>
        </p:txBody>
      </p:sp>
      <p:sp>
        <p:nvSpPr>
          <p:cNvPr id="8" name="Linie"/>
          <p:cNvSpPr/>
          <p:nvPr/>
        </p:nvSpPr>
        <p:spPr>
          <a:xfrm>
            <a:off x="6400800" y="1765808"/>
            <a:ext cx="3291840" cy="91"/>
          </a:xfrm>
          <a:prstGeom prst="line">
            <a:avLst/>
          </a:prstGeom>
          <a:noFill/>
          <a:ln w="15875">
            <a:solidFill>
              <a:schemeClr val="accent6"/>
            </a:solidFill>
            <a:prstDash val="solid"/>
          </a:ln>
        </p:spPr>
      </p:sp>
      <p:sp>
        <p:nvSpPr>
          <p:cNvPr id="9" name="Objektwerte aria: Held"/>
          <p:cNvSpPr txBox="1"/>
          <p:nvPr/>
        </p:nvSpPr>
        <p:spPr>
          <a:xfrm>
            <a:off x="6400800" y="1765808"/>
            <a:ext cx="3291840" cy="2220976"/>
          </a:xfrm>
          <a:prstGeom prst="rect">
            <a:avLst/>
          </a:prstGeom>
          <a:noFill/>
          <a:ln/>
        </p:spPr>
        <p:txBody>
          <a:bodyPr wrap="square" lIns="128016" tIns="73152" rIns="73152" bIns="73152" rtlCol="0" anchor="t"/>
          <a:lstStyle/>
          <a:p>
            <a:pPr indent="0" marL="0">
              <a:lnSpc>
                <a:spcPts val="2000"/>
              </a:lnSpc>
              <a:buNone/>
            </a:pPr>
            <a:r>
              <a:rPr lang="en-US" sz="1600" dirty="0">
                <a:solidFill>
                  <a:schemeClr val="tx1"/>
                </a:solidFill>
              </a:rPr>
              <a:t>name = "Aria"</a:t>
            </a:r>
            <a:endParaRPr lang="en-US" sz="1600" dirty="0"/>
          </a:p>
          <a:p>
            <a:pPr indent="0" marL="0">
              <a:lnSpc>
                <a:spcPts val="2000"/>
              </a:lnSpc>
              <a:buNone/>
            </a:pPr>
            <a:r>
              <a:rPr lang="en-US" sz="1600" dirty="0">
                <a:solidFill>
                  <a:schemeClr val="tx1"/>
                </a:solidFill>
              </a:rPr>
              <a:t>leben = 70</a:t>
            </a:r>
            <a:endParaRPr lang="en-US" sz="1600" dirty="0"/>
          </a:p>
          <a:p>
            <a:pPr indent="0" marL="0">
              <a:lnSpc>
                <a:spcPts val="2000"/>
              </a:lnSpc>
              <a:buNone/>
            </a:pPr>
            <a:r>
              <a:rPr lang="en-US" sz="1600" dirty="0">
                <a:solidFill>
                  <a:schemeClr val="tx1"/>
                </a:solidFill>
              </a:rPr>
              <a:t>maxLeben = 100</a:t>
            </a:r>
            <a:endParaRPr lang="en-US" sz="1600" dirty="0"/>
          </a:p>
          <a:p>
            <a:pPr indent="0" marL="0">
              <a:lnSpc>
                <a:spcPts val="2000"/>
              </a:lnSpc>
              <a:buNone/>
            </a:pPr>
            <a:r>
              <a:rPr lang="en-US" sz="1600" dirty="0">
                <a:solidFill>
                  <a:schemeClr val="tx1"/>
                </a:solidFill>
              </a:rPr>
              <a:t>staerke = 10</a:t>
            </a:r>
            <a:endParaRPr lang="en-US" sz="1600" dirty="0"/>
          </a:p>
          <a:p>
            <a:pPr indent="0" marL="0">
              <a:lnSpc>
                <a:spcPts val="2000"/>
              </a:lnSpc>
              <a:buNone/>
            </a:pPr>
            <a:r>
              <a:rPr lang="en-US" sz="1600" dirty="0">
                <a:solidFill>
                  <a:schemeClr val="tx1"/>
                </a:solidFill>
              </a:rPr>
              <a:t>gold = 15</a:t>
            </a:r>
            <a:endParaRPr lang="en-US" sz="1600" dirty="0"/>
          </a:p>
          <a:p>
            <a:pPr indent="0" marL="0">
              <a:lnSpc>
                <a:spcPts val="2000"/>
              </a:lnSpc>
              <a:buNone/>
            </a:pPr>
            <a:r>
              <a:rPr lang="en-US" sz="1600" dirty="0">
                <a:solidFill>
                  <a:schemeClr val="tx1"/>
                </a:solidFill>
              </a:rPr>
              <a:t>inventar =</a:t>
            </a:r>
            <a:endParaRPr lang="en-US" sz="1600" dirty="0"/>
          </a:p>
          <a:p>
            <a:pPr indent="0" marL="0">
              <a:lnSpc>
                <a:spcPts val="2000"/>
              </a:lnSpc>
              <a:buNone/>
            </a:pPr>
            <a:r>
              <a:rPr lang="en-US" sz="1600" dirty="0">
                <a:solidFill>
                  <a:schemeClr val="tx1"/>
                </a:solidFill>
              </a:rPr>
              <a:t>anzahl = 0</a:t>
            </a:r>
            <a:endParaRPr lang="en-US" sz="1600" dirty="0"/>
          </a:p>
          <a:p>
            <a:pPr indent="0" marL="0">
              <a:lnSpc>
                <a:spcPts val="2000"/>
              </a:lnSpc>
              <a:buNone/>
            </a:pPr>
            <a:r>
              <a:rPr lang="en-US" sz="1600" dirty="0">
                <a:solidFill>
                  <a:schemeClr val="tx1"/>
                </a:solidFill>
              </a:rPr>
              <a:t>waffe = null</a:t>
            </a:r>
            <a:endParaRPr lang="en-US" sz="1600" dirty="0"/>
          </a:p>
        </p:txBody>
      </p:sp>
      <p:sp>
        <p:nvSpPr>
          <p:cNvPr id="10" name="Text 8"/>
          <p:cNvSpPr txBox="1"/>
          <p:nvPr/>
        </p:nvSpPr>
        <p:spPr>
          <a:xfrm>
            <a:off x="6400800" y="4572000"/>
            <a:ext cx="4206240" cy="347472"/>
          </a:xfrm>
          <a:prstGeom prst="rect">
            <a:avLst/>
          </a:prstGeom>
          <a:noFill/>
          <a:ln/>
        </p:spPr>
        <p:txBody>
          <a:bodyPr wrap="square" lIns="0" tIns="0" rIns="0" bIns="0" rtlCol="0" anchor="t"/>
          <a:lstStyle/>
          <a:p>
            <a:pPr indent="0" marL="0">
              <a:buNone/>
            </a:pPr>
            <a:r>
              <a:rPr lang="en-US" sz="1500" b="1" dirty="0">
                <a:solidFill>
                  <a:schemeClr val="accent6"/>
                </a:solidFill>
              </a:rPr>
              <a:t>Reihung von Gegenstand (Länge 5)</a:t>
            </a:r>
            <a:endParaRPr lang="en-US" sz="1500" dirty="0"/>
          </a:p>
        </p:txBody>
      </p:sp>
      <p:sp>
        <p:nvSpPr>
          <p:cNvPr id="11" name="Text 9"/>
          <p:cNvSpPr txBox="1"/>
          <p:nvPr/>
        </p:nvSpPr>
        <p:spPr>
          <a:xfrm>
            <a:off x="6400800" y="4983480"/>
            <a:ext cx="914400" cy="548640"/>
          </a:xfrm>
          <a:prstGeom prst="rect">
            <a:avLst/>
          </a:prstGeom>
          <a:solidFill>
            <a:schemeClr val="bg1"/>
          </a:solidFill>
          <a:ln w="19050">
            <a:solidFill>
              <a:schemeClr val="accent1"/>
            </a:solidFill>
          </a:ln>
        </p:spPr>
        <p:txBody>
          <a:bodyPr wrap="square" lIns="0" tIns="0" rIns="0" bIns="0" rtlCol="0" anchor="ctr"/>
          <a:lstStyle/>
          <a:p>
            <a:pPr algn="ctr" indent="0" marL="0">
              <a:buNone/>
            </a:pPr>
            <a:r>
              <a:rPr lang="en-US" sz="1500" dirty="0">
                <a:solidFill>
                  <a:schemeClr val="tx1"/>
                </a:solidFill>
                <a:latin typeface="Consolas" pitchFamily="34" charset="0"/>
                <a:ea typeface="Consolas" pitchFamily="34" charset="-122"/>
                <a:cs typeface="Consolas" pitchFamily="34" charset="-120"/>
              </a:rPr>
              <a:t>null</a:t>
            </a:r>
            <a:endParaRPr lang="en-US" sz="1500" dirty="0"/>
          </a:p>
        </p:txBody>
      </p:sp>
      <p:sp>
        <p:nvSpPr>
          <p:cNvPr id="12" name="Text 10"/>
          <p:cNvSpPr txBox="1"/>
          <p:nvPr/>
        </p:nvSpPr>
        <p:spPr>
          <a:xfrm>
            <a:off x="6400800" y="5550408"/>
            <a:ext cx="914400" cy="274320"/>
          </a:xfrm>
          <a:prstGeom prst="rect">
            <a:avLst/>
          </a:prstGeom>
          <a:noFill/>
          <a:ln/>
        </p:spPr>
        <p:txBody>
          <a:bodyPr wrap="square" lIns="0" tIns="0" rIns="0" bIns="0" rtlCol="0" anchor="t"/>
          <a:lstStyle/>
          <a:p>
            <a:pPr algn="ctr" indent="0" marL="0">
              <a:buNone/>
            </a:pPr>
            <a:r>
              <a:rPr lang="en-US" sz="1400" dirty="0">
                <a:solidFill>
                  <a:schemeClr val="accent6"/>
                </a:solidFill>
              </a:rPr>
              <a:t>0</a:t>
            </a:r>
            <a:endParaRPr lang="en-US" sz="1400" dirty="0"/>
          </a:p>
        </p:txBody>
      </p:sp>
      <p:sp>
        <p:nvSpPr>
          <p:cNvPr id="13" name="Text 11"/>
          <p:cNvSpPr txBox="1"/>
          <p:nvPr/>
        </p:nvSpPr>
        <p:spPr>
          <a:xfrm>
            <a:off x="7315200" y="4983480"/>
            <a:ext cx="914400" cy="548640"/>
          </a:xfrm>
          <a:prstGeom prst="rect">
            <a:avLst/>
          </a:prstGeom>
          <a:solidFill>
            <a:schemeClr val="bg1"/>
          </a:solidFill>
          <a:ln w="19050">
            <a:solidFill>
              <a:schemeClr val="accent1"/>
            </a:solidFill>
          </a:ln>
        </p:spPr>
        <p:txBody>
          <a:bodyPr wrap="square" lIns="0" tIns="0" rIns="0" bIns="0" rtlCol="0" anchor="ctr"/>
          <a:lstStyle/>
          <a:p>
            <a:pPr algn="ctr" indent="0" marL="0">
              <a:buNone/>
            </a:pPr>
            <a:r>
              <a:rPr lang="en-US" sz="1500" dirty="0">
                <a:solidFill>
                  <a:schemeClr val="tx1"/>
                </a:solidFill>
                <a:latin typeface="Consolas" pitchFamily="34" charset="0"/>
                <a:ea typeface="Consolas" pitchFamily="34" charset="-122"/>
                <a:cs typeface="Consolas" pitchFamily="34" charset="-120"/>
              </a:rPr>
              <a:t>null</a:t>
            </a:r>
            <a:endParaRPr lang="en-US" sz="1500" dirty="0"/>
          </a:p>
        </p:txBody>
      </p:sp>
      <p:sp>
        <p:nvSpPr>
          <p:cNvPr id="14" name="Text 12"/>
          <p:cNvSpPr txBox="1"/>
          <p:nvPr/>
        </p:nvSpPr>
        <p:spPr>
          <a:xfrm>
            <a:off x="7315200" y="5550408"/>
            <a:ext cx="914400" cy="274320"/>
          </a:xfrm>
          <a:prstGeom prst="rect">
            <a:avLst/>
          </a:prstGeom>
          <a:noFill/>
          <a:ln/>
        </p:spPr>
        <p:txBody>
          <a:bodyPr wrap="square" lIns="0" tIns="0" rIns="0" bIns="0" rtlCol="0" anchor="t"/>
          <a:lstStyle/>
          <a:p>
            <a:pPr algn="ctr" indent="0" marL="0">
              <a:buNone/>
            </a:pPr>
            <a:r>
              <a:rPr lang="en-US" sz="1400" dirty="0">
                <a:solidFill>
                  <a:schemeClr val="accent6"/>
                </a:solidFill>
              </a:rPr>
              <a:t>1</a:t>
            </a:r>
            <a:endParaRPr lang="en-US" sz="1400" dirty="0"/>
          </a:p>
        </p:txBody>
      </p:sp>
      <p:sp>
        <p:nvSpPr>
          <p:cNvPr id="15" name="Text 13"/>
          <p:cNvSpPr txBox="1"/>
          <p:nvPr/>
        </p:nvSpPr>
        <p:spPr>
          <a:xfrm>
            <a:off x="8229600" y="4983480"/>
            <a:ext cx="914400" cy="548640"/>
          </a:xfrm>
          <a:prstGeom prst="rect">
            <a:avLst/>
          </a:prstGeom>
          <a:solidFill>
            <a:schemeClr val="bg1"/>
          </a:solidFill>
          <a:ln w="19050">
            <a:solidFill>
              <a:schemeClr val="accent1"/>
            </a:solidFill>
          </a:ln>
        </p:spPr>
        <p:txBody>
          <a:bodyPr wrap="square" lIns="0" tIns="0" rIns="0" bIns="0" rtlCol="0" anchor="ctr"/>
          <a:lstStyle/>
          <a:p>
            <a:pPr algn="ctr" indent="0" marL="0">
              <a:buNone/>
            </a:pPr>
            <a:r>
              <a:rPr lang="en-US" sz="1500" dirty="0">
                <a:solidFill>
                  <a:schemeClr val="tx1"/>
                </a:solidFill>
                <a:latin typeface="Consolas" pitchFamily="34" charset="0"/>
                <a:ea typeface="Consolas" pitchFamily="34" charset="-122"/>
                <a:cs typeface="Consolas" pitchFamily="34" charset="-120"/>
              </a:rPr>
              <a:t>null</a:t>
            </a:r>
            <a:endParaRPr lang="en-US" sz="1500" dirty="0"/>
          </a:p>
        </p:txBody>
      </p:sp>
      <p:sp>
        <p:nvSpPr>
          <p:cNvPr id="16" name="Text 14"/>
          <p:cNvSpPr txBox="1"/>
          <p:nvPr/>
        </p:nvSpPr>
        <p:spPr>
          <a:xfrm>
            <a:off x="8229600" y="5550408"/>
            <a:ext cx="914400" cy="274320"/>
          </a:xfrm>
          <a:prstGeom prst="rect">
            <a:avLst/>
          </a:prstGeom>
          <a:noFill/>
          <a:ln/>
        </p:spPr>
        <p:txBody>
          <a:bodyPr wrap="square" lIns="0" tIns="0" rIns="0" bIns="0" rtlCol="0" anchor="t"/>
          <a:lstStyle/>
          <a:p>
            <a:pPr algn="ctr" indent="0" marL="0">
              <a:buNone/>
            </a:pPr>
            <a:r>
              <a:rPr lang="en-US" sz="1400" dirty="0">
                <a:solidFill>
                  <a:schemeClr val="accent6"/>
                </a:solidFill>
              </a:rPr>
              <a:t>2</a:t>
            </a:r>
            <a:endParaRPr lang="en-US" sz="1400" dirty="0"/>
          </a:p>
        </p:txBody>
      </p:sp>
      <p:sp>
        <p:nvSpPr>
          <p:cNvPr id="17" name="Text 15"/>
          <p:cNvSpPr txBox="1"/>
          <p:nvPr/>
        </p:nvSpPr>
        <p:spPr>
          <a:xfrm>
            <a:off x="9144000" y="4983480"/>
            <a:ext cx="914400" cy="548640"/>
          </a:xfrm>
          <a:prstGeom prst="rect">
            <a:avLst/>
          </a:prstGeom>
          <a:solidFill>
            <a:schemeClr val="bg1"/>
          </a:solidFill>
          <a:ln w="19050">
            <a:solidFill>
              <a:schemeClr val="accent1"/>
            </a:solidFill>
          </a:ln>
        </p:spPr>
        <p:txBody>
          <a:bodyPr wrap="square" lIns="0" tIns="0" rIns="0" bIns="0" rtlCol="0" anchor="ctr"/>
          <a:lstStyle/>
          <a:p>
            <a:pPr algn="ctr" indent="0" marL="0">
              <a:buNone/>
            </a:pPr>
            <a:r>
              <a:rPr lang="en-US" sz="1500" dirty="0">
                <a:solidFill>
                  <a:schemeClr val="tx1"/>
                </a:solidFill>
                <a:latin typeface="Consolas" pitchFamily="34" charset="0"/>
                <a:ea typeface="Consolas" pitchFamily="34" charset="-122"/>
                <a:cs typeface="Consolas" pitchFamily="34" charset="-120"/>
              </a:rPr>
              <a:t>null</a:t>
            </a:r>
            <a:endParaRPr lang="en-US" sz="1500" dirty="0"/>
          </a:p>
        </p:txBody>
      </p:sp>
      <p:sp>
        <p:nvSpPr>
          <p:cNvPr id="18" name="Text 16"/>
          <p:cNvSpPr txBox="1"/>
          <p:nvPr/>
        </p:nvSpPr>
        <p:spPr>
          <a:xfrm>
            <a:off x="9144000" y="5550408"/>
            <a:ext cx="914400" cy="274320"/>
          </a:xfrm>
          <a:prstGeom prst="rect">
            <a:avLst/>
          </a:prstGeom>
          <a:noFill/>
          <a:ln/>
        </p:spPr>
        <p:txBody>
          <a:bodyPr wrap="square" lIns="0" tIns="0" rIns="0" bIns="0" rtlCol="0" anchor="t"/>
          <a:lstStyle/>
          <a:p>
            <a:pPr algn="ctr" indent="0" marL="0">
              <a:buNone/>
            </a:pPr>
            <a:r>
              <a:rPr lang="en-US" sz="1400" dirty="0">
                <a:solidFill>
                  <a:schemeClr val="accent6"/>
                </a:solidFill>
              </a:rPr>
              <a:t>3</a:t>
            </a:r>
            <a:endParaRPr lang="en-US" sz="1400" dirty="0"/>
          </a:p>
        </p:txBody>
      </p:sp>
      <p:sp>
        <p:nvSpPr>
          <p:cNvPr id="19" name="Text 17"/>
          <p:cNvSpPr txBox="1"/>
          <p:nvPr/>
        </p:nvSpPr>
        <p:spPr>
          <a:xfrm>
            <a:off x="10058400" y="4983480"/>
            <a:ext cx="914400" cy="548640"/>
          </a:xfrm>
          <a:prstGeom prst="rect">
            <a:avLst/>
          </a:prstGeom>
          <a:solidFill>
            <a:schemeClr val="bg1"/>
          </a:solidFill>
          <a:ln w="19050">
            <a:solidFill>
              <a:schemeClr val="accent1"/>
            </a:solidFill>
          </a:ln>
        </p:spPr>
        <p:txBody>
          <a:bodyPr wrap="square" lIns="0" tIns="0" rIns="0" bIns="0" rtlCol="0" anchor="ctr"/>
          <a:lstStyle/>
          <a:p>
            <a:pPr algn="ctr" indent="0" marL="0">
              <a:buNone/>
            </a:pPr>
            <a:r>
              <a:rPr lang="en-US" sz="1500" dirty="0">
                <a:solidFill>
                  <a:schemeClr val="tx1"/>
                </a:solidFill>
                <a:latin typeface="Consolas" pitchFamily="34" charset="0"/>
                <a:ea typeface="Consolas" pitchFamily="34" charset="-122"/>
                <a:cs typeface="Consolas" pitchFamily="34" charset="-120"/>
              </a:rPr>
              <a:t>null</a:t>
            </a:r>
            <a:endParaRPr lang="en-US" sz="1500" dirty="0"/>
          </a:p>
        </p:txBody>
      </p:sp>
      <p:sp>
        <p:nvSpPr>
          <p:cNvPr id="20" name="Text 18"/>
          <p:cNvSpPr txBox="1"/>
          <p:nvPr/>
        </p:nvSpPr>
        <p:spPr>
          <a:xfrm>
            <a:off x="10058400" y="5550408"/>
            <a:ext cx="914400" cy="274320"/>
          </a:xfrm>
          <a:prstGeom prst="rect">
            <a:avLst/>
          </a:prstGeom>
          <a:noFill/>
          <a:ln/>
        </p:spPr>
        <p:txBody>
          <a:bodyPr wrap="square" lIns="0" tIns="0" rIns="0" bIns="0" rtlCol="0" anchor="t"/>
          <a:lstStyle/>
          <a:p>
            <a:pPr algn="ctr" indent="0" marL="0">
              <a:buNone/>
            </a:pPr>
            <a:r>
              <a:rPr lang="en-US" sz="1400" dirty="0">
                <a:solidFill>
                  <a:schemeClr val="accent6"/>
                </a:solidFill>
              </a:rPr>
              <a:t>4</a:t>
            </a:r>
            <a:endParaRPr lang="en-US" sz="1400" dirty="0"/>
          </a:p>
        </p:txBody>
      </p:sp>
      <p:sp>
        <p:nvSpPr>
          <p:cNvPr id="21" name="Referenz inventar"/>
          <p:cNvSpPr/>
          <p:nvPr/>
        </p:nvSpPr>
        <p:spPr>
          <a:xfrm>
            <a:off x="7589520" y="3138424"/>
            <a:ext cx="128016" cy="128016"/>
          </a:xfrm>
          <a:prstGeom prst="ellipse">
            <a:avLst/>
          </a:prstGeom>
          <a:solidFill>
            <a:schemeClr val="accent1"/>
          </a:solidFill>
          <a:ln/>
        </p:spPr>
      </p:sp>
      <p:sp>
        <p:nvSpPr>
          <p:cNvPr id="22" name="Linie"/>
          <p:cNvSpPr/>
          <p:nvPr/>
        </p:nvSpPr>
        <p:spPr>
          <a:xfrm>
            <a:off x="7653528" y="3202432"/>
            <a:ext cx="3593592" cy="91"/>
          </a:xfrm>
          <a:prstGeom prst="line">
            <a:avLst/>
          </a:prstGeom>
          <a:noFill/>
          <a:ln w="25400">
            <a:solidFill>
              <a:schemeClr val="accent1"/>
            </a:solidFill>
            <a:prstDash val="solid"/>
          </a:ln>
        </p:spPr>
      </p:sp>
      <p:sp>
        <p:nvSpPr>
          <p:cNvPr id="23" name="Linie"/>
          <p:cNvSpPr/>
          <p:nvPr/>
        </p:nvSpPr>
        <p:spPr>
          <a:xfrm>
            <a:off x="11247120" y="3202432"/>
            <a:ext cx="91" cy="2055368"/>
          </a:xfrm>
          <a:prstGeom prst="line">
            <a:avLst/>
          </a:prstGeom>
          <a:noFill/>
          <a:ln w="25400">
            <a:solidFill>
              <a:schemeClr val="accent1"/>
            </a:solidFill>
            <a:prstDash val="solid"/>
          </a:ln>
        </p:spPr>
      </p:sp>
      <p:sp>
        <p:nvSpPr>
          <p:cNvPr id="24" name="Linie"/>
          <p:cNvSpPr/>
          <p:nvPr/>
        </p:nvSpPr>
        <p:spPr>
          <a:xfrm flipH="1">
            <a:off x="11000232" y="5257800"/>
            <a:ext cx="246888" cy="91"/>
          </a:xfrm>
          <a:prstGeom prst="line">
            <a:avLst/>
          </a:prstGeom>
          <a:noFill/>
          <a:ln w="25400">
            <a:solidFill>
              <a:schemeClr val="accent1"/>
            </a:solidFill>
            <a:prstDash val="solid"/>
            <a:tailEnd type="triangle"/>
          </a:ln>
        </p:spPr>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Konstruktor, Überladen und this</a:t>
            </a:r>
            <a:endParaRPr lang="en-US" sz="3600" dirty="0"/>
          </a:p>
        </p:txBody>
      </p:sp>
      <p:sp>
        <p:nvSpPr>
          <p:cNvPr id="3" name="Code"/>
          <p:cNvSpPr txBox="1"/>
          <p:nvPr/>
        </p:nvSpPr>
        <p:spPr>
          <a:xfrm>
            <a:off x="548640" y="1325880"/>
            <a:ext cx="6949440" cy="3857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public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Held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String</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name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this</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name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name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maxLeben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100;</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leben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100;</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staerke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10;</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i="1" dirty="0">
                <a:solidFill>
                  <a:schemeClr val="accent3"/>
                </a:solidFill>
                <a:latin typeface="Consolas" pitchFamily="34" charset="0"/>
                <a:ea typeface="Consolas" pitchFamily="34" charset="-122"/>
                <a:cs typeface="Consolas" pitchFamily="34" charset="-120"/>
              </a:rPr>
              <a:t>// … gold, inventar, anzahl, waffe</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public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Held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String</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name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int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maxLeben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int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staerke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this</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name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name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this</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maxLeben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maxLeben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leben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maxLeben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this</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staerke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staerke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i="1" dirty="0">
                <a:solidFill>
                  <a:schemeClr val="accent3"/>
                </a:solidFill>
                <a:latin typeface="Consolas" pitchFamily="34" charset="0"/>
                <a:ea typeface="Consolas" pitchFamily="34" charset="-122"/>
                <a:cs typeface="Consolas" pitchFamily="34" charset="-120"/>
              </a:rPr>
              <a:t>// … gold, inventar, anzahl, waffe</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p:txBody>
      </p:sp>
      <p:sp>
        <p:nvSpPr>
          <p:cNvPr id="4" name="Achtung"/>
          <p:cNvSpPr/>
          <p:nvPr/>
        </p:nvSpPr>
        <p:spPr>
          <a:xfrm>
            <a:off x="548640" y="5366512"/>
            <a:ext cx="6949440" cy="548640"/>
          </a:xfrm>
          <a:prstGeom prst="roundRect">
            <a:avLst>
              <a:gd name="adj" fmla="val 20000"/>
            </a:avLst>
          </a:prstGeom>
          <a:solidFill>
            <a:schemeClr val="bg1"/>
          </a:solidFill>
          <a:ln w="25400">
            <a:solidFill>
              <a:schemeClr val="accent4"/>
            </a:solidFill>
            <a:prstDash val="solid"/>
          </a:ln>
        </p:spPr>
      </p:sp>
      <p:sp>
        <p:nvSpPr>
          <p:cNvPr id="5" name="Text 3"/>
          <p:cNvSpPr txBox="1"/>
          <p:nvPr/>
        </p:nvSpPr>
        <p:spPr>
          <a:xfrm>
            <a:off x="731520" y="5366512"/>
            <a:ext cx="6675120" cy="548640"/>
          </a:xfrm>
          <a:prstGeom prst="rect">
            <a:avLst/>
          </a:prstGeom>
          <a:noFill/>
          <a:ln/>
        </p:spPr>
        <p:txBody>
          <a:bodyPr wrap="square" lIns="0" tIns="0" rIns="0" bIns="0" rtlCol="0" anchor="ctr"/>
          <a:lstStyle/>
          <a:p>
            <a:pPr indent="0" marL="0">
              <a:buNone/>
            </a:pPr>
            <a:r>
              <a:rPr lang="en-US" sz="1800" b="1" dirty="0">
                <a:solidFill>
                  <a:schemeClr val="accent4"/>
                </a:solidFill>
              </a:rPr>
              <a:t>Achtung: </a:t>
            </a:r>
            <a:pPr indent="0" marL="0">
              <a:buNone/>
            </a:pPr>
            <a:r>
              <a:rPr lang="en-US" sz="1800" dirty="0">
                <a:solidFill>
                  <a:schemeClr val="tx1"/>
                </a:solidFill>
              </a:rPr>
              <a:t>Auch im zweiten Konstruktor das Inventar anlegen!</a:t>
            </a:r>
            <a:endParaRPr lang="en-US" sz="1800" dirty="0"/>
          </a:p>
        </p:txBody>
      </p:sp>
      <p:sp>
        <p:nvSpPr>
          <p:cNvPr id="6" name="Info Konstruktor"/>
          <p:cNvSpPr/>
          <p:nvPr/>
        </p:nvSpPr>
        <p:spPr>
          <a:xfrm>
            <a:off x="7863840" y="1325880"/>
            <a:ext cx="3749040" cy="1463040"/>
          </a:xfrm>
          <a:prstGeom prst="roundRect">
            <a:avLst>
              <a:gd name="adj" fmla="val 7500"/>
            </a:avLst>
          </a:prstGeom>
          <a:solidFill>
            <a:schemeClr val="bg1"/>
          </a:solidFill>
          <a:ln/>
          <a:effectLst>
            <a:outerShdw sx="100000" sy="100000" kx="0" ky="0" algn="bl" rotWithShape="0" blurRad="76200" dist="25400" dir="5400000">
              <a:srgbClr val="000000">
                <a:alpha val="18000"/>
              </a:srgbClr>
            </a:outerShdw>
          </a:effectLst>
        </p:spPr>
      </p:sp>
      <p:sp>
        <p:nvSpPr>
          <p:cNvPr id="7" name="Text 5"/>
          <p:cNvSpPr txBox="1"/>
          <p:nvPr/>
        </p:nvSpPr>
        <p:spPr>
          <a:xfrm>
            <a:off x="8046720" y="1435608"/>
            <a:ext cx="3429000" cy="1280160"/>
          </a:xfrm>
          <a:prstGeom prst="rect">
            <a:avLst/>
          </a:prstGeom>
          <a:noFill/>
          <a:ln/>
        </p:spPr>
        <p:txBody>
          <a:bodyPr wrap="square" lIns="0" tIns="0" rIns="0" bIns="0" rtlCol="0" anchor="t"/>
          <a:lstStyle/>
          <a:p>
            <a:pPr indent="0" marL="0">
              <a:buNone/>
            </a:pPr>
            <a:r>
              <a:rPr lang="en-US" sz="2000" b="1" dirty="0">
                <a:solidFill>
                  <a:schemeClr val="accent1"/>
                </a:solidFill>
              </a:rPr>
              <a:t>Konstruktor</a:t>
            </a:r>
            <a:endParaRPr lang="en-US" sz="1700" dirty="0"/>
          </a:p>
          <a:p>
            <a:pPr indent="0" marL="0">
              <a:buNone/>
            </a:pPr>
            <a:r>
              <a:rPr lang="en-US" sz="1700" dirty="0">
                <a:solidFill>
                  <a:schemeClr val="tx1"/>
                </a:solidFill>
              </a:rPr>
              <a:t>heißt wie die Klasse, hat keinen Rückgabetyp, wird mit new aufgerufen.</a:t>
            </a:r>
            <a:endParaRPr lang="en-US" sz="1700" dirty="0"/>
          </a:p>
        </p:txBody>
      </p:sp>
      <p:sp>
        <p:nvSpPr>
          <p:cNvPr id="8" name="Info Überladen"/>
          <p:cNvSpPr/>
          <p:nvPr/>
        </p:nvSpPr>
        <p:spPr>
          <a:xfrm>
            <a:off x="7863840" y="2926080"/>
            <a:ext cx="3749040" cy="1463040"/>
          </a:xfrm>
          <a:prstGeom prst="roundRect">
            <a:avLst>
              <a:gd name="adj" fmla="val 7500"/>
            </a:avLst>
          </a:prstGeom>
          <a:solidFill>
            <a:schemeClr val="bg1"/>
          </a:solidFill>
          <a:ln/>
          <a:effectLst>
            <a:outerShdw sx="100000" sy="100000" kx="0" ky="0" algn="bl" rotWithShape="0" blurRad="76200" dist="25400" dir="5400000">
              <a:srgbClr val="000000">
                <a:alpha val="18000"/>
              </a:srgbClr>
            </a:outerShdw>
          </a:effectLst>
        </p:spPr>
      </p:sp>
      <p:sp>
        <p:nvSpPr>
          <p:cNvPr id="9" name="Text 7"/>
          <p:cNvSpPr txBox="1"/>
          <p:nvPr/>
        </p:nvSpPr>
        <p:spPr>
          <a:xfrm>
            <a:off x="8046720" y="3035808"/>
            <a:ext cx="3429000" cy="1280160"/>
          </a:xfrm>
          <a:prstGeom prst="rect">
            <a:avLst/>
          </a:prstGeom>
          <a:noFill/>
          <a:ln/>
        </p:spPr>
        <p:txBody>
          <a:bodyPr wrap="square" lIns="0" tIns="0" rIns="0" bIns="0" rtlCol="0" anchor="t"/>
          <a:lstStyle/>
          <a:p>
            <a:pPr indent="0" marL="0">
              <a:buNone/>
            </a:pPr>
            <a:r>
              <a:rPr lang="en-US" sz="2000" b="1" dirty="0">
                <a:solidFill>
                  <a:schemeClr val="accent6"/>
                </a:solidFill>
              </a:rPr>
              <a:t>Überladen</a:t>
            </a:r>
            <a:endParaRPr lang="en-US" sz="1700" dirty="0"/>
          </a:p>
          <a:p>
            <a:pPr indent="0" marL="0">
              <a:buNone/>
            </a:pPr>
            <a:r>
              <a:rPr lang="en-US" sz="1700" dirty="0">
                <a:solidFill>
                  <a:schemeClr val="tx1"/>
                </a:solidFill>
              </a:rPr>
              <a:t>gleicher Name, andere Parameterliste:</a:t>
            </a:r>
            <a:endParaRPr lang="en-US" sz="1700" dirty="0"/>
          </a:p>
          <a:p>
            <a:pPr indent="0" marL="0">
              <a:buNone/>
            </a:pPr>
            <a:r>
              <a:rPr lang="en-US" sz="1500" dirty="0">
                <a:solidFill>
                  <a:schemeClr val="tx1"/>
                </a:solidFill>
                <a:latin typeface="Consolas" pitchFamily="34" charset="0"/>
                <a:ea typeface="Consolas" pitchFamily="34" charset="-122"/>
                <a:cs typeface="Consolas" pitchFamily="34" charset="-120"/>
              </a:rPr>
              <a:t>new Held("Aria")</a:t>
            </a:r>
            <a:endParaRPr lang="en-US" sz="1700" dirty="0"/>
          </a:p>
          <a:p>
            <a:pPr indent="0" marL="0">
              <a:buNone/>
            </a:pPr>
            <a:r>
              <a:rPr lang="en-US" sz="1500" dirty="0">
                <a:solidFill>
                  <a:schemeClr val="tx1"/>
                </a:solidFill>
                <a:latin typeface="Consolas" pitchFamily="34" charset="0"/>
                <a:ea typeface="Consolas" pitchFamily="34" charset="-122"/>
                <a:cs typeface="Consolas" pitchFamily="34" charset="-120"/>
              </a:rPr>
              <a:t>new Held("Brann", 80, 14)</a:t>
            </a:r>
            <a:endParaRPr lang="en-US" sz="1700" dirty="0"/>
          </a:p>
        </p:txBody>
      </p:sp>
      <p:sp>
        <p:nvSpPr>
          <p:cNvPr id="10" name="Info this"/>
          <p:cNvSpPr/>
          <p:nvPr/>
        </p:nvSpPr>
        <p:spPr>
          <a:xfrm>
            <a:off x="7863840" y="4526280"/>
            <a:ext cx="3749040" cy="1463040"/>
          </a:xfrm>
          <a:prstGeom prst="roundRect">
            <a:avLst>
              <a:gd name="adj" fmla="val 7500"/>
            </a:avLst>
          </a:prstGeom>
          <a:solidFill>
            <a:schemeClr val="bg1"/>
          </a:solidFill>
          <a:ln/>
          <a:effectLst>
            <a:outerShdw sx="100000" sy="100000" kx="0" ky="0" algn="bl" rotWithShape="0" blurRad="76200" dist="25400" dir="5400000">
              <a:srgbClr val="000000">
                <a:alpha val="18000"/>
              </a:srgbClr>
            </a:outerShdw>
          </a:effectLst>
        </p:spPr>
      </p:sp>
      <p:sp>
        <p:nvSpPr>
          <p:cNvPr id="11" name="Text 9"/>
          <p:cNvSpPr txBox="1"/>
          <p:nvPr/>
        </p:nvSpPr>
        <p:spPr>
          <a:xfrm>
            <a:off x="8046720" y="4636008"/>
            <a:ext cx="3429000" cy="1280160"/>
          </a:xfrm>
          <a:prstGeom prst="rect">
            <a:avLst/>
          </a:prstGeom>
          <a:noFill/>
          <a:ln/>
        </p:spPr>
        <p:txBody>
          <a:bodyPr wrap="square" lIns="0" tIns="0" rIns="0" bIns="0" rtlCol="0" anchor="t"/>
          <a:lstStyle/>
          <a:p>
            <a:pPr indent="0" marL="0">
              <a:buNone/>
            </a:pPr>
            <a:r>
              <a:rPr lang="en-US" sz="2000" b="1" dirty="0">
                <a:solidFill>
                  <a:schemeClr val="accent3"/>
                </a:solidFill>
              </a:rPr>
              <a:t>this</a:t>
            </a:r>
            <a:endParaRPr lang="en-US" sz="1700" dirty="0"/>
          </a:p>
          <a:p>
            <a:pPr indent="0" marL="0">
              <a:buNone/>
            </a:pPr>
            <a:r>
              <a:rPr lang="en-US" sz="1500" b="1" dirty="0">
                <a:solidFill>
                  <a:schemeClr val="tx1"/>
                </a:solidFill>
                <a:latin typeface="Consolas" pitchFamily="34" charset="0"/>
                <a:ea typeface="Consolas" pitchFamily="34" charset="-122"/>
                <a:cs typeface="Consolas" pitchFamily="34" charset="-120"/>
              </a:rPr>
              <a:t>this.name</a:t>
            </a:r>
            <a:pPr indent="0" marL="0">
              <a:buNone/>
            </a:pPr>
            <a:r>
              <a:rPr lang="en-US" sz="1700" dirty="0">
                <a:solidFill>
                  <a:schemeClr val="tx1"/>
                </a:solidFill>
              </a:rPr>
              <a:t> = Attribut</a:t>
            </a:r>
            <a:endParaRPr lang="en-US" sz="1700" dirty="0"/>
          </a:p>
          <a:p>
            <a:pPr indent="0" marL="0">
              <a:buNone/>
            </a:pPr>
            <a:r>
              <a:rPr lang="en-US" sz="1500" b="1" dirty="0">
                <a:solidFill>
                  <a:schemeClr val="tx1"/>
                </a:solidFill>
                <a:latin typeface="Consolas" pitchFamily="34" charset="0"/>
                <a:ea typeface="Consolas" pitchFamily="34" charset="-122"/>
                <a:cs typeface="Consolas" pitchFamily="34" charset="-120"/>
              </a:rPr>
              <a:t>name</a:t>
            </a:r>
            <a:pPr indent="0" marL="0">
              <a:buNone/>
            </a:pPr>
            <a:r>
              <a:rPr lang="en-US" sz="1700" dirty="0">
                <a:solidFill>
                  <a:schemeClr val="tx1"/>
                </a:solidFill>
              </a:rPr>
              <a:t> = Parameter</a:t>
            </a:r>
            <a:endParaRPr lang="en-US" sz="17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Referenzen und null</a:t>
            </a:r>
            <a:endParaRPr lang="en-US" sz="3600" dirty="0"/>
          </a:p>
        </p:txBody>
      </p:sp>
      <p:sp>
        <p:nvSpPr>
          <p:cNvPr id="3" name="Code"/>
          <p:cNvSpPr txBox="1"/>
          <p:nvPr/>
        </p:nvSpPr>
        <p:spPr>
          <a:xfrm>
            <a:off x="548640" y="1325880"/>
            <a:ext cx="5394960" cy="1317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Held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new</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Held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"Brann"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Held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b</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b</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nimmSchaden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(30);</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println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getLeben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i="1" dirty="0">
                <a:solidFill>
                  <a:schemeClr val="accent3"/>
                </a:solidFill>
                <a:latin typeface="Consolas" pitchFamily="34" charset="0"/>
                <a:ea typeface="Consolas" pitchFamily="34" charset="-122"/>
                <a:cs typeface="Consolas" pitchFamily="34" charset="-120"/>
              </a:rPr>
              <a:t>// ?</a:t>
            </a:r>
            <a:endParaRPr lang="en-US" sz="1600" dirty="0"/>
          </a:p>
        </p:txBody>
      </p:sp>
      <p:sp>
        <p:nvSpPr>
          <p:cNvPr id="4" name="Text 2"/>
          <p:cNvSpPr txBox="1"/>
          <p:nvPr/>
        </p:nvSpPr>
        <p:spPr>
          <a:xfrm>
            <a:off x="5806440" y="1463040"/>
            <a:ext cx="1051560" cy="457200"/>
          </a:xfrm>
          <a:prstGeom prst="rect">
            <a:avLst/>
          </a:prstGeom>
          <a:noFill/>
          <a:ln/>
        </p:spPr>
        <p:txBody>
          <a:bodyPr wrap="square" lIns="0" tIns="0" rIns="0" bIns="0" rtlCol="0" anchor="ctr"/>
          <a:lstStyle/>
          <a:p>
            <a:pPr algn="r" indent="0" marL="0">
              <a:buNone/>
            </a:pPr>
            <a:r>
              <a:rPr lang="en-US" sz="1800" b="1" dirty="0">
                <a:solidFill>
                  <a:schemeClr val="accent1"/>
                </a:solidFill>
                <a:latin typeface="Consolas" pitchFamily="34" charset="0"/>
                <a:ea typeface="Consolas" pitchFamily="34" charset="-122"/>
                <a:cs typeface="Consolas" pitchFamily="34" charset="-120"/>
              </a:rPr>
              <a:t>a</a:t>
            </a:r>
            <a:endParaRPr lang="en-US" sz="1800" dirty="0"/>
          </a:p>
        </p:txBody>
      </p:sp>
      <p:sp>
        <p:nvSpPr>
          <p:cNvPr id="5" name="Variable a"/>
          <p:cNvSpPr/>
          <p:nvPr/>
        </p:nvSpPr>
        <p:spPr>
          <a:xfrm>
            <a:off x="6949440" y="1463040"/>
            <a:ext cx="502920" cy="457200"/>
          </a:xfrm>
          <a:prstGeom prst="rect">
            <a:avLst/>
          </a:prstGeom>
          <a:solidFill>
            <a:schemeClr val="bg1"/>
          </a:solidFill>
          <a:ln w="22225">
            <a:solidFill>
              <a:schemeClr val="accent1"/>
            </a:solidFill>
            <a:prstDash val="solid"/>
          </a:ln>
        </p:spPr>
      </p:sp>
      <p:sp>
        <p:nvSpPr>
          <p:cNvPr id="6" name="Referenzpunkt a"/>
          <p:cNvSpPr/>
          <p:nvPr/>
        </p:nvSpPr>
        <p:spPr>
          <a:xfrm>
            <a:off x="7141464" y="1636776"/>
            <a:ext cx="118872" cy="118872"/>
          </a:xfrm>
          <a:prstGeom prst="ellipse">
            <a:avLst/>
          </a:prstGeom>
          <a:solidFill>
            <a:schemeClr val="accent1"/>
          </a:solidFill>
          <a:ln/>
        </p:spPr>
      </p:sp>
      <p:sp>
        <p:nvSpPr>
          <p:cNvPr id="7" name="Text 5"/>
          <p:cNvSpPr txBox="1"/>
          <p:nvPr/>
        </p:nvSpPr>
        <p:spPr>
          <a:xfrm>
            <a:off x="5806440" y="2468880"/>
            <a:ext cx="1051560" cy="457200"/>
          </a:xfrm>
          <a:prstGeom prst="rect">
            <a:avLst/>
          </a:prstGeom>
          <a:noFill/>
          <a:ln/>
        </p:spPr>
        <p:txBody>
          <a:bodyPr wrap="square" lIns="0" tIns="0" rIns="0" bIns="0" rtlCol="0" anchor="ctr"/>
          <a:lstStyle/>
          <a:p>
            <a:pPr algn="r" indent="0" marL="0">
              <a:buNone/>
            </a:pPr>
            <a:r>
              <a:rPr lang="en-US" sz="1800" b="1" dirty="0">
                <a:solidFill>
                  <a:schemeClr val="accent1"/>
                </a:solidFill>
                <a:latin typeface="Consolas" pitchFamily="34" charset="0"/>
                <a:ea typeface="Consolas" pitchFamily="34" charset="-122"/>
                <a:cs typeface="Consolas" pitchFamily="34" charset="-120"/>
              </a:rPr>
              <a:t>b</a:t>
            </a:r>
            <a:endParaRPr lang="en-US" sz="1800" dirty="0"/>
          </a:p>
        </p:txBody>
      </p:sp>
      <p:sp>
        <p:nvSpPr>
          <p:cNvPr id="8" name="Variable b"/>
          <p:cNvSpPr/>
          <p:nvPr/>
        </p:nvSpPr>
        <p:spPr>
          <a:xfrm>
            <a:off x="6949440" y="2468880"/>
            <a:ext cx="502920" cy="457200"/>
          </a:xfrm>
          <a:prstGeom prst="rect">
            <a:avLst/>
          </a:prstGeom>
          <a:solidFill>
            <a:schemeClr val="bg1"/>
          </a:solidFill>
          <a:ln w="22225">
            <a:solidFill>
              <a:schemeClr val="accent1"/>
            </a:solidFill>
            <a:prstDash val="solid"/>
          </a:ln>
        </p:spPr>
      </p:sp>
      <p:sp>
        <p:nvSpPr>
          <p:cNvPr id="9" name="Referenzpunkt b"/>
          <p:cNvSpPr/>
          <p:nvPr/>
        </p:nvSpPr>
        <p:spPr>
          <a:xfrm>
            <a:off x="7141464" y="2642616"/>
            <a:ext cx="118872" cy="118872"/>
          </a:xfrm>
          <a:prstGeom prst="ellipse">
            <a:avLst/>
          </a:prstGeom>
          <a:solidFill>
            <a:schemeClr val="accent1"/>
          </a:solidFill>
          <a:ln/>
        </p:spPr>
      </p:sp>
      <p:sp>
        <p:nvSpPr>
          <p:cNvPr id="10" name="Objektkarte : Held"/>
          <p:cNvSpPr/>
          <p:nvPr/>
        </p:nvSpPr>
        <p:spPr>
          <a:xfrm>
            <a:off x="8503920" y="1325880"/>
            <a:ext cx="3108960" cy="1375664"/>
          </a:xfrm>
          <a:prstGeom prst="roundRect">
            <a:avLst>
              <a:gd name="adj" fmla="val 5318"/>
            </a:avLst>
          </a:prstGeom>
          <a:solidFill>
            <a:schemeClr val="bg1"/>
          </a:solidFill>
          <a:ln w="22225">
            <a:solidFill>
              <a:schemeClr val="accent6"/>
            </a:solidFill>
            <a:prstDash val="solid"/>
          </a:ln>
        </p:spPr>
      </p:sp>
      <p:sp>
        <p:nvSpPr>
          <p:cNvPr id="11" name="Objektname : Held"/>
          <p:cNvSpPr txBox="1"/>
          <p:nvPr/>
        </p:nvSpPr>
        <p:spPr>
          <a:xfrm>
            <a:off x="8503920" y="1325880"/>
            <a:ext cx="3108960" cy="394208"/>
          </a:xfrm>
          <a:prstGeom prst="rect">
            <a:avLst/>
          </a:prstGeom>
          <a:noFill/>
          <a:ln/>
        </p:spPr>
        <p:txBody>
          <a:bodyPr wrap="square" lIns="0" tIns="0" rIns="0" bIns="0" rtlCol="0" anchor="ctr"/>
          <a:lstStyle/>
          <a:p>
            <a:pPr algn="ctr" indent="0" marL="0">
              <a:buNone/>
            </a:pPr>
            <a:r>
              <a:rPr lang="en-US" sz="1700" b="1" dirty="0">
                <a:solidFill>
                  <a:schemeClr val="accent1"/>
                </a:solidFill>
              </a:rPr>
              <a:t>: Held</a:t>
            </a:r>
            <a:endParaRPr lang="en-US" sz="1700" dirty="0"/>
          </a:p>
        </p:txBody>
      </p:sp>
      <p:sp>
        <p:nvSpPr>
          <p:cNvPr id="12" name="Linie"/>
          <p:cNvSpPr/>
          <p:nvPr/>
        </p:nvSpPr>
        <p:spPr>
          <a:xfrm>
            <a:off x="8503920" y="1720088"/>
            <a:ext cx="3108960" cy="91"/>
          </a:xfrm>
          <a:prstGeom prst="line">
            <a:avLst/>
          </a:prstGeom>
          <a:noFill/>
          <a:ln w="15875">
            <a:solidFill>
              <a:schemeClr val="accent6"/>
            </a:solidFill>
            <a:prstDash val="solid"/>
          </a:ln>
        </p:spPr>
      </p:sp>
      <p:sp>
        <p:nvSpPr>
          <p:cNvPr id="13" name="Objektwerte : Held"/>
          <p:cNvSpPr txBox="1"/>
          <p:nvPr/>
        </p:nvSpPr>
        <p:spPr>
          <a:xfrm>
            <a:off x="8503920" y="1720088"/>
            <a:ext cx="3108960" cy="981456"/>
          </a:xfrm>
          <a:prstGeom prst="rect">
            <a:avLst/>
          </a:prstGeom>
          <a:noFill/>
          <a:ln/>
        </p:spPr>
        <p:txBody>
          <a:bodyPr wrap="square" lIns="128016" tIns="73152" rIns="73152" bIns="73152" rtlCol="0" anchor="t"/>
          <a:lstStyle/>
          <a:p>
            <a:pPr indent="0" marL="0">
              <a:lnSpc>
                <a:spcPts val="2000"/>
              </a:lnSpc>
              <a:buNone/>
            </a:pPr>
            <a:r>
              <a:rPr lang="en-US" sz="1600" dirty="0">
                <a:solidFill>
                  <a:schemeClr val="tx1"/>
                </a:solidFill>
              </a:rPr>
              <a:t>name = "Brann"</a:t>
            </a:r>
            <a:endParaRPr lang="en-US" sz="1600" dirty="0"/>
          </a:p>
          <a:p>
            <a:pPr indent="0" marL="0">
              <a:lnSpc>
                <a:spcPts val="2000"/>
              </a:lnSpc>
              <a:buNone/>
            </a:pPr>
            <a:r>
              <a:rPr lang="en-US" sz="1600" dirty="0">
                <a:solidFill>
                  <a:schemeClr val="tx1"/>
                </a:solidFill>
              </a:rPr>
              <a:t>leben = 70</a:t>
            </a:r>
            <a:endParaRPr lang="en-US" sz="1600" dirty="0"/>
          </a:p>
          <a:p>
            <a:pPr indent="0" marL="0">
              <a:lnSpc>
                <a:spcPts val="2000"/>
              </a:lnSpc>
              <a:buNone/>
            </a:pPr>
            <a:r>
              <a:rPr lang="en-US" sz="1600" dirty="0">
                <a:solidFill>
                  <a:schemeClr val="tx1"/>
                </a:solidFill>
              </a:rPr>
              <a:t>…</a:t>
            </a:r>
            <a:endParaRPr lang="en-US" sz="1600" dirty="0"/>
          </a:p>
        </p:txBody>
      </p:sp>
      <p:sp>
        <p:nvSpPr>
          <p:cNvPr id="14" name="Linie"/>
          <p:cNvSpPr/>
          <p:nvPr/>
        </p:nvSpPr>
        <p:spPr>
          <a:xfrm>
            <a:off x="7200900" y="1691640"/>
            <a:ext cx="1275588" cy="137160"/>
          </a:xfrm>
          <a:prstGeom prst="line">
            <a:avLst/>
          </a:prstGeom>
          <a:noFill/>
          <a:ln w="28575">
            <a:solidFill>
              <a:schemeClr val="accent1"/>
            </a:solidFill>
            <a:prstDash val="solid"/>
            <a:tailEnd type="triangle"/>
          </a:ln>
        </p:spPr>
      </p:sp>
      <p:sp>
        <p:nvSpPr>
          <p:cNvPr id="15" name="Linie"/>
          <p:cNvSpPr/>
          <p:nvPr/>
        </p:nvSpPr>
        <p:spPr>
          <a:xfrm flipV="1">
            <a:off x="7200900" y="2286000"/>
            <a:ext cx="1275588" cy="411480"/>
          </a:xfrm>
          <a:prstGeom prst="line">
            <a:avLst/>
          </a:prstGeom>
          <a:noFill/>
          <a:ln w="28575">
            <a:solidFill>
              <a:schemeClr val="accent1"/>
            </a:solidFill>
            <a:prstDash val="solid"/>
            <a:tailEnd type="triangle"/>
          </a:ln>
        </p:spPr>
      </p:sp>
      <p:sp>
        <p:nvSpPr>
          <p:cNvPr id="16" name="Aufloesung"/>
          <p:cNvSpPr/>
          <p:nvPr/>
        </p:nvSpPr>
        <p:spPr>
          <a:xfrm>
            <a:off x="548640" y="3200400"/>
            <a:ext cx="11064240" cy="685800"/>
          </a:xfrm>
          <a:prstGeom prst="roundRect">
            <a:avLst>
              <a:gd name="adj" fmla="val 16000"/>
            </a:avLst>
          </a:prstGeom>
          <a:solidFill>
            <a:schemeClr val="bg1"/>
          </a:solidFill>
          <a:ln w="25400">
            <a:solidFill>
              <a:schemeClr val="accent3"/>
            </a:solidFill>
            <a:prstDash val="solid"/>
          </a:ln>
        </p:spPr>
      </p:sp>
      <p:sp>
        <p:nvSpPr>
          <p:cNvPr id="17" name="Text 15"/>
          <p:cNvSpPr txBox="1"/>
          <p:nvPr/>
        </p:nvSpPr>
        <p:spPr>
          <a:xfrm>
            <a:off x="777240" y="3200400"/>
            <a:ext cx="10698480" cy="685800"/>
          </a:xfrm>
          <a:prstGeom prst="rect">
            <a:avLst/>
          </a:prstGeom>
          <a:noFill/>
          <a:ln/>
        </p:spPr>
        <p:txBody>
          <a:bodyPr wrap="square" lIns="0" tIns="0" rIns="0" bIns="0" rtlCol="0" anchor="ctr"/>
          <a:lstStyle/>
          <a:p>
            <a:pPr indent="0" marL="0">
              <a:buNone/>
            </a:pPr>
            <a:r>
              <a:rPr lang="en-US" sz="1900" b="1" dirty="0">
                <a:solidFill>
                  <a:schemeClr val="accent3"/>
                </a:solidFill>
              </a:rPr>
              <a:t>Ausgabe: 70 </a:t>
            </a:r>
            <a:pPr indent="0" marL="0">
              <a:buNone/>
            </a:pPr>
            <a:r>
              <a:rPr lang="en-US" sz="1900" dirty="0">
                <a:solidFill>
                  <a:schemeClr val="tx1"/>
                </a:solidFill>
              </a:rPr>
              <a:t>– </a:t>
            </a:r>
            <a:pPr indent="0" marL="0">
              <a:buNone/>
            </a:pPr>
            <a:r>
              <a:rPr lang="en-US" sz="1700" dirty="0">
                <a:solidFill>
                  <a:schemeClr val="tx1"/>
                </a:solidFill>
                <a:latin typeface="Consolas" pitchFamily="34" charset="0"/>
                <a:ea typeface="Consolas" pitchFamily="34" charset="-122"/>
                <a:cs typeface="Consolas" pitchFamily="34" charset="-120"/>
              </a:rPr>
              <a:t>Held b = a;</a:t>
            </a:r>
            <a:pPr indent="0" marL="0">
              <a:buNone/>
            </a:pPr>
            <a:r>
              <a:rPr lang="en-US" sz="1900" dirty="0">
                <a:solidFill>
                  <a:schemeClr val="tx1"/>
                </a:solidFill>
              </a:rPr>
              <a:t> kopiert nur die Referenz. a und b zeigen auf dasselbe Objekt.</a:t>
            </a:r>
            <a:endParaRPr lang="en-US" sz="1900" dirty="0"/>
          </a:p>
        </p:txBody>
      </p:sp>
      <p:sp>
        <p:nvSpPr>
          <p:cNvPr id="18" name="Code"/>
          <p:cNvSpPr txBox="1"/>
          <p:nvPr/>
        </p:nvSpPr>
        <p:spPr>
          <a:xfrm>
            <a:off x="548640" y="4160520"/>
            <a:ext cx="5760720" cy="1571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000"/>
              </a:lnSpc>
              <a:buNone/>
            </a:pPr>
            <a:r>
              <a:rPr lang="en-US" sz="1600" i="1" dirty="0">
                <a:solidFill>
                  <a:schemeClr val="accent3"/>
                </a:solidFill>
                <a:latin typeface="Consolas" pitchFamily="34" charset="0"/>
                <a:ea typeface="Consolas" pitchFamily="34" charset="-122"/>
                <a:cs typeface="Consolas" pitchFamily="34" charset="-120"/>
              </a:rPr>
              <a:t>// in Held: waffe ist anfangs null</a:t>
            </a:r>
            <a:endParaRPr lang="en-US" sz="1600" dirty="0"/>
          </a:p>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if</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waffe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null</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return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staerke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return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staerke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waffe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getSchaden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p:txBody>
      </p:sp>
      <p:sp>
        <p:nvSpPr>
          <p:cNvPr id="19" name="Text 17"/>
          <p:cNvSpPr txBox="1"/>
          <p:nvPr/>
        </p:nvSpPr>
        <p:spPr>
          <a:xfrm>
            <a:off x="6537960" y="4343400"/>
            <a:ext cx="1051560" cy="457200"/>
          </a:xfrm>
          <a:prstGeom prst="rect">
            <a:avLst/>
          </a:prstGeom>
          <a:noFill/>
          <a:ln/>
        </p:spPr>
        <p:txBody>
          <a:bodyPr wrap="square" lIns="0" tIns="0" rIns="0" bIns="0" rtlCol="0" anchor="ctr"/>
          <a:lstStyle/>
          <a:p>
            <a:pPr algn="r" indent="0" marL="0">
              <a:buNone/>
            </a:pPr>
            <a:r>
              <a:rPr lang="en-US" sz="1800" b="1" dirty="0">
                <a:solidFill>
                  <a:schemeClr val="accent1"/>
                </a:solidFill>
                <a:latin typeface="Consolas" pitchFamily="34" charset="0"/>
                <a:ea typeface="Consolas" pitchFamily="34" charset="-122"/>
                <a:cs typeface="Consolas" pitchFamily="34" charset="-120"/>
              </a:rPr>
              <a:t>waffe</a:t>
            </a:r>
            <a:endParaRPr lang="en-US" sz="1800" dirty="0"/>
          </a:p>
        </p:txBody>
      </p:sp>
      <p:sp>
        <p:nvSpPr>
          <p:cNvPr id="20" name="Variable waffe"/>
          <p:cNvSpPr/>
          <p:nvPr/>
        </p:nvSpPr>
        <p:spPr>
          <a:xfrm>
            <a:off x="7680960" y="4343400"/>
            <a:ext cx="502920" cy="457200"/>
          </a:xfrm>
          <a:prstGeom prst="rect">
            <a:avLst/>
          </a:prstGeom>
          <a:solidFill>
            <a:schemeClr val="bg1"/>
          </a:solidFill>
          <a:ln w="22225">
            <a:solidFill>
              <a:schemeClr val="accent1"/>
            </a:solidFill>
            <a:prstDash val="solid"/>
          </a:ln>
        </p:spPr>
      </p:sp>
      <p:sp>
        <p:nvSpPr>
          <p:cNvPr id="21" name="Referenzpunkt waffe"/>
          <p:cNvSpPr/>
          <p:nvPr/>
        </p:nvSpPr>
        <p:spPr>
          <a:xfrm>
            <a:off x="7872984" y="4517136"/>
            <a:ext cx="118872" cy="118872"/>
          </a:xfrm>
          <a:prstGeom prst="ellipse">
            <a:avLst/>
          </a:prstGeom>
          <a:solidFill>
            <a:schemeClr val="accent1"/>
          </a:solidFill>
          <a:ln/>
        </p:spPr>
      </p:sp>
      <p:sp>
        <p:nvSpPr>
          <p:cNvPr id="22" name="Text 20"/>
          <p:cNvSpPr txBox="1"/>
          <p:nvPr/>
        </p:nvSpPr>
        <p:spPr>
          <a:xfrm>
            <a:off x="8366760" y="4343400"/>
            <a:ext cx="914400" cy="457200"/>
          </a:xfrm>
          <a:prstGeom prst="rect">
            <a:avLst/>
          </a:prstGeom>
          <a:noFill/>
          <a:ln/>
        </p:spPr>
        <p:txBody>
          <a:bodyPr wrap="square" lIns="0" tIns="0" rIns="0" bIns="0" rtlCol="0" anchor="ctr"/>
          <a:lstStyle/>
          <a:p>
            <a:pPr indent="0" marL="0">
              <a:buNone/>
            </a:pPr>
            <a:r>
              <a:rPr lang="en-US" sz="1800" b="1" dirty="0">
                <a:solidFill>
                  <a:schemeClr val="accent4"/>
                </a:solidFill>
                <a:latin typeface="Consolas" pitchFamily="34" charset="0"/>
                <a:ea typeface="Consolas" pitchFamily="34" charset="-122"/>
                <a:cs typeface="Consolas" pitchFamily="34" charset="-120"/>
              </a:rPr>
              <a:t>null</a:t>
            </a:r>
            <a:endParaRPr lang="en-US" sz="1800" dirty="0"/>
          </a:p>
        </p:txBody>
      </p:sp>
      <p:sp>
        <p:nvSpPr>
          <p:cNvPr id="23" name="Text 21"/>
          <p:cNvSpPr txBox="1"/>
          <p:nvPr/>
        </p:nvSpPr>
        <p:spPr>
          <a:xfrm>
            <a:off x="6675120" y="4983480"/>
            <a:ext cx="4937760" cy="1097280"/>
          </a:xfrm>
          <a:prstGeom prst="rect">
            <a:avLst/>
          </a:prstGeom>
          <a:noFill/>
          <a:ln/>
        </p:spPr>
        <p:txBody>
          <a:bodyPr wrap="square" lIns="0" tIns="0" rIns="0" bIns="0" rtlCol="0" anchor="t"/>
          <a:lstStyle/>
          <a:p>
            <a:pPr indent="0" marL="0">
              <a:buNone/>
            </a:pPr>
            <a:r>
              <a:rPr lang="en-US" sz="1800" b="1" dirty="0">
                <a:solidFill>
                  <a:schemeClr val="accent4"/>
                </a:solidFill>
              </a:rPr>
              <a:t>Kein Objekt – kein Pfeil. </a:t>
            </a:r>
            <a:pPr indent="0" marL="0">
              <a:buNone/>
            </a:pPr>
            <a:r>
              <a:rPr lang="en-US" sz="1800" dirty="0">
                <a:solidFill>
                  <a:schemeClr val="tx1"/>
                </a:solidFill>
              </a:rPr>
              <a:t>Ein Methodenaufruf auf null bricht das Programm ab. Darum: erst prüfen, dann zugreifen.</a:t>
            </a:r>
            <a:endParaRPr lang="en-US" sz="18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Monster und Kampf: Objekte schicken Botschaften</a:t>
            </a:r>
            <a:endParaRPr lang="en-US" sz="3600" dirty="0"/>
          </a:p>
        </p:txBody>
      </p:sp>
      <p:sp>
        <p:nvSpPr>
          <p:cNvPr id="3" name="Klassenkarte Monster"/>
          <p:cNvSpPr/>
          <p:nvPr/>
        </p:nvSpPr>
        <p:spPr>
          <a:xfrm>
            <a:off x="548640" y="1325880"/>
            <a:ext cx="5760720" cy="2995422"/>
          </a:xfrm>
          <a:prstGeom prst="rect">
            <a:avLst/>
          </a:prstGeom>
          <a:solidFill>
            <a:schemeClr val="bg1"/>
          </a:solidFill>
          <a:ln w="22225">
            <a:solidFill>
              <a:schemeClr val="accent1"/>
            </a:solidFill>
            <a:prstDash val="solid"/>
          </a:ln>
        </p:spPr>
      </p:sp>
      <p:sp>
        <p:nvSpPr>
          <p:cNvPr id="4" name="Klassenname Monster"/>
          <p:cNvSpPr txBox="1"/>
          <p:nvPr/>
        </p:nvSpPr>
        <p:spPr>
          <a:xfrm>
            <a:off x="548640" y="1325880"/>
            <a:ext cx="5760720" cy="378714"/>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600" b="1" dirty="0">
                <a:solidFill>
                  <a:schemeClr val="accent1"/>
                </a:solidFill>
              </a:rPr>
              <a:t>Monster</a:t>
            </a:r>
            <a:endParaRPr lang="en-US" sz="1600" dirty="0"/>
          </a:p>
        </p:txBody>
      </p:sp>
      <p:sp>
        <p:nvSpPr>
          <p:cNvPr id="5" name="Attribute Monster"/>
          <p:cNvSpPr txBox="1"/>
          <p:nvPr/>
        </p:nvSpPr>
        <p:spPr>
          <a:xfrm>
            <a:off x="548640" y="1704594"/>
            <a:ext cx="5760720" cy="84353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name: Zeichenkette</a:t>
            </a:r>
            <a:endParaRPr lang="en-US" sz="1500" dirty="0"/>
          </a:p>
          <a:p>
            <a:pPr algn="l" indent="0" marL="0">
              <a:lnSpc>
                <a:spcPts val="1800"/>
              </a:lnSpc>
              <a:buNone/>
            </a:pPr>
            <a:r>
              <a:rPr lang="en-US" sz="1500" dirty="0">
                <a:solidFill>
                  <a:schemeClr val="tx1"/>
                </a:solidFill>
              </a:rPr>
              <a:t>- leben: Ganzzahl</a:t>
            </a:r>
            <a:endParaRPr lang="en-US" sz="1500" dirty="0"/>
          </a:p>
          <a:p>
            <a:pPr algn="l" indent="0" marL="0">
              <a:lnSpc>
                <a:spcPts val="1800"/>
              </a:lnSpc>
              <a:buNone/>
            </a:pPr>
            <a:r>
              <a:rPr lang="en-US" sz="1500" dirty="0">
                <a:solidFill>
                  <a:schemeClr val="tx1"/>
                </a:solidFill>
              </a:rPr>
              <a:t>- staerke: Ganzzahl</a:t>
            </a:r>
            <a:endParaRPr lang="en-US" sz="1500" dirty="0"/>
          </a:p>
        </p:txBody>
      </p:sp>
      <p:sp>
        <p:nvSpPr>
          <p:cNvPr id="6" name="Linie"/>
          <p:cNvSpPr/>
          <p:nvPr/>
        </p:nvSpPr>
        <p:spPr>
          <a:xfrm>
            <a:off x="548640" y="2548128"/>
            <a:ext cx="5760720" cy="91"/>
          </a:xfrm>
          <a:prstGeom prst="line">
            <a:avLst/>
          </a:prstGeom>
          <a:noFill/>
          <a:ln w="22225">
            <a:solidFill>
              <a:schemeClr val="accent1"/>
            </a:solidFill>
            <a:prstDash val="solid"/>
          </a:ln>
        </p:spPr>
      </p:sp>
      <p:sp>
        <p:nvSpPr>
          <p:cNvPr id="7" name="Methoden Monster"/>
          <p:cNvSpPr txBox="1"/>
          <p:nvPr/>
        </p:nvSpPr>
        <p:spPr>
          <a:xfrm>
            <a:off x="548640" y="2548128"/>
            <a:ext cx="5760720" cy="177317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c Monster(name: Zeichenkette, leben: Ganzzahl, staerke: Ganzzahl)</a:t>
            </a:r>
            <a:endParaRPr lang="en-US" sz="1500" dirty="0"/>
          </a:p>
          <a:p>
            <a:pPr algn="l" indent="0" marL="0">
              <a:lnSpc>
                <a:spcPts val="1800"/>
              </a:lnSpc>
              <a:buNone/>
            </a:pPr>
            <a:r>
              <a:rPr lang="en-US" sz="1500" dirty="0">
                <a:solidFill>
                  <a:schemeClr val="tx1"/>
                </a:solidFill>
              </a:rPr>
              <a:t>+ getName(): Zeichenkette</a:t>
            </a:r>
            <a:endParaRPr lang="en-US" sz="1500" dirty="0"/>
          </a:p>
          <a:p>
            <a:pPr algn="l" indent="0" marL="0">
              <a:lnSpc>
                <a:spcPts val="1800"/>
              </a:lnSpc>
              <a:buNone/>
            </a:pPr>
            <a:r>
              <a:rPr lang="en-US" sz="1500" dirty="0">
                <a:solidFill>
                  <a:schemeClr val="tx1"/>
                </a:solidFill>
              </a:rPr>
              <a:t>+ getLeben(): Ganzzahl</a:t>
            </a:r>
            <a:endParaRPr lang="en-US" sz="1500" dirty="0"/>
          </a:p>
          <a:p>
            <a:pPr algn="l" indent="0" marL="0">
              <a:lnSpc>
                <a:spcPts val="1800"/>
              </a:lnSpc>
              <a:buNone/>
            </a:pPr>
            <a:r>
              <a:rPr lang="en-US" sz="1500" dirty="0">
                <a:solidFill>
                  <a:schemeClr val="tx1"/>
                </a:solidFill>
              </a:rPr>
              <a:t>+ getStaerke(): Ganzzahl</a:t>
            </a:r>
            <a:endParaRPr lang="en-US" sz="1500" dirty="0"/>
          </a:p>
          <a:p>
            <a:pPr algn="l" indent="0" marL="0">
              <a:lnSpc>
                <a:spcPts val="1800"/>
              </a:lnSpc>
              <a:buNone/>
            </a:pPr>
            <a:r>
              <a:rPr lang="en-US" sz="1500" dirty="0">
                <a:solidFill>
                  <a:schemeClr val="tx1"/>
                </a:solidFill>
              </a:rPr>
              <a:t>+ nimmSchaden(schaden: Ganzzahl): nichts</a:t>
            </a:r>
            <a:endParaRPr lang="en-US" sz="1500" dirty="0"/>
          </a:p>
          <a:p>
            <a:pPr algn="l" indent="0" marL="0">
              <a:lnSpc>
                <a:spcPts val="1800"/>
              </a:lnSpc>
              <a:buNone/>
            </a:pPr>
            <a:r>
              <a:rPr lang="en-US" sz="1500" dirty="0">
                <a:solidFill>
                  <a:schemeClr val="tx1"/>
                </a:solidFill>
              </a:rPr>
              <a:t>+ istBesiegt(): Wahrheitswert</a:t>
            </a:r>
            <a:endParaRPr lang="en-US" sz="1500" dirty="0"/>
          </a:p>
          <a:p>
            <a:pPr algn="l" indent="0" marL="0">
              <a:lnSpc>
                <a:spcPts val="1800"/>
              </a:lnSpc>
              <a:buNone/>
            </a:pPr>
            <a:r>
              <a:rPr lang="en-US" sz="1500" dirty="0">
                <a:solidFill>
                  <a:schemeClr val="tx1"/>
                </a:solidFill>
              </a:rPr>
              <a:t>+ angreifen(h: Held): nichts</a:t>
            </a:r>
            <a:endParaRPr lang="en-US" sz="1500" dirty="0"/>
          </a:p>
        </p:txBody>
      </p:sp>
      <p:sp>
        <p:nvSpPr>
          <p:cNvPr id="8" name="Code"/>
          <p:cNvSpPr txBox="1"/>
          <p:nvPr/>
        </p:nvSpPr>
        <p:spPr>
          <a:xfrm>
            <a:off x="6766560" y="1325880"/>
            <a:ext cx="4846320" cy="2333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000"/>
              </a:lnSpc>
              <a:buNone/>
            </a:pPr>
            <a:r>
              <a:rPr lang="en-US" sz="1600" i="1" dirty="0">
                <a:solidFill>
                  <a:schemeClr val="accent3"/>
                </a:solidFill>
                <a:latin typeface="Consolas" pitchFamily="34" charset="0"/>
                <a:ea typeface="Consolas" pitchFamily="34" charset="-122"/>
                <a:cs typeface="Consolas" pitchFamily="34" charset="-120"/>
              </a:rPr>
              <a:t>// in Held</a:t>
            </a:r>
            <a:endParaRPr lang="en-US" sz="1600" dirty="0"/>
          </a:p>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public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void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angreifen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Monster</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m</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m</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nimmSchaden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angriffswert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i="1" dirty="0">
                <a:solidFill>
                  <a:schemeClr val="accent3"/>
                </a:solidFill>
                <a:latin typeface="Consolas" pitchFamily="34" charset="0"/>
                <a:ea typeface="Consolas" pitchFamily="34" charset="-122"/>
                <a:cs typeface="Consolas" pitchFamily="34" charset="-120"/>
              </a:rPr>
              <a:t>// in Monster</a:t>
            </a:r>
            <a:endParaRPr lang="en-US" sz="1600" dirty="0"/>
          </a:p>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public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void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angreifen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Held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h</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h</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nimmSchaden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staerke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p:txBody>
      </p:sp>
      <p:sp>
        <p:nvSpPr>
          <p:cNvPr id="9" name="Text 7"/>
          <p:cNvSpPr txBox="1"/>
          <p:nvPr/>
        </p:nvSpPr>
        <p:spPr>
          <a:xfrm>
            <a:off x="6766560" y="4069080"/>
            <a:ext cx="1737360" cy="548640"/>
          </a:xfrm>
          <a:prstGeom prst="roundRect">
            <a:avLst>
              <a:gd name="adj" fmla="val 13333"/>
            </a:avLst>
          </a:prstGeom>
          <a:solidFill>
            <a:schemeClr val="bg1"/>
          </a:solidFill>
          <a:ln w="22225">
            <a:solidFill>
              <a:schemeClr val="accent6"/>
            </a:solidFill>
          </a:ln>
        </p:spPr>
        <p:txBody>
          <a:bodyPr wrap="square" lIns="0" tIns="0" rIns="0" bIns="0" rtlCol="0" anchor="ctr"/>
          <a:lstStyle/>
          <a:p>
            <a:pPr algn="ctr" indent="0" marL="0">
              <a:buNone/>
            </a:pPr>
            <a:r>
              <a:rPr lang="en-US" sz="1700" b="1" dirty="0">
                <a:solidFill>
                  <a:schemeClr val="accent1"/>
                </a:solidFill>
              </a:rPr>
              <a:t>aria: Held</a:t>
            </a:r>
            <a:endParaRPr lang="en-US" sz="1700" dirty="0"/>
          </a:p>
        </p:txBody>
      </p:sp>
      <p:sp>
        <p:nvSpPr>
          <p:cNvPr id="10" name="Text 8"/>
          <p:cNvSpPr txBox="1"/>
          <p:nvPr/>
        </p:nvSpPr>
        <p:spPr>
          <a:xfrm>
            <a:off x="9692640" y="4069080"/>
            <a:ext cx="1920240" cy="548640"/>
          </a:xfrm>
          <a:prstGeom prst="roundRect">
            <a:avLst>
              <a:gd name="adj" fmla="val 13333"/>
            </a:avLst>
          </a:prstGeom>
          <a:solidFill>
            <a:schemeClr val="bg1"/>
          </a:solidFill>
          <a:ln w="22225">
            <a:solidFill>
              <a:schemeClr val="accent6"/>
            </a:solidFill>
          </a:ln>
        </p:spPr>
        <p:txBody>
          <a:bodyPr wrap="square" lIns="0" tIns="0" rIns="0" bIns="0" rtlCol="0" anchor="ctr"/>
          <a:lstStyle/>
          <a:p>
            <a:pPr algn="ctr" indent="0" marL="0">
              <a:buNone/>
            </a:pPr>
            <a:r>
              <a:rPr lang="en-US" sz="1700" b="1" dirty="0">
                <a:solidFill>
                  <a:schemeClr val="accent1"/>
                </a:solidFill>
              </a:rPr>
              <a:t>goblin: Monster</a:t>
            </a:r>
            <a:endParaRPr lang="en-US" sz="1700" dirty="0"/>
          </a:p>
        </p:txBody>
      </p:sp>
      <p:sp>
        <p:nvSpPr>
          <p:cNvPr id="11" name="Linie"/>
          <p:cNvSpPr/>
          <p:nvPr/>
        </p:nvSpPr>
        <p:spPr>
          <a:xfrm>
            <a:off x="8549640" y="4233672"/>
            <a:ext cx="1097280" cy="91"/>
          </a:xfrm>
          <a:prstGeom prst="line">
            <a:avLst/>
          </a:prstGeom>
          <a:noFill/>
          <a:ln w="31750">
            <a:solidFill>
              <a:schemeClr val="accent2"/>
            </a:solidFill>
            <a:prstDash val="solid"/>
            <a:tailEnd type="triangle"/>
          </a:ln>
        </p:spPr>
      </p:sp>
      <p:sp>
        <p:nvSpPr>
          <p:cNvPr id="12" name="Linie"/>
          <p:cNvSpPr/>
          <p:nvPr/>
        </p:nvSpPr>
        <p:spPr>
          <a:xfrm flipH="1">
            <a:off x="8549640" y="4507992"/>
            <a:ext cx="1097280" cy="91"/>
          </a:xfrm>
          <a:prstGeom prst="line">
            <a:avLst/>
          </a:prstGeom>
          <a:noFill/>
          <a:ln w="31750">
            <a:solidFill>
              <a:schemeClr val="accent1"/>
            </a:solidFill>
            <a:prstDash val="solid"/>
            <a:tailEnd type="triangle"/>
          </a:ln>
        </p:spPr>
      </p:sp>
      <p:sp>
        <p:nvSpPr>
          <p:cNvPr id="13" name="Text 11"/>
          <p:cNvSpPr txBox="1"/>
          <p:nvPr/>
        </p:nvSpPr>
        <p:spPr>
          <a:xfrm>
            <a:off x="8001000" y="3721608"/>
            <a:ext cx="2194560" cy="292608"/>
          </a:xfrm>
          <a:prstGeom prst="rect">
            <a:avLst/>
          </a:prstGeom>
          <a:noFill/>
          <a:ln/>
        </p:spPr>
        <p:txBody>
          <a:bodyPr wrap="square" lIns="0" tIns="0" rIns="0" bIns="0" rtlCol="0" anchor="t"/>
          <a:lstStyle/>
          <a:p>
            <a:pPr algn="ctr" indent="0" marL="0">
              <a:buNone/>
            </a:pPr>
            <a:r>
              <a:rPr lang="en-US" sz="1400" b="1" dirty="0">
                <a:solidFill>
                  <a:schemeClr val="accent2"/>
                </a:solidFill>
                <a:latin typeface="Consolas" pitchFamily="34" charset="0"/>
                <a:ea typeface="Consolas" pitchFamily="34" charset="-122"/>
                <a:cs typeface="Consolas" pitchFamily="34" charset="-120"/>
              </a:rPr>
              <a:t>nimmSchaden(10)</a:t>
            </a:r>
            <a:endParaRPr lang="en-US" sz="1400" dirty="0"/>
          </a:p>
        </p:txBody>
      </p:sp>
      <p:sp>
        <p:nvSpPr>
          <p:cNvPr id="14" name="Text 12"/>
          <p:cNvSpPr txBox="1"/>
          <p:nvPr/>
        </p:nvSpPr>
        <p:spPr>
          <a:xfrm>
            <a:off x="8001000" y="4654296"/>
            <a:ext cx="2194560" cy="292608"/>
          </a:xfrm>
          <a:prstGeom prst="rect">
            <a:avLst/>
          </a:prstGeom>
          <a:noFill/>
          <a:ln/>
        </p:spPr>
        <p:txBody>
          <a:bodyPr wrap="square" lIns="0" tIns="0" rIns="0" bIns="0" rtlCol="0" anchor="t"/>
          <a:lstStyle/>
          <a:p>
            <a:pPr algn="ctr" indent="0" marL="0">
              <a:buNone/>
            </a:pPr>
            <a:r>
              <a:rPr lang="en-US" sz="1400" b="1" dirty="0">
                <a:solidFill>
                  <a:schemeClr val="accent1"/>
                </a:solidFill>
                <a:latin typeface="Consolas" pitchFamily="34" charset="0"/>
                <a:ea typeface="Consolas" pitchFamily="34" charset="-122"/>
                <a:cs typeface="Consolas" pitchFamily="34" charset="-120"/>
              </a:rPr>
              <a:t>nimmSchaden(6)</a:t>
            </a:r>
            <a:endParaRPr lang="en-US" sz="1400" dirty="0"/>
          </a:p>
        </p:txBody>
      </p:sp>
      <p:sp>
        <p:nvSpPr>
          <p:cNvPr id="15" name="Verboten"/>
          <p:cNvSpPr/>
          <p:nvPr/>
        </p:nvSpPr>
        <p:spPr>
          <a:xfrm>
            <a:off x="548640" y="5074920"/>
            <a:ext cx="11064240" cy="914400"/>
          </a:xfrm>
          <a:prstGeom prst="roundRect">
            <a:avLst>
              <a:gd name="adj" fmla="val 12000"/>
            </a:avLst>
          </a:prstGeom>
          <a:solidFill>
            <a:schemeClr val="bg1"/>
          </a:solidFill>
          <a:ln w="25400">
            <a:solidFill>
              <a:schemeClr val="accent4"/>
            </a:solidFill>
            <a:prstDash val="solid"/>
          </a:ln>
        </p:spPr>
      </p:sp>
      <p:sp>
        <p:nvSpPr>
          <p:cNvPr id="16" name="Text 14"/>
          <p:cNvSpPr txBox="1"/>
          <p:nvPr/>
        </p:nvSpPr>
        <p:spPr>
          <a:xfrm>
            <a:off x="777240" y="5074920"/>
            <a:ext cx="10698480" cy="914400"/>
          </a:xfrm>
          <a:prstGeom prst="rect">
            <a:avLst/>
          </a:prstGeom>
          <a:noFill/>
          <a:ln/>
        </p:spPr>
        <p:txBody>
          <a:bodyPr wrap="square" lIns="0" tIns="0" rIns="0" bIns="0" rtlCol="0" anchor="ctr"/>
          <a:lstStyle/>
          <a:p>
            <a:pPr indent="0" marL="0">
              <a:buNone/>
            </a:pPr>
            <a:r>
              <a:rPr lang="en-US" sz="1800" b="1" dirty="0">
                <a:solidFill>
                  <a:schemeClr val="accent4"/>
                </a:solidFill>
              </a:rPr>
              <a:t>Nicht möglich: </a:t>
            </a:r>
            <a:pPr indent="0" marL="0">
              <a:buNone/>
            </a:pPr>
            <a:r>
              <a:rPr lang="en-US" sz="1600" dirty="0">
                <a:solidFill>
                  <a:schemeClr val="tx1"/>
                </a:solidFill>
                <a:latin typeface="Consolas" pitchFamily="34" charset="0"/>
                <a:ea typeface="Consolas" pitchFamily="34" charset="-122"/>
                <a:cs typeface="Consolas" pitchFamily="34" charset="-120"/>
              </a:rPr>
              <a:t>m.leben = m.leben - 10;</a:t>
            </a:r>
            <a:pPr indent="0" marL="0">
              <a:buNone/>
            </a:pPr>
            <a:r>
              <a:rPr lang="en-US" sz="1800" dirty="0">
                <a:solidFill>
                  <a:schemeClr val="tx1"/>
                </a:solidFill>
              </a:rPr>
              <a:t>  – leben ist private. Objekte ändern einander nur über Methoden.</a:t>
            </a:r>
            <a:endParaRPr lang="en-US" sz="18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Assoziation: Der Held trägt ein Inventar</a:t>
            </a:r>
            <a:endParaRPr lang="en-US" sz="3600" dirty="0"/>
          </a:p>
        </p:txBody>
      </p:sp>
      <p:sp>
        <p:nvSpPr>
          <p:cNvPr id="3" name="Text 1"/>
          <p:cNvSpPr txBox="1"/>
          <p:nvPr/>
        </p:nvSpPr>
        <p:spPr>
          <a:xfrm>
            <a:off x="548640" y="1325880"/>
            <a:ext cx="1645920" cy="548640"/>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800" b="1" dirty="0">
                <a:solidFill>
                  <a:schemeClr val="accent1"/>
                </a:solidFill>
              </a:rPr>
              <a:t>Held</a:t>
            </a:r>
            <a:endParaRPr lang="en-US" sz="1800" dirty="0"/>
          </a:p>
        </p:txBody>
      </p:sp>
      <p:sp>
        <p:nvSpPr>
          <p:cNvPr id="4" name="Text 2"/>
          <p:cNvSpPr txBox="1"/>
          <p:nvPr/>
        </p:nvSpPr>
        <p:spPr>
          <a:xfrm>
            <a:off x="3840480" y="1325880"/>
            <a:ext cx="2194560" cy="548640"/>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800" b="1" dirty="0">
                <a:solidFill>
                  <a:schemeClr val="accent1"/>
                </a:solidFill>
              </a:rPr>
              <a:t>Gegenstand</a:t>
            </a:r>
            <a:endParaRPr lang="en-US" sz="1800" dirty="0"/>
          </a:p>
        </p:txBody>
      </p:sp>
      <p:sp>
        <p:nvSpPr>
          <p:cNvPr id="5" name="Linie"/>
          <p:cNvSpPr/>
          <p:nvPr/>
        </p:nvSpPr>
        <p:spPr>
          <a:xfrm>
            <a:off x="2194560" y="1600200"/>
            <a:ext cx="1645920" cy="91"/>
          </a:xfrm>
          <a:prstGeom prst="line">
            <a:avLst/>
          </a:prstGeom>
          <a:noFill/>
          <a:ln w="25400">
            <a:solidFill>
              <a:schemeClr val="accent1"/>
            </a:solidFill>
            <a:prstDash val="solid"/>
          </a:ln>
        </p:spPr>
      </p:sp>
      <p:sp>
        <p:nvSpPr>
          <p:cNvPr id="6" name="Text 4"/>
          <p:cNvSpPr txBox="1"/>
          <p:nvPr/>
        </p:nvSpPr>
        <p:spPr>
          <a:xfrm>
            <a:off x="6400800" y="1280160"/>
            <a:ext cx="5212080" cy="685800"/>
          </a:xfrm>
          <a:prstGeom prst="rect">
            <a:avLst/>
          </a:prstGeom>
          <a:noFill/>
          <a:ln/>
        </p:spPr>
        <p:txBody>
          <a:bodyPr wrap="square" lIns="0" tIns="0" rIns="0" bIns="0" rtlCol="0" anchor="ctr"/>
          <a:lstStyle/>
          <a:p>
            <a:pPr indent="0" marL="0">
              <a:buNone/>
            </a:pPr>
            <a:r>
              <a:rPr lang="en-US" sz="1800" dirty="0">
                <a:solidFill>
                  <a:schemeClr val="tx1"/>
                </a:solidFill>
              </a:rPr>
              <a:t>Held hat ein Attribut </a:t>
            </a:r>
            <a:pPr indent="0" marL="0">
              <a:buNone/>
            </a:pPr>
            <a:r>
              <a:rPr lang="en-US" sz="1600" b="1" dirty="0">
                <a:solidFill>
                  <a:schemeClr val="tx1"/>
                </a:solidFill>
                <a:latin typeface="Consolas" pitchFamily="34" charset="0"/>
                <a:ea typeface="Consolas" pitchFamily="34" charset="-122"/>
                <a:cs typeface="Consolas" pitchFamily="34" charset="-120"/>
              </a:rPr>
              <a:t>inventar: Reihung von Gegenstand</a:t>
            </a:r>
            <a:pPr indent="0" marL="0">
              <a:buNone/>
            </a:pPr>
            <a:r>
              <a:rPr lang="en-US" sz="1800" dirty="0">
                <a:solidFill>
                  <a:schemeClr val="tx1"/>
                </a:solidFill>
              </a:rPr>
              <a:t> → Assoziation: einfache Linie.</a:t>
            </a:r>
            <a:endParaRPr lang="en-US" sz="1800" dirty="0"/>
          </a:p>
        </p:txBody>
      </p:sp>
      <p:sp>
        <p:nvSpPr>
          <p:cNvPr id="7" name="Text 5"/>
          <p:cNvSpPr txBox="1"/>
          <p:nvPr/>
        </p:nvSpPr>
        <p:spPr>
          <a:xfrm>
            <a:off x="548640" y="2240280"/>
            <a:ext cx="1371600" cy="640080"/>
          </a:xfrm>
          <a:prstGeom prst="rect">
            <a:avLst/>
          </a:prstGeom>
          <a:noFill/>
          <a:ln/>
        </p:spPr>
        <p:txBody>
          <a:bodyPr wrap="square" lIns="0" tIns="0" rIns="0" bIns="0" rtlCol="0" anchor="ctr"/>
          <a:lstStyle/>
          <a:p>
            <a:pPr indent="0" marL="0">
              <a:buNone/>
            </a:pPr>
            <a:r>
              <a:rPr lang="en-US" sz="1800" b="1" dirty="0">
                <a:solidFill>
                  <a:schemeClr val="accent1"/>
                </a:solidFill>
                <a:latin typeface="Consolas" pitchFamily="34" charset="0"/>
                <a:ea typeface="Consolas" pitchFamily="34" charset="-122"/>
                <a:cs typeface="Consolas" pitchFamily="34" charset="-120"/>
              </a:rPr>
              <a:t>inventar</a:t>
            </a:r>
            <a:endParaRPr lang="en-US" sz="1800" dirty="0"/>
          </a:p>
        </p:txBody>
      </p:sp>
      <p:sp>
        <p:nvSpPr>
          <p:cNvPr id="8" name="Text 6"/>
          <p:cNvSpPr txBox="1"/>
          <p:nvPr/>
        </p:nvSpPr>
        <p:spPr>
          <a:xfrm>
            <a:off x="2011680" y="2240280"/>
            <a:ext cx="1828800" cy="640080"/>
          </a:xfrm>
          <a:prstGeom prst="rect">
            <a:avLst/>
          </a:prstGeom>
          <a:solidFill>
            <a:schemeClr val="bg2"/>
          </a:solidFill>
          <a:ln w="19050">
            <a:solidFill>
              <a:schemeClr val="accent1"/>
            </a:solidFill>
          </a:ln>
        </p:spPr>
        <p:txBody>
          <a:bodyPr wrap="square" lIns="0" tIns="0" rIns="0" bIns="0" rtlCol="0" anchor="ctr"/>
          <a:lstStyle/>
          <a:p>
            <a:pPr algn="ctr" indent="0" marL="0">
              <a:buNone/>
            </a:pPr>
            <a:r>
              <a:rPr lang="en-US" sz="1700" b="1" dirty="0">
                <a:solidFill>
                  <a:schemeClr val="accent1"/>
                </a:solidFill>
                <a:latin typeface="Calibri" pitchFamily="34" charset="0"/>
                <a:ea typeface="Calibri" pitchFamily="34" charset="-122"/>
                <a:cs typeface="Calibri" pitchFamily="34" charset="-120"/>
              </a:rPr>
              <a:t>Fackel (5)</a:t>
            </a:r>
            <a:endParaRPr lang="en-US" sz="1700" dirty="0"/>
          </a:p>
        </p:txBody>
      </p:sp>
      <p:sp>
        <p:nvSpPr>
          <p:cNvPr id="9" name="Text 7"/>
          <p:cNvSpPr txBox="1"/>
          <p:nvPr/>
        </p:nvSpPr>
        <p:spPr>
          <a:xfrm>
            <a:off x="2011680" y="2907792"/>
            <a:ext cx="1828800" cy="274320"/>
          </a:xfrm>
          <a:prstGeom prst="rect">
            <a:avLst/>
          </a:prstGeom>
          <a:noFill/>
          <a:ln/>
        </p:spPr>
        <p:txBody>
          <a:bodyPr wrap="square" lIns="0" tIns="0" rIns="0" bIns="0" rtlCol="0" anchor="t"/>
          <a:lstStyle/>
          <a:p>
            <a:pPr algn="ctr" indent="0" marL="0">
              <a:buNone/>
            </a:pPr>
            <a:r>
              <a:rPr lang="en-US" sz="1400" dirty="0">
                <a:solidFill>
                  <a:schemeClr val="accent6"/>
                </a:solidFill>
              </a:rPr>
              <a:t>0</a:t>
            </a:r>
            <a:endParaRPr lang="en-US" sz="1400" dirty="0"/>
          </a:p>
        </p:txBody>
      </p:sp>
      <p:sp>
        <p:nvSpPr>
          <p:cNvPr id="10" name="Text 8"/>
          <p:cNvSpPr txBox="1"/>
          <p:nvPr/>
        </p:nvSpPr>
        <p:spPr>
          <a:xfrm>
            <a:off x="3840480" y="2240280"/>
            <a:ext cx="1828800" cy="640080"/>
          </a:xfrm>
          <a:prstGeom prst="rect">
            <a:avLst/>
          </a:prstGeom>
          <a:solidFill>
            <a:schemeClr val="bg2"/>
          </a:solidFill>
          <a:ln w="19050">
            <a:solidFill>
              <a:schemeClr val="accent1"/>
            </a:solidFill>
          </a:ln>
        </p:spPr>
        <p:txBody>
          <a:bodyPr wrap="square" lIns="0" tIns="0" rIns="0" bIns="0" rtlCol="0" anchor="ctr"/>
          <a:lstStyle/>
          <a:p>
            <a:pPr algn="ctr" indent="0" marL="0">
              <a:buNone/>
            </a:pPr>
            <a:r>
              <a:rPr lang="en-US" sz="1700" b="1" dirty="0">
                <a:solidFill>
                  <a:schemeClr val="accent1"/>
                </a:solidFill>
                <a:latin typeface="Calibri" pitchFamily="34" charset="0"/>
                <a:ea typeface="Calibri" pitchFamily="34" charset="-122"/>
                <a:cs typeface="Calibri" pitchFamily="34" charset="-120"/>
              </a:rPr>
              <a:t>Krone (50)</a:t>
            </a:r>
            <a:endParaRPr lang="en-US" sz="1700" dirty="0"/>
          </a:p>
        </p:txBody>
      </p:sp>
      <p:sp>
        <p:nvSpPr>
          <p:cNvPr id="11" name="Text 9"/>
          <p:cNvSpPr txBox="1"/>
          <p:nvPr/>
        </p:nvSpPr>
        <p:spPr>
          <a:xfrm>
            <a:off x="3840480" y="2907792"/>
            <a:ext cx="1828800" cy="274320"/>
          </a:xfrm>
          <a:prstGeom prst="rect">
            <a:avLst/>
          </a:prstGeom>
          <a:noFill/>
          <a:ln/>
        </p:spPr>
        <p:txBody>
          <a:bodyPr wrap="square" lIns="0" tIns="0" rIns="0" bIns="0" rtlCol="0" anchor="t"/>
          <a:lstStyle/>
          <a:p>
            <a:pPr algn="ctr" indent="0" marL="0">
              <a:buNone/>
            </a:pPr>
            <a:r>
              <a:rPr lang="en-US" sz="1400" dirty="0">
                <a:solidFill>
                  <a:schemeClr val="accent6"/>
                </a:solidFill>
              </a:rPr>
              <a:t>1</a:t>
            </a:r>
            <a:endParaRPr lang="en-US" sz="1400" dirty="0"/>
          </a:p>
        </p:txBody>
      </p:sp>
      <p:sp>
        <p:nvSpPr>
          <p:cNvPr id="12" name="Text 10"/>
          <p:cNvSpPr txBox="1"/>
          <p:nvPr/>
        </p:nvSpPr>
        <p:spPr>
          <a:xfrm>
            <a:off x="5669280" y="2240280"/>
            <a:ext cx="1828800" cy="640080"/>
          </a:xfrm>
          <a:prstGeom prst="rect">
            <a:avLst/>
          </a:prstGeom>
          <a:solidFill>
            <a:schemeClr val="bg1"/>
          </a:solidFill>
          <a:ln w="19050">
            <a:solidFill>
              <a:schemeClr val="accent1"/>
            </a:solidFill>
          </a:ln>
        </p:spPr>
        <p:txBody>
          <a:bodyPr wrap="square" lIns="0" tIns="0" rIns="0" bIns="0" rtlCol="0" anchor="ctr"/>
          <a:lstStyle/>
          <a:p>
            <a:pPr algn="ctr" indent="0" marL="0">
              <a:buNone/>
            </a:pPr>
            <a:r>
              <a:rPr lang="en-US" sz="1700" dirty="0">
                <a:solidFill>
                  <a:schemeClr val="tx1"/>
                </a:solidFill>
                <a:latin typeface="Consolas" pitchFamily="34" charset="0"/>
                <a:ea typeface="Consolas" pitchFamily="34" charset="-122"/>
                <a:cs typeface="Consolas" pitchFamily="34" charset="-120"/>
              </a:rPr>
              <a:t>null</a:t>
            </a:r>
            <a:endParaRPr lang="en-US" sz="1700" dirty="0"/>
          </a:p>
        </p:txBody>
      </p:sp>
      <p:sp>
        <p:nvSpPr>
          <p:cNvPr id="13" name="Text 11"/>
          <p:cNvSpPr txBox="1"/>
          <p:nvPr/>
        </p:nvSpPr>
        <p:spPr>
          <a:xfrm>
            <a:off x="5669280" y="2907792"/>
            <a:ext cx="1828800" cy="274320"/>
          </a:xfrm>
          <a:prstGeom prst="rect">
            <a:avLst/>
          </a:prstGeom>
          <a:noFill/>
          <a:ln/>
        </p:spPr>
        <p:txBody>
          <a:bodyPr wrap="square" lIns="0" tIns="0" rIns="0" bIns="0" rtlCol="0" anchor="t"/>
          <a:lstStyle/>
          <a:p>
            <a:pPr algn="ctr" indent="0" marL="0">
              <a:buNone/>
            </a:pPr>
            <a:r>
              <a:rPr lang="en-US" sz="1400" dirty="0">
                <a:solidFill>
                  <a:schemeClr val="accent6"/>
                </a:solidFill>
              </a:rPr>
              <a:t>2</a:t>
            </a:r>
            <a:endParaRPr lang="en-US" sz="1400" dirty="0"/>
          </a:p>
        </p:txBody>
      </p:sp>
      <p:sp>
        <p:nvSpPr>
          <p:cNvPr id="14" name="Text 12"/>
          <p:cNvSpPr txBox="1"/>
          <p:nvPr/>
        </p:nvSpPr>
        <p:spPr>
          <a:xfrm>
            <a:off x="7498080" y="2240280"/>
            <a:ext cx="1828800" cy="640080"/>
          </a:xfrm>
          <a:prstGeom prst="rect">
            <a:avLst/>
          </a:prstGeom>
          <a:solidFill>
            <a:schemeClr val="bg1"/>
          </a:solidFill>
          <a:ln w="19050">
            <a:solidFill>
              <a:schemeClr val="accent1"/>
            </a:solidFill>
          </a:ln>
        </p:spPr>
        <p:txBody>
          <a:bodyPr wrap="square" lIns="0" tIns="0" rIns="0" bIns="0" rtlCol="0" anchor="ctr"/>
          <a:lstStyle/>
          <a:p>
            <a:pPr algn="ctr" indent="0" marL="0">
              <a:buNone/>
            </a:pPr>
            <a:r>
              <a:rPr lang="en-US" sz="1700" dirty="0">
                <a:solidFill>
                  <a:schemeClr val="tx1"/>
                </a:solidFill>
                <a:latin typeface="Consolas" pitchFamily="34" charset="0"/>
                <a:ea typeface="Consolas" pitchFamily="34" charset="-122"/>
                <a:cs typeface="Consolas" pitchFamily="34" charset="-120"/>
              </a:rPr>
              <a:t>null</a:t>
            </a:r>
            <a:endParaRPr lang="en-US" sz="1700" dirty="0"/>
          </a:p>
        </p:txBody>
      </p:sp>
      <p:sp>
        <p:nvSpPr>
          <p:cNvPr id="15" name="Text 13"/>
          <p:cNvSpPr txBox="1"/>
          <p:nvPr/>
        </p:nvSpPr>
        <p:spPr>
          <a:xfrm>
            <a:off x="7498080" y="2907792"/>
            <a:ext cx="1828800" cy="274320"/>
          </a:xfrm>
          <a:prstGeom prst="rect">
            <a:avLst/>
          </a:prstGeom>
          <a:noFill/>
          <a:ln/>
        </p:spPr>
        <p:txBody>
          <a:bodyPr wrap="square" lIns="0" tIns="0" rIns="0" bIns="0" rtlCol="0" anchor="t"/>
          <a:lstStyle/>
          <a:p>
            <a:pPr algn="ctr" indent="0" marL="0">
              <a:buNone/>
            </a:pPr>
            <a:r>
              <a:rPr lang="en-US" sz="1400" dirty="0">
                <a:solidFill>
                  <a:schemeClr val="accent6"/>
                </a:solidFill>
              </a:rPr>
              <a:t>3</a:t>
            </a:r>
            <a:endParaRPr lang="en-US" sz="1400" dirty="0"/>
          </a:p>
        </p:txBody>
      </p:sp>
      <p:sp>
        <p:nvSpPr>
          <p:cNvPr id="16" name="Text 14"/>
          <p:cNvSpPr txBox="1"/>
          <p:nvPr/>
        </p:nvSpPr>
        <p:spPr>
          <a:xfrm>
            <a:off x="9326880" y="2240280"/>
            <a:ext cx="1828800" cy="640080"/>
          </a:xfrm>
          <a:prstGeom prst="rect">
            <a:avLst/>
          </a:prstGeom>
          <a:solidFill>
            <a:schemeClr val="bg1"/>
          </a:solidFill>
          <a:ln w="19050">
            <a:solidFill>
              <a:schemeClr val="accent1"/>
            </a:solidFill>
          </a:ln>
        </p:spPr>
        <p:txBody>
          <a:bodyPr wrap="square" lIns="0" tIns="0" rIns="0" bIns="0" rtlCol="0" anchor="ctr"/>
          <a:lstStyle/>
          <a:p>
            <a:pPr algn="ctr" indent="0" marL="0">
              <a:buNone/>
            </a:pPr>
            <a:r>
              <a:rPr lang="en-US" sz="1700" dirty="0">
                <a:solidFill>
                  <a:schemeClr val="tx1"/>
                </a:solidFill>
                <a:latin typeface="Consolas" pitchFamily="34" charset="0"/>
                <a:ea typeface="Consolas" pitchFamily="34" charset="-122"/>
                <a:cs typeface="Consolas" pitchFamily="34" charset="-120"/>
              </a:rPr>
              <a:t>null</a:t>
            </a:r>
            <a:endParaRPr lang="en-US" sz="1700" dirty="0"/>
          </a:p>
        </p:txBody>
      </p:sp>
      <p:sp>
        <p:nvSpPr>
          <p:cNvPr id="17" name="Text 15"/>
          <p:cNvSpPr txBox="1"/>
          <p:nvPr/>
        </p:nvSpPr>
        <p:spPr>
          <a:xfrm>
            <a:off x="9326880" y="2907792"/>
            <a:ext cx="1828800" cy="274320"/>
          </a:xfrm>
          <a:prstGeom prst="rect">
            <a:avLst/>
          </a:prstGeom>
          <a:noFill/>
          <a:ln/>
        </p:spPr>
        <p:txBody>
          <a:bodyPr wrap="square" lIns="0" tIns="0" rIns="0" bIns="0" rtlCol="0" anchor="t"/>
          <a:lstStyle/>
          <a:p>
            <a:pPr algn="ctr" indent="0" marL="0">
              <a:buNone/>
            </a:pPr>
            <a:r>
              <a:rPr lang="en-US" sz="1400" dirty="0">
                <a:solidFill>
                  <a:schemeClr val="accent6"/>
                </a:solidFill>
              </a:rPr>
              <a:t>4</a:t>
            </a:r>
            <a:endParaRPr lang="en-US" sz="1400" dirty="0"/>
          </a:p>
        </p:txBody>
      </p:sp>
      <p:sp>
        <p:nvSpPr>
          <p:cNvPr id="18" name="Linie"/>
          <p:cNvSpPr/>
          <p:nvPr/>
        </p:nvSpPr>
        <p:spPr>
          <a:xfrm flipV="1">
            <a:off x="6583680" y="3200400"/>
            <a:ext cx="91" cy="457200"/>
          </a:xfrm>
          <a:prstGeom prst="line">
            <a:avLst/>
          </a:prstGeom>
          <a:noFill/>
          <a:ln w="38100">
            <a:solidFill>
              <a:schemeClr val="accent2"/>
            </a:solidFill>
            <a:prstDash val="solid"/>
            <a:tailEnd type="triangle"/>
          </a:ln>
        </p:spPr>
      </p:sp>
      <p:sp>
        <p:nvSpPr>
          <p:cNvPr id="19" name="Text 17"/>
          <p:cNvSpPr txBox="1"/>
          <p:nvPr/>
        </p:nvSpPr>
        <p:spPr>
          <a:xfrm>
            <a:off x="6720840" y="3429000"/>
            <a:ext cx="4846320" cy="365760"/>
          </a:xfrm>
          <a:prstGeom prst="rect">
            <a:avLst/>
          </a:prstGeom>
          <a:noFill/>
          <a:ln/>
        </p:spPr>
        <p:txBody>
          <a:bodyPr wrap="square" lIns="0" tIns="0" rIns="0" bIns="0" rtlCol="0" anchor="ctr"/>
          <a:lstStyle/>
          <a:p>
            <a:pPr indent="0" marL="0">
              <a:buNone/>
            </a:pPr>
            <a:r>
              <a:rPr lang="en-US" sz="1700" b="1" dirty="0">
                <a:solidFill>
                  <a:schemeClr val="accent2"/>
                </a:solidFill>
                <a:latin typeface="Consolas" pitchFamily="34" charset="0"/>
                <a:ea typeface="Consolas" pitchFamily="34" charset="-122"/>
                <a:cs typeface="Consolas" pitchFamily="34" charset="-120"/>
              </a:rPr>
              <a:t>anzahl = 2</a:t>
            </a:r>
            <a:pPr indent="0" marL="0">
              <a:buNone/>
            </a:pPr>
            <a:r>
              <a:rPr lang="en-US" sz="1700" dirty="0">
                <a:solidFill>
                  <a:schemeClr val="tx1"/>
                </a:solidFill>
              </a:rPr>
              <a:t>  = nächster freier Platz</a:t>
            </a:r>
            <a:endParaRPr lang="en-US" sz="1700" dirty="0"/>
          </a:p>
        </p:txBody>
      </p:sp>
      <p:sp>
        <p:nvSpPr>
          <p:cNvPr id="20" name="Code"/>
          <p:cNvSpPr txBox="1"/>
          <p:nvPr/>
        </p:nvSpPr>
        <p:spPr>
          <a:xfrm>
            <a:off x="548640" y="3886200"/>
            <a:ext cx="6400800" cy="2333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public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boolean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aufnehmen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Gegenstand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g</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if</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g</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null</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anzahl</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&gt;=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inventar</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length</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return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false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inventar</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anzahl</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g</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anzahl</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return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true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p:txBody>
      </p:sp>
      <p:sp>
        <p:nvSpPr>
          <p:cNvPr id="21" name="Text 19"/>
          <p:cNvSpPr txBox="1"/>
          <p:nvPr/>
        </p:nvSpPr>
        <p:spPr>
          <a:xfrm>
            <a:off x="7269480" y="3931920"/>
            <a:ext cx="411480" cy="4114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2" name="Text 20"/>
          <p:cNvSpPr txBox="1"/>
          <p:nvPr/>
        </p:nvSpPr>
        <p:spPr>
          <a:xfrm>
            <a:off x="7818120" y="3931920"/>
            <a:ext cx="3794760" cy="411480"/>
          </a:xfrm>
          <a:prstGeom prst="rect">
            <a:avLst/>
          </a:prstGeom>
          <a:noFill/>
          <a:ln/>
        </p:spPr>
        <p:txBody>
          <a:bodyPr wrap="square" lIns="0" tIns="0" rIns="0" bIns="0" rtlCol="0" anchor="ctr"/>
          <a:lstStyle/>
          <a:p>
            <a:pPr indent="0" marL="0">
              <a:buNone/>
            </a:pPr>
            <a:r>
              <a:rPr lang="en-US" sz="1700" dirty="0">
                <a:solidFill>
                  <a:schemeClr val="tx1"/>
                </a:solidFill>
              </a:rPr>
              <a:t>erst prüfen: null? voll?</a:t>
            </a:r>
            <a:endParaRPr lang="en-US" sz="1700" dirty="0"/>
          </a:p>
        </p:txBody>
      </p:sp>
      <p:sp>
        <p:nvSpPr>
          <p:cNvPr id="23" name="Text 21"/>
          <p:cNvSpPr txBox="1"/>
          <p:nvPr/>
        </p:nvSpPr>
        <p:spPr>
          <a:xfrm>
            <a:off x="7269480" y="4443984"/>
            <a:ext cx="411480" cy="4114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4" name="Text 22"/>
          <p:cNvSpPr txBox="1"/>
          <p:nvPr/>
        </p:nvSpPr>
        <p:spPr>
          <a:xfrm>
            <a:off x="7818120" y="4443984"/>
            <a:ext cx="3794760" cy="411480"/>
          </a:xfrm>
          <a:prstGeom prst="rect">
            <a:avLst/>
          </a:prstGeom>
          <a:noFill/>
          <a:ln/>
        </p:spPr>
        <p:txBody>
          <a:bodyPr wrap="square" lIns="0" tIns="0" rIns="0" bIns="0" rtlCol="0" anchor="ctr"/>
          <a:lstStyle/>
          <a:p>
            <a:pPr indent="0" marL="0">
              <a:buNone/>
            </a:pPr>
            <a:r>
              <a:rPr lang="en-US" sz="1700" dirty="0">
                <a:solidFill>
                  <a:schemeClr val="tx1"/>
                </a:solidFill>
              </a:rPr>
              <a:t>ans Ende: inventar[anzahl] = g</a:t>
            </a:r>
            <a:endParaRPr lang="en-US" sz="1700" dirty="0"/>
          </a:p>
        </p:txBody>
      </p:sp>
      <p:sp>
        <p:nvSpPr>
          <p:cNvPr id="25" name="Text 23"/>
          <p:cNvSpPr txBox="1"/>
          <p:nvPr/>
        </p:nvSpPr>
        <p:spPr>
          <a:xfrm>
            <a:off x="7269480" y="4956048"/>
            <a:ext cx="411480" cy="4114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6" name="Text 24"/>
          <p:cNvSpPr txBox="1"/>
          <p:nvPr/>
        </p:nvSpPr>
        <p:spPr>
          <a:xfrm>
            <a:off x="7818120" y="4956048"/>
            <a:ext cx="3794760" cy="411480"/>
          </a:xfrm>
          <a:prstGeom prst="rect">
            <a:avLst/>
          </a:prstGeom>
          <a:noFill/>
          <a:ln/>
        </p:spPr>
        <p:txBody>
          <a:bodyPr wrap="square" lIns="0" tIns="0" rIns="0" bIns="0" rtlCol="0" anchor="ctr"/>
          <a:lstStyle/>
          <a:p>
            <a:pPr indent="0" marL="0">
              <a:buNone/>
            </a:pPr>
            <a:r>
              <a:rPr lang="en-US" sz="1700" dirty="0">
                <a:solidFill>
                  <a:schemeClr val="tx1"/>
                </a:solidFill>
              </a:rPr>
              <a:t>anzahl++ und true</a:t>
            </a:r>
            <a:endParaRPr lang="en-US" sz="1700" dirty="0"/>
          </a:p>
        </p:txBody>
      </p:sp>
      <p:sp>
        <p:nvSpPr>
          <p:cNvPr id="27" name="Text 25"/>
          <p:cNvSpPr txBox="1"/>
          <p:nvPr/>
        </p:nvSpPr>
        <p:spPr>
          <a:xfrm>
            <a:off x="7269480" y="5532120"/>
            <a:ext cx="4343400" cy="640080"/>
          </a:xfrm>
          <a:prstGeom prst="rect">
            <a:avLst/>
          </a:prstGeom>
          <a:noFill/>
          <a:ln/>
        </p:spPr>
        <p:txBody>
          <a:bodyPr wrap="square" lIns="0" tIns="0" rIns="0" bIns="0" rtlCol="0" anchor="t"/>
          <a:lstStyle/>
          <a:p>
            <a:pPr indent="0" marL="0">
              <a:buNone/>
            </a:pPr>
            <a:r>
              <a:rPr lang="en-US" sz="1700" b="1" dirty="0">
                <a:solidFill>
                  <a:schemeClr val="accent4"/>
                </a:solidFill>
              </a:rPr>
              <a:t>Schleifen nur bis anzahl − 1</a:t>
            </a:r>
            <a:endParaRPr lang="en-US" sz="1700" dirty="0"/>
          </a:p>
          <a:p>
            <a:pPr indent="0" marL="0">
              <a:buNone/>
            </a:pPr>
            <a:r>
              <a:rPr lang="en-US" sz="1700" dirty="0">
                <a:solidFill>
                  <a:schemeClr val="tx1"/>
                </a:solidFill>
              </a:rPr>
              <a:t>dahinter steht null</a:t>
            </a:r>
            <a:endParaRPr lang="en-US" sz="17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Klassendiagramm: Beziehungen zeichnen</a:t>
            </a:r>
            <a:endParaRPr lang="en-US" sz="3600" dirty="0"/>
          </a:p>
        </p:txBody>
      </p:sp>
      <p:sp>
        <p:nvSpPr>
          <p:cNvPr id="3" name="Klassenkarte Held"/>
          <p:cNvSpPr/>
          <p:nvPr/>
        </p:nvSpPr>
        <p:spPr>
          <a:xfrm>
            <a:off x="548640" y="1371600"/>
            <a:ext cx="4846320" cy="2530602"/>
          </a:xfrm>
          <a:prstGeom prst="rect">
            <a:avLst/>
          </a:prstGeom>
          <a:solidFill>
            <a:schemeClr val="bg1"/>
          </a:solidFill>
          <a:ln w="22225">
            <a:solidFill>
              <a:schemeClr val="accent1"/>
            </a:solidFill>
            <a:prstDash val="solid"/>
          </a:ln>
        </p:spPr>
      </p:sp>
      <p:sp>
        <p:nvSpPr>
          <p:cNvPr id="4" name="Klassenname Held"/>
          <p:cNvSpPr txBox="1"/>
          <p:nvPr/>
        </p:nvSpPr>
        <p:spPr>
          <a:xfrm>
            <a:off x="548640" y="1371600"/>
            <a:ext cx="4846320" cy="378714"/>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600" b="1" dirty="0">
                <a:solidFill>
                  <a:schemeClr val="accent1"/>
                </a:solidFill>
              </a:rPr>
              <a:t>Held</a:t>
            </a:r>
            <a:endParaRPr lang="en-US" sz="1600" dirty="0"/>
          </a:p>
        </p:txBody>
      </p:sp>
      <p:sp>
        <p:nvSpPr>
          <p:cNvPr id="5" name="Attribute Held"/>
          <p:cNvSpPr txBox="1"/>
          <p:nvPr/>
        </p:nvSpPr>
        <p:spPr>
          <a:xfrm>
            <a:off x="548640" y="1750314"/>
            <a:ext cx="4846320" cy="107594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name: Zeichenkette</a:t>
            </a:r>
            <a:endParaRPr lang="en-US" sz="1500" dirty="0"/>
          </a:p>
          <a:p>
            <a:pPr algn="l" indent="0" marL="0">
              <a:lnSpc>
                <a:spcPts val="1800"/>
              </a:lnSpc>
              <a:buNone/>
            </a:pPr>
            <a:r>
              <a:rPr lang="en-US" sz="1500" dirty="0">
                <a:solidFill>
                  <a:schemeClr val="tx1"/>
                </a:solidFill>
              </a:rPr>
              <a:t>- inventar: Reihung von Gegenstand</a:t>
            </a:r>
            <a:endParaRPr lang="en-US" sz="1500" dirty="0"/>
          </a:p>
          <a:p>
            <a:pPr algn="l" indent="0" marL="0">
              <a:lnSpc>
                <a:spcPts val="1800"/>
              </a:lnSpc>
              <a:buNone/>
            </a:pPr>
            <a:r>
              <a:rPr lang="en-US" sz="1500" dirty="0">
                <a:solidFill>
                  <a:schemeClr val="tx1"/>
                </a:solidFill>
              </a:rPr>
              <a:t>- anzahl: Ganzzahl</a:t>
            </a:r>
            <a:endParaRPr lang="en-US" sz="1500" dirty="0"/>
          </a:p>
          <a:p>
            <a:pPr algn="l" indent="0" marL="0">
              <a:lnSpc>
                <a:spcPts val="1800"/>
              </a:lnSpc>
              <a:buNone/>
            </a:pPr>
            <a:r>
              <a:rPr lang="en-US" sz="1500" dirty="0">
                <a:solidFill>
                  <a:schemeClr val="tx1"/>
                </a:solidFill>
              </a:rPr>
              <a:t>…</a:t>
            </a:r>
            <a:endParaRPr lang="en-US" sz="1500" dirty="0"/>
          </a:p>
        </p:txBody>
      </p:sp>
      <p:sp>
        <p:nvSpPr>
          <p:cNvPr id="6" name="Linie"/>
          <p:cNvSpPr/>
          <p:nvPr/>
        </p:nvSpPr>
        <p:spPr>
          <a:xfrm>
            <a:off x="548640" y="2826258"/>
            <a:ext cx="4846320" cy="91"/>
          </a:xfrm>
          <a:prstGeom prst="line">
            <a:avLst/>
          </a:prstGeom>
          <a:noFill/>
          <a:ln w="22225">
            <a:solidFill>
              <a:schemeClr val="accent1"/>
            </a:solidFill>
            <a:prstDash val="solid"/>
          </a:ln>
        </p:spPr>
      </p:sp>
      <p:sp>
        <p:nvSpPr>
          <p:cNvPr id="7" name="Methoden Held"/>
          <p:cNvSpPr txBox="1"/>
          <p:nvPr/>
        </p:nvSpPr>
        <p:spPr>
          <a:xfrm>
            <a:off x="548640" y="2826258"/>
            <a:ext cx="4846320" cy="107594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c Held(name: Zeichenkette)</a:t>
            </a:r>
            <a:endParaRPr lang="en-US" sz="1500" dirty="0"/>
          </a:p>
          <a:p>
            <a:pPr algn="l" indent="0" marL="0">
              <a:lnSpc>
                <a:spcPts val="1800"/>
              </a:lnSpc>
              <a:buNone/>
            </a:pPr>
            <a:r>
              <a:rPr lang="en-US" sz="1500" dirty="0">
                <a:solidFill>
                  <a:schemeClr val="tx1"/>
                </a:solidFill>
              </a:rPr>
              <a:t>+ aufnehmen(g: Gegenstand): Wahrheitswert</a:t>
            </a:r>
            <a:endParaRPr lang="en-US" sz="1500" dirty="0"/>
          </a:p>
          <a:p>
            <a:pPr algn="l" indent="0" marL="0">
              <a:lnSpc>
                <a:spcPts val="1800"/>
              </a:lnSpc>
              <a:buNone/>
            </a:pPr>
            <a:r>
              <a:rPr lang="en-US" sz="1500" dirty="0">
                <a:solidFill>
                  <a:schemeClr val="tx1"/>
                </a:solidFill>
              </a:rPr>
              <a:t>+ gesamtWert(): Ganzzahl</a:t>
            </a:r>
            <a:endParaRPr lang="en-US" sz="1500" dirty="0"/>
          </a:p>
          <a:p>
            <a:pPr algn="l" indent="0" marL="0">
              <a:lnSpc>
                <a:spcPts val="1800"/>
              </a:lnSpc>
              <a:buNone/>
            </a:pPr>
            <a:r>
              <a:rPr lang="en-US" sz="1500" dirty="0">
                <a:solidFill>
                  <a:schemeClr val="tx1"/>
                </a:solidFill>
              </a:rPr>
              <a:t>…</a:t>
            </a:r>
            <a:endParaRPr lang="en-US" sz="1500" dirty="0"/>
          </a:p>
        </p:txBody>
      </p:sp>
      <p:sp>
        <p:nvSpPr>
          <p:cNvPr id="8" name="Klassenkarte Gegenstand"/>
          <p:cNvSpPr/>
          <p:nvPr/>
        </p:nvSpPr>
        <p:spPr>
          <a:xfrm>
            <a:off x="6766560" y="1371600"/>
            <a:ext cx="4846320" cy="2065782"/>
          </a:xfrm>
          <a:prstGeom prst="rect">
            <a:avLst/>
          </a:prstGeom>
          <a:solidFill>
            <a:schemeClr val="bg1"/>
          </a:solidFill>
          <a:ln w="22225">
            <a:solidFill>
              <a:schemeClr val="accent1"/>
            </a:solidFill>
            <a:prstDash val="solid"/>
          </a:ln>
        </p:spPr>
      </p:sp>
      <p:sp>
        <p:nvSpPr>
          <p:cNvPr id="9" name="Klassenname Gegenstand"/>
          <p:cNvSpPr txBox="1"/>
          <p:nvPr/>
        </p:nvSpPr>
        <p:spPr>
          <a:xfrm>
            <a:off x="6766560" y="1371600"/>
            <a:ext cx="4846320" cy="378714"/>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600" b="1" dirty="0">
                <a:solidFill>
                  <a:schemeClr val="accent1"/>
                </a:solidFill>
              </a:rPr>
              <a:t>Gegenstand</a:t>
            </a:r>
            <a:endParaRPr lang="en-US" sz="1600" dirty="0"/>
          </a:p>
        </p:txBody>
      </p:sp>
      <p:sp>
        <p:nvSpPr>
          <p:cNvPr id="10" name="Attribute Gegenstand"/>
          <p:cNvSpPr txBox="1"/>
          <p:nvPr/>
        </p:nvSpPr>
        <p:spPr>
          <a:xfrm>
            <a:off x="6766560" y="1750314"/>
            <a:ext cx="4846320" cy="61112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name: Zeichenkette</a:t>
            </a:r>
            <a:endParaRPr lang="en-US" sz="1500" dirty="0"/>
          </a:p>
          <a:p>
            <a:pPr algn="l" indent="0" marL="0">
              <a:lnSpc>
                <a:spcPts val="1800"/>
              </a:lnSpc>
              <a:buNone/>
            </a:pPr>
            <a:r>
              <a:rPr lang="en-US" sz="1500" dirty="0">
                <a:solidFill>
                  <a:schemeClr val="tx1"/>
                </a:solidFill>
              </a:rPr>
              <a:t>- wert: Ganzzahl</a:t>
            </a:r>
            <a:endParaRPr lang="en-US" sz="1500" dirty="0"/>
          </a:p>
        </p:txBody>
      </p:sp>
      <p:sp>
        <p:nvSpPr>
          <p:cNvPr id="11" name="Linie"/>
          <p:cNvSpPr/>
          <p:nvPr/>
        </p:nvSpPr>
        <p:spPr>
          <a:xfrm>
            <a:off x="6766560" y="2361438"/>
            <a:ext cx="4846320" cy="91"/>
          </a:xfrm>
          <a:prstGeom prst="line">
            <a:avLst/>
          </a:prstGeom>
          <a:noFill/>
          <a:ln w="22225">
            <a:solidFill>
              <a:schemeClr val="accent1"/>
            </a:solidFill>
            <a:prstDash val="solid"/>
          </a:ln>
        </p:spPr>
      </p:sp>
      <p:sp>
        <p:nvSpPr>
          <p:cNvPr id="12" name="Methoden Gegenstand"/>
          <p:cNvSpPr txBox="1"/>
          <p:nvPr/>
        </p:nvSpPr>
        <p:spPr>
          <a:xfrm>
            <a:off x="6766560" y="2361438"/>
            <a:ext cx="4846320" cy="107594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c Gegenstand(name: Zeichenkette, wert: Ganzzahl)</a:t>
            </a:r>
            <a:endParaRPr lang="en-US" sz="1500" dirty="0"/>
          </a:p>
          <a:p>
            <a:pPr algn="l" indent="0" marL="0">
              <a:lnSpc>
                <a:spcPts val="1800"/>
              </a:lnSpc>
              <a:buNone/>
            </a:pPr>
            <a:r>
              <a:rPr lang="en-US" sz="1500" dirty="0">
                <a:solidFill>
                  <a:schemeClr val="tx1"/>
                </a:solidFill>
              </a:rPr>
              <a:t>+ getName(): Zeichenkette</a:t>
            </a:r>
            <a:endParaRPr lang="en-US" sz="1500" dirty="0"/>
          </a:p>
          <a:p>
            <a:pPr algn="l" indent="0" marL="0">
              <a:lnSpc>
                <a:spcPts val="1800"/>
              </a:lnSpc>
              <a:buNone/>
            </a:pPr>
            <a:r>
              <a:rPr lang="en-US" sz="1500" dirty="0">
                <a:solidFill>
                  <a:schemeClr val="tx1"/>
                </a:solidFill>
              </a:rPr>
              <a:t>+ getWert(): Ganzzahl</a:t>
            </a:r>
            <a:endParaRPr lang="en-US" sz="1500" dirty="0"/>
          </a:p>
          <a:p>
            <a:pPr algn="l" indent="0" marL="0">
              <a:lnSpc>
                <a:spcPts val="1800"/>
              </a:lnSpc>
              <a:buNone/>
            </a:pPr>
            <a:r>
              <a:rPr lang="en-US" sz="1500" dirty="0">
                <a:solidFill>
                  <a:schemeClr val="tx1"/>
                </a:solidFill>
              </a:rPr>
              <a:t>+ beschreibung(): Zeichenkette</a:t>
            </a:r>
            <a:endParaRPr lang="en-US" sz="1500" dirty="0"/>
          </a:p>
        </p:txBody>
      </p:sp>
      <p:sp>
        <p:nvSpPr>
          <p:cNvPr id="13" name="Assoziation"/>
          <p:cNvSpPr/>
          <p:nvPr/>
        </p:nvSpPr>
        <p:spPr>
          <a:xfrm>
            <a:off x="5394960" y="2057400"/>
            <a:ext cx="1371600" cy="91"/>
          </a:xfrm>
          <a:prstGeom prst="line">
            <a:avLst/>
          </a:prstGeom>
          <a:noFill/>
          <a:ln w="28575">
            <a:solidFill>
              <a:schemeClr val="accent1"/>
            </a:solidFill>
            <a:prstDash val="solid"/>
          </a:ln>
        </p:spPr>
      </p:sp>
      <p:sp>
        <p:nvSpPr>
          <p:cNvPr id="14" name="Richtig"/>
          <p:cNvSpPr/>
          <p:nvPr/>
        </p:nvSpPr>
        <p:spPr>
          <a:xfrm>
            <a:off x="548640" y="4343400"/>
            <a:ext cx="5394960" cy="1463040"/>
          </a:xfrm>
          <a:prstGeom prst="roundRect">
            <a:avLst>
              <a:gd name="adj" fmla="val 7500"/>
            </a:avLst>
          </a:prstGeom>
          <a:solidFill>
            <a:schemeClr val="bg1"/>
          </a:solidFill>
          <a:ln w="25400">
            <a:solidFill>
              <a:schemeClr val="accent3"/>
            </a:solidFill>
            <a:prstDash val="solid"/>
          </a:ln>
        </p:spPr>
      </p:sp>
      <p:sp>
        <p:nvSpPr>
          <p:cNvPr id="15" name="Icon-Kreis"/>
          <p:cNvSpPr/>
          <p:nvPr/>
        </p:nvSpPr>
        <p:spPr>
          <a:xfrm>
            <a:off x="731520" y="4526280"/>
            <a:ext cx="548640" cy="548640"/>
          </a:xfrm>
          <a:prstGeom prst="ellipse">
            <a:avLst/>
          </a:prstGeom>
          <a:solidFill>
            <a:schemeClr val="accent3"/>
          </a:solidFill>
          <a:ln/>
        </p:spPr>
      </p:sp>
      <p:pic>
        <p:nvPicPr>
          <p:cNvPr id="16" name="Icon GiCheckMark" descr="preencoded.png">    </p:cNvPr>
          <p:cNvPicPr>
            <a:picLocks noChangeAspect="1"/>
          </p:cNvPicPr>
          <p:nvPr/>
        </p:nvPicPr>
        <p:blipFill>
          <a:blip r:embed="rId1"/>
          <a:stretch>
            <a:fillRect/>
          </a:stretch>
        </p:blipFill>
        <p:spPr>
          <a:xfrm>
            <a:off x="852221" y="4646981"/>
            <a:ext cx="307238" cy="307238"/>
          </a:xfrm>
          <a:prstGeom prst="rect">
            <a:avLst/>
          </a:prstGeom>
        </p:spPr>
      </p:pic>
      <p:sp>
        <p:nvSpPr>
          <p:cNvPr id="17" name="Text 14"/>
          <p:cNvSpPr txBox="1"/>
          <p:nvPr/>
        </p:nvSpPr>
        <p:spPr>
          <a:xfrm>
            <a:off x="1417320" y="4480560"/>
            <a:ext cx="4389120" cy="146304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chemeClr val="tx1"/>
                </a:solidFill>
              </a:rPr>
              <a:t>einfache Linie zwischen den Klassen</a:t>
            </a:r>
            <a:endParaRPr lang="en-US" sz="1700" dirty="0"/>
          </a:p>
          <a:p>
            <a:pPr marL="342900" indent="-342900">
              <a:spcAft>
                <a:spcPts val="400"/>
              </a:spcAft>
              <a:buSzPct val="100000"/>
              <a:buChar char="•"/>
            </a:pPr>
            <a:r>
              <a:rPr lang="en-US" sz="1700" dirty="0">
                <a:solidFill>
                  <a:schemeClr val="tx1"/>
                </a:solidFill>
              </a:rPr>
              <a:t>ohne Beschriftung, ohne Zahlen</a:t>
            </a:r>
            <a:endParaRPr lang="en-US" sz="1700" dirty="0"/>
          </a:p>
          <a:p>
            <a:pPr marL="342900" indent="-342900">
              <a:spcAft>
                <a:spcPts val="400"/>
              </a:spcAft>
              <a:buSzPct val="100000"/>
              <a:buChar char="•"/>
            </a:pPr>
            <a:r>
              <a:rPr lang="en-US" sz="1700" dirty="0">
                <a:solidFill>
                  <a:schemeClr val="tx1"/>
                </a:solidFill>
              </a:rPr>
              <a:t>wenn ein Attribut den Typ der anderen Klasse hat</a:t>
            </a:r>
            <a:endParaRPr lang="en-US" sz="1700" dirty="0"/>
          </a:p>
        </p:txBody>
      </p:sp>
      <p:sp>
        <p:nvSpPr>
          <p:cNvPr id="18" name="Falsch"/>
          <p:cNvSpPr/>
          <p:nvPr/>
        </p:nvSpPr>
        <p:spPr>
          <a:xfrm>
            <a:off x="6217920" y="4343400"/>
            <a:ext cx="5394960" cy="1463040"/>
          </a:xfrm>
          <a:prstGeom prst="roundRect">
            <a:avLst>
              <a:gd name="adj" fmla="val 7500"/>
            </a:avLst>
          </a:prstGeom>
          <a:solidFill>
            <a:schemeClr val="bg1"/>
          </a:solidFill>
          <a:ln w="25400">
            <a:solidFill>
              <a:schemeClr val="accent4"/>
            </a:solidFill>
            <a:prstDash val="solid"/>
          </a:ln>
        </p:spPr>
      </p:sp>
      <p:sp>
        <p:nvSpPr>
          <p:cNvPr id="19" name="Icon-Kreis"/>
          <p:cNvSpPr/>
          <p:nvPr/>
        </p:nvSpPr>
        <p:spPr>
          <a:xfrm>
            <a:off x="6400800" y="4526280"/>
            <a:ext cx="548640" cy="548640"/>
          </a:xfrm>
          <a:prstGeom prst="ellipse">
            <a:avLst/>
          </a:prstGeom>
          <a:solidFill>
            <a:schemeClr val="accent4"/>
          </a:solidFill>
          <a:ln/>
        </p:spPr>
      </p:sp>
      <p:pic>
        <p:nvPicPr>
          <p:cNvPr id="20" name="Icon GiCancel" descr="preencoded.png">    </p:cNvPr>
          <p:cNvPicPr>
            <a:picLocks noChangeAspect="1"/>
          </p:cNvPicPr>
          <p:nvPr/>
        </p:nvPicPr>
        <p:blipFill>
          <a:blip r:embed="rId2"/>
          <a:stretch>
            <a:fillRect/>
          </a:stretch>
        </p:blipFill>
        <p:spPr>
          <a:xfrm>
            <a:off x="6521501" y="4646981"/>
            <a:ext cx="307238" cy="307238"/>
          </a:xfrm>
          <a:prstGeom prst="rect">
            <a:avLst/>
          </a:prstGeom>
        </p:spPr>
      </p:pic>
      <p:sp>
        <p:nvSpPr>
          <p:cNvPr id="21" name="Text 17"/>
          <p:cNvSpPr txBox="1"/>
          <p:nvPr/>
        </p:nvSpPr>
        <p:spPr>
          <a:xfrm>
            <a:off x="7086600" y="4480560"/>
            <a:ext cx="4389120" cy="146304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chemeClr val="tx1"/>
                </a:solidFill>
              </a:rPr>
              <a:t>keine Kardinalitäten wie 0..5 oder *</a:t>
            </a:r>
            <a:endParaRPr lang="en-US" sz="1700" dirty="0"/>
          </a:p>
          <a:p>
            <a:pPr marL="342900" indent="-342900">
              <a:spcAft>
                <a:spcPts val="400"/>
              </a:spcAft>
              <a:buSzPct val="100000"/>
              <a:buChar char="•"/>
            </a:pPr>
            <a:r>
              <a:rPr lang="en-US" sz="1700" dirty="0">
                <a:solidFill>
                  <a:schemeClr val="tx1"/>
                </a:solidFill>
              </a:rPr>
              <a:t>keine Rauten, keine Rollennamen</a:t>
            </a:r>
            <a:endParaRPr lang="en-US" sz="1700" dirty="0"/>
          </a:p>
          <a:p>
            <a:pPr marL="342900" indent="-342900">
              <a:spcAft>
                <a:spcPts val="400"/>
              </a:spcAft>
              <a:buSzPct val="100000"/>
              <a:buChar char="•"/>
            </a:pPr>
            <a:r>
              <a:rPr lang="en-US" sz="1700" dirty="0">
                <a:solidFill>
                  <a:schemeClr val="tx1"/>
                </a:solidFill>
              </a:rPr>
              <a:t>keine Pfeilspitzen an Assoziationen</a:t>
            </a:r>
            <a:endParaRPr lang="en-US" sz="17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Vererbung: Eine Waffe ist ein Gegenstand</a:t>
            </a:r>
            <a:endParaRPr lang="en-US" sz="3600" dirty="0"/>
          </a:p>
        </p:txBody>
      </p:sp>
      <p:sp>
        <p:nvSpPr>
          <p:cNvPr id="3" name="Klassenkarte Gegenstand"/>
          <p:cNvSpPr/>
          <p:nvPr/>
        </p:nvSpPr>
        <p:spPr>
          <a:xfrm>
            <a:off x="3840480" y="1280160"/>
            <a:ext cx="4480560" cy="2065782"/>
          </a:xfrm>
          <a:prstGeom prst="rect">
            <a:avLst/>
          </a:prstGeom>
          <a:solidFill>
            <a:schemeClr val="bg1"/>
          </a:solidFill>
          <a:ln w="22225">
            <a:solidFill>
              <a:schemeClr val="accent1"/>
            </a:solidFill>
            <a:prstDash val="solid"/>
          </a:ln>
        </p:spPr>
      </p:sp>
      <p:sp>
        <p:nvSpPr>
          <p:cNvPr id="4" name="Klassenname Gegenstand"/>
          <p:cNvSpPr txBox="1"/>
          <p:nvPr/>
        </p:nvSpPr>
        <p:spPr>
          <a:xfrm>
            <a:off x="3840480" y="1280160"/>
            <a:ext cx="4480560" cy="378714"/>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600" b="1" dirty="0">
                <a:solidFill>
                  <a:schemeClr val="accent1"/>
                </a:solidFill>
              </a:rPr>
              <a:t>Gegenstand</a:t>
            </a:r>
            <a:endParaRPr lang="en-US" sz="1600" dirty="0"/>
          </a:p>
        </p:txBody>
      </p:sp>
      <p:sp>
        <p:nvSpPr>
          <p:cNvPr id="5" name="Attribute Gegenstand"/>
          <p:cNvSpPr txBox="1"/>
          <p:nvPr/>
        </p:nvSpPr>
        <p:spPr>
          <a:xfrm>
            <a:off x="3840480" y="1658874"/>
            <a:ext cx="4480560" cy="61112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name: Zeichenkette</a:t>
            </a:r>
            <a:endParaRPr lang="en-US" sz="1500" dirty="0"/>
          </a:p>
          <a:p>
            <a:pPr algn="l" indent="0" marL="0">
              <a:lnSpc>
                <a:spcPts val="1800"/>
              </a:lnSpc>
              <a:buNone/>
            </a:pPr>
            <a:r>
              <a:rPr lang="en-US" sz="1500" dirty="0">
                <a:solidFill>
                  <a:schemeClr val="tx1"/>
                </a:solidFill>
              </a:rPr>
              <a:t>- wert: Ganzzahl</a:t>
            </a:r>
            <a:endParaRPr lang="en-US" sz="1500" dirty="0"/>
          </a:p>
        </p:txBody>
      </p:sp>
      <p:sp>
        <p:nvSpPr>
          <p:cNvPr id="6" name="Linie"/>
          <p:cNvSpPr/>
          <p:nvPr/>
        </p:nvSpPr>
        <p:spPr>
          <a:xfrm>
            <a:off x="3840480" y="2269998"/>
            <a:ext cx="4480560" cy="91"/>
          </a:xfrm>
          <a:prstGeom prst="line">
            <a:avLst/>
          </a:prstGeom>
          <a:noFill/>
          <a:ln w="22225">
            <a:solidFill>
              <a:schemeClr val="accent1"/>
            </a:solidFill>
            <a:prstDash val="solid"/>
          </a:ln>
        </p:spPr>
      </p:sp>
      <p:sp>
        <p:nvSpPr>
          <p:cNvPr id="7" name="Methoden Gegenstand"/>
          <p:cNvSpPr txBox="1"/>
          <p:nvPr/>
        </p:nvSpPr>
        <p:spPr>
          <a:xfrm>
            <a:off x="3840480" y="2269998"/>
            <a:ext cx="4480560" cy="107594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c Gegenstand(name: Zeichenkette, wert: Ganzzahl)</a:t>
            </a:r>
            <a:endParaRPr lang="en-US" sz="1500" dirty="0"/>
          </a:p>
          <a:p>
            <a:pPr algn="l" indent="0" marL="0">
              <a:lnSpc>
                <a:spcPts val="1800"/>
              </a:lnSpc>
              <a:buNone/>
            </a:pPr>
            <a:r>
              <a:rPr lang="en-US" sz="1500" dirty="0">
                <a:solidFill>
                  <a:schemeClr val="tx1"/>
                </a:solidFill>
              </a:rPr>
              <a:t>+ getName(): Zeichenkette</a:t>
            </a:r>
            <a:endParaRPr lang="en-US" sz="1500" dirty="0"/>
          </a:p>
          <a:p>
            <a:pPr algn="l" indent="0" marL="0">
              <a:lnSpc>
                <a:spcPts val="1800"/>
              </a:lnSpc>
              <a:buNone/>
            </a:pPr>
            <a:r>
              <a:rPr lang="en-US" sz="1500" dirty="0">
                <a:solidFill>
                  <a:schemeClr val="tx1"/>
                </a:solidFill>
              </a:rPr>
              <a:t>+ getWert(): Ganzzahl</a:t>
            </a:r>
            <a:endParaRPr lang="en-US" sz="1500" dirty="0"/>
          </a:p>
          <a:p>
            <a:pPr algn="l" indent="0" marL="0">
              <a:lnSpc>
                <a:spcPts val="1800"/>
              </a:lnSpc>
              <a:buNone/>
            </a:pPr>
            <a:r>
              <a:rPr lang="en-US" sz="1500" dirty="0">
                <a:solidFill>
                  <a:schemeClr val="tx1"/>
                </a:solidFill>
              </a:rPr>
              <a:t>+ beschreibung(): Zeichenkette</a:t>
            </a:r>
            <a:endParaRPr lang="en-US" sz="1500" dirty="0"/>
          </a:p>
        </p:txBody>
      </p:sp>
      <p:sp>
        <p:nvSpPr>
          <p:cNvPr id="8" name="Vererbungspfeil"/>
          <p:cNvSpPr/>
          <p:nvPr/>
        </p:nvSpPr>
        <p:spPr>
          <a:xfrm>
            <a:off x="5897880" y="3345942"/>
            <a:ext cx="365760" cy="274320"/>
          </a:xfrm>
          <a:prstGeom prst="triangle">
            <a:avLst/>
          </a:prstGeom>
          <a:solidFill>
            <a:schemeClr val="bg1"/>
          </a:solidFill>
          <a:ln w="25400">
            <a:solidFill>
              <a:schemeClr val="accent1"/>
            </a:solidFill>
            <a:prstDash val="solid"/>
          </a:ln>
        </p:spPr>
      </p:sp>
      <p:sp>
        <p:nvSpPr>
          <p:cNvPr id="9" name="Linie"/>
          <p:cNvSpPr/>
          <p:nvPr/>
        </p:nvSpPr>
        <p:spPr>
          <a:xfrm>
            <a:off x="6080760" y="3620262"/>
            <a:ext cx="91" cy="220218"/>
          </a:xfrm>
          <a:prstGeom prst="line">
            <a:avLst/>
          </a:prstGeom>
          <a:noFill/>
          <a:ln w="25400">
            <a:solidFill>
              <a:schemeClr val="accent1"/>
            </a:solidFill>
            <a:prstDash val="solid"/>
          </a:ln>
        </p:spPr>
      </p:sp>
      <p:sp>
        <p:nvSpPr>
          <p:cNvPr id="10" name="Linie"/>
          <p:cNvSpPr/>
          <p:nvPr/>
        </p:nvSpPr>
        <p:spPr>
          <a:xfrm>
            <a:off x="2331720" y="3840480"/>
            <a:ext cx="7498080" cy="91"/>
          </a:xfrm>
          <a:prstGeom prst="line">
            <a:avLst/>
          </a:prstGeom>
          <a:noFill/>
          <a:ln w="25400">
            <a:solidFill>
              <a:schemeClr val="accent1"/>
            </a:solidFill>
            <a:prstDash val="solid"/>
          </a:ln>
        </p:spPr>
      </p:sp>
      <p:sp>
        <p:nvSpPr>
          <p:cNvPr id="11" name="Linie"/>
          <p:cNvSpPr/>
          <p:nvPr/>
        </p:nvSpPr>
        <p:spPr>
          <a:xfrm>
            <a:off x="2331720" y="3840480"/>
            <a:ext cx="91" cy="228600"/>
          </a:xfrm>
          <a:prstGeom prst="line">
            <a:avLst/>
          </a:prstGeom>
          <a:noFill/>
          <a:ln w="25400">
            <a:solidFill>
              <a:schemeClr val="accent1"/>
            </a:solidFill>
            <a:prstDash val="solid"/>
          </a:ln>
        </p:spPr>
      </p:sp>
      <p:sp>
        <p:nvSpPr>
          <p:cNvPr id="12" name="Klassenkarte Waffe"/>
          <p:cNvSpPr/>
          <p:nvPr/>
        </p:nvSpPr>
        <p:spPr>
          <a:xfrm>
            <a:off x="548640" y="4069080"/>
            <a:ext cx="3566160" cy="1833372"/>
          </a:xfrm>
          <a:prstGeom prst="rect">
            <a:avLst/>
          </a:prstGeom>
          <a:solidFill>
            <a:schemeClr val="bg1"/>
          </a:solidFill>
          <a:ln w="22225">
            <a:solidFill>
              <a:schemeClr val="accent1"/>
            </a:solidFill>
            <a:prstDash val="solid"/>
          </a:ln>
        </p:spPr>
      </p:sp>
      <p:sp>
        <p:nvSpPr>
          <p:cNvPr id="13" name="Klassenname Waffe"/>
          <p:cNvSpPr txBox="1"/>
          <p:nvPr/>
        </p:nvSpPr>
        <p:spPr>
          <a:xfrm>
            <a:off x="548640" y="4069080"/>
            <a:ext cx="3566160" cy="378714"/>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600" b="1" dirty="0">
                <a:solidFill>
                  <a:schemeClr val="accent1"/>
                </a:solidFill>
              </a:rPr>
              <a:t>Waffe</a:t>
            </a:r>
            <a:endParaRPr lang="en-US" sz="1600" dirty="0"/>
          </a:p>
        </p:txBody>
      </p:sp>
      <p:sp>
        <p:nvSpPr>
          <p:cNvPr id="14" name="Attribute Waffe"/>
          <p:cNvSpPr txBox="1"/>
          <p:nvPr/>
        </p:nvSpPr>
        <p:spPr>
          <a:xfrm>
            <a:off x="548640" y="4447794"/>
            <a:ext cx="3566160" cy="37871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schaden: Ganzzahl</a:t>
            </a:r>
            <a:endParaRPr lang="en-US" sz="1500" dirty="0"/>
          </a:p>
        </p:txBody>
      </p:sp>
      <p:sp>
        <p:nvSpPr>
          <p:cNvPr id="15" name="Linie"/>
          <p:cNvSpPr/>
          <p:nvPr/>
        </p:nvSpPr>
        <p:spPr>
          <a:xfrm>
            <a:off x="548640" y="4826508"/>
            <a:ext cx="3566160" cy="91"/>
          </a:xfrm>
          <a:prstGeom prst="line">
            <a:avLst/>
          </a:prstGeom>
          <a:noFill/>
          <a:ln w="22225">
            <a:solidFill>
              <a:schemeClr val="accent1"/>
            </a:solidFill>
            <a:prstDash val="solid"/>
          </a:ln>
        </p:spPr>
      </p:sp>
      <p:sp>
        <p:nvSpPr>
          <p:cNvPr id="16" name="Methoden Waffe"/>
          <p:cNvSpPr txBox="1"/>
          <p:nvPr/>
        </p:nvSpPr>
        <p:spPr>
          <a:xfrm>
            <a:off x="548640" y="4826508"/>
            <a:ext cx="3566160" cy="107594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c Waffe(name: Zeichenkette,</a:t>
            </a:r>
            <a:endParaRPr lang="en-US" sz="1500" dirty="0"/>
          </a:p>
          <a:p>
            <a:pPr algn="l" indent="0" marL="0">
              <a:lnSpc>
                <a:spcPts val="1800"/>
              </a:lnSpc>
              <a:buNone/>
            </a:pPr>
            <a:r>
              <a:rPr lang="en-US" sz="1500" dirty="0">
                <a:solidFill>
                  <a:schemeClr val="tx1"/>
                </a:solidFill>
              </a:rPr>
              <a:t>      wert: Ganzzahl, schaden: Ganzzahl)</a:t>
            </a:r>
            <a:endParaRPr lang="en-US" sz="1500" dirty="0"/>
          </a:p>
          <a:p>
            <a:pPr algn="l" indent="0" marL="0">
              <a:lnSpc>
                <a:spcPts val="1800"/>
              </a:lnSpc>
              <a:buNone/>
            </a:pPr>
            <a:r>
              <a:rPr lang="en-US" sz="1500" dirty="0">
                <a:solidFill>
                  <a:schemeClr val="tx1"/>
                </a:solidFill>
              </a:rPr>
              <a:t>+ getSchaden(): Ganzzahl</a:t>
            </a:r>
            <a:endParaRPr lang="en-US" sz="1500" dirty="0"/>
          </a:p>
          <a:p>
            <a:pPr algn="l" indent="0" marL="0">
              <a:lnSpc>
                <a:spcPts val="1800"/>
              </a:lnSpc>
              <a:buNone/>
            </a:pPr>
            <a:r>
              <a:rPr lang="en-US" sz="1500" dirty="0">
                <a:solidFill>
                  <a:schemeClr val="tx1"/>
                </a:solidFill>
              </a:rPr>
              <a:t>+ beschreibung(): Zeichenkette</a:t>
            </a:r>
            <a:endParaRPr lang="en-US" sz="1500" dirty="0"/>
          </a:p>
        </p:txBody>
      </p:sp>
      <p:sp>
        <p:nvSpPr>
          <p:cNvPr id="17" name="Linie"/>
          <p:cNvSpPr/>
          <p:nvPr/>
        </p:nvSpPr>
        <p:spPr>
          <a:xfrm>
            <a:off x="6080760" y="3840480"/>
            <a:ext cx="91" cy="228600"/>
          </a:xfrm>
          <a:prstGeom prst="line">
            <a:avLst/>
          </a:prstGeom>
          <a:noFill/>
          <a:ln w="25400">
            <a:solidFill>
              <a:schemeClr val="accent1"/>
            </a:solidFill>
            <a:prstDash val="solid"/>
          </a:ln>
        </p:spPr>
      </p:sp>
      <p:sp>
        <p:nvSpPr>
          <p:cNvPr id="18" name="Klassenkarte Trank"/>
          <p:cNvSpPr/>
          <p:nvPr/>
        </p:nvSpPr>
        <p:spPr>
          <a:xfrm>
            <a:off x="4297680" y="4069080"/>
            <a:ext cx="3566160" cy="1833372"/>
          </a:xfrm>
          <a:prstGeom prst="rect">
            <a:avLst/>
          </a:prstGeom>
          <a:solidFill>
            <a:schemeClr val="bg1"/>
          </a:solidFill>
          <a:ln w="22225">
            <a:solidFill>
              <a:schemeClr val="accent1"/>
            </a:solidFill>
            <a:prstDash val="solid"/>
          </a:ln>
        </p:spPr>
      </p:sp>
      <p:sp>
        <p:nvSpPr>
          <p:cNvPr id="19" name="Klassenname Trank"/>
          <p:cNvSpPr txBox="1"/>
          <p:nvPr/>
        </p:nvSpPr>
        <p:spPr>
          <a:xfrm>
            <a:off x="4297680" y="4069080"/>
            <a:ext cx="3566160" cy="378714"/>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600" b="1" dirty="0">
                <a:solidFill>
                  <a:schemeClr val="accent1"/>
                </a:solidFill>
              </a:rPr>
              <a:t>Trank</a:t>
            </a:r>
            <a:endParaRPr lang="en-US" sz="1600" dirty="0"/>
          </a:p>
        </p:txBody>
      </p:sp>
      <p:sp>
        <p:nvSpPr>
          <p:cNvPr id="20" name="Attribute Trank"/>
          <p:cNvSpPr txBox="1"/>
          <p:nvPr/>
        </p:nvSpPr>
        <p:spPr>
          <a:xfrm>
            <a:off x="4297680" y="4447794"/>
            <a:ext cx="3566160" cy="37871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heilwert: Ganzzahl</a:t>
            </a:r>
            <a:endParaRPr lang="en-US" sz="1500" dirty="0"/>
          </a:p>
        </p:txBody>
      </p:sp>
      <p:sp>
        <p:nvSpPr>
          <p:cNvPr id="21" name="Linie"/>
          <p:cNvSpPr/>
          <p:nvPr/>
        </p:nvSpPr>
        <p:spPr>
          <a:xfrm>
            <a:off x="4297680" y="4826508"/>
            <a:ext cx="3566160" cy="91"/>
          </a:xfrm>
          <a:prstGeom prst="line">
            <a:avLst/>
          </a:prstGeom>
          <a:noFill/>
          <a:ln w="22225">
            <a:solidFill>
              <a:schemeClr val="accent1"/>
            </a:solidFill>
            <a:prstDash val="solid"/>
          </a:ln>
        </p:spPr>
      </p:sp>
      <p:sp>
        <p:nvSpPr>
          <p:cNvPr id="22" name="Methoden Trank"/>
          <p:cNvSpPr txBox="1"/>
          <p:nvPr/>
        </p:nvSpPr>
        <p:spPr>
          <a:xfrm>
            <a:off x="4297680" y="4826508"/>
            <a:ext cx="3566160" cy="107594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c Trank(name: Zeichenkette,</a:t>
            </a:r>
            <a:endParaRPr lang="en-US" sz="1500" dirty="0"/>
          </a:p>
          <a:p>
            <a:pPr algn="l" indent="0" marL="0">
              <a:lnSpc>
                <a:spcPts val="1800"/>
              </a:lnSpc>
              <a:buNone/>
            </a:pPr>
            <a:r>
              <a:rPr lang="en-US" sz="1500" dirty="0">
                <a:solidFill>
                  <a:schemeClr val="tx1"/>
                </a:solidFill>
              </a:rPr>
              <a:t>      wert: Ganzzahl, heilwert: Ganzzahl)</a:t>
            </a:r>
            <a:endParaRPr lang="en-US" sz="1500" dirty="0"/>
          </a:p>
          <a:p>
            <a:pPr algn="l" indent="0" marL="0">
              <a:lnSpc>
                <a:spcPts val="1800"/>
              </a:lnSpc>
              <a:buNone/>
            </a:pPr>
            <a:r>
              <a:rPr lang="en-US" sz="1500" dirty="0">
                <a:solidFill>
                  <a:schemeClr val="tx1"/>
                </a:solidFill>
              </a:rPr>
              <a:t>+ getHeilwert(): Ganzzahl</a:t>
            </a:r>
            <a:endParaRPr lang="en-US" sz="1500" dirty="0"/>
          </a:p>
          <a:p>
            <a:pPr algn="l" indent="0" marL="0">
              <a:lnSpc>
                <a:spcPts val="1800"/>
              </a:lnSpc>
              <a:buNone/>
            </a:pPr>
            <a:r>
              <a:rPr lang="en-US" sz="1500" dirty="0">
                <a:solidFill>
                  <a:schemeClr val="tx1"/>
                </a:solidFill>
              </a:rPr>
              <a:t>+ beschreibung(): Zeichenkette</a:t>
            </a:r>
            <a:endParaRPr lang="en-US" sz="1500" dirty="0"/>
          </a:p>
        </p:txBody>
      </p:sp>
      <p:sp>
        <p:nvSpPr>
          <p:cNvPr id="23" name="Linie"/>
          <p:cNvSpPr/>
          <p:nvPr/>
        </p:nvSpPr>
        <p:spPr>
          <a:xfrm>
            <a:off x="9829800" y="3840480"/>
            <a:ext cx="91" cy="228600"/>
          </a:xfrm>
          <a:prstGeom prst="line">
            <a:avLst/>
          </a:prstGeom>
          <a:noFill/>
          <a:ln w="25400">
            <a:solidFill>
              <a:schemeClr val="accent1"/>
            </a:solidFill>
            <a:prstDash val="solid"/>
          </a:ln>
        </p:spPr>
      </p:sp>
      <p:sp>
        <p:nvSpPr>
          <p:cNvPr id="24" name="Klassenkarte Schluessel"/>
          <p:cNvSpPr/>
          <p:nvPr/>
        </p:nvSpPr>
        <p:spPr>
          <a:xfrm>
            <a:off x="8046720" y="4069080"/>
            <a:ext cx="3566160" cy="1600962"/>
          </a:xfrm>
          <a:prstGeom prst="rect">
            <a:avLst/>
          </a:prstGeom>
          <a:solidFill>
            <a:schemeClr val="bg1"/>
          </a:solidFill>
          <a:ln w="22225">
            <a:solidFill>
              <a:schemeClr val="accent1"/>
            </a:solidFill>
            <a:prstDash val="solid"/>
          </a:ln>
        </p:spPr>
      </p:sp>
      <p:sp>
        <p:nvSpPr>
          <p:cNvPr id="25" name="Klassenname Schluessel"/>
          <p:cNvSpPr txBox="1"/>
          <p:nvPr/>
        </p:nvSpPr>
        <p:spPr>
          <a:xfrm>
            <a:off x="8046720" y="4069080"/>
            <a:ext cx="3566160" cy="378714"/>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600" b="1" dirty="0">
                <a:solidFill>
                  <a:schemeClr val="accent1"/>
                </a:solidFill>
              </a:rPr>
              <a:t>Schluessel</a:t>
            </a:r>
            <a:endParaRPr lang="en-US" sz="1600" dirty="0"/>
          </a:p>
        </p:txBody>
      </p:sp>
      <p:sp>
        <p:nvSpPr>
          <p:cNvPr id="26" name="Attribute Schluessel"/>
          <p:cNvSpPr txBox="1"/>
          <p:nvPr/>
        </p:nvSpPr>
        <p:spPr>
          <a:xfrm>
            <a:off x="8046720" y="4447794"/>
            <a:ext cx="3566160" cy="37871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tuer: Ganzzahl</a:t>
            </a:r>
            <a:endParaRPr lang="en-US" sz="1500" dirty="0"/>
          </a:p>
        </p:txBody>
      </p:sp>
      <p:sp>
        <p:nvSpPr>
          <p:cNvPr id="27" name="Linie"/>
          <p:cNvSpPr/>
          <p:nvPr/>
        </p:nvSpPr>
        <p:spPr>
          <a:xfrm>
            <a:off x="8046720" y="4826508"/>
            <a:ext cx="3566160" cy="91"/>
          </a:xfrm>
          <a:prstGeom prst="line">
            <a:avLst/>
          </a:prstGeom>
          <a:noFill/>
          <a:ln w="22225">
            <a:solidFill>
              <a:schemeClr val="accent1"/>
            </a:solidFill>
            <a:prstDash val="solid"/>
          </a:ln>
        </p:spPr>
      </p:sp>
      <p:sp>
        <p:nvSpPr>
          <p:cNvPr id="28" name="Methoden Schluessel"/>
          <p:cNvSpPr txBox="1"/>
          <p:nvPr/>
        </p:nvSpPr>
        <p:spPr>
          <a:xfrm>
            <a:off x="8046720" y="4826508"/>
            <a:ext cx="3566160" cy="84353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c Schluessel(name: Zeichenkette,</a:t>
            </a:r>
            <a:endParaRPr lang="en-US" sz="1500" dirty="0"/>
          </a:p>
          <a:p>
            <a:pPr algn="l" indent="0" marL="0">
              <a:lnSpc>
                <a:spcPts val="1800"/>
              </a:lnSpc>
              <a:buNone/>
            </a:pPr>
            <a:r>
              <a:rPr lang="en-US" sz="1500" dirty="0">
                <a:solidFill>
                  <a:schemeClr val="tx1"/>
                </a:solidFill>
              </a:rPr>
              <a:t>      wert: Ganzzahl, tuer: Ganzzahl)</a:t>
            </a:r>
            <a:endParaRPr lang="en-US" sz="1500" dirty="0"/>
          </a:p>
          <a:p>
            <a:pPr algn="l" indent="0" marL="0">
              <a:lnSpc>
                <a:spcPts val="1800"/>
              </a:lnSpc>
              <a:buNone/>
            </a:pPr>
            <a:r>
              <a:rPr lang="en-US" sz="1500" dirty="0">
                <a:solidFill>
                  <a:schemeClr val="tx1"/>
                </a:solidFill>
              </a:rPr>
              <a:t>+ getTuer(): Ganzzahl</a:t>
            </a:r>
            <a:endParaRPr lang="en-US" sz="1500" dirty="0"/>
          </a:p>
        </p:txBody>
      </p:sp>
      <p:sp>
        <p:nvSpPr>
          <p:cNvPr id="29" name="Text 27"/>
          <p:cNvSpPr txBox="1"/>
          <p:nvPr/>
        </p:nvSpPr>
        <p:spPr>
          <a:xfrm>
            <a:off x="548640" y="5975604"/>
            <a:ext cx="3566160" cy="320040"/>
          </a:xfrm>
          <a:prstGeom prst="rect">
            <a:avLst/>
          </a:prstGeom>
          <a:noFill/>
          <a:ln/>
        </p:spPr>
        <p:txBody>
          <a:bodyPr wrap="square" lIns="0" tIns="0" rIns="0" bIns="0" rtlCol="0" anchor="t"/>
          <a:lstStyle/>
          <a:p>
            <a:pPr algn="ctr" indent="0" marL="0">
              <a:buNone/>
            </a:pPr>
            <a:r>
              <a:rPr lang="en-US" sz="1500" b="1" i="1" dirty="0">
                <a:solidFill>
                  <a:schemeClr val="accent2"/>
                </a:solidFill>
              </a:rPr>
              <a:t>überschreibt beschreibung()</a:t>
            </a:r>
            <a:endParaRPr lang="en-US" sz="1500" dirty="0"/>
          </a:p>
        </p:txBody>
      </p:sp>
      <p:sp>
        <p:nvSpPr>
          <p:cNvPr id="30" name="Text 28"/>
          <p:cNvSpPr txBox="1"/>
          <p:nvPr/>
        </p:nvSpPr>
        <p:spPr>
          <a:xfrm>
            <a:off x="4297680" y="5975604"/>
            <a:ext cx="3566160" cy="320040"/>
          </a:xfrm>
          <a:prstGeom prst="rect">
            <a:avLst/>
          </a:prstGeom>
          <a:noFill/>
          <a:ln/>
        </p:spPr>
        <p:txBody>
          <a:bodyPr wrap="square" lIns="0" tIns="0" rIns="0" bIns="0" rtlCol="0" anchor="t"/>
          <a:lstStyle/>
          <a:p>
            <a:pPr algn="ctr" indent="0" marL="0">
              <a:buNone/>
            </a:pPr>
            <a:r>
              <a:rPr lang="en-US" sz="1500" b="1" i="1" dirty="0">
                <a:solidFill>
                  <a:schemeClr val="accent2"/>
                </a:solidFill>
              </a:rPr>
              <a:t>überschreibt beschreibung()</a:t>
            </a:r>
            <a:endParaRPr lang="en-US" sz="1500" dirty="0"/>
          </a:p>
        </p:txBody>
      </p:sp>
      <p:sp>
        <p:nvSpPr>
          <p:cNvPr id="31" name="Text 29"/>
          <p:cNvSpPr txBox="1"/>
          <p:nvPr/>
        </p:nvSpPr>
        <p:spPr>
          <a:xfrm>
            <a:off x="8046720" y="5975604"/>
            <a:ext cx="3566160" cy="320040"/>
          </a:xfrm>
          <a:prstGeom prst="rect">
            <a:avLst/>
          </a:prstGeom>
          <a:noFill/>
          <a:ln/>
        </p:spPr>
        <p:txBody>
          <a:bodyPr wrap="square" lIns="0" tIns="0" rIns="0" bIns="0" rtlCol="0" anchor="t"/>
          <a:lstStyle/>
          <a:p>
            <a:pPr algn="ctr" indent="0" marL="0">
              <a:buNone/>
            </a:pPr>
            <a:r>
              <a:rPr lang="en-US" sz="1500" b="1" i="1" dirty="0">
                <a:solidFill>
                  <a:schemeClr val="accent6"/>
                </a:solidFill>
              </a:rPr>
              <a:t>erbt beschreibung() unverändert</a:t>
            </a:r>
            <a:endParaRPr lang="en-US" sz="1500" dirty="0"/>
          </a:p>
        </p:txBody>
      </p:sp>
      <p:sp>
        <p:nvSpPr>
          <p:cNvPr id="32" name="Text 30"/>
          <p:cNvSpPr txBox="1"/>
          <p:nvPr/>
        </p:nvSpPr>
        <p:spPr>
          <a:xfrm>
            <a:off x="548640" y="1371600"/>
            <a:ext cx="3017520" cy="914400"/>
          </a:xfrm>
          <a:prstGeom prst="rect">
            <a:avLst/>
          </a:prstGeom>
          <a:noFill/>
          <a:ln/>
        </p:spPr>
        <p:txBody>
          <a:bodyPr wrap="square" lIns="0" tIns="0" rIns="0" bIns="0" rtlCol="0" anchor="t"/>
          <a:lstStyle/>
          <a:p>
            <a:pPr indent="0" marL="0">
              <a:buNone/>
            </a:pPr>
            <a:r>
              <a:rPr lang="en-US" sz="2000" b="1" dirty="0">
                <a:solidFill>
                  <a:schemeClr val="accent1"/>
                </a:solidFill>
              </a:rPr>
              <a:t>Oberklasse</a:t>
            </a:r>
            <a:endParaRPr lang="en-US" sz="1700" dirty="0"/>
          </a:p>
          <a:p>
            <a:pPr indent="0" marL="0">
              <a:buNone/>
            </a:pPr>
            <a:r>
              <a:rPr lang="en-US" sz="1700" dirty="0">
                <a:solidFill>
                  <a:schemeClr val="tx1"/>
                </a:solidFill>
              </a:rPr>
              <a:t>vererbt Attribute und Methoden</a:t>
            </a:r>
            <a:endParaRPr lang="en-US" sz="1700" dirty="0"/>
          </a:p>
        </p:txBody>
      </p:sp>
      <p:sp>
        <p:nvSpPr>
          <p:cNvPr id="33" name="Text 31"/>
          <p:cNvSpPr txBox="1"/>
          <p:nvPr/>
        </p:nvSpPr>
        <p:spPr>
          <a:xfrm>
            <a:off x="8595360" y="1371600"/>
            <a:ext cx="3017520" cy="914400"/>
          </a:xfrm>
          <a:prstGeom prst="rect">
            <a:avLst/>
          </a:prstGeom>
          <a:noFill/>
          <a:ln/>
        </p:spPr>
        <p:txBody>
          <a:bodyPr wrap="square" lIns="0" tIns="0" rIns="0" bIns="0" rtlCol="0" anchor="t"/>
          <a:lstStyle/>
          <a:p>
            <a:pPr indent="0" marL="0">
              <a:buNone/>
            </a:pPr>
            <a:r>
              <a:rPr lang="en-US" sz="2000" b="1" dirty="0">
                <a:solidFill>
                  <a:schemeClr val="accent1"/>
                </a:solidFill>
              </a:rPr>
              <a:t>Unterklassen</a:t>
            </a:r>
            <a:endParaRPr lang="en-US" sz="1700" dirty="0"/>
          </a:p>
          <a:p>
            <a:pPr indent="0" marL="0">
              <a:buNone/>
            </a:pPr>
            <a:r>
              <a:rPr lang="en-US" sz="1700" dirty="0">
                <a:solidFill>
                  <a:schemeClr val="tx1"/>
                </a:solidFill>
              </a:rPr>
              <a:t>ergänzen eigene Attribute und Methoden</a:t>
            </a:r>
            <a:endParaRPr lang="en-US" sz="1700" dirty="0"/>
          </a:p>
        </p:txBody>
      </p:sp>
      <p:sp>
        <p:nvSpPr>
          <p:cNvPr id="34" name="Text 32"/>
          <p:cNvSpPr txBox="1"/>
          <p:nvPr/>
        </p:nvSpPr>
        <p:spPr>
          <a:xfrm>
            <a:off x="8595360" y="2606040"/>
            <a:ext cx="3017520" cy="731520"/>
          </a:xfrm>
          <a:prstGeom prst="rect">
            <a:avLst/>
          </a:prstGeom>
          <a:noFill/>
          <a:ln/>
        </p:spPr>
        <p:txBody>
          <a:bodyPr wrap="square" lIns="0" tIns="0" rIns="0" bIns="0" rtlCol="0" anchor="t"/>
          <a:lstStyle/>
          <a:p>
            <a:pPr indent="0" marL="0">
              <a:buNone/>
            </a:pPr>
            <a:r>
              <a:rPr lang="en-US" sz="1600" b="1" dirty="0">
                <a:solidFill>
                  <a:schemeClr val="accent6"/>
                </a:solidFill>
              </a:rPr>
              <a:t>Pfeil mit hohler Spitze</a:t>
            </a:r>
            <a:endParaRPr lang="en-US" sz="1600" dirty="0"/>
          </a:p>
          <a:p>
            <a:pPr indent="0" marL="0">
              <a:buNone/>
            </a:pPr>
            <a:r>
              <a:rPr lang="en-US" sz="1600" dirty="0">
                <a:solidFill>
                  <a:schemeClr val="accent6"/>
                </a:solidFill>
              </a:rPr>
              <a:t>zeigt zur Oberklasse</a:t>
            </a:r>
            <a:endParaRPr lang="en-US" sz="16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super(…) und super.methode()</a:t>
            </a:r>
            <a:endParaRPr lang="en-US" sz="3600" dirty="0"/>
          </a:p>
        </p:txBody>
      </p:sp>
      <p:sp>
        <p:nvSpPr>
          <p:cNvPr id="3" name="Code"/>
          <p:cNvSpPr txBox="1"/>
          <p:nvPr/>
        </p:nvSpPr>
        <p:spPr>
          <a:xfrm>
            <a:off x="548640" y="1325880"/>
            <a:ext cx="6949440" cy="3603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public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class</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Waffe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extends</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Gegenstand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private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int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schaden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public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Waffe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String</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name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int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wert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int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schaden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super</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name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wert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this</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schaden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schaden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public</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String</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beschreibung</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return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"Waffe: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super</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beschreibung</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Schaden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schaden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p:txBody>
      </p:sp>
      <p:sp>
        <p:nvSpPr>
          <p:cNvPr id="4" name="Erklaerung super(name, wert)"/>
          <p:cNvSpPr/>
          <p:nvPr/>
        </p:nvSpPr>
        <p:spPr>
          <a:xfrm>
            <a:off x="7955280" y="1463040"/>
            <a:ext cx="3657600" cy="1600200"/>
          </a:xfrm>
          <a:prstGeom prst="roundRect">
            <a:avLst>
              <a:gd name="adj" fmla="val 6857"/>
            </a:avLst>
          </a:prstGeom>
          <a:solidFill>
            <a:schemeClr val="bg2"/>
          </a:solidFill>
          <a:ln/>
        </p:spPr>
      </p:sp>
      <p:sp>
        <p:nvSpPr>
          <p:cNvPr id="5" name="Text 3"/>
          <p:cNvSpPr txBox="1"/>
          <p:nvPr/>
        </p:nvSpPr>
        <p:spPr>
          <a:xfrm>
            <a:off x="8138160" y="1572768"/>
            <a:ext cx="3337560" cy="1417320"/>
          </a:xfrm>
          <a:prstGeom prst="rect">
            <a:avLst/>
          </a:prstGeom>
          <a:noFill/>
          <a:ln/>
        </p:spPr>
        <p:txBody>
          <a:bodyPr wrap="square" lIns="0" tIns="0" rIns="0" bIns="0" rtlCol="0" anchor="t"/>
          <a:lstStyle/>
          <a:p>
            <a:pPr indent="0" marL="0">
              <a:buNone/>
            </a:pPr>
            <a:r>
              <a:rPr lang="en-US" sz="1700" b="1" dirty="0">
                <a:solidFill>
                  <a:schemeClr val="accent1"/>
                </a:solidFill>
                <a:latin typeface="Consolas" pitchFamily="34" charset="0"/>
                <a:ea typeface="Consolas" pitchFamily="34" charset="-122"/>
                <a:cs typeface="Consolas" pitchFamily="34" charset="-120"/>
              </a:rPr>
              <a:t>super(name, wert)</a:t>
            </a:r>
            <a:endParaRPr lang="en-US" sz="1700" dirty="0"/>
          </a:p>
          <a:p>
            <a:pPr indent="0" marL="0">
              <a:buNone/>
            </a:pPr>
            <a:r>
              <a:rPr lang="en-US" sz="1700" dirty="0">
                <a:solidFill>
                  <a:schemeClr val="tx1"/>
                </a:solidFill>
              </a:rPr>
              <a:t>ruft den Konstruktor der Oberklasse auf – muss die erste Anweisung sein.</a:t>
            </a:r>
            <a:endParaRPr lang="en-US" sz="1700" dirty="0"/>
          </a:p>
        </p:txBody>
      </p:sp>
      <p:sp>
        <p:nvSpPr>
          <p:cNvPr id="6" name="Linie"/>
          <p:cNvSpPr/>
          <p:nvPr/>
        </p:nvSpPr>
        <p:spPr>
          <a:xfrm flipV="1">
            <a:off x="7498080" y="1783080"/>
            <a:ext cx="457200" cy="813816"/>
          </a:xfrm>
          <a:prstGeom prst="line">
            <a:avLst/>
          </a:prstGeom>
          <a:noFill/>
          <a:ln w="31750">
            <a:solidFill>
              <a:schemeClr val="accent2"/>
            </a:solidFill>
            <a:prstDash val="solid"/>
            <a:headEnd type="oval"/>
          </a:ln>
        </p:spPr>
      </p:sp>
      <p:sp>
        <p:nvSpPr>
          <p:cNvPr id="7" name="Erklaerung super.beschreibung()"/>
          <p:cNvSpPr/>
          <p:nvPr/>
        </p:nvSpPr>
        <p:spPr>
          <a:xfrm>
            <a:off x="7955280" y="3337560"/>
            <a:ext cx="3657600" cy="1600200"/>
          </a:xfrm>
          <a:prstGeom prst="roundRect">
            <a:avLst>
              <a:gd name="adj" fmla="val 6857"/>
            </a:avLst>
          </a:prstGeom>
          <a:solidFill>
            <a:schemeClr val="bg2"/>
          </a:solidFill>
          <a:ln/>
        </p:spPr>
      </p:sp>
      <p:sp>
        <p:nvSpPr>
          <p:cNvPr id="8" name="Text 6"/>
          <p:cNvSpPr txBox="1"/>
          <p:nvPr/>
        </p:nvSpPr>
        <p:spPr>
          <a:xfrm>
            <a:off x="8138160" y="3447288"/>
            <a:ext cx="3337560" cy="1417320"/>
          </a:xfrm>
          <a:prstGeom prst="rect">
            <a:avLst/>
          </a:prstGeom>
          <a:noFill/>
          <a:ln/>
        </p:spPr>
        <p:txBody>
          <a:bodyPr wrap="square" lIns="0" tIns="0" rIns="0" bIns="0" rtlCol="0" anchor="t"/>
          <a:lstStyle/>
          <a:p>
            <a:pPr indent="0" marL="0">
              <a:buNone/>
            </a:pPr>
            <a:r>
              <a:rPr lang="en-US" sz="1700" b="1" dirty="0">
                <a:solidFill>
                  <a:schemeClr val="accent1"/>
                </a:solidFill>
                <a:latin typeface="Consolas" pitchFamily="34" charset="0"/>
                <a:ea typeface="Consolas" pitchFamily="34" charset="-122"/>
                <a:cs typeface="Consolas" pitchFamily="34" charset="-120"/>
              </a:rPr>
              <a:t>super.beschreibung()</a:t>
            </a:r>
            <a:endParaRPr lang="en-US" sz="1700" dirty="0"/>
          </a:p>
          <a:p>
            <a:pPr indent="0" marL="0">
              <a:buNone/>
            </a:pPr>
            <a:r>
              <a:rPr lang="en-US" sz="1700" dirty="0">
                <a:solidFill>
                  <a:schemeClr val="tx1"/>
                </a:solidFill>
              </a:rPr>
              <a:t>ruft die geerbte Version auf. Nötig, weil name und wert in Gegenstand private sind.</a:t>
            </a:r>
            <a:endParaRPr lang="en-US" sz="1700" dirty="0"/>
          </a:p>
        </p:txBody>
      </p:sp>
      <p:sp>
        <p:nvSpPr>
          <p:cNvPr id="9" name="Linie"/>
          <p:cNvSpPr/>
          <p:nvPr/>
        </p:nvSpPr>
        <p:spPr>
          <a:xfrm flipV="1">
            <a:off x="7498080" y="3657600"/>
            <a:ext cx="457200" cy="209296"/>
          </a:xfrm>
          <a:prstGeom prst="line">
            <a:avLst/>
          </a:prstGeom>
          <a:noFill/>
          <a:ln w="31750">
            <a:solidFill>
              <a:schemeClr val="accent2"/>
            </a:solidFill>
            <a:prstDash val="solid"/>
            <a:headEnd type="oval"/>
          </a:ln>
        </p:spPr>
      </p:sp>
      <p:sp>
        <p:nvSpPr>
          <p:cNvPr id="10" name="Ergebnis"/>
          <p:cNvSpPr/>
          <p:nvPr/>
        </p:nvSpPr>
        <p:spPr>
          <a:xfrm>
            <a:off x="548640" y="5120640"/>
            <a:ext cx="11064240" cy="868680"/>
          </a:xfrm>
          <a:prstGeom prst="roundRect">
            <a:avLst>
              <a:gd name="adj" fmla="val 12632"/>
            </a:avLst>
          </a:prstGeom>
          <a:solidFill>
            <a:schemeClr val="accent5"/>
          </a:solidFill>
          <a:ln/>
        </p:spPr>
      </p:sp>
      <p:sp>
        <p:nvSpPr>
          <p:cNvPr id="11" name="Text 9"/>
          <p:cNvSpPr txBox="1"/>
          <p:nvPr/>
        </p:nvSpPr>
        <p:spPr>
          <a:xfrm>
            <a:off x="777240" y="5120640"/>
            <a:ext cx="10698480" cy="868680"/>
          </a:xfrm>
          <a:prstGeom prst="rect">
            <a:avLst/>
          </a:prstGeom>
          <a:noFill/>
          <a:ln/>
        </p:spPr>
        <p:txBody>
          <a:bodyPr wrap="square" lIns="0" tIns="0" rIns="0" bIns="0" rtlCol="0" anchor="ctr"/>
          <a:lstStyle/>
          <a:p>
            <a:pPr indent="0" marL="0">
              <a:buNone/>
            </a:pPr>
            <a:r>
              <a:rPr lang="en-US" sz="1600" dirty="0">
                <a:solidFill>
                  <a:schemeClr val="tx1"/>
                </a:solidFill>
                <a:latin typeface="Consolas" pitchFamily="34" charset="0"/>
                <a:ea typeface="Consolas" pitchFamily="34" charset="-122"/>
                <a:cs typeface="Consolas" pitchFamily="34" charset="-120"/>
              </a:rPr>
              <a:t>new Waffe("Schwert", 50, 12).beschreibung()</a:t>
            </a:r>
            <a:pPr indent="0" marL="0">
              <a:buNone/>
            </a:pPr>
            <a:r>
              <a:rPr lang="en-US" sz="1800" b="1" dirty="0">
                <a:solidFill>
                  <a:schemeClr val="accent2"/>
                </a:solidFill>
              </a:rPr>
              <a:t>   →   </a:t>
            </a:r>
            <a:pPr indent="0" marL="0">
              <a:buNone/>
            </a:pPr>
            <a:r>
              <a:rPr lang="en-US" sz="1600" b="1" dirty="0">
                <a:solidFill>
                  <a:schemeClr val="accent3"/>
                </a:solidFill>
                <a:latin typeface="Consolas" pitchFamily="34" charset="0"/>
                <a:ea typeface="Consolas" pitchFamily="34" charset="-122"/>
                <a:cs typeface="Consolas" pitchFamily="34" charset="-120"/>
              </a:rPr>
              <a:t>"Waffe: Schwert (50 Gold), Schaden 12"</a:t>
            </a:r>
            <a:endParaRPr lang="en-US" sz="18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Überschreiben: gleiche Signatur, neues Verhalten</a:t>
            </a:r>
            <a:endParaRPr lang="en-US" sz="3600" dirty="0"/>
          </a:p>
        </p:txBody>
      </p:sp>
      <p:graphicFrame>
        <p:nvGraphicFramePr>
          <p:cNvPr id="15" name="Ueberschreiben-Tabel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709160"/>
                <a:gridCol w="2057400"/>
                <a:gridCol w="4297680"/>
              </a:tblGrid>
              <a:tr h="566928">
                <a:tc>
                  <a:txBody>
                    <a:bodyPr/>
                    <a:lstStyle/>
                    <a:p>
                      <a:pPr indent="0" marL="0">
                        <a:buNone/>
                      </a:pPr>
                      <a:r>
                        <a:rPr lang="en-US" sz="1700" b="1" dirty="0">
                          <a:solidFill>
                            <a:schemeClr val="bg1"/>
                          </a:solidFill>
                          <a:latin typeface="Calibri" pitchFamily="34" charset="0"/>
                          <a:ea typeface="Calibri" pitchFamily="34" charset="-122"/>
                          <a:cs typeface="Calibri" pitchFamily="34" charset="-120"/>
                        </a:rPr>
                        <a:t>Objekt</a:t>
                      </a:r>
                      <a:endParaRPr lang="en-US" sz="17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latin typeface="Calibri" pitchFamily="34" charset="0"/>
                          <a:ea typeface="Calibri" pitchFamily="34" charset="-122"/>
                          <a:cs typeface="Calibri" pitchFamily="34" charset="-120"/>
                        </a:rPr>
                        <a:t>Version</a:t>
                      </a:r>
                      <a:endParaRPr lang="en-US" sz="17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latin typeface="Calibri" pitchFamily="34" charset="0"/>
                          <a:ea typeface="Calibri" pitchFamily="34" charset="-122"/>
                          <a:cs typeface="Calibri" pitchFamily="34" charset="-120"/>
                        </a:rPr>
                        <a:t>Ergebnis</a:t>
                      </a:r>
                      <a:endParaRPr lang="en-US" sz="17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566928">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new Gegenstand("Fackel", 5)</a:t>
                      </a:r>
                      <a:endParaRPr lang="en-US" sz="1400" dirty="0">
                        <a:latin typeface="Consolas" charset="0"/>
                        <a:ea typeface="Consolas" charset="0"/>
                        <a:cs typeface="Consolas"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c>
                  <a:txBody>
                    <a:bodyPr/>
                    <a:lstStyle/>
                    <a:p>
                      <a:pPr indent="0" marL="0">
                        <a:buNone/>
                      </a:pPr>
                      <a:r>
                        <a:rPr lang="en-US" sz="1600" b="1" dirty="0">
                          <a:solidFill>
                            <a:schemeClr val="accent1"/>
                          </a:solidFill>
                          <a:latin typeface="Calibri" pitchFamily="34" charset="0"/>
                          <a:ea typeface="Calibri" pitchFamily="34" charset="-122"/>
                          <a:cs typeface="Calibri" pitchFamily="34" charset="-120"/>
                        </a:rPr>
                        <a:t>Gegenstand</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c>
                  <a:txBody>
                    <a:bodyPr/>
                    <a:lstStyle/>
                    <a:p>
                      <a:pPr indent="0" marL="0">
                        <a:buNone/>
                      </a:pPr>
                      <a:r>
                        <a:rPr lang="en-US" sz="1400" b="1" dirty="0">
                          <a:solidFill>
                            <a:schemeClr val="accent3"/>
                          </a:solidFill>
                          <a:latin typeface="Consolas" pitchFamily="34" charset="0"/>
                          <a:ea typeface="Consolas" pitchFamily="34" charset="-122"/>
                          <a:cs typeface="Consolas" pitchFamily="34" charset="-120"/>
                        </a:rPr>
                        <a:t>"Fackel (5 Gold)"</a:t>
                      </a:r>
                      <a:endParaRPr lang="en-US" sz="1400" dirty="0">
                        <a:latin typeface="Consolas" charset="0"/>
                        <a:ea typeface="Consolas" charset="0"/>
                        <a:cs typeface="Consolas"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r>
              <a:tr h="566928">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new Waffe("Schwert", 50, 12)</a:t>
                      </a:r>
                      <a:endParaRPr lang="en-US" sz="1400" dirty="0">
                        <a:latin typeface="Consolas" charset="0"/>
                        <a:ea typeface="Consolas" charset="0"/>
                        <a:cs typeface="Consolas"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r>
                        <a:rPr lang="en-US" sz="1600" b="1" dirty="0">
                          <a:solidFill>
                            <a:schemeClr val="accent1"/>
                          </a:solidFill>
                          <a:latin typeface="Calibri" pitchFamily="34" charset="0"/>
                          <a:ea typeface="Calibri" pitchFamily="34" charset="-122"/>
                          <a:cs typeface="Calibri" pitchFamily="34" charset="-120"/>
                        </a:rPr>
                        <a:t>Waffe (neu)</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latin typeface="Consolas" pitchFamily="34" charset="0"/>
                          <a:ea typeface="Consolas" pitchFamily="34" charset="-122"/>
                          <a:cs typeface="Consolas" pitchFamily="34" charset="-120"/>
                        </a:rPr>
                        <a:t>"Waffe: Schwert (50 Gold), Schaden 12"</a:t>
                      </a:r>
                      <a:endParaRPr lang="en-US" sz="1400" dirty="0">
                        <a:latin typeface="Consolas" charset="0"/>
                        <a:ea typeface="Consolas" charset="0"/>
                        <a:cs typeface="Consolas"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new Trank("Heiltrank", 20, 30)</a:t>
                      </a:r>
                      <a:endParaRPr lang="en-US" sz="1400" dirty="0">
                        <a:latin typeface="Consolas" charset="0"/>
                        <a:ea typeface="Consolas" charset="0"/>
                        <a:cs typeface="Consolas"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c>
                  <a:txBody>
                    <a:bodyPr/>
                    <a:lstStyle/>
                    <a:p>
                      <a:pPr indent="0" marL="0">
                        <a:buNone/>
                      </a:pPr>
                      <a:r>
                        <a:rPr lang="en-US" sz="1600" b="1" dirty="0">
                          <a:solidFill>
                            <a:schemeClr val="accent1"/>
                          </a:solidFill>
                          <a:latin typeface="Calibri" pitchFamily="34" charset="0"/>
                          <a:ea typeface="Calibri" pitchFamily="34" charset="-122"/>
                          <a:cs typeface="Calibri" pitchFamily="34" charset="-120"/>
                        </a:rPr>
                        <a:t>Trank (neu)</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c>
                  <a:txBody>
                    <a:bodyPr/>
                    <a:lstStyle/>
                    <a:p>
                      <a:pPr indent="0" marL="0">
                        <a:buNone/>
                      </a:pPr>
                      <a:r>
                        <a:rPr lang="en-US" sz="1400" b="1" dirty="0">
                          <a:solidFill>
                            <a:schemeClr val="accent3"/>
                          </a:solidFill>
                          <a:latin typeface="Consolas" pitchFamily="34" charset="0"/>
                          <a:ea typeface="Consolas" pitchFamily="34" charset="-122"/>
                          <a:cs typeface="Consolas" pitchFamily="34" charset="-120"/>
                        </a:rPr>
                        <a:t>"Trank: Heiltrank (20 Gold), heilt 30"</a:t>
                      </a:r>
                      <a:endParaRPr lang="en-US" sz="1400" dirty="0">
                        <a:latin typeface="Consolas" charset="0"/>
                        <a:ea typeface="Consolas" charset="0"/>
                        <a:cs typeface="Consolas"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r>
              <a:tr h="566928">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new Schluessel("Rostiger Schlüssel", 2, 7)</a:t>
                      </a:r>
                      <a:endParaRPr lang="en-US" sz="1400" dirty="0">
                        <a:latin typeface="Consolas" charset="0"/>
                        <a:ea typeface="Consolas" charset="0"/>
                        <a:cs typeface="Consolas"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r>
                        <a:rPr lang="en-US" sz="1600" b="1" dirty="0">
                          <a:solidFill>
                            <a:schemeClr val="accent6"/>
                          </a:solidFill>
                          <a:latin typeface="Calibri" pitchFamily="34" charset="0"/>
                          <a:ea typeface="Calibri" pitchFamily="34" charset="-122"/>
                          <a:cs typeface="Calibri" pitchFamily="34" charset="-120"/>
                        </a:rPr>
                        <a:t>Gegenstand (geerbt)</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latin typeface="Consolas" pitchFamily="34" charset="0"/>
                          <a:ea typeface="Consolas" pitchFamily="34" charset="-122"/>
                          <a:cs typeface="Consolas" pitchFamily="34" charset="-120"/>
                        </a:rPr>
                        <a:t>"Rostiger Schlüssel (2 Gold)"</a:t>
                      </a:r>
                      <a:endParaRPr lang="en-US" sz="1400" dirty="0">
                        <a:latin typeface="Consolas" charset="0"/>
                        <a:ea typeface="Consolas" charset="0"/>
                        <a:cs typeface="Consolas"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4" name="Vergleich Überschreiben"/>
          <p:cNvSpPr/>
          <p:nvPr/>
        </p:nvSpPr>
        <p:spPr>
          <a:xfrm>
            <a:off x="548640" y="4434840"/>
            <a:ext cx="5394960" cy="1417320"/>
          </a:xfrm>
          <a:prstGeom prst="roundRect">
            <a:avLst>
              <a:gd name="adj" fmla="val 7742"/>
            </a:avLst>
          </a:prstGeom>
          <a:solidFill>
            <a:schemeClr val="bg1"/>
          </a:solidFill>
          <a:ln/>
          <a:effectLst>
            <a:outerShdw sx="100000" sy="100000" kx="0" ky="0" algn="bl" rotWithShape="0" blurRad="76200" dist="25400" dir="5400000">
              <a:srgbClr val="000000">
                <a:alpha val="18000"/>
              </a:srgbClr>
            </a:outerShdw>
          </a:effectLst>
        </p:spPr>
      </p:sp>
      <p:sp>
        <p:nvSpPr>
          <p:cNvPr id="5" name="Text 2"/>
          <p:cNvSpPr txBox="1"/>
          <p:nvPr/>
        </p:nvSpPr>
        <p:spPr>
          <a:xfrm>
            <a:off x="777240" y="4572000"/>
            <a:ext cx="4937760" cy="1325880"/>
          </a:xfrm>
          <a:prstGeom prst="rect">
            <a:avLst/>
          </a:prstGeom>
          <a:noFill/>
          <a:ln/>
        </p:spPr>
        <p:txBody>
          <a:bodyPr wrap="square" lIns="0" tIns="0" rIns="0" bIns="0" rtlCol="0" anchor="t"/>
          <a:lstStyle/>
          <a:p>
            <a:pPr indent="0" marL="0">
              <a:buNone/>
            </a:pPr>
            <a:r>
              <a:rPr lang="en-US" sz="2200" b="1" dirty="0">
                <a:solidFill>
                  <a:schemeClr val="accent2"/>
                </a:solidFill>
              </a:rPr>
              <a:t>Überschreiben</a:t>
            </a:r>
            <a:endParaRPr lang="en-US" sz="1700" dirty="0"/>
          </a:p>
          <a:p>
            <a:pPr indent="0" marL="0">
              <a:buNone/>
            </a:pPr>
            <a:r>
              <a:rPr lang="en-US" sz="1700" dirty="0">
                <a:solidFill>
                  <a:schemeClr val="tx1"/>
                </a:solidFill>
              </a:rPr>
              <a:t>Unterklasse definiert eine geerbte Methode mit gleicher Signatur neu.</a:t>
            </a:r>
            <a:endParaRPr lang="en-US" sz="1700" dirty="0"/>
          </a:p>
          <a:p>
            <a:pPr indent="0" marL="0">
              <a:buNone/>
            </a:pPr>
            <a:r>
              <a:rPr lang="en-US" sz="1700" i="1" dirty="0">
                <a:solidFill>
                  <a:schemeClr val="accent6"/>
                </a:solidFill>
              </a:rPr>
              <a:t>Beispiel: beschreibung() in Waffe und Trank</a:t>
            </a:r>
            <a:endParaRPr lang="en-US" sz="1700" dirty="0"/>
          </a:p>
        </p:txBody>
      </p:sp>
      <p:sp>
        <p:nvSpPr>
          <p:cNvPr id="6" name="Vergleich Überladen"/>
          <p:cNvSpPr/>
          <p:nvPr/>
        </p:nvSpPr>
        <p:spPr>
          <a:xfrm>
            <a:off x="6217920" y="4434840"/>
            <a:ext cx="5394960" cy="1417320"/>
          </a:xfrm>
          <a:prstGeom prst="roundRect">
            <a:avLst>
              <a:gd name="adj" fmla="val 7742"/>
            </a:avLst>
          </a:prstGeom>
          <a:solidFill>
            <a:schemeClr val="bg1"/>
          </a:solidFill>
          <a:ln/>
          <a:effectLst>
            <a:outerShdw sx="100000" sy="100000" kx="0" ky="0" algn="bl" rotWithShape="0" blurRad="76200" dist="25400" dir="5400000">
              <a:srgbClr val="000000">
                <a:alpha val="18000"/>
              </a:srgbClr>
            </a:outerShdw>
          </a:effectLst>
        </p:spPr>
      </p:sp>
      <p:sp>
        <p:nvSpPr>
          <p:cNvPr id="7" name="Text 4"/>
          <p:cNvSpPr txBox="1"/>
          <p:nvPr/>
        </p:nvSpPr>
        <p:spPr>
          <a:xfrm>
            <a:off x="6446520" y="4572000"/>
            <a:ext cx="4937760" cy="1325880"/>
          </a:xfrm>
          <a:prstGeom prst="rect">
            <a:avLst/>
          </a:prstGeom>
          <a:noFill/>
          <a:ln/>
        </p:spPr>
        <p:txBody>
          <a:bodyPr wrap="square" lIns="0" tIns="0" rIns="0" bIns="0" rtlCol="0" anchor="t"/>
          <a:lstStyle/>
          <a:p>
            <a:pPr indent="0" marL="0">
              <a:buNone/>
            </a:pPr>
            <a:r>
              <a:rPr lang="en-US" sz="2200" b="1" dirty="0">
                <a:solidFill>
                  <a:schemeClr val="accent6"/>
                </a:solidFill>
              </a:rPr>
              <a:t>Überladen</a:t>
            </a:r>
            <a:endParaRPr lang="en-US" sz="1700" dirty="0"/>
          </a:p>
          <a:p>
            <a:pPr indent="0" marL="0">
              <a:buNone/>
            </a:pPr>
            <a:r>
              <a:rPr lang="en-US" sz="1700" dirty="0">
                <a:solidFill>
                  <a:schemeClr val="tx1"/>
                </a:solidFill>
              </a:rPr>
              <a:t>gleiche Klasse, gleicher Name, andere Parameterliste.</a:t>
            </a:r>
            <a:endParaRPr lang="en-US" sz="1700" dirty="0"/>
          </a:p>
          <a:p>
            <a:pPr indent="0" marL="0">
              <a:buNone/>
            </a:pPr>
            <a:r>
              <a:rPr lang="en-US" sz="1700" i="1" dirty="0">
                <a:solidFill>
                  <a:schemeClr val="accent6"/>
                </a:solidFill>
              </a:rPr>
              <a:t>Beispiel: die zwei Konstruktoren von Held</a:t>
            </a:r>
            <a:endParaRPr lang="en-US" sz="17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Welche Methode läuft?</a:t>
            </a:r>
            <a:endParaRPr lang="en-US" sz="3600" dirty="0"/>
          </a:p>
        </p:txBody>
      </p:sp>
      <p:sp>
        <p:nvSpPr>
          <p:cNvPr id="3" name="Code"/>
          <p:cNvSpPr txBox="1"/>
          <p:nvPr/>
        </p:nvSpPr>
        <p:spPr>
          <a:xfrm>
            <a:off x="548640" y="1371600"/>
            <a:ext cx="6766560" cy="2079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Gegenstand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r</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new</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Gegenstand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[3];</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r</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[0] =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new</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Waffe</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"Axt"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30, 9);</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r</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[1] =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new</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Schluessel</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"Goldschlüssel"</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40, 3);</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r</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[2] = </a:t>
            </a:r>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new</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Trank</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"Elixier"</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25, 50);</a:t>
            </a:r>
            <a:endParaRPr lang="en-US" sz="1600" dirty="0"/>
          </a:p>
          <a:p>
            <a:pPr algn="l" indent="0" marL="0">
              <a:lnSpc>
                <a:spcPts val="2000"/>
              </a:lnSpc>
              <a:buNone/>
            </a:pPr>
            <a:r>
              <a:rPr lang="en-US" sz="1600" b="1" dirty="0">
                <a:solidFill>
                  <a:schemeClr val="accent1"/>
                </a:solidFill>
                <a:latin typeface="Consolas" pitchFamily="34" charset="0"/>
                <a:ea typeface="Consolas" pitchFamily="34" charset="-122"/>
                <a:cs typeface="Consolas" pitchFamily="34" charset="-120"/>
              </a:rPr>
              <a:t>for</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Gegenstand</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g</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r</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    </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println</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g</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beschreibung</a:t>
            </a:r>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a:p>
            <a:pPr algn="l" indent="0" marL="0">
              <a:lnSpc>
                <a:spcPts val="2000"/>
              </a:lnSpc>
              <a:buNone/>
            </a:pPr>
            <a:r>
              <a:rPr lang="en-US" sz="1600" dirty="0">
                <a:solidFill>
                  <a:schemeClr val="tx1"/>
                </a:solidFill>
                <a:latin typeface="Consolas" pitchFamily="34" charset="0"/>
                <a:ea typeface="Consolas" pitchFamily="34" charset="-122"/>
                <a:cs typeface="Consolas" pitchFamily="34" charset="-120"/>
              </a:rPr>
              <a:t>}</a:t>
            </a:r>
            <a:endParaRPr lang="en-US" sz="1600" dirty="0"/>
          </a:p>
        </p:txBody>
      </p:sp>
      <p:sp>
        <p:nvSpPr>
          <p:cNvPr id="4" name="Frage"/>
          <p:cNvSpPr/>
          <p:nvPr/>
        </p:nvSpPr>
        <p:spPr>
          <a:xfrm>
            <a:off x="7772400" y="1371600"/>
            <a:ext cx="3840480" cy="2103120"/>
          </a:xfrm>
          <a:prstGeom prst="roundRect">
            <a:avLst>
              <a:gd name="adj" fmla="val 5217"/>
            </a:avLst>
          </a:prstGeom>
          <a:solidFill>
            <a:schemeClr val="accent1"/>
          </a:solidFill>
          <a:ln/>
          <a:effectLst>
            <a:outerShdw sx="100000" sy="100000" kx="0" ky="0" algn="bl" rotWithShape="0" blurRad="76200" dist="25400" dir="5400000">
              <a:srgbClr val="000000">
                <a:alpha val="18000"/>
              </a:srgbClr>
            </a:outerShdw>
          </a:effectLst>
        </p:spPr>
      </p:sp>
      <p:sp>
        <p:nvSpPr>
          <p:cNvPr id="5" name="Text 3"/>
          <p:cNvSpPr txBox="1"/>
          <p:nvPr/>
        </p:nvSpPr>
        <p:spPr>
          <a:xfrm>
            <a:off x="7955280" y="1463040"/>
            <a:ext cx="822960" cy="914400"/>
          </a:xfrm>
          <a:prstGeom prst="rect">
            <a:avLst/>
          </a:prstGeom>
          <a:noFill/>
          <a:ln/>
        </p:spPr>
        <p:txBody>
          <a:bodyPr wrap="square" lIns="0" tIns="0" rIns="0" bIns="0" rtlCol="0" anchor="ctr"/>
          <a:lstStyle/>
          <a:p>
            <a:pPr algn="ctr" indent="0" marL="0">
              <a:buNone/>
            </a:pPr>
            <a:r>
              <a:rPr lang="en-US" sz="6000" b="1" dirty="0">
                <a:solidFill>
                  <a:schemeClr val="accent2"/>
                </a:solidFill>
              </a:rPr>
              <a:t>?</a:t>
            </a:r>
            <a:endParaRPr lang="en-US" sz="6000" dirty="0"/>
          </a:p>
        </p:txBody>
      </p:sp>
      <p:sp>
        <p:nvSpPr>
          <p:cNvPr id="6" name="Text 4"/>
          <p:cNvSpPr txBox="1"/>
          <p:nvPr/>
        </p:nvSpPr>
        <p:spPr>
          <a:xfrm>
            <a:off x="8778240" y="1554480"/>
            <a:ext cx="2697480" cy="1737360"/>
          </a:xfrm>
          <a:prstGeom prst="rect">
            <a:avLst/>
          </a:prstGeom>
          <a:noFill/>
          <a:ln/>
        </p:spPr>
        <p:txBody>
          <a:bodyPr wrap="square" lIns="0" tIns="0" rIns="0" bIns="0" rtlCol="0" anchor="t"/>
          <a:lstStyle/>
          <a:p>
            <a:pPr indent="0" marL="0">
              <a:buNone/>
            </a:pPr>
            <a:r>
              <a:rPr lang="en-US" sz="1900" b="1" dirty="0">
                <a:solidFill>
                  <a:schemeClr val="bg1"/>
                </a:solidFill>
              </a:rPr>
              <a:t>Was gibt das Programm aus?</a:t>
            </a:r>
            <a:endParaRPr lang="en-US" sz="1900" dirty="0"/>
          </a:p>
          <a:p>
            <a:pPr indent="0" marL="0">
              <a:buNone/>
            </a:pPr>
            <a:r>
              <a:rPr lang="en-US" sz="1900" dirty="0">
                <a:solidFill>
                  <a:schemeClr val="bg1"/>
                </a:solidFill>
              </a:rPr>
              <a:t>Erst auf Papier, ohne Gerät.</a:t>
            </a:r>
            <a:endParaRPr lang="en-US" sz="1900" dirty="0"/>
          </a:p>
        </p:txBody>
      </p:sp>
      <p:sp>
        <p:nvSpPr>
          <p:cNvPr id="7" name="Chip"/>
          <p:cNvSpPr txBox="1"/>
          <p:nvPr/>
        </p:nvSpPr>
        <p:spPr>
          <a:xfrm>
            <a:off x="7772400" y="3657600"/>
            <a:ext cx="2377440" cy="411480"/>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bg1"/>
                </a:solidFill>
              </a:rPr>
              <a:t>2 min · im Team</a:t>
            </a:r>
            <a:endParaRPr lang="en-US" sz="1600" dirty="0"/>
          </a:p>
        </p:txBody>
      </p:sp>
      <p:sp>
        <p:nvSpPr>
          <p:cNvPr id="8" name="Text 6"/>
          <p:cNvSpPr txBox="1"/>
          <p:nvPr/>
        </p:nvSpPr>
        <p:spPr>
          <a:xfrm>
            <a:off x="548640" y="3913632"/>
            <a:ext cx="457200" cy="457200"/>
          </a:xfrm>
          <a:prstGeom prst="ellipse">
            <a:avLst/>
          </a:prstGeom>
          <a:solidFill>
            <a:schemeClr val="accent6"/>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9" name="Antwortzeile 1"/>
          <p:cNvSpPr/>
          <p:nvPr/>
        </p:nvSpPr>
        <p:spPr>
          <a:xfrm>
            <a:off x="1188720" y="3840480"/>
            <a:ext cx="6126480" cy="603504"/>
          </a:xfrm>
          <a:prstGeom prst="roundRect">
            <a:avLst>
              <a:gd name="adj" fmla="val 12121"/>
            </a:avLst>
          </a:prstGeom>
          <a:solidFill>
            <a:schemeClr val="bg1"/>
          </a:solidFill>
          <a:ln w="19050">
            <a:solidFill>
              <a:schemeClr val="accent6"/>
            </a:solidFill>
            <a:prstDash val="dash"/>
          </a:ln>
        </p:spPr>
      </p:sp>
      <p:sp>
        <p:nvSpPr>
          <p:cNvPr id="10" name="Text 8"/>
          <p:cNvSpPr txBox="1"/>
          <p:nvPr/>
        </p:nvSpPr>
        <p:spPr>
          <a:xfrm>
            <a:off x="548640" y="4645152"/>
            <a:ext cx="457200" cy="457200"/>
          </a:xfrm>
          <a:prstGeom prst="ellipse">
            <a:avLst/>
          </a:prstGeom>
          <a:solidFill>
            <a:schemeClr val="accent6"/>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1" name="Antwortzeile 2"/>
          <p:cNvSpPr/>
          <p:nvPr/>
        </p:nvSpPr>
        <p:spPr>
          <a:xfrm>
            <a:off x="1188720" y="4572000"/>
            <a:ext cx="6126480" cy="603504"/>
          </a:xfrm>
          <a:prstGeom prst="roundRect">
            <a:avLst>
              <a:gd name="adj" fmla="val 12121"/>
            </a:avLst>
          </a:prstGeom>
          <a:solidFill>
            <a:schemeClr val="bg1"/>
          </a:solidFill>
          <a:ln w="19050">
            <a:solidFill>
              <a:schemeClr val="accent6"/>
            </a:solidFill>
            <a:prstDash val="dash"/>
          </a:ln>
        </p:spPr>
      </p:sp>
      <p:sp>
        <p:nvSpPr>
          <p:cNvPr id="12" name="Text 10"/>
          <p:cNvSpPr txBox="1"/>
          <p:nvPr/>
        </p:nvSpPr>
        <p:spPr>
          <a:xfrm>
            <a:off x="548640" y="5376672"/>
            <a:ext cx="457200" cy="457200"/>
          </a:xfrm>
          <a:prstGeom prst="ellipse">
            <a:avLst/>
          </a:prstGeom>
          <a:solidFill>
            <a:schemeClr val="accent6"/>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3" name="Antwortzeile 3"/>
          <p:cNvSpPr/>
          <p:nvPr/>
        </p:nvSpPr>
        <p:spPr>
          <a:xfrm>
            <a:off x="1188720" y="5303520"/>
            <a:ext cx="6126480" cy="603504"/>
          </a:xfrm>
          <a:prstGeom prst="roundRect">
            <a:avLst>
              <a:gd name="adj" fmla="val 12121"/>
            </a:avLst>
          </a:prstGeom>
          <a:solidFill>
            <a:schemeClr val="bg1"/>
          </a:solidFill>
          <a:ln w="19050">
            <a:solidFill>
              <a:schemeClr val="accent6"/>
            </a:solidFill>
            <a:prstDash val="dash"/>
          </a:ln>
        </p:spPr>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Auflösung: Das Objekt entscheidet</a:t>
            </a:r>
            <a:endParaRPr lang="en-US" sz="3600" dirty="0"/>
          </a:p>
        </p:txBody>
      </p:sp>
      <p:sp>
        <p:nvSpPr>
          <p:cNvPr id="3" name="Text 1"/>
          <p:cNvSpPr txBox="1"/>
          <p:nvPr/>
        </p:nvSpPr>
        <p:spPr>
          <a:xfrm>
            <a:off x="548640" y="1371600"/>
            <a:ext cx="2926080" cy="685800"/>
          </a:xfrm>
          <a:prstGeom prst="roundRect">
            <a:avLst>
              <a:gd name="adj" fmla="val 10667"/>
            </a:avLst>
          </a:prstGeom>
          <a:solidFill>
            <a:schemeClr val="bg2"/>
          </a:solidFill>
          <a:ln/>
        </p:spPr>
        <p:txBody>
          <a:bodyPr wrap="square" lIns="0" tIns="0" rIns="0" bIns="0" rtlCol="0" anchor="ctr"/>
          <a:lstStyle/>
          <a:p>
            <a:pPr algn="ctr" indent="0" marL="0">
              <a:buNone/>
            </a:pPr>
            <a:r>
              <a:rPr lang="en-US" sz="1800" b="1" dirty="0">
                <a:solidFill>
                  <a:schemeClr val="accent1"/>
                </a:solidFill>
              </a:rPr>
              <a:t>r[0] ist eine Waffe</a:t>
            </a:r>
            <a:endParaRPr lang="en-US" sz="1800" dirty="0"/>
          </a:p>
        </p:txBody>
      </p:sp>
      <p:sp>
        <p:nvSpPr>
          <p:cNvPr id="4" name="Text 2"/>
          <p:cNvSpPr txBox="1"/>
          <p:nvPr/>
        </p:nvSpPr>
        <p:spPr>
          <a:xfrm>
            <a:off x="3657600" y="1371600"/>
            <a:ext cx="2286000" cy="685800"/>
          </a:xfrm>
          <a:prstGeom prst="rect">
            <a:avLst/>
          </a:prstGeom>
          <a:noFill/>
          <a:ln/>
        </p:spPr>
        <p:txBody>
          <a:bodyPr wrap="square" lIns="0" tIns="0" rIns="0" bIns="0" rtlCol="0" anchor="ctr"/>
          <a:lstStyle/>
          <a:p>
            <a:pPr indent="0" marL="0">
              <a:buNone/>
            </a:pPr>
            <a:r>
              <a:rPr lang="en-US" sz="1800" b="1" dirty="0">
                <a:solidFill>
                  <a:schemeClr val="accent2"/>
                </a:solidFill>
              </a:rPr>
              <a:t>→ eigene Version</a:t>
            </a:r>
            <a:endParaRPr lang="en-US" sz="1800" dirty="0"/>
          </a:p>
        </p:txBody>
      </p:sp>
      <p:sp>
        <p:nvSpPr>
          <p:cNvPr id="5" name="Text 3"/>
          <p:cNvSpPr txBox="1"/>
          <p:nvPr/>
        </p:nvSpPr>
        <p:spPr>
          <a:xfrm>
            <a:off x="6035040" y="1371600"/>
            <a:ext cx="5577840" cy="685800"/>
          </a:xfrm>
          <a:prstGeom prst="rect">
            <a:avLst/>
          </a:prstGeom>
          <a:solidFill>
            <a:schemeClr val="accent5"/>
          </a:solidFill>
          <a:ln/>
        </p:spPr>
        <p:txBody>
          <a:bodyPr wrap="square" lIns="127000" tIns="0" rIns="127000" bIns="0" rtlCol="0" anchor="ctr"/>
          <a:lstStyle/>
          <a:p>
            <a:pPr indent="0" marL="0">
              <a:buNone/>
            </a:pPr>
            <a:r>
              <a:rPr lang="en-US" sz="1600" b="1" dirty="0">
                <a:solidFill>
                  <a:schemeClr val="accent3"/>
                </a:solidFill>
                <a:latin typeface="Consolas" pitchFamily="34" charset="0"/>
                <a:ea typeface="Consolas" pitchFamily="34" charset="-122"/>
                <a:cs typeface="Consolas" pitchFamily="34" charset="-120"/>
              </a:rPr>
              <a:t>"Waffe: Axt (30 Gold), Schaden 9"</a:t>
            </a:r>
            <a:endParaRPr lang="en-US" sz="1600" dirty="0"/>
          </a:p>
        </p:txBody>
      </p:sp>
      <p:sp>
        <p:nvSpPr>
          <p:cNvPr id="6" name="Text 4"/>
          <p:cNvSpPr txBox="1"/>
          <p:nvPr/>
        </p:nvSpPr>
        <p:spPr>
          <a:xfrm>
            <a:off x="548640" y="2240280"/>
            <a:ext cx="2926080" cy="685800"/>
          </a:xfrm>
          <a:prstGeom prst="roundRect">
            <a:avLst>
              <a:gd name="adj" fmla="val 10667"/>
            </a:avLst>
          </a:prstGeom>
          <a:solidFill>
            <a:schemeClr val="bg2"/>
          </a:solidFill>
          <a:ln/>
        </p:spPr>
        <p:txBody>
          <a:bodyPr wrap="square" lIns="0" tIns="0" rIns="0" bIns="0" rtlCol="0" anchor="ctr"/>
          <a:lstStyle/>
          <a:p>
            <a:pPr algn="ctr" indent="0" marL="0">
              <a:buNone/>
            </a:pPr>
            <a:r>
              <a:rPr lang="en-US" sz="1800" b="1" dirty="0">
                <a:solidFill>
                  <a:schemeClr val="accent1"/>
                </a:solidFill>
              </a:rPr>
              <a:t>r[1] ist ein Schluessel</a:t>
            </a:r>
            <a:endParaRPr lang="en-US" sz="1800" dirty="0"/>
          </a:p>
        </p:txBody>
      </p:sp>
      <p:sp>
        <p:nvSpPr>
          <p:cNvPr id="7" name="Text 5"/>
          <p:cNvSpPr txBox="1"/>
          <p:nvPr/>
        </p:nvSpPr>
        <p:spPr>
          <a:xfrm>
            <a:off x="3657600" y="2240280"/>
            <a:ext cx="2286000" cy="685800"/>
          </a:xfrm>
          <a:prstGeom prst="rect">
            <a:avLst/>
          </a:prstGeom>
          <a:noFill/>
          <a:ln/>
        </p:spPr>
        <p:txBody>
          <a:bodyPr wrap="square" lIns="0" tIns="0" rIns="0" bIns="0" rtlCol="0" anchor="ctr"/>
          <a:lstStyle/>
          <a:p>
            <a:pPr indent="0" marL="0">
              <a:buNone/>
            </a:pPr>
            <a:r>
              <a:rPr lang="en-US" sz="1800" b="1" dirty="0">
                <a:solidFill>
                  <a:schemeClr val="accent6"/>
                </a:solidFill>
              </a:rPr>
              <a:t>→ geerbte Version</a:t>
            </a:r>
            <a:endParaRPr lang="en-US" sz="1800" dirty="0"/>
          </a:p>
        </p:txBody>
      </p:sp>
      <p:sp>
        <p:nvSpPr>
          <p:cNvPr id="8" name="Text 6"/>
          <p:cNvSpPr txBox="1"/>
          <p:nvPr/>
        </p:nvSpPr>
        <p:spPr>
          <a:xfrm>
            <a:off x="6035040" y="2240280"/>
            <a:ext cx="5577840" cy="685800"/>
          </a:xfrm>
          <a:prstGeom prst="rect">
            <a:avLst/>
          </a:prstGeom>
          <a:solidFill>
            <a:schemeClr val="accent5"/>
          </a:solidFill>
          <a:ln/>
        </p:spPr>
        <p:txBody>
          <a:bodyPr wrap="square" lIns="127000" tIns="0" rIns="127000" bIns="0" rtlCol="0" anchor="ctr"/>
          <a:lstStyle/>
          <a:p>
            <a:pPr indent="0" marL="0">
              <a:buNone/>
            </a:pPr>
            <a:r>
              <a:rPr lang="en-US" sz="1600" b="1" dirty="0">
                <a:solidFill>
                  <a:schemeClr val="accent3"/>
                </a:solidFill>
                <a:latin typeface="Consolas" pitchFamily="34" charset="0"/>
                <a:ea typeface="Consolas" pitchFamily="34" charset="-122"/>
                <a:cs typeface="Consolas" pitchFamily="34" charset="-120"/>
              </a:rPr>
              <a:t>"Goldschlüssel (40 Gold)"</a:t>
            </a:r>
            <a:endParaRPr lang="en-US" sz="1600" dirty="0"/>
          </a:p>
        </p:txBody>
      </p:sp>
      <p:sp>
        <p:nvSpPr>
          <p:cNvPr id="9" name="Text 7"/>
          <p:cNvSpPr txBox="1"/>
          <p:nvPr/>
        </p:nvSpPr>
        <p:spPr>
          <a:xfrm>
            <a:off x="548640" y="3108960"/>
            <a:ext cx="2926080" cy="685800"/>
          </a:xfrm>
          <a:prstGeom prst="roundRect">
            <a:avLst>
              <a:gd name="adj" fmla="val 10667"/>
            </a:avLst>
          </a:prstGeom>
          <a:solidFill>
            <a:schemeClr val="bg2"/>
          </a:solidFill>
          <a:ln/>
        </p:spPr>
        <p:txBody>
          <a:bodyPr wrap="square" lIns="0" tIns="0" rIns="0" bIns="0" rtlCol="0" anchor="ctr"/>
          <a:lstStyle/>
          <a:p>
            <a:pPr algn="ctr" indent="0" marL="0">
              <a:buNone/>
            </a:pPr>
            <a:r>
              <a:rPr lang="en-US" sz="1800" b="1" dirty="0">
                <a:solidFill>
                  <a:schemeClr val="accent1"/>
                </a:solidFill>
              </a:rPr>
              <a:t>r[2] ist ein Trank</a:t>
            </a:r>
            <a:endParaRPr lang="en-US" sz="1800" dirty="0"/>
          </a:p>
        </p:txBody>
      </p:sp>
      <p:sp>
        <p:nvSpPr>
          <p:cNvPr id="10" name="Text 8"/>
          <p:cNvSpPr txBox="1"/>
          <p:nvPr/>
        </p:nvSpPr>
        <p:spPr>
          <a:xfrm>
            <a:off x="3657600" y="3108960"/>
            <a:ext cx="2286000" cy="685800"/>
          </a:xfrm>
          <a:prstGeom prst="rect">
            <a:avLst/>
          </a:prstGeom>
          <a:noFill/>
          <a:ln/>
        </p:spPr>
        <p:txBody>
          <a:bodyPr wrap="square" lIns="0" tIns="0" rIns="0" bIns="0" rtlCol="0" anchor="ctr"/>
          <a:lstStyle/>
          <a:p>
            <a:pPr indent="0" marL="0">
              <a:buNone/>
            </a:pPr>
            <a:r>
              <a:rPr lang="en-US" sz="1800" b="1" dirty="0">
                <a:solidFill>
                  <a:schemeClr val="accent2"/>
                </a:solidFill>
              </a:rPr>
              <a:t>→ eigene Version</a:t>
            </a:r>
            <a:endParaRPr lang="en-US" sz="1800" dirty="0"/>
          </a:p>
        </p:txBody>
      </p:sp>
      <p:sp>
        <p:nvSpPr>
          <p:cNvPr id="11" name="Text 9"/>
          <p:cNvSpPr txBox="1"/>
          <p:nvPr/>
        </p:nvSpPr>
        <p:spPr>
          <a:xfrm>
            <a:off x="6035040" y="3108960"/>
            <a:ext cx="5577840" cy="685800"/>
          </a:xfrm>
          <a:prstGeom prst="rect">
            <a:avLst/>
          </a:prstGeom>
          <a:solidFill>
            <a:schemeClr val="accent5"/>
          </a:solidFill>
          <a:ln/>
        </p:spPr>
        <p:txBody>
          <a:bodyPr wrap="square" lIns="127000" tIns="0" rIns="127000" bIns="0" rtlCol="0" anchor="ctr"/>
          <a:lstStyle/>
          <a:p>
            <a:pPr indent="0" marL="0">
              <a:buNone/>
            </a:pPr>
            <a:r>
              <a:rPr lang="en-US" sz="1600" b="1" dirty="0">
                <a:solidFill>
                  <a:schemeClr val="accent3"/>
                </a:solidFill>
                <a:latin typeface="Consolas" pitchFamily="34" charset="0"/>
                <a:ea typeface="Consolas" pitchFamily="34" charset="-122"/>
                <a:cs typeface="Consolas" pitchFamily="34" charset="-120"/>
              </a:rPr>
              <a:t>"Trank: Elixier (25 Gold), heilt 50"</a:t>
            </a:r>
            <a:endParaRPr lang="en-US" sz="1600" dirty="0"/>
          </a:p>
        </p:txBody>
      </p:sp>
      <p:sp>
        <p:nvSpPr>
          <p:cNvPr id="12" name="Regel Typ"/>
          <p:cNvSpPr/>
          <p:nvPr/>
        </p:nvSpPr>
        <p:spPr>
          <a:xfrm>
            <a:off x="548640" y="4160520"/>
            <a:ext cx="5394960" cy="1463040"/>
          </a:xfrm>
          <a:prstGeom prst="roundRect">
            <a:avLst>
              <a:gd name="adj" fmla="val 7500"/>
            </a:avLst>
          </a:prstGeom>
          <a:solidFill>
            <a:schemeClr val="bg1"/>
          </a:solidFill>
          <a:ln/>
          <a:effectLst>
            <a:outerShdw sx="100000" sy="100000" kx="0" ky="0" algn="bl" rotWithShape="0" blurRad="76200" dist="25400" dir="5400000">
              <a:srgbClr val="000000">
                <a:alpha val="18000"/>
              </a:srgbClr>
            </a:outerShdw>
          </a:effectLst>
        </p:spPr>
      </p:sp>
      <p:sp>
        <p:nvSpPr>
          <p:cNvPr id="13" name="Text 11"/>
          <p:cNvSpPr txBox="1"/>
          <p:nvPr/>
        </p:nvSpPr>
        <p:spPr>
          <a:xfrm>
            <a:off x="777240" y="4297680"/>
            <a:ext cx="4983480" cy="1234440"/>
          </a:xfrm>
          <a:prstGeom prst="rect">
            <a:avLst/>
          </a:prstGeom>
          <a:noFill/>
          <a:ln/>
        </p:spPr>
        <p:txBody>
          <a:bodyPr wrap="square" lIns="0" tIns="0" rIns="0" bIns="0" rtlCol="0" anchor="t"/>
          <a:lstStyle/>
          <a:p>
            <a:pPr indent="0" marL="0">
              <a:buNone/>
            </a:pPr>
            <a:r>
              <a:rPr lang="en-US" sz="2100" b="1" dirty="0">
                <a:solidFill>
                  <a:schemeClr val="accent1"/>
                </a:solidFill>
              </a:rPr>
              <a:t>Typ der Variablen</a:t>
            </a:r>
            <a:endParaRPr lang="en-US" sz="1800" dirty="0"/>
          </a:p>
          <a:p>
            <a:pPr indent="0" marL="0">
              <a:buNone/>
            </a:pPr>
            <a:r>
              <a:rPr lang="en-US" sz="1800" dirty="0">
                <a:solidFill>
                  <a:schemeClr val="tx1"/>
                </a:solidFill>
              </a:rPr>
              <a:t>bestimmt, welche Methoden aufgerufen werden dürfen (hier: alles aus Gegenstand).</a:t>
            </a:r>
            <a:endParaRPr lang="en-US" sz="1800" dirty="0"/>
          </a:p>
        </p:txBody>
      </p:sp>
      <p:sp>
        <p:nvSpPr>
          <p:cNvPr id="14" name="Regel Objekt"/>
          <p:cNvSpPr/>
          <p:nvPr/>
        </p:nvSpPr>
        <p:spPr>
          <a:xfrm>
            <a:off x="6217920" y="4160520"/>
            <a:ext cx="5394960" cy="1463040"/>
          </a:xfrm>
          <a:prstGeom prst="roundRect">
            <a:avLst>
              <a:gd name="adj" fmla="val 7500"/>
            </a:avLst>
          </a:prstGeom>
          <a:solidFill>
            <a:schemeClr val="bg2"/>
          </a:solidFill>
          <a:ln/>
          <a:effectLst>
            <a:outerShdw sx="100000" sy="100000" kx="0" ky="0" algn="bl" rotWithShape="0" blurRad="76200" dist="25400" dir="5400000">
              <a:srgbClr val="000000">
                <a:alpha val="18000"/>
              </a:srgbClr>
            </a:outerShdw>
          </a:effectLst>
        </p:spPr>
      </p:sp>
      <p:sp>
        <p:nvSpPr>
          <p:cNvPr id="15" name="Text 13"/>
          <p:cNvSpPr txBox="1"/>
          <p:nvPr/>
        </p:nvSpPr>
        <p:spPr>
          <a:xfrm>
            <a:off x="6446520" y="4297680"/>
            <a:ext cx="4983480" cy="1234440"/>
          </a:xfrm>
          <a:prstGeom prst="rect">
            <a:avLst/>
          </a:prstGeom>
          <a:noFill/>
          <a:ln/>
        </p:spPr>
        <p:txBody>
          <a:bodyPr wrap="square" lIns="0" tIns="0" rIns="0" bIns="0" rtlCol="0" anchor="t"/>
          <a:lstStyle/>
          <a:p>
            <a:pPr indent="0" marL="0">
              <a:buNone/>
            </a:pPr>
            <a:r>
              <a:rPr lang="en-US" sz="2100" b="1" dirty="0">
                <a:solidFill>
                  <a:schemeClr val="accent1"/>
                </a:solidFill>
              </a:rPr>
              <a:t>Typ des Objekts</a:t>
            </a:r>
            <a:endParaRPr lang="en-US" sz="1800" dirty="0"/>
          </a:p>
          <a:p>
            <a:pPr indent="0" marL="0">
              <a:buNone/>
            </a:pPr>
            <a:r>
              <a:rPr lang="en-US" sz="1800" dirty="0">
                <a:solidFill>
                  <a:schemeClr val="tx1"/>
                </a:solidFill>
              </a:rPr>
              <a:t>bestimmt zur Laufzeit, welche Version ausgeführt wird (dynamisches Binden).</a:t>
            </a:r>
            <a:endParaRPr lang="en-US" sz="18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Zuweisungskompatibilität</a:t>
            </a:r>
            <a:endParaRPr lang="en-US" sz="3600" dirty="0"/>
          </a:p>
        </p:txBody>
      </p:sp>
      <p:sp>
        <p:nvSpPr>
          <p:cNvPr id="3" name="Regel"/>
          <p:cNvSpPr/>
          <p:nvPr/>
        </p:nvSpPr>
        <p:spPr>
          <a:xfrm>
            <a:off x="548640" y="1325880"/>
            <a:ext cx="11064240" cy="594360"/>
          </a:xfrm>
          <a:prstGeom prst="roundRect">
            <a:avLst>
              <a:gd name="adj" fmla="val 18462"/>
            </a:avLst>
          </a:prstGeom>
          <a:solidFill>
            <a:schemeClr val="bg2"/>
          </a:solidFill>
          <a:ln/>
        </p:spPr>
      </p:sp>
      <p:sp>
        <p:nvSpPr>
          <p:cNvPr id="4" name="Text 2"/>
          <p:cNvSpPr txBox="1"/>
          <p:nvPr/>
        </p:nvSpPr>
        <p:spPr>
          <a:xfrm>
            <a:off x="777240" y="1325880"/>
            <a:ext cx="10698480" cy="594360"/>
          </a:xfrm>
          <a:prstGeom prst="rect">
            <a:avLst/>
          </a:prstGeom>
          <a:noFill/>
          <a:ln/>
        </p:spPr>
        <p:txBody>
          <a:bodyPr wrap="square" lIns="0" tIns="0" rIns="0" bIns="0" rtlCol="0" anchor="ctr"/>
          <a:lstStyle/>
          <a:p>
            <a:pPr indent="0" marL="0">
              <a:buNone/>
            </a:pPr>
            <a:r>
              <a:rPr lang="en-US" sz="1900" b="1" dirty="0">
                <a:solidFill>
                  <a:schemeClr val="accent1"/>
                </a:solidFill>
              </a:rPr>
              <a:t>Regel: </a:t>
            </a:r>
            <a:pPr indent="0" marL="0">
              <a:buNone/>
            </a:pPr>
            <a:r>
              <a:rPr lang="en-US" sz="1900" dirty="0">
                <a:solidFill>
                  <a:schemeClr val="tx1"/>
                </a:solidFill>
              </a:rPr>
              <a:t>Ein Unterklassen-Objekt darf überall stehen, wo die Oberklasse erwartet wird – nicht umgekehrt.</a:t>
            </a:r>
            <a:endParaRPr lang="en-US" sz="1900" dirty="0"/>
          </a:p>
        </p:txBody>
      </p:sp>
      <p:sp>
        <p:nvSpPr>
          <p:cNvPr id="5" name="Icon-Kreis"/>
          <p:cNvSpPr/>
          <p:nvPr/>
        </p:nvSpPr>
        <p:spPr>
          <a:xfrm>
            <a:off x="548640" y="2157984"/>
            <a:ext cx="475488" cy="475488"/>
          </a:xfrm>
          <a:prstGeom prst="ellipse">
            <a:avLst/>
          </a:prstGeom>
          <a:solidFill>
            <a:schemeClr val="accent3"/>
          </a:solidFill>
          <a:ln/>
        </p:spPr>
      </p:sp>
      <p:pic>
        <p:nvPicPr>
          <p:cNvPr id="6" name="Icon GiCheckMark" descr="preencoded.png">    </p:cNvPr>
          <p:cNvPicPr>
            <a:picLocks noChangeAspect="1"/>
          </p:cNvPicPr>
          <p:nvPr/>
        </p:nvPicPr>
        <p:blipFill>
          <a:blip r:embed="rId1"/>
          <a:stretch>
            <a:fillRect/>
          </a:stretch>
        </p:blipFill>
        <p:spPr>
          <a:xfrm>
            <a:off x="643738" y="2253082"/>
            <a:ext cx="285293" cy="285293"/>
          </a:xfrm>
          <a:prstGeom prst="rect">
            <a:avLst/>
          </a:prstGeom>
        </p:spPr>
      </p:pic>
      <p:sp>
        <p:nvSpPr>
          <p:cNvPr id="7" name="Text 4"/>
          <p:cNvSpPr txBox="1"/>
          <p:nvPr/>
        </p:nvSpPr>
        <p:spPr>
          <a:xfrm>
            <a:off x="1188720" y="2103120"/>
            <a:ext cx="5943600" cy="566928"/>
          </a:xfrm>
          <a:prstGeom prst="rect">
            <a:avLst/>
          </a:prstGeom>
          <a:solidFill>
            <a:schemeClr val="accent5"/>
          </a:solidFill>
          <a:ln/>
        </p:spPr>
        <p:txBody>
          <a:bodyPr wrap="square" lIns="127000" tIns="0" rIns="76200" bIns="0" rtlCol="0" anchor="ctr"/>
          <a:lstStyle/>
          <a:p>
            <a:pPr indent="0" marL="0">
              <a:buNone/>
            </a:pPr>
            <a:r>
              <a:rPr lang="en-US" sz="1500" dirty="0">
                <a:solidFill>
                  <a:schemeClr val="tx1"/>
                </a:solidFill>
                <a:latin typeface="Consolas" pitchFamily="34" charset="0"/>
                <a:ea typeface="Consolas" pitchFamily="34" charset="-122"/>
                <a:cs typeface="Consolas" pitchFamily="34" charset="-120"/>
              </a:rPr>
              <a:t>Gegenstand g = new Waffe("Axt", 30, 9);</a:t>
            </a:r>
            <a:endParaRPr lang="en-US" sz="1500" dirty="0"/>
          </a:p>
        </p:txBody>
      </p:sp>
      <p:sp>
        <p:nvSpPr>
          <p:cNvPr id="8" name="Text 5"/>
          <p:cNvSpPr txBox="1"/>
          <p:nvPr/>
        </p:nvSpPr>
        <p:spPr>
          <a:xfrm>
            <a:off x="7315200" y="2103120"/>
            <a:ext cx="4297680" cy="566928"/>
          </a:xfrm>
          <a:prstGeom prst="rect">
            <a:avLst/>
          </a:prstGeom>
          <a:noFill/>
          <a:ln/>
        </p:spPr>
        <p:txBody>
          <a:bodyPr wrap="square" lIns="0" tIns="0" rIns="0" bIns="0" rtlCol="0" anchor="ctr"/>
          <a:lstStyle/>
          <a:p>
            <a:pPr indent="0" marL="0">
              <a:buNone/>
            </a:pPr>
            <a:r>
              <a:rPr lang="en-US" sz="1700" dirty="0">
                <a:solidFill>
                  <a:schemeClr val="tx1"/>
                </a:solidFill>
              </a:rPr>
              <a:t>Eine Waffe ist ein Gegenstand.</a:t>
            </a:r>
            <a:endParaRPr lang="en-US" sz="1700" dirty="0"/>
          </a:p>
        </p:txBody>
      </p:sp>
      <p:sp>
        <p:nvSpPr>
          <p:cNvPr id="9" name="Icon-Kreis"/>
          <p:cNvSpPr/>
          <p:nvPr/>
        </p:nvSpPr>
        <p:spPr>
          <a:xfrm>
            <a:off x="548640" y="2825496"/>
            <a:ext cx="475488" cy="475488"/>
          </a:xfrm>
          <a:prstGeom prst="ellipse">
            <a:avLst/>
          </a:prstGeom>
          <a:solidFill>
            <a:schemeClr val="accent4"/>
          </a:solidFill>
          <a:ln/>
        </p:spPr>
      </p:sp>
      <p:pic>
        <p:nvPicPr>
          <p:cNvPr id="10" name="Icon GiCancel" descr="preencoded.png">    </p:cNvPr>
          <p:cNvPicPr>
            <a:picLocks noChangeAspect="1"/>
          </p:cNvPicPr>
          <p:nvPr/>
        </p:nvPicPr>
        <p:blipFill>
          <a:blip r:embed="rId2"/>
          <a:stretch>
            <a:fillRect/>
          </a:stretch>
        </p:blipFill>
        <p:spPr>
          <a:xfrm>
            <a:off x="643738" y="2920594"/>
            <a:ext cx="285293" cy="285293"/>
          </a:xfrm>
          <a:prstGeom prst="rect">
            <a:avLst/>
          </a:prstGeom>
        </p:spPr>
      </p:pic>
      <p:sp>
        <p:nvSpPr>
          <p:cNvPr id="11" name="Text 7"/>
          <p:cNvSpPr txBox="1"/>
          <p:nvPr/>
        </p:nvSpPr>
        <p:spPr>
          <a:xfrm>
            <a:off x="1188720" y="2770632"/>
            <a:ext cx="5943600" cy="566928"/>
          </a:xfrm>
          <a:prstGeom prst="rect">
            <a:avLst/>
          </a:prstGeom>
          <a:solidFill>
            <a:schemeClr val="accent5"/>
          </a:solidFill>
          <a:ln/>
        </p:spPr>
        <p:txBody>
          <a:bodyPr wrap="square" lIns="127000" tIns="0" rIns="76200" bIns="0" rtlCol="0" anchor="ctr"/>
          <a:lstStyle/>
          <a:p>
            <a:pPr indent="0" marL="0">
              <a:buNone/>
            </a:pPr>
            <a:r>
              <a:rPr lang="en-US" sz="1500" dirty="0">
                <a:solidFill>
                  <a:schemeClr val="tx1"/>
                </a:solidFill>
                <a:latin typeface="Consolas" pitchFamily="34" charset="0"/>
                <a:ea typeface="Consolas" pitchFamily="34" charset="-122"/>
                <a:cs typeface="Consolas" pitchFamily="34" charset="-120"/>
              </a:rPr>
              <a:t>Waffe w = new Gegenstand("Fackel", 5);</a:t>
            </a:r>
            <a:endParaRPr lang="en-US" sz="1500" dirty="0"/>
          </a:p>
        </p:txBody>
      </p:sp>
      <p:sp>
        <p:nvSpPr>
          <p:cNvPr id="12" name="Text 8"/>
          <p:cNvSpPr txBox="1"/>
          <p:nvPr/>
        </p:nvSpPr>
        <p:spPr>
          <a:xfrm>
            <a:off x="7315200" y="2770632"/>
            <a:ext cx="4297680" cy="566928"/>
          </a:xfrm>
          <a:prstGeom prst="rect">
            <a:avLst/>
          </a:prstGeom>
          <a:noFill/>
          <a:ln/>
        </p:spPr>
        <p:txBody>
          <a:bodyPr wrap="square" lIns="0" tIns="0" rIns="0" bIns="0" rtlCol="0" anchor="ctr"/>
          <a:lstStyle/>
          <a:p>
            <a:pPr indent="0" marL="0">
              <a:buNone/>
            </a:pPr>
            <a:r>
              <a:rPr lang="en-US" sz="1700" dirty="0">
                <a:solidFill>
                  <a:schemeClr val="accent4"/>
                </a:solidFill>
              </a:rPr>
              <a:t>Nicht jeder Gegenstand ist eine Waffe.</a:t>
            </a:r>
            <a:endParaRPr lang="en-US" sz="1700" dirty="0"/>
          </a:p>
        </p:txBody>
      </p:sp>
      <p:sp>
        <p:nvSpPr>
          <p:cNvPr id="13" name="Icon-Kreis"/>
          <p:cNvSpPr/>
          <p:nvPr/>
        </p:nvSpPr>
        <p:spPr>
          <a:xfrm>
            <a:off x="548640" y="3493008"/>
            <a:ext cx="475488" cy="475488"/>
          </a:xfrm>
          <a:prstGeom prst="ellipse">
            <a:avLst/>
          </a:prstGeom>
          <a:solidFill>
            <a:schemeClr val="accent3"/>
          </a:solidFill>
          <a:ln/>
        </p:spPr>
      </p:sp>
      <p:pic>
        <p:nvPicPr>
          <p:cNvPr id="14" name="Icon GiCheckMark" descr="preencoded.png">    </p:cNvPr>
          <p:cNvPicPr>
            <a:picLocks noChangeAspect="1"/>
          </p:cNvPicPr>
          <p:nvPr/>
        </p:nvPicPr>
        <p:blipFill>
          <a:blip r:embed="rId3"/>
          <a:stretch>
            <a:fillRect/>
          </a:stretch>
        </p:blipFill>
        <p:spPr>
          <a:xfrm>
            <a:off x="643738" y="3588106"/>
            <a:ext cx="285293" cy="285293"/>
          </a:xfrm>
          <a:prstGeom prst="rect">
            <a:avLst/>
          </a:prstGeom>
        </p:spPr>
      </p:pic>
      <p:sp>
        <p:nvSpPr>
          <p:cNvPr id="15" name="Text 10"/>
          <p:cNvSpPr txBox="1"/>
          <p:nvPr/>
        </p:nvSpPr>
        <p:spPr>
          <a:xfrm>
            <a:off x="1188720" y="3438144"/>
            <a:ext cx="5943600" cy="566928"/>
          </a:xfrm>
          <a:prstGeom prst="rect">
            <a:avLst/>
          </a:prstGeom>
          <a:solidFill>
            <a:schemeClr val="accent5"/>
          </a:solidFill>
          <a:ln/>
        </p:spPr>
        <p:txBody>
          <a:bodyPr wrap="square" lIns="127000" tIns="0" rIns="76200" bIns="0" rtlCol="0" anchor="ctr"/>
          <a:lstStyle/>
          <a:p>
            <a:pPr indent="0" marL="0">
              <a:buNone/>
            </a:pPr>
            <a:r>
              <a:rPr lang="en-US" sz="1500" dirty="0">
                <a:solidFill>
                  <a:schemeClr val="tx1"/>
                </a:solidFill>
                <a:latin typeface="Consolas" pitchFamily="34" charset="0"/>
                <a:ea typeface="Consolas" pitchFamily="34" charset="-122"/>
                <a:cs typeface="Consolas" pitchFamily="34" charset="-120"/>
              </a:rPr>
              <a:t>g.beschreibung();</a:t>
            </a:r>
            <a:endParaRPr lang="en-US" sz="1500" dirty="0"/>
          </a:p>
        </p:txBody>
      </p:sp>
      <p:sp>
        <p:nvSpPr>
          <p:cNvPr id="16" name="Text 11"/>
          <p:cNvSpPr txBox="1"/>
          <p:nvPr/>
        </p:nvSpPr>
        <p:spPr>
          <a:xfrm>
            <a:off x="7315200" y="3438144"/>
            <a:ext cx="4297680" cy="566928"/>
          </a:xfrm>
          <a:prstGeom prst="rect">
            <a:avLst/>
          </a:prstGeom>
          <a:noFill/>
          <a:ln/>
        </p:spPr>
        <p:txBody>
          <a:bodyPr wrap="square" lIns="0" tIns="0" rIns="0" bIns="0" rtlCol="0" anchor="ctr"/>
          <a:lstStyle/>
          <a:p>
            <a:pPr indent="0" marL="0">
              <a:buNone/>
            </a:pPr>
            <a:r>
              <a:rPr lang="en-US" sz="1700" dirty="0">
                <a:solidFill>
                  <a:schemeClr val="tx1"/>
                </a:solidFill>
              </a:rPr>
              <a:t>kennt Gegenstand – es läuft die Waffe-Version.</a:t>
            </a:r>
            <a:endParaRPr lang="en-US" sz="1700" dirty="0"/>
          </a:p>
        </p:txBody>
      </p:sp>
      <p:sp>
        <p:nvSpPr>
          <p:cNvPr id="17" name="Icon-Kreis"/>
          <p:cNvSpPr/>
          <p:nvPr/>
        </p:nvSpPr>
        <p:spPr>
          <a:xfrm>
            <a:off x="548640" y="4160520"/>
            <a:ext cx="475488" cy="475488"/>
          </a:xfrm>
          <a:prstGeom prst="ellipse">
            <a:avLst/>
          </a:prstGeom>
          <a:solidFill>
            <a:schemeClr val="accent4"/>
          </a:solidFill>
          <a:ln/>
        </p:spPr>
      </p:sp>
      <p:pic>
        <p:nvPicPr>
          <p:cNvPr id="18" name="Icon GiCancel" descr="preencoded.png">    </p:cNvPr>
          <p:cNvPicPr>
            <a:picLocks noChangeAspect="1"/>
          </p:cNvPicPr>
          <p:nvPr/>
        </p:nvPicPr>
        <p:blipFill>
          <a:blip r:embed="rId4"/>
          <a:stretch>
            <a:fillRect/>
          </a:stretch>
        </p:blipFill>
        <p:spPr>
          <a:xfrm>
            <a:off x="643738" y="4255618"/>
            <a:ext cx="285293" cy="285293"/>
          </a:xfrm>
          <a:prstGeom prst="rect">
            <a:avLst/>
          </a:prstGeom>
        </p:spPr>
      </p:pic>
      <p:sp>
        <p:nvSpPr>
          <p:cNvPr id="19" name="Text 13"/>
          <p:cNvSpPr txBox="1"/>
          <p:nvPr/>
        </p:nvSpPr>
        <p:spPr>
          <a:xfrm>
            <a:off x="1188720" y="4105656"/>
            <a:ext cx="5943600" cy="566928"/>
          </a:xfrm>
          <a:prstGeom prst="rect">
            <a:avLst/>
          </a:prstGeom>
          <a:solidFill>
            <a:schemeClr val="accent5"/>
          </a:solidFill>
          <a:ln/>
        </p:spPr>
        <p:txBody>
          <a:bodyPr wrap="square" lIns="127000" tIns="0" rIns="76200" bIns="0" rtlCol="0" anchor="ctr"/>
          <a:lstStyle/>
          <a:p>
            <a:pPr indent="0" marL="0">
              <a:buNone/>
            </a:pPr>
            <a:r>
              <a:rPr lang="en-US" sz="1500" dirty="0">
                <a:solidFill>
                  <a:schemeClr val="tx1"/>
                </a:solidFill>
                <a:latin typeface="Consolas" pitchFamily="34" charset="0"/>
                <a:ea typeface="Consolas" pitchFamily="34" charset="-122"/>
                <a:cs typeface="Consolas" pitchFamily="34" charset="-120"/>
              </a:rPr>
              <a:t>g.getSchaden();</a:t>
            </a:r>
            <a:endParaRPr lang="en-US" sz="1500" dirty="0"/>
          </a:p>
        </p:txBody>
      </p:sp>
      <p:sp>
        <p:nvSpPr>
          <p:cNvPr id="20" name="Text 14"/>
          <p:cNvSpPr txBox="1"/>
          <p:nvPr/>
        </p:nvSpPr>
        <p:spPr>
          <a:xfrm>
            <a:off x="7315200" y="4105656"/>
            <a:ext cx="4297680" cy="566928"/>
          </a:xfrm>
          <a:prstGeom prst="rect">
            <a:avLst/>
          </a:prstGeom>
          <a:noFill/>
          <a:ln/>
        </p:spPr>
        <p:txBody>
          <a:bodyPr wrap="square" lIns="0" tIns="0" rIns="0" bIns="0" rtlCol="0" anchor="ctr"/>
          <a:lstStyle/>
          <a:p>
            <a:pPr indent="0" marL="0">
              <a:buNone/>
            </a:pPr>
            <a:r>
              <a:rPr lang="en-US" sz="1700" dirty="0">
                <a:solidFill>
                  <a:schemeClr val="accent4"/>
                </a:solidFill>
              </a:rPr>
              <a:t>getSchaden() gibt es in Gegenstand nicht.</a:t>
            </a:r>
            <a:endParaRPr lang="en-US" sz="1700" dirty="0"/>
          </a:p>
        </p:txBody>
      </p:sp>
      <p:sp>
        <p:nvSpPr>
          <p:cNvPr id="21" name="Icon-Kreis"/>
          <p:cNvSpPr/>
          <p:nvPr/>
        </p:nvSpPr>
        <p:spPr>
          <a:xfrm>
            <a:off x="548640" y="4828032"/>
            <a:ext cx="475488" cy="475488"/>
          </a:xfrm>
          <a:prstGeom prst="ellipse">
            <a:avLst/>
          </a:prstGeom>
          <a:solidFill>
            <a:schemeClr val="accent3"/>
          </a:solidFill>
          <a:ln/>
        </p:spPr>
      </p:sp>
      <p:pic>
        <p:nvPicPr>
          <p:cNvPr id="22" name="Icon GiCheckMark" descr="preencoded.png">    </p:cNvPr>
          <p:cNvPicPr>
            <a:picLocks noChangeAspect="1"/>
          </p:cNvPicPr>
          <p:nvPr/>
        </p:nvPicPr>
        <p:blipFill>
          <a:blip r:embed="rId5"/>
          <a:stretch>
            <a:fillRect/>
          </a:stretch>
        </p:blipFill>
        <p:spPr>
          <a:xfrm>
            <a:off x="643738" y="4923130"/>
            <a:ext cx="285293" cy="285293"/>
          </a:xfrm>
          <a:prstGeom prst="rect">
            <a:avLst/>
          </a:prstGeom>
        </p:spPr>
      </p:pic>
      <p:sp>
        <p:nvSpPr>
          <p:cNvPr id="23" name="Text 16"/>
          <p:cNvSpPr txBox="1"/>
          <p:nvPr/>
        </p:nvSpPr>
        <p:spPr>
          <a:xfrm>
            <a:off x="1188720" y="4773168"/>
            <a:ext cx="5943600" cy="566928"/>
          </a:xfrm>
          <a:prstGeom prst="rect">
            <a:avLst/>
          </a:prstGeom>
          <a:solidFill>
            <a:schemeClr val="accent5"/>
          </a:solidFill>
          <a:ln/>
        </p:spPr>
        <p:txBody>
          <a:bodyPr wrap="square" lIns="127000" tIns="0" rIns="76200" bIns="0" rtlCol="0" anchor="ctr"/>
          <a:lstStyle/>
          <a:p>
            <a:pPr indent="0" marL="0">
              <a:buNone/>
            </a:pPr>
            <a:r>
              <a:rPr lang="en-US" sz="1500" dirty="0">
                <a:solidFill>
                  <a:schemeClr val="tx1"/>
                </a:solidFill>
                <a:latin typeface="Consolas" pitchFamily="34" charset="0"/>
                <a:ea typeface="Consolas" pitchFamily="34" charset="-122"/>
                <a:cs typeface="Consolas" pitchFamily="34" charset="-120"/>
              </a:rPr>
              <a:t>held.aufnehmen(new Trank("Elixier", 25, 50));</a:t>
            </a:r>
            <a:endParaRPr lang="en-US" sz="1500" dirty="0"/>
          </a:p>
        </p:txBody>
      </p:sp>
      <p:sp>
        <p:nvSpPr>
          <p:cNvPr id="24" name="Text 17"/>
          <p:cNvSpPr txBox="1"/>
          <p:nvPr/>
        </p:nvSpPr>
        <p:spPr>
          <a:xfrm>
            <a:off x="7315200" y="4773168"/>
            <a:ext cx="4297680" cy="566928"/>
          </a:xfrm>
          <a:prstGeom prst="rect">
            <a:avLst/>
          </a:prstGeom>
          <a:noFill/>
          <a:ln/>
        </p:spPr>
        <p:txBody>
          <a:bodyPr wrap="square" lIns="0" tIns="0" rIns="0" bIns="0" rtlCol="0" anchor="ctr"/>
          <a:lstStyle/>
          <a:p>
            <a:pPr indent="0" marL="0">
              <a:buNone/>
            </a:pPr>
            <a:r>
              <a:rPr lang="en-US" sz="1700" dirty="0">
                <a:solidFill>
                  <a:schemeClr val="tx1"/>
                </a:solidFill>
              </a:rPr>
              <a:t>Parameter Gegenstand: jede Unterklasse passt.</a:t>
            </a:r>
            <a:endParaRPr lang="en-US" sz="1700" dirty="0"/>
          </a:p>
        </p:txBody>
      </p:sp>
      <p:sp>
        <p:nvSpPr>
          <p:cNvPr id="25" name="Icon-Kreis"/>
          <p:cNvSpPr/>
          <p:nvPr/>
        </p:nvSpPr>
        <p:spPr>
          <a:xfrm>
            <a:off x="548640" y="5495544"/>
            <a:ext cx="475488" cy="475488"/>
          </a:xfrm>
          <a:prstGeom prst="ellipse">
            <a:avLst/>
          </a:prstGeom>
          <a:solidFill>
            <a:schemeClr val="accent4"/>
          </a:solidFill>
          <a:ln/>
        </p:spPr>
      </p:sp>
      <p:pic>
        <p:nvPicPr>
          <p:cNvPr id="26" name="Icon GiCancel" descr="preencoded.png">    </p:cNvPr>
          <p:cNvPicPr>
            <a:picLocks noChangeAspect="1"/>
          </p:cNvPicPr>
          <p:nvPr/>
        </p:nvPicPr>
        <p:blipFill>
          <a:blip r:embed="rId6"/>
          <a:stretch>
            <a:fillRect/>
          </a:stretch>
        </p:blipFill>
        <p:spPr>
          <a:xfrm>
            <a:off x="643738" y="5590642"/>
            <a:ext cx="285293" cy="285293"/>
          </a:xfrm>
          <a:prstGeom prst="rect">
            <a:avLst/>
          </a:prstGeom>
        </p:spPr>
      </p:pic>
      <p:sp>
        <p:nvSpPr>
          <p:cNvPr id="27" name="Text 19"/>
          <p:cNvSpPr txBox="1"/>
          <p:nvPr/>
        </p:nvSpPr>
        <p:spPr>
          <a:xfrm>
            <a:off x="1188720" y="5440680"/>
            <a:ext cx="5943600" cy="566928"/>
          </a:xfrm>
          <a:prstGeom prst="rect">
            <a:avLst/>
          </a:prstGeom>
          <a:solidFill>
            <a:schemeClr val="accent5"/>
          </a:solidFill>
          <a:ln/>
        </p:spPr>
        <p:txBody>
          <a:bodyPr wrap="square" lIns="127000" tIns="0" rIns="76200" bIns="0" rtlCol="0" anchor="ctr"/>
          <a:lstStyle/>
          <a:p>
            <a:pPr indent="0" marL="0">
              <a:buNone/>
            </a:pPr>
            <a:r>
              <a:rPr lang="en-US" sz="1500" dirty="0">
                <a:solidFill>
                  <a:schemeClr val="tx1"/>
                </a:solidFill>
                <a:latin typeface="Consolas" pitchFamily="34" charset="0"/>
                <a:ea typeface="Consolas" pitchFamily="34" charset="-122"/>
                <a:cs typeface="Consolas" pitchFamily="34" charset="-120"/>
              </a:rPr>
              <a:t>held.ausruesten(g);</a:t>
            </a:r>
            <a:endParaRPr lang="en-US" sz="1500" dirty="0"/>
          </a:p>
        </p:txBody>
      </p:sp>
      <p:sp>
        <p:nvSpPr>
          <p:cNvPr id="28" name="Text 20"/>
          <p:cNvSpPr txBox="1"/>
          <p:nvPr/>
        </p:nvSpPr>
        <p:spPr>
          <a:xfrm>
            <a:off x="7315200" y="5440680"/>
            <a:ext cx="4297680" cy="566928"/>
          </a:xfrm>
          <a:prstGeom prst="rect">
            <a:avLst/>
          </a:prstGeom>
          <a:noFill/>
          <a:ln/>
        </p:spPr>
        <p:txBody>
          <a:bodyPr wrap="square" lIns="0" tIns="0" rIns="0" bIns="0" rtlCol="0" anchor="ctr"/>
          <a:lstStyle/>
          <a:p>
            <a:pPr indent="0" marL="0">
              <a:buNone/>
            </a:pPr>
            <a:r>
              <a:rPr lang="en-US" sz="1700" dirty="0">
                <a:solidFill>
                  <a:schemeClr val="accent4"/>
                </a:solidFill>
              </a:rPr>
              <a:t>erwartet Waffe – g hat den Typ Gegenstand.</a:t>
            </a:r>
            <a:endParaRPr lang="en-US" sz="17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Abi-Format: „Erläutern Sie die Klasse …“</a:t>
            </a:r>
            <a:endParaRPr lang="en-US" sz="3600" dirty="0"/>
          </a:p>
        </p:txBody>
      </p:sp>
      <p:sp>
        <p:nvSpPr>
          <p:cNvPr id="3" name="Aufgabe"/>
          <p:cNvSpPr/>
          <p:nvPr/>
        </p:nvSpPr>
        <p:spPr>
          <a:xfrm>
            <a:off x="548640" y="1325880"/>
            <a:ext cx="4206240" cy="4709160"/>
          </a:xfrm>
          <a:prstGeom prst="roundRect">
            <a:avLst>
              <a:gd name="adj" fmla="val 2609"/>
            </a:avLst>
          </a:prstGeom>
          <a:solidFill>
            <a:schemeClr val="accent1"/>
          </a:solidFill>
          <a:ln/>
          <a:effectLst>
            <a:outerShdw sx="100000" sy="100000" kx="0" ky="0" algn="bl" rotWithShape="0" blurRad="76200" dist="25400" dir="5400000">
              <a:srgbClr val="000000">
                <a:alpha val="18000"/>
              </a:srgbClr>
            </a:outerShdw>
          </a:effectLst>
        </p:spPr>
      </p:sp>
      <p:sp>
        <p:nvSpPr>
          <p:cNvPr id="4" name="Chip"/>
          <p:cNvSpPr txBox="1"/>
          <p:nvPr/>
        </p:nvSpPr>
        <p:spPr>
          <a:xfrm>
            <a:off x="777240" y="1554480"/>
            <a:ext cx="237744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AUFGABE (Beispiel)</a:t>
            </a:r>
            <a:endParaRPr lang="en-US" sz="1500" dirty="0"/>
          </a:p>
        </p:txBody>
      </p:sp>
      <p:sp>
        <p:nvSpPr>
          <p:cNvPr id="5" name="Text 3"/>
          <p:cNvSpPr txBox="1"/>
          <p:nvPr/>
        </p:nvSpPr>
        <p:spPr>
          <a:xfrm>
            <a:off x="777240" y="2103120"/>
            <a:ext cx="3749040" cy="1828800"/>
          </a:xfrm>
          <a:prstGeom prst="rect">
            <a:avLst/>
          </a:prstGeom>
          <a:noFill/>
          <a:ln/>
        </p:spPr>
        <p:txBody>
          <a:bodyPr wrap="square" lIns="0" tIns="0" rIns="0" bIns="0" rtlCol="0" anchor="t"/>
          <a:lstStyle/>
          <a:p>
            <a:pPr indent="0" marL="0">
              <a:buNone/>
            </a:pPr>
            <a:r>
              <a:rPr lang="en-US" sz="1900" dirty="0">
                <a:solidFill>
                  <a:schemeClr val="bg1"/>
                </a:solidFill>
              </a:rPr>
              <a:t>Erläutern Sie die Klasse Held. Gehen Sie dabei auf die Attribute, die Konstruktoren und die Sichtbarkeiten ein.</a:t>
            </a:r>
            <a:endParaRPr lang="en-US" sz="1900" dirty="0"/>
          </a:p>
        </p:txBody>
      </p:sp>
      <p:sp>
        <p:nvSpPr>
          <p:cNvPr id="6" name="Text 4"/>
          <p:cNvSpPr txBox="1"/>
          <p:nvPr/>
        </p:nvSpPr>
        <p:spPr>
          <a:xfrm>
            <a:off x="777240" y="3931920"/>
            <a:ext cx="3749040" cy="365760"/>
          </a:xfrm>
          <a:prstGeom prst="rect">
            <a:avLst/>
          </a:prstGeom>
          <a:noFill/>
          <a:ln/>
        </p:spPr>
        <p:txBody>
          <a:bodyPr wrap="square" lIns="0" tIns="0" rIns="0" bIns="0" rtlCol="0" anchor="t"/>
          <a:lstStyle/>
          <a:p>
            <a:pPr indent="0" marL="0">
              <a:buNone/>
            </a:pPr>
            <a:r>
              <a:rPr lang="en-US" sz="1700" b="1" dirty="0">
                <a:solidFill>
                  <a:schemeClr val="accent2"/>
                </a:solidFill>
              </a:rPr>
              <a:t>(5 BE  ≈ 12 min)</a:t>
            </a:r>
            <a:endParaRPr lang="en-US" sz="1700" dirty="0"/>
          </a:p>
        </p:txBody>
      </p:sp>
      <p:sp>
        <p:nvSpPr>
          <p:cNvPr id="7" name="Text 5"/>
          <p:cNvSpPr txBox="1"/>
          <p:nvPr/>
        </p:nvSpPr>
        <p:spPr>
          <a:xfrm>
            <a:off x="777240" y="4572000"/>
            <a:ext cx="3749040" cy="1280160"/>
          </a:xfrm>
          <a:prstGeom prst="rect">
            <a:avLst/>
          </a:prstGeom>
          <a:noFill/>
          <a:ln/>
        </p:spPr>
        <p:txBody>
          <a:bodyPr wrap="square" lIns="0" tIns="0" rIns="0" bIns="0" rtlCol="0" anchor="t"/>
          <a:lstStyle/>
          <a:p>
            <a:pPr indent="0" marL="0">
              <a:buNone/>
            </a:pPr>
            <a:r>
              <a:rPr lang="en-US" sz="1600" b="1" dirty="0">
                <a:solidFill>
                  <a:schemeClr val="bg2"/>
                </a:solidFill>
              </a:rPr>
              <a:t>erläutern: </a:t>
            </a:r>
            <a:pPr indent="0" marL="0">
              <a:buNone/>
            </a:pPr>
            <a:r>
              <a:rPr lang="en-US" sz="1600" dirty="0">
                <a:solidFill>
                  <a:schemeClr val="bg2"/>
                </a:solidFill>
              </a:rPr>
              <a:t>einen Sachverhalt mit zusätzlichen Informationen und Beispielen verständlich machen</a:t>
            </a:r>
            <a:endParaRPr lang="en-US" sz="1600" dirty="0"/>
          </a:p>
        </p:txBody>
      </p:sp>
      <p:sp>
        <p:nvSpPr>
          <p:cNvPr id="8" name="Musterantwort"/>
          <p:cNvSpPr/>
          <p:nvPr/>
        </p:nvSpPr>
        <p:spPr>
          <a:xfrm>
            <a:off x="5029200" y="1325880"/>
            <a:ext cx="6583680" cy="4709160"/>
          </a:xfrm>
          <a:prstGeom prst="roundRect">
            <a:avLst>
              <a:gd name="adj" fmla="val 2330"/>
            </a:avLst>
          </a:prstGeom>
          <a:solidFill>
            <a:schemeClr val="bg2"/>
          </a:solidFill>
          <a:ln/>
        </p:spPr>
      </p:sp>
      <p:sp>
        <p:nvSpPr>
          <p:cNvPr id="9" name="Text 7"/>
          <p:cNvSpPr txBox="1"/>
          <p:nvPr/>
        </p:nvSpPr>
        <p:spPr>
          <a:xfrm>
            <a:off x="5257800" y="1481328"/>
            <a:ext cx="6126480" cy="320040"/>
          </a:xfrm>
          <a:prstGeom prst="rect">
            <a:avLst/>
          </a:prstGeom>
          <a:noFill/>
          <a:ln/>
        </p:spPr>
        <p:txBody>
          <a:bodyPr wrap="square" lIns="0" tIns="0" rIns="0" bIns="0" rtlCol="0" anchor="t"/>
          <a:lstStyle/>
          <a:p>
            <a:pPr indent="0" marL="0">
              <a:buNone/>
            </a:pPr>
            <a:r>
              <a:rPr lang="en-US" sz="1500" b="1" dirty="0">
                <a:solidFill>
                  <a:schemeClr val="accent6"/>
                </a:solidFill>
              </a:rPr>
              <a:t>MUSTERANTWORT</a:t>
            </a:r>
            <a:endParaRPr lang="en-US" sz="1500" dirty="0"/>
          </a:p>
        </p:txBody>
      </p:sp>
      <p:sp>
        <p:nvSpPr>
          <p:cNvPr id="10" name="Text 8"/>
          <p:cNvSpPr txBox="1"/>
          <p:nvPr/>
        </p:nvSpPr>
        <p:spPr>
          <a:xfrm>
            <a:off x="5257800" y="1874520"/>
            <a:ext cx="6126480" cy="402336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Die Klasse Held beschreibt eine Spielfigur. Ihre Attribute, z. B. name, leben, maxLeben, staerke und gold, sind private: Sie können nur über öffentliche Methoden gelesen oder verändert werden (Datenkapselung). So stellt nimmSchaden sicher, dass leben nie unter 0 sinkt. Das Attribut inventar ist eine Reihung von Gegenstand mit fünf Plätzen, anzahl zählt die belegten Plätze. Es gibt zwei überladene Konstruktoren: Held(name) setzt Standardwerte (100 Leben, Stärke 10), Held(name, maxLeben, staerke) übernimmt die Werte aus den Parametern. Beide legen ein leeres Inventar an und setzen waffe auf null.</a:t>
            </a:r>
            <a:endParaRPr lang="en-US" sz="19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Kernpunkte: Das will der Erwartungshorizont sehen</a:t>
            </a:r>
            <a:endParaRPr lang="en-US" sz="3600" dirty="0"/>
          </a:p>
        </p:txBody>
      </p:sp>
      <p:sp>
        <p:nvSpPr>
          <p:cNvPr id="3" name="Kernpunkt 1"/>
          <p:cNvSpPr/>
          <p:nvPr/>
        </p:nvSpPr>
        <p:spPr>
          <a:xfrm>
            <a:off x="548640" y="1371600"/>
            <a:ext cx="5394960" cy="1005840"/>
          </a:xfrm>
          <a:prstGeom prst="roundRect">
            <a:avLst>
              <a:gd name="adj" fmla="val 10909"/>
            </a:avLst>
          </a:prstGeom>
          <a:solidFill>
            <a:schemeClr val="bg1"/>
          </a:solidFill>
          <a:ln/>
          <a:effectLst>
            <a:outerShdw sx="100000" sy="100000" kx="0" ky="0" algn="bl" rotWithShape="0" blurRad="76200" dist="25400" dir="5400000">
              <a:srgbClr val="000000">
                <a:alpha val="18000"/>
              </a:srgbClr>
            </a:outerShdw>
          </a:effectLst>
        </p:spPr>
      </p:sp>
      <p:sp>
        <p:nvSpPr>
          <p:cNvPr id="4" name="Icon-Kreis"/>
          <p:cNvSpPr/>
          <p:nvPr/>
        </p:nvSpPr>
        <p:spPr>
          <a:xfrm>
            <a:off x="731520" y="1600200"/>
            <a:ext cx="548640" cy="548640"/>
          </a:xfrm>
          <a:prstGeom prst="ellipse">
            <a:avLst/>
          </a:prstGeom>
          <a:solidFill>
            <a:schemeClr val="accent3"/>
          </a:solidFill>
          <a:ln/>
        </p:spPr>
      </p:sp>
      <p:pic>
        <p:nvPicPr>
          <p:cNvPr id="5" name="Icon GiCheckMark" descr="preencoded.png">    </p:cNvPr>
          <p:cNvPicPr>
            <a:picLocks noChangeAspect="1"/>
          </p:cNvPicPr>
          <p:nvPr/>
        </p:nvPicPr>
        <p:blipFill>
          <a:blip r:embed="rId1"/>
          <a:stretch>
            <a:fillRect/>
          </a:stretch>
        </p:blipFill>
        <p:spPr>
          <a:xfrm>
            <a:off x="841248" y="1709928"/>
            <a:ext cx="329184" cy="329184"/>
          </a:xfrm>
          <a:prstGeom prst="rect">
            <a:avLst/>
          </a:prstGeom>
        </p:spPr>
      </p:pic>
      <p:sp>
        <p:nvSpPr>
          <p:cNvPr id="6" name="Text 3"/>
          <p:cNvSpPr txBox="1"/>
          <p:nvPr/>
        </p:nvSpPr>
        <p:spPr>
          <a:xfrm>
            <a:off x="1463040" y="1371600"/>
            <a:ext cx="4343400" cy="1005840"/>
          </a:xfrm>
          <a:prstGeom prst="rect">
            <a:avLst/>
          </a:prstGeom>
          <a:noFill/>
          <a:ln/>
        </p:spPr>
        <p:txBody>
          <a:bodyPr wrap="square" lIns="0" tIns="0" rIns="0" bIns="0" rtlCol="0" anchor="ctr"/>
          <a:lstStyle/>
          <a:p>
            <a:pPr indent="0" marL="0">
              <a:buNone/>
            </a:pPr>
            <a:r>
              <a:rPr lang="en-US" sz="1800" dirty="0">
                <a:solidFill>
                  <a:schemeClr val="tx1"/>
                </a:solidFill>
              </a:rPr>
              <a:t>Zweck der Klasse in einem Satz</a:t>
            </a:r>
            <a:endParaRPr lang="en-US" sz="1800" dirty="0"/>
          </a:p>
        </p:txBody>
      </p:sp>
      <p:sp>
        <p:nvSpPr>
          <p:cNvPr id="7" name="Kernpunkt 2"/>
          <p:cNvSpPr/>
          <p:nvPr/>
        </p:nvSpPr>
        <p:spPr>
          <a:xfrm>
            <a:off x="6217920" y="1371600"/>
            <a:ext cx="5394960" cy="1005840"/>
          </a:xfrm>
          <a:prstGeom prst="roundRect">
            <a:avLst>
              <a:gd name="adj" fmla="val 10909"/>
            </a:avLst>
          </a:prstGeom>
          <a:solidFill>
            <a:schemeClr val="bg1"/>
          </a:solidFill>
          <a:ln/>
          <a:effectLst>
            <a:outerShdw sx="100000" sy="100000" kx="0" ky="0" algn="bl" rotWithShape="0" blurRad="76200" dist="25400" dir="5400000">
              <a:srgbClr val="000000">
                <a:alpha val="18000"/>
              </a:srgbClr>
            </a:outerShdw>
          </a:effectLst>
        </p:spPr>
      </p:sp>
      <p:sp>
        <p:nvSpPr>
          <p:cNvPr id="8" name="Icon-Kreis"/>
          <p:cNvSpPr/>
          <p:nvPr/>
        </p:nvSpPr>
        <p:spPr>
          <a:xfrm>
            <a:off x="6400800" y="1600200"/>
            <a:ext cx="548640" cy="548640"/>
          </a:xfrm>
          <a:prstGeom prst="ellipse">
            <a:avLst/>
          </a:prstGeom>
          <a:solidFill>
            <a:schemeClr val="accent3"/>
          </a:solidFill>
          <a:ln/>
        </p:spPr>
      </p:sp>
      <p:pic>
        <p:nvPicPr>
          <p:cNvPr id="9" name="Icon GiCheckMark" descr="preencoded.png">    </p:cNvPr>
          <p:cNvPicPr>
            <a:picLocks noChangeAspect="1"/>
          </p:cNvPicPr>
          <p:nvPr/>
        </p:nvPicPr>
        <p:blipFill>
          <a:blip r:embed="rId2"/>
          <a:stretch>
            <a:fillRect/>
          </a:stretch>
        </p:blipFill>
        <p:spPr>
          <a:xfrm>
            <a:off x="6510528" y="1709928"/>
            <a:ext cx="329184" cy="329184"/>
          </a:xfrm>
          <a:prstGeom prst="rect">
            <a:avLst/>
          </a:prstGeom>
        </p:spPr>
      </p:pic>
      <p:sp>
        <p:nvSpPr>
          <p:cNvPr id="10" name="Text 6"/>
          <p:cNvSpPr txBox="1"/>
          <p:nvPr/>
        </p:nvSpPr>
        <p:spPr>
          <a:xfrm>
            <a:off x="7132320" y="1371600"/>
            <a:ext cx="4343400" cy="1005840"/>
          </a:xfrm>
          <a:prstGeom prst="rect">
            <a:avLst/>
          </a:prstGeom>
          <a:noFill/>
          <a:ln/>
        </p:spPr>
        <p:txBody>
          <a:bodyPr wrap="square" lIns="0" tIns="0" rIns="0" bIns="0" rtlCol="0" anchor="ctr"/>
          <a:lstStyle/>
          <a:p>
            <a:pPr indent="0" marL="0">
              <a:buNone/>
            </a:pPr>
            <a:r>
              <a:rPr lang="en-US" sz="1800" dirty="0">
                <a:solidFill>
                  <a:schemeClr val="tx1"/>
                </a:solidFill>
              </a:rPr>
              <a:t>Attribute nennen, private begründen (Datenkapselung)</a:t>
            </a:r>
            <a:endParaRPr lang="en-US" sz="1800" dirty="0"/>
          </a:p>
        </p:txBody>
      </p:sp>
      <p:sp>
        <p:nvSpPr>
          <p:cNvPr id="11" name="Kernpunkt 3"/>
          <p:cNvSpPr/>
          <p:nvPr/>
        </p:nvSpPr>
        <p:spPr>
          <a:xfrm>
            <a:off x="548640" y="2560320"/>
            <a:ext cx="5394960" cy="1005840"/>
          </a:xfrm>
          <a:prstGeom prst="roundRect">
            <a:avLst>
              <a:gd name="adj" fmla="val 10909"/>
            </a:avLst>
          </a:prstGeom>
          <a:solidFill>
            <a:schemeClr val="bg1"/>
          </a:solidFill>
          <a:ln/>
          <a:effectLst>
            <a:outerShdw sx="100000" sy="100000" kx="0" ky="0" algn="bl" rotWithShape="0" blurRad="76200" dist="25400" dir="5400000">
              <a:srgbClr val="000000">
                <a:alpha val="18000"/>
              </a:srgbClr>
            </a:outerShdw>
          </a:effectLst>
        </p:spPr>
      </p:sp>
      <p:sp>
        <p:nvSpPr>
          <p:cNvPr id="12" name="Icon-Kreis"/>
          <p:cNvSpPr/>
          <p:nvPr/>
        </p:nvSpPr>
        <p:spPr>
          <a:xfrm>
            <a:off x="731520" y="2788920"/>
            <a:ext cx="548640" cy="548640"/>
          </a:xfrm>
          <a:prstGeom prst="ellipse">
            <a:avLst/>
          </a:prstGeom>
          <a:solidFill>
            <a:schemeClr val="accent3"/>
          </a:solidFill>
          <a:ln/>
        </p:spPr>
      </p:sp>
      <p:pic>
        <p:nvPicPr>
          <p:cNvPr id="13" name="Icon GiCheckMark" descr="preencoded.png">    </p:cNvPr>
          <p:cNvPicPr>
            <a:picLocks noChangeAspect="1"/>
          </p:cNvPicPr>
          <p:nvPr/>
        </p:nvPicPr>
        <p:blipFill>
          <a:blip r:embed="rId3"/>
          <a:stretch>
            <a:fillRect/>
          </a:stretch>
        </p:blipFill>
        <p:spPr>
          <a:xfrm>
            <a:off x="841248" y="2898648"/>
            <a:ext cx="329184" cy="329184"/>
          </a:xfrm>
          <a:prstGeom prst="rect">
            <a:avLst/>
          </a:prstGeom>
        </p:spPr>
      </p:pic>
      <p:sp>
        <p:nvSpPr>
          <p:cNvPr id="14" name="Text 9"/>
          <p:cNvSpPr txBox="1"/>
          <p:nvPr/>
        </p:nvSpPr>
        <p:spPr>
          <a:xfrm>
            <a:off x="1463040" y="2560320"/>
            <a:ext cx="4343400" cy="1005840"/>
          </a:xfrm>
          <a:prstGeom prst="rect">
            <a:avLst/>
          </a:prstGeom>
          <a:noFill/>
          <a:ln/>
        </p:spPr>
        <p:txBody>
          <a:bodyPr wrap="square" lIns="0" tIns="0" rIns="0" bIns="0" rtlCol="0" anchor="ctr"/>
          <a:lstStyle/>
          <a:p>
            <a:pPr indent="0" marL="0">
              <a:buNone/>
            </a:pPr>
            <a:r>
              <a:rPr lang="en-US" sz="1800" dirty="0">
                <a:solidFill>
                  <a:schemeClr val="tx1"/>
                </a:solidFill>
              </a:rPr>
              <a:t>Konstruktoren: Anzahl, Parameter, was gesetzt wird</a:t>
            </a:r>
            <a:endParaRPr lang="en-US" sz="1800" dirty="0"/>
          </a:p>
        </p:txBody>
      </p:sp>
      <p:sp>
        <p:nvSpPr>
          <p:cNvPr id="15" name="Kernpunkt 4"/>
          <p:cNvSpPr/>
          <p:nvPr/>
        </p:nvSpPr>
        <p:spPr>
          <a:xfrm>
            <a:off x="6217920" y="2560320"/>
            <a:ext cx="5394960" cy="1005840"/>
          </a:xfrm>
          <a:prstGeom prst="roundRect">
            <a:avLst>
              <a:gd name="adj" fmla="val 10909"/>
            </a:avLst>
          </a:prstGeom>
          <a:solidFill>
            <a:schemeClr val="bg1"/>
          </a:solidFill>
          <a:ln/>
          <a:effectLst>
            <a:outerShdw sx="100000" sy="100000" kx="0" ky="0" algn="bl" rotWithShape="0" blurRad="76200" dist="25400" dir="5400000">
              <a:srgbClr val="000000">
                <a:alpha val="18000"/>
              </a:srgbClr>
            </a:outerShdw>
          </a:effectLst>
        </p:spPr>
      </p:sp>
      <p:sp>
        <p:nvSpPr>
          <p:cNvPr id="16" name="Icon-Kreis"/>
          <p:cNvSpPr/>
          <p:nvPr/>
        </p:nvSpPr>
        <p:spPr>
          <a:xfrm>
            <a:off x="6400800" y="2788920"/>
            <a:ext cx="548640" cy="548640"/>
          </a:xfrm>
          <a:prstGeom prst="ellipse">
            <a:avLst/>
          </a:prstGeom>
          <a:solidFill>
            <a:schemeClr val="accent3"/>
          </a:solidFill>
          <a:ln/>
        </p:spPr>
      </p:sp>
      <p:pic>
        <p:nvPicPr>
          <p:cNvPr id="17" name="Icon GiCheckMark" descr="preencoded.png">    </p:cNvPr>
          <p:cNvPicPr>
            <a:picLocks noChangeAspect="1"/>
          </p:cNvPicPr>
          <p:nvPr/>
        </p:nvPicPr>
        <p:blipFill>
          <a:blip r:embed="rId4"/>
          <a:stretch>
            <a:fillRect/>
          </a:stretch>
        </p:blipFill>
        <p:spPr>
          <a:xfrm>
            <a:off x="6510528" y="2898648"/>
            <a:ext cx="329184" cy="329184"/>
          </a:xfrm>
          <a:prstGeom prst="rect">
            <a:avLst/>
          </a:prstGeom>
        </p:spPr>
      </p:pic>
      <p:sp>
        <p:nvSpPr>
          <p:cNvPr id="18" name="Text 12"/>
          <p:cNvSpPr txBox="1"/>
          <p:nvPr/>
        </p:nvSpPr>
        <p:spPr>
          <a:xfrm>
            <a:off x="7132320" y="2560320"/>
            <a:ext cx="4343400" cy="1005840"/>
          </a:xfrm>
          <a:prstGeom prst="rect">
            <a:avLst/>
          </a:prstGeom>
          <a:noFill/>
          <a:ln/>
        </p:spPr>
        <p:txBody>
          <a:bodyPr wrap="square" lIns="0" tIns="0" rIns="0" bIns="0" rtlCol="0" anchor="ctr"/>
          <a:lstStyle/>
          <a:p>
            <a:pPr indent="0" marL="0">
              <a:buNone/>
            </a:pPr>
            <a:r>
              <a:rPr lang="en-US" sz="1800" dirty="0">
                <a:solidFill>
                  <a:schemeClr val="tx1"/>
                </a:solidFill>
              </a:rPr>
              <a:t>Methoden als öffentliche Schnittstelle – mit Beispiel</a:t>
            </a:r>
            <a:endParaRPr lang="en-US" sz="1800" dirty="0"/>
          </a:p>
        </p:txBody>
      </p:sp>
      <p:sp>
        <p:nvSpPr>
          <p:cNvPr id="19" name="Kernpunkt 5"/>
          <p:cNvSpPr/>
          <p:nvPr/>
        </p:nvSpPr>
        <p:spPr>
          <a:xfrm>
            <a:off x="548640" y="3749040"/>
            <a:ext cx="5394960" cy="1005840"/>
          </a:xfrm>
          <a:prstGeom prst="roundRect">
            <a:avLst>
              <a:gd name="adj" fmla="val 10909"/>
            </a:avLst>
          </a:prstGeom>
          <a:solidFill>
            <a:schemeClr val="bg1"/>
          </a:solidFill>
          <a:ln/>
          <a:effectLst>
            <a:outerShdw sx="100000" sy="100000" kx="0" ky="0" algn="bl" rotWithShape="0" blurRad="76200" dist="25400" dir="5400000">
              <a:srgbClr val="000000">
                <a:alpha val="18000"/>
              </a:srgbClr>
            </a:outerShdw>
          </a:effectLst>
        </p:spPr>
      </p:sp>
      <p:sp>
        <p:nvSpPr>
          <p:cNvPr id="20" name="Icon-Kreis"/>
          <p:cNvSpPr/>
          <p:nvPr/>
        </p:nvSpPr>
        <p:spPr>
          <a:xfrm>
            <a:off x="731520" y="3977640"/>
            <a:ext cx="548640" cy="548640"/>
          </a:xfrm>
          <a:prstGeom prst="ellipse">
            <a:avLst/>
          </a:prstGeom>
          <a:solidFill>
            <a:schemeClr val="accent3"/>
          </a:solidFill>
          <a:ln/>
        </p:spPr>
      </p:sp>
      <p:pic>
        <p:nvPicPr>
          <p:cNvPr id="21" name="Icon GiCheckMark" descr="preencoded.png">    </p:cNvPr>
          <p:cNvPicPr>
            <a:picLocks noChangeAspect="1"/>
          </p:cNvPicPr>
          <p:nvPr/>
        </p:nvPicPr>
        <p:blipFill>
          <a:blip r:embed="rId5"/>
          <a:stretch>
            <a:fillRect/>
          </a:stretch>
        </p:blipFill>
        <p:spPr>
          <a:xfrm>
            <a:off x="841248" y="4087368"/>
            <a:ext cx="329184" cy="329184"/>
          </a:xfrm>
          <a:prstGeom prst="rect">
            <a:avLst/>
          </a:prstGeom>
        </p:spPr>
      </p:pic>
      <p:sp>
        <p:nvSpPr>
          <p:cNvPr id="22" name="Text 15"/>
          <p:cNvSpPr txBox="1"/>
          <p:nvPr/>
        </p:nvSpPr>
        <p:spPr>
          <a:xfrm>
            <a:off x="1463040" y="3749040"/>
            <a:ext cx="4343400" cy="1005840"/>
          </a:xfrm>
          <a:prstGeom prst="rect">
            <a:avLst/>
          </a:prstGeom>
          <a:noFill/>
          <a:ln/>
        </p:spPr>
        <p:txBody>
          <a:bodyPr wrap="square" lIns="0" tIns="0" rIns="0" bIns="0" rtlCol="0" anchor="ctr"/>
          <a:lstStyle/>
          <a:p>
            <a:pPr indent="0" marL="0">
              <a:buNone/>
            </a:pPr>
            <a:r>
              <a:rPr lang="en-US" sz="1800" dirty="0">
                <a:solidFill>
                  <a:schemeClr val="tx1"/>
                </a:solidFill>
              </a:rPr>
              <a:t>Beziehungen: Assoziation (inventar, waffe), ggf. Vererbung</a:t>
            </a:r>
            <a:endParaRPr lang="en-US" sz="1800" dirty="0"/>
          </a:p>
        </p:txBody>
      </p:sp>
      <p:sp>
        <p:nvSpPr>
          <p:cNvPr id="23" name="Kernpunkt 6"/>
          <p:cNvSpPr/>
          <p:nvPr/>
        </p:nvSpPr>
        <p:spPr>
          <a:xfrm>
            <a:off x="6217920" y="3749040"/>
            <a:ext cx="5394960" cy="1005840"/>
          </a:xfrm>
          <a:prstGeom prst="roundRect">
            <a:avLst>
              <a:gd name="adj" fmla="val 10909"/>
            </a:avLst>
          </a:prstGeom>
          <a:solidFill>
            <a:schemeClr val="bg1"/>
          </a:solidFill>
          <a:ln/>
          <a:effectLst>
            <a:outerShdw sx="100000" sy="100000" kx="0" ky="0" algn="bl" rotWithShape="0" blurRad="76200" dist="25400" dir="5400000">
              <a:srgbClr val="000000">
                <a:alpha val="18000"/>
              </a:srgbClr>
            </a:outerShdw>
          </a:effectLst>
        </p:spPr>
      </p:sp>
      <p:sp>
        <p:nvSpPr>
          <p:cNvPr id="24" name="Icon-Kreis"/>
          <p:cNvSpPr/>
          <p:nvPr/>
        </p:nvSpPr>
        <p:spPr>
          <a:xfrm>
            <a:off x="6400800" y="3977640"/>
            <a:ext cx="548640" cy="548640"/>
          </a:xfrm>
          <a:prstGeom prst="ellipse">
            <a:avLst/>
          </a:prstGeom>
          <a:solidFill>
            <a:schemeClr val="accent3"/>
          </a:solidFill>
          <a:ln/>
        </p:spPr>
      </p:sp>
      <p:pic>
        <p:nvPicPr>
          <p:cNvPr id="25" name="Icon GiCheckMark" descr="preencoded.png">    </p:cNvPr>
          <p:cNvPicPr>
            <a:picLocks noChangeAspect="1"/>
          </p:cNvPicPr>
          <p:nvPr/>
        </p:nvPicPr>
        <p:blipFill>
          <a:blip r:embed="rId6"/>
          <a:stretch>
            <a:fillRect/>
          </a:stretch>
        </p:blipFill>
        <p:spPr>
          <a:xfrm>
            <a:off x="6510528" y="4087368"/>
            <a:ext cx="329184" cy="329184"/>
          </a:xfrm>
          <a:prstGeom prst="rect">
            <a:avLst/>
          </a:prstGeom>
        </p:spPr>
      </p:pic>
      <p:sp>
        <p:nvSpPr>
          <p:cNvPr id="26" name="Text 18"/>
          <p:cNvSpPr txBox="1"/>
          <p:nvPr/>
        </p:nvSpPr>
        <p:spPr>
          <a:xfrm>
            <a:off x="7132320" y="3749040"/>
            <a:ext cx="4343400" cy="1005840"/>
          </a:xfrm>
          <a:prstGeom prst="rect">
            <a:avLst/>
          </a:prstGeom>
          <a:noFill/>
          <a:ln/>
        </p:spPr>
        <p:txBody>
          <a:bodyPr wrap="square" lIns="0" tIns="0" rIns="0" bIns="0" rtlCol="0" anchor="ctr"/>
          <a:lstStyle/>
          <a:p>
            <a:pPr indent="0" marL="0">
              <a:buNone/>
            </a:pPr>
            <a:r>
              <a:rPr lang="en-US" sz="1800" dirty="0">
                <a:solidFill>
                  <a:schemeClr val="tx1"/>
                </a:solidFill>
              </a:rPr>
              <a:t>Fachbegriffe: Attribut, Konstruktor, Parameter, Rückgabewert</a:t>
            </a:r>
            <a:endParaRPr lang="en-US" sz="1800" dirty="0"/>
          </a:p>
        </p:txBody>
      </p:sp>
      <p:sp>
        <p:nvSpPr>
          <p:cNvPr id="27" name="Typischer Fehler"/>
          <p:cNvSpPr/>
          <p:nvPr/>
        </p:nvSpPr>
        <p:spPr>
          <a:xfrm>
            <a:off x="548640" y="5074920"/>
            <a:ext cx="11064240" cy="868680"/>
          </a:xfrm>
          <a:prstGeom prst="roundRect">
            <a:avLst>
              <a:gd name="adj" fmla="val 12632"/>
            </a:avLst>
          </a:prstGeom>
          <a:solidFill>
            <a:schemeClr val="bg1"/>
          </a:solidFill>
          <a:ln w="25400">
            <a:solidFill>
              <a:schemeClr val="accent4"/>
            </a:solidFill>
            <a:prstDash val="solid"/>
          </a:ln>
        </p:spPr>
      </p:sp>
      <p:sp>
        <p:nvSpPr>
          <p:cNvPr id="28" name="Icon-Kreis"/>
          <p:cNvSpPr/>
          <p:nvPr/>
        </p:nvSpPr>
        <p:spPr>
          <a:xfrm>
            <a:off x="731520" y="5230368"/>
            <a:ext cx="548640" cy="548640"/>
          </a:xfrm>
          <a:prstGeom prst="ellipse">
            <a:avLst/>
          </a:prstGeom>
          <a:solidFill>
            <a:schemeClr val="accent4"/>
          </a:solidFill>
          <a:ln/>
        </p:spPr>
      </p:sp>
      <p:pic>
        <p:nvPicPr>
          <p:cNvPr id="29" name="Icon GiCancel" descr="preencoded.png">    </p:cNvPr>
          <p:cNvPicPr>
            <a:picLocks noChangeAspect="1"/>
          </p:cNvPicPr>
          <p:nvPr/>
        </p:nvPicPr>
        <p:blipFill>
          <a:blip r:embed="rId7"/>
          <a:stretch>
            <a:fillRect/>
          </a:stretch>
        </p:blipFill>
        <p:spPr>
          <a:xfrm>
            <a:off x="841248" y="5340096"/>
            <a:ext cx="329184" cy="329184"/>
          </a:xfrm>
          <a:prstGeom prst="rect">
            <a:avLst/>
          </a:prstGeom>
        </p:spPr>
      </p:pic>
      <p:sp>
        <p:nvSpPr>
          <p:cNvPr id="30" name="Text 21"/>
          <p:cNvSpPr txBox="1"/>
          <p:nvPr/>
        </p:nvSpPr>
        <p:spPr>
          <a:xfrm>
            <a:off x="1463040" y="5074920"/>
            <a:ext cx="9966960" cy="868680"/>
          </a:xfrm>
          <a:prstGeom prst="rect">
            <a:avLst/>
          </a:prstGeom>
          <a:noFill/>
          <a:ln/>
        </p:spPr>
        <p:txBody>
          <a:bodyPr wrap="square" lIns="0" tIns="0" rIns="0" bIns="0" rtlCol="0" anchor="ctr"/>
          <a:lstStyle/>
          <a:p>
            <a:pPr indent="0" marL="0">
              <a:buNone/>
            </a:pPr>
            <a:r>
              <a:rPr lang="en-US" sz="1900" b="1" dirty="0">
                <a:solidFill>
                  <a:schemeClr val="accent4"/>
                </a:solidFill>
              </a:rPr>
              <a:t>Typischer Fehler: </a:t>
            </a:r>
            <a:pPr indent="0" marL="0">
              <a:buNone/>
            </a:pPr>
            <a:r>
              <a:rPr lang="en-US" sz="1900" dirty="0">
                <a:solidFill>
                  <a:schemeClr val="tx1"/>
                </a:solidFill>
              </a:rPr>
              <a:t>den Code Zeile für Zeile vorlesen, statt zu erklären, wozu etwas da ist.</a:t>
            </a:r>
            <a:endParaRPr lang="en-US" sz="19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Abi-Check: Vor dem Abgeben</a:t>
            </a:r>
            <a:endParaRPr lang="en-US" sz="3600" dirty="0"/>
          </a:p>
        </p:txBody>
      </p:sp>
      <p:sp>
        <p:nvSpPr>
          <p:cNvPr id="3" name="Check Signatur &amp; Rückgabe"/>
          <p:cNvSpPr/>
          <p:nvPr/>
        </p:nvSpPr>
        <p:spPr>
          <a:xfrm>
            <a:off x="548640" y="1371600"/>
            <a:ext cx="3566160" cy="2194560"/>
          </a:xfrm>
          <a:prstGeom prst="roundRect">
            <a:avLst>
              <a:gd name="adj" fmla="val 5000"/>
            </a:avLst>
          </a:prstGeom>
          <a:solidFill>
            <a:schemeClr val="bg1"/>
          </a:solidFill>
          <a:ln/>
          <a:effectLst>
            <a:outerShdw sx="100000" sy="100000" kx="0" ky="0" algn="bl" rotWithShape="0" blurRad="76200" dist="25400" dir="5400000">
              <a:srgbClr val="000000">
                <a:alpha val="18000"/>
              </a:srgbClr>
            </a:outerShdw>
          </a:effectLst>
        </p:spPr>
      </p:sp>
      <p:sp>
        <p:nvSpPr>
          <p:cNvPr id="4" name="Icon-Kreis"/>
          <p:cNvSpPr/>
          <p:nvPr/>
        </p:nvSpPr>
        <p:spPr>
          <a:xfrm>
            <a:off x="749808" y="1554480"/>
            <a:ext cx="685800" cy="685800"/>
          </a:xfrm>
          <a:prstGeom prst="ellipse">
            <a:avLst/>
          </a:prstGeom>
          <a:solidFill>
            <a:schemeClr val="accent1"/>
          </a:solidFill>
          <a:ln/>
        </p:spPr>
      </p:sp>
      <p:pic>
        <p:nvPicPr>
          <p:cNvPr id="5" name="Icon GiStairsGoal" descr="preencoded.png">    </p:cNvPr>
          <p:cNvPicPr>
            <a:picLocks noChangeAspect="1"/>
          </p:cNvPicPr>
          <p:nvPr/>
        </p:nvPicPr>
        <p:blipFill>
          <a:blip r:embed="rId1"/>
          <a:stretch>
            <a:fillRect/>
          </a:stretch>
        </p:blipFill>
        <p:spPr>
          <a:xfrm>
            <a:off x="900684" y="1705356"/>
            <a:ext cx="384048" cy="384048"/>
          </a:xfrm>
          <a:prstGeom prst="rect">
            <a:avLst/>
          </a:prstGeom>
        </p:spPr>
      </p:pic>
      <p:sp>
        <p:nvSpPr>
          <p:cNvPr id="6" name="Text 3"/>
          <p:cNvSpPr txBox="1"/>
          <p:nvPr/>
        </p:nvSpPr>
        <p:spPr>
          <a:xfrm>
            <a:off x="1572768" y="1554480"/>
            <a:ext cx="2423160" cy="685800"/>
          </a:xfrm>
          <a:prstGeom prst="rect">
            <a:avLst/>
          </a:prstGeom>
          <a:noFill/>
          <a:ln/>
        </p:spPr>
        <p:txBody>
          <a:bodyPr wrap="square" lIns="0" tIns="0" rIns="0" bIns="0" rtlCol="0" anchor="ctr"/>
          <a:lstStyle/>
          <a:p>
            <a:pPr indent="0" marL="0">
              <a:buNone/>
            </a:pPr>
            <a:r>
              <a:rPr lang="en-US" sz="2000" b="1" dirty="0">
                <a:solidFill>
                  <a:schemeClr val="accent1"/>
                </a:solidFill>
              </a:rPr>
              <a:t>1  Signatur &amp; Rückgabe</a:t>
            </a:r>
            <a:endParaRPr lang="en-US" sz="2000" dirty="0"/>
          </a:p>
        </p:txBody>
      </p:sp>
      <p:sp>
        <p:nvSpPr>
          <p:cNvPr id="7" name="Text 4"/>
          <p:cNvSpPr txBox="1"/>
          <p:nvPr/>
        </p:nvSpPr>
        <p:spPr>
          <a:xfrm>
            <a:off x="777240" y="2359152"/>
            <a:ext cx="3154680" cy="1143000"/>
          </a:xfrm>
          <a:prstGeom prst="rect">
            <a:avLst/>
          </a:prstGeom>
          <a:noFill/>
          <a:ln/>
        </p:spPr>
        <p:txBody>
          <a:bodyPr wrap="square" lIns="0" tIns="0" rIns="0" bIns="0" rtlCol="0" anchor="t"/>
          <a:lstStyle/>
          <a:p>
            <a:pPr indent="0" marL="0">
              <a:buNone/>
            </a:pPr>
            <a:r>
              <a:rPr lang="en-US" sz="1700" dirty="0">
                <a:solidFill>
                  <a:schemeClr val="tx1"/>
                </a:solidFill>
              </a:rPr>
              <a:t>Signatur wie gefordert, return in jedem Pfad</a:t>
            </a:r>
            <a:endParaRPr lang="en-US" sz="1700" dirty="0"/>
          </a:p>
          <a:p>
            <a:pPr indent="0" marL="0">
              <a:buNone/>
            </a:pPr>
            <a:r>
              <a:rPr lang="en-US" sz="1500" b="1" dirty="0">
                <a:solidFill>
                  <a:schemeClr val="accent6"/>
                </a:solidFill>
              </a:rPr>
              <a:t>Welt 1: aufnehmen liefert immer true oder false</a:t>
            </a:r>
            <a:endParaRPr lang="en-US" sz="1700" dirty="0"/>
          </a:p>
        </p:txBody>
      </p:sp>
      <p:sp>
        <p:nvSpPr>
          <p:cNvPr id="8" name="Check Erst prüfen"/>
          <p:cNvSpPr/>
          <p:nvPr/>
        </p:nvSpPr>
        <p:spPr>
          <a:xfrm>
            <a:off x="4297680" y="1371600"/>
            <a:ext cx="3566160" cy="2194560"/>
          </a:xfrm>
          <a:prstGeom prst="roundRect">
            <a:avLst>
              <a:gd name="adj" fmla="val 5000"/>
            </a:avLst>
          </a:prstGeom>
          <a:solidFill>
            <a:schemeClr val="bg1"/>
          </a:solidFill>
          <a:ln/>
          <a:effectLst>
            <a:outerShdw sx="100000" sy="100000" kx="0" ky="0" algn="bl" rotWithShape="0" blurRad="76200" dist="25400" dir="5400000">
              <a:srgbClr val="000000">
                <a:alpha val="18000"/>
              </a:srgbClr>
            </a:outerShdw>
          </a:effectLst>
        </p:spPr>
      </p:sp>
      <p:sp>
        <p:nvSpPr>
          <p:cNvPr id="9" name="Icon-Kreis"/>
          <p:cNvSpPr/>
          <p:nvPr/>
        </p:nvSpPr>
        <p:spPr>
          <a:xfrm>
            <a:off x="4498848" y="1554480"/>
            <a:ext cx="685800" cy="685800"/>
          </a:xfrm>
          <a:prstGeom prst="ellipse">
            <a:avLst/>
          </a:prstGeom>
          <a:solidFill>
            <a:schemeClr val="accent1"/>
          </a:solidFill>
          <a:ln/>
        </p:spPr>
      </p:sp>
      <p:pic>
        <p:nvPicPr>
          <p:cNvPr id="10" name="Icon GiCheckedShield" descr="preencoded.png">    </p:cNvPr>
          <p:cNvPicPr>
            <a:picLocks noChangeAspect="1"/>
          </p:cNvPicPr>
          <p:nvPr/>
        </p:nvPicPr>
        <p:blipFill>
          <a:blip r:embed="rId2"/>
          <a:stretch>
            <a:fillRect/>
          </a:stretch>
        </p:blipFill>
        <p:spPr>
          <a:xfrm>
            <a:off x="4649724" y="1705356"/>
            <a:ext cx="384048" cy="384048"/>
          </a:xfrm>
          <a:prstGeom prst="rect">
            <a:avLst/>
          </a:prstGeom>
        </p:spPr>
      </p:pic>
      <p:sp>
        <p:nvSpPr>
          <p:cNvPr id="11" name="Text 7"/>
          <p:cNvSpPr txBox="1"/>
          <p:nvPr/>
        </p:nvSpPr>
        <p:spPr>
          <a:xfrm>
            <a:off x="5321808" y="1554480"/>
            <a:ext cx="2423160" cy="685800"/>
          </a:xfrm>
          <a:prstGeom prst="rect">
            <a:avLst/>
          </a:prstGeom>
          <a:noFill/>
          <a:ln/>
        </p:spPr>
        <p:txBody>
          <a:bodyPr wrap="square" lIns="0" tIns="0" rIns="0" bIns="0" rtlCol="0" anchor="ctr"/>
          <a:lstStyle/>
          <a:p>
            <a:pPr indent="0" marL="0">
              <a:buNone/>
            </a:pPr>
            <a:r>
              <a:rPr lang="en-US" sz="2000" b="1" dirty="0">
                <a:solidFill>
                  <a:schemeClr val="accent1"/>
                </a:solidFill>
              </a:rPr>
              <a:t>2  Erst prüfen</a:t>
            </a:r>
            <a:endParaRPr lang="en-US" sz="2000" dirty="0"/>
          </a:p>
        </p:txBody>
      </p:sp>
      <p:sp>
        <p:nvSpPr>
          <p:cNvPr id="12" name="Text 8"/>
          <p:cNvSpPr txBox="1"/>
          <p:nvPr/>
        </p:nvSpPr>
        <p:spPr>
          <a:xfrm>
            <a:off x="4526280" y="2359152"/>
            <a:ext cx="3154680" cy="1143000"/>
          </a:xfrm>
          <a:prstGeom prst="rect">
            <a:avLst/>
          </a:prstGeom>
          <a:noFill/>
          <a:ln/>
        </p:spPr>
        <p:txBody>
          <a:bodyPr wrap="square" lIns="0" tIns="0" rIns="0" bIns="0" rtlCol="0" anchor="t"/>
          <a:lstStyle/>
          <a:p>
            <a:pPr indent="0" marL="0">
              <a:buNone/>
            </a:pPr>
            <a:r>
              <a:rPr lang="en-US" sz="1700" dirty="0">
                <a:solidFill>
                  <a:schemeClr val="tx1"/>
                </a:solidFill>
              </a:rPr>
              <a:t>vor jedem Zugriff: Leer-, Index-, Blatt-Abfrage</a:t>
            </a:r>
            <a:endParaRPr lang="en-US" sz="1700" dirty="0"/>
          </a:p>
          <a:p>
            <a:pPr indent="0" marL="0">
              <a:buNone/>
            </a:pPr>
            <a:r>
              <a:rPr lang="en-US" sz="1500" b="1" dirty="0">
                <a:solidFill>
                  <a:schemeClr val="accent6"/>
                </a:solidFill>
              </a:rPr>
              <a:t>Welt 1: anzahl == 0? waffe == null?</a:t>
            </a:r>
            <a:endParaRPr lang="en-US" sz="1700" dirty="0"/>
          </a:p>
        </p:txBody>
      </p:sp>
      <p:sp>
        <p:nvSpPr>
          <p:cNvPr id="13" name="Check Schleifengrenzen"/>
          <p:cNvSpPr/>
          <p:nvPr/>
        </p:nvSpPr>
        <p:spPr>
          <a:xfrm>
            <a:off x="8046720" y="1371600"/>
            <a:ext cx="3566160" cy="2194560"/>
          </a:xfrm>
          <a:prstGeom prst="roundRect">
            <a:avLst>
              <a:gd name="adj" fmla="val 5000"/>
            </a:avLst>
          </a:prstGeom>
          <a:solidFill>
            <a:schemeClr val="bg1"/>
          </a:solidFill>
          <a:ln/>
          <a:effectLst>
            <a:outerShdw sx="100000" sy="100000" kx="0" ky="0" algn="bl" rotWithShape="0" blurRad="76200" dist="25400" dir="5400000">
              <a:srgbClr val="000000">
                <a:alpha val="18000"/>
              </a:srgbClr>
            </a:outerShdw>
          </a:effectLst>
        </p:spPr>
      </p:sp>
      <p:sp>
        <p:nvSpPr>
          <p:cNvPr id="14" name="Icon-Kreis"/>
          <p:cNvSpPr/>
          <p:nvPr/>
        </p:nvSpPr>
        <p:spPr>
          <a:xfrm>
            <a:off x="8247888" y="1554480"/>
            <a:ext cx="685800" cy="685800"/>
          </a:xfrm>
          <a:prstGeom prst="ellipse">
            <a:avLst/>
          </a:prstGeom>
          <a:solidFill>
            <a:schemeClr val="accent1"/>
          </a:solidFill>
          <a:ln/>
        </p:spPr>
      </p:sp>
      <p:pic>
        <p:nvPicPr>
          <p:cNvPr id="15" name="Icon GiPathDistance" descr="preencoded.png">    </p:cNvPr>
          <p:cNvPicPr>
            <a:picLocks noChangeAspect="1"/>
          </p:cNvPicPr>
          <p:nvPr/>
        </p:nvPicPr>
        <p:blipFill>
          <a:blip r:embed="rId3"/>
          <a:stretch>
            <a:fillRect/>
          </a:stretch>
        </p:blipFill>
        <p:spPr>
          <a:xfrm>
            <a:off x="8398764" y="1705356"/>
            <a:ext cx="384048" cy="384048"/>
          </a:xfrm>
          <a:prstGeom prst="rect">
            <a:avLst/>
          </a:prstGeom>
        </p:spPr>
      </p:pic>
      <p:sp>
        <p:nvSpPr>
          <p:cNvPr id="16" name="Text 11"/>
          <p:cNvSpPr txBox="1"/>
          <p:nvPr/>
        </p:nvSpPr>
        <p:spPr>
          <a:xfrm>
            <a:off x="9070848" y="1554480"/>
            <a:ext cx="2423160" cy="685800"/>
          </a:xfrm>
          <a:prstGeom prst="rect">
            <a:avLst/>
          </a:prstGeom>
          <a:noFill/>
          <a:ln/>
        </p:spPr>
        <p:txBody>
          <a:bodyPr wrap="square" lIns="0" tIns="0" rIns="0" bIns="0" rtlCol="0" anchor="ctr"/>
          <a:lstStyle/>
          <a:p>
            <a:pPr indent="0" marL="0">
              <a:buNone/>
            </a:pPr>
            <a:r>
              <a:rPr lang="en-US" sz="2000" b="1" dirty="0">
                <a:solidFill>
                  <a:schemeClr val="accent1"/>
                </a:solidFill>
              </a:rPr>
              <a:t>3  Schleifengrenzen</a:t>
            </a:r>
            <a:endParaRPr lang="en-US" sz="2000" dirty="0"/>
          </a:p>
        </p:txBody>
      </p:sp>
      <p:sp>
        <p:nvSpPr>
          <p:cNvPr id="17" name="Text 12"/>
          <p:cNvSpPr txBox="1"/>
          <p:nvPr/>
        </p:nvSpPr>
        <p:spPr>
          <a:xfrm>
            <a:off x="8275320" y="2359152"/>
            <a:ext cx="3154680" cy="1143000"/>
          </a:xfrm>
          <a:prstGeom prst="rect">
            <a:avLst/>
          </a:prstGeom>
          <a:noFill/>
          <a:ln/>
        </p:spPr>
        <p:txBody>
          <a:bodyPr wrap="square" lIns="0" tIns="0" rIns="0" bIns="0" rtlCol="0" anchor="t"/>
          <a:lstStyle/>
          <a:p>
            <a:pPr indent="0" marL="0">
              <a:buNone/>
            </a:pPr>
            <a:r>
              <a:rPr lang="en-US" sz="1700" dirty="0">
                <a:solidFill>
                  <a:schemeClr val="tx1"/>
                </a:solidFill>
              </a:rPr>
              <a:t>Index von 0 bis length − 1</a:t>
            </a:r>
            <a:endParaRPr lang="en-US" sz="1700" dirty="0"/>
          </a:p>
          <a:p>
            <a:pPr indent="0" marL="0">
              <a:buNone/>
            </a:pPr>
            <a:r>
              <a:rPr lang="en-US" sz="1500" b="1" dirty="0">
                <a:solidFill>
                  <a:schemeClr val="accent6"/>
                </a:solidFill>
              </a:rPr>
              <a:t>Welt 1: im Inventar: bis anzahl − 1</a:t>
            </a:r>
            <a:endParaRPr lang="en-US" sz="1700" dirty="0"/>
          </a:p>
        </p:txBody>
      </p:sp>
      <p:sp>
        <p:nvSpPr>
          <p:cNvPr id="18" name="Check Struktur unverändert"/>
          <p:cNvSpPr/>
          <p:nvPr/>
        </p:nvSpPr>
        <p:spPr>
          <a:xfrm>
            <a:off x="548640" y="3749040"/>
            <a:ext cx="3566160" cy="2194560"/>
          </a:xfrm>
          <a:prstGeom prst="roundRect">
            <a:avLst>
              <a:gd name="adj" fmla="val 5000"/>
            </a:avLst>
          </a:prstGeom>
          <a:solidFill>
            <a:schemeClr val="bg1"/>
          </a:solidFill>
          <a:ln/>
          <a:effectLst>
            <a:outerShdw sx="100000" sy="100000" kx="0" ky="0" algn="bl" rotWithShape="0" blurRad="76200" dist="25400" dir="5400000">
              <a:srgbClr val="000000">
                <a:alpha val="18000"/>
              </a:srgbClr>
            </a:outerShdw>
          </a:effectLst>
        </p:spPr>
      </p:sp>
      <p:sp>
        <p:nvSpPr>
          <p:cNvPr id="19" name="Icon-Kreis"/>
          <p:cNvSpPr/>
          <p:nvPr/>
        </p:nvSpPr>
        <p:spPr>
          <a:xfrm>
            <a:off x="749808" y="3931920"/>
            <a:ext cx="685800" cy="685800"/>
          </a:xfrm>
          <a:prstGeom prst="ellipse">
            <a:avLst/>
          </a:prstGeom>
          <a:solidFill>
            <a:schemeClr val="accent1"/>
          </a:solidFill>
          <a:ln/>
        </p:spPr>
      </p:sp>
      <p:pic>
        <p:nvPicPr>
          <p:cNvPr id="20" name="Icon GiPadlock" descr="preencoded.png">    </p:cNvPr>
          <p:cNvPicPr>
            <a:picLocks noChangeAspect="1"/>
          </p:cNvPicPr>
          <p:nvPr/>
        </p:nvPicPr>
        <p:blipFill>
          <a:blip r:embed="rId4"/>
          <a:stretch>
            <a:fillRect/>
          </a:stretch>
        </p:blipFill>
        <p:spPr>
          <a:xfrm>
            <a:off x="900684" y="4082796"/>
            <a:ext cx="384048" cy="384048"/>
          </a:xfrm>
          <a:prstGeom prst="rect">
            <a:avLst/>
          </a:prstGeom>
        </p:spPr>
      </p:pic>
      <p:sp>
        <p:nvSpPr>
          <p:cNvPr id="21" name="Text 15"/>
          <p:cNvSpPr txBox="1"/>
          <p:nvPr/>
        </p:nvSpPr>
        <p:spPr>
          <a:xfrm>
            <a:off x="1572768" y="3931920"/>
            <a:ext cx="2423160" cy="685800"/>
          </a:xfrm>
          <a:prstGeom prst="rect">
            <a:avLst/>
          </a:prstGeom>
          <a:noFill/>
          <a:ln/>
        </p:spPr>
        <p:txBody>
          <a:bodyPr wrap="square" lIns="0" tIns="0" rIns="0" bIns="0" rtlCol="0" anchor="ctr"/>
          <a:lstStyle/>
          <a:p>
            <a:pPr indent="0" marL="0">
              <a:buNone/>
            </a:pPr>
            <a:r>
              <a:rPr lang="en-US" sz="2000" b="1" dirty="0">
                <a:solidFill>
                  <a:schemeClr val="accent1"/>
                </a:solidFill>
              </a:rPr>
              <a:t>4  Struktur unverändert</a:t>
            </a:r>
            <a:endParaRPr lang="en-US" sz="2000" dirty="0"/>
          </a:p>
        </p:txBody>
      </p:sp>
      <p:sp>
        <p:nvSpPr>
          <p:cNvPr id="22" name="Text 16"/>
          <p:cNvSpPr txBox="1"/>
          <p:nvPr/>
        </p:nvSpPr>
        <p:spPr>
          <a:xfrm>
            <a:off x="777240" y="4736592"/>
            <a:ext cx="3154680" cy="1143000"/>
          </a:xfrm>
          <a:prstGeom prst="rect">
            <a:avLst/>
          </a:prstGeom>
          <a:noFill/>
          <a:ln/>
        </p:spPr>
        <p:txBody>
          <a:bodyPr wrap="square" lIns="0" tIns="0" rIns="0" bIns="0" rtlCol="0" anchor="t"/>
          <a:lstStyle/>
          <a:p>
            <a:pPr indent="0" marL="0">
              <a:buNone/>
            </a:pPr>
            <a:r>
              <a:rPr lang="en-US" sz="1700" dirty="0">
                <a:solidFill>
                  <a:schemeClr val="tx1"/>
                </a:solidFill>
              </a:rPr>
              <a:t>falls gefordert: am Ende alles wie vorher</a:t>
            </a:r>
            <a:endParaRPr lang="en-US" sz="1700" dirty="0"/>
          </a:p>
          <a:p>
            <a:pPr indent="0" marL="0">
              <a:buNone/>
            </a:pPr>
            <a:r>
              <a:rPr lang="en-US" sz="1500" b="1" dirty="0">
                <a:solidFill>
                  <a:schemeClr val="accent6"/>
                </a:solidFill>
              </a:rPr>
              <a:t>Welt 1: z. B. Inventar nicht umsortieren</a:t>
            </a:r>
            <a:endParaRPr lang="en-US" sz="1700" dirty="0"/>
          </a:p>
        </p:txBody>
      </p:sp>
      <p:sp>
        <p:nvSpPr>
          <p:cNvPr id="23" name="Check Zeichenketten"/>
          <p:cNvSpPr/>
          <p:nvPr/>
        </p:nvSpPr>
        <p:spPr>
          <a:xfrm>
            <a:off x="4297680" y="3749040"/>
            <a:ext cx="3566160" cy="2194560"/>
          </a:xfrm>
          <a:prstGeom prst="roundRect">
            <a:avLst>
              <a:gd name="adj" fmla="val 5000"/>
            </a:avLst>
          </a:prstGeom>
          <a:solidFill>
            <a:schemeClr val="bg1"/>
          </a:solidFill>
          <a:ln/>
          <a:effectLst>
            <a:outerShdw sx="100000" sy="100000" kx="0" ky="0" algn="bl" rotWithShape="0" blurRad="76200" dist="25400" dir="5400000">
              <a:srgbClr val="000000">
                <a:alpha val="18000"/>
              </a:srgbClr>
            </a:outerShdw>
          </a:effectLst>
        </p:spPr>
      </p:sp>
      <p:sp>
        <p:nvSpPr>
          <p:cNvPr id="24" name="Icon-Kreis"/>
          <p:cNvSpPr/>
          <p:nvPr/>
        </p:nvSpPr>
        <p:spPr>
          <a:xfrm>
            <a:off x="4498848" y="3931920"/>
            <a:ext cx="685800" cy="685800"/>
          </a:xfrm>
          <a:prstGeom prst="ellipse">
            <a:avLst/>
          </a:prstGeom>
          <a:solidFill>
            <a:schemeClr val="accent1"/>
          </a:solidFill>
          <a:ln/>
        </p:spPr>
      </p:sp>
      <p:pic>
        <p:nvPicPr>
          <p:cNvPr id="25" name="Icon GiQuill" descr="preencoded.png">    </p:cNvPr>
          <p:cNvPicPr>
            <a:picLocks noChangeAspect="1"/>
          </p:cNvPicPr>
          <p:nvPr/>
        </p:nvPicPr>
        <p:blipFill>
          <a:blip r:embed="rId5"/>
          <a:stretch>
            <a:fillRect/>
          </a:stretch>
        </p:blipFill>
        <p:spPr>
          <a:xfrm>
            <a:off x="4649724" y="4082796"/>
            <a:ext cx="384048" cy="384048"/>
          </a:xfrm>
          <a:prstGeom prst="rect">
            <a:avLst/>
          </a:prstGeom>
        </p:spPr>
      </p:pic>
      <p:sp>
        <p:nvSpPr>
          <p:cNvPr id="26" name="Text 19"/>
          <p:cNvSpPr txBox="1"/>
          <p:nvPr/>
        </p:nvSpPr>
        <p:spPr>
          <a:xfrm>
            <a:off x="5321808" y="3931920"/>
            <a:ext cx="2423160" cy="685800"/>
          </a:xfrm>
          <a:prstGeom prst="rect">
            <a:avLst/>
          </a:prstGeom>
          <a:noFill/>
          <a:ln/>
        </p:spPr>
        <p:txBody>
          <a:bodyPr wrap="square" lIns="0" tIns="0" rIns="0" bIns="0" rtlCol="0" anchor="ctr"/>
          <a:lstStyle/>
          <a:p>
            <a:pPr indent="0" marL="0">
              <a:buNone/>
            </a:pPr>
            <a:r>
              <a:rPr lang="en-US" sz="2000" b="1" dirty="0">
                <a:solidFill>
                  <a:schemeClr val="accent1"/>
                </a:solidFill>
              </a:rPr>
              <a:t>5  Zeichenketten</a:t>
            </a:r>
            <a:endParaRPr lang="en-US" sz="2000" dirty="0"/>
          </a:p>
        </p:txBody>
      </p:sp>
      <p:sp>
        <p:nvSpPr>
          <p:cNvPr id="27" name="Text 20"/>
          <p:cNvSpPr txBox="1"/>
          <p:nvPr/>
        </p:nvSpPr>
        <p:spPr>
          <a:xfrm>
            <a:off x="4526280" y="4736592"/>
            <a:ext cx="3154680" cy="1143000"/>
          </a:xfrm>
          <a:prstGeom prst="rect">
            <a:avLst/>
          </a:prstGeom>
          <a:noFill/>
          <a:ln/>
        </p:spPr>
        <p:txBody>
          <a:bodyPr wrap="square" lIns="0" tIns="0" rIns="0" bIns="0" rtlCol="0" anchor="t"/>
          <a:lstStyle/>
          <a:p>
            <a:pPr indent="0" marL="0">
              <a:buNone/>
            </a:pPr>
            <a:r>
              <a:rPr lang="en-US" sz="1700" dirty="0">
                <a:solidFill>
                  <a:schemeClr val="tx1"/>
                </a:solidFill>
              </a:rPr>
              <a:t>nur erlaubte Operationen, Vergleich mit equals</a:t>
            </a:r>
            <a:endParaRPr lang="en-US" sz="1700" dirty="0"/>
          </a:p>
          <a:p>
            <a:pPr indent="0" marL="0">
              <a:buNone/>
            </a:pPr>
            <a:r>
              <a:rPr lang="en-US" sz="1500" b="1" dirty="0">
                <a:solidFill>
                  <a:schemeClr val="accent6"/>
                </a:solidFill>
              </a:rPr>
              <a:t>Welt 1: getName().equals(name)</a:t>
            </a:r>
            <a:endParaRPr lang="en-US" sz="1700" dirty="0"/>
          </a:p>
        </p:txBody>
      </p:sp>
      <p:sp>
        <p:nvSpPr>
          <p:cNvPr id="28" name="Check Kommentieren"/>
          <p:cNvSpPr/>
          <p:nvPr/>
        </p:nvSpPr>
        <p:spPr>
          <a:xfrm>
            <a:off x="8046720" y="3749040"/>
            <a:ext cx="3566160" cy="2194560"/>
          </a:xfrm>
          <a:prstGeom prst="roundRect">
            <a:avLst>
              <a:gd name="adj" fmla="val 5000"/>
            </a:avLst>
          </a:prstGeom>
          <a:solidFill>
            <a:schemeClr val="bg1"/>
          </a:solidFill>
          <a:ln/>
          <a:effectLst>
            <a:outerShdw sx="100000" sy="100000" kx="0" ky="0" algn="bl" rotWithShape="0" blurRad="76200" dist="25400" dir="5400000">
              <a:srgbClr val="000000">
                <a:alpha val="18000"/>
              </a:srgbClr>
            </a:outerShdw>
          </a:effectLst>
        </p:spPr>
      </p:sp>
      <p:sp>
        <p:nvSpPr>
          <p:cNvPr id="29" name="Icon-Kreis"/>
          <p:cNvSpPr/>
          <p:nvPr/>
        </p:nvSpPr>
        <p:spPr>
          <a:xfrm>
            <a:off x="8247888" y="3931920"/>
            <a:ext cx="685800" cy="685800"/>
          </a:xfrm>
          <a:prstGeom prst="ellipse">
            <a:avLst/>
          </a:prstGeom>
          <a:solidFill>
            <a:schemeClr val="accent1"/>
          </a:solidFill>
          <a:ln/>
        </p:spPr>
      </p:sp>
      <p:pic>
        <p:nvPicPr>
          <p:cNvPr id="30" name="Icon GiScrollQuill" descr="preencoded.png">    </p:cNvPr>
          <p:cNvPicPr>
            <a:picLocks noChangeAspect="1"/>
          </p:cNvPicPr>
          <p:nvPr/>
        </p:nvPicPr>
        <p:blipFill>
          <a:blip r:embed="rId6"/>
          <a:stretch>
            <a:fillRect/>
          </a:stretch>
        </p:blipFill>
        <p:spPr>
          <a:xfrm>
            <a:off x="8398764" y="4082796"/>
            <a:ext cx="384048" cy="384048"/>
          </a:xfrm>
          <a:prstGeom prst="rect">
            <a:avLst/>
          </a:prstGeom>
        </p:spPr>
      </p:pic>
      <p:sp>
        <p:nvSpPr>
          <p:cNvPr id="31" name="Text 23"/>
          <p:cNvSpPr txBox="1"/>
          <p:nvPr/>
        </p:nvSpPr>
        <p:spPr>
          <a:xfrm>
            <a:off x="9070848" y="3931920"/>
            <a:ext cx="2423160" cy="685800"/>
          </a:xfrm>
          <a:prstGeom prst="rect">
            <a:avLst/>
          </a:prstGeom>
          <a:noFill/>
          <a:ln/>
        </p:spPr>
        <p:txBody>
          <a:bodyPr wrap="square" lIns="0" tIns="0" rIns="0" bIns="0" rtlCol="0" anchor="ctr"/>
          <a:lstStyle/>
          <a:p>
            <a:pPr indent="0" marL="0">
              <a:buNone/>
            </a:pPr>
            <a:r>
              <a:rPr lang="en-US" sz="2000" b="1" dirty="0">
                <a:solidFill>
                  <a:schemeClr val="accent1"/>
                </a:solidFill>
              </a:rPr>
              <a:t>6  Kommentieren</a:t>
            </a:r>
            <a:endParaRPr lang="en-US" sz="2000" dirty="0"/>
          </a:p>
        </p:txBody>
      </p:sp>
      <p:sp>
        <p:nvSpPr>
          <p:cNvPr id="32" name="Text 24"/>
          <p:cNvSpPr txBox="1"/>
          <p:nvPr/>
        </p:nvSpPr>
        <p:spPr>
          <a:xfrm>
            <a:off x="8275320" y="4736592"/>
            <a:ext cx="3154680" cy="1143000"/>
          </a:xfrm>
          <a:prstGeom prst="rect">
            <a:avLst/>
          </a:prstGeom>
          <a:noFill/>
          <a:ln/>
        </p:spPr>
        <p:txBody>
          <a:bodyPr wrap="square" lIns="0" tIns="0" rIns="0" bIns="0" rtlCol="0" anchor="t"/>
          <a:lstStyle/>
          <a:p>
            <a:pPr indent="0" marL="0">
              <a:buNone/>
            </a:pPr>
            <a:r>
              <a:rPr lang="en-US" sz="1700" dirty="0">
                <a:solidFill>
                  <a:schemeClr val="tx1"/>
                </a:solidFill>
              </a:rPr>
              <a:t>unsichere Stellen kurz kommentieren</a:t>
            </a:r>
            <a:endParaRPr lang="en-US" sz="1700" dirty="0"/>
          </a:p>
          <a:p>
            <a:pPr indent="0" marL="0">
              <a:buNone/>
            </a:pPr>
            <a:r>
              <a:rPr lang="en-US" sz="1500" b="1" dirty="0">
                <a:solidFill>
                  <a:schemeClr val="accent6"/>
                </a:solidFill>
              </a:rPr>
              <a:t>Welt 1: Annahmen offen hinschreiben</a:t>
            </a:r>
            <a:endParaRPr lang="en-US" sz="17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bg1"/>
                </a:solidFill>
              </a:rPr>
              <a:t>Boss 1: Die Gildenhalle</a:t>
            </a:r>
            <a:endParaRPr lang="en-US" sz="3600" dirty="0"/>
          </a:p>
        </p:txBody>
      </p:sp>
      <p:sp>
        <p:nvSpPr>
          <p:cNvPr id="3" name="Icon-Kreis"/>
          <p:cNvSpPr/>
          <p:nvPr/>
        </p:nvSpPr>
        <p:spPr>
          <a:xfrm>
            <a:off x="822960" y="1600200"/>
            <a:ext cx="2926080" cy="2926080"/>
          </a:xfrm>
          <a:prstGeom prst="ellipse">
            <a:avLst/>
          </a:prstGeom>
          <a:solidFill>
            <a:schemeClr val="accent4"/>
          </a:solidFill>
          <a:ln w="63500">
            <a:solidFill>
              <a:schemeClr val="accent2"/>
            </a:solidFill>
            <a:prstDash val="solid"/>
          </a:ln>
        </p:spPr>
      </p:sp>
      <p:pic>
        <p:nvPicPr>
          <p:cNvPr id="4" name="Icon GiSpikedDragonHead" descr="preencoded.png">    </p:cNvPr>
          <p:cNvPicPr>
            <a:picLocks noChangeAspect="1"/>
          </p:cNvPicPr>
          <p:nvPr/>
        </p:nvPicPr>
        <p:blipFill>
          <a:blip r:embed="rId1"/>
          <a:stretch>
            <a:fillRect/>
          </a:stretch>
        </p:blipFill>
        <p:spPr>
          <a:xfrm>
            <a:off x="1349654" y="2126894"/>
            <a:ext cx="1872691" cy="1872691"/>
          </a:xfrm>
          <a:prstGeom prst="rect">
            <a:avLst/>
          </a:prstGeom>
        </p:spPr>
      </p:pic>
      <p:sp>
        <p:nvSpPr>
          <p:cNvPr id="5" name="Chip"/>
          <p:cNvSpPr txBox="1"/>
          <p:nvPr/>
        </p:nvSpPr>
        <p:spPr>
          <a:xfrm>
            <a:off x="1600200" y="4754880"/>
            <a:ext cx="137160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2000" b="1" dirty="0">
                <a:solidFill>
                  <a:schemeClr val="bg1"/>
                </a:solidFill>
              </a:rPr>
              <a:t>DS 12</a:t>
            </a:r>
            <a:endParaRPr lang="en-US" sz="2000" dirty="0"/>
          </a:p>
        </p:txBody>
      </p:sp>
      <p:sp>
        <p:nvSpPr>
          <p:cNvPr id="6" name="Icon-Kreis"/>
          <p:cNvSpPr/>
          <p:nvPr/>
        </p:nvSpPr>
        <p:spPr>
          <a:xfrm>
            <a:off x="4480560" y="1325880"/>
            <a:ext cx="777240" cy="777240"/>
          </a:xfrm>
          <a:prstGeom prst="ellipse">
            <a:avLst/>
          </a:prstGeom>
          <a:solidFill>
            <a:schemeClr val="bg1"/>
          </a:solidFill>
          <a:ln/>
        </p:spPr>
      </p:sp>
      <p:pic>
        <p:nvPicPr>
          <p:cNvPr id="7" name="Icon GiHourglass" descr="preencoded.png">    </p:cNvPr>
          <p:cNvPicPr>
            <a:picLocks noChangeAspect="1"/>
          </p:cNvPicPr>
          <p:nvPr/>
        </p:nvPicPr>
        <p:blipFill>
          <a:blip r:embed="rId2"/>
          <a:stretch>
            <a:fillRect/>
          </a:stretch>
        </p:blipFill>
        <p:spPr>
          <a:xfrm>
            <a:off x="4651553" y="1496873"/>
            <a:ext cx="435254" cy="435254"/>
          </a:xfrm>
          <a:prstGeom prst="rect">
            <a:avLst/>
          </a:prstGeom>
        </p:spPr>
      </p:pic>
      <p:sp>
        <p:nvSpPr>
          <p:cNvPr id="8" name="Text 4"/>
          <p:cNvSpPr txBox="1"/>
          <p:nvPr/>
        </p:nvSpPr>
        <p:spPr>
          <a:xfrm>
            <a:off x="5486400" y="128016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60 Minuten · ≈ 24 BE</a:t>
            </a:r>
            <a:endParaRPr lang="en-US" sz="1800" dirty="0"/>
          </a:p>
          <a:p>
            <a:pPr indent="0" marL="0">
              <a:buNone/>
            </a:pPr>
            <a:r>
              <a:rPr lang="en-US" sz="1800" dirty="0">
                <a:solidFill>
                  <a:schemeClr val="bg1"/>
                </a:solidFill>
              </a:rPr>
              <a:t>Zeitbudget wie im Abi: ≈ 2,5 min pro BE</a:t>
            </a:r>
            <a:endParaRPr lang="en-US" sz="1800" dirty="0"/>
          </a:p>
        </p:txBody>
      </p:sp>
      <p:sp>
        <p:nvSpPr>
          <p:cNvPr id="9" name="Icon-Kreis"/>
          <p:cNvSpPr/>
          <p:nvPr/>
        </p:nvSpPr>
        <p:spPr>
          <a:xfrm>
            <a:off x="4480560" y="2331720"/>
            <a:ext cx="777240" cy="777240"/>
          </a:xfrm>
          <a:prstGeom prst="ellipse">
            <a:avLst/>
          </a:prstGeom>
          <a:solidFill>
            <a:schemeClr val="bg1"/>
          </a:solidFill>
          <a:ln/>
        </p:spPr>
      </p:sp>
      <p:pic>
        <p:nvPicPr>
          <p:cNvPr id="10" name="Icon GiQuillInk" descr="preencoded.png">    </p:cNvPr>
          <p:cNvPicPr>
            <a:picLocks noChangeAspect="1"/>
          </p:cNvPicPr>
          <p:nvPr/>
        </p:nvPicPr>
        <p:blipFill>
          <a:blip r:embed="rId3"/>
          <a:stretch>
            <a:fillRect/>
          </a:stretch>
        </p:blipFill>
        <p:spPr>
          <a:xfrm>
            <a:off x="4651553" y="2502713"/>
            <a:ext cx="435254" cy="435254"/>
          </a:xfrm>
          <a:prstGeom prst="rect">
            <a:avLst/>
          </a:prstGeom>
        </p:spPr>
      </p:pic>
      <p:sp>
        <p:nvSpPr>
          <p:cNvPr id="11" name="Text 6"/>
          <p:cNvSpPr txBox="1"/>
          <p:nvPr/>
        </p:nvSpPr>
        <p:spPr>
          <a:xfrm>
            <a:off x="5486400" y="228600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Papier, ohne Gerät</a:t>
            </a:r>
            <a:endParaRPr lang="en-US" sz="1800" dirty="0"/>
          </a:p>
          <a:p>
            <a:pPr indent="0" marL="0">
              <a:buNone/>
            </a:pPr>
            <a:r>
              <a:rPr lang="en-US" sz="1800" dirty="0">
                <a:solidFill>
                  <a:schemeClr val="bg1"/>
                </a:solidFill>
              </a:rPr>
              <a:t>Abi-Operatoren und BE-Angaben an jeder Teilaufgabe</a:t>
            </a:r>
            <a:endParaRPr lang="en-US" sz="1800" dirty="0"/>
          </a:p>
        </p:txBody>
      </p:sp>
      <p:sp>
        <p:nvSpPr>
          <p:cNvPr id="12" name="Icon-Kreis"/>
          <p:cNvSpPr/>
          <p:nvPr/>
        </p:nvSpPr>
        <p:spPr>
          <a:xfrm>
            <a:off x="4480560" y="3337560"/>
            <a:ext cx="777240" cy="777240"/>
          </a:xfrm>
          <a:prstGeom prst="ellipse">
            <a:avLst/>
          </a:prstGeom>
          <a:solidFill>
            <a:schemeClr val="bg1"/>
          </a:solidFill>
          <a:ln/>
        </p:spPr>
      </p:sp>
      <p:pic>
        <p:nvPicPr>
          <p:cNvPr id="13" name="Icon GiDungeonGate" descr="preencoded.png">    </p:cNvPr>
          <p:cNvPicPr>
            <a:picLocks noChangeAspect="1"/>
          </p:cNvPicPr>
          <p:nvPr/>
        </p:nvPicPr>
        <p:blipFill>
          <a:blip r:embed="rId4"/>
          <a:stretch>
            <a:fillRect/>
          </a:stretch>
        </p:blipFill>
        <p:spPr>
          <a:xfrm>
            <a:off x="4651553" y="3508553"/>
            <a:ext cx="435254" cy="435254"/>
          </a:xfrm>
          <a:prstGeom prst="rect">
            <a:avLst/>
          </a:prstGeom>
        </p:spPr>
      </p:pic>
      <p:sp>
        <p:nvSpPr>
          <p:cNvPr id="14" name="Text 8"/>
          <p:cNvSpPr txBox="1"/>
          <p:nvPr/>
        </p:nvSpPr>
        <p:spPr>
          <a:xfrm>
            <a:off x="5486400" y="329184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Neuer Kontext</a:t>
            </a:r>
            <a:endParaRPr lang="en-US" sz="1800" dirty="0"/>
          </a:p>
          <a:p>
            <a:pPr indent="0" marL="0">
              <a:buNone/>
            </a:pPr>
            <a:r>
              <a:rPr lang="en-US" sz="1800" dirty="0">
                <a:solidFill>
                  <a:schemeClr val="bg1"/>
                </a:solidFill>
              </a:rPr>
              <a:t>kein Held, kein Monster – gleiche Konzepte, Transfer</a:t>
            </a:r>
            <a:endParaRPr lang="en-US" sz="1800" dirty="0"/>
          </a:p>
        </p:txBody>
      </p:sp>
      <p:sp>
        <p:nvSpPr>
          <p:cNvPr id="15" name="Icon-Kreis"/>
          <p:cNvSpPr/>
          <p:nvPr/>
        </p:nvSpPr>
        <p:spPr>
          <a:xfrm>
            <a:off x="4480560" y="4343400"/>
            <a:ext cx="777240" cy="777240"/>
          </a:xfrm>
          <a:prstGeom prst="ellipse">
            <a:avLst/>
          </a:prstGeom>
          <a:solidFill>
            <a:schemeClr val="bg1"/>
          </a:solidFill>
          <a:ln/>
        </p:spPr>
      </p:sp>
      <p:pic>
        <p:nvPicPr>
          <p:cNvPr id="16" name="Icon GiTwoCoins" descr="preencoded.png">    </p:cNvPr>
          <p:cNvPicPr>
            <a:picLocks noChangeAspect="1"/>
          </p:cNvPicPr>
          <p:nvPr/>
        </p:nvPicPr>
        <p:blipFill>
          <a:blip r:embed="rId5"/>
          <a:stretch>
            <a:fillRect/>
          </a:stretch>
        </p:blipFill>
        <p:spPr>
          <a:xfrm>
            <a:off x="4651553" y="4514393"/>
            <a:ext cx="435254" cy="435254"/>
          </a:xfrm>
          <a:prstGeom prst="rect">
            <a:avLst/>
          </a:prstGeom>
        </p:spPr>
      </p:pic>
      <p:sp>
        <p:nvSpPr>
          <p:cNvPr id="17" name="Text 10"/>
          <p:cNvSpPr txBox="1"/>
          <p:nvPr/>
        </p:nvSpPr>
        <p:spPr>
          <a:xfrm>
            <a:off x="5486400" y="429768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Zusätzlich im Lab</a:t>
            </a:r>
            <a:endParaRPr lang="en-US" sz="1800" dirty="0"/>
          </a:p>
          <a:p>
            <a:pPr indent="0" marL="0">
              <a:buNone/>
            </a:pPr>
            <a:r>
              <a:rPr lang="en-US" sz="1800" dirty="0">
                <a:solidFill>
                  <a:schemeClr val="bg1"/>
                </a:solidFill>
              </a:rPr>
              <a:t>Online-Boss „Der Reitstall der Heldenschmiede“ · 25 min</a:t>
            </a:r>
            <a:endParaRPr lang="en-US" sz="1800" dirty="0"/>
          </a:p>
        </p:txBody>
      </p:sp>
      <p:sp>
        <p:nvSpPr>
          <p:cNvPr id="18" name="Text 11"/>
          <p:cNvSpPr txBox="1"/>
          <p:nvPr/>
        </p:nvSpPr>
        <p:spPr>
          <a:xfrm>
            <a:off x="4480560" y="5440680"/>
            <a:ext cx="7132320" cy="731520"/>
          </a:xfrm>
          <a:prstGeom prst="rect">
            <a:avLst/>
          </a:prstGeom>
          <a:noFill/>
          <a:ln/>
        </p:spPr>
        <p:txBody>
          <a:bodyPr wrap="square" lIns="0" tIns="0" rIns="0" bIns="0" rtlCol="0" anchor="ctr"/>
          <a:lstStyle/>
          <a:p>
            <a:pPr indent="0" marL="0">
              <a:buNone/>
            </a:pPr>
            <a:r>
              <a:rPr lang="en-US" sz="1800" b="1" dirty="0">
                <a:solidFill>
                  <a:schemeClr val="accent2"/>
                </a:solidFill>
              </a:rPr>
              <a:t>Vorbereitung: </a:t>
            </a:r>
            <a:pPr indent="0" marL="0">
              <a:buNone/>
            </a:pPr>
            <a:r>
              <a:rPr lang="en-US" sz="1800" dirty="0">
                <a:solidFill>
                  <a:schemeClr val="bg1"/>
                </a:solidFill>
              </a:rPr>
              <a:t>Lab-Level 1.1–1.4 · Warm-up-Trainer · Abi-Check · Klassenkarten-Regeln · Kernpunkte „erläutern“</a:t>
            </a:r>
            <a:endParaRPr lang="en-US" sz="18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lgo Quest">
  <a:themeElements>
    <a:clrScheme name="Algo Quest">
      <a:dk1>
        <a:srgbClr val="1A1A1A"/>
      </a:dk1>
      <a:lt1>
        <a:srgbClr val="FFFFFF"/>
      </a:lt1>
      <a:dk2>
        <a:srgbClr val="1F4E79"/>
      </a:dk2>
      <a:lt2>
        <a:srgbClr val="DBE7F5"/>
      </a:lt2>
      <a:accent1>
        <a:srgbClr val="1F4E79"/>
      </a:accent1>
      <a:accent2>
        <a:srgbClr val="B8860B"/>
      </a:accent2>
      <a:accent3>
        <a:srgbClr val="548235"/>
      </a:accent3>
      <a:accent4>
        <a:srgbClr val="C00000"/>
      </a:accent4>
      <a:accent5>
        <a:srgbClr val="F0F0F0"/>
      </a:accent5>
      <a:accent6>
        <a:srgbClr val="2E75B6"/>
      </a:accent6>
      <a:hlink>
        <a:srgbClr val="2E75B6"/>
      </a:hlink>
      <a:folHlink>
        <a:srgbClr val="7030A0"/>
      </a:folHlink>
    </a:clrScheme>
    <a:fontScheme name="Algo Ques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Max-Planck-Gymnasium Delmenhorst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 Quest – Welt 1: Die Heldenschmiede</dc:title>
  <dc:subject>PptxGenJS Presentation</dc:subject>
  <dc:creator>Frank Juchim</dc:creator>
  <cp:lastModifiedBy>Frank Juchim</cp:lastModifiedBy>
  <cp:revision>1</cp:revision>
  <dcterms:created xsi:type="dcterms:W3CDTF">2026-10-08T18:19:44Z</dcterms:created>
  <dcterms:modified xsi:type="dcterms:W3CDTF">2026-10-08T18:19:44Z</dcterms:modified>
</cp:coreProperties>
</file>