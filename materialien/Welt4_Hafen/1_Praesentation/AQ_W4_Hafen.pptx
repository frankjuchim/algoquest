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82469bea-1616-78b6-4776-a172399b823d}">
          <p14:sldIdLst>
            <p14:sldId id="256"/>
            <p14:sldId id="257"/>
          </p14:sldIdLst>
        </p14:section>
        <p14:section name="DS 24 Stapel und Schlange" id="{233a3c52-2419-90fd-5189-8aeef14a6297}">
          <p14:sldIdLst>
            <p14:sldId id="258"/>
            <p14:sldId id="259"/>
            <p14:sldId id="260"/>
            <p14:sldId id="261"/>
            <p14:sldId id="262"/>
            <p14:sldId id="263"/>
            <p14:sldId id="264"/>
            <p14:sldId id="265"/>
            <p14:sldId id="266"/>
            <p14:sldId id="267"/>
          </p14:sldIdLst>
        </p14:section>
        <p14:section name="DS 25 Spielmodule (Kür)" id="{69ac4937-3033-230b-3970-a5e409cc2dd2}">
          <p14:sldIdLst>
            <p14:sldId id="268"/>
            <p14:sldId id="269"/>
            <p14:sldId id="270"/>
          </p14:sldIdLst>
        </p14:section>
        <p14:section name="DS 26 Unverändert" id="{e6d770b8-c951-d5a9-6c52-30c1cecfa8ee}">
          <p14:sldIdLst>
            <p14:sldId id="271"/>
            <p14:sldId id="272"/>
          </p14:sldIdLst>
        </p14:section>
        <p14:section name="DS 27 Ladeliste" id="{e491aab1-cca7-dc79-a167-124bacf45f7b}">
          <p14:sldIdLst>
            <p14:sldId id="273"/>
            <p14:sldId id="274"/>
            <p14:sldId id="275"/>
            <p14:sldId id="276"/>
          </p14:sldIdLst>
        </p14:section>
        <p14:section name="DS 28 Umformen" id="{f80cbce5-841b-58ce-3284-cce5aeff774b}">
          <p14:sldIdLst>
            <p14:sldId id="277"/>
            <p14:sldId id="278"/>
            <p14:sldId id="279"/>
          </p14:sldIdLst>
        </p14:section>
        <p14:section name="DS 29 Expertenpfad (Kür)" id="{f8d15cec-0424-8990-02c3-b21e10c65731}">
          <p14:sldIdLst>
            <p14:sldId id="280"/>
            <p14:sldId id="281"/>
            <p14:sldId id="282"/>
          </p14:sldIdLst>
        </p14:section>
        <p14:section name="DS 30 Boss 4" id="{d4dddb47-8ff9-974e-5e3d-b86bc5077ef0}">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in Welt 4 (ca. 1 min, Beginn DS 24): Das Studio erreicht den Hafen. Kisten werden gestapelt (Stapel), Schiffe warten an der Mole (Schlange), die Ladeliste wächst und schrumpft (dynamische Reihung). Ziel der Welt: die drei linearen abstrakten Datentypen genau nach den Schnittstellen der Ergänzenden Hinweise (EH §4) benutzen – ohne Laufzeitfehler. Die Präsentation begleitet DS 24 bis 30; je Stunde nur die passenden Folien zeigen (DS-Angabe unten rechts). Gold markiert die Kür-Stunden (DS 25 und DS 29). Alle Werte auf den Folien stammen aus der Musterlösung AQ_W4_L4_Hafen_LSG.txt und wurden mit javac ausgeführt (Nachbauten der Niedersachsen-Klassen, Object-basiert).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Überblick (ca. 2 min): Sechs IDE-Level in einer Gerüstdatei (AQ_W4_L4_Hafen_Geruest.txt; Testklassen L41StapelSchlangeTest bis L46ExpertenpfadTest, zusammen 61 Tests; Testpräfixe basis_/erweiterung_/experte_). Unten auf den Karten: die passenden Lab-Level 4.1–4.6 im Algo Quest Lab – dort werden die Aufgaben automatisch geprüft und Punkte automatisch vergeben; dazu der Trainingsplatz Welt 4 (Zufallsaufgaben zu Stapel, Schlange, dynamischer Reihung) und der Online-Boss „Die Postkutschenstation“. Voraussetzung ab der ersten Minute: Bibliothek „Niedersachsen“ im Workspace aktivieren (Folie 9) – ohne sie kompiliert nichts. DS 25 und DS 29 sind Kür-Stunden (Spielmodule bzw. Expertenpfad). Jeder Test ruft die Methoden auch mit LEEREN Strukturen auf; ein Laufzeitfehler erscheint als roter Test mit Hinweis („Leerabfrage mit isEmpty() vergessen?“). Boss 4 in DS 30 auf Papier, danach Papier-Compiler.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Unplugged-Einstieg, DS 24 (ca. 5 min): Drei Alltagssituationen nebeneinander. Fragen an den Kurs: Wo kommt etwas dazu, wo wird etwas weggenommen? Welcher Teller, welche Person, welche Zeile ist als Nächstes dran? Tellerstapel: nur oben – der zuletzt gelegte Teller kommt zuerst wieder weg (Last In, First Out). Kasse: hinten anstellen, vorne bezahlen (First In, First Out). Ladeliste: jede Zeile hat eine Nummer, man kann überall nachsehen, einfügen und streichen (dynamische Reihung). Optional mit echten Gegenständen: fünf Hefte als Stapel, drei Schüler als Schlange vor dem Pult. Überleitung: In der Informatik heißen solche Strukturen abstrakte Datentypen – sie werden nur über ihre Operationen beschrieben.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ADT-Begriff, DS 24 (ca. 4 min): Die Kapsel ist ein Bild für Kapselung: Von außen sieht man nur die Operationen (Schnittstelle), innen kann der Stapel z. B. eine Reihung oder verkettete Knoten benutzen – das ist die Implementierung. Das ist dieselbe Idee wie private Attribute und öffentliche Methoden aus Welt 1. Im Abitur sind die Schnittstellen von Stapel, Schlange, dynamischer Reihung und Binärbaum in den Ergänzenden Hinweisen (§4) festgelegt; im Boss liegt ein Auszug als Hilfsmittel bei. Wichtig für die Aufgaben: Man darf nur diese Operationen verwenden – es gibt z. B. kein size() und keinen Zugriff auf das zweite Element eines Stapels. Die Kür in DS 29 baut einen eigenen Stapel aus Knoten mit genau derselben Schnittstelle.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Stapel und Schlange 1/3, DS 24 (ca. 2 min): Die drei Folien gehören zusammen und werden nacheinander durchgeklickt; links der Stapel, rechts die Schlange, jeweils dieselbe Art Befehl. Gold umrandet ist die gerade ausgeführte Zeile bzw. das neue Element. Wichtig: Beide Strukturen werden mit new erzeugt und sind am Anfang leer. In der Bibliothek „Niedersachsen“ ohne spitze Klammern: Stack s = new Stack(); (nicht generisch, Inhalt ist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Stapel und Schlange 2/3, DS 24 (ca. 1 min): Beim Hineinlegen sehen beide gleich harmlos aus. Der Unterschied: push legt OBEN auf, enqueue stellt HINTEN an. Frage an den Kurs vor dem Weiterklicken: Was liefert pop(), was liefert dequeue()?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Stapel und Schlange 3/3, DS 24 (ca. 2 min): pop() liefert 8 (zuletzt hineingelegt, LIFO), dequeue() liefert "Albatros" (zuerst angestellt, FIFO); mit javac geprüft: Stapel danach [4], Schlange danach [Moewe]. Beim Entnehmen steht ein Cast: (Integer) bzw. (String), weil die Abitur-Klassen nur Object liefern – kommt gleich ausführlich. top() und head() liefern dasselbe Element, ohne es zu entfernen. Notation für alle Tracetabellen: Stapel von OBEN nach unten, Schlange von VORNE nach hinten, „–“ = leer.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Schnittstellen, DS 24 (ca. 4 min): Das ist die Notation der Ergänzenden Hinweise (§4), wie sie auch im Boss als Hilfsmittel beiliegt: Operation mit Signatur, Inhaltstyp steht für den Typ der gespeicherten Elemente („Stapel vom Inhaltstyp Kiste“). In der Online-IDE heißen die Klassen Stack und Queue, die Operationen genauso (geprüft gegen die API-Doku der Bibliothek „Niedersachsen“, Stand 10/2026): top/pop bzw. head/dequeue auf leerer Struktur werfen eine IllegalStateException, push(null)/enqueue(null) eine IllegalArgumentException. Unterschied top/pop bzw. head/dequeue betonen: top und head schauen nur nach, pop und dequeue entnehmen. Es gibt keine Operation für die Anzahl – wer zählen will, muss umschichten (DS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Bibliothek einschalten, DS 24 (ca. 3 min, am Beamer vormachen): Workspace rechtsklicken → „Einstellungen“ → Häkchen „Niedersachsen“ (Stand der API-Doku online-ide.de 10/2026). Die Darstellung auf der Folie ist schematisch – vor dem ersten Einsatz einmal in der echten IDE nachsehen, ob Menü und Dialog so heißen, und ggf. einen Screenshot einsetzen. Danach gibt es die Abitur-Klassen Stack, Queue, DynArray und BinTree; die gleichnamigen Java-Klassen (java.util) sind ausgeblendet – Code aus dem Internet mit Stack&lt;Integer&gt; oder ArrayList funktioniert also nicht. Ohne Bibliothek meldet die IDE schon beim Gerüst Fehler („Stack unbekannt“). Häufigster Stolperstein der ersten Stunde: neuer Workspace ohne Häkchen.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Casten, DS 24 (ca. 5 min): Die Niedersachsen-Klassen sind NICHT generisch – alles, was hineinkommt, wird als Object gespeichert; beim Entnehmen muss man der IDE mit einem Cast sagen, welcher Typ es wirklich ist. Codezeilen wie im Infokasten des Gerüsts. Mit javac und den Nachbauten geprüft: Fehlt der Cast, gibt es schon beim Kompilieren einen Fehler („Object cannot be converted to Kiste“); ein falscher Cast – (Integer) auf eine Kiste – erst beim Ausführen eine ClassCastException. (Integer) und (Character) werden automatisch zu int bzw. char entpackt. VOR DEM EINSATZ PRÜFEN: (Integer)-Cast mit Unboxing und (Character)-Cast in der echten Online-IDE (z. B. Hauptprogramm des Gerüsts laufen lassen). Für Signaturen gilt die EH-Notation „Stapel vom Inhaltstyp Kiste“ – im Java-Kopf steht nur Stack, der Inhaltstyp steckt dann im Cast. Warm-up-Karte W4-02 „Casten am Kai“ übt 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Laufzeitfehler, DS 24 (ca. 5 min): Beispiel ist obersterWert aus Level 4.1 (Basis); die richtige Fassung ist die der Musterlösung, mit javac geprüft: obersterWert(leerer Stapel) = −1, obersterWert(stapleAuf({4, 8, 15, 16})) = 16, der Stapel bleibt [16, 15, 8, 4]. Ohne Abfrage wirft top() auf dem leeren Stapel eine IllegalStateException. In den IDE-Tests wird jede Methode auch mit einer leeren Struktur aufgerufen; ein Laufzeitfehler erscheint als roter Test mit „LAUFZEITFEHLER: … Leerabfrage mit isEmpty() vergessen?“. Merksatz „Erst fragen, dann nehmen.“ an die Tafel. Die Checkliste ist der Abi-Check für Welt 4 (Werkzeugkarte); Im Boss zählt genau das: eine Implementierung mit allen Leer- und Indexabfragen. Danach IDE-Level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Mischaufgabe, Ende DS 24 (ca. 8 min): Abi-Format „Geben Sie den Zustand von q und s nach jeder Anweisung an“ (22N-B a, 24H-B e). Erst nur den Code zeigen (Tabelle verdecken), die Teams 5 Minuten auf Papier tracen lassen, dann vergleichen. Muster-Tracetabelle (2) aus der Musterlösung, alle Zustände mit javac geprüft: Ende q = [5, 1, 4], s = [2, 3], x = 2. Die beiden gold markierten Zeilen sind die typischen Fehlerquellen: In Zeile 4 wird rotiert (das vordere Element 4 wandert nach hinten), in Zeile 5 nur nachgeschaut (head entnimmt nicht). In Zeile 6 wird zuerst s.pop() (1), dann q.dequeue() (1) ausgewertet. Zum Üben danach Warm-up-Karte W4-01 „Der Kistenkran“ (andere Befehlsfolge, Lösung nicht auf der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Undo/Redo, DS 25 – Kür-Stunde (ca. 6 min): Bildfolge von links nach rechts mit den Testdaten der Musterlösung (Level 4.2): zug("Nord"), zug("Ost"), zug("Sued"); rueckgaengig() liefert "Sued", dann "Ost"; wiederholen() liefert "Ost"; danach anzahlZuege() = 2 (mit javac geprüft). Gold umrandet ist der gerade bewegte Zug. Warum Stapel? Rückgängig gemacht wird immer der zuletzt ausgeführte Zug, wiederholt immer der zuletzt zurückgenommene – beides LIFO. Achtung Namen: Der Redo-Stapel heißt zurueckgenommen (nicht wie die Methode rueckgaengig), damit es keinen Namenskonflikt gibt. Die Regel „ein neuer Zug leert zurueckgenommen“ steht im Aufgabentext; was ohne diese Zeile passiert, untersucht die Warm-up-Karte W4-04 „Das Zugbuch“ (dort mit einem weiteren Zug nach dem Wiederholen) – hier nicht vorwegnehmen.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Initiative, DS 25 (ca. 5 min): Wer am Zug ist, wird vorne entnommen und sofort hinten wieder angestellt (Rotation). Testdaten der Musterlösung: Aria, Borin, Cyra treten bei; amZug() liefert Aria, Borin, Cyra, Aria … – alle Zustände mit javac geprüft (nach dem 3. Aufruf ist die Schlange wieder Aria, Borin, Cyra). Gold = der gerade wieder hinten Angestellte. Für die Experten-Aufgabe ausscheiden(name) nur den Hinweis geben: Die Reihenfolge der übrigen muss bleiben, und es darf keine Endlosschleife entstehen, wenn der Name fehlt (häufigster Fehler laut Musterlösung; im Testrunner hängt dann der Test – ggf. Programm anhalten). Beide Lösungen sind richtig: Hilfsschlange oder genau Länge-mal rotieren.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Eignung beurteilen, Ende DS 25 (ca. 6 min): Abi-Operator „Beurteilen Sie die Eignung …“ (24N-B b, 26H-B f). Die Tabelle fasst die Kriterien zusammen; die Antwort besteht immer aus vier Teilen: Struktur, Zugriffsprinzip, Bezug zum Kontext, warum die anderen schlechter passen. Das Beispiel mit den Funksprüchen ist bewusst ein anderes als auf den Warm-up-Karten (W4-05 „Die richtige Struktur für den Hafen“ übt drei weitere Situationen und die Methodenköpfe). Häufiger Fehler: nur „Schlange, weil FIFO“ ohne Bezug zur Situation – das gibt höchstens die Hälfte der BE. Hinweis: Die dynamische Reihung ist am flexibelsten, aber man muss selbst auf die Indizes achten; Stapel und Schlange verhindern falsche Zugriffe schon durch ihre Schnittstelle.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Hilfsstapel, DS 26 (ca. 7 min): Muster-Tracetabelle (3) der Musterlösung als Bildfolge: enthaelt(s, "Gold") mit s = Wein, Gold, Holz (oben zuerst). Dunkel = die gerade umgeschichtete Kiste, gold umrandet = die gesuchte Kiste Gold. Phase 1 baut s vollständig ab und wertet dabei aus; Phase 2 schichtet alles zurück – zweimal umgedreht ist wieder die alte Reihenfolge. Mit javac geprüft: Rückgabe true, danach s = Wein, Gold, Holz, und es sind dieselben Kiste-Objekte (oberstes Objekt == Wein). Wichtig: auch nach dem Fund weiter abbauen bzw. vor dem return zurückschichten; mit „return true“ beim Fund bleibt nur Holz in s (ebenfalls geprüft). Unplugged-Variante: drei Bücher als Stapel, ein Schüler sucht ein Buch und muss den Stapel danach unverändert zurücklassen. Abi-Bezug: 23H-C c, 25H-B b, 25N-B l, 26H-B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Struktogramm und Schlange, DS 26 (ca. 6 min): Das Struktogramm ist das allgemeine Muster aus dem Gerüst-Kommentar „Stapel durchlaufen“ in EH-§5-Notation (Leerabfrage steckt in der Schleifenbedingung, „// … k auswerten …“ ist die Stelle für Zählen, Summieren, Suchen). Bei der Schlange gilt: Über eine Hilfsschlange zurück – Reihenfolge bleibt; alternativ n-mal rotieren, wenn n bekannt ist (die Schlange hat keine Längen-Operation!). Über einen Hilfsstapel dreht sich die Reihenfolge um – das ist genau umkehren aus Level 4.1 (Musterlösung, Tracetabelle (4): A B C → C B A; mit Hilfsschlange käme A B C heraus). Werte mit javac geprüft: summe(Schlange 4, 8, 15, 16, 23, 42) = 108, danach unverändert; zaehle(Stapel 42 … 4) = 6. Häufiger Fehler laut Musterlösung: Schlange über einen Hilfsstapel zurückgeschichtet → Reihenfolge umgedreht (Test basis_summe wird rot). Danach IDE-Level 4.3; Papier-Compiler-Kandidaten: enthaelt, durchschnittsGewicht.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Dynamische Reihung, DS 27 (ca. 6 min): Schnittstelle nach EH §4, in der IDE Klasse DynArray (nicht generisch, getItem liefert Object → Cast (Kiste)). Rechts die Wirkung von insertAt und delete auf die Ladeliste (erste vier Kisten der Standard-Ladung, dazu die Kiste Blei aus der Musterlösung); mit javac geprüft: insertAt(1, Blei) → Holz, Blei, Erz, Gold, Salz (Länge 5); delete(2) → Holz, Blei, Gold, Salz (Länge 4). Gestrichelt = Elemente, die ihren Index gewechselt haben. Besonderheit: insertAt(getLength(), x) hängt hinten an (wie append); getItem(getLength()) dagegen ist ein Laufzeitfehler (IndexOutOfBoundsException, geprüft). Unterschied zur Reihung aus Welt 2: Die Länge ist nicht fest, Einfügen und Löschen verschieben die Nachfolger automatisch. Warm-up-Karte W4-03 „Die Ladeliste wächst“ übt Befehlsfolgen.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Sortiert einfügen, DS 27 (ca. 7 min): Muster-Tracetabelle (6) der Musterlösung, Struktogramm in EH-§5-Notation (in Java mit Cast: Kiste x = (Kiste) d.getItem(pos)). Mit javac geprüft: d = Holz 3, Salz 3, Erz 5, Gold 8; einfuegenSortiert(d, Blei 3) → Holz 3, Salz 3, Blei 3, Erz 5, Gold 8; danach Anker 9 → hinten angehängt. Wichtig: In der Schleifenbedingung zuerst pos &lt; d.getLength() prüfen (Index?), sonst Laufzeitfehler bei der schwersten Kiste. ≥ statt &gt; setzt Blei vor die gleich schweren Kisten (Test erweiterung_einfuegenSortiert wird rot). Fügt man die Standard-Ladung nacheinander so ein, entsteht Holz 3, Salz 3, Erz 5, Wein 6, Gold 8, Tuch 8 (Hauptprogramm, geprüft) – das ist die Idee der Einfügesortierung (Experte). Abi-Bezug 24H-B g, 25N-A l, 26H-B b. Warm-up W4-10 „Sortiert verladen“ übt eine Variante.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delete in der Vorwärtsschleife, DS 27 (ca. 7 min): Muster-Tracetabelle (5) der Musterlösung (abspalten, Level 4.4 Experte). Beide Fassungen mit javac ausgeführt: Die for-Schleife erhöht i auch nach delete(1) – Tuch rutscht auf Index 1 und wird übersprungen: schwer = Gold, d = Holz, Tuch, Erz. Richtig: i nur im else-Zweig erhöhen → schwer = Gold, Tuch, d = Holz, Erz. Alternative: rückwärts laufen (dann für die neue Reihung insertAt(0, k) statt append, sonst dreht sich deren Reihenfolge um). Zweiter typischer Index-Fehler: Schleife bis i &lt;= d.getLength() → IndexOutOfBoundsException. Erst die Schüler die FALSCH-Spalte tracen lassen („Was liefert die Methode?“), dann aufdecken. Warm-up-Karte W4-09 „Der Ladekran verrutscht“ übt das Fehlerfinden an einer anderen Methode.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Vergleich, Ende DS 27 (ca. 4 min): Sicherung der Welt-4-Strukturen im Vergleich mit der Reihung aus Welt 0–2. Die Tabelle eignet sich als Spickzettel für den Boss (Werkzeugkarten). Hinweise: Die Reihung hat eine feste Länge – „Löschen“ geht nur durch Verschieben und einen eigenen Zähler (wie das Inventar in Welt 1). Die dynamische Reihung erledigt das Verschieben selbst, deshalb ändern sich die Indizes. Stapel und Schlange haben keine Indizes und keine Längen-Operation – dafür sind falsche Zugriffe in der Mitte gar nicht möglich. Zeile „Vor dem Zugriff“ ist der Abi-Check „Leer? Index?“. Zeile „Signatur“ ist die EH-Notation; im Java-Kopf steht nur DynArray, Stack, Queue (der Inhaltstyp steckt im 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Umformen, DS 28 (ca. 5 min): Level 4.5 Basis. Mit javac geprüft (die ersten drei Kisten der Standard-Ladung): schlangeZuDynArray(q) liefert d = Holz, Erz, Gold (vorne → Index 0), q ist danach wieder Holz, Erz, Gold – mit denselben Kiste-Objekten; dynArrayZuStapel(d) liefert s mit Gold oben, d bleibt unverändert. Beim reinen Umladen braucht man keinen Cast: push und enqueue nehmen Object, getItem liefert Object. Ein Cast ist erst nötig, wenn man auf die Kiste zugreift (getGewicht). Typischer Fehler: q in schlangeZuDynArray nicht wiederhergestellt (Test basis_schlangeZuDynArray), bzw. von hinten gepusht. Abi-Bezug: 22N-A c/d, 25N-B 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Klammerprüfung, DS 28 (ca. 7 min): Muster-Tracetabelle (7) der Musterlösung. Öffnende Klammern werden gepusht (gold = gerade gepusht), bei einer schließenden wird die zuletzt geöffnete entnommen und verglichen – das ist LIFO. Mit javac geprüft: klammernOk("{[()]}") = true, ebenso "(a+b)*[c-{d}]", "{[()()]}", "()[]{}", "Hafen" und "" (andere Zeichen werden ignoriert); false für "(]", "())" und "}" sowie die weiteren Testfälle der Musterlösung. Drei Wege zu false: Art passt nicht; schließende Klammer bei leerem Stapel (hier MUSS vorher isEmpty() gefragt werden); am Ende noch etwas auf dem Stapel (darum return offen.isEmpty() statt return true). Cast: char wird beim push automatisch verpackt, beim pop (Character) – vor dem Einsatz in der IDE prüfen. Die Warm-up-Karte W4-12 „Klammern im Logbuch“ trainiert weitere Ausdrücke – deren Ergebnisse nicht vorab besprechen. Abi-Bezug 23H-B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Postfix-Rechner, DS 28 (ca. 7 min): Muster-Tracetabelle (8) der Musterlösung (Level 4.5 Experte). Ziffern werden gepusht (gold = neu oben), bei einem Operator werden zwei Werte entnommen: ZUERST b (rechter Operand), DANN a; gepusht wird a op b. Mit javac geprüft: postfix("34+2*") = 14, postfix("93-") = 6 (mit vertauschten Operanden käme −6 heraus), (int) '3' = 51. Lösung zu „Jetzt du“: "2534+*-": 2 | 5 2 | 3 5 2 | 4 3 5 2 | + → 7 5 2 | * → 35 2 | − → 2 − 35 = −33 (geprüft). Die Ziffer muss umgerechnet werden: push(c) würde ein Character speichern → später ClassCastException beim (Integer)-Cast; push((int) c) speichert den ASCII-Wert. Warm-up-Karte W4-13 „Der Postfix-Rechner des Zollamts“ hat einen anderen Ausdruck. Abi-Bezug 25N-B 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Flood-Fill iterativ, DS 29 – Kür-Stunde (ca. 8 min): Die Höhle aus Welt 3 (Kartenbuch.hoehle(), Start S = (1, 1)), gelüftet wie lueften – aber ohne Rekursion: Die noch zu bearbeitenden Positionen liegen in einer Schlange bzw. einem Stapel (Position als eine Ganzzahl z · 1000 + s, markiert wird beim Einfügen, Nachbarn oben, rechts, unten, links). Die Zahlen sind die Reihenfolge des Markierens (Attribut spur der Musterlösung), mit javac geprüft: Schlange (1,1) (1,2) (2,1) (1,3) (2,2) (3,1) (1,4) (3,2) (1,5) (2,4) (3,3) (2,5) (3,4) (3,5); Stapel (1,1) (1,2) (2,1) (2,2) (3,1) (3,2) (3,3) (3,4) (2,4) (3,5) (2,5) (1,5) (1,4) (1,3). Beide liefern 12 und dieselbe Endkarte. Die Schlange arbeitet in Wellen (erst Abstand 1, dann 2 …), der Stapel läuft erst einen Gang bis zum Ende – wie die Rekursion in Welt 3. Größte Füllung: Schlange 3, Stapel 4 Positionen (nachgerechnet). Denkanstoß Aufwand: Baut man die Schlange mit einer DynArray nach (append hinten, getItem(0) und delete(0) vorne), muss bei jedem delete(0) der Rest nachrücken – n Elemente entnehmen kostet dann etwa n · n / 2 Verschiebungen statt konstantem Aufwand pro Operation. Warm-up W4-14 „Die Flut im Hafenbecken“ übt dasselbe auf einer anderen Karte.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Eigener Stapel, DS 29 Experte (ca. 6 min): So könnte Stack innen gebaut sein – die Schnittstelle bleibt gleich (Folie „Abstrakter Datentyp“). Klassenkarten wie im Gerüst (EH §6, Assoziation als einfache Linie). Zeigerbild mit den Daten des Hauptprogramms der Musterlösung: push("Erz"), push("Holz"), push("Gold") → kopf zeigt auf Gold → Holz → Erz → null; pop() liefert "Gold", danach zeigt kopf auf Holz; Abbau ergibt Gold Holz Erz (mit javac geprüft; pop auf leerem MeinStapel wirft IllegalStateException „Der Stapel ist leer.“). Der Code selbst ist die Experten-Aufgabe – auf der Folie stehen nur die Regeln. Typische Fehler: push mit new Knoten(inhalt, null) verliert den Rest; pop liefert den Inhalt des NEUEN kopf; ohne Leerabfrage NullPointerException statt IllegalStateException. Die Tests vergleichen MeinStapel mit Stack in 400 zufälligen Befehlen (fester Startwert).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Abi-Format, Ende DS 29 (ca. 8 min): So sind die „unverändert“-Aufgaben im Abitur formuliert (25H-B b, 25N-B l, 26H-B e) – Operator „Implementieren Sie“, Signatur in EH-Notation, Zusatzbedingung „unverändert“. Erst die Aufgabe zeigen, 10 Minuten auf Papier (≈ 2,5 min pro BE), dann die Musterantwort aufdecken. Code 1:1 aus der Musterlösung (Level 4.3 Erweiterung) – in DS 26 schon in der IDE gelöst, jetzt handschriftlich als Papier-Compiler-Training. Mit javac geprüft: Standard-Ladung am Kai (Holz 3, Erz 5, Gold 8, Salz 3, Tuch 8, Wein 6) → 5.5, q danach unverändert; leere Schlange → 0.0; mit ganzzahliger Division summe / anzahl käme 5 heraus. Typische Punktverluste: Leerfall vergessen, Hilfsstapel statt Hilfsschlange (Reihenfolge umgedreht), Cast fehlt, int-Division, return mitten in der Schleife. Mögliche Verteilung der 5 BE nach eigener Gewichtung festlegen (z. B. Leerfall, Durchlauf mit Cast, Summe/Anzahl, Wiederherstellen, Kommazahl-Ergebnis).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Boss-Vorschau am Ende von DS 29 (ca. 2 min): Nur den Rahmen nennen, keine Aufgaben verraten. Boss 4 „Die Fähre von Nebelhafen“: 60 Minuten, 24 BE, AFB-Mischung wie im Abitur, Papier ohne Gerät; ein Auszug der ADT-Schnittstellen (EH §4, mit dem Hinweis auf die Casts der Online-IDE) liegt als Hilfsmittel bei. Abgefragt wird das Handwerk von Welt 4 in einem neuen Kontext. Direkt danach der Papier-Compiler: Die Implementierung aus dem Boss wird unverändert in der Online-IDE abgetippt (Ergebnis im Heft ankreuzen; typische Fallen: fehlende Leer- und Indexabfragen). Zur Vorbereitung die Warm-up-Karten W4-01 bis W4-14 (auch im Warm-up-Trainer des Algo Quest Lab), die Lab-Level 4.1–4.6, der Trainingsplatz Welt 4 und der Online-Boss „Die Postkutschenstation“ (25 min, bester Versuch zählt) und die Abi-Check-Karte: vor top/pop/head/dequeue isEmpty(), bei DynArray 0 ≤ i &lt; getLength(), Struktur unverändert lassen, Casts beim Entnehmen, Zeichenketten mit equals.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Q Titel">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rtlCol="0"/>
          <a:lstStyle>
            <a:lvl1pPr indent="0" marL="0">
              <a:buNone/>
              <a:defRPr lang="en-US" sz="3000" dirty="0">
                <a:solidFill>
                  <a:schemeClr val="bg2"/>
                </a:solidFill>
              </a:defRPr>
            </a:lvl1pPr>
          </a:lstStyle>
          <a:p>
            <a:pP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Q 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accent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accent6"/>
                </a:solidFill>
              </a:rPr>
              <a:t>Informatik LK · Algo Quest · Welt 4 – Der Hafen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Q Dunkel">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bg2"/>
                </a:solidFill>
              </a:rPr>
              <a:t>Informatik LK · Algo Quest · Welt 4 – Der Hafen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3.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4.xml"/><Relationship Id="rId7"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lIns="0" tIns="0" rIns="0" bIns="0" rtlCol="0" anchor="t"/>
          <a:lstStyle/>
          <a:p>
            <a:pPr indent="0" marL="0">
              <a:buNone/>
            </a:pPr>
            <a:r>
              <a:rPr lang="en-US" sz="1800" b="1" spc="200" kern="0" dirty="0">
                <a:solidFill>
                  <a:schemeClr val="accent2"/>
                </a:solidFill>
              </a:rPr>
              <a:t>INFORMATIK LK · WELT 4 · DS 24–30</a:t>
            </a: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lIns="0" tIns="0" rIns="0" bIns="0" rtlCol="0" anchor="t"/>
          <a:lstStyle/>
          <a:p>
            <a:pPr algn="l" indent="0" marL="0">
              <a:buNone/>
            </a:pPr>
            <a:r>
              <a:rPr lang="en-US" sz="6000" b="1" dirty="0">
                <a:solidFill>
                  <a:schemeClr val="bg1"/>
                </a:solidFill>
              </a:rPr>
              <a:t>Der Hafen</a:t>
            </a: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lIns="0" tIns="0" rIns="0" bIns="0" rtlCol="0" anchor="t"/>
          <a:lstStyle/>
          <a:p>
            <a:pPr indent="0" marL="0">
              <a:buNone/>
            </a:pPr>
            <a:r>
              <a:rPr lang="en-US" sz="3000" dirty="0">
                <a:solidFill>
                  <a:schemeClr val="bg2"/>
                </a:solidFill>
              </a:rPr>
              <a:t>Stapel, Schlange, dynamische Reihung</a:t>
            </a:r>
            <a:endParaRPr lang="en-US" sz="3000" dirty="0"/>
          </a:p>
        </p:txBody>
      </p:sp>
      <p:sp>
        <p:nvSpPr>
          <p:cNvPr id="5" name="Icon-Kreis"/>
          <p:cNvSpPr/>
          <p:nvPr/>
        </p:nvSpPr>
        <p:spPr>
          <a:xfrm>
            <a:off x="8229600" y="1325880"/>
            <a:ext cx="3200400" cy="3200400"/>
          </a:xfrm>
          <a:prstGeom prst="ellipse">
            <a:avLst/>
          </a:prstGeom>
          <a:solidFill>
            <a:schemeClr val="accent1"/>
          </a:solidFill>
          <a:ln w="63500">
            <a:solidFill>
              <a:schemeClr val="accent2"/>
            </a:solidFill>
            <a:prstDash val="solid"/>
          </a:ln>
        </p:spPr>
      </p:sp>
      <p:pic>
        <p:nvPicPr>
          <p:cNvPr id="6" name="Icon GiAnchor" descr="preencoded.png">    </p:cNvPr>
          <p:cNvPicPr>
            <a:picLocks noChangeAspect="1"/>
          </p:cNvPicPr>
          <p:nvPr/>
        </p:nvPicPr>
        <p:blipFill>
          <a:blip r:embed="rId1"/>
          <a:stretch>
            <a:fillRect/>
          </a:stretch>
        </p:blipFill>
        <p:spPr>
          <a:xfrm>
            <a:off x="8869680" y="1965960"/>
            <a:ext cx="1920240" cy="1920240"/>
          </a:xfrm>
          <a:prstGeom prst="rect">
            <a:avLst/>
          </a:prstGeom>
        </p:spPr>
      </p:pic>
      <p:sp>
        <p:nvSpPr>
          <p:cNvPr id="7" name="Linie"/>
          <p:cNvSpPr/>
          <p:nvPr/>
        </p:nvSpPr>
        <p:spPr>
          <a:xfrm>
            <a:off x="1554480" y="4983480"/>
            <a:ext cx="292608" cy="91"/>
          </a:xfrm>
          <a:prstGeom prst="line">
            <a:avLst/>
          </a:prstGeom>
          <a:noFill/>
          <a:ln w="31750">
            <a:solidFill>
              <a:schemeClr val="accent2"/>
            </a:solidFill>
            <a:prstDash val="sysDot"/>
          </a:ln>
        </p:spPr>
      </p:sp>
      <p:sp>
        <p:nvSpPr>
          <p:cNvPr id="8" name="Chip"/>
          <p:cNvSpPr txBox="1"/>
          <p:nvPr/>
        </p:nvSpPr>
        <p:spPr>
          <a:xfrm>
            <a:off x="731520" y="4773168"/>
            <a:ext cx="82296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L4.1</a:t>
            </a:r>
            <a:endParaRPr lang="en-US" sz="1500" dirty="0"/>
          </a:p>
        </p:txBody>
      </p:sp>
      <p:sp>
        <p:nvSpPr>
          <p:cNvPr id="9" name="Linie"/>
          <p:cNvSpPr/>
          <p:nvPr/>
        </p:nvSpPr>
        <p:spPr>
          <a:xfrm>
            <a:off x="2670048" y="4983480"/>
            <a:ext cx="292608" cy="91"/>
          </a:xfrm>
          <a:prstGeom prst="line">
            <a:avLst/>
          </a:prstGeom>
          <a:noFill/>
          <a:ln w="31750">
            <a:solidFill>
              <a:schemeClr val="accent2"/>
            </a:solidFill>
            <a:prstDash val="sysDot"/>
          </a:ln>
        </p:spPr>
      </p:sp>
      <p:sp>
        <p:nvSpPr>
          <p:cNvPr id="10" name="Chip"/>
          <p:cNvSpPr txBox="1"/>
          <p:nvPr/>
        </p:nvSpPr>
        <p:spPr>
          <a:xfrm>
            <a:off x="1847088" y="4773168"/>
            <a:ext cx="822960" cy="420624"/>
          </a:xfrm>
          <a:prstGeom prst="roundRect">
            <a:avLst>
              <a:gd name="adj" fmla="val 50000"/>
            </a:avLst>
          </a:prstGeom>
          <a:solidFill>
            <a:schemeClr val="accent2"/>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L4.2</a:t>
            </a:r>
            <a:endParaRPr lang="en-US" sz="1500" dirty="0"/>
          </a:p>
        </p:txBody>
      </p:sp>
      <p:sp>
        <p:nvSpPr>
          <p:cNvPr id="11" name="Linie"/>
          <p:cNvSpPr/>
          <p:nvPr/>
        </p:nvSpPr>
        <p:spPr>
          <a:xfrm>
            <a:off x="3785616" y="4983480"/>
            <a:ext cx="292608" cy="91"/>
          </a:xfrm>
          <a:prstGeom prst="line">
            <a:avLst/>
          </a:prstGeom>
          <a:noFill/>
          <a:ln w="31750">
            <a:solidFill>
              <a:schemeClr val="accent2"/>
            </a:solidFill>
            <a:prstDash val="sysDot"/>
          </a:ln>
        </p:spPr>
      </p:sp>
      <p:sp>
        <p:nvSpPr>
          <p:cNvPr id="12" name="Chip"/>
          <p:cNvSpPr txBox="1"/>
          <p:nvPr/>
        </p:nvSpPr>
        <p:spPr>
          <a:xfrm>
            <a:off x="2962656" y="4773168"/>
            <a:ext cx="82296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L4.3</a:t>
            </a:r>
            <a:endParaRPr lang="en-US" sz="1500" dirty="0"/>
          </a:p>
        </p:txBody>
      </p:sp>
      <p:sp>
        <p:nvSpPr>
          <p:cNvPr id="13" name="Linie"/>
          <p:cNvSpPr/>
          <p:nvPr/>
        </p:nvSpPr>
        <p:spPr>
          <a:xfrm>
            <a:off x="4901184" y="4983480"/>
            <a:ext cx="292608" cy="91"/>
          </a:xfrm>
          <a:prstGeom prst="line">
            <a:avLst/>
          </a:prstGeom>
          <a:noFill/>
          <a:ln w="31750">
            <a:solidFill>
              <a:schemeClr val="accent2"/>
            </a:solidFill>
            <a:prstDash val="sysDot"/>
          </a:ln>
        </p:spPr>
      </p:sp>
      <p:sp>
        <p:nvSpPr>
          <p:cNvPr id="14" name="Chip"/>
          <p:cNvSpPr txBox="1"/>
          <p:nvPr/>
        </p:nvSpPr>
        <p:spPr>
          <a:xfrm>
            <a:off x="4078224" y="4773168"/>
            <a:ext cx="82296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L4.4</a:t>
            </a:r>
            <a:endParaRPr lang="en-US" sz="1500" dirty="0"/>
          </a:p>
        </p:txBody>
      </p:sp>
      <p:sp>
        <p:nvSpPr>
          <p:cNvPr id="15" name="Linie"/>
          <p:cNvSpPr/>
          <p:nvPr/>
        </p:nvSpPr>
        <p:spPr>
          <a:xfrm>
            <a:off x="6016752" y="4983480"/>
            <a:ext cx="292608" cy="91"/>
          </a:xfrm>
          <a:prstGeom prst="line">
            <a:avLst/>
          </a:prstGeom>
          <a:noFill/>
          <a:ln w="31750">
            <a:solidFill>
              <a:schemeClr val="accent2"/>
            </a:solidFill>
            <a:prstDash val="sysDot"/>
          </a:ln>
        </p:spPr>
      </p:sp>
      <p:sp>
        <p:nvSpPr>
          <p:cNvPr id="16" name="Chip"/>
          <p:cNvSpPr txBox="1"/>
          <p:nvPr/>
        </p:nvSpPr>
        <p:spPr>
          <a:xfrm>
            <a:off x="5193792" y="4773168"/>
            <a:ext cx="82296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L4.5</a:t>
            </a:r>
            <a:endParaRPr lang="en-US" sz="1500" dirty="0"/>
          </a:p>
        </p:txBody>
      </p:sp>
      <p:sp>
        <p:nvSpPr>
          <p:cNvPr id="17" name="Linie"/>
          <p:cNvSpPr/>
          <p:nvPr/>
        </p:nvSpPr>
        <p:spPr>
          <a:xfrm>
            <a:off x="7132320" y="4983480"/>
            <a:ext cx="292608" cy="91"/>
          </a:xfrm>
          <a:prstGeom prst="line">
            <a:avLst/>
          </a:prstGeom>
          <a:noFill/>
          <a:ln w="31750">
            <a:solidFill>
              <a:schemeClr val="accent2"/>
            </a:solidFill>
            <a:prstDash val="sysDot"/>
          </a:ln>
        </p:spPr>
      </p:sp>
      <p:sp>
        <p:nvSpPr>
          <p:cNvPr id="18" name="Chip"/>
          <p:cNvSpPr txBox="1"/>
          <p:nvPr/>
        </p:nvSpPr>
        <p:spPr>
          <a:xfrm>
            <a:off x="6309360" y="4773168"/>
            <a:ext cx="822960" cy="420624"/>
          </a:xfrm>
          <a:prstGeom prst="roundRect">
            <a:avLst>
              <a:gd name="adj" fmla="val 50000"/>
            </a:avLst>
          </a:prstGeom>
          <a:solidFill>
            <a:schemeClr val="accent2"/>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L4.6</a:t>
            </a:r>
            <a:endParaRPr lang="en-US" sz="1500" dirty="0"/>
          </a:p>
        </p:txBody>
      </p:sp>
      <p:sp>
        <p:nvSpPr>
          <p:cNvPr id="19" name="Chip"/>
          <p:cNvSpPr txBox="1"/>
          <p:nvPr/>
        </p:nvSpPr>
        <p:spPr>
          <a:xfrm>
            <a:off x="7424928" y="4773168"/>
            <a:ext cx="822960" cy="420624"/>
          </a:xfrm>
          <a:prstGeom prst="roundRect">
            <a:avLst>
              <a:gd name="adj" fmla="val 50000"/>
            </a:avLst>
          </a:prstGeom>
          <a:solidFill>
            <a:schemeClr val="accent4"/>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BOSS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Der Hafen im Überblick</a:t>
            </a:r>
            <a:endParaRPr lang="en-US" sz="3600" dirty="0"/>
          </a:p>
        </p:txBody>
      </p:sp>
      <p:sp>
        <p:nvSpPr>
          <p:cNvPr id="3" name="IDE-Level 4.1"/>
          <p:cNvSpPr/>
          <p:nvPr/>
        </p:nvSpPr>
        <p:spPr>
          <a:xfrm>
            <a:off x="548640" y="1325880"/>
            <a:ext cx="1481328" cy="4023360"/>
          </a:xfrm>
          <a:prstGeom prst="roundRect">
            <a:avLst>
              <a:gd name="adj" fmla="val 7407"/>
            </a:avLst>
          </a:prstGeom>
          <a:solidFill>
            <a:schemeClr val="bg1"/>
          </a:solidFill>
          <a:ln/>
          <a:effectLst>
            <a:outerShdw sx="100000" sy="100000" kx="0" ky="0" algn="bl" rotWithShape="0" blurRad="76200" dist="25400" dir="5400000">
              <a:srgbClr val="000000">
                <a:alpha val="18000"/>
              </a:srgbClr>
            </a:outerShdw>
          </a:effectLst>
        </p:spPr>
      </p:sp>
      <p:sp>
        <p:nvSpPr>
          <p:cNvPr id="4" name="Icon-Kreis"/>
          <p:cNvSpPr/>
          <p:nvPr/>
        </p:nvSpPr>
        <p:spPr>
          <a:xfrm>
            <a:off x="877824" y="1508760"/>
            <a:ext cx="822960" cy="822960"/>
          </a:xfrm>
          <a:prstGeom prst="ellipse">
            <a:avLst/>
          </a:prstGeom>
          <a:solidFill>
            <a:schemeClr val="accent1"/>
          </a:solidFill>
          <a:ln/>
        </p:spPr>
      </p:sp>
      <p:pic>
        <p:nvPicPr>
          <p:cNvPr id="5" name="Icon GiStack" descr="preencoded.png">    </p:cNvPr>
          <p:cNvPicPr>
            <a:picLocks noChangeAspect="1"/>
          </p:cNvPicPr>
          <p:nvPr/>
        </p:nvPicPr>
        <p:blipFill>
          <a:blip r:embed="rId1"/>
          <a:stretch>
            <a:fillRect/>
          </a:stretch>
        </p:blipFill>
        <p:spPr>
          <a:xfrm>
            <a:off x="1058875" y="1689811"/>
            <a:ext cx="460858" cy="460858"/>
          </a:xfrm>
          <a:prstGeom prst="rect">
            <a:avLst/>
          </a:prstGeom>
        </p:spPr>
      </p:pic>
      <p:sp>
        <p:nvSpPr>
          <p:cNvPr id="6" name="Chip"/>
          <p:cNvSpPr txBox="1"/>
          <p:nvPr/>
        </p:nvSpPr>
        <p:spPr>
          <a:xfrm>
            <a:off x="649224" y="2487168"/>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24</a:t>
            </a:r>
            <a:endParaRPr lang="en-US" sz="1400" dirty="0"/>
          </a:p>
        </p:txBody>
      </p:sp>
      <p:sp>
        <p:nvSpPr>
          <p:cNvPr id="7" name="Text 4"/>
          <p:cNvSpPr txBox="1"/>
          <p:nvPr/>
        </p:nvSpPr>
        <p:spPr>
          <a:xfrm>
            <a:off x="603504" y="2944368"/>
            <a:ext cx="1371600" cy="914400"/>
          </a:xfrm>
          <a:prstGeom prst="rect">
            <a:avLst/>
          </a:prstGeom>
          <a:noFill/>
          <a:ln/>
        </p:spPr>
        <p:txBody>
          <a:bodyPr wrap="square" lIns="0" tIns="0" rIns="0" bIns="0" rtlCol="0" anchor="t"/>
          <a:lstStyle/>
          <a:p>
            <a:pPr algn="ctr" indent="0" marL="0">
              <a:buNone/>
            </a:pPr>
            <a:r>
              <a:rPr lang="en-US" sz="1400" b="1" dirty="0">
                <a:solidFill>
                  <a:schemeClr val="accent6"/>
                </a:solidFill>
              </a:rPr>
              <a:t>IDE-Level 4.1</a:t>
            </a:r>
            <a:endParaRPr lang="en-US" sz="1800" dirty="0"/>
          </a:p>
          <a:p>
            <a:pPr algn="ctr" indent="0" marL="0">
              <a:buNone/>
            </a:pPr>
            <a:r>
              <a:rPr lang="en-US" sz="1700" b="1" dirty="0">
                <a:solidFill>
                  <a:schemeClr val="accent1"/>
                </a:solidFill>
              </a:rPr>
              <a:t>Stapel und Schlange</a:t>
            </a:r>
            <a:endParaRPr lang="en-US" sz="1800" dirty="0"/>
          </a:p>
        </p:txBody>
      </p:sp>
      <p:sp>
        <p:nvSpPr>
          <p:cNvPr id="8" name="Text 5"/>
          <p:cNvSpPr txBox="1"/>
          <p:nvPr/>
        </p:nvSpPr>
        <p:spPr>
          <a:xfrm>
            <a:off x="640080" y="3886200"/>
            <a:ext cx="1298448" cy="960120"/>
          </a:xfrm>
          <a:prstGeom prst="rect">
            <a:avLst/>
          </a:prstGeom>
          <a:noFill/>
          <a:ln/>
        </p:spPr>
        <p:txBody>
          <a:bodyPr wrap="square" lIns="0" tIns="0" rIns="0" bIns="0" rtlCol="0" anchor="t"/>
          <a:lstStyle/>
          <a:p>
            <a:pPr algn="ctr" indent="0" marL="0">
              <a:buNone/>
            </a:pPr>
            <a:r>
              <a:rPr lang="en-US" sz="1400" dirty="0">
                <a:solidFill>
                  <a:schemeClr val="tx1"/>
                </a:solidFill>
              </a:rPr>
              <a:t>LIFO, FIFO, Casten, Leer-Abfrage</a:t>
            </a:r>
            <a:endParaRPr lang="en-US" sz="1400" dirty="0"/>
          </a:p>
        </p:txBody>
      </p:sp>
      <p:sp>
        <p:nvSpPr>
          <p:cNvPr id="9" name="Text 6"/>
          <p:cNvSpPr txBox="1"/>
          <p:nvPr/>
        </p:nvSpPr>
        <p:spPr>
          <a:xfrm>
            <a:off x="603504" y="4919472"/>
            <a:ext cx="1371600" cy="320040"/>
          </a:xfrm>
          <a:prstGeom prst="rect">
            <a:avLst/>
          </a:prstGeom>
          <a:noFill/>
          <a:ln/>
        </p:spPr>
        <p:txBody>
          <a:bodyPr wrap="square" lIns="0" tIns="0" rIns="0" bIns="0" rtlCol="0" anchor="t"/>
          <a:lstStyle/>
          <a:p>
            <a:pPr algn="ctr" indent="0" marL="0">
              <a:buNone/>
            </a:pPr>
            <a:r>
              <a:rPr lang="en-US" sz="1400" b="1" dirty="0">
                <a:solidFill>
                  <a:schemeClr val="accent2"/>
                </a:solidFill>
              </a:rPr>
              <a:t>Lab 4.1</a:t>
            </a:r>
            <a:endParaRPr lang="en-US" sz="1400" dirty="0"/>
          </a:p>
        </p:txBody>
      </p:sp>
      <p:sp>
        <p:nvSpPr>
          <p:cNvPr id="10" name="IDE-Level 4.2"/>
          <p:cNvSpPr/>
          <p:nvPr/>
        </p:nvSpPr>
        <p:spPr>
          <a:xfrm>
            <a:off x="2148840" y="1325880"/>
            <a:ext cx="1481328" cy="4023360"/>
          </a:xfrm>
          <a:prstGeom prst="roundRect">
            <a:avLst>
              <a:gd name="adj" fmla="val 7407"/>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11" name="Icon-Kreis"/>
          <p:cNvSpPr/>
          <p:nvPr/>
        </p:nvSpPr>
        <p:spPr>
          <a:xfrm>
            <a:off x="2478024" y="1508760"/>
            <a:ext cx="822960" cy="822960"/>
          </a:xfrm>
          <a:prstGeom prst="ellipse">
            <a:avLst/>
          </a:prstGeom>
          <a:solidFill>
            <a:schemeClr val="accent2"/>
          </a:solidFill>
          <a:ln/>
        </p:spPr>
      </p:sp>
      <p:pic>
        <p:nvPicPr>
          <p:cNvPr id="12" name="Icon GiBackwardTime" descr="preencoded.png">    </p:cNvPr>
          <p:cNvPicPr>
            <a:picLocks noChangeAspect="1"/>
          </p:cNvPicPr>
          <p:nvPr/>
        </p:nvPicPr>
        <p:blipFill>
          <a:blip r:embed="rId2"/>
          <a:stretch>
            <a:fillRect/>
          </a:stretch>
        </p:blipFill>
        <p:spPr>
          <a:xfrm>
            <a:off x="2659075" y="1689811"/>
            <a:ext cx="460858" cy="460858"/>
          </a:xfrm>
          <a:prstGeom prst="rect">
            <a:avLst/>
          </a:prstGeom>
        </p:spPr>
      </p:pic>
      <p:sp>
        <p:nvSpPr>
          <p:cNvPr id="13" name="Chip"/>
          <p:cNvSpPr txBox="1"/>
          <p:nvPr/>
        </p:nvSpPr>
        <p:spPr>
          <a:xfrm>
            <a:off x="2249424" y="2487168"/>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25 · Kür</a:t>
            </a:r>
            <a:endParaRPr lang="en-US" sz="1400" dirty="0"/>
          </a:p>
        </p:txBody>
      </p:sp>
      <p:sp>
        <p:nvSpPr>
          <p:cNvPr id="14" name="Text 10"/>
          <p:cNvSpPr txBox="1"/>
          <p:nvPr/>
        </p:nvSpPr>
        <p:spPr>
          <a:xfrm>
            <a:off x="2203704" y="2944368"/>
            <a:ext cx="1371600" cy="914400"/>
          </a:xfrm>
          <a:prstGeom prst="rect">
            <a:avLst/>
          </a:prstGeom>
          <a:noFill/>
          <a:ln/>
        </p:spPr>
        <p:txBody>
          <a:bodyPr wrap="square" lIns="0" tIns="0" rIns="0" bIns="0" rtlCol="0" anchor="t"/>
          <a:lstStyle/>
          <a:p>
            <a:pPr algn="ctr" indent="0" marL="0">
              <a:buNone/>
            </a:pPr>
            <a:r>
              <a:rPr lang="en-US" sz="1400" b="1" dirty="0">
                <a:solidFill>
                  <a:schemeClr val="accent6"/>
                </a:solidFill>
              </a:rPr>
              <a:t>IDE-Level 4.2</a:t>
            </a:r>
            <a:endParaRPr lang="en-US" sz="1800" dirty="0"/>
          </a:p>
          <a:p>
            <a:pPr algn="ctr" indent="0" marL="0">
              <a:buNone/>
            </a:pPr>
            <a:r>
              <a:rPr lang="en-US" sz="1700" b="1" dirty="0">
                <a:solidFill>
                  <a:schemeClr val="accent1"/>
                </a:solidFill>
              </a:rPr>
              <a:t>Spielmodule</a:t>
            </a:r>
            <a:endParaRPr lang="en-US" sz="1800" dirty="0"/>
          </a:p>
        </p:txBody>
      </p:sp>
      <p:sp>
        <p:nvSpPr>
          <p:cNvPr id="15" name="Text 11"/>
          <p:cNvSpPr txBox="1"/>
          <p:nvPr/>
        </p:nvSpPr>
        <p:spPr>
          <a:xfrm>
            <a:off x="2240280" y="3886200"/>
            <a:ext cx="1298448" cy="960120"/>
          </a:xfrm>
          <a:prstGeom prst="rect">
            <a:avLst/>
          </a:prstGeom>
          <a:noFill/>
          <a:ln/>
        </p:spPr>
        <p:txBody>
          <a:bodyPr wrap="square" lIns="0" tIns="0" rIns="0" bIns="0" rtlCol="0" anchor="t"/>
          <a:lstStyle/>
          <a:p>
            <a:pPr algn="ctr" indent="0" marL="0">
              <a:buNone/>
            </a:pPr>
            <a:r>
              <a:rPr lang="en-US" sz="1400" dirty="0">
                <a:solidFill>
                  <a:schemeClr val="tx1"/>
                </a:solidFill>
              </a:rPr>
              <a:t>Undo/Redo, Initiative, Eignung</a:t>
            </a:r>
            <a:endParaRPr lang="en-US" sz="1400" dirty="0"/>
          </a:p>
        </p:txBody>
      </p:sp>
      <p:sp>
        <p:nvSpPr>
          <p:cNvPr id="16" name="Text 12"/>
          <p:cNvSpPr txBox="1"/>
          <p:nvPr/>
        </p:nvSpPr>
        <p:spPr>
          <a:xfrm>
            <a:off x="2203704" y="4919472"/>
            <a:ext cx="1371600" cy="320040"/>
          </a:xfrm>
          <a:prstGeom prst="rect">
            <a:avLst/>
          </a:prstGeom>
          <a:noFill/>
          <a:ln/>
        </p:spPr>
        <p:txBody>
          <a:bodyPr wrap="square" lIns="0" tIns="0" rIns="0" bIns="0" rtlCol="0" anchor="t"/>
          <a:lstStyle/>
          <a:p>
            <a:pPr algn="ctr" indent="0" marL="0">
              <a:buNone/>
            </a:pPr>
            <a:r>
              <a:rPr lang="en-US" sz="1400" b="1" dirty="0">
                <a:solidFill>
                  <a:schemeClr val="accent2"/>
                </a:solidFill>
              </a:rPr>
              <a:t>Lab 4.2</a:t>
            </a:r>
            <a:endParaRPr lang="en-US" sz="1400" dirty="0"/>
          </a:p>
        </p:txBody>
      </p:sp>
      <p:sp>
        <p:nvSpPr>
          <p:cNvPr id="17" name="IDE-Level 4.3"/>
          <p:cNvSpPr/>
          <p:nvPr/>
        </p:nvSpPr>
        <p:spPr>
          <a:xfrm>
            <a:off x="3749040" y="1325880"/>
            <a:ext cx="1481328" cy="4023360"/>
          </a:xfrm>
          <a:prstGeom prst="roundRect">
            <a:avLst>
              <a:gd name="adj" fmla="val 7407"/>
            </a:avLst>
          </a:prstGeom>
          <a:solidFill>
            <a:schemeClr val="bg1"/>
          </a:solidFill>
          <a:ln/>
          <a:effectLst>
            <a:outerShdw sx="100000" sy="100000" kx="0" ky="0" algn="bl" rotWithShape="0" blurRad="76200" dist="25400" dir="5400000">
              <a:srgbClr val="000000">
                <a:alpha val="18000"/>
              </a:srgbClr>
            </a:outerShdw>
          </a:effectLst>
        </p:spPr>
      </p:sp>
      <p:sp>
        <p:nvSpPr>
          <p:cNvPr id="18" name="Icon-Kreis"/>
          <p:cNvSpPr/>
          <p:nvPr/>
        </p:nvSpPr>
        <p:spPr>
          <a:xfrm>
            <a:off x="4078224" y="1508760"/>
            <a:ext cx="822960" cy="822960"/>
          </a:xfrm>
          <a:prstGeom prst="ellipse">
            <a:avLst/>
          </a:prstGeom>
          <a:solidFill>
            <a:schemeClr val="accent1"/>
          </a:solidFill>
          <a:ln/>
        </p:spPr>
      </p:sp>
      <p:pic>
        <p:nvPicPr>
          <p:cNvPr id="19" name="Icon GiBackForth" descr="preencoded.png">    </p:cNvPr>
          <p:cNvPicPr>
            <a:picLocks noChangeAspect="1"/>
          </p:cNvPicPr>
          <p:nvPr/>
        </p:nvPicPr>
        <p:blipFill>
          <a:blip r:embed="rId3"/>
          <a:stretch>
            <a:fillRect/>
          </a:stretch>
        </p:blipFill>
        <p:spPr>
          <a:xfrm>
            <a:off x="4259275" y="1689811"/>
            <a:ext cx="460858" cy="460858"/>
          </a:xfrm>
          <a:prstGeom prst="rect">
            <a:avLst/>
          </a:prstGeom>
        </p:spPr>
      </p:pic>
      <p:sp>
        <p:nvSpPr>
          <p:cNvPr id="20" name="Chip"/>
          <p:cNvSpPr txBox="1"/>
          <p:nvPr/>
        </p:nvSpPr>
        <p:spPr>
          <a:xfrm>
            <a:off x="3849624" y="2487168"/>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26</a:t>
            </a:r>
            <a:endParaRPr lang="en-US" sz="1400" dirty="0"/>
          </a:p>
        </p:txBody>
      </p:sp>
      <p:sp>
        <p:nvSpPr>
          <p:cNvPr id="21" name="Text 16"/>
          <p:cNvSpPr txBox="1"/>
          <p:nvPr/>
        </p:nvSpPr>
        <p:spPr>
          <a:xfrm>
            <a:off x="3803904" y="2944368"/>
            <a:ext cx="1371600" cy="914400"/>
          </a:xfrm>
          <a:prstGeom prst="rect">
            <a:avLst/>
          </a:prstGeom>
          <a:noFill/>
          <a:ln/>
        </p:spPr>
        <p:txBody>
          <a:bodyPr wrap="square" lIns="0" tIns="0" rIns="0" bIns="0" rtlCol="0" anchor="t"/>
          <a:lstStyle/>
          <a:p>
            <a:pPr algn="ctr" indent="0" marL="0">
              <a:buNone/>
            </a:pPr>
            <a:r>
              <a:rPr lang="en-US" sz="1400" b="1" dirty="0">
                <a:solidFill>
                  <a:schemeClr val="accent6"/>
                </a:solidFill>
              </a:rPr>
              <a:t>IDE-Level 4.3</a:t>
            </a:r>
            <a:endParaRPr lang="en-US" sz="1800" dirty="0"/>
          </a:p>
          <a:p>
            <a:pPr algn="ctr" indent="0" marL="0">
              <a:buNone/>
            </a:pPr>
            <a:r>
              <a:rPr lang="en-US" sz="1700" b="1" dirty="0">
                <a:solidFill>
                  <a:schemeClr val="accent1"/>
                </a:solidFill>
              </a:rPr>
              <a:t>Unverändert</a:t>
            </a:r>
            <a:endParaRPr lang="en-US" sz="1800" dirty="0"/>
          </a:p>
        </p:txBody>
      </p:sp>
      <p:sp>
        <p:nvSpPr>
          <p:cNvPr id="22" name="Text 17"/>
          <p:cNvSpPr txBox="1"/>
          <p:nvPr/>
        </p:nvSpPr>
        <p:spPr>
          <a:xfrm>
            <a:off x="3840480" y="3886200"/>
            <a:ext cx="1298448" cy="960120"/>
          </a:xfrm>
          <a:prstGeom prst="rect">
            <a:avLst/>
          </a:prstGeom>
          <a:noFill/>
          <a:ln/>
        </p:spPr>
        <p:txBody>
          <a:bodyPr wrap="square" lIns="0" tIns="0" rIns="0" bIns="0" rtlCol="0" anchor="t"/>
          <a:lstStyle/>
          <a:p>
            <a:pPr algn="ctr" indent="0" marL="0">
              <a:buNone/>
            </a:pPr>
            <a:r>
              <a:rPr lang="en-US" sz="1400" dirty="0">
                <a:solidFill>
                  <a:schemeClr val="tx1"/>
                </a:solidFill>
              </a:rPr>
              <a:t>Hilfsstapel, Hilfs­schlange, Rotieren</a:t>
            </a:r>
            <a:endParaRPr lang="en-US" sz="1400" dirty="0"/>
          </a:p>
        </p:txBody>
      </p:sp>
      <p:sp>
        <p:nvSpPr>
          <p:cNvPr id="23" name="Text 18"/>
          <p:cNvSpPr txBox="1"/>
          <p:nvPr/>
        </p:nvSpPr>
        <p:spPr>
          <a:xfrm>
            <a:off x="3803904" y="4919472"/>
            <a:ext cx="1371600" cy="320040"/>
          </a:xfrm>
          <a:prstGeom prst="rect">
            <a:avLst/>
          </a:prstGeom>
          <a:noFill/>
          <a:ln/>
        </p:spPr>
        <p:txBody>
          <a:bodyPr wrap="square" lIns="0" tIns="0" rIns="0" bIns="0" rtlCol="0" anchor="t"/>
          <a:lstStyle/>
          <a:p>
            <a:pPr algn="ctr" indent="0" marL="0">
              <a:buNone/>
            </a:pPr>
            <a:r>
              <a:rPr lang="en-US" sz="1400" b="1" dirty="0">
                <a:solidFill>
                  <a:schemeClr val="accent2"/>
                </a:solidFill>
              </a:rPr>
              <a:t>Lab 4.3</a:t>
            </a:r>
            <a:endParaRPr lang="en-US" sz="1400" dirty="0"/>
          </a:p>
        </p:txBody>
      </p:sp>
      <p:sp>
        <p:nvSpPr>
          <p:cNvPr id="24" name="IDE-Level 4.4"/>
          <p:cNvSpPr/>
          <p:nvPr/>
        </p:nvSpPr>
        <p:spPr>
          <a:xfrm>
            <a:off x="5349240" y="1325880"/>
            <a:ext cx="1481328" cy="4023360"/>
          </a:xfrm>
          <a:prstGeom prst="roundRect">
            <a:avLst>
              <a:gd name="adj" fmla="val 7407"/>
            </a:avLst>
          </a:prstGeom>
          <a:solidFill>
            <a:schemeClr val="bg1"/>
          </a:solidFill>
          <a:ln/>
          <a:effectLst>
            <a:outerShdw sx="100000" sy="100000" kx="0" ky="0" algn="bl" rotWithShape="0" blurRad="76200" dist="25400" dir="5400000">
              <a:srgbClr val="000000">
                <a:alpha val="18000"/>
              </a:srgbClr>
            </a:outerShdw>
          </a:effectLst>
        </p:spPr>
      </p:sp>
      <p:sp>
        <p:nvSpPr>
          <p:cNvPr id="25" name="Icon-Kreis"/>
          <p:cNvSpPr/>
          <p:nvPr/>
        </p:nvSpPr>
        <p:spPr>
          <a:xfrm>
            <a:off x="5678424" y="1508760"/>
            <a:ext cx="822960" cy="822960"/>
          </a:xfrm>
          <a:prstGeom prst="ellipse">
            <a:avLst/>
          </a:prstGeom>
          <a:solidFill>
            <a:schemeClr val="accent1"/>
          </a:solidFill>
          <a:ln/>
        </p:spPr>
      </p:sp>
      <p:pic>
        <p:nvPicPr>
          <p:cNvPr id="26" name="Icon GiScrollUnfurled" descr="preencoded.png">    </p:cNvPr>
          <p:cNvPicPr>
            <a:picLocks noChangeAspect="1"/>
          </p:cNvPicPr>
          <p:nvPr/>
        </p:nvPicPr>
        <p:blipFill>
          <a:blip r:embed="rId4"/>
          <a:stretch>
            <a:fillRect/>
          </a:stretch>
        </p:blipFill>
        <p:spPr>
          <a:xfrm>
            <a:off x="5859475" y="1689811"/>
            <a:ext cx="460858" cy="460858"/>
          </a:xfrm>
          <a:prstGeom prst="rect">
            <a:avLst/>
          </a:prstGeom>
        </p:spPr>
      </p:pic>
      <p:sp>
        <p:nvSpPr>
          <p:cNvPr id="27" name="Chip"/>
          <p:cNvSpPr txBox="1"/>
          <p:nvPr/>
        </p:nvSpPr>
        <p:spPr>
          <a:xfrm>
            <a:off x="5449824" y="2487168"/>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27</a:t>
            </a:r>
            <a:endParaRPr lang="en-US" sz="1400" dirty="0"/>
          </a:p>
        </p:txBody>
      </p:sp>
      <p:sp>
        <p:nvSpPr>
          <p:cNvPr id="28" name="Text 22"/>
          <p:cNvSpPr txBox="1"/>
          <p:nvPr/>
        </p:nvSpPr>
        <p:spPr>
          <a:xfrm>
            <a:off x="5404104" y="2944368"/>
            <a:ext cx="1371600" cy="914400"/>
          </a:xfrm>
          <a:prstGeom prst="rect">
            <a:avLst/>
          </a:prstGeom>
          <a:noFill/>
          <a:ln/>
        </p:spPr>
        <p:txBody>
          <a:bodyPr wrap="square" lIns="0" tIns="0" rIns="0" bIns="0" rtlCol="0" anchor="t"/>
          <a:lstStyle/>
          <a:p>
            <a:pPr algn="ctr" indent="0" marL="0">
              <a:buNone/>
            </a:pPr>
            <a:r>
              <a:rPr lang="en-US" sz="1400" b="1" dirty="0">
                <a:solidFill>
                  <a:schemeClr val="accent6"/>
                </a:solidFill>
              </a:rPr>
              <a:t>IDE-Level 4.4</a:t>
            </a:r>
            <a:endParaRPr lang="en-US" sz="1800" dirty="0"/>
          </a:p>
          <a:p>
            <a:pPr algn="ctr" indent="0" marL="0">
              <a:buNone/>
            </a:pPr>
            <a:r>
              <a:rPr lang="en-US" sz="1700" b="1" dirty="0">
                <a:solidFill>
                  <a:schemeClr val="accent1"/>
                </a:solidFill>
              </a:rPr>
              <a:t>Ladeliste</a:t>
            </a:r>
            <a:endParaRPr lang="en-US" sz="1800" dirty="0"/>
          </a:p>
        </p:txBody>
      </p:sp>
      <p:sp>
        <p:nvSpPr>
          <p:cNvPr id="29" name="Text 23"/>
          <p:cNvSpPr txBox="1"/>
          <p:nvPr/>
        </p:nvSpPr>
        <p:spPr>
          <a:xfrm>
            <a:off x="5440680" y="3886200"/>
            <a:ext cx="1298448" cy="960120"/>
          </a:xfrm>
          <a:prstGeom prst="rect">
            <a:avLst/>
          </a:prstGeom>
          <a:noFill/>
          <a:ln/>
        </p:spPr>
        <p:txBody>
          <a:bodyPr wrap="square" lIns="0" tIns="0" rIns="0" bIns="0" rtlCol="0" anchor="t"/>
          <a:lstStyle/>
          <a:p>
            <a:pPr algn="ctr" indent="0" marL="0">
              <a:buNone/>
            </a:pPr>
            <a:r>
              <a:rPr lang="en-US" sz="1400" dirty="0">
                <a:solidFill>
                  <a:schemeClr val="tx1"/>
                </a:solidFill>
              </a:rPr>
              <a:t>DynArray, sortiert einfügen, löschen</a:t>
            </a:r>
            <a:endParaRPr lang="en-US" sz="1400" dirty="0"/>
          </a:p>
        </p:txBody>
      </p:sp>
      <p:sp>
        <p:nvSpPr>
          <p:cNvPr id="30" name="Text 24"/>
          <p:cNvSpPr txBox="1"/>
          <p:nvPr/>
        </p:nvSpPr>
        <p:spPr>
          <a:xfrm>
            <a:off x="5404104" y="4919472"/>
            <a:ext cx="1371600" cy="320040"/>
          </a:xfrm>
          <a:prstGeom prst="rect">
            <a:avLst/>
          </a:prstGeom>
          <a:noFill/>
          <a:ln/>
        </p:spPr>
        <p:txBody>
          <a:bodyPr wrap="square" lIns="0" tIns="0" rIns="0" bIns="0" rtlCol="0" anchor="t"/>
          <a:lstStyle/>
          <a:p>
            <a:pPr algn="ctr" indent="0" marL="0">
              <a:buNone/>
            </a:pPr>
            <a:r>
              <a:rPr lang="en-US" sz="1400" b="1" dirty="0">
                <a:solidFill>
                  <a:schemeClr val="accent2"/>
                </a:solidFill>
              </a:rPr>
              <a:t>Lab 4.4</a:t>
            </a:r>
            <a:endParaRPr lang="en-US" sz="1400" dirty="0"/>
          </a:p>
        </p:txBody>
      </p:sp>
      <p:sp>
        <p:nvSpPr>
          <p:cNvPr id="31" name="IDE-Level 4.5"/>
          <p:cNvSpPr/>
          <p:nvPr/>
        </p:nvSpPr>
        <p:spPr>
          <a:xfrm>
            <a:off x="6949440" y="1325880"/>
            <a:ext cx="1481328" cy="4023360"/>
          </a:xfrm>
          <a:prstGeom prst="roundRect">
            <a:avLst>
              <a:gd name="adj" fmla="val 7407"/>
            </a:avLst>
          </a:prstGeom>
          <a:solidFill>
            <a:schemeClr val="bg1"/>
          </a:solidFill>
          <a:ln/>
          <a:effectLst>
            <a:outerShdw sx="100000" sy="100000" kx="0" ky="0" algn="bl" rotWithShape="0" blurRad="76200" dist="25400" dir="5400000">
              <a:srgbClr val="000000">
                <a:alpha val="18000"/>
              </a:srgbClr>
            </a:outerShdw>
          </a:effectLst>
        </p:spPr>
      </p:sp>
      <p:sp>
        <p:nvSpPr>
          <p:cNvPr id="32" name="Icon-Kreis"/>
          <p:cNvSpPr/>
          <p:nvPr/>
        </p:nvSpPr>
        <p:spPr>
          <a:xfrm>
            <a:off x="7278624" y="1508760"/>
            <a:ext cx="822960" cy="822960"/>
          </a:xfrm>
          <a:prstGeom prst="ellipse">
            <a:avLst/>
          </a:prstGeom>
          <a:solidFill>
            <a:schemeClr val="accent1"/>
          </a:solidFill>
          <a:ln/>
        </p:spPr>
      </p:sp>
      <p:pic>
        <p:nvPicPr>
          <p:cNvPr id="33" name="Icon GiCalculator" descr="preencoded.png">    </p:cNvPr>
          <p:cNvPicPr>
            <a:picLocks noChangeAspect="1"/>
          </p:cNvPicPr>
          <p:nvPr/>
        </p:nvPicPr>
        <p:blipFill>
          <a:blip r:embed="rId5"/>
          <a:stretch>
            <a:fillRect/>
          </a:stretch>
        </p:blipFill>
        <p:spPr>
          <a:xfrm>
            <a:off x="7459675" y="1689811"/>
            <a:ext cx="460858" cy="460858"/>
          </a:xfrm>
          <a:prstGeom prst="rect">
            <a:avLst/>
          </a:prstGeom>
        </p:spPr>
      </p:pic>
      <p:sp>
        <p:nvSpPr>
          <p:cNvPr id="34" name="Chip"/>
          <p:cNvSpPr txBox="1"/>
          <p:nvPr/>
        </p:nvSpPr>
        <p:spPr>
          <a:xfrm>
            <a:off x="7050024" y="2487168"/>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28</a:t>
            </a:r>
            <a:endParaRPr lang="en-US" sz="1400" dirty="0"/>
          </a:p>
        </p:txBody>
      </p:sp>
      <p:sp>
        <p:nvSpPr>
          <p:cNvPr id="35" name="Text 28"/>
          <p:cNvSpPr txBox="1"/>
          <p:nvPr/>
        </p:nvSpPr>
        <p:spPr>
          <a:xfrm>
            <a:off x="7004304" y="2944368"/>
            <a:ext cx="1371600" cy="914400"/>
          </a:xfrm>
          <a:prstGeom prst="rect">
            <a:avLst/>
          </a:prstGeom>
          <a:noFill/>
          <a:ln/>
        </p:spPr>
        <p:txBody>
          <a:bodyPr wrap="square" lIns="0" tIns="0" rIns="0" bIns="0" rtlCol="0" anchor="t"/>
          <a:lstStyle/>
          <a:p>
            <a:pPr algn="ctr" indent="0" marL="0">
              <a:buNone/>
            </a:pPr>
            <a:r>
              <a:rPr lang="en-US" sz="1400" b="1" dirty="0">
                <a:solidFill>
                  <a:schemeClr val="accent6"/>
                </a:solidFill>
              </a:rPr>
              <a:t>IDE-Level 4.5</a:t>
            </a:r>
            <a:endParaRPr lang="en-US" sz="1800" dirty="0"/>
          </a:p>
          <a:p>
            <a:pPr algn="ctr" indent="0" marL="0">
              <a:buNone/>
            </a:pPr>
            <a:r>
              <a:rPr lang="en-US" sz="1700" b="1" dirty="0">
                <a:solidFill>
                  <a:schemeClr val="accent1"/>
                </a:solidFill>
              </a:rPr>
              <a:t>Umformen</a:t>
            </a:r>
            <a:endParaRPr lang="en-US" sz="1800" dirty="0"/>
          </a:p>
        </p:txBody>
      </p:sp>
      <p:sp>
        <p:nvSpPr>
          <p:cNvPr id="36" name="Text 29"/>
          <p:cNvSpPr txBox="1"/>
          <p:nvPr/>
        </p:nvSpPr>
        <p:spPr>
          <a:xfrm>
            <a:off x="7040880" y="3886200"/>
            <a:ext cx="1298448" cy="960120"/>
          </a:xfrm>
          <a:prstGeom prst="rect">
            <a:avLst/>
          </a:prstGeom>
          <a:noFill/>
          <a:ln/>
        </p:spPr>
        <p:txBody>
          <a:bodyPr wrap="square" lIns="0" tIns="0" rIns="0" bIns="0" rtlCol="0" anchor="t"/>
          <a:lstStyle/>
          <a:p>
            <a:pPr algn="ctr" indent="0" marL="0">
              <a:buNone/>
            </a:pPr>
            <a:r>
              <a:rPr lang="en-US" sz="1400" dirty="0">
                <a:solidFill>
                  <a:schemeClr val="tx1"/>
                </a:solidFill>
              </a:rPr>
              <a:t>Klammer­prüfung, Postfix-Rechner</a:t>
            </a:r>
            <a:endParaRPr lang="en-US" sz="1400" dirty="0"/>
          </a:p>
        </p:txBody>
      </p:sp>
      <p:sp>
        <p:nvSpPr>
          <p:cNvPr id="37" name="Text 30"/>
          <p:cNvSpPr txBox="1"/>
          <p:nvPr/>
        </p:nvSpPr>
        <p:spPr>
          <a:xfrm>
            <a:off x="7004304" y="4919472"/>
            <a:ext cx="1371600" cy="320040"/>
          </a:xfrm>
          <a:prstGeom prst="rect">
            <a:avLst/>
          </a:prstGeom>
          <a:noFill/>
          <a:ln/>
        </p:spPr>
        <p:txBody>
          <a:bodyPr wrap="square" lIns="0" tIns="0" rIns="0" bIns="0" rtlCol="0" anchor="t"/>
          <a:lstStyle/>
          <a:p>
            <a:pPr algn="ctr" indent="0" marL="0">
              <a:buNone/>
            </a:pPr>
            <a:r>
              <a:rPr lang="en-US" sz="1400" b="1" dirty="0">
                <a:solidFill>
                  <a:schemeClr val="accent2"/>
                </a:solidFill>
              </a:rPr>
              <a:t>Lab 4.5</a:t>
            </a:r>
            <a:endParaRPr lang="en-US" sz="1400" dirty="0"/>
          </a:p>
        </p:txBody>
      </p:sp>
      <p:sp>
        <p:nvSpPr>
          <p:cNvPr id="38" name="IDE-Level 4.6"/>
          <p:cNvSpPr/>
          <p:nvPr/>
        </p:nvSpPr>
        <p:spPr>
          <a:xfrm>
            <a:off x="8549640" y="1325880"/>
            <a:ext cx="1481328" cy="4023360"/>
          </a:xfrm>
          <a:prstGeom prst="roundRect">
            <a:avLst>
              <a:gd name="adj" fmla="val 7407"/>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39" name="Icon-Kreis"/>
          <p:cNvSpPr/>
          <p:nvPr/>
        </p:nvSpPr>
        <p:spPr>
          <a:xfrm>
            <a:off x="8878824" y="1508760"/>
            <a:ext cx="822960" cy="822960"/>
          </a:xfrm>
          <a:prstGeom prst="ellipse">
            <a:avLst/>
          </a:prstGeom>
          <a:solidFill>
            <a:schemeClr val="accent2"/>
          </a:solidFill>
          <a:ln/>
        </p:spPr>
      </p:sp>
      <p:pic>
        <p:nvPicPr>
          <p:cNvPr id="40" name="Icon GiFlood" descr="preencoded.png">    </p:cNvPr>
          <p:cNvPicPr>
            <a:picLocks noChangeAspect="1"/>
          </p:cNvPicPr>
          <p:nvPr/>
        </p:nvPicPr>
        <p:blipFill>
          <a:blip r:embed="rId6"/>
          <a:stretch>
            <a:fillRect/>
          </a:stretch>
        </p:blipFill>
        <p:spPr>
          <a:xfrm>
            <a:off x="9059875" y="1689811"/>
            <a:ext cx="460858" cy="460858"/>
          </a:xfrm>
          <a:prstGeom prst="rect">
            <a:avLst/>
          </a:prstGeom>
        </p:spPr>
      </p:pic>
      <p:sp>
        <p:nvSpPr>
          <p:cNvPr id="41" name="Chip"/>
          <p:cNvSpPr txBox="1"/>
          <p:nvPr/>
        </p:nvSpPr>
        <p:spPr>
          <a:xfrm>
            <a:off x="8650224" y="2487168"/>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29 · Kür</a:t>
            </a:r>
            <a:endParaRPr lang="en-US" sz="1400" dirty="0"/>
          </a:p>
        </p:txBody>
      </p:sp>
      <p:sp>
        <p:nvSpPr>
          <p:cNvPr id="42" name="Text 34"/>
          <p:cNvSpPr txBox="1"/>
          <p:nvPr/>
        </p:nvSpPr>
        <p:spPr>
          <a:xfrm>
            <a:off x="8604504" y="2944368"/>
            <a:ext cx="1371600" cy="914400"/>
          </a:xfrm>
          <a:prstGeom prst="rect">
            <a:avLst/>
          </a:prstGeom>
          <a:noFill/>
          <a:ln/>
        </p:spPr>
        <p:txBody>
          <a:bodyPr wrap="square" lIns="0" tIns="0" rIns="0" bIns="0" rtlCol="0" anchor="t"/>
          <a:lstStyle/>
          <a:p>
            <a:pPr algn="ctr" indent="0" marL="0">
              <a:buNone/>
            </a:pPr>
            <a:r>
              <a:rPr lang="en-US" sz="1400" b="1" dirty="0">
                <a:solidFill>
                  <a:schemeClr val="accent6"/>
                </a:solidFill>
              </a:rPr>
              <a:t>IDE-Level 4.6</a:t>
            </a:r>
            <a:endParaRPr lang="en-US" sz="1800" dirty="0"/>
          </a:p>
          <a:p>
            <a:pPr algn="ctr" indent="0" marL="0">
              <a:buNone/>
            </a:pPr>
            <a:r>
              <a:rPr lang="en-US" sz="1700" b="1" dirty="0">
                <a:solidFill>
                  <a:schemeClr val="accent1"/>
                </a:solidFill>
              </a:rPr>
              <a:t>Expertenpfad</a:t>
            </a:r>
            <a:endParaRPr lang="en-US" sz="1800" dirty="0"/>
          </a:p>
        </p:txBody>
      </p:sp>
      <p:sp>
        <p:nvSpPr>
          <p:cNvPr id="43" name="Text 35"/>
          <p:cNvSpPr txBox="1"/>
          <p:nvPr/>
        </p:nvSpPr>
        <p:spPr>
          <a:xfrm>
            <a:off x="8641080" y="3886200"/>
            <a:ext cx="1298448" cy="960120"/>
          </a:xfrm>
          <a:prstGeom prst="rect">
            <a:avLst/>
          </a:prstGeom>
          <a:noFill/>
          <a:ln/>
        </p:spPr>
        <p:txBody>
          <a:bodyPr wrap="square" lIns="0" tIns="0" rIns="0" bIns="0" rtlCol="0" anchor="t"/>
          <a:lstStyle/>
          <a:p>
            <a:pPr algn="ctr" indent="0" marL="0">
              <a:buNone/>
            </a:pPr>
            <a:r>
              <a:rPr lang="en-US" sz="1400" dirty="0">
                <a:solidFill>
                  <a:schemeClr val="tx1"/>
                </a:solidFill>
              </a:rPr>
              <a:t>Flood-Fill iterativ, eigener Stapel</a:t>
            </a:r>
            <a:endParaRPr lang="en-US" sz="1400" dirty="0"/>
          </a:p>
        </p:txBody>
      </p:sp>
      <p:sp>
        <p:nvSpPr>
          <p:cNvPr id="44" name="Text 36"/>
          <p:cNvSpPr txBox="1"/>
          <p:nvPr/>
        </p:nvSpPr>
        <p:spPr>
          <a:xfrm>
            <a:off x="8604504" y="4919472"/>
            <a:ext cx="1371600" cy="320040"/>
          </a:xfrm>
          <a:prstGeom prst="rect">
            <a:avLst/>
          </a:prstGeom>
          <a:noFill/>
          <a:ln/>
        </p:spPr>
        <p:txBody>
          <a:bodyPr wrap="square" lIns="0" tIns="0" rIns="0" bIns="0" rtlCol="0" anchor="t"/>
          <a:lstStyle/>
          <a:p>
            <a:pPr algn="ctr" indent="0" marL="0">
              <a:buNone/>
            </a:pPr>
            <a:r>
              <a:rPr lang="en-US" sz="1400" b="1" dirty="0">
                <a:solidFill>
                  <a:schemeClr val="accent2"/>
                </a:solidFill>
              </a:rPr>
              <a:t>Lab 4.6</a:t>
            </a:r>
            <a:endParaRPr lang="en-US" sz="1400" dirty="0"/>
          </a:p>
        </p:txBody>
      </p:sp>
      <p:sp>
        <p:nvSpPr>
          <p:cNvPr id="45" name="Boss 4"/>
          <p:cNvSpPr/>
          <p:nvPr/>
        </p:nvSpPr>
        <p:spPr>
          <a:xfrm>
            <a:off x="10149840" y="1325880"/>
            <a:ext cx="1481328" cy="4023360"/>
          </a:xfrm>
          <a:prstGeom prst="roundRect">
            <a:avLst>
              <a:gd name="adj" fmla="val 7407"/>
            </a:avLst>
          </a:prstGeom>
          <a:solidFill>
            <a:schemeClr val="accent4"/>
          </a:solidFill>
          <a:ln/>
          <a:effectLst>
            <a:outerShdw sx="100000" sy="100000" kx="0" ky="0" algn="bl" rotWithShape="0" blurRad="76200" dist="25400" dir="5400000">
              <a:srgbClr val="000000">
                <a:alpha val="18000"/>
              </a:srgbClr>
            </a:outerShdw>
          </a:effectLst>
        </p:spPr>
      </p:sp>
      <p:sp>
        <p:nvSpPr>
          <p:cNvPr id="46" name="Icon-Kreis"/>
          <p:cNvSpPr/>
          <p:nvPr/>
        </p:nvSpPr>
        <p:spPr>
          <a:xfrm>
            <a:off x="10479024" y="1508760"/>
            <a:ext cx="822960" cy="822960"/>
          </a:xfrm>
          <a:prstGeom prst="ellipse">
            <a:avLst/>
          </a:prstGeom>
          <a:solidFill>
            <a:schemeClr val="bg1"/>
          </a:solidFill>
          <a:ln/>
        </p:spPr>
      </p:sp>
      <p:pic>
        <p:nvPicPr>
          <p:cNvPr id="47" name="Icon GiLighthouse" descr="preencoded.png">    </p:cNvPr>
          <p:cNvPicPr>
            <a:picLocks noChangeAspect="1"/>
          </p:cNvPicPr>
          <p:nvPr/>
        </p:nvPicPr>
        <p:blipFill>
          <a:blip r:embed="rId7"/>
          <a:stretch>
            <a:fillRect/>
          </a:stretch>
        </p:blipFill>
        <p:spPr>
          <a:xfrm>
            <a:off x="10660075" y="1689811"/>
            <a:ext cx="460858" cy="460858"/>
          </a:xfrm>
          <a:prstGeom prst="rect">
            <a:avLst/>
          </a:prstGeom>
        </p:spPr>
      </p:pic>
      <p:sp>
        <p:nvSpPr>
          <p:cNvPr id="48" name="Chip"/>
          <p:cNvSpPr txBox="1"/>
          <p:nvPr/>
        </p:nvSpPr>
        <p:spPr>
          <a:xfrm>
            <a:off x="10250424" y="2487168"/>
            <a:ext cx="12801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DS 30</a:t>
            </a:r>
            <a:endParaRPr lang="en-US" sz="1400" dirty="0"/>
          </a:p>
        </p:txBody>
      </p:sp>
      <p:sp>
        <p:nvSpPr>
          <p:cNvPr id="49" name="Text 40"/>
          <p:cNvSpPr txBox="1"/>
          <p:nvPr/>
        </p:nvSpPr>
        <p:spPr>
          <a:xfrm>
            <a:off x="10204704" y="2944368"/>
            <a:ext cx="1371600" cy="914400"/>
          </a:xfrm>
          <a:prstGeom prst="rect">
            <a:avLst/>
          </a:prstGeom>
          <a:noFill/>
          <a:ln/>
        </p:spPr>
        <p:txBody>
          <a:bodyPr wrap="square" lIns="0" tIns="0" rIns="0" bIns="0" rtlCol="0" anchor="t"/>
          <a:lstStyle/>
          <a:p>
            <a:pPr algn="ctr" indent="0" marL="0">
              <a:buNone/>
            </a:pPr>
            <a:r>
              <a:rPr lang="en-US" sz="1400" b="1" dirty="0">
                <a:solidFill>
                  <a:schemeClr val="bg1"/>
                </a:solidFill>
              </a:rPr>
              <a:t>Boss 4</a:t>
            </a:r>
            <a:endParaRPr lang="en-US" sz="1800" dirty="0"/>
          </a:p>
          <a:p>
            <a:pPr algn="ctr" indent="0" marL="0">
              <a:buNone/>
            </a:pPr>
            <a:r>
              <a:rPr lang="en-US" sz="1700" b="1" dirty="0">
                <a:solidFill>
                  <a:schemeClr val="bg1"/>
                </a:solidFill>
              </a:rPr>
              <a:t>Nebelhafen</a:t>
            </a:r>
            <a:endParaRPr lang="en-US" sz="1800" dirty="0"/>
          </a:p>
        </p:txBody>
      </p:sp>
      <p:sp>
        <p:nvSpPr>
          <p:cNvPr id="50" name="Text 41"/>
          <p:cNvSpPr txBox="1"/>
          <p:nvPr/>
        </p:nvSpPr>
        <p:spPr>
          <a:xfrm>
            <a:off x="10241280" y="3886200"/>
            <a:ext cx="1298448" cy="960120"/>
          </a:xfrm>
          <a:prstGeom prst="rect">
            <a:avLst/>
          </a:prstGeom>
          <a:noFill/>
          <a:ln/>
        </p:spPr>
        <p:txBody>
          <a:bodyPr wrap="square" lIns="0" tIns="0" rIns="0" bIns="0" rtlCol="0" anchor="t"/>
          <a:lstStyle/>
          <a:p>
            <a:pPr algn="ctr" indent="0" marL="0">
              <a:buNone/>
            </a:pPr>
            <a:r>
              <a:rPr lang="en-US" sz="1400" dirty="0">
                <a:solidFill>
                  <a:schemeClr val="bg1"/>
                </a:solidFill>
              </a:rPr>
              <a:t>Abi auf Zeit: 24 BE in 60 min</a:t>
            </a:r>
            <a:endParaRPr lang="en-US" sz="1400" dirty="0"/>
          </a:p>
        </p:txBody>
      </p:sp>
      <p:sp>
        <p:nvSpPr>
          <p:cNvPr id="51" name="Text 42"/>
          <p:cNvSpPr txBox="1"/>
          <p:nvPr/>
        </p:nvSpPr>
        <p:spPr>
          <a:xfrm>
            <a:off x="10204704" y="4919472"/>
            <a:ext cx="1371600" cy="320040"/>
          </a:xfrm>
          <a:prstGeom prst="rect">
            <a:avLst/>
          </a:prstGeom>
          <a:noFill/>
          <a:ln/>
        </p:spPr>
        <p:txBody>
          <a:bodyPr wrap="square" lIns="0" tIns="0" rIns="0" bIns="0" rtlCol="0" anchor="t"/>
          <a:lstStyle/>
          <a:p>
            <a:pPr algn="ctr" indent="0" marL="0">
              <a:buNone/>
            </a:pPr>
            <a:r>
              <a:rPr lang="en-US" sz="1400" b="1" dirty="0">
                <a:solidFill>
                  <a:schemeClr val="bg1"/>
                </a:solidFill>
              </a:rPr>
              <a:t>+ Online-Boss</a:t>
            </a:r>
            <a:endParaRPr lang="en-US" sz="1400" dirty="0"/>
          </a:p>
        </p:txBody>
      </p:sp>
      <p:sp>
        <p:nvSpPr>
          <p:cNvPr id="52" name="Roter Faden"/>
          <p:cNvSpPr/>
          <p:nvPr/>
        </p:nvSpPr>
        <p:spPr>
          <a:xfrm>
            <a:off x="548640" y="5532120"/>
            <a:ext cx="11064240" cy="594360"/>
          </a:xfrm>
          <a:prstGeom prst="roundRect">
            <a:avLst>
              <a:gd name="adj" fmla="val 18462"/>
            </a:avLst>
          </a:prstGeom>
          <a:solidFill>
            <a:schemeClr val="bg2"/>
          </a:solidFill>
          <a:ln/>
        </p:spPr>
      </p:sp>
      <p:sp>
        <p:nvSpPr>
          <p:cNvPr id="53" name="Text 44"/>
          <p:cNvSpPr txBox="1"/>
          <p:nvPr/>
        </p:nvSpPr>
        <p:spPr>
          <a:xfrm>
            <a:off x="777240" y="5532120"/>
            <a:ext cx="10698480" cy="594360"/>
          </a:xfrm>
          <a:prstGeom prst="rect">
            <a:avLst/>
          </a:prstGeom>
          <a:noFill/>
          <a:ln/>
        </p:spPr>
        <p:txBody>
          <a:bodyPr wrap="square" lIns="0" tIns="0" rIns="0" bIns="0" rtlCol="0" anchor="ctr"/>
          <a:lstStyle/>
          <a:p>
            <a:pPr indent="0" marL="0">
              <a:buNone/>
            </a:pPr>
            <a:r>
              <a:rPr lang="en-US" sz="1700" b="1" dirty="0">
                <a:solidFill>
                  <a:schemeClr val="accent1"/>
                </a:solidFill>
              </a:rPr>
              <a:t>Roter Faden: </a:t>
            </a:r>
            <a:pPr indent="0" marL="0">
              <a:buNone/>
            </a:pPr>
            <a:r>
              <a:rPr lang="en-US" sz="1700" dirty="0">
                <a:solidFill>
                  <a:schemeClr val="tx1"/>
                </a:solidFill>
              </a:rPr>
              <a:t>Die Struktur bestimmt, wer als Nächstes drankommt – und vor jedem Zugriff fragst du: Leer? Index?</a:t>
            </a:r>
            <a:endParaRPr lang="en-US" sz="1700" dirty="0"/>
          </a:p>
        </p:txBody>
      </p:sp>
      <p:sp>
        <p:nvSpPr>
          <p:cNvPr id="54" name="Text 45"/>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24 · Start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Datenstrukturen im Alltag: Wer kommt als Nächstes dran?</a:t>
            </a:r>
            <a:endParaRPr lang="en-US" sz="3600" dirty="0"/>
          </a:p>
        </p:txBody>
      </p:sp>
      <p:sp>
        <p:nvSpPr>
          <p:cNvPr id="3" name="Tellerstapel"/>
          <p:cNvSpPr/>
          <p:nvPr/>
        </p:nvSpPr>
        <p:spPr>
          <a:xfrm>
            <a:off x="548640" y="1325880"/>
            <a:ext cx="3566160" cy="3886200"/>
          </a:xfrm>
          <a:prstGeom prst="roundRect">
            <a:avLst>
              <a:gd name="adj" fmla="val 307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731520" y="1463040"/>
            <a:ext cx="3200400" cy="365760"/>
          </a:xfrm>
          <a:prstGeom prst="rect">
            <a:avLst/>
          </a:prstGeom>
          <a:noFill/>
          <a:ln/>
        </p:spPr>
        <p:txBody>
          <a:bodyPr wrap="square" lIns="0" tIns="0" rIns="0" bIns="0" rtlCol="0" anchor="t"/>
          <a:lstStyle/>
          <a:p>
            <a:pPr algn="ctr" indent="0" marL="0">
              <a:buNone/>
            </a:pPr>
            <a:r>
              <a:rPr lang="en-US" sz="2000" b="1" dirty="0">
                <a:solidFill>
                  <a:schemeClr val="accent1"/>
                </a:solidFill>
              </a:rPr>
              <a:t>Tellerstapel</a:t>
            </a:r>
            <a:endParaRPr lang="en-US" sz="2000" dirty="0"/>
          </a:p>
        </p:txBody>
      </p:sp>
      <p:sp>
        <p:nvSpPr>
          <p:cNvPr id="5" name="Chip"/>
          <p:cNvSpPr txBox="1"/>
          <p:nvPr/>
        </p:nvSpPr>
        <p:spPr>
          <a:xfrm>
            <a:off x="1097280" y="3840480"/>
            <a:ext cx="246888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Stapel · LIFO</a:t>
            </a:r>
            <a:endParaRPr lang="en-US" sz="1500" dirty="0"/>
          </a:p>
        </p:txBody>
      </p:sp>
      <p:sp>
        <p:nvSpPr>
          <p:cNvPr id="6" name="Text 4"/>
          <p:cNvSpPr txBox="1"/>
          <p:nvPr/>
        </p:nvSpPr>
        <p:spPr>
          <a:xfrm>
            <a:off x="731520" y="4315968"/>
            <a:ext cx="3200400" cy="777240"/>
          </a:xfrm>
          <a:prstGeom prst="rect">
            <a:avLst/>
          </a:prstGeom>
          <a:noFill/>
          <a:ln/>
        </p:spPr>
        <p:txBody>
          <a:bodyPr wrap="square" lIns="0" tIns="0" rIns="0" bIns="0" rtlCol="0" anchor="t"/>
          <a:lstStyle/>
          <a:p>
            <a:pPr algn="ctr" indent="0" marL="0">
              <a:buNone/>
            </a:pPr>
            <a:r>
              <a:rPr lang="en-US" sz="1500" dirty="0">
                <a:solidFill>
                  <a:schemeClr val="tx1"/>
                </a:solidFill>
              </a:rPr>
              <a:t>Wer zuletzt draufgelegt wurde, wird zuerst genommen.</a:t>
            </a:r>
            <a:endParaRPr lang="en-US" sz="1500" dirty="0"/>
          </a:p>
        </p:txBody>
      </p:sp>
      <p:sp>
        <p:nvSpPr>
          <p:cNvPr id="7" name="Kasse im Hafenladen"/>
          <p:cNvSpPr/>
          <p:nvPr/>
        </p:nvSpPr>
        <p:spPr>
          <a:xfrm>
            <a:off x="4297680" y="1325880"/>
            <a:ext cx="3566160" cy="3886200"/>
          </a:xfrm>
          <a:prstGeom prst="roundRect">
            <a:avLst>
              <a:gd name="adj" fmla="val 307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4480560" y="1463040"/>
            <a:ext cx="3200400" cy="365760"/>
          </a:xfrm>
          <a:prstGeom prst="rect">
            <a:avLst/>
          </a:prstGeom>
          <a:noFill/>
          <a:ln/>
        </p:spPr>
        <p:txBody>
          <a:bodyPr wrap="square" lIns="0" tIns="0" rIns="0" bIns="0" rtlCol="0" anchor="t"/>
          <a:lstStyle/>
          <a:p>
            <a:pPr algn="ctr" indent="0" marL="0">
              <a:buNone/>
            </a:pPr>
            <a:r>
              <a:rPr lang="en-US" sz="2000" b="1" dirty="0">
                <a:solidFill>
                  <a:schemeClr val="accent1"/>
                </a:solidFill>
              </a:rPr>
              <a:t>Kasse im Hafenladen</a:t>
            </a:r>
            <a:endParaRPr lang="en-US" sz="2000" dirty="0"/>
          </a:p>
        </p:txBody>
      </p:sp>
      <p:sp>
        <p:nvSpPr>
          <p:cNvPr id="9" name="Chip"/>
          <p:cNvSpPr txBox="1"/>
          <p:nvPr/>
        </p:nvSpPr>
        <p:spPr>
          <a:xfrm>
            <a:off x="4846320" y="3840480"/>
            <a:ext cx="246888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Schlange · FIFO</a:t>
            </a:r>
            <a:endParaRPr lang="en-US" sz="1500" dirty="0"/>
          </a:p>
        </p:txBody>
      </p:sp>
      <p:sp>
        <p:nvSpPr>
          <p:cNvPr id="10" name="Text 8"/>
          <p:cNvSpPr txBox="1"/>
          <p:nvPr/>
        </p:nvSpPr>
        <p:spPr>
          <a:xfrm>
            <a:off x="4480560" y="4315968"/>
            <a:ext cx="3200400" cy="777240"/>
          </a:xfrm>
          <a:prstGeom prst="rect">
            <a:avLst/>
          </a:prstGeom>
          <a:noFill/>
          <a:ln/>
        </p:spPr>
        <p:txBody>
          <a:bodyPr wrap="square" lIns="0" tIns="0" rIns="0" bIns="0" rtlCol="0" anchor="t"/>
          <a:lstStyle/>
          <a:p>
            <a:pPr algn="ctr" indent="0" marL="0">
              <a:buNone/>
            </a:pPr>
            <a:r>
              <a:rPr lang="en-US" sz="1500" dirty="0">
                <a:solidFill>
                  <a:schemeClr val="tx1"/>
                </a:solidFill>
              </a:rPr>
              <a:t>Wer sich zuerst angestellt hat, zahlt zuerst.</a:t>
            </a:r>
            <a:endParaRPr lang="en-US" sz="1500" dirty="0"/>
          </a:p>
        </p:txBody>
      </p:sp>
      <p:sp>
        <p:nvSpPr>
          <p:cNvPr id="11" name="Ladeliste"/>
          <p:cNvSpPr/>
          <p:nvPr/>
        </p:nvSpPr>
        <p:spPr>
          <a:xfrm>
            <a:off x="8046720" y="1325880"/>
            <a:ext cx="3566160" cy="3886200"/>
          </a:xfrm>
          <a:prstGeom prst="roundRect">
            <a:avLst>
              <a:gd name="adj" fmla="val 307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12" name="Text 10"/>
          <p:cNvSpPr txBox="1"/>
          <p:nvPr/>
        </p:nvSpPr>
        <p:spPr>
          <a:xfrm>
            <a:off x="8229600" y="1463040"/>
            <a:ext cx="3200400" cy="365760"/>
          </a:xfrm>
          <a:prstGeom prst="rect">
            <a:avLst/>
          </a:prstGeom>
          <a:noFill/>
          <a:ln/>
        </p:spPr>
        <p:txBody>
          <a:bodyPr wrap="square" lIns="0" tIns="0" rIns="0" bIns="0" rtlCol="0" anchor="t"/>
          <a:lstStyle/>
          <a:p>
            <a:pPr algn="ctr" indent="0" marL="0">
              <a:buNone/>
            </a:pPr>
            <a:r>
              <a:rPr lang="en-US" sz="2000" b="1" dirty="0">
                <a:solidFill>
                  <a:schemeClr val="accent1"/>
                </a:solidFill>
              </a:rPr>
              <a:t>Ladeliste</a:t>
            </a:r>
            <a:endParaRPr lang="en-US" sz="2000" dirty="0"/>
          </a:p>
        </p:txBody>
      </p:sp>
      <p:sp>
        <p:nvSpPr>
          <p:cNvPr id="13" name="Chip"/>
          <p:cNvSpPr txBox="1"/>
          <p:nvPr/>
        </p:nvSpPr>
        <p:spPr>
          <a:xfrm>
            <a:off x="8595360" y="3840480"/>
            <a:ext cx="2468880" cy="384048"/>
          </a:xfrm>
          <a:prstGeom prst="roundRect">
            <a:avLst>
              <a:gd name="adj" fmla="val 50000"/>
            </a:avLst>
          </a:prstGeom>
          <a:solidFill>
            <a:schemeClr val="accent6"/>
          </a:solidFill>
          <a:ln/>
        </p:spPr>
        <p:txBody>
          <a:bodyPr wrap="square" lIns="0" tIns="0" rIns="0" bIns="0" rtlCol="0" anchor="ctr"/>
          <a:lstStyle/>
          <a:p>
            <a:pPr algn="ctr" indent="0" marL="0">
              <a:buNone/>
            </a:pPr>
            <a:r>
              <a:rPr lang="en-US" sz="1500" b="1" dirty="0">
                <a:solidFill>
                  <a:schemeClr val="bg1"/>
                </a:solidFill>
              </a:rPr>
              <a:t>dynamische Reihung</a:t>
            </a:r>
            <a:endParaRPr lang="en-US" sz="1500" dirty="0"/>
          </a:p>
        </p:txBody>
      </p:sp>
      <p:sp>
        <p:nvSpPr>
          <p:cNvPr id="14" name="Text 12"/>
          <p:cNvSpPr txBox="1"/>
          <p:nvPr/>
        </p:nvSpPr>
        <p:spPr>
          <a:xfrm>
            <a:off x="8229600" y="4315968"/>
            <a:ext cx="3200400" cy="777240"/>
          </a:xfrm>
          <a:prstGeom prst="rect">
            <a:avLst/>
          </a:prstGeom>
          <a:noFill/>
          <a:ln/>
        </p:spPr>
        <p:txBody>
          <a:bodyPr wrap="square" lIns="0" tIns="0" rIns="0" bIns="0" rtlCol="0" anchor="t"/>
          <a:lstStyle/>
          <a:p>
            <a:pPr algn="ctr" indent="0" marL="0">
              <a:buNone/>
            </a:pPr>
            <a:r>
              <a:rPr lang="en-US" sz="1500" dirty="0">
                <a:solidFill>
                  <a:schemeClr val="tx1"/>
                </a:solidFill>
              </a:rPr>
              <a:t>Zugriff auf jede Zeile über ihre Nummer – einfügen und streichen überall.</a:t>
            </a:r>
            <a:endParaRPr lang="en-US" sz="1500" dirty="0"/>
          </a:p>
        </p:txBody>
      </p:sp>
      <p:sp>
        <p:nvSpPr>
          <p:cNvPr id="15" name="Teller 1"/>
          <p:cNvSpPr/>
          <p:nvPr/>
        </p:nvSpPr>
        <p:spPr>
          <a:xfrm>
            <a:off x="1325880" y="3429000"/>
            <a:ext cx="2011680" cy="182880"/>
          </a:xfrm>
          <a:prstGeom prst="roundRect">
            <a:avLst>
              <a:gd name="adj" fmla="val 50000"/>
            </a:avLst>
          </a:prstGeom>
          <a:solidFill>
            <a:schemeClr val="bg1"/>
          </a:solidFill>
          <a:ln w="19050">
            <a:solidFill>
              <a:schemeClr val="accent1"/>
            </a:solidFill>
            <a:prstDash val="solid"/>
          </a:ln>
        </p:spPr>
      </p:sp>
      <p:sp>
        <p:nvSpPr>
          <p:cNvPr id="16" name="Teller 2"/>
          <p:cNvSpPr/>
          <p:nvPr/>
        </p:nvSpPr>
        <p:spPr>
          <a:xfrm>
            <a:off x="1325880" y="3154680"/>
            <a:ext cx="2011680" cy="182880"/>
          </a:xfrm>
          <a:prstGeom prst="roundRect">
            <a:avLst>
              <a:gd name="adj" fmla="val 50000"/>
            </a:avLst>
          </a:prstGeom>
          <a:solidFill>
            <a:schemeClr val="bg1"/>
          </a:solidFill>
          <a:ln w="19050">
            <a:solidFill>
              <a:schemeClr val="accent1"/>
            </a:solidFill>
            <a:prstDash val="solid"/>
          </a:ln>
        </p:spPr>
      </p:sp>
      <p:sp>
        <p:nvSpPr>
          <p:cNvPr id="17" name="Teller 3"/>
          <p:cNvSpPr/>
          <p:nvPr/>
        </p:nvSpPr>
        <p:spPr>
          <a:xfrm>
            <a:off x="1325880" y="2880360"/>
            <a:ext cx="2011680" cy="182880"/>
          </a:xfrm>
          <a:prstGeom prst="roundRect">
            <a:avLst>
              <a:gd name="adj" fmla="val 50000"/>
            </a:avLst>
          </a:prstGeom>
          <a:solidFill>
            <a:schemeClr val="bg1"/>
          </a:solidFill>
          <a:ln w="19050">
            <a:solidFill>
              <a:schemeClr val="accent1"/>
            </a:solidFill>
            <a:prstDash val="solid"/>
          </a:ln>
        </p:spPr>
      </p:sp>
      <p:sp>
        <p:nvSpPr>
          <p:cNvPr id="18" name="Teller 4"/>
          <p:cNvSpPr/>
          <p:nvPr/>
        </p:nvSpPr>
        <p:spPr>
          <a:xfrm>
            <a:off x="1325880" y="2606040"/>
            <a:ext cx="2011680" cy="182880"/>
          </a:xfrm>
          <a:prstGeom prst="roundRect">
            <a:avLst>
              <a:gd name="adj" fmla="val 50000"/>
            </a:avLst>
          </a:prstGeom>
          <a:solidFill>
            <a:schemeClr val="bg1"/>
          </a:solidFill>
          <a:ln w="19050">
            <a:solidFill>
              <a:schemeClr val="accent1"/>
            </a:solidFill>
            <a:prstDash val="solid"/>
          </a:ln>
        </p:spPr>
      </p:sp>
      <p:sp>
        <p:nvSpPr>
          <p:cNvPr id="19" name="Teller 5"/>
          <p:cNvSpPr/>
          <p:nvPr/>
        </p:nvSpPr>
        <p:spPr>
          <a:xfrm>
            <a:off x="1325880" y="2331720"/>
            <a:ext cx="2011680" cy="182880"/>
          </a:xfrm>
          <a:prstGeom prst="roundRect">
            <a:avLst>
              <a:gd name="adj" fmla="val 50000"/>
            </a:avLst>
          </a:prstGeom>
          <a:solidFill>
            <a:srgbClr val="FFF2CC"/>
          </a:solidFill>
          <a:ln w="31750">
            <a:solidFill>
              <a:schemeClr val="accent2"/>
            </a:solidFill>
            <a:prstDash val="solid"/>
          </a:ln>
        </p:spPr>
      </p:sp>
      <p:sp>
        <p:nvSpPr>
          <p:cNvPr id="20" name="Pfeil Teller"/>
          <p:cNvSpPr/>
          <p:nvPr/>
        </p:nvSpPr>
        <p:spPr>
          <a:xfrm flipV="1">
            <a:off x="3520440" y="2057400"/>
            <a:ext cx="91" cy="457200"/>
          </a:xfrm>
          <a:prstGeom prst="line">
            <a:avLst/>
          </a:prstGeom>
          <a:noFill/>
          <a:ln w="28575">
            <a:solidFill>
              <a:schemeClr val="accent2"/>
            </a:solidFill>
            <a:prstDash val="solid"/>
            <a:headEnd type="triangle"/>
            <a:tailEnd type="triangle"/>
          </a:ln>
        </p:spPr>
      </p:sp>
      <p:sp>
        <p:nvSpPr>
          <p:cNvPr id="21" name="Text 19"/>
          <p:cNvSpPr txBox="1"/>
          <p:nvPr/>
        </p:nvSpPr>
        <p:spPr>
          <a:xfrm>
            <a:off x="2880360" y="1874520"/>
            <a:ext cx="1097280" cy="256032"/>
          </a:xfrm>
          <a:prstGeom prst="rect">
            <a:avLst/>
          </a:prstGeom>
          <a:noFill/>
          <a:ln/>
        </p:spPr>
        <p:txBody>
          <a:bodyPr wrap="square" lIns="0" tIns="0" rIns="0" bIns="0" rtlCol="0" anchor="t"/>
          <a:lstStyle/>
          <a:p>
            <a:pPr algn="r" indent="0" marL="0">
              <a:buNone/>
            </a:pPr>
            <a:r>
              <a:rPr lang="en-US" sz="1300" i="1" dirty="0">
                <a:solidFill>
                  <a:schemeClr val="accent2"/>
                </a:solidFill>
              </a:rPr>
              <a:t>nur oben</a:t>
            </a:r>
            <a:endParaRPr lang="en-US" sz="1300" dirty="0"/>
          </a:p>
        </p:txBody>
      </p:sp>
      <p:sp>
        <p:nvSpPr>
          <p:cNvPr id="22" name="Kasse"/>
          <p:cNvSpPr/>
          <p:nvPr/>
        </p:nvSpPr>
        <p:spPr>
          <a:xfrm>
            <a:off x="4526280" y="2606040"/>
            <a:ext cx="502920" cy="1005840"/>
          </a:xfrm>
          <a:prstGeom prst="rect">
            <a:avLst/>
          </a:prstGeom>
          <a:solidFill>
            <a:schemeClr val="accent1"/>
          </a:solidFill>
          <a:ln/>
        </p:spPr>
      </p:sp>
      <p:sp>
        <p:nvSpPr>
          <p:cNvPr id="23" name="Text 21"/>
          <p:cNvSpPr txBox="1"/>
          <p:nvPr/>
        </p:nvSpPr>
        <p:spPr>
          <a:xfrm>
            <a:off x="4526280" y="2606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4" name="Kopf 1"/>
          <p:cNvSpPr/>
          <p:nvPr/>
        </p:nvSpPr>
        <p:spPr>
          <a:xfrm>
            <a:off x="5330952" y="2423160"/>
            <a:ext cx="310896" cy="310896"/>
          </a:xfrm>
          <a:prstGeom prst="ellipse">
            <a:avLst/>
          </a:prstGeom>
          <a:solidFill>
            <a:schemeClr val="accent2"/>
          </a:solidFill>
          <a:ln/>
        </p:spPr>
      </p:sp>
      <p:sp>
        <p:nvSpPr>
          <p:cNvPr id="25" name="Person 1"/>
          <p:cNvSpPr/>
          <p:nvPr/>
        </p:nvSpPr>
        <p:spPr>
          <a:xfrm>
            <a:off x="5257800" y="2770632"/>
            <a:ext cx="457200" cy="841248"/>
          </a:xfrm>
          <a:prstGeom prst="roundRect">
            <a:avLst>
              <a:gd name="adj" fmla="val 30000"/>
            </a:avLst>
          </a:prstGeom>
          <a:solidFill>
            <a:schemeClr val="accent2"/>
          </a:solidFill>
          <a:ln/>
        </p:spPr>
      </p:sp>
      <p:sp>
        <p:nvSpPr>
          <p:cNvPr id="26" name="Kopf 2"/>
          <p:cNvSpPr/>
          <p:nvPr/>
        </p:nvSpPr>
        <p:spPr>
          <a:xfrm>
            <a:off x="5952744" y="2423160"/>
            <a:ext cx="310896" cy="310896"/>
          </a:xfrm>
          <a:prstGeom prst="ellipse">
            <a:avLst/>
          </a:prstGeom>
          <a:solidFill>
            <a:schemeClr val="accent6"/>
          </a:solidFill>
          <a:ln/>
        </p:spPr>
      </p:sp>
      <p:sp>
        <p:nvSpPr>
          <p:cNvPr id="27" name="Person 2"/>
          <p:cNvSpPr/>
          <p:nvPr/>
        </p:nvSpPr>
        <p:spPr>
          <a:xfrm>
            <a:off x="5879592" y="2770632"/>
            <a:ext cx="457200" cy="841248"/>
          </a:xfrm>
          <a:prstGeom prst="roundRect">
            <a:avLst>
              <a:gd name="adj" fmla="val 30000"/>
            </a:avLst>
          </a:prstGeom>
          <a:solidFill>
            <a:schemeClr val="accent6"/>
          </a:solidFill>
          <a:ln/>
        </p:spPr>
      </p:sp>
      <p:sp>
        <p:nvSpPr>
          <p:cNvPr id="28" name="Kopf 3"/>
          <p:cNvSpPr/>
          <p:nvPr/>
        </p:nvSpPr>
        <p:spPr>
          <a:xfrm>
            <a:off x="6574536" y="2423160"/>
            <a:ext cx="310896" cy="310896"/>
          </a:xfrm>
          <a:prstGeom prst="ellipse">
            <a:avLst/>
          </a:prstGeom>
          <a:solidFill>
            <a:schemeClr val="accent6"/>
          </a:solidFill>
          <a:ln/>
        </p:spPr>
      </p:sp>
      <p:sp>
        <p:nvSpPr>
          <p:cNvPr id="29" name="Person 3"/>
          <p:cNvSpPr/>
          <p:nvPr/>
        </p:nvSpPr>
        <p:spPr>
          <a:xfrm>
            <a:off x="6501384" y="2770632"/>
            <a:ext cx="457200" cy="841248"/>
          </a:xfrm>
          <a:prstGeom prst="roundRect">
            <a:avLst>
              <a:gd name="adj" fmla="val 30000"/>
            </a:avLst>
          </a:prstGeom>
          <a:solidFill>
            <a:schemeClr val="accent6"/>
          </a:solidFill>
          <a:ln/>
        </p:spPr>
      </p:sp>
      <p:sp>
        <p:nvSpPr>
          <p:cNvPr id="30" name="Kopf 4"/>
          <p:cNvSpPr/>
          <p:nvPr/>
        </p:nvSpPr>
        <p:spPr>
          <a:xfrm>
            <a:off x="7196328" y="2423160"/>
            <a:ext cx="310896" cy="310896"/>
          </a:xfrm>
          <a:prstGeom prst="ellipse">
            <a:avLst/>
          </a:prstGeom>
          <a:solidFill>
            <a:schemeClr val="accent6"/>
          </a:solidFill>
          <a:ln/>
        </p:spPr>
      </p:sp>
      <p:sp>
        <p:nvSpPr>
          <p:cNvPr id="31" name="Person 4"/>
          <p:cNvSpPr/>
          <p:nvPr/>
        </p:nvSpPr>
        <p:spPr>
          <a:xfrm>
            <a:off x="7123176" y="2770632"/>
            <a:ext cx="457200" cy="841248"/>
          </a:xfrm>
          <a:prstGeom prst="roundRect">
            <a:avLst>
              <a:gd name="adj" fmla="val 30000"/>
            </a:avLst>
          </a:prstGeom>
          <a:solidFill>
            <a:schemeClr val="accent6"/>
          </a:solidFill>
          <a:ln/>
        </p:spPr>
      </p:sp>
      <p:sp>
        <p:nvSpPr>
          <p:cNvPr id="32" name="Text 30"/>
          <p:cNvSpPr txBox="1"/>
          <p:nvPr/>
        </p:nvSpPr>
        <p:spPr>
          <a:xfrm>
            <a:off x="4434840" y="1965960"/>
            <a:ext cx="1737360" cy="256032"/>
          </a:xfrm>
          <a:prstGeom prst="rect">
            <a:avLst/>
          </a:prstGeom>
          <a:noFill/>
          <a:ln/>
        </p:spPr>
        <p:txBody>
          <a:bodyPr wrap="square" lIns="0" tIns="0" rIns="0" bIns="0" rtlCol="0" anchor="t"/>
          <a:lstStyle/>
          <a:p>
            <a:pPr indent="0" marL="0">
              <a:buNone/>
            </a:pPr>
            <a:r>
              <a:rPr lang="en-US" sz="1300" i="1" dirty="0">
                <a:solidFill>
                  <a:schemeClr val="accent2"/>
                </a:solidFill>
              </a:rPr>
              <a:t>vorne: bezahlen</a:t>
            </a:r>
            <a:endParaRPr lang="en-US" sz="1300" dirty="0"/>
          </a:p>
        </p:txBody>
      </p:sp>
      <p:sp>
        <p:nvSpPr>
          <p:cNvPr id="33" name="Text 31"/>
          <p:cNvSpPr txBox="1"/>
          <p:nvPr/>
        </p:nvSpPr>
        <p:spPr>
          <a:xfrm>
            <a:off x="6172200" y="1965960"/>
            <a:ext cx="1463040" cy="256032"/>
          </a:xfrm>
          <a:prstGeom prst="rect">
            <a:avLst/>
          </a:prstGeom>
          <a:noFill/>
          <a:ln/>
        </p:spPr>
        <p:txBody>
          <a:bodyPr wrap="square" lIns="0" tIns="0" rIns="0" bIns="0" rtlCol="0" anchor="t"/>
          <a:lstStyle/>
          <a:p>
            <a:pPr algn="r" indent="0" marL="0">
              <a:buNone/>
            </a:pPr>
            <a:r>
              <a:rPr lang="en-US" sz="1300" i="1" dirty="0">
                <a:solidFill>
                  <a:schemeClr val="accent6"/>
                </a:solidFill>
              </a:rPr>
              <a:t>hinten anstellen</a:t>
            </a:r>
            <a:endParaRPr lang="en-US" sz="1300" dirty="0"/>
          </a:p>
        </p:txBody>
      </p:sp>
      <p:sp>
        <p:nvSpPr>
          <p:cNvPr id="34" name="Text 32"/>
          <p:cNvSpPr txBox="1"/>
          <p:nvPr/>
        </p:nvSpPr>
        <p:spPr>
          <a:xfrm>
            <a:off x="8503920" y="2011680"/>
            <a:ext cx="320040" cy="365760"/>
          </a:xfrm>
          <a:prstGeom prst="rect">
            <a:avLst/>
          </a:prstGeom>
          <a:noFill/>
          <a:ln/>
        </p:spPr>
        <p:txBody>
          <a:bodyPr wrap="square" lIns="0" tIns="0" rIns="0" bIns="0" rtlCol="0" anchor="ctr"/>
          <a:lstStyle/>
          <a:p>
            <a:pPr algn="r" indent="0" marL="0">
              <a:buNone/>
            </a:pPr>
            <a:r>
              <a:rPr lang="en-US" sz="1400" b="1" dirty="0">
                <a:solidFill>
                  <a:schemeClr val="accent6"/>
                </a:solidFill>
              </a:rPr>
              <a:t>0</a:t>
            </a:r>
            <a:endParaRPr lang="en-US" sz="1400" dirty="0"/>
          </a:p>
        </p:txBody>
      </p:sp>
      <p:sp>
        <p:nvSpPr>
          <p:cNvPr id="35" name="Ladeliste 0 0"/>
          <p:cNvSpPr txBox="1"/>
          <p:nvPr/>
        </p:nvSpPr>
        <p:spPr>
          <a:xfrm>
            <a:off x="8915400" y="2011680"/>
            <a:ext cx="1737360" cy="3657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Holz</a:t>
            </a:r>
            <a:endParaRPr lang="en-US" sz="1500" dirty="0"/>
          </a:p>
        </p:txBody>
      </p:sp>
      <p:sp>
        <p:nvSpPr>
          <p:cNvPr id="36" name="Text 34"/>
          <p:cNvSpPr txBox="1"/>
          <p:nvPr/>
        </p:nvSpPr>
        <p:spPr>
          <a:xfrm>
            <a:off x="8503920" y="2423160"/>
            <a:ext cx="320040" cy="365760"/>
          </a:xfrm>
          <a:prstGeom prst="rect">
            <a:avLst/>
          </a:prstGeom>
          <a:noFill/>
          <a:ln/>
        </p:spPr>
        <p:txBody>
          <a:bodyPr wrap="square" lIns="0" tIns="0" rIns="0" bIns="0" rtlCol="0" anchor="ctr"/>
          <a:lstStyle/>
          <a:p>
            <a:pPr algn="r" indent="0" marL="0">
              <a:buNone/>
            </a:pPr>
            <a:r>
              <a:rPr lang="en-US" sz="1400" b="1" dirty="0">
                <a:solidFill>
                  <a:schemeClr val="accent6"/>
                </a:solidFill>
              </a:rPr>
              <a:t>1</a:t>
            </a:r>
            <a:endParaRPr lang="en-US" sz="1400" dirty="0"/>
          </a:p>
        </p:txBody>
      </p:sp>
      <p:sp>
        <p:nvSpPr>
          <p:cNvPr id="37" name="Ladeliste 1 0"/>
          <p:cNvSpPr txBox="1"/>
          <p:nvPr/>
        </p:nvSpPr>
        <p:spPr>
          <a:xfrm>
            <a:off x="8915400" y="2423160"/>
            <a:ext cx="1737360" cy="3657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Erz</a:t>
            </a:r>
            <a:endParaRPr lang="en-US" sz="1500" dirty="0"/>
          </a:p>
        </p:txBody>
      </p:sp>
      <p:sp>
        <p:nvSpPr>
          <p:cNvPr id="38" name="Text 36"/>
          <p:cNvSpPr txBox="1"/>
          <p:nvPr/>
        </p:nvSpPr>
        <p:spPr>
          <a:xfrm>
            <a:off x="8503920" y="2834640"/>
            <a:ext cx="320040" cy="365760"/>
          </a:xfrm>
          <a:prstGeom prst="rect">
            <a:avLst/>
          </a:prstGeom>
          <a:noFill/>
          <a:ln/>
        </p:spPr>
        <p:txBody>
          <a:bodyPr wrap="square" lIns="0" tIns="0" rIns="0" bIns="0" rtlCol="0" anchor="ctr"/>
          <a:lstStyle/>
          <a:p>
            <a:pPr algn="r" indent="0" marL="0">
              <a:buNone/>
            </a:pPr>
            <a:r>
              <a:rPr lang="en-US" sz="1400" b="1" dirty="0">
                <a:solidFill>
                  <a:schemeClr val="accent6"/>
                </a:solidFill>
              </a:rPr>
              <a:t>2</a:t>
            </a:r>
            <a:endParaRPr lang="en-US" sz="1400" dirty="0"/>
          </a:p>
        </p:txBody>
      </p:sp>
      <p:sp>
        <p:nvSpPr>
          <p:cNvPr id="39" name="Ladeliste 2 0"/>
          <p:cNvSpPr txBox="1"/>
          <p:nvPr/>
        </p:nvSpPr>
        <p:spPr>
          <a:xfrm>
            <a:off x="8915400" y="2834640"/>
            <a:ext cx="1737360" cy="36576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Gold</a:t>
            </a:r>
            <a:endParaRPr lang="en-US" sz="1500" dirty="0"/>
          </a:p>
        </p:txBody>
      </p:sp>
      <p:sp>
        <p:nvSpPr>
          <p:cNvPr id="40" name="Text 38"/>
          <p:cNvSpPr txBox="1"/>
          <p:nvPr/>
        </p:nvSpPr>
        <p:spPr>
          <a:xfrm>
            <a:off x="8503920" y="3246120"/>
            <a:ext cx="320040" cy="365760"/>
          </a:xfrm>
          <a:prstGeom prst="rect">
            <a:avLst/>
          </a:prstGeom>
          <a:noFill/>
          <a:ln/>
        </p:spPr>
        <p:txBody>
          <a:bodyPr wrap="square" lIns="0" tIns="0" rIns="0" bIns="0" rtlCol="0" anchor="ctr"/>
          <a:lstStyle/>
          <a:p>
            <a:pPr algn="r" indent="0" marL="0">
              <a:buNone/>
            </a:pPr>
            <a:r>
              <a:rPr lang="en-US" sz="1400" b="1" dirty="0">
                <a:solidFill>
                  <a:schemeClr val="accent6"/>
                </a:solidFill>
              </a:rPr>
              <a:t>3</a:t>
            </a:r>
            <a:endParaRPr lang="en-US" sz="1400" dirty="0"/>
          </a:p>
        </p:txBody>
      </p:sp>
      <p:sp>
        <p:nvSpPr>
          <p:cNvPr id="41" name="Ladeliste 3 0"/>
          <p:cNvSpPr txBox="1"/>
          <p:nvPr/>
        </p:nvSpPr>
        <p:spPr>
          <a:xfrm>
            <a:off x="8915400" y="3246120"/>
            <a:ext cx="1737360" cy="3657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Salz</a:t>
            </a:r>
            <a:endParaRPr lang="en-US" sz="1500" dirty="0"/>
          </a:p>
        </p:txBody>
      </p:sp>
      <p:sp>
        <p:nvSpPr>
          <p:cNvPr id="42" name="Pfeil Zeile 2"/>
          <p:cNvSpPr/>
          <p:nvPr/>
        </p:nvSpPr>
        <p:spPr>
          <a:xfrm flipH="1">
            <a:off x="10744200" y="3017520"/>
            <a:ext cx="594360" cy="91"/>
          </a:xfrm>
          <a:prstGeom prst="line">
            <a:avLst/>
          </a:prstGeom>
          <a:noFill/>
          <a:ln w="28575">
            <a:solidFill>
              <a:schemeClr val="accent2"/>
            </a:solidFill>
            <a:prstDash val="solid"/>
            <a:tailEnd type="triangle"/>
          </a:ln>
        </p:spPr>
      </p:sp>
      <p:sp>
        <p:nvSpPr>
          <p:cNvPr id="43" name="Text 41"/>
          <p:cNvSpPr txBox="1"/>
          <p:nvPr/>
        </p:nvSpPr>
        <p:spPr>
          <a:xfrm>
            <a:off x="10789920" y="2697480"/>
            <a:ext cx="731520" cy="256032"/>
          </a:xfrm>
          <a:prstGeom prst="rect">
            <a:avLst/>
          </a:prstGeom>
          <a:noFill/>
          <a:ln/>
        </p:spPr>
        <p:txBody>
          <a:bodyPr wrap="square" lIns="0" tIns="0" rIns="0" bIns="0" rtlCol="0" anchor="t"/>
          <a:lstStyle/>
          <a:p>
            <a:pPr algn="r" indent="0" marL="0">
              <a:buNone/>
            </a:pPr>
            <a:r>
              <a:rPr lang="en-US" sz="1300" i="1" dirty="0">
                <a:solidFill>
                  <a:schemeClr val="accent2"/>
                </a:solidFill>
              </a:rPr>
              <a:t>Nr. 2</a:t>
            </a:r>
            <a:endParaRPr lang="en-US" sz="1300" dirty="0"/>
          </a:p>
        </p:txBody>
      </p:sp>
      <p:sp>
        <p:nvSpPr>
          <p:cNvPr id="44" name="Leitfrage"/>
          <p:cNvSpPr/>
          <p:nvPr/>
        </p:nvSpPr>
        <p:spPr>
          <a:xfrm>
            <a:off x="548640" y="5440680"/>
            <a:ext cx="11064240" cy="685800"/>
          </a:xfrm>
          <a:prstGeom prst="roundRect">
            <a:avLst>
              <a:gd name="adj" fmla="val 16000"/>
            </a:avLst>
          </a:prstGeom>
          <a:solidFill>
            <a:schemeClr val="bg2"/>
          </a:solidFill>
          <a:ln/>
        </p:spPr>
      </p:sp>
      <p:sp>
        <p:nvSpPr>
          <p:cNvPr id="45" name="Text 43"/>
          <p:cNvSpPr txBox="1"/>
          <p:nvPr/>
        </p:nvSpPr>
        <p:spPr>
          <a:xfrm>
            <a:off x="749808" y="5440680"/>
            <a:ext cx="10698480" cy="685800"/>
          </a:xfrm>
          <a:prstGeom prst="rect">
            <a:avLst/>
          </a:prstGeom>
          <a:noFill/>
          <a:ln/>
        </p:spPr>
        <p:txBody>
          <a:bodyPr wrap="square" lIns="0" tIns="0" rIns="0" bIns="0" rtlCol="0" anchor="ctr"/>
          <a:lstStyle/>
          <a:p>
            <a:pPr indent="0" marL="0">
              <a:buNone/>
            </a:pPr>
            <a:r>
              <a:rPr lang="en-US" sz="1700" b="1" dirty="0">
                <a:solidFill>
                  <a:schemeClr val="accent1"/>
                </a:solidFill>
              </a:rPr>
              <a:t>Leitfrage: </a:t>
            </a:r>
            <a:pPr indent="0" marL="0">
              <a:buNone/>
            </a:pPr>
            <a:r>
              <a:rPr lang="en-US" sz="1700" dirty="0">
                <a:solidFill>
                  <a:schemeClr val="tx1"/>
                </a:solidFill>
              </a:rPr>
              <a:t>Wo darf man hineinlegen, wo herausnehmen? – Das legt die Struktur fest, nicht der Inhalt.</a:t>
            </a:r>
            <a:endParaRPr lang="en-US" sz="1700" dirty="0"/>
          </a:p>
        </p:txBody>
      </p:sp>
      <p:sp>
        <p:nvSpPr>
          <p:cNvPr id="46" name="Text 44"/>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24 · Stapel und Schlange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Abstrakter Datentyp: Man sieht nur die Schnittstelle</a:t>
            </a:r>
            <a:endParaRPr lang="en-US" sz="3600" dirty="0"/>
          </a:p>
        </p:txBody>
      </p:sp>
      <p:sp>
        <p:nvSpPr>
          <p:cNvPr id="3" name="Kapsel Stack"/>
          <p:cNvSpPr/>
          <p:nvPr/>
        </p:nvSpPr>
        <p:spPr>
          <a:xfrm>
            <a:off x="822960" y="2057400"/>
            <a:ext cx="5120640" cy="2377440"/>
          </a:xfrm>
          <a:prstGeom prst="roundRect">
            <a:avLst>
              <a:gd name="adj" fmla="val 50000"/>
            </a:avLst>
          </a:prstGeom>
          <a:solidFill>
            <a:schemeClr val="accent1"/>
          </a:solidFill>
          <a:ln w="38100">
            <a:solidFill>
              <a:schemeClr val="accent2"/>
            </a:solidFill>
            <a:prstDash val="solid"/>
          </a:ln>
        </p:spPr>
      </p:sp>
      <p:sp>
        <p:nvSpPr>
          <p:cNvPr id="4" name="Text 2"/>
          <p:cNvSpPr txBox="1"/>
          <p:nvPr/>
        </p:nvSpPr>
        <p:spPr>
          <a:xfrm>
            <a:off x="2468880" y="2468880"/>
            <a:ext cx="1828800" cy="384048"/>
          </a:xfrm>
          <a:prstGeom prst="rect">
            <a:avLst/>
          </a:prstGeom>
          <a:noFill/>
          <a:ln/>
        </p:spPr>
        <p:txBody>
          <a:bodyPr wrap="square" lIns="0" tIns="0" rIns="0" bIns="0" rtlCol="0" anchor="t"/>
          <a:lstStyle/>
          <a:p>
            <a:pPr algn="ctr" indent="0" marL="0">
              <a:buNone/>
            </a:pPr>
            <a:r>
              <a:rPr lang="en-US" sz="2200" b="1" dirty="0">
                <a:solidFill>
                  <a:schemeClr val="bg1"/>
                </a:solidFill>
                <a:latin typeface="Consolas" pitchFamily="34" charset="0"/>
                <a:ea typeface="Consolas" pitchFamily="34" charset="-122"/>
                <a:cs typeface="Consolas" pitchFamily="34" charset="-120"/>
              </a:rPr>
              <a:t>Stack</a:t>
            </a:r>
            <a:endParaRPr lang="en-US" sz="2200" dirty="0"/>
          </a:p>
        </p:txBody>
      </p:sp>
      <p:sp>
        <p:nvSpPr>
          <p:cNvPr id="5" name="Inneres verborgen"/>
          <p:cNvSpPr/>
          <p:nvPr/>
        </p:nvSpPr>
        <p:spPr>
          <a:xfrm>
            <a:off x="1874520" y="2926080"/>
            <a:ext cx="3017520" cy="960120"/>
          </a:xfrm>
          <a:prstGeom prst="roundRect">
            <a:avLst>
              <a:gd name="adj" fmla="val 19048"/>
            </a:avLst>
          </a:prstGeom>
          <a:solidFill>
            <a:schemeClr val="accent6"/>
          </a:solidFill>
          <a:ln w="15875">
            <a:solidFill>
              <a:schemeClr val="bg2"/>
            </a:solidFill>
            <a:prstDash val="dash"/>
          </a:ln>
        </p:spPr>
      </p:sp>
      <p:sp>
        <p:nvSpPr>
          <p:cNvPr id="6" name="Text 4"/>
          <p:cNvSpPr txBox="1"/>
          <p:nvPr/>
        </p:nvSpPr>
        <p:spPr>
          <a:xfrm>
            <a:off x="1920240" y="2926080"/>
            <a:ext cx="2926080" cy="960120"/>
          </a:xfrm>
          <a:prstGeom prst="rect">
            <a:avLst/>
          </a:prstGeom>
          <a:noFill/>
          <a:ln/>
        </p:spPr>
        <p:txBody>
          <a:bodyPr wrap="square" lIns="0" tIns="0" rIns="0" bIns="0" rtlCol="0" anchor="ctr"/>
          <a:lstStyle/>
          <a:p>
            <a:pPr algn="ctr" indent="0" marL="0">
              <a:buNone/>
            </a:pPr>
            <a:r>
              <a:rPr lang="en-US" sz="1500" b="1" dirty="0">
                <a:solidFill>
                  <a:schemeClr val="bg1"/>
                </a:solidFill>
              </a:rPr>
              <a:t>Implementierung: verborgen</a:t>
            </a:r>
            <a:endParaRPr lang="en-US" sz="1500" dirty="0"/>
          </a:p>
          <a:p>
            <a:pPr algn="ctr" indent="0" marL="0">
              <a:buNone/>
            </a:pPr>
            <a:r>
              <a:rPr lang="en-US" sz="1500" i="1" dirty="0">
                <a:solidFill>
                  <a:schemeClr val="bg1"/>
                </a:solidFill>
              </a:rPr>
              <a:t>Reihung? Knoten? – egal!</a:t>
            </a:r>
            <a:endParaRPr lang="en-US" sz="1500" dirty="0"/>
          </a:p>
        </p:txBody>
      </p:sp>
      <p:sp>
        <p:nvSpPr>
          <p:cNvPr id="7" name="Operation c Stack()"/>
          <p:cNvSpPr txBox="1"/>
          <p:nvPr/>
        </p:nvSpPr>
        <p:spPr>
          <a:xfrm>
            <a:off x="1051560" y="1828800"/>
            <a:ext cx="1371600" cy="438912"/>
          </a:xfrm>
          <a:prstGeom prst="roundRect">
            <a:avLst>
              <a:gd name="adj" fmla="val 20833"/>
            </a:avLst>
          </a:prstGeom>
          <a:solidFill>
            <a:schemeClr val="bg1"/>
          </a:solidFill>
          <a:ln w="25400">
            <a:solidFill>
              <a:schemeClr val="accent2"/>
            </a:solidFill>
          </a:ln>
        </p:spPr>
        <p:txBody>
          <a:bodyPr wrap="square" lIns="0" tIns="0" rIns="0" bIns="0" rtlCol="0" anchor="ctr"/>
          <a:lstStyle/>
          <a:p>
            <a:pPr algn="ctr" indent="0" marL="0">
              <a:buNone/>
            </a:pPr>
            <a:r>
              <a:rPr lang="en-US" sz="1500" b="1" dirty="0">
                <a:solidFill>
                  <a:schemeClr val="accent1"/>
                </a:solidFill>
                <a:latin typeface="Consolas" pitchFamily="34" charset="0"/>
                <a:ea typeface="Consolas" pitchFamily="34" charset="-122"/>
                <a:cs typeface="Consolas" pitchFamily="34" charset="-120"/>
              </a:rPr>
              <a:t>c Stack()</a:t>
            </a:r>
            <a:endParaRPr lang="en-US" sz="1500" dirty="0"/>
          </a:p>
        </p:txBody>
      </p:sp>
      <p:sp>
        <p:nvSpPr>
          <p:cNvPr id="8" name="Operation isEmpty()"/>
          <p:cNvSpPr txBox="1"/>
          <p:nvPr/>
        </p:nvSpPr>
        <p:spPr>
          <a:xfrm>
            <a:off x="2697480" y="1828800"/>
            <a:ext cx="1371600" cy="438912"/>
          </a:xfrm>
          <a:prstGeom prst="roundRect">
            <a:avLst>
              <a:gd name="adj" fmla="val 20833"/>
            </a:avLst>
          </a:prstGeom>
          <a:solidFill>
            <a:schemeClr val="bg1"/>
          </a:solidFill>
          <a:ln w="25400">
            <a:solidFill>
              <a:schemeClr val="accent2"/>
            </a:solidFill>
          </a:ln>
        </p:spPr>
        <p:txBody>
          <a:bodyPr wrap="square" lIns="0" tIns="0" rIns="0" bIns="0" rtlCol="0" anchor="ctr"/>
          <a:lstStyle/>
          <a:p>
            <a:pPr algn="ctr" indent="0" marL="0">
              <a:buNone/>
            </a:pPr>
            <a:r>
              <a:rPr lang="en-US" sz="1500" b="1" dirty="0">
                <a:solidFill>
                  <a:schemeClr val="accent1"/>
                </a:solidFill>
                <a:latin typeface="Consolas" pitchFamily="34" charset="0"/>
                <a:ea typeface="Consolas" pitchFamily="34" charset="-122"/>
                <a:cs typeface="Consolas" pitchFamily="34" charset="-120"/>
              </a:rPr>
              <a:t>isEmpty()</a:t>
            </a:r>
            <a:endParaRPr lang="en-US" sz="1500" dirty="0"/>
          </a:p>
        </p:txBody>
      </p:sp>
      <p:sp>
        <p:nvSpPr>
          <p:cNvPr id="9" name="Operation push(x)"/>
          <p:cNvSpPr txBox="1"/>
          <p:nvPr/>
        </p:nvSpPr>
        <p:spPr>
          <a:xfrm>
            <a:off x="4343400" y="1828800"/>
            <a:ext cx="1371600" cy="438912"/>
          </a:xfrm>
          <a:prstGeom prst="roundRect">
            <a:avLst>
              <a:gd name="adj" fmla="val 20833"/>
            </a:avLst>
          </a:prstGeom>
          <a:solidFill>
            <a:schemeClr val="bg1"/>
          </a:solidFill>
          <a:ln w="25400">
            <a:solidFill>
              <a:schemeClr val="accent2"/>
            </a:solidFill>
          </a:ln>
        </p:spPr>
        <p:txBody>
          <a:bodyPr wrap="square" lIns="0" tIns="0" rIns="0" bIns="0" rtlCol="0" anchor="ctr"/>
          <a:lstStyle/>
          <a:p>
            <a:pPr algn="ctr" indent="0" marL="0">
              <a:buNone/>
            </a:pPr>
            <a:r>
              <a:rPr lang="en-US" sz="1500" b="1" dirty="0">
                <a:solidFill>
                  <a:schemeClr val="accent1"/>
                </a:solidFill>
                <a:latin typeface="Consolas" pitchFamily="34" charset="0"/>
                <a:ea typeface="Consolas" pitchFamily="34" charset="-122"/>
                <a:cs typeface="Consolas" pitchFamily="34" charset="-120"/>
              </a:rPr>
              <a:t>push(x)</a:t>
            </a:r>
            <a:endParaRPr lang="en-US" sz="1500" dirty="0"/>
          </a:p>
        </p:txBody>
      </p:sp>
      <p:sp>
        <p:nvSpPr>
          <p:cNvPr id="10" name="Operation top()"/>
          <p:cNvSpPr txBox="1"/>
          <p:nvPr/>
        </p:nvSpPr>
        <p:spPr>
          <a:xfrm>
            <a:off x="1828800" y="4224528"/>
            <a:ext cx="1371600" cy="438912"/>
          </a:xfrm>
          <a:prstGeom prst="roundRect">
            <a:avLst>
              <a:gd name="adj" fmla="val 20833"/>
            </a:avLst>
          </a:prstGeom>
          <a:solidFill>
            <a:schemeClr val="bg1"/>
          </a:solidFill>
          <a:ln w="25400">
            <a:solidFill>
              <a:schemeClr val="accent2"/>
            </a:solidFill>
          </a:ln>
        </p:spPr>
        <p:txBody>
          <a:bodyPr wrap="square" lIns="0" tIns="0" rIns="0" bIns="0" rtlCol="0" anchor="ctr"/>
          <a:lstStyle/>
          <a:p>
            <a:pPr algn="ctr" indent="0" marL="0">
              <a:buNone/>
            </a:pPr>
            <a:r>
              <a:rPr lang="en-US" sz="1500" b="1" dirty="0">
                <a:solidFill>
                  <a:schemeClr val="accent1"/>
                </a:solidFill>
                <a:latin typeface="Consolas" pitchFamily="34" charset="0"/>
                <a:ea typeface="Consolas" pitchFamily="34" charset="-122"/>
                <a:cs typeface="Consolas" pitchFamily="34" charset="-120"/>
              </a:rPr>
              <a:t>top()</a:t>
            </a:r>
            <a:endParaRPr lang="en-US" sz="1500" dirty="0"/>
          </a:p>
        </p:txBody>
      </p:sp>
      <p:sp>
        <p:nvSpPr>
          <p:cNvPr id="11" name="Operation pop()"/>
          <p:cNvSpPr txBox="1"/>
          <p:nvPr/>
        </p:nvSpPr>
        <p:spPr>
          <a:xfrm>
            <a:off x="3566160" y="4224528"/>
            <a:ext cx="1371600" cy="438912"/>
          </a:xfrm>
          <a:prstGeom prst="roundRect">
            <a:avLst>
              <a:gd name="adj" fmla="val 20833"/>
            </a:avLst>
          </a:prstGeom>
          <a:solidFill>
            <a:schemeClr val="bg1"/>
          </a:solidFill>
          <a:ln w="25400">
            <a:solidFill>
              <a:schemeClr val="accent2"/>
            </a:solidFill>
          </a:ln>
        </p:spPr>
        <p:txBody>
          <a:bodyPr wrap="square" lIns="0" tIns="0" rIns="0" bIns="0" rtlCol="0" anchor="ctr"/>
          <a:lstStyle/>
          <a:p>
            <a:pPr algn="ctr" indent="0" marL="0">
              <a:buNone/>
            </a:pPr>
            <a:r>
              <a:rPr lang="en-US" sz="1500" b="1" dirty="0">
                <a:solidFill>
                  <a:schemeClr val="accent1"/>
                </a:solidFill>
                <a:latin typeface="Consolas" pitchFamily="34" charset="0"/>
                <a:ea typeface="Consolas" pitchFamily="34" charset="-122"/>
                <a:cs typeface="Consolas" pitchFamily="34" charset="-120"/>
              </a:rPr>
              <a:t>pop()</a:t>
            </a:r>
            <a:endParaRPr lang="en-US" sz="1500" dirty="0"/>
          </a:p>
        </p:txBody>
      </p:sp>
      <p:sp>
        <p:nvSpPr>
          <p:cNvPr id="12" name="Text 10"/>
          <p:cNvSpPr txBox="1"/>
          <p:nvPr/>
        </p:nvSpPr>
        <p:spPr>
          <a:xfrm>
            <a:off x="548640" y="4892040"/>
            <a:ext cx="5669280" cy="320040"/>
          </a:xfrm>
          <a:prstGeom prst="rect">
            <a:avLst/>
          </a:prstGeom>
          <a:noFill/>
          <a:ln/>
        </p:spPr>
        <p:txBody>
          <a:bodyPr wrap="square" lIns="0" tIns="0" rIns="0" bIns="0" rtlCol="0" anchor="t"/>
          <a:lstStyle/>
          <a:p>
            <a:pPr algn="ctr" indent="0" marL="0">
              <a:buNone/>
            </a:pPr>
            <a:r>
              <a:rPr lang="en-US" sz="1500" i="1" dirty="0">
                <a:solidFill>
                  <a:schemeClr val="accent2"/>
                </a:solidFill>
              </a:rPr>
              <a:t>Schnittstelle: nur diese Operationen sind von außen benutzbar</a:t>
            </a:r>
            <a:endParaRPr lang="en-US" sz="1500" dirty="0"/>
          </a:p>
        </p:txBody>
      </p:sp>
      <p:sp>
        <p:nvSpPr>
          <p:cNvPr id="13" name="Definition ADT"/>
          <p:cNvSpPr/>
          <p:nvPr/>
        </p:nvSpPr>
        <p:spPr>
          <a:xfrm>
            <a:off x="6492240" y="1325880"/>
            <a:ext cx="5120640" cy="1234440"/>
          </a:xfrm>
          <a:prstGeom prst="roundRect">
            <a:avLst>
              <a:gd name="adj" fmla="val 8889"/>
            </a:avLst>
          </a:prstGeom>
          <a:solidFill>
            <a:schemeClr val="bg2"/>
          </a:solidFill>
          <a:ln/>
        </p:spPr>
      </p:sp>
      <p:sp>
        <p:nvSpPr>
          <p:cNvPr id="14" name="Text 12"/>
          <p:cNvSpPr txBox="1"/>
          <p:nvPr/>
        </p:nvSpPr>
        <p:spPr>
          <a:xfrm>
            <a:off x="6693408" y="1325880"/>
            <a:ext cx="4754880" cy="1234440"/>
          </a:xfrm>
          <a:prstGeom prst="rect">
            <a:avLst/>
          </a:prstGeom>
          <a:noFill/>
          <a:ln/>
        </p:spPr>
        <p:txBody>
          <a:bodyPr wrap="square" lIns="0" tIns="0" rIns="0" bIns="0" rtlCol="0" anchor="ctr"/>
          <a:lstStyle/>
          <a:p>
            <a:pPr indent="0" marL="0">
              <a:buNone/>
            </a:pPr>
            <a:r>
              <a:rPr lang="en-US" sz="1700" b="1" dirty="0">
                <a:solidFill>
                  <a:schemeClr val="accent1"/>
                </a:solidFill>
              </a:rPr>
              <a:t>Abstrakter Datentyp (ADT): </a:t>
            </a:r>
            <a:pPr indent="0" marL="0">
              <a:buNone/>
            </a:pPr>
            <a:r>
              <a:rPr lang="en-US" sz="1700" dirty="0">
                <a:solidFill>
                  <a:schemeClr val="tx1"/>
                </a:solidFill>
              </a:rPr>
              <a:t>Daten und Operationen, beschrieben nur durch die Schnittstelle – nicht durch die Implementierung.</a:t>
            </a:r>
            <a:endParaRPr lang="en-US" sz="1700" dirty="0"/>
          </a:p>
        </p:txBody>
      </p:sp>
      <p:sp>
        <p:nvSpPr>
          <p:cNvPr id="15" name="Icon-Kreis"/>
          <p:cNvSpPr/>
          <p:nvPr/>
        </p:nvSpPr>
        <p:spPr>
          <a:xfrm>
            <a:off x="6492240" y="2834640"/>
            <a:ext cx="640080" cy="640080"/>
          </a:xfrm>
          <a:prstGeom prst="ellipse">
            <a:avLst/>
          </a:prstGeom>
          <a:solidFill>
            <a:schemeClr val="accent1"/>
          </a:solidFill>
          <a:ln/>
        </p:spPr>
      </p:sp>
      <p:pic>
        <p:nvPicPr>
          <p:cNvPr id="16" name="Icon GiPadlock" descr="preencoded.png">    </p:cNvPr>
          <p:cNvPicPr>
            <a:picLocks noChangeAspect="1"/>
          </p:cNvPicPr>
          <p:nvPr/>
        </p:nvPicPr>
        <p:blipFill>
          <a:blip r:embed="rId1"/>
          <a:stretch>
            <a:fillRect/>
          </a:stretch>
        </p:blipFill>
        <p:spPr>
          <a:xfrm>
            <a:off x="6633058" y="2975458"/>
            <a:ext cx="358445" cy="358445"/>
          </a:xfrm>
          <a:prstGeom prst="rect">
            <a:avLst/>
          </a:prstGeom>
        </p:spPr>
      </p:pic>
      <p:sp>
        <p:nvSpPr>
          <p:cNvPr id="17" name="Text 14"/>
          <p:cNvSpPr txBox="1"/>
          <p:nvPr/>
        </p:nvSpPr>
        <p:spPr>
          <a:xfrm>
            <a:off x="7269480" y="2788920"/>
            <a:ext cx="4343400" cy="777240"/>
          </a:xfrm>
          <a:prstGeom prst="rect">
            <a:avLst/>
          </a:prstGeom>
          <a:noFill/>
          <a:ln/>
        </p:spPr>
        <p:txBody>
          <a:bodyPr wrap="square" lIns="0" tIns="0" rIns="0" bIns="0" rtlCol="0" anchor="t"/>
          <a:lstStyle/>
          <a:p>
            <a:pPr indent="0" marL="0">
              <a:buNone/>
            </a:pPr>
            <a:r>
              <a:rPr lang="en-US" sz="1700" b="1" dirty="0">
                <a:solidFill>
                  <a:schemeClr val="accent1"/>
                </a:solidFill>
              </a:rPr>
              <a:t>Kapselung</a:t>
            </a:r>
            <a:endParaRPr lang="en-US" sz="1800" dirty="0"/>
          </a:p>
          <a:p>
            <a:pPr indent="0" marL="0">
              <a:buNone/>
            </a:pPr>
            <a:r>
              <a:rPr lang="en-US" sz="1500" dirty="0">
                <a:solidFill>
                  <a:schemeClr val="tx1"/>
                </a:solidFill>
              </a:rPr>
              <a:t>An die Daten kommst du nur über die Operationen.</a:t>
            </a:r>
            <a:endParaRPr lang="en-US" sz="1800" dirty="0"/>
          </a:p>
        </p:txBody>
      </p:sp>
      <p:sp>
        <p:nvSpPr>
          <p:cNvPr id="18" name="Icon-Kreis"/>
          <p:cNvSpPr/>
          <p:nvPr/>
        </p:nvSpPr>
        <p:spPr>
          <a:xfrm>
            <a:off x="6492240" y="3703320"/>
            <a:ext cx="640080" cy="640080"/>
          </a:xfrm>
          <a:prstGeom prst="ellipse">
            <a:avLst/>
          </a:prstGeom>
          <a:solidFill>
            <a:schemeClr val="accent1"/>
          </a:solidFill>
          <a:ln/>
        </p:spPr>
      </p:sp>
      <p:pic>
        <p:nvPicPr>
          <p:cNvPr id="19" name="Icon GiCog" descr="preencoded.png">    </p:cNvPr>
          <p:cNvPicPr>
            <a:picLocks noChangeAspect="1"/>
          </p:cNvPicPr>
          <p:nvPr/>
        </p:nvPicPr>
        <p:blipFill>
          <a:blip r:embed="rId2"/>
          <a:stretch>
            <a:fillRect/>
          </a:stretch>
        </p:blipFill>
        <p:spPr>
          <a:xfrm>
            <a:off x="6633058" y="3844138"/>
            <a:ext cx="358445" cy="358445"/>
          </a:xfrm>
          <a:prstGeom prst="rect">
            <a:avLst/>
          </a:prstGeom>
        </p:spPr>
      </p:pic>
      <p:sp>
        <p:nvSpPr>
          <p:cNvPr id="20" name="Text 16"/>
          <p:cNvSpPr txBox="1"/>
          <p:nvPr/>
        </p:nvSpPr>
        <p:spPr>
          <a:xfrm>
            <a:off x="7269480" y="3657600"/>
            <a:ext cx="4343400" cy="777240"/>
          </a:xfrm>
          <a:prstGeom prst="rect">
            <a:avLst/>
          </a:prstGeom>
          <a:noFill/>
          <a:ln/>
        </p:spPr>
        <p:txBody>
          <a:bodyPr wrap="square" lIns="0" tIns="0" rIns="0" bIns="0" rtlCol="0" anchor="t"/>
          <a:lstStyle/>
          <a:p>
            <a:pPr indent="0" marL="0">
              <a:buNone/>
            </a:pPr>
            <a:r>
              <a:rPr lang="en-US" sz="1700" b="1" dirty="0">
                <a:solidFill>
                  <a:schemeClr val="accent1"/>
                </a:solidFill>
              </a:rPr>
              <a:t>Austauschbar</a:t>
            </a:r>
            <a:endParaRPr lang="en-US" sz="1800" dirty="0"/>
          </a:p>
          <a:p>
            <a:pPr indent="0" marL="0">
              <a:buNone/>
            </a:pPr>
            <a:r>
              <a:rPr lang="en-US" sz="1500" dirty="0">
                <a:solidFill>
                  <a:schemeClr val="tx1"/>
                </a:solidFill>
              </a:rPr>
              <a:t>Innen eine Reihung oder Knoten (DS 29) – dein Programm merkt es nicht.</a:t>
            </a:r>
            <a:endParaRPr lang="en-US" sz="1800" dirty="0"/>
          </a:p>
        </p:txBody>
      </p:sp>
      <p:sp>
        <p:nvSpPr>
          <p:cNvPr id="21" name="Icon-Kreis"/>
          <p:cNvSpPr/>
          <p:nvPr/>
        </p:nvSpPr>
        <p:spPr>
          <a:xfrm>
            <a:off x="6492240" y="4572000"/>
            <a:ext cx="640080" cy="640080"/>
          </a:xfrm>
          <a:prstGeom prst="ellipse">
            <a:avLst/>
          </a:prstGeom>
          <a:solidFill>
            <a:schemeClr val="accent1"/>
          </a:solidFill>
          <a:ln/>
        </p:spPr>
      </p:sp>
      <p:pic>
        <p:nvPicPr>
          <p:cNvPr id="22" name="Icon GiBookPile" descr="preencoded.png">    </p:cNvPr>
          <p:cNvPicPr>
            <a:picLocks noChangeAspect="1"/>
          </p:cNvPicPr>
          <p:nvPr/>
        </p:nvPicPr>
        <p:blipFill>
          <a:blip r:embed="rId3"/>
          <a:stretch>
            <a:fillRect/>
          </a:stretch>
        </p:blipFill>
        <p:spPr>
          <a:xfrm>
            <a:off x="6633058" y="4712818"/>
            <a:ext cx="358445" cy="358445"/>
          </a:xfrm>
          <a:prstGeom prst="rect">
            <a:avLst/>
          </a:prstGeom>
        </p:spPr>
      </p:pic>
      <p:sp>
        <p:nvSpPr>
          <p:cNvPr id="23" name="Text 18"/>
          <p:cNvSpPr txBox="1"/>
          <p:nvPr/>
        </p:nvSpPr>
        <p:spPr>
          <a:xfrm>
            <a:off x="7269480" y="4526280"/>
            <a:ext cx="4343400" cy="777240"/>
          </a:xfrm>
          <a:prstGeom prst="rect">
            <a:avLst/>
          </a:prstGeom>
          <a:noFill/>
          <a:ln/>
        </p:spPr>
        <p:txBody>
          <a:bodyPr wrap="square" lIns="0" tIns="0" rIns="0" bIns="0" rtlCol="0" anchor="t"/>
          <a:lstStyle/>
          <a:p>
            <a:pPr indent="0" marL="0">
              <a:buNone/>
            </a:pPr>
            <a:r>
              <a:rPr lang="en-US" sz="1700" b="1" dirty="0">
                <a:solidFill>
                  <a:schemeClr val="accent1"/>
                </a:solidFill>
              </a:rPr>
              <a:t>Abitur (EH §4)</a:t>
            </a:r>
            <a:endParaRPr lang="en-US" sz="1800" dirty="0"/>
          </a:p>
          <a:p>
            <a:pPr indent="0" marL="0">
              <a:buNone/>
            </a:pPr>
            <a:r>
              <a:rPr lang="en-US" sz="1500" dirty="0">
                <a:solidFill>
                  <a:schemeClr val="tx1"/>
                </a:solidFill>
              </a:rPr>
              <a:t>Stapel, Schlange, dynamische Reihung, Binärbaum mit festen Operationen.</a:t>
            </a:r>
            <a:endParaRPr lang="en-US" sz="1800" dirty="0"/>
          </a:p>
        </p:txBody>
      </p:sp>
      <p:sp>
        <p:nvSpPr>
          <p:cNvPr id="24" name="Merke Schnittstelle"/>
          <p:cNvSpPr/>
          <p:nvPr/>
        </p:nvSpPr>
        <p:spPr>
          <a:xfrm>
            <a:off x="548640" y="5440680"/>
            <a:ext cx="11064240" cy="685800"/>
          </a:xfrm>
          <a:prstGeom prst="roundRect">
            <a:avLst>
              <a:gd name="adj" fmla="val 16000"/>
            </a:avLst>
          </a:prstGeom>
          <a:solidFill>
            <a:schemeClr val="bg1"/>
          </a:solidFill>
          <a:ln w="25400">
            <a:solidFill>
              <a:schemeClr val="accent4"/>
            </a:solidFill>
            <a:prstDash val="solid"/>
          </a:ln>
        </p:spPr>
      </p:sp>
      <p:sp>
        <p:nvSpPr>
          <p:cNvPr id="25" name="Text 20"/>
          <p:cNvSpPr txBox="1"/>
          <p:nvPr/>
        </p:nvSpPr>
        <p:spPr>
          <a:xfrm>
            <a:off x="749808" y="5440680"/>
            <a:ext cx="10698480" cy="685800"/>
          </a:xfrm>
          <a:prstGeom prst="rect">
            <a:avLst/>
          </a:prstGeom>
          <a:noFill/>
          <a:ln/>
        </p:spPr>
        <p:txBody>
          <a:bodyPr wrap="square" lIns="0" tIns="0" rIns="0" bIns="0" rtlCol="0" anchor="ctr"/>
          <a:lstStyle/>
          <a:p>
            <a:pPr indent="0" marL="0">
              <a:buNone/>
            </a:pPr>
            <a:r>
              <a:rPr lang="en-US" sz="1700" b="1" dirty="0">
                <a:solidFill>
                  <a:schemeClr val="accent4"/>
                </a:solidFill>
              </a:rPr>
              <a:t>Merke: </a:t>
            </a:r>
            <a:pPr indent="0" marL="0">
              <a:buNone/>
            </a:pPr>
            <a:r>
              <a:rPr lang="en-US" sz="1700" dirty="0">
                <a:solidFill>
                  <a:schemeClr val="tx1"/>
                </a:solidFill>
              </a:rPr>
              <a:t>Du programmierst gegen die Schnittstelle – genau diese Operationen darfst du benutzen, sonst keine.</a:t>
            </a:r>
            <a:endParaRPr lang="en-US" sz="1700" dirty="0"/>
          </a:p>
        </p:txBody>
      </p:sp>
      <p:sp>
        <p:nvSpPr>
          <p:cNvPr id="26" name="Text 21"/>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24 · ADT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Stapel und Schlange: Wer kommt zuerst heraus?</a:t>
            </a:r>
            <a:endParaRPr lang="en-US" sz="3600" dirty="0"/>
          </a:p>
        </p:txBody>
      </p:sp>
      <p:sp>
        <p:nvSpPr>
          <p:cNvPr id="3" name="Text 1"/>
          <p:cNvSpPr txBox="1"/>
          <p:nvPr/>
        </p:nvSpPr>
        <p:spPr>
          <a:xfrm>
            <a:off x="548640" y="1280160"/>
            <a:ext cx="5394960" cy="365760"/>
          </a:xfrm>
          <a:prstGeom prst="rect">
            <a:avLst/>
          </a:prstGeom>
          <a:noFill/>
          <a:ln/>
        </p:spPr>
        <p:txBody>
          <a:bodyPr wrap="square" lIns="0" tIns="0" rIns="0" bIns="0" rtlCol="0" anchor="t"/>
          <a:lstStyle/>
          <a:p>
            <a:pPr indent="0" marL="0">
              <a:buNone/>
            </a:pPr>
            <a:r>
              <a:rPr lang="en-US" sz="1900" b="1" dirty="0">
                <a:solidFill>
                  <a:schemeClr val="accent1"/>
                </a:solidFill>
              </a:rPr>
              <a:t>Stapel s</a:t>
            </a:r>
            <a:pPr indent="0" marL="0">
              <a:buNone/>
            </a:pPr>
            <a:r>
              <a:rPr lang="en-US" sz="1900" dirty="0">
                <a:solidFill>
                  <a:schemeClr val="accent6"/>
                </a:solidFill>
              </a:rPr>
              <a:t>  ·  LIFO: Last In, First Out</a:t>
            </a:r>
            <a:endParaRPr lang="en-US" sz="1900" dirty="0"/>
          </a:p>
        </p:txBody>
      </p:sp>
      <p:sp>
        <p:nvSpPr>
          <p:cNvPr id="4" name="Text 2"/>
          <p:cNvSpPr txBox="1"/>
          <p:nvPr/>
        </p:nvSpPr>
        <p:spPr>
          <a:xfrm>
            <a:off x="6217920" y="1280160"/>
            <a:ext cx="5394960" cy="365760"/>
          </a:xfrm>
          <a:prstGeom prst="rect">
            <a:avLst/>
          </a:prstGeom>
          <a:noFill/>
          <a:ln/>
        </p:spPr>
        <p:txBody>
          <a:bodyPr wrap="square" lIns="0" tIns="0" rIns="0" bIns="0" rtlCol="0" anchor="t"/>
          <a:lstStyle/>
          <a:p>
            <a:pPr indent="0" marL="0">
              <a:buNone/>
            </a:pPr>
            <a:r>
              <a:rPr lang="en-US" sz="1900" b="1" dirty="0">
                <a:solidFill>
                  <a:schemeClr val="accent1"/>
                </a:solidFill>
              </a:rPr>
              <a:t>Schlange q</a:t>
            </a:r>
            <a:pPr indent="0" marL="0">
              <a:buNone/>
            </a:pPr>
            <a:r>
              <a:rPr lang="en-US" sz="1900" dirty="0">
                <a:solidFill>
                  <a:schemeClr val="accent6"/>
                </a:solidFill>
              </a:rPr>
              <a:t>  ·  FIFO: First In, First Out</a:t>
            </a:r>
            <a:endParaRPr lang="en-US" sz="1900" dirty="0"/>
          </a:p>
        </p:txBody>
      </p:sp>
      <p:sp>
        <p:nvSpPr>
          <p:cNvPr id="5" name="Code"/>
          <p:cNvSpPr txBox="1"/>
          <p:nvPr/>
        </p:nvSpPr>
        <p:spPr>
          <a:xfrm>
            <a:off x="548640" y="1737360"/>
            <a:ext cx="5394960" cy="1266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Stack</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new</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Stack</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push</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(4);</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push</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(8);</a:t>
            </a:r>
            <a:endParaRPr lang="en-US" sz="1500" dirty="0"/>
          </a:p>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x</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Integer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pop</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p:txBody>
      </p:sp>
      <p:sp>
        <p:nvSpPr>
          <p:cNvPr id="6" name="Code"/>
          <p:cNvSpPr txBox="1"/>
          <p:nvPr/>
        </p:nvSpPr>
        <p:spPr>
          <a:xfrm>
            <a:off x="6217920" y="1737360"/>
            <a:ext cx="5394960" cy="1266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new</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enqueue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"Albatros"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enqueue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"Moewe"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String</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String</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dequeue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p:txBody>
      </p:sp>
      <p:sp>
        <p:nvSpPr>
          <p:cNvPr id="7" name="aktive Zeile"/>
          <p:cNvSpPr/>
          <p:nvPr/>
        </p:nvSpPr>
        <p:spPr>
          <a:xfrm>
            <a:off x="594360" y="2106676"/>
            <a:ext cx="5303520" cy="241300"/>
          </a:xfrm>
          <a:prstGeom prst="rect">
            <a:avLst/>
          </a:prstGeom>
          <a:ln w="34925">
            <a:solidFill>
              <a:schemeClr val="accent2"/>
            </a:solidFill>
            <a:prstDash val="solid"/>
          </a:ln>
        </p:spPr>
      </p:sp>
      <p:sp>
        <p:nvSpPr>
          <p:cNvPr id="8" name="aktive Zeile"/>
          <p:cNvSpPr/>
          <p:nvPr/>
        </p:nvSpPr>
        <p:spPr>
          <a:xfrm>
            <a:off x="6263640" y="2106676"/>
            <a:ext cx="5303520" cy="241300"/>
          </a:xfrm>
          <a:prstGeom prst="rect">
            <a:avLst/>
          </a:prstGeom>
          <a:ln w="34925">
            <a:solidFill>
              <a:schemeClr val="accent2"/>
            </a:solidFill>
            <a:prstDash val="solid"/>
          </a:ln>
        </p:spPr>
      </p:sp>
      <p:sp>
        <p:nvSpPr>
          <p:cNvPr id="9" name="Stapel Wand links"/>
          <p:cNvSpPr/>
          <p:nvPr/>
        </p:nvSpPr>
        <p:spPr>
          <a:xfrm>
            <a:off x="1828800" y="3346704"/>
            <a:ext cx="91" cy="1682496"/>
          </a:xfrm>
          <a:prstGeom prst="line">
            <a:avLst/>
          </a:prstGeom>
          <a:noFill/>
          <a:ln w="31750">
            <a:solidFill>
              <a:schemeClr val="accent1"/>
            </a:solidFill>
            <a:prstDash val="solid"/>
          </a:ln>
        </p:spPr>
      </p:sp>
      <p:sp>
        <p:nvSpPr>
          <p:cNvPr id="10" name="Stapel Boden"/>
          <p:cNvSpPr/>
          <p:nvPr/>
        </p:nvSpPr>
        <p:spPr>
          <a:xfrm>
            <a:off x="1828800" y="5029200"/>
            <a:ext cx="1554480" cy="91"/>
          </a:xfrm>
          <a:prstGeom prst="line">
            <a:avLst/>
          </a:prstGeom>
          <a:noFill/>
          <a:ln w="31750">
            <a:solidFill>
              <a:schemeClr val="accent1"/>
            </a:solidFill>
            <a:prstDash val="solid"/>
          </a:ln>
        </p:spPr>
      </p:sp>
      <p:sp>
        <p:nvSpPr>
          <p:cNvPr id="11" name="Stapel Wand rechts"/>
          <p:cNvSpPr/>
          <p:nvPr/>
        </p:nvSpPr>
        <p:spPr>
          <a:xfrm>
            <a:off x="3383280" y="3346704"/>
            <a:ext cx="91" cy="1682496"/>
          </a:xfrm>
          <a:prstGeom prst="line">
            <a:avLst/>
          </a:prstGeom>
          <a:noFill/>
          <a:ln w="31750">
            <a:solidFill>
              <a:schemeClr val="accent1"/>
            </a:solidFill>
            <a:prstDash val="solid"/>
          </a:ln>
        </p:spPr>
      </p:sp>
      <p:sp>
        <p:nvSpPr>
          <p:cNvPr id="12" name="Element 4"/>
          <p:cNvSpPr txBox="1"/>
          <p:nvPr/>
        </p:nvSpPr>
        <p:spPr>
          <a:xfrm>
            <a:off x="1892808" y="4462272"/>
            <a:ext cx="1426464" cy="502920"/>
          </a:xfrm>
          <a:prstGeom prst="roundRect">
            <a:avLst>
              <a:gd name="adj" fmla="val 14545"/>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4</a:t>
            </a:r>
            <a:endParaRPr lang="en-US" sz="1800" dirty="0"/>
          </a:p>
        </p:txBody>
      </p:sp>
      <p:sp>
        <p:nvSpPr>
          <p:cNvPr id="13" name="Text 11"/>
          <p:cNvSpPr txBox="1"/>
          <p:nvPr/>
        </p:nvSpPr>
        <p:spPr>
          <a:xfrm>
            <a:off x="1554480" y="5074920"/>
            <a:ext cx="2103120" cy="274320"/>
          </a:xfrm>
          <a:prstGeom prst="rect">
            <a:avLst/>
          </a:prstGeom>
          <a:noFill/>
          <a:ln/>
        </p:spPr>
        <p:txBody>
          <a:bodyPr wrap="square" lIns="0" tIns="0" rIns="0" bIns="0" rtlCol="0" anchor="t"/>
          <a:lstStyle/>
          <a:p>
            <a:pPr algn="ctr" indent="0" marL="0">
              <a:buNone/>
            </a:pPr>
            <a:r>
              <a:rPr lang="en-US" sz="1300" b="1" dirty="0">
                <a:solidFill>
                  <a:schemeClr val="accent6"/>
                </a:solidFill>
              </a:rPr>
              <a:t>s</a:t>
            </a:r>
            <a:endParaRPr lang="en-US" sz="1300" dirty="0"/>
          </a:p>
        </p:txBody>
      </p:sp>
      <p:sp>
        <p:nvSpPr>
          <p:cNvPr id="14" name="Text 12"/>
          <p:cNvSpPr txBox="1"/>
          <p:nvPr/>
        </p:nvSpPr>
        <p:spPr>
          <a:xfrm>
            <a:off x="960120" y="4462272"/>
            <a:ext cx="566928" cy="502920"/>
          </a:xfrm>
          <a:prstGeom prst="rect">
            <a:avLst/>
          </a:prstGeom>
          <a:noFill/>
          <a:ln/>
        </p:spPr>
        <p:txBody>
          <a:bodyPr wrap="square" lIns="0" tIns="0" rIns="0" bIns="0" rtlCol="0" anchor="ctr"/>
          <a:lstStyle/>
          <a:p>
            <a:pPr algn="r" indent="0" marL="0">
              <a:buNone/>
            </a:pPr>
            <a:r>
              <a:rPr lang="en-US" sz="1300" i="1" dirty="0">
                <a:solidFill>
                  <a:schemeClr val="accent6"/>
                </a:solidFill>
              </a:rPr>
              <a:t>oben</a:t>
            </a:r>
            <a:endParaRPr lang="en-US" sz="1300" dirty="0"/>
          </a:p>
        </p:txBody>
      </p:sp>
      <p:sp>
        <p:nvSpPr>
          <p:cNvPr id="15" name="Pfeil oben"/>
          <p:cNvSpPr/>
          <p:nvPr/>
        </p:nvSpPr>
        <p:spPr>
          <a:xfrm>
            <a:off x="1554480" y="4713732"/>
            <a:ext cx="246888" cy="91"/>
          </a:xfrm>
          <a:prstGeom prst="line">
            <a:avLst/>
          </a:prstGeom>
          <a:noFill/>
          <a:ln w="19050">
            <a:solidFill>
              <a:schemeClr val="accent6"/>
            </a:solidFill>
            <a:prstDash val="solid"/>
            <a:tailEnd type="triangle"/>
          </a:ln>
        </p:spPr>
      </p:sp>
      <p:sp>
        <p:nvSpPr>
          <p:cNvPr id="16" name="Schlange oben"/>
          <p:cNvSpPr/>
          <p:nvPr/>
        </p:nvSpPr>
        <p:spPr>
          <a:xfrm>
            <a:off x="7818120" y="3840480"/>
            <a:ext cx="3328416" cy="91"/>
          </a:xfrm>
          <a:prstGeom prst="line">
            <a:avLst/>
          </a:prstGeom>
          <a:noFill/>
          <a:ln w="31750">
            <a:solidFill>
              <a:schemeClr val="accent1"/>
            </a:solidFill>
            <a:prstDash val="solid"/>
          </a:ln>
        </p:spPr>
      </p:sp>
      <p:sp>
        <p:nvSpPr>
          <p:cNvPr id="17" name="Schlange unten"/>
          <p:cNvSpPr/>
          <p:nvPr/>
        </p:nvSpPr>
        <p:spPr>
          <a:xfrm>
            <a:off x="7818120" y="4517136"/>
            <a:ext cx="3328416" cy="91"/>
          </a:xfrm>
          <a:prstGeom prst="line">
            <a:avLst/>
          </a:prstGeom>
          <a:noFill/>
          <a:ln w="31750">
            <a:solidFill>
              <a:schemeClr val="accent1"/>
            </a:solidFill>
            <a:prstDash val="solid"/>
          </a:ln>
        </p:spPr>
      </p:sp>
      <p:sp>
        <p:nvSpPr>
          <p:cNvPr id="18" name="Element Albatros"/>
          <p:cNvSpPr txBox="1"/>
          <p:nvPr/>
        </p:nvSpPr>
        <p:spPr>
          <a:xfrm>
            <a:off x="7909560" y="3904488"/>
            <a:ext cx="1545336" cy="548640"/>
          </a:xfrm>
          <a:prstGeom prst="roundRect">
            <a:avLst>
              <a:gd name="adj" fmla="val 13333"/>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700" b="1" dirty="0">
                <a:solidFill>
                  <a:schemeClr val="accent1"/>
                </a:solidFill>
              </a:rPr>
              <a:t>Albatros</a:t>
            </a:r>
            <a:endParaRPr lang="en-US" sz="1700" dirty="0"/>
          </a:p>
        </p:txBody>
      </p:sp>
      <p:sp>
        <p:nvSpPr>
          <p:cNvPr id="19" name="Text 17"/>
          <p:cNvSpPr txBox="1"/>
          <p:nvPr/>
        </p:nvSpPr>
        <p:spPr>
          <a:xfrm>
            <a:off x="7818120" y="4553712"/>
            <a:ext cx="914400" cy="256032"/>
          </a:xfrm>
          <a:prstGeom prst="rect">
            <a:avLst/>
          </a:prstGeom>
          <a:noFill/>
          <a:ln/>
        </p:spPr>
        <p:txBody>
          <a:bodyPr wrap="square" lIns="0" tIns="0" rIns="0" bIns="0" rtlCol="0" anchor="t"/>
          <a:lstStyle/>
          <a:p>
            <a:pPr indent="0" marL="0">
              <a:buNone/>
            </a:pPr>
            <a:r>
              <a:rPr lang="en-US" sz="1200" i="1" dirty="0">
                <a:solidFill>
                  <a:schemeClr val="accent6"/>
                </a:solidFill>
              </a:rPr>
              <a:t>vorne</a:t>
            </a:r>
            <a:endParaRPr lang="en-US" sz="1200" dirty="0"/>
          </a:p>
        </p:txBody>
      </p:sp>
      <p:sp>
        <p:nvSpPr>
          <p:cNvPr id="20" name="Text 18"/>
          <p:cNvSpPr txBox="1"/>
          <p:nvPr/>
        </p:nvSpPr>
        <p:spPr>
          <a:xfrm>
            <a:off x="10232136" y="4553712"/>
            <a:ext cx="914400" cy="256032"/>
          </a:xfrm>
          <a:prstGeom prst="rect">
            <a:avLst/>
          </a:prstGeom>
          <a:noFill/>
          <a:ln/>
        </p:spPr>
        <p:txBody>
          <a:bodyPr wrap="square" lIns="0" tIns="0" rIns="0" bIns="0" rtlCol="0" anchor="t"/>
          <a:lstStyle/>
          <a:p>
            <a:pPr algn="r" indent="0" marL="0">
              <a:buNone/>
            </a:pPr>
            <a:r>
              <a:rPr lang="en-US" sz="1200" i="1" dirty="0">
                <a:solidFill>
                  <a:schemeClr val="accent6"/>
                </a:solidFill>
              </a:rPr>
              <a:t>hinten</a:t>
            </a:r>
            <a:endParaRPr lang="en-US" sz="1200" dirty="0"/>
          </a:p>
        </p:txBody>
      </p:sp>
      <p:sp>
        <p:nvSpPr>
          <p:cNvPr id="21" name="Pfeil push"/>
          <p:cNvSpPr/>
          <p:nvPr/>
        </p:nvSpPr>
        <p:spPr>
          <a:xfrm flipH="1">
            <a:off x="3474720" y="4233672"/>
            <a:ext cx="685800" cy="475488"/>
          </a:xfrm>
          <a:prstGeom prst="line">
            <a:avLst/>
          </a:prstGeom>
          <a:noFill/>
          <a:ln w="28575">
            <a:solidFill>
              <a:schemeClr val="accent2"/>
            </a:solidFill>
            <a:prstDash val="solid"/>
            <a:tailEnd type="triangle"/>
          </a:ln>
        </p:spPr>
      </p:sp>
      <p:sp>
        <p:nvSpPr>
          <p:cNvPr id="22" name="Text 20"/>
          <p:cNvSpPr txBox="1"/>
          <p:nvPr/>
        </p:nvSpPr>
        <p:spPr>
          <a:xfrm>
            <a:off x="3840480" y="3913632"/>
            <a:ext cx="1463040" cy="274320"/>
          </a:xfrm>
          <a:prstGeom prst="rect">
            <a:avLst/>
          </a:prstGeom>
          <a:noFill/>
          <a:ln/>
        </p:spPr>
        <p:txBody>
          <a:bodyPr wrap="square" lIns="0" tIns="0" rIns="0" bIns="0" rtlCol="0" anchor="t"/>
          <a:lstStyle/>
          <a:p>
            <a:pPr indent="0" marL="0">
              <a:buNone/>
            </a:pPr>
            <a:r>
              <a:rPr lang="en-US" sz="1300" i="1" dirty="0">
                <a:solidFill>
                  <a:schemeClr val="accent2"/>
                </a:solidFill>
              </a:rPr>
              <a:t>oben drauf</a:t>
            </a:r>
            <a:endParaRPr lang="en-US" sz="1300" dirty="0"/>
          </a:p>
        </p:txBody>
      </p:sp>
      <p:sp>
        <p:nvSpPr>
          <p:cNvPr id="23" name="Pfeil enqueue"/>
          <p:cNvSpPr/>
          <p:nvPr/>
        </p:nvSpPr>
        <p:spPr>
          <a:xfrm flipH="1">
            <a:off x="8682228" y="3383280"/>
            <a:ext cx="182880" cy="411480"/>
          </a:xfrm>
          <a:prstGeom prst="line">
            <a:avLst/>
          </a:prstGeom>
          <a:noFill/>
          <a:ln w="28575">
            <a:solidFill>
              <a:schemeClr val="accent2"/>
            </a:solidFill>
            <a:prstDash val="solid"/>
            <a:tailEnd type="triangle"/>
          </a:ln>
        </p:spPr>
      </p:sp>
      <p:sp>
        <p:nvSpPr>
          <p:cNvPr id="24" name="Text 22"/>
          <p:cNvSpPr txBox="1"/>
          <p:nvPr/>
        </p:nvSpPr>
        <p:spPr>
          <a:xfrm>
            <a:off x="8316468" y="3090672"/>
            <a:ext cx="1828800" cy="274320"/>
          </a:xfrm>
          <a:prstGeom prst="rect">
            <a:avLst/>
          </a:prstGeom>
          <a:noFill/>
          <a:ln/>
        </p:spPr>
        <p:txBody>
          <a:bodyPr wrap="square" lIns="0" tIns="0" rIns="0" bIns="0" rtlCol="0" anchor="t"/>
          <a:lstStyle/>
          <a:p>
            <a:pPr indent="0" marL="0">
              <a:buNone/>
            </a:pPr>
            <a:r>
              <a:rPr lang="en-US" sz="1300" i="1" dirty="0">
                <a:solidFill>
                  <a:schemeClr val="accent2"/>
                </a:solidFill>
              </a:rPr>
              <a:t>hinten anstellen</a:t>
            </a:r>
            <a:endParaRPr lang="en-US" sz="1300" dirty="0"/>
          </a:p>
        </p:txBody>
      </p:sp>
      <p:sp>
        <p:nvSpPr>
          <p:cNvPr id="25" name="Erklaerung Stapel"/>
          <p:cNvSpPr/>
          <p:nvPr/>
        </p:nvSpPr>
        <p:spPr>
          <a:xfrm>
            <a:off x="548640" y="5440680"/>
            <a:ext cx="5394960" cy="731520"/>
          </a:xfrm>
          <a:prstGeom prst="roundRect">
            <a:avLst>
              <a:gd name="adj" fmla="val 15000"/>
            </a:avLst>
          </a:prstGeom>
          <a:solidFill>
            <a:schemeClr val="bg2"/>
          </a:solidFill>
          <a:ln/>
        </p:spPr>
      </p:sp>
      <p:sp>
        <p:nvSpPr>
          <p:cNvPr id="26" name="Text 24"/>
          <p:cNvSpPr txBox="1"/>
          <p:nvPr/>
        </p:nvSpPr>
        <p:spPr>
          <a:xfrm>
            <a:off x="749808" y="5440680"/>
            <a:ext cx="5029200" cy="731520"/>
          </a:xfrm>
          <a:prstGeom prst="rect">
            <a:avLst/>
          </a:prstGeom>
          <a:noFill/>
          <a:ln/>
        </p:spPr>
        <p:txBody>
          <a:bodyPr wrap="square" lIns="0" tIns="0" rIns="0" bIns="0" rtlCol="0" anchor="ctr"/>
          <a:lstStyle/>
          <a:p>
            <a:pPr indent="0" marL="0">
              <a:buNone/>
            </a:pPr>
            <a:r>
              <a:rPr lang="en-US" sz="1500" dirty="0">
                <a:solidFill>
                  <a:schemeClr val="tx1"/>
                </a:solidFill>
              </a:rPr>
              <a:t>push(4): 4 wird oben aufgelegt – der Stapel war leer.</a:t>
            </a:r>
            <a:endParaRPr lang="en-US" sz="1500" dirty="0"/>
          </a:p>
        </p:txBody>
      </p:sp>
      <p:sp>
        <p:nvSpPr>
          <p:cNvPr id="27" name="Erklaerung Schlange"/>
          <p:cNvSpPr/>
          <p:nvPr/>
        </p:nvSpPr>
        <p:spPr>
          <a:xfrm>
            <a:off x="6217920" y="5440680"/>
            <a:ext cx="5394960" cy="731520"/>
          </a:xfrm>
          <a:prstGeom prst="roundRect">
            <a:avLst>
              <a:gd name="adj" fmla="val 15000"/>
            </a:avLst>
          </a:prstGeom>
          <a:solidFill>
            <a:schemeClr val="bg2"/>
          </a:solidFill>
          <a:ln/>
        </p:spPr>
      </p:sp>
      <p:sp>
        <p:nvSpPr>
          <p:cNvPr id="28" name="Text 26"/>
          <p:cNvSpPr txBox="1"/>
          <p:nvPr/>
        </p:nvSpPr>
        <p:spPr>
          <a:xfrm>
            <a:off x="6419088" y="5440680"/>
            <a:ext cx="5029200" cy="731520"/>
          </a:xfrm>
          <a:prstGeom prst="rect">
            <a:avLst/>
          </a:prstGeom>
          <a:noFill/>
          <a:ln/>
        </p:spPr>
        <p:txBody>
          <a:bodyPr wrap="square" lIns="0" tIns="0" rIns="0" bIns="0" rtlCol="0" anchor="ctr"/>
          <a:lstStyle/>
          <a:p>
            <a:pPr indent="0" marL="0">
              <a:buNone/>
            </a:pPr>
            <a:r>
              <a:rPr lang="en-US" sz="1500" dirty="0">
                <a:solidFill>
                  <a:schemeClr val="tx1"/>
                </a:solidFill>
              </a:rPr>
              <a:t>enqueue("Albatros"): stellt sich hinten an – und steht damit auch vorne.</a:t>
            </a:r>
            <a:endParaRPr lang="en-US" sz="1500" dirty="0"/>
          </a:p>
        </p:txBody>
      </p:sp>
      <p:sp>
        <p:nvSpPr>
          <p:cNvPr id="29" name="Text 27"/>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24 · Stapel und Schlange · 1/3</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Stapel und Schlange: Wer kommt zuerst heraus?</a:t>
            </a:r>
            <a:endParaRPr lang="en-US" sz="3600" dirty="0"/>
          </a:p>
        </p:txBody>
      </p:sp>
      <p:sp>
        <p:nvSpPr>
          <p:cNvPr id="3" name="Text 1"/>
          <p:cNvSpPr txBox="1"/>
          <p:nvPr/>
        </p:nvSpPr>
        <p:spPr>
          <a:xfrm>
            <a:off x="548640" y="1280160"/>
            <a:ext cx="5394960" cy="365760"/>
          </a:xfrm>
          <a:prstGeom prst="rect">
            <a:avLst/>
          </a:prstGeom>
          <a:noFill/>
          <a:ln/>
        </p:spPr>
        <p:txBody>
          <a:bodyPr wrap="square" lIns="0" tIns="0" rIns="0" bIns="0" rtlCol="0" anchor="t"/>
          <a:lstStyle/>
          <a:p>
            <a:pPr indent="0" marL="0">
              <a:buNone/>
            </a:pPr>
            <a:r>
              <a:rPr lang="en-US" sz="1900" b="1" dirty="0">
                <a:solidFill>
                  <a:schemeClr val="accent1"/>
                </a:solidFill>
              </a:rPr>
              <a:t>Stapel s</a:t>
            </a:r>
            <a:pPr indent="0" marL="0">
              <a:buNone/>
            </a:pPr>
            <a:r>
              <a:rPr lang="en-US" sz="1900" dirty="0">
                <a:solidFill>
                  <a:schemeClr val="accent6"/>
                </a:solidFill>
              </a:rPr>
              <a:t>  ·  LIFO: Last In, First Out</a:t>
            </a:r>
            <a:endParaRPr lang="en-US" sz="1900" dirty="0"/>
          </a:p>
        </p:txBody>
      </p:sp>
      <p:sp>
        <p:nvSpPr>
          <p:cNvPr id="4" name="Text 2"/>
          <p:cNvSpPr txBox="1"/>
          <p:nvPr/>
        </p:nvSpPr>
        <p:spPr>
          <a:xfrm>
            <a:off x="6217920" y="1280160"/>
            <a:ext cx="5394960" cy="365760"/>
          </a:xfrm>
          <a:prstGeom prst="rect">
            <a:avLst/>
          </a:prstGeom>
          <a:noFill/>
          <a:ln/>
        </p:spPr>
        <p:txBody>
          <a:bodyPr wrap="square" lIns="0" tIns="0" rIns="0" bIns="0" rtlCol="0" anchor="t"/>
          <a:lstStyle/>
          <a:p>
            <a:pPr indent="0" marL="0">
              <a:buNone/>
            </a:pPr>
            <a:r>
              <a:rPr lang="en-US" sz="1900" b="1" dirty="0">
                <a:solidFill>
                  <a:schemeClr val="accent1"/>
                </a:solidFill>
              </a:rPr>
              <a:t>Schlange q</a:t>
            </a:r>
            <a:pPr indent="0" marL="0">
              <a:buNone/>
            </a:pPr>
            <a:r>
              <a:rPr lang="en-US" sz="1900" dirty="0">
                <a:solidFill>
                  <a:schemeClr val="accent6"/>
                </a:solidFill>
              </a:rPr>
              <a:t>  ·  FIFO: First In, First Out</a:t>
            </a:r>
            <a:endParaRPr lang="en-US" sz="1900" dirty="0"/>
          </a:p>
        </p:txBody>
      </p:sp>
      <p:sp>
        <p:nvSpPr>
          <p:cNvPr id="5" name="Code"/>
          <p:cNvSpPr txBox="1"/>
          <p:nvPr/>
        </p:nvSpPr>
        <p:spPr>
          <a:xfrm>
            <a:off x="548640" y="1737360"/>
            <a:ext cx="5394960" cy="1266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Stack</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new</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Stack</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push</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(4);</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push</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(8);</a:t>
            </a:r>
            <a:endParaRPr lang="en-US" sz="1500" dirty="0"/>
          </a:p>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x</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Integer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pop</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p:txBody>
      </p:sp>
      <p:sp>
        <p:nvSpPr>
          <p:cNvPr id="6" name="Code"/>
          <p:cNvSpPr txBox="1"/>
          <p:nvPr/>
        </p:nvSpPr>
        <p:spPr>
          <a:xfrm>
            <a:off x="6217920" y="1737360"/>
            <a:ext cx="5394960" cy="1266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new</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enqueue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"Albatros"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enqueue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"Moewe"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String</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String</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dequeue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p:txBody>
      </p:sp>
      <p:sp>
        <p:nvSpPr>
          <p:cNvPr id="7" name="aktive Zeile"/>
          <p:cNvSpPr/>
          <p:nvPr/>
        </p:nvSpPr>
        <p:spPr>
          <a:xfrm>
            <a:off x="594360" y="2347976"/>
            <a:ext cx="5303520" cy="241300"/>
          </a:xfrm>
          <a:prstGeom prst="rect">
            <a:avLst/>
          </a:prstGeom>
          <a:ln w="34925">
            <a:solidFill>
              <a:schemeClr val="accent2"/>
            </a:solidFill>
            <a:prstDash val="solid"/>
          </a:ln>
        </p:spPr>
      </p:sp>
      <p:sp>
        <p:nvSpPr>
          <p:cNvPr id="8" name="aktive Zeile"/>
          <p:cNvSpPr/>
          <p:nvPr/>
        </p:nvSpPr>
        <p:spPr>
          <a:xfrm>
            <a:off x="6263640" y="2347976"/>
            <a:ext cx="5303520" cy="241300"/>
          </a:xfrm>
          <a:prstGeom prst="rect">
            <a:avLst/>
          </a:prstGeom>
          <a:ln w="34925">
            <a:solidFill>
              <a:schemeClr val="accent2"/>
            </a:solidFill>
            <a:prstDash val="solid"/>
          </a:ln>
        </p:spPr>
      </p:sp>
      <p:sp>
        <p:nvSpPr>
          <p:cNvPr id="9" name="Stapel Wand links"/>
          <p:cNvSpPr/>
          <p:nvPr/>
        </p:nvSpPr>
        <p:spPr>
          <a:xfrm>
            <a:off x="1828800" y="3346704"/>
            <a:ext cx="91" cy="1682496"/>
          </a:xfrm>
          <a:prstGeom prst="line">
            <a:avLst/>
          </a:prstGeom>
          <a:noFill/>
          <a:ln w="31750">
            <a:solidFill>
              <a:schemeClr val="accent1"/>
            </a:solidFill>
            <a:prstDash val="solid"/>
          </a:ln>
        </p:spPr>
      </p:sp>
      <p:sp>
        <p:nvSpPr>
          <p:cNvPr id="10" name="Stapel Boden"/>
          <p:cNvSpPr/>
          <p:nvPr/>
        </p:nvSpPr>
        <p:spPr>
          <a:xfrm>
            <a:off x="1828800" y="5029200"/>
            <a:ext cx="1554480" cy="91"/>
          </a:xfrm>
          <a:prstGeom prst="line">
            <a:avLst/>
          </a:prstGeom>
          <a:noFill/>
          <a:ln w="31750">
            <a:solidFill>
              <a:schemeClr val="accent1"/>
            </a:solidFill>
            <a:prstDash val="solid"/>
          </a:ln>
        </p:spPr>
      </p:sp>
      <p:sp>
        <p:nvSpPr>
          <p:cNvPr id="11" name="Stapel Wand rechts"/>
          <p:cNvSpPr/>
          <p:nvPr/>
        </p:nvSpPr>
        <p:spPr>
          <a:xfrm>
            <a:off x="3383280" y="3346704"/>
            <a:ext cx="91" cy="1682496"/>
          </a:xfrm>
          <a:prstGeom prst="line">
            <a:avLst/>
          </a:prstGeom>
          <a:noFill/>
          <a:ln w="31750">
            <a:solidFill>
              <a:schemeClr val="accent1"/>
            </a:solidFill>
            <a:prstDash val="solid"/>
          </a:ln>
        </p:spPr>
      </p:sp>
      <p:sp>
        <p:nvSpPr>
          <p:cNvPr id="12" name="Element 4"/>
          <p:cNvSpPr txBox="1"/>
          <p:nvPr/>
        </p:nvSpPr>
        <p:spPr>
          <a:xfrm>
            <a:off x="1892808" y="4462272"/>
            <a:ext cx="1426464" cy="502920"/>
          </a:xfrm>
          <a:prstGeom prst="roundRect">
            <a:avLst>
              <a:gd name="adj" fmla="val 14545"/>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4</a:t>
            </a:r>
            <a:endParaRPr lang="en-US" sz="1800" dirty="0"/>
          </a:p>
        </p:txBody>
      </p:sp>
      <p:sp>
        <p:nvSpPr>
          <p:cNvPr id="13" name="Element 8"/>
          <p:cNvSpPr txBox="1"/>
          <p:nvPr/>
        </p:nvSpPr>
        <p:spPr>
          <a:xfrm>
            <a:off x="1892808" y="3922776"/>
            <a:ext cx="1426464" cy="502920"/>
          </a:xfrm>
          <a:prstGeom prst="roundRect">
            <a:avLst>
              <a:gd name="adj" fmla="val 14545"/>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8</a:t>
            </a:r>
            <a:endParaRPr lang="en-US" sz="1800" dirty="0"/>
          </a:p>
        </p:txBody>
      </p:sp>
      <p:sp>
        <p:nvSpPr>
          <p:cNvPr id="14" name="Text 12"/>
          <p:cNvSpPr txBox="1"/>
          <p:nvPr/>
        </p:nvSpPr>
        <p:spPr>
          <a:xfrm>
            <a:off x="1554480" y="5074920"/>
            <a:ext cx="2103120" cy="274320"/>
          </a:xfrm>
          <a:prstGeom prst="rect">
            <a:avLst/>
          </a:prstGeom>
          <a:noFill/>
          <a:ln/>
        </p:spPr>
        <p:txBody>
          <a:bodyPr wrap="square" lIns="0" tIns="0" rIns="0" bIns="0" rtlCol="0" anchor="t"/>
          <a:lstStyle/>
          <a:p>
            <a:pPr algn="ctr" indent="0" marL="0">
              <a:buNone/>
            </a:pPr>
            <a:r>
              <a:rPr lang="en-US" sz="1300" b="1" dirty="0">
                <a:solidFill>
                  <a:schemeClr val="accent6"/>
                </a:solidFill>
              </a:rPr>
              <a:t>s</a:t>
            </a:r>
            <a:endParaRPr lang="en-US" sz="1300" dirty="0"/>
          </a:p>
        </p:txBody>
      </p:sp>
      <p:sp>
        <p:nvSpPr>
          <p:cNvPr id="15" name="Text 13"/>
          <p:cNvSpPr txBox="1"/>
          <p:nvPr/>
        </p:nvSpPr>
        <p:spPr>
          <a:xfrm>
            <a:off x="960120" y="3922776"/>
            <a:ext cx="566928" cy="502920"/>
          </a:xfrm>
          <a:prstGeom prst="rect">
            <a:avLst/>
          </a:prstGeom>
          <a:noFill/>
          <a:ln/>
        </p:spPr>
        <p:txBody>
          <a:bodyPr wrap="square" lIns="0" tIns="0" rIns="0" bIns="0" rtlCol="0" anchor="ctr"/>
          <a:lstStyle/>
          <a:p>
            <a:pPr algn="r" indent="0" marL="0">
              <a:buNone/>
            </a:pPr>
            <a:r>
              <a:rPr lang="en-US" sz="1300" i="1" dirty="0">
                <a:solidFill>
                  <a:schemeClr val="accent6"/>
                </a:solidFill>
              </a:rPr>
              <a:t>oben</a:t>
            </a:r>
            <a:endParaRPr lang="en-US" sz="1300" dirty="0"/>
          </a:p>
        </p:txBody>
      </p:sp>
      <p:sp>
        <p:nvSpPr>
          <p:cNvPr id="16" name="Pfeil oben"/>
          <p:cNvSpPr/>
          <p:nvPr/>
        </p:nvSpPr>
        <p:spPr>
          <a:xfrm>
            <a:off x="1554480" y="4174236"/>
            <a:ext cx="246888" cy="91"/>
          </a:xfrm>
          <a:prstGeom prst="line">
            <a:avLst/>
          </a:prstGeom>
          <a:noFill/>
          <a:ln w="19050">
            <a:solidFill>
              <a:schemeClr val="accent6"/>
            </a:solidFill>
            <a:prstDash val="solid"/>
            <a:tailEnd type="triangle"/>
          </a:ln>
        </p:spPr>
      </p:sp>
      <p:sp>
        <p:nvSpPr>
          <p:cNvPr id="17" name="Schlange oben"/>
          <p:cNvSpPr/>
          <p:nvPr/>
        </p:nvSpPr>
        <p:spPr>
          <a:xfrm>
            <a:off x="7818120" y="3840480"/>
            <a:ext cx="3328416" cy="91"/>
          </a:xfrm>
          <a:prstGeom prst="line">
            <a:avLst/>
          </a:prstGeom>
          <a:noFill/>
          <a:ln w="31750">
            <a:solidFill>
              <a:schemeClr val="accent1"/>
            </a:solidFill>
            <a:prstDash val="solid"/>
          </a:ln>
        </p:spPr>
      </p:sp>
      <p:sp>
        <p:nvSpPr>
          <p:cNvPr id="18" name="Schlange unten"/>
          <p:cNvSpPr/>
          <p:nvPr/>
        </p:nvSpPr>
        <p:spPr>
          <a:xfrm>
            <a:off x="7818120" y="4517136"/>
            <a:ext cx="3328416" cy="91"/>
          </a:xfrm>
          <a:prstGeom prst="line">
            <a:avLst/>
          </a:prstGeom>
          <a:noFill/>
          <a:ln w="31750">
            <a:solidFill>
              <a:schemeClr val="accent1"/>
            </a:solidFill>
            <a:prstDash val="solid"/>
          </a:ln>
        </p:spPr>
      </p:sp>
      <p:sp>
        <p:nvSpPr>
          <p:cNvPr id="19" name="Element Albatros"/>
          <p:cNvSpPr txBox="1"/>
          <p:nvPr/>
        </p:nvSpPr>
        <p:spPr>
          <a:xfrm>
            <a:off x="7909560" y="3904488"/>
            <a:ext cx="1545336" cy="548640"/>
          </a:xfrm>
          <a:prstGeom prst="roundRect">
            <a:avLst>
              <a:gd name="adj" fmla="val 13333"/>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Albatros</a:t>
            </a:r>
            <a:endParaRPr lang="en-US" sz="1700" dirty="0"/>
          </a:p>
        </p:txBody>
      </p:sp>
      <p:sp>
        <p:nvSpPr>
          <p:cNvPr id="20" name="Element Moewe"/>
          <p:cNvSpPr txBox="1"/>
          <p:nvPr/>
        </p:nvSpPr>
        <p:spPr>
          <a:xfrm>
            <a:off x="9509760" y="3904488"/>
            <a:ext cx="1545336" cy="548640"/>
          </a:xfrm>
          <a:prstGeom prst="roundRect">
            <a:avLst>
              <a:gd name="adj" fmla="val 13333"/>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700" b="1" dirty="0">
                <a:solidFill>
                  <a:schemeClr val="accent1"/>
                </a:solidFill>
              </a:rPr>
              <a:t>Moewe</a:t>
            </a:r>
            <a:endParaRPr lang="en-US" sz="1700" dirty="0"/>
          </a:p>
        </p:txBody>
      </p:sp>
      <p:sp>
        <p:nvSpPr>
          <p:cNvPr id="21" name="Text 19"/>
          <p:cNvSpPr txBox="1"/>
          <p:nvPr/>
        </p:nvSpPr>
        <p:spPr>
          <a:xfrm>
            <a:off x="7818120" y="4553712"/>
            <a:ext cx="914400" cy="256032"/>
          </a:xfrm>
          <a:prstGeom prst="rect">
            <a:avLst/>
          </a:prstGeom>
          <a:noFill/>
          <a:ln/>
        </p:spPr>
        <p:txBody>
          <a:bodyPr wrap="square" lIns="0" tIns="0" rIns="0" bIns="0" rtlCol="0" anchor="t"/>
          <a:lstStyle/>
          <a:p>
            <a:pPr indent="0" marL="0">
              <a:buNone/>
            </a:pPr>
            <a:r>
              <a:rPr lang="en-US" sz="1200" i="1" dirty="0">
                <a:solidFill>
                  <a:schemeClr val="accent6"/>
                </a:solidFill>
              </a:rPr>
              <a:t>vorne</a:t>
            </a:r>
            <a:endParaRPr lang="en-US" sz="1200" dirty="0"/>
          </a:p>
        </p:txBody>
      </p:sp>
      <p:sp>
        <p:nvSpPr>
          <p:cNvPr id="22" name="Text 20"/>
          <p:cNvSpPr txBox="1"/>
          <p:nvPr/>
        </p:nvSpPr>
        <p:spPr>
          <a:xfrm>
            <a:off x="10232136" y="4553712"/>
            <a:ext cx="914400" cy="256032"/>
          </a:xfrm>
          <a:prstGeom prst="rect">
            <a:avLst/>
          </a:prstGeom>
          <a:noFill/>
          <a:ln/>
        </p:spPr>
        <p:txBody>
          <a:bodyPr wrap="square" lIns="0" tIns="0" rIns="0" bIns="0" rtlCol="0" anchor="t"/>
          <a:lstStyle/>
          <a:p>
            <a:pPr algn="r" indent="0" marL="0">
              <a:buNone/>
            </a:pPr>
            <a:r>
              <a:rPr lang="en-US" sz="1200" i="1" dirty="0">
                <a:solidFill>
                  <a:schemeClr val="accent6"/>
                </a:solidFill>
              </a:rPr>
              <a:t>hinten</a:t>
            </a:r>
            <a:endParaRPr lang="en-US" sz="1200" dirty="0"/>
          </a:p>
        </p:txBody>
      </p:sp>
      <p:sp>
        <p:nvSpPr>
          <p:cNvPr id="23" name="Pfeil push"/>
          <p:cNvSpPr/>
          <p:nvPr/>
        </p:nvSpPr>
        <p:spPr>
          <a:xfrm flipH="1">
            <a:off x="3474720" y="3694176"/>
            <a:ext cx="685800" cy="475488"/>
          </a:xfrm>
          <a:prstGeom prst="line">
            <a:avLst/>
          </a:prstGeom>
          <a:noFill/>
          <a:ln w="28575">
            <a:solidFill>
              <a:schemeClr val="accent2"/>
            </a:solidFill>
            <a:prstDash val="solid"/>
            <a:tailEnd type="triangle"/>
          </a:ln>
        </p:spPr>
      </p:sp>
      <p:sp>
        <p:nvSpPr>
          <p:cNvPr id="24" name="Text 22"/>
          <p:cNvSpPr txBox="1"/>
          <p:nvPr/>
        </p:nvSpPr>
        <p:spPr>
          <a:xfrm>
            <a:off x="3840480" y="3374136"/>
            <a:ext cx="1463040" cy="274320"/>
          </a:xfrm>
          <a:prstGeom prst="rect">
            <a:avLst/>
          </a:prstGeom>
          <a:noFill/>
          <a:ln/>
        </p:spPr>
        <p:txBody>
          <a:bodyPr wrap="square" lIns="0" tIns="0" rIns="0" bIns="0" rtlCol="0" anchor="t"/>
          <a:lstStyle/>
          <a:p>
            <a:pPr indent="0" marL="0">
              <a:buNone/>
            </a:pPr>
            <a:r>
              <a:rPr lang="en-US" sz="1300" i="1" dirty="0">
                <a:solidFill>
                  <a:schemeClr val="accent2"/>
                </a:solidFill>
              </a:rPr>
              <a:t>oben drauf</a:t>
            </a:r>
            <a:endParaRPr lang="en-US" sz="1300" dirty="0"/>
          </a:p>
        </p:txBody>
      </p:sp>
      <p:sp>
        <p:nvSpPr>
          <p:cNvPr id="25" name="Pfeil enqueue"/>
          <p:cNvSpPr/>
          <p:nvPr/>
        </p:nvSpPr>
        <p:spPr>
          <a:xfrm flipH="1">
            <a:off x="10282428" y="3383280"/>
            <a:ext cx="182880" cy="411480"/>
          </a:xfrm>
          <a:prstGeom prst="line">
            <a:avLst/>
          </a:prstGeom>
          <a:noFill/>
          <a:ln w="28575">
            <a:solidFill>
              <a:schemeClr val="accent2"/>
            </a:solidFill>
            <a:prstDash val="solid"/>
            <a:tailEnd type="triangle"/>
          </a:ln>
        </p:spPr>
      </p:sp>
      <p:sp>
        <p:nvSpPr>
          <p:cNvPr id="26" name="Text 24"/>
          <p:cNvSpPr txBox="1"/>
          <p:nvPr/>
        </p:nvSpPr>
        <p:spPr>
          <a:xfrm>
            <a:off x="9916668" y="3090672"/>
            <a:ext cx="1828800" cy="274320"/>
          </a:xfrm>
          <a:prstGeom prst="rect">
            <a:avLst/>
          </a:prstGeom>
          <a:noFill/>
          <a:ln/>
        </p:spPr>
        <p:txBody>
          <a:bodyPr wrap="square" lIns="0" tIns="0" rIns="0" bIns="0" rtlCol="0" anchor="t"/>
          <a:lstStyle/>
          <a:p>
            <a:pPr indent="0" marL="0">
              <a:buNone/>
            </a:pPr>
            <a:r>
              <a:rPr lang="en-US" sz="1300" i="1" dirty="0">
                <a:solidFill>
                  <a:schemeClr val="accent2"/>
                </a:solidFill>
              </a:rPr>
              <a:t>hinten anstellen</a:t>
            </a:r>
            <a:endParaRPr lang="en-US" sz="1300" dirty="0"/>
          </a:p>
        </p:txBody>
      </p:sp>
      <p:sp>
        <p:nvSpPr>
          <p:cNvPr id="27" name="Erklaerung Stapel"/>
          <p:cNvSpPr/>
          <p:nvPr/>
        </p:nvSpPr>
        <p:spPr>
          <a:xfrm>
            <a:off x="548640" y="5440680"/>
            <a:ext cx="5394960" cy="731520"/>
          </a:xfrm>
          <a:prstGeom prst="roundRect">
            <a:avLst>
              <a:gd name="adj" fmla="val 15000"/>
            </a:avLst>
          </a:prstGeom>
          <a:solidFill>
            <a:schemeClr val="bg2"/>
          </a:solidFill>
          <a:ln/>
        </p:spPr>
      </p:sp>
      <p:sp>
        <p:nvSpPr>
          <p:cNvPr id="28" name="Text 26"/>
          <p:cNvSpPr txBox="1"/>
          <p:nvPr/>
        </p:nvSpPr>
        <p:spPr>
          <a:xfrm>
            <a:off x="749808" y="5440680"/>
            <a:ext cx="5029200" cy="731520"/>
          </a:xfrm>
          <a:prstGeom prst="rect">
            <a:avLst/>
          </a:prstGeom>
          <a:noFill/>
          <a:ln/>
        </p:spPr>
        <p:txBody>
          <a:bodyPr wrap="square" lIns="0" tIns="0" rIns="0" bIns="0" rtlCol="0" anchor="ctr"/>
          <a:lstStyle/>
          <a:p>
            <a:pPr indent="0" marL="0">
              <a:buNone/>
            </a:pPr>
            <a:r>
              <a:rPr lang="en-US" sz="1500" dirty="0">
                <a:solidFill>
                  <a:schemeClr val="tx1"/>
                </a:solidFill>
              </a:rPr>
              <a:t>push(8): 8 liegt jetzt oben auf der 4.</a:t>
            </a:r>
            <a:endParaRPr lang="en-US" sz="1500" dirty="0"/>
          </a:p>
        </p:txBody>
      </p:sp>
      <p:sp>
        <p:nvSpPr>
          <p:cNvPr id="29" name="Erklaerung Schlange"/>
          <p:cNvSpPr/>
          <p:nvPr/>
        </p:nvSpPr>
        <p:spPr>
          <a:xfrm>
            <a:off x="6217920" y="5440680"/>
            <a:ext cx="5394960" cy="731520"/>
          </a:xfrm>
          <a:prstGeom prst="roundRect">
            <a:avLst>
              <a:gd name="adj" fmla="val 15000"/>
            </a:avLst>
          </a:prstGeom>
          <a:solidFill>
            <a:schemeClr val="bg2"/>
          </a:solidFill>
          <a:ln/>
        </p:spPr>
      </p:sp>
      <p:sp>
        <p:nvSpPr>
          <p:cNvPr id="30" name="Text 28"/>
          <p:cNvSpPr txBox="1"/>
          <p:nvPr/>
        </p:nvSpPr>
        <p:spPr>
          <a:xfrm>
            <a:off x="6419088" y="5440680"/>
            <a:ext cx="5029200" cy="731520"/>
          </a:xfrm>
          <a:prstGeom prst="rect">
            <a:avLst/>
          </a:prstGeom>
          <a:noFill/>
          <a:ln/>
        </p:spPr>
        <p:txBody>
          <a:bodyPr wrap="square" lIns="0" tIns="0" rIns="0" bIns="0" rtlCol="0" anchor="ctr"/>
          <a:lstStyle/>
          <a:p>
            <a:pPr indent="0" marL="0">
              <a:buNone/>
            </a:pPr>
            <a:r>
              <a:rPr lang="en-US" sz="1500" dirty="0">
                <a:solidFill>
                  <a:schemeClr val="tx1"/>
                </a:solidFill>
              </a:rPr>
              <a:t>enqueue("Moewe"): Moewe stellt sich hinter Albatros an.</a:t>
            </a:r>
            <a:endParaRPr lang="en-US" sz="1500" dirty="0"/>
          </a:p>
        </p:txBody>
      </p:sp>
      <p:sp>
        <p:nvSpPr>
          <p:cNvPr id="31" name="Text 29"/>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24 · Stapel und Schlange · 2/3</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Stapel und Schlange: Wer kommt zuerst heraus?</a:t>
            </a:r>
            <a:endParaRPr lang="en-US" sz="3600" dirty="0"/>
          </a:p>
        </p:txBody>
      </p:sp>
      <p:sp>
        <p:nvSpPr>
          <p:cNvPr id="3" name="Text 1"/>
          <p:cNvSpPr txBox="1"/>
          <p:nvPr/>
        </p:nvSpPr>
        <p:spPr>
          <a:xfrm>
            <a:off x="548640" y="1280160"/>
            <a:ext cx="5394960" cy="365760"/>
          </a:xfrm>
          <a:prstGeom prst="rect">
            <a:avLst/>
          </a:prstGeom>
          <a:noFill/>
          <a:ln/>
        </p:spPr>
        <p:txBody>
          <a:bodyPr wrap="square" lIns="0" tIns="0" rIns="0" bIns="0" rtlCol="0" anchor="t"/>
          <a:lstStyle/>
          <a:p>
            <a:pPr indent="0" marL="0">
              <a:buNone/>
            </a:pPr>
            <a:r>
              <a:rPr lang="en-US" sz="1900" b="1" dirty="0">
                <a:solidFill>
                  <a:schemeClr val="accent1"/>
                </a:solidFill>
              </a:rPr>
              <a:t>Stapel s</a:t>
            </a:r>
            <a:pPr indent="0" marL="0">
              <a:buNone/>
            </a:pPr>
            <a:r>
              <a:rPr lang="en-US" sz="1900" dirty="0">
                <a:solidFill>
                  <a:schemeClr val="accent6"/>
                </a:solidFill>
              </a:rPr>
              <a:t>  ·  LIFO: Last In, First Out</a:t>
            </a:r>
            <a:endParaRPr lang="en-US" sz="1900" dirty="0"/>
          </a:p>
        </p:txBody>
      </p:sp>
      <p:sp>
        <p:nvSpPr>
          <p:cNvPr id="4" name="Text 2"/>
          <p:cNvSpPr txBox="1"/>
          <p:nvPr/>
        </p:nvSpPr>
        <p:spPr>
          <a:xfrm>
            <a:off x="6217920" y="1280160"/>
            <a:ext cx="5394960" cy="365760"/>
          </a:xfrm>
          <a:prstGeom prst="rect">
            <a:avLst/>
          </a:prstGeom>
          <a:noFill/>
          <a:ln/>
        </p:spPr>
        <p:txBody>
          <a:bodyPr wrap="square" lIns="0" tIns="0" rIns="0" bIns="0" rtlCol="0" anchor="t"/>
          <a:lstStyle/>
          <a:p>
            <a:pPr indent="0" marL="0">
              <a:buNone/>
            </a:pPr>
            <a:r>
              <a:rPr lang="en-US" sz="1900" b="1" dirty="0">
                <a:solidFill>
                  <a:schemeClr val="accent1"/>
                </a:solidFill>
              </a:rPr>
              <a:t>Schlange q</a:t>
            </a:r>
            <a:pPr indent="0" marL="0">
              <a:buNone/>
            </a:pPr>
            <a:r>
              <a:rPr lang="en-US" sz="1900" dirty="0">
                <a:solidFill>
                  <a:schemeClr val="accent6"/>
                </a:solidFill>
              </a:rPr>
              <a:t>  ·  FIFO: First In, First Out</a:t>
            </a:r>
            <a:endParaRPr lang="en-US" sz="1900" dirty="0"/>
          </a:p>
        </p:txBody>
      </p:sp>
      <p:sp>
        <p:nvSpPr>
          <p:cNvPr id="5" name="Code"/>
          <p:cNvSpPr txBox="1"/>
          <p:nvPr/>
        </p:nvSpPr>
        <p:spPr>
          <a:xfrm>
            <a:off x="548640" y="1737360"/>
            <a:ext cx="5394960" cy="1266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Stack</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new</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Stack</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push</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(4);</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push</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(8);</a:t>
            </a:r>
            <a:endParaRPr lang="en-US" sz="1500" dirty="0"/>
          </a:p>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x</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Integer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pop</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p:txBody>
      </p:sp>
      <p:sp>
        <p:nvSpPr>
          <p:cNvPr id="6" name="Code"/>
          <p:cNvSpPr txBox="1"/>
          <p:nvPr/>
        </p:nvSpPr>
        <p:spPr>
          <a:xfrm>
            <a:off x="6217920" y="1737360"/>
            <a:ext cx="5394960" cy="1266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new</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enqueue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"Albatros"</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enqueue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"Moewe"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String</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String</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q</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dequeue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p:txBody>
      </p:sp>
      <p:sp>
        <p:nvSpPr>
          <p:cNvPr id="7" name="aktive Zeile"/>
          <p:cNvSpPr/>
          <p:nvPr/>
        </p:nvSpPr>
        <p:spPr>
          <a:xfrm>
            <a:off x="594360" y="2589276"/>
            <a:ext cx="5303520" cy="241300"/>
          </a:xfrm>
          <a:prstGeom prst="rect">
            <a:avLst/>
          </a:prstGeom>
          <a:ln w="34925">
            <a:solidFill>
              <a:schemeClr val="accent2"/>
            </a:solidFill>
            <a:prstDash val="solid"/>
          </a:ln>
        </p:spPr>
      </p:sp>
      <p:sp>
        <p:nvSpPr>
          <p:cNvPr id="8" name="aktive Zeile"/>
          <p:cNvSpPr/>
          <p:nvPr/>
        </p:nvSpPr>
        <p:spPr>
          <a:xfrm>
            <a:off x="6263640" y="2589276"/>
            <a:ext cx="5303520" cy="241300"/>
          </a:xfrm>
          <a:prstGeom prst="rect">
            <a:avLst/>
          </a:prstGeom>
          <a:ln w="34925">
            <a:solidFill>
              <a:schemeClr val="accent2"/>
            </a:solidFill>
            <a:prstDash val="solid"/>
          </a:ln>
        </p:spPr>
      </p:sp>
      <p:sp>
        <p:nvSpPr>
          <p:cNvPr id="9" name="Stapel Wand links"/>
          <p:cNvSpPr/>
          <p:nvPr/>
        </p:nvSpPr>
        <p:spPr>
          <a:xfrm>
            <a:off x="1828800" y="3346704"/>
            <a:ext cx="91" cy="1682496"/>
          </a:xfrm>
          <a:prstGeom prst="line">
            <a:avLst/>
          </a:prstGeom>
          <a:noFill/>
          <a:ln w="31750">
            <a:solidFill>
              <a:schemeClr val="accent1"/>
            </a:solidFill>
            <a:prstDash val="solid"/>
          </a:ln>
        </p:spPr>
      </p:sp>
      <p:sp>
        <p:nvSpPr>
          <p:cNvPr id="10" name="Stapel Boden"/>
          <p:cNvSpPr/>
          <p:nvPr/>
        </p:nvSpPr>
        <p:spPr>
          <a:xfrm>
            <a:off x="1828800" y="5029200"/>
            <a:ext cx="1554480" cy="91"/>
          </a:xfrm>
          <a:prstGeom prst="line">
            <a:avLst/>
          </a:prstGeom>
          <a:noFill/>
          <a:ln w="31750">
            <a:solidFill>
              <a:schemeClr val="accent1"/>
            </a:solidFill>
            <a:prstDash val="solid"/>
          </a:ln>
        </p:spPr>
      </p:sp>
      <p:sp>
        <p:nvSpPr>
          <p:cNvPr id="11" name="Stapel Wand rechts"/>
          <p:cNvSpPr/>
          <p:nvPr/>
        </p:nvSpPr>
        <p:spPr>
          <a:xfrm>
            <a:off x="3383280" y="3346704"/>
            <a:ext cx="91" cy="1682496"/>
          </a:xfrm>
          <a:prstGeom prst="line">
            <a:avLst/>
          </a:prstGeom>
          <a:noFill/>
          <a:ln w="31750">
            <a:solidFill>
              <a:schemeClr val="accent1"/>
            </a:solidFill>
            <a:prstDash val="solid"/>
          </a:ln>
        </p:spPr>
      </p:sp>
      <p:sp>
        <p:nvSpPr>
          <p:cNvPr id="12" name="Element 4"/>
          <p:cNvSpPr txBox="1"/>
          <p:nvPr/>
        </p:nvSpPr>
        <p:spPr>
          <a:xfrm>
            <a:off x="1892808" y="4462272"/>
            <a:ext cx="1426464" cy="502920"/>
          </a:xfrm>
          <a:prstGeom prst="roundRect">
            <a:avLst>
              <a:gd name="adj" fmla="val 14545"/>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4</a:t>
            </a:r>
            <a:endParaRPr lang="en-US" sz="1800" dirty="0"/>
          </a:p>
        </p:txBody>
      </p:sp>
      <p:sp>
        <p:nvSpPr>
          <p:cNvPr id="13" name="Text 11"/>
          <p:cNvSpPr txBox="1"/>
          <p:nvPr/>
        </p:nvSpPr>
        <p:spPr>
          <a:xfrm>
            <a:off x="1554480" y="5074920"/>
            <a:ext cx="2103120" cy="274320"/>
          </a:xfrm>
          <a:prstGeom prst="rect">
            <a:avLst/>
          </a:prstGeom>
          <a:noFill/>
          <a:ln/>
        </p:spPr>
        <p:txBody>
          <a:bodyPr wrap="square" lIns="0" tIns="0" rIns="0" bIns="0" rtlCol="0" anchor="t"/>
          <a:lstStyle/>
          <a:p>
            <a:pPr algn="ctr" indent="0" marL="0">
              <a:buNone/>
            </a:pPr>
            <a:r>
              <a:rPr lang="en-US" sz="1300" b="1" dirty="0">
                <a:solidFill>
                  <a:schemeClr val="accent6"/>
                </a:solidFill>
              </a:rPr>
              <a:t>s</a:t>
            </a:r>
            <a:endParaRPr lang="en-US" sz="1300" dirty="0"/>
          </a:p>
        </p:txBody>
      </p:sp>
      <p:sp>
        <p:nvSpPr>
          <p:cNvPr id="14" name="Text 12"/>
          <p:cNvSpPr txBox="1"/>
          <p:nvPr/>
        </p:nvSpPr>
        <p:spPr>
          <a:xfrm>
            <a:off x="960120" y="4462272"/>
            <a:ext cx="566928" cy="502920"/>
          </a:xfrm>
          <a:prstGeom prst="rect">
            <a:avLst/>
          </a:prstGeom>
          <a:noFill/>
          <a:ln/>
        </p:spPr>
        <p:txBody>
          <a:bodyPr wrap="square" lIns="0" tIns="0" rIns="0" bIns="0" rtlCol="0" anchor="ctr"/>
          <a:lstStyle/>
          <a:p>
            <a:pPr algn="r" indent="0" marL="0">
              <a:buNone/>
            </a:pPr>
            <a:r>
              <a:rPr lang="en-US" sz="1300" i="1" dirty="0">
                <a:solidFill>
                  <a:schemeClr val="accent6"/>
                </a:solidFill>
              </a:rPr>
              <a:t>oben</a:t>
            </a:r>
            <a:endParaRPr lang="en-US" sz="1300" dirty="0"/>
          </a:p>
        </p:txBody>
      </p:sp>
      <p:sp>
        <p:nvSpPr>
          <p:cNvPr id="15" name="Pfeil oben"/>
          <p:cNvSpPr/>
          <p:nvPr/>
        </p:nvSpPr>
        <p:spPr>
          <a:xfrm>
            <a:off x="1554480" y="4713732"/>
            <a:ext cx="246888" cy="91"/>
          </a:xfrm>
          <a:prstGeom prst="line">
            <a:avLst/>
          </a:prstGeom>
          <a:noFill/>
          <a:ln w="19050">
            <a:solidFill>
              <a:schemeClr val="accent6"/>
            </a:solidFill>
            <a:prstDash val="solid"/>
            <a:tailEnd type="triangle"/>
          </a:ln>
        </p:spPr>
      </p:sp>
      <p:sp>
        <p:nvSpPr>
          <p:cNvPr id="16" name="Schlange oben"/>
          <p:cNvSpPr/>
          <p:nvPr/>
        </p:nvSpPr>
        <p:spPr>
          <a:xfrm>
            <a:off x="7818120" y="3840480"/>
            <a:ext cx="3328416" cy="91"/>
          </a:xfrm>
          <a:prstGeom prst="line">
            <a:avLst/>
          </a:prstGeom>
          <a:noFill/>
          <a:ln w="31750">
            <a:solidFill>
              <a:schemeClr val="accent1"/>
            </a:solidFill>
            <a:prstDash val="solid"/>
          </a:ln>
        </p:spPr>
      </p:sp>
      <p:sp>
        <p:nvSpPr>
          <p:cNvPr id="17" name="Schlange unten"/>
          <p:cNvSpPr/>
          <p:nvPr/>
        </p:nvSpPr>
        <p:spPr>
          <a:xfrm>
            <a:off x="7818120" y="4517136"/>
            <a:ext cx="3328416" cy="91"/>
          </a:xfrm>
          <a:prstGeom prst="line">
            <a:avLst/>
          </a:prstGeom>
          <a:noFill/>
          <a:ln w="31750">
            <a:solidFill>
              <a:schemeClr val="accent1"/>
            </a:solidFill>
            <a:prstDash val="solid"/>
          </a:ln>
        </p:spPr>
      </p:sp>
      <p:sp>
        <p:nvSpPr>
          <p:cNvPr id="18" name="Element Moewe"/>
          <p:cNvSpPr txBox="1"/>
          <p:nvPr/>
        </p:nvSpPr>
        <p:spPr>
          <a:xfrm>
            <a:off x="7909560" y="3904488"/>
            <a:ext cx="1545336" cy="548640"/>
          </a:xfrm>
          <a:prstGeom prst="roundRect">
            <a:avLst>
              <a:gd name="adj" fmla="val 13333"/>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Moewe</a:t>
            </a:r>
            <a:endParaRPr lang="en-US" sz="1700" dirty="0"/>
          </a:p>
        </p:txBody>
      </p:sp>
      <p:sp>
        <p:nvSpPr>
          <p:cNvPr id="19" name="Text 17"/>
          <p:cNvSpPr txBox="1"/>
          <p:nvPr/>
        </p:nvSpPr>
        <p:spPr>
          <a:xfrm>
            <a:off x="7818120" y="4553712"/>
            <a:ext cx="914400" cy="256032"/>
          </a:xfrm>
          <a:prstGeom prst="rect">
            <a:avLst/>
          </a:prstGeom>
          <a:noFill/>
          <a:ln/>
        </p:spPr>
        <p:txBody>
          <a:bodyPr wrap="square" lIns="0" tIns="0" rIns="0" bIns="0" rtlCol="0" anchor="t"/>
          <a:lstStyle/>
          <a:p>
            <a:pPr indent="0" marL="0">
              <a:buNone/>
            </a:pPr>
            <a:r>
              <a:rPr lang="en-US" sz="1200" i="1" dirty="0">
                <a:solidFill>
                  <a:schemeClr val="accent6"/>
                </a:solidFill>
              </a:rPr>
              <a:t>vorne</a:t>
            </a:r>
            <a:endParaRPr lang="en-US" sz="1200" dirty="0"/>
          </a:p>
        </p:txBody>
      </p:sp>
      <p:sp>
        <p:nvSpPr>
          <p:cNvPr id="20" name="Text 18"/>
          <p:cNvSpPr txBox="1"/>
          <p:nvPr/>
        </p:nvSpPr>
        <p:spPr>
          <a:xfrm>
            <a:off x="10232136" y="4553712"/>
            <a:ext cx="914400" cy="256032"/>
          </a:xfrm>
          <a:prstGeom prst="rect">
            <a:avLst/>
          </a:prstGeom>
          <a:noFill/>
          <a:ln/>
        </p:spPr>
        <p:txBody>
          <a:bodyPr wrap="square" lIns="0" tIns="0" rIns="0" bIns="0" rtlCol="0" anchor="t"/>
          <a:lstStyle/>
          <a:p>
            <a:pPr algn="r" indent="0" marL="0">
              <a:buNone/>
            </a:pPr>
            <a:r>
              <a:rPr lang="en-US" sz="1200" i="1" dirty="0">
                <a:solidFill>
                  <a:schemeClr val="accent6"/>
                </a:solidFill>
              </a:rPr>
              <a:t>hinten</a:t>
            </a:r>
            <a:endParaRPr lang="en-US" sz="1200" dirty="0"/>
          </a:p>
        </p:txBody>
      </p:sp>
      <p:sp>
        <p:nvSpPr>
          <p:cNvPr id="21" name="Element 8"/>
          <p:cNvSpPr txBox="1"/>
          <p:nvPr/>
        </p:nvSpPr>
        <p:spPr>
          <a:xfrm>
            <a:off x="3886200" y="3922776"/>
            <a:ext cx="1371600" cy="502920"/>
          </a:xfrm>
          <a:prstGeom prst="roundRect">
            <a:avLst>
              <a:gd name="adj" fmla="val 14545"/>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800" b="1" dirty="0">
                <a:solidFill>
                  <a:schemeClr val="accent3"/>
                </a:solidFill>
              </a:rPr>
              <a:t>8</a:t>
            </a:r>
            <a:endParaRPr lang="en-US" sz="1800" dirty="0"/>
          </a:p>
        </p:txBody>
      </p:sp>
      <p:sp>
        <p:nvSpPr>
          <p:cNvPr id="22" name="Pfeil pop"/>
          <p:cNvSpPr/>
          <p:nvPr/>
        </p:nvSpPr>
        <p:spPr>
          <a:xfrm>
            <a:off x="3429000" y="4169664"/>
            <a:ext cx="411480" cy="91"/>
          </a:xfrm>
          <a:prstGeom prst="line">
            <a:avLst/>
          </a:prstGeom>
          <a:noFill/>
          <a:ln w="28575">
            <a:solidFill>
              <a:schemeClr val="accent3"/>
            </a:solidFill>
            <a:prstDash val="solid"/>
            <a:tailEnd type="triangle"/>
          </a:ln>
        </p:spPr>
      </p:sp>
      <p:sp>
        <p:nvSpPr>
          <p:cNvPr id="23" name="Text 21"/>
          <p:cNvSpPr txBox="1"/>
          <p:nvPr/>
        </p:nvSpPr>
        <p:spPr>
          <a:xfrm>
            <a:off x="3886200" y="3557016"/>
            <a:ext cx="1371600" cy="292608"/>
          </a:xfrm>
          <a:prstGeom prst="rect">
            <a:avLst/>
          </a:prstGeom>
          <a:noFill/>
          <a:ln/>
        </p:spPr>
        <p:txBody>
          <a:bodyPr wrap="square" lIns="0" tIns="0" rIns="0" bIns="0" rtlCol="0" anchor="t"/>
          <a:lstStyle/>
          <a:p>
            <a:pPr algn="ctr" indent="0" marL="0">
              <a:buNone/>
            </a:pPr>
            <a:r>
              <a:rPr lang="en-US" sz="1500" b="1" dirty="0">
                <a:solidFill>
                  <a:schemeClr val="accent3"/>
                </a:solidFill>
                <a:latin typeface="Consolas" pitchFamily="34" charset="0"/>
                <a:ea typeface="Consolas" pitchFamily="34" charset="-122"/>
                <a:cs typeface="Consolas" pitchFamily="34" charset="-120"/>
              </a:rPr>
              <a:t>x = 8</a:t>
            </a:r>
            <a:endParaRPr lang="en-US" sz="1500" dirty="0"/>
          </a:p>
        </p:txBody>
      </p:sp>
      <p:sp>
        <p:nvSpPr>
          <p:cNvPr id="24" name="Element Albatros"/>
          <p:cNvSpPr txBox="1"/>
          <p:nvPr/>
        </p:nvSpPr>
        <p:spPr>
          <a:xfrm>
            <a:off x="6355080" y="3904488"/>
            <a:ext cx="1188720" cy="548640"/>
          </a:xfrm>
          <a:prstGeom prst="roundRect">
            <a:avLst>
              <a:gd name="adj" fmla="val 13333"/>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400" b="1" dirty="0">
                <a:solidFill>
                  <a:schemeClr val="accent3"/>
                </a:solidFill>
              </a:rPr>
              <a:t>Albatros</a:t>
            </a:r>
            <a:endParaRPr lang="en-US" sz="1400" dirty="0"/>
          </a:p>
        </p:txBody>
      </p:sp>
      <p:sp>
        <p:nvSpPr>
          <p:cNvPr id="25" name="Pfeil dequeue"/>
          <p:cNvSpPr/>
          <p:nvPr/>
        </p:nvSpPr>
        <p:spPr>
          <a:xfrm flipH="1">
            <a:off x="7589520" y="4178808"/>
            <a:ext cx="182880" cy="91"/>
          </a:xfrm>
          <a:prstGeom prst="line">
            <a:avLst/>
          </a:prstGeom>
          <a:noFill/>
          <a:ln w="28575">
            <a:solidFill>
              <a:schemeClr val="accent3"/>
            </a:solidFill>
            <a:prstDash val="solid"/>
            <a:tailEnd type="triangle"/>
          </a:ln>
        </p:spPr>
      </p:sp>
      <p:sp>
        <p:nvSpPr>
          <p:cNvPr id="26" name="Text 24"/>
          <p:cNvSpPr txBox="1"/>
          <p:nvPr/>
        </p:nvSpPr>
        <p:spPr>
          <a:xfrm>
            <a:off x="6172200" y="3520440"/>
            <a:ext cx="1600200" cy="292608"/>
          </a:xfrm>
          <a:prstGeom prst="rect">
            <a:avLst/>
          </a:prstGeom>
          <a:noFill/>
          <a:ln/>
        </p:spPr>
        <p:txBody>
          <a:bodyPr wrap="square" lIns="0" tIns="0" rIns="0" bIns="0" rtlCol="0" anchor="t"/>
          <a:lstStyle/>
          <a:p>
            <a:pPr algn="ctr" indent="0" marL="0">
              <a:buNone/>
            </a:pPr>
            <a:r>
              <a:rPr lang="en-US" sz="1300" b="1" dirty="0">
                <a:solidFill>
                  <a:schemeClr val="accent3"/>
                </a:solidFill>
                <a:latin typeface="Consolas" pitchFamily="34" charset="0"/>
                <a:ea typeface="Consolas" pitchFamily="34" charset="-122"/>
                <a:cs typeface="Consolas" pitchFamily="34" charset="-120"/>
              </a:rPr>
              <a:t>n = "Albatros"</a:t>
            </a:r>
            <a:endParaRPr lang="en-US" sz="1300" dirty="0"/>
          </a:p>
        </p:txBody>
      </p:sp>
      <p:sp>
        <p:nvSpPr>
          <p:cNvPr id="27" name="Erklaerung Stapel"/>
          <p:cNvSpPr/>
          <p:nvPr/>
        </p:nvSpPr>
        <p:spPr>
          <a:xfrm>
            <a:off x="548640" y="5440680"/>
            <a:ext cx="5394960" cy="731520"/>
          </a:xfrm>
          <a:prstGeom prst="roundRect">
            <a:avLst>
              <a:gd name="adj" fmla="val 15000"/>
            </a:avLst>
          </a:prstGeom>
          <a:solidFill>
            <a:schemeClr val="bg1"/>
          </a:solidFill>
          <a:ln w="25400">
            <a:solidFill>
              <a:schemeClr val="accent3"/>
            </a:solidFill>
            <a:prstDash val="solid"/>
          </a:ln>
        </p:spPr>
      </p:sp>
      <p:sp>
        <p:nvSpPr>
          <p:cNvPr id="28" name="Text 26"/>
          <p:cNvSpPr txBox="1"/>
          <p:nvPr/>
        </p:nvSpPr>
        <p:spPr>
          <a:xfrm>
            <a:off x="749808" y="5440680"/>
            <a:ext cx="5029200" cy="731520"/>
          </a:xfrm>
          <a:prstGeom prst="rect">
            <a:avLst/>
          </a:prstGeom>
          <a:noFill/>
          <a:ln/>
        </p:spPr>
        <p:txBody>
          <a:bodyPr wrap="square" lIns="0" tIns="0" rIns="0" bIns="0" rtlCol="0" anchor="ctr"/>
          <a:lstStyle/>
          <a:p>
            <a:pPr indent="0" marL="0">
              <a:buNone/>
            </a:pPr>
            <a:r>
              <a:rPr lang="en-US" sz="1500" dirty="0">
                <a:solidFill>
                  <a:schemeClr val="tx1"/>
                </a:solidFill>
              </a:rPr>
              <a:t>pop() entfernt das OBERSTE Element und liefert 8 – das zuletzt hineingelegte (LIFO).</a:t>
            </a:r>
            <a:endParaRPr lang="en-US" sz="1500" dirty="0"/>
          </a:p>
        </p:txBody>
      </p:sp>
      <p:sp>
        <p:nvSpPr>
          <p:cNvPr id="29" name="Erklaerung Schlange"/>
          <p:cNvSpPr/>
          <p:nvPr/>
        </p:nvSpPr>
        <p:spPr>
          <a:xfrm>
            <a:off x="6217920" y="5440680"/>
            <a:ext cx="5394960" cy="731520"/>
          </a:xfrm>
          <a:prstGeom prst="roundRect">
            <a:avLst>
              <a:gd name="adj" fmla="val 15000"/>
            </a:avLst>
          </a:prstGeom>
          <a:solidFill>
            <a:schemeClr val="bg1"/>
          </a:solidFill>
          <a:ln w="25400">
            <a:solidFill>
              <a:schemeClr val="accent3"/>
            </a:solidFill>
            <a:prstDash val="solid"/>
          </a:ln>
        </p:spPr>
      </p:sp>
      <p:sp>
        <p:nvSpPr>
          <p:cNvPr id="30" name="Text 28"/>
          <p:cNvSpPr txBox="1"/>
          <p:nvPr/>
        </p:nvSpPr>
        <p:spPr>
          <a:xfrm>
            <a:off x="6419088" y="5440680"/>
            <a:ext cx="5029200" cy="731520"/>
          </a:xfrm>
          <a:prstGeom prst="rect">
            <a:avLst/>
          </a:prstGeom>
          <a:noFill/>
          <a:ln/>
        </p:spPr>
        <p:txBody>
          <a:bodyPr wrap="square" lIns="0" tIns="0" rIns="0" bIns="0" rtlCol="0" anchor="ctr"/>
          <a:lstStyle/>
          <a:p>
            <a:pPr indent="0" marL="0">
              <a:buNone/>
            </a:pPr>
            <a:r>
              <a:rPr lang="en-US" sz="1500" dirty="0">
                <a:solidFill>
                  <a:schemeClr val="tx1"/>
                </a:solidFill>
              </a:rPr>
              <a:t>dequeue() entfernt das VORDERSTE Element und liefert "Albatros" – das zuerst angestellte (FIFO).</a:t>
            </a:r>
            <a:endParaRPr lang="en-US" sz="1500" dirty="0"/>
          </a:p>
        </p:txBody>
      </p:sp>
      <p:sp>
        <p:nvSpPr>
          <p:cNvPr id="31" name="Text 29"/>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24 · Stapel und Schlange · 3/3</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Schnittstellen nach EH §4</a:t>
            </a:r>
            <a:endParaRPr lang="en-US" sz="3600" dirty="0"/>
          </a:p>
        </p:txBody>
      </p:sp>
      <p:sp>
        <p:nvSpPr>
          <p:cNvPr id="3" name="Text 1"/>
          <p:cNvSpPr txBox="1"/>
          <p:nvPr/>
        </p:nvSpPr>
        <p:spPr>
          <a:xfrm>
            <a:off x="548640" y="1280160"/>
            <a:ext cx="5440680" cy="365760"/>
          </a:xfrm>
          <a:prstGeom prst="rect">
            <a:avLst/>
          </a:prstGeom>
          <a:noFill/>
          <a:ln/>
        </p:spPr>
        <p:txBody>
          <a:bodyPr wrap="square" lIns="0" tIns="0" rIns="0" bIns="0" rtlCol="0" anchor="t"/>
          <a:lstStyle/>
          <a:p>
            <a:pPr indent="0" marL="0">
              <a:buNone/>
            </a:pPr>
            <a:r>
              <a:rPr lang="en-US" sz="1900" b="1" dirty="0">
                <a:solidFill>
                  <a:schemeClr val="accent1"/>
                </a:solidFill>
              </a:rPr>
              <a:t>Stapel – Klasse Stack</a:t>
            </a:r>
            <a:endParaRPr lang="en-US" sz="1900" dirty="0"/>
          </a:p>
        </p:txBody>
      </p:sp>
      <p:sp>
        <p:nvSpPr>
          <p:cNvPr id="4" name="Text 2"/>
          <p:cNvSpPr txBox="1"/>
          <p:nvPr/>
        </p:nvSpPr>
        <p:spPr>
          <a:xfrm>
            <a:off x="6172200" y="1280160"/>
            <a:ext cx="5440680" cy="365760"/>
          </a:xfrm>
          <a:prstGeom prst="rect">
            <a:avLst/>
          </a:prstGeom>
          <a:noFill/>
          <a:ln/>
        </p:spPr>
        <p:txBody>
          <a:bodyPr wrap="square" lIns="0" tIns="0" rIns="0" bIns="0" rtlCol="0" anchor="t"/>
          <a:lstStyle/>
          <a:p>
            <a:pPr indent="0" marL="0">
              <a:buNone/>
            </a:pPr>
            <a:r>
              <a:rPr lang="en-US" sz="1900" b="1" dirty="0">
                <a:solidFill>
                  <a:schemeClr val="accent1"/>
                </a:solidFill>
              </a:rPr>
              <a:t>Schlange – Klasse Queue</a:t>
            </a:r>
            <a:endParaRPr lang="en-US" sz="1900" dirty="0"/>
          </a:p>
        </p:txBody>
      </p:sp>
      <p:graphicFrame>
        <p:nvGraphicFramePr>
          <p:cNvPr id="9" name="Schnittstelle Stack"/>
          <p:cNvGraphicFramePr>
            <a:graphicFrameLocks noGrp="1"/>
          </p:cNvGraphicFramePr>
          <p:nvPr>
            <p:extLst>
              <p:ext uri="{D42A27DB-BD31-4B8C-83A1-F6EECF244321}">
                <p14:modId xmlns:p14="http://schemas.microsoft.com/office/powerpoint/2010/main" val="1579011935"/>
              </p:ext>
            </p:extLst>
          </p:nvPr>
        </p:nvGraphicFramePr>
        <p:xfrm>
          <a:off x="548640" y="1691640"/>
          <a:ext cx="5440680" cy="914400"/>
        </p:xfrm>
        <a:graphic>
          <a:graphicData uri="http://schemas.openxmlformats.org/drawingml/2006/table">
            <a:tbl>
              <a:tblPr/>
              <a:tblGrid>
                <a:gridCol w="2331720"/>
                <a:gridCol w="2468880"/>
                <a:gridCol w="640080"/>
              </a:tblGrid>
              <a:tr h="457200">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Operation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Wirkung</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leer?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57200">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c Stack()</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erzeugt einen leeren Stapel</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isEmpty(): Wahrheitswert</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wahr, wenn der Stapel leer ist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push(x: Inhaltstyp): nichts</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legt x oben auf</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top(): Inhaltstyp</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liefert das oberste Element, ohne es zu entfernen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Fehler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pop(): Inhaltstyp</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entfernt das oberste Element und liefert es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Fehler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graphicFrame>
        <p:nvGraphicFramePr>
          <p:cNvPr id="17" name="Schnittstelle Queue"/>
          <p:cNvGraphicFramePr>
            <a:graphicFrameLocks noGrp="1"/>
          </p:cNvGraphicFramePr>
          <p:nvPr>
            <p:extLst>
              <p:ext uri="{D42A27DB-BD31-4B8C-83A1-F6EECF244321}">
                <p14:modId xmlns:p14="http://schemas.microsoft.com/office/powerpoint/2010/main" val="1579011935"/>
              </p:ext>
            </p:extLst>
          </p:nvPr>
        </p:nvGraphicFramePr>
        <p:xfrm>
          <a:off x="6172200" y="1691640"/>
          <a:ext cx="5440680" cy="914400"/>
        </p:xfrm>
        <a:graphic>
          <a:graphicData uri="http://schemas.openxmlformats.org/drawingml/2006/table">
            <a:tbl>
              <a:tblPr/>
              <a:tblGrid>
                <a:gridCol w="2514600"/>
                <a:gridCol w="2286000"/>
                <a:gridCol w="640080"/>
              </a:tblGrid>
              <a:tr h="457200">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Operation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Wirkung</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leer?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57200">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c Queue()</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erzeugt eine leere Schlange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isEmpty(): Wahrheitswert</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wahr, wenn die Schlange leer ist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enqueue(x: Inhaltstyp): nichts</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stellt x hinten an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head(): Inhaltstyp</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liefert das vorderste Element, ohne es zu entfernen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Fehler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dequeue(): Inhaltstyp</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entfernt das vorderste Element und liefert es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Fehler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7" name="Notation Signatur"/>
          <p:cNvSpPr/>
          <p:nvPr/>
        </p:nvSpPr>
        <p:spPr>
          <a:xfrm>
            <a:off x="548640" y="4846320"/>
            <a:ext cx="5440680" cy="1280160"/>
          </a:xfrm>
          <a:prstGeom prst="roundRect">
            <a:avLst>
              <a:gd name="adj" fmla="val 8571"/>
            </a:avLst>
          </a:prstGeom>
          <a:solidFill>
            <a:schemeClr val="bg2"/>
          </a:solidFill>
          <a:ln/>
        </p:spPr>
      </p:sp>
      <p:sp>
        <p:nvSpPr>
          <p:cNvPr id="8" name="Text 4"/>
          <p:cNvSpPr txBox="1"/>
          <p:nvPr/>
        </p:nvSpPr>
        <p:spPr>
          <a:xfrm>
            <a:off x="749808" y="4846320"/>
            <a:ext cx="5074920" cy="1280160"/>
          </a:xfrm>
          <a:prstGeom prst="rect">
            <a:avLst/>
          </a:prstGeom>
          <a:noFill/>
          <a:ln/>
        </p:spPr>
        <p:txBody>
          <a:bodyPr wrap="square" lIns="0" tIns="0" rIns="0" bIns="0" rtlCol="0" anchor="ctr"/>
          <a:lstStyle/>
          <a:p>
            <a:pPr indent="0" marL="0">
              <a:buNone/>
            </a:pPr>
            <a:r>
              <a:rPr lang="en-US" sz="1600" b="1" dirty="0">
                <a:solidFill>
                  <a:schemeClr val="accent1"/>
                </a:solidFill>
              </a:rPr>
              <a:t>In Signaturen: </a:t>
            </a:r>
            <a:endParaRPr lang="en-US" sz="1600" dirty="0"/>
          </a:p>
          <a:p>
            <a:pPr indent="0" marL="0">
              <a:buNone/>
            </a:pPr>
            <a:r>
              <a:rPr lang="en-US" sz="1400" dirty="0">
                <a:solidFill>
                  <a:schemeClr val="tx1"/>
                </a:solidFill>
                <a:latin typeface="Consolas" pitchFamily="34" charset="0"/>
                <a:ea typeface="Consolas" pitchFamily="34" charset="-122"/>
                <a:cs typeface="Consolas" pitchFamily="34" charset="-120"/>
              </a:rPr>
              <a:t>s: Stapel vom Inhaltstyp Kiste</a:t>
            </a:r>
            <a:endParaRPr lang="en-US" sz="1600" dirty="0"/>
          </a:p>
          <a:p>
            <a:pPr indent="0" marL="0">
              <a:buNone/>
            </a:pPr>
            <a:r>
              <a:rPr lang="en-US" sz="1400" dirty="0">
                <a:solidFill>
                  <a:schemeClr val="tx1"/>
                </a:solidFill>
                <a:latin typeface="Consolas" pitchFamily="34" charset="0"/>
                <a:ea typeface="Consolas" pitchFamily="34" charset="-122"/>
                <a:cs typeface="Consolas" pitchFamily="34" charset="-120"/>
              </a:rPr>
              <a:t>q: Schlange vom Inhaltstyp Ganzzahl</a:t>
            </a:r>
            <a:endParaRPr lang="en-US" sz="1600" dirty="0"/>
          </a:p>
        </p:txBody>
      </p:sp>
      <p:sp>
        <p:nvSpPr>
          <p:cNvPr id="9" name="Achtung leer"/>
          <p:cNvSpPr/>
          <p:nvPr/>
        </p:nvSpPr>
        <p:spPr>
          <a:xfrm>
            <a:off x="6172200" y="4846320"/>
            <a:ext cx="5440680" cy="1280160"/>
          </a:xfrm>
          <a:prstGeom prst="roundRect">
            <a:avLst>
              <a:gd name="adj" fmla="val 8571"/>
            </a:avLst>
          </a:prstGeom>
          <a:solidFill>
            <a:schemeClr val="bg1"/>
          </a:solidFill>
          <a:ln w="25400">
            <a:solidFill>
              <a:schemeClr val="accent4"/>
            </a:solidFill>
            <a:prstDash val="solid"/>
          </a:ln>
        </p:spPr>
      </p:sp>
      <p:sp>
        <p:nvSpPr>
          <p:cNvPr id="10" name="Text 6"/>
          <p:cNvSpPr txBox="1"/>
          <p:nvPr/>
        </p:nvSpPr>
        <p:spPr>
          <a:xfrm>
            <a:off x="6373368" y="4846320"/>
            <a:ext cx="5074920" cy="1280160"/>
          </a:xfrm>
          <a:prstGeom prst="rect">
            <a:avLst/>
          </a:prstGeom>
          <a:noFill/>
          <a:ln/>
        </p:spPr>
        <p:txBody>
          <a:bodyPr wrap="square" lIns="0" tIns="0" rIns="0" bIns="0" rtlCol="0" anchor="ctr"/>
          <a:lstStyle/>
          <a:p>
            <a:pPr indent="0" marL="0">
              <a:buNone/>
            </a:pPr>
            <a:r>
              <a:rPr lang="en-US" sz="1500" b="1" dirty="0">
                <a:solidFill>
                  <a:schemeClr val="accent4"/>
                </a:solidFill>
              </a:rPr>
              <a:t>Leer? </a:t>
            </a:r>
            <a:pPr indent="0" marL="0">
              <a:buNone/>
            </a:pPr>
            <a:r>
              <a:rPr lang="en-US" sz="1500" dirty="0">
                <a:solidFill>
                  <a:schemeClr val="tx1"/>
                </a:solidFill>
              </a:rPr>
              <a:t>top, pop, head und dequeue auf einer leeren Struktur führen zum Laufzeitfehler. Vorher isEmpty() fragen! push(null) und enqueue(null) sind verboten.</a:t>
            </a:r>
            <a:endParaRPr lang="en-US" sz="1500" dirty="0"/>
          </a:p>
        </p:txBody>
      </p:sp>
      <p:sp>
        <p:nvSpPr>
          <p:cNvPr id="11" name="Text 7"/>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24 · Schnittstellen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Bibliothek „Niedersachsen“ einschalten</a:t>
            </a:r>
            <a:endParaRPr lang="en-US" sz="3600" dirty="0"/>
          </a:p>
        </p:txBody>
      </p:sp>
      <p:sp>
        <p:nvSpPr>
          <p:cNvPr id="3" name="IDE-Fenster"/>
          <p:cNvSpPr/>
          <p:nvPr/>
        </p:nvSpPr>
        <p:spPr>
          <a:xfrm>
            <a:off x="548640" y="1325880"/>
            <a:ext cx="6675120" cy="4800600"/>
          </a:xfrm>
          <a:prstGeom prst="roundRect">
            <a:avLst>
              <a:gd name="adj" fmla="val 2286"/>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4" name="Titelleiste"/>
          <p:cNvSpPr txBox="1"/>
          <p:nvPr/>
        </p:nvSpPr>
        <p:spPr>
          <a:xfrm>
            <a:off x="548640" y="1325880"/>
            <a:ext cx="6675120" cy="384048"/>
          </a:xfrm>
          <a:prstGeom prst="rect">
            <a:avLst/>
          </a:prstGeom>
          <a:solidFill>
            <a:schemeClr val="accent1"/>
          </a:solidFill>
          <a:ln/>
        </p:spPr>
        <p:txBody>
          <a:bodyPr wrap="square" lIns="76200" tIns="76200" rIns="76200" bIns="76200" rtlCol="0" anchor="ctr"/>
          <a:lstStyle/>
          <a:p>
            <a:pPr indent="0" marL="0">
              <a:buNone/>
            </a:pPr>
            <a:r>
              <a:rPr lang="en-US" sz="1400" b="1" dirty="0">
                <a:solidFill>
                  <a:schemeClr val="bg1"/>
                </a:solidFill>
              </a:rPr>
              <a:t>Online-IDE (schematisch)</a:t>
            </a:r>
            <a:endParaRPr lang="en-US" sz="1400" dirty="0"/>
          </a:p>
        </p:txBody>
      </p:sp>
      <p:sp>
        <p:nvSpPr>
          <p:cNvPr id="5" name="Workspace-Leiste"/>
          <p:cNvSpPr/>
          <p:nvPr/>
        </p:nvSpPr>
        <p:spPr>
          <a:xfrm>
            <a:off x="548640" y="1709928"/>
            <a:ext cx="2468880" cy="4416552"/>
          </a:xfrm>
          <a:prstGeom prst="rect">
            <a:avLst/>
          </a:prstGeom>
          <a:solidFill>
            <a:schemeClr val="accent5"/>
          </a:solidFill>
          <a:ln/>
        </p:spPr>
      </p:sp>
      <p:sp>
        <p:nvSpPr>
          <p:cNvPr id="6" name="Text 4"/>
          <p:cNvSpPr txBox="1"/>
          <p:nvPr/>
        </p:nvSpPr>
        <p:spPr>
          <a:xfrm>
            <a:off x="685800" y="1828800"/>
            <a:ext cx="2194560" cy="292608"/>
          </a:xfrm>
          <a:prstGeom prst="rect">
            <a:avLst/>
          </a:prstGeom>
          <a:noFill/>
          <a:ln/>
        </p:spPr>
        <p:txBody>
          <a:bodyPr wrap="square" lIns="0" tIns="0" rIns="0" bIns="0" rtlCol="0" anchor="t"/>
          <a:lstStyle/>
          <a:p>
            <a:pPr indent="0" marL="0">
              <a:buNone/>
            </a:pPr>
            <a:r>
              <a:rPr lang="en-US" sz="1400" b="1" dirty="0">
                <a:solidFill>
                  <a:schemeClr val="accent1"/>
                </a:solidFill>
              </a:rPr>
              <a:t>Workspaces</a:t>
            </a:r>
            <a:endParaRPr lang="en-US" sz="1400" dirty="0"/>
          </a:p>
        </p:txBody>
      </p:sp>
      <p:sp>
        <p:nvSpPr>
          <p:cNvPr id="7" name="Workspace 0"/>
          <p:cNvSpPr txBox="1"/>
          <p:nvPr/>
        </p:nvSpPr>
        <p:spPr>
          <a:xfrm>
            <a:off x="685800" y="2240280"/>
            <a:ext cx="2194560" cy="365760"/>
          </a:xfrm>
          <a:prstGeom prst="rect">
            <a:avLst/>
          </a:prstGeom>
          <a:solidFill>
            <a:schemeClr val="bg1"/>
          </a:solidFill>
          <a:ln w="9525">
            <a:solidFill>
              <a:srgbClr val="D0D0D0"/>
            </a:solidFill>
          </a:ln>
        </p:spPr>
        <p:txBody>
          <a:bodyPr wrap="square" lIns="63500" tIns="63500" rIns="63500" bIns="63500" rtlCol="0" anchor="ctr"/>
          <a:lstStyle/>
          <a:p>
            <a:pPr indent="0" marL="0">
              <a:buNone/>
            </a:pPr>
            <a:r>
              <a:rPr lang="en-US" sz="1400" dirty="0">
                <a:solidFill>
                  <a:schemeClr val="accent1"/>
                </a:solidFill>
              </a:rPr>
              <a:t>Welt 3 – Labyrinth</a:t>
            </a:r>
            <a:endParaRPr lang="en-US" sz="1400" dirty="0"/>
          </a:p>
        </p:txBody>
      </p:sp>
      <p:sp>
        <p:nvSpPr>
          <p:cNvPr id="8" name="Workspace 1"/>
          <p:cNvSpPr txBox="1"/>
          <p:nvPr/>
        </p:nvSpPr>
        <p:spPr>
          <a:xfrm>
            <a:off x="685800" y="2679192"/>
            <a:ext cx="2194560" cy="365760"/>
          </a:xfrm>
          <a:prstGeom prst="rect">
            <a:avLst/>
          </a:prstGeom>
          <a:solidFill>
            <a:schemeClr val="bg2"/>
          </a:solidFill>
          <a:ln w="31750">
            <a:solidFill>
              <a:schemeClr val="accent2"/>
            </a:solidFill>
          </a:ln>
        </p:spPr>
        <p:txBody>
          <a:bodyPr wrap="square" lIns="63500" tIns="63500" rIns="63500" bIns="63500" rtlCol="0" anchor="ctr"/>
          <a:lstStyle/>
          <a:p>
            <a:pPr indent="0" marL="0">
              <a:buNone/>
            </a:pPr>
            <a:r>
              <a:rPr lang="en-US" sz="1400" b="1" dirty="0">
                <a:solidFill>
                  <a:schemeClr val="accent1"/>
                </a:solidFill>
              </a:rPr>
              <a:t>Welt 4 – Hafen</a:t>
            </a:r>
            <a:endParaRPr lang="en-US" sz="1400" dirty="0"/>
          </a:p>
        </p:txBody>
      </p:sp>
      <p:sp>
        <p:nvSpPr>
          <p:cNvPr id="9" name="Workspace 2"/>
          <p:cNvSpPr txBox="1"/>
          <p:nvPr/>
        </p:nvSpPr>
        <p:spPr>
          <a:xfrm>
            <a:off x="685800" y="3118104"/>
            <a:ext cx="2194560" cy="365760"/>
          </a:xfrm>
          <a:prstGeom prst="rect">
            <a:avLst/>
          </a:prstGeom>
          <a:solidFill>
            <a:schemeClr val="bg1"/>
          </a:solidFill>
          <a:ln w="9525">
            <a:solidFill>
              <a:srgbClr val="D0D0D0"/>
            </a:solidFill>
          </a:ln>
        </p:spPr>
        <p:txBody>
          <a:bodyPr wrap="square" lIns="63500" tIns="63500" rIns="63500" bIns="63500" rtlCol="0" anchor="ctr"/>
          <a:lstStyle/>
          <a:p>
            <a:pPr indent="0" marL="0">
              <a:buNone/>
            </a:pPr>
            <a:r>
              <a:rPr lang="en-US" sz="1400" dirty="0">
                <a:solidFill>
                  <a:schemeClr val="accent1"/>
                </a:solidFill>
              </a:rPr>
              <a:t>…</a:t>
            </a:r>
            <a:endParaRPr lang="en-US" sz="1400" dirty="0"/>
          </a:p>
        </p:txBody>
      </p:sp>
      <p:sp>
        <p:nvSpPr>
          <p:cNvPr id="10" name="Nummer 1"/>
          <p:cNvSpPr txBox="1"/>
          <p:nvPr/>
        </p:nvSpPr>
        <p:spPr>
          <a:xfrm>
            <a:off x="2944368" y="2651760"/>
            <a:ext cx="384048" cy="384048"/>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1" name="Kontextmenue"/>
          <p:cNvSpPr/>
          <p:nvPr/>
        </p:nvSpPr>
        <p:spPr>
          <a:xfrm>
            <a:off x="2651760" y="3108960"/>
            <a:ext cx="2103120" cy="1143000"/>
          </a:xfrm>
          <a:prstGeom prst="roundRect">
            <a:avLst>
              <a:gd name="adj" fmla="val 9600"/>
            </a:avLst>
          </a:prstGeom>
          <a:solidFill>
            <a:schemeClr val="bg1"/>
          </a:solidFill>
          <a:ln w="12700">
            <a:solidFill>
              <a:srgbClr val="A6A6A6"/>
            </a:solidFill>
            <a:prstDash val="solid"/>
          </a:ln>
          <a:effectLst>
            <a:outerShdw sx="100000" sy="100000" kx="0" ky="0" algn="bl" rotWithShape="0" blurRad="76200" dist="25400" dir="5400000">
              <a:srgbClr val="000000">
                <a:alpha val="18000"/>
              </a:srgbClr>
            </a:outerShdw>
          </a:effectLst>
        </p:spPr>
      </p:sp>
      <p:sp>
        <p:nvSpPr>
          <p:cNvPr id="12" name="Menuepunkt 0"/>
          <p:cNvSpPr txBox="1"/>
          <p:nvPr/>
        </p:nvSpPr>
        <p:spPr>
          <a:xfrm>
            <a:off x="2697480" y="3154680"/>
            <a:ext cx="2011680" cy="329184"/>
          </a:xfrm>
          <a:prstGeom prst="rect">
            <a:avLst/>
          </a:prstGeom>
          <a:solidFill>
            <a:schemeClr val="bg1"/>
          </a:solidFill>
          <a:ln w="6350">
            <a:solidFill>
              <a:schemeClr val="bg1"/>
            </a:solidFill>
          </a:ln>
        </p:spPr>
        <p:txBody>
          <a:bodyPr wrap="square" lIns="63500" tIns="63500" rIns="63500" bIns="63500" rtlCol="0" anchor="ctr"/>
          <a:lstStyle/>
          <a:p>
            <a:pPr indent="0" marL="0">
              <a:buNone/>
            </a:pPr>
            <a:r>
              <a:rPr lang="en-US" sz="1400" dirty="0">
                <a:solidFill>
                  <a:schemeClr val="accent1"/>
                </a:solidFill>
              </a:rPr>
              <a:t>…</a:t>
            </a:r>
            <a:endParaRPr lang="en-US" sz="1400" dirty="0"/>
          </a:p>
        </p:txBody>
      </p:sp>
      <p:sp>
        <p:nvSpPr>
          <p:cNvPr id="13" name="Menuepunkt 1"/>
          <p:cNvSpPr txBox="1"/>
          <p:nvPr/>
        </p:nvSpPr>
        <p:spPr>
          <a:xfrm>
            <a:off x="2697480" y="3502152"/>
            <a:ext cx="2011680" cy="329184"/>
          </a:xfrm>
          <a:prstGeom prst="rect">
            <a:avLst/>
          </a:prstGeom>
          <a:solidFill>
            <a:srgbClr val="FFF2CC"/>
          </a:solidFill>
          <a:ln w="25400">
            <a:solidFill>
              <a:schemeClr val="accent2"/>
            </a:solidFill>
          </a:ln>
        </p:spPr>
        <p:txBody>
          <a:bodyPr wrap="square" lIns="63500" tIns="63500" rIns="63500" bIns="63500" rtlCol="0" anchor="ctr"/>
          <a:lstStyle/>
          <a:p>
            <a:pPr indent="0" marL="0">
              <a:buNone/>
            </a:pPr>
            <a:r>
              <a:rPr lang="en-US" sz="1400" b="1" dirty="0">
                <a:solidFill>
                  <a:schemeClr val="accent1"/>
                </a:solidFill>
              </a:rPr>
              <a:t>Einstellungen</a:t>
            </a:r>
            <a:endParaRPr lang="en-US" sz="1400" dirty="0"/>
          </a:p>
        </p:txBody>
      </p:sp>
      <p:sp>
        <p:nvSpPr>
          <p:cNvPr id="14" name="Menuepunkt 2"/>
          <p:cNvSpPr txBox="1"/>
          <p:nvPr/>
        </p:nvSpPr>
        <p:spPr>
          <a:xfrm>
            <a:off x="2697480" y="3849624"/>
            <a:ext cx="2011680" cy="329184"/>
          </a:xfrm>
          <a:prstGeom prst="rect">
            <a:avLst/>
          </a:prstGeom>
          <a:solidFill>
            <a:schemeClr val="bg1"/>
          </a:solidFill>
          <a:ln w="6350">
            <a:solidFill>
              <a:schemeClr val="bg1"/>
            </a:solidFill>
          </a:ln>
        </p:spPr>
        <p:txBody>
          <a:bodyPr wrap="square" lIns="63500" tIns="63500" rIns="63500" bIns="63500" rtlCol="0" anchor="ctr"/>
          <a:lstStyle/>
          <a:p>
            <a:pPr indent="0" marL="0">
              <a:buNone/>
            </a:pPr>
            <a:r>
              <a:rPr lang="en-US" sz="1400" dirty="0">
                <a:solidFill>
                  <a:schemeClr val="accent1"/>
                </a:solidFill>
              </a:rPr>
              <a:t>…</a:t>
            </a:r>
            <a:endParaRPr lang="en-US" sz="1400" dirty="0"/>
          </a:p>
        </p:txBody>
      </p:sp>
      <p:sp>
        <p:nvSpPr>
          <p:cNvPr id="15" name="Nummer 2"/>
          <p:cNvSpPr txBox="1"/>
          <p:nvPr/>
        </p:nvSpPr>
        <p:spPr>
          <a:xfrm>
            <a:off x="4828032" y="3456432"/>
            <a:ext cx="384048" cy="384048"/>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6" name="Dialog Einstellungen"/>
          <p:cNvSpPr/>
          <p:nvPr/>
        </p:nvSpPr>
        <p:spPr>
          <a:xfrm>
            <a:off x="3749040" y="4389120"/>
            <a:ext cx="3246120" cy="1508760"/>
          </a:xfrm>
          <a:prstGeom prst="roundRect">
            <a:avLst>
              <a:gd name="adj" fmla="val 7273"/>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17" name="Dialogtitel"/>
          <p:cNvSpPr txBox="1"/>
          <p:nvPr/>
        </p:nvSpPr>
        <p:spPr>
          <a:xfrm>
            <a:off x="3749040" y="4389120"/>
            <a:ext cx="3246120" cy="347472"/>
          </a:xfrm>
          <a:prstGeom prst="rect">
            <a:avLst/>
          </a:prstGeom>
          <a:solidFill>
            <a:schemeClr val="bg2"/>
          </a:solidFill>
          <a:ln/>
        </p:spPr>
        <p:txBody>
          <a:bodyPr wrap="square" lIns="76200" tIns="76200" rIns="76200" bIns="76200" rtlCol="0" anchor="ctr"/>
          <a:lstStyle/>
          <a:p>
            <a:pPr indent="0" marL="0">
              <a:buNone/>
            </a:pPr>
            <a:r>
              <a:rPr lang="en-US" sz="1400" b="1" dirty="0">
                <a:solidFill>
                  <a:schemeClr val="accent1"/>
                </a:solidFill>
              </a:rPr>
              <a:t>Einstellungen</a:t>
            </a:r>
            <a:endParaRPr lang="en-US" sz="1400" dirty="0"/>
          </a:p>
        </p:txBody>
      </p:sp>
      <p:sp>
        <p:nvSpPr>
          <p:cNvPr id="18" name="Text 16"/>
          <p:cNvSpPr txBox="1"/>
          <p:nvPr/>
        </p:nvSpPr>
        <p:spPr>
          <a:xfrm>
            <a:off x="3931920" y="4800600"/>
            <a:ext cx="2743200" cy="274320"/>
          </a:xfrm>
          <a:prstGeom prst="rect">
            <a:avLst/>
          </a:prstGeom>
          <a:noFill/>
          <a:ln/>
        </p:spPr>
        <p:txBody>
          <a:bodyPr wrap="square" lIns="0" tIns="0" rIns="0" bIns="0" rtlCol="0" anchor="t"/>
          <a:lstStyle/>
          <a:p>
            <a:pPr indent="0" marL="0">
              <a:buNone/>
            </a:pPr>
            <a:r>
              <a:rPr lang="en-US" sz="1300" i="1" dirty="0">
                <a:solidFill>
                  <a:schemeClr val="accent6"/>
                </a:solidFill>
              </a:rPr>
              <a:t>Bibliotheken</a:t>
            </a:r>
            <a:endParaRPr lang="en-US" sz="1300" dirty="0"/>
          </a:p>
        </p:txBody>
      </p:sp>
      <p:sp>
        <p:nvSpPr>
          <p:cNvPr id="19" name="Checkbox"/>
          <p:cNvSpPr/>
          <p:nvPr/>
        </p:nvSpPr>
        <p:spPr>
          <a:xfrm>
            <a:off x="3977640" y="5212080"/>
            <a:ext cx="347472" cy="347472"/>
          </a:xfrm>
          <a:prstGeom prst="rect">
            <a:avLst/>
          </a:prstGeom>
          <a:solidFill>
            <a:schemeClr val="bg1"/>
          </a:solidFill>
          <a:ln w="25400">
            <a:solidFill>
              <a:schemeClr val="accent3"/>
            </a:solidFill>
            <a:prstDash val="solid"/>
          </a:ln>
        </p:spPr>
      </p:sp>
      <p:pic>
        <p:nvPicPr>
          <p:cNvPr id="20" name="Haekchen" descr="preencoded.png">    </p:cNvPr>
          <p:cNvPicPr>
            <a:picLocks noChangeAspect="1"/>
          </p:cNvPicPr>
          <p:nvPr/>
        </p:nvPicPr>
        <p:blipFill>
          <a:blip r:embed="rId1"/>
          <a:stretch>
            <a:fillRect/>
          </a:stretch>
        </p:blipFill>
        <p:spPr>
          <a:xfrm>
            <a:off x="4005072" y="5239512"/>
            <a:ext cx="292608" cy="292608"/>
          </a:xfrm>
          <a:prstGeom prst="rect">
            <a:avLst/>
          </a:prstGeom>
        </p:spPr>
      </p:pic>
      <p:sp>
        <p:nvSpPr>
          <p:cNvPr id="21" name="Text 18"/>
          <p:cNvSpPr txBox="1"/>
          <p:nvPr/>
        </p:nvSpPr>
        <p:spPr>
          <a:xfrm>
            <a:off x="4462272" y="5212080"/>
            <a:ext cx="2286000" cy="347472"/>
          </a:xfrm>
          <a:prstGeom prst="rect">
            <a:avLst/>
          </a:prstGeom>
          <a:noFill/>
          <a:ln/>
        </p:spPr>
        <p:txBody>
          <a:bodyPr wrap="square" lIns="0" tIns="0" rIns="0" bIns="0" rtlCol="0" anchor="ctr"/>
          <a:lstStyle/>
          <a:p>
            <a:pPr indent="0" marL="0">
              <a:buNone/>
            </a:pPr>
            <a:r>
              <a:rPr lang="en-US" sz="1600" b="1" dirty="0">
                <a:solidFill>
                  <a:schemeClr val="accent1"/>
                </a:solidFill>
              </a:rPr>
              <a:t>Niedersachsen</a:t>
            </a:r>
            <a:endParaRPr lang="en-US" sz="1600" dirty="0"/>
          </a:p>
        </p:txBody>
      </p:sp>
      <p:sp>
        <p:nvSpPr>
          <p:cNvPr id="22" name="Nummer 3"/>
          <p:cNvSpPr txBox="1"/>
          <p:nvPr/>
        </p:nvSpPr>
        <p:spPr>
          <a:xfrm>
            <a:off x="6400800" y="5193792"/>
            <a:ext cx="384048" cy="384048"/>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3" name="Text 20"/>
          <p:cNvSpPr txBox="1"/>
          <p:nvPr/>
        </p:nvSpPr>
        <p:spPr>
          <a:xfrm>
            <a:off x="3749040" y="5907024"/>
            <a:ext cx="3383280" cy="201168"/>
          </a:xfrm>
          <a:prstGeom prst="rect">
            <a:avLst/>
          </a:prstGeom>
          <a:noFill/>
          <a:ln/>
        </p:spPr>
        <p:txBody>
          <a:bodyPr wrap="square" lIns="0" tIns="0" rIns="0" bIns="0" rtlCol="0" anchor="t"/>
          <a:lstStyle/>
          <a:p>
            <a:pPr indent="0" marL="0">
              <a:buNone/>
            </a:pPr>
            <a:r>
              <a:rPr lang="en-US" sz="1000" i="1" dirty="0">
                <a:solidFill>
                  <a:schemeClr val="accent6"/>
                </a:solidFill>
              </a:rPr>
              <a:t>Bezeichnungen vor dem Einsatz in der IDE prüfen</a:t>
            </a:r>
            <a:endParaRPr lang="en-US" sz="1000" dirty="0"/>
          </a:p>
        </p:txBody>
      </p:sp>
      <p:sp>
        <p:nvSpPr>
          <p:cNvPr id="24" name="Nummer 1"/>
          <p:cNvSpPr txBox="1"/>
          <p:nvPr/>
        </p:nvSpPr>
        <p:spPr>
          <a:xfrm>
            <a:off x="7589520" y="1371600"/>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5" name="Text 22"/>
          <p:cNvSpPr txBox="1"/>
          <p:nvPr/>
        </p:nvSpPr>
        <p:spPr>
          <a:xfrm>
            <a:off x="8138160" y="1371600"/>
            <a:ext cx="3474720" cy="411480"/>
          </a:xfrm>
          <a:prstGeom prst="rect">
            <a:avLst/>
          </a:prstGeom>
          <a:noFill/>
          <a:ln/>
        </p:spPr>
        <p:txBody>
          <a:bodyPr wrap="square" lIns="0" tIns="0" rIns="0" bIns="0" rtlCol="0" anchor="ctr"/>
          <a:lstStyle/>
          <a:p>
            <a:pPr indent="0" marL="0">
              <a:buNone/>
            </a:pPr>
            <a:r>
              <a:rPr lang="en-US" sz="1600" dirty="0">
                <a:solidFill>
                  <a:schemeClr val="tx1"/>
                </a:solidFill>
              </a:rPr>
              <a:t>Workspace mit der rechten Maustaste anklicken</a:t>
            </a:r>
            <a:endParaRPr lang="en-US" sz="1600" dirty="0"/>
          </a:p>
        </p:txBody>
      </p:sp>
      <p:sp>
        <p:nvSpPr>
          <p:cNvPr id="26" name="Nummer 2"/>
          <p:cNvSpPr txBox="1"/>
          <p:nvPr/>
        </p:nvSpPr>
        <p:spPr>
          <a:xfrm>
            <a:off x="7589520" y="1938528"/>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7" name="Text 24"/>
          <p:cNvSpPr txBox="1"/>
          <p:nvPr/>
        </p:nvSpPr>
        <p:spPr>
          <a:xfrm>
            <a:off x="8138160" y="1938528"/>
            <a:ext cx="3474720" cy="411480"/>
          </a:xfrm>
          <a:prstGeom prst="rect">
            <a:avLst/>
          </a:prstGeom>
          <a:noFill/>
          <a:ln/>
        </p:spPr>
        <p:txBody>
          <a:bodyPr wrap="square" lIns="0" tIns="0" rIns="0" bIns="0" rtlCol="0" anchor="ctr"/>
          <a:lstStyle/>
          <a:p>
            <a:pPr indent="0" marL="0">
              <a:buNone/>
            </a:pPr>
            <a:r>
              <a:rPr lang="en-US" sz="1600" dirty="0">
                <a:solidFill>
                  <a:schemeClr val="tx1"/>
                </a:solidFill>
              </a:rPr>
              <a:t>„Einstellungen“ wählen</a:t>
            </a:r>
            <a:endParaRPr lang="en-US" sz="1600" dirty="0"/>
          </a:p>
        </p:txBody>
      </p:sp>
      <p:sp>
        <p:nvSpPr>
          <p:cNvPr id="28" name="Nummer 3"/>
          <p:cNvSpPr txBox="1"/>
          <p:nvPr/>
        </p:nvSpPr>
        <p:spPr>
          <a:xfrm>
            <a:off x="7589520" y="2505456"/>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9" name="Text 26"/>
          <p:cNvSpPr txBox="1"/>
          <p:nvPr/>
        </p:nvSpPr>
        <p:spPr>
          <a:xfrm>
            <a:off x="8138160" y="2505456"/>
            <a:ext cx="3474720" cy="411480"/>
          </a:xfrm>
          <a:prstGeom prst="rect">
            <a:avLst/>
          </a:prstGeom>
          <a:noFill/>
          <a:ln/>
        </p:spPr>
        <p:txBody>
          <a:bodyPr wrap="square" lIns="0" tIns="0" rIns="0" bIns="0" rtlCol="0" anchor="ctr"/>
          <a:lstStyle/>
          <a:p>
            <a:pPr indent="0" marL="0">
              <a:buNone/>
            </a:pPr>
            <a:r>
              <a:rPr lang="en-US" sz="1600" dirty="0">
                <a:solidFill>
                  <a:schemeClr val="tx1"/>
                </a:solidFill>
              </a:rPr>
              <a:t>Häkchen bei „Niedersachsen“ setzen</a:t>
            </a:r>
            <a:endParaRPr lang="en-US" sz="1600" dirty="0"/>
          </a:p>
        </p:txBody>
      </p:sp>
      <p:sp>
        <p:nvSpPr>
          <p:cNvPr id="30" name="Text 27"/>
          <p:cNvSpPr txBox="1"/>
          <p:nvPr/>
        </p:nvSpPr>
        <p:spPr>
          <a:xfrm>
            <a:off x="7589520" y="3200400"/>
            <a:ext cx="4023360" cy="292608"/>
          </a:xfrm>
          <a:prstGeom prst="rect">
            <a:avLst/>
          </a:prstGeom>
          <a:noFill/>
          <a:ln/>
        </p:spPr>
        <p:txBody>
          <a:bodyPr wrap="square" lIns="0" tIns="0" rIns="0" bIns="0" rtlCol="0" anchor="t"/>
          <a:lstStyle/>
          <a:p>
            <a:pPr indent="0" marL="0">
              <a:buNone/>
            </a:pPr>
            <a:r>
              <a:rPr lang="en-US" sz="1500" b="1" dirty="0">
                <a:solidFill>
                  <a:schemeClr val="accent3"/>
                </a:solidFill>
              </a:rPr>
              <a:t>Danach bekannt:</a:t>
            </a:r>
            <a:endParaRPr lang="en-US" sz="1500" dirty="0"/>
          </a:p>
        </p:txBody>
      </p:sp>
      <p:sp>
        <p:nvSpPr>
          <p:cNvPr id="31" name="Chip"/>
          <p:cNvSpPr txBox="1"/>
          <p:nvPr/>
        </p:nvSpPr>
        <p:spPr>
          <a:xfrm>
            <a:off x="7589520" y="3547872"/>
            <a:ext cx="187452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Stack</a:t>
            </a:r>
            <a:endParaRPr lang="en-US" sz="1400" dirty="0"/>
          </a:p>
        </p:txBody>
      </p:sp>
      <p:sp>
        <p:nvSpPr>
          <p:cNvPr id="32" name="Chip"/>
          <p:cNvSpPr txBox="1"/>
          <p:nvPr/>
        </p:nvSpPr>
        <p:spPr>
          <a:xfrm>
            <a:off x="9601200" y="3547872"/>
            <a:ext cx="187452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Queue</a:t>
            </a:r>
            <a:endParaRPr lang="en-US" sz="1400" dirty="0"/>
          </a:p>
        </p:txBody>
      </p:sp>
      <p:sp>
        <p:nvSpPr>
          <p:cNvPr id="33" name="Chip"/>
          <p:cNvSpPr txBox="1"/>
          <p:nvPr/>
        </p:nvSpPr>
        <p:spPr>
          <a:xfrm>
            <a:off x="7589520" y="4005072"/>
            <a:ext cx="187452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DynArray</a:t>
            </a:r>
            <a:endParaRPr lang="en-US" sz="1400" dirty="0"/>
          </a:p>
        </p:txBody>
      </p:sp>
      <p:sp>
        <p:nvSpPr>
          <p:cNvPr id="34" name="Chip"/>
          <p:cNvSpPr txBox="1"/>
          <p:nvPr/>
        </p:nvSpPr>
        <p:spPr>
          <a:xfrm>
            <a:off x="9601200" y="4005072"/>
            <a:ext cx="187452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BinTree</a:t>
            </a:r>
            <a:endParaRPr lang="en-US" sz="1400" dirty="0"/>
          </a:p>
        </p:txBody>
      </p:sp>
      <p:sp>
        <p:nvSpPr>
          <p:cNvPr id="35" name="Text 32"/>
          <p:cNvSpPr txBox="1"/>
          <p:nvPr/>
        </p:nvSpPr>
        <p:spPr>
          <a:xfrm>
            <a:off x="7589520" y="4498848"/>
            <a:ext cx="4023360" cy="548640"/>
          </a:xfrm>
          <a:prstGeom prst="rect">
            <a:avLst/>
          </a:prstGeom>
          <a:noFill/>
          <a:ln/>
        </p:spPr>
        <p:txBody>
          <a:bodyPr wrap="square" lIns="0" tIns="0" rIns="0" bIns="0" rtlCol="0" anchor="t"/>
          <a:lstStyle/>
          <a:p>
            <a:pPr indent="0" marL="0">
              <a:buNone/>
            </a:pPr>
            <a:r>
              <a:rPr lang="en-US" sz="1400" b="1" dirty="0">
                <a:solidFill>
                  <a:schemeClr val="accent6"/>
                </a:solidFill>
              </a:rPr>
              <a:t>Ausgeblendet </a:t>
            </a:r>
            <a:pPr indent="0" marL="0">
              <a:buNone/>
            </a:pPr>
            <a:r>
              <a:rPr lang="en-US" sz="1400" dirty="0">
                <a:solidFill>
                  <a:schemeClr val="accent6"/>
                </a:solidFill>
              </a:rPr>
              <a:t>(java.util): Stack, Queue, Deque, LinkedList, ArrayList, Vector</a:t>
            </a:r>
            <a:endParaRPr lang="en-US" sz="1400" dirty="0"/>
          </a:p>
        </p:txBody>
      </p:sp>
      <p:sp>
        <p:nvSpPr>
          <p:cNvPr id="36" name="Ohne Bibliothek"/>
          <p:cNvSpPr/>
          <p:nvPr/>
        </p:nvSpPr>
        <p:spPr>
          <a:xfrm>
            <a:off x="7589520" y="5212080"/>
            <a:ext cx="4023360" cy="914400"/>
          </a:xfrm>
          <a:prstGeom prst="roundRect">
            <a:avLst>
              <a:gd name="adj" fmla="val 12000"/>
            </a:avLst>
          </a:prstGeom>
          <a:solidFill>
            <a:schemeClr val="bg1"/>
          </a:solidFill>
          <a:ln w="25400">
            <a:solidFill>
              <a:schemeClr val="accent4"/>
            </a:solidFill>
            <a:prstDash val="solid"/>
          </a:ln>
        </p:spPr>
      </p:sp>
      <p:sp>
        <p:nvSpPr>
          <p:cNvPr id="37" name="Text 34"/>
          <p:cNvSpPr txBox="1"/>
          <p:nvPr/>
        </p:nvSpPr>
        <p:spPr>
          <a:xfrm>
            <a:off x="7790688" y="5212080"/>
            <a:ext cx="3657600" cy="914400"/>
          </a:xfrm>
          <a:prstGeom prst="rect">
            <a:avLst/>
          </a:prstGeom>
          <a:noFill/>
          <a:ln/>
        </p:spPr>
        <p:txBody>
          <a:bodyPr wrap="square" lIns="0" tIns="0" rIns="0" bIns="0" rtlCol="0" anchor="ctr"/>
          <a:lstStyle/>
          <a:p>
            <a:pPr indent="0" marL="0">
              <a:buNone/>
            </a:pPr>
            <a:r>
              <a:rPr lang="en-US" sz="1500" b="1" dirty="0">
                <a:solidFill>
                  <a:schemeClr val="accent4"/>
                </a:solidFill>
              </a:rPr>
              <a:t>Ohne Häkchen: </a:t>
            </a:r>
            <a:pPr indent="0" marL="0">
              <a:buNone/>
            </a:pPr>
            <a:r>
              <a:rPr lang="en-US" sz="1500" dirty="0">
                <a:solidFill>
                  <a:schemeClr val="tx1"/>
                </a:solidFill>
              </a:rPr>
              <a:t>„Stack“ unbekannt – nichts kompiliert. Einmal pro Workspace!</a:t>
            </a:r>
            <a:endParaRPr lang="en-US" sz="1500" dirty="0"/>
          </a:p>
        </p:txBody>
      </p:sp>
      <p:sp>
        <p:nvSpPr>
          <p:cNvPr id="38" name="Text 35"/>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24 · Online-IDE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Casten bei Abitur-Klassen: Object hinein, Kiste heraus</a:t>
            </a:r>
            <a:endParaRPr lang="en-US" sz="3600" dirty="0"/>
          </a:p>
        </p:txBody>
      </p:sp>
      <p:sp>
        <p:nvSpPr>
          <p:cNvPr id="3" name="Chip"/>
          <p:cNvSpPr txBox="1"/>
          <p:nvPr/>
        </p:nvSpPr>
        <p:spPr>
          <a:xfrm>
            <a:off x="548640" y="1874520"/>
            <a:ext cx="1417320" cy="50292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Kiste k</a:t>
            </a:r>
            <a:endParaRPr lang="en-US" sz="1600" dirty="0"/>
          </a:p>
        </p:txBody>
      </p:sp>
      <p:sp>
        <p:nvSpPr>
          <p:cNvPr id="4" name="Pfeil hinein"/>
          <p:cNvSpPr/>
          <p:nvPr/>
        </p:nvSpPr>
        <p:spPr>
          <a:xfrm>
            <a:off x="2057400" y="2121408"/>
            <a:ext cx="868680" cy="91"/>
          </a:xfrm>
          <a:prstGeom prst="line">
            <a:avLst/>
          </a:prstGeom>
          <a:noFill/>
          <a:ln w="28575">
            <a:solidFill>
              <a:schemeClr val="accent1"/>
            </a:solidFill>
            <a:prstDash val="solid"/>
            <a:tailEnd type="triangle"/>
          </a:ln>
        </p:spPr>
      </p:sp>
      <p:sp>
        <p:nvSpPr>
          <p:cNvPr id="5" name="Text 3"/>
          <p:cNvSpPr txBox="1"/>
          <p:nvPr/>
        </p:nvSpPr>
        <p:spPr>
          <a:xfrm>
            <a:off x="1828800" y="1554480"/>
            <a:ext cx="1325880" cy="274320"/>
          </a:xfrm>
          <a:prstGeom prst="rect">
            <a:avLst/>
          </a:prstGeom>
          <a:noFill/>
          <a:ln/>
        </p:spPr>
        <p:txBody>
          <a:bodyPr wrap="square" lIns="0" tIns="0" rIns="0" bIns="0" rtlCol="0" anchor="t"/>
          <a:lstStyle/>
          <a:p>
            <a:pPr algn="ctr" indent="0" marL="0">
              <a:buNone/>
            </a:pPr>
            <a:r>
              <a:rPr lang="en-US" sz="1300" b="1" dirty="0">
                <a:solidFill>
                  <a:schemeClr val="accent1"/>
                </a:solidFill>
                <a:latin typeface="Consolas" pitchFamily="34" charset="0"/>
                <a:ea typeface="Consolas" pitchFamily="34" charset="-122"/>
                <a:cs typeface="Consolas" pitchFamily="34" charset="-120"/>
              </a:rPr>
              <a:t>s.push(k)</a:t>
            </a:r>
            <a:endParaRPr lang="en-US" sz="1300" dirty="0"/>
          </a:p>
        </p:txBody>
      </p:sp>
      <p:sp>
        <p:nvSpPr>
          <p:cNvPr id="6" name="Stack Object"/>
          <p:cNvSpPr/>
          <p:nvPr/>
        </p:nvSpPr>
        <p:spPr>
          <a:xfrm>
            <a:off x="3017520" y="1371600"/>
            <a:ext cx="2560320" cy="1508760"/>
          </a:xfrm>
          <a:prstGeom prst="roundRect">
            <a:avLst>
              <a:gd name="adj" fmla="val 7273"/>
            </a:avLst>
          </a:prstGeom>
          <a:solidFill>
            <a:schemeClr val="bg2"/>
          </a:solidFill>
          <a:ln w="19050">
            <a:solidFill>
              <a:schemeClr val="accent1"/>
            </a:solidFill>
            <a:prstDash val="solid"/>
          </a:ln>
        </p:spPr>
      </p:sp>
      <p:sp>
        <p:nvSpPr>
          <p:cNvPr id="7" name="Text 5"/>
          <p:cNvSpPr txBox="1"/>
          <p:nvPr/>
        </p:nvSpPr>
        <p:spPr>
          <a:xfrm>
            <a:off x="3017520" y="1417320"/>
            <a:ext cx="2560320" cy="320040"/>
          </a:xfrm>
          <a:prstGeom prst="rect">
            <a:avLst/>
          </a:prstGeom>
          <a:noFill/>
          <a:ln/>
        </p:spPr>
        <p:txBody>
          <a:bodyPr wrap="square" lIns="0" tIns="0" rIns="0" bIns="0" rtlCol="0" anchor="t"/>
          <a:lstStyle/>
          <a:p>
            <a:pPr algn="ctr" indent="0" marL="0">
              <a:buNone/>
            </a:pPr>
            <a:r>
              <a:rPr lang="en-US" sz="1500" b="1" dirty="0">
                <a:solidFill>
                  <a:schemeClr val="accent1"/>
                </a:solidFill>
                <a:latin typeface="Consolas" pitchFamily="34" charset="0"/>
                <a:ea typeface="Consolas" pitchFamily="34" charset="-122"/>
                <a:cs typeface="Consolas" pitchFamily="34" charset="-120"/>
              </a:rPr>
              <a:t>Stack s</a:t>
            </a:r>
            <a:endParaRPr lang="en-US" sz="1500" dirty="0"/>
          </a:p>
        </p:txBody>
      </p:sp>
      <p:sp>
        <p:nvSpPr>
          <p:cNvPr id="8" name="Element Object"/>
          <p:cNvSpPr txBox="1"/>
          <p:nvPr/>
        </p:nvSpPr>
        <p:spPr>
          <a:xfrm>
            <a:off x="3429000" y="1828800"/>
            <a:ext cx="1737360" cy="457200"/>
          </a:xfrm>
          <a:prstGeom prst="roundRect">
            <a:avLst>
              <a:gd name="adj" fmla="val 16000"/>
            </a:avLst>
          </a:prstGeom>
          <a:solidFill>
            <a:schemeClr val="accent5"/>
          </a:solidFill>
          <a:ln w="15875">
            <a:solidFill>
              <a:srgbClr val="A6A6A6"/>
            </a:solidFill>
            <a:prstDash val="dash"/>
          </a:ln>
        </p:spPr>
        <p:txBody>
          <a:bodyPr wrap="square" lIns="0" tIns="0" rIns="0" bIns="0" rtlCol="0" anchor="ctr"/>
          <a:lstStyle/>
          <a:p>
            <a:pPr algn="ctr" indent="0" marL="0">
              <a:buNone/>
            </a:pPr>
            <a:r>
              <a:rPr lang="en-US" sz="1500" b="1" dirty="0">
                <a:solidFill>
                  <a:srgbClr val="8C8C8C"/>
                </a:solidFill>
                <a:latin typeface="Consolas" pitchFamily="34" charset="0"/>
                <a:ea typeface="Consolas" pitchFamily="34" charset="-122"/>
                <a:cs typeface="Consolas" pitchFamily="34" charset="-120"/>
              </a:rPr>
              <a:t>Object</a:t>
            </a:r>
            <a:endParaRPr lang="en-US" sz="1500" dirty="0"/>
          </a:p>
        </p:txBody>
      </p:sp>
      <p:sp>
        <p:nvSpPr>
          <p:cNvPr id="9" name="Text 7"/>
          <p:cNvSpPr txBox="1"/>
          <p:nvPr/>
        </p:nvSpPr>
        <p:spPr>
          <a:xfrm>
            <a:off x="3017520" y="2395728"/>
            <a:ext cx="2560320" cy="274320"/>
          </a:xfrm>
          <a:prstGeom prst="rect">
            <a:avLst/>
          </a:prstGeom>
          <a:noFill/>
          <a:ln/>
        </p:spPr>
        <p:txBody>
          <a:bodyPr wrap="square" lIns="0" tIns="0" rIns="0" bIns="0" rtlCol="0" anchor="t"/>
          <a:lstStyle/>
          <a:p>
            <a:pPr algn="ctr" indent="0" marL="0">
              <a:buNone/>
            </a:pPr>
            <a:r>
              <a:rPr lang="en-US" sz="1300" i="1" dirty="0">
                <a:solidFill>
                  <a:schemeClr val="accent6"/>
                </a:solidFill>
              </a:rPr>
              <a:t>speichert nur Object</a:t>
            </a:r>
            <a:endParaRPr lang="en-US" sz="1300" dirty="0"/>
          </a:p>
        </p:txBody>
      </p:sp>
      <p:sp>
        <p:nvSpPr>
          <p:cNvPr id="10" name="Pfeil heraus"/>
          <p:cNvSpPr/>
          <p:nvPr/>
        </p:nvSpPr>
        <p:spPr>
          <a:xfrm>
            <a:off x="5669280" y="2121408"/>
            <a:ext cx="777240" cy="91"/>
          </a:xfrm>
          <a:prstGeom prst="line">
            <a:avLst/>
          </a:prstGeom>
          <a:noFill/>
          <a:ln w="28575">
            <a:solidFill>
              <a:schemeClr val="accent1"/>
            </a:solidFill>
            <a:prstDash val="solid"/>
            <a:tailEnd type="triangle"/>
          </a:ln>
        </p:spPr>
      </p:sp>
      <p:sp>
        <p:nvSpPr>
          <p:cNvPr id="11" name="Text 9"/>
          <p:cNvSpPr txBox="1"/>
          <p:nvPr/>
        </p:nvSpPr>
        <p:spPr>
          <a:xfrm>
            <a:off x="5440680" y="1554480"/>
            <a:ext cx="1234440" cy="274320"/>
          </a:xfrm>
          <a:prstGeom prst="rect">
            <a:avLst/>
          </a:prstGeom>
          <a:noFill/>
          <a:ln/>
        </p:spPr>
        <p:txBody>
          <a:bodyPr wrap="square" lIns="0" tIns="0" rIns="0" bIns="0" rtlCol="0" anchor="t"/>
          <a:lstStyle/>
          <a:p>
            <a:pPr algn="ctr" indent="0" marL="0">
              <a:buNone/>
            </a:pPr>
            <a:r>
              <a:rPr lang="en-US" sz="1300" b="1" dirty="0">
                <a:solidFill>
                  <a:schemeClr val="accent1"/>
                </a:solidFill>
                <a:latin typeface="Consolas" pitchFamily="34" charset="0"/>
                <a:ea typeface="Consolas" pitchFamily="34" charset="-122"/>
                <a:cs typeface="Consolas" pitchFamily="34" charset="-120"/>
              </a:rPr>
              <a:t>s.pop()</a:t>
            </a:r>
            <a:endParaRPr lang="en-US" sz="1300" dirty="0"/>
          </a:p>
        </p:txBody>
      </p:sp>
      <p:sp>
        <p:nvSpPr>
          <p:cNvPr id="12" name="Chip"/>
          <p:cNvSpPr txBox="1"/>
          <p:nvPr/>
        </p:nvSpPr>
        <p:spPr>
          <a:xfrm>
            <a:off x="6537960" y="1874520"/>
            <a:ext cx="1280160" cy="502920"/>
          </a:xfrm>
          <a:prstGeom prst="roundRect">
            <a:avLst>
              <a:gd name="adj" fmla="val 50000"/>
            </a:avLst>
          </a:prstGeom>
          <a:solidFill>
            <a:srgbClr val="8C8C8C"/>
          </a:solidFill>
          <a:ln/>
        </p:spPr>
        <p:txBody>
          <a:bodyPr wrap="square" lIns="0" tIns="0" rIns="0" bIns="0" rtlCol="0" anchor="ctr"/>
          <a:lstStyle/>
          <a:p>
            <a:pPr algn="ctr" indent="0" marL="0">
              <a:buNone/>
            </a:pPr>
            <a:r>
              <a:rPr lang="en-US" sz="1600" b="1" dirty="0">
                <a:solidFill>
                  <a:schemeClr val="bg1"/>
                </a:solidFill>
              </a:rPr>
              <a:t>Object</a:t>
            </a:r>
            <a:endParaRPr lang="en-US" sz="1600" dirty="0"/>
          </a:p>
        </p:txBody>
      </p:sp>
      <p:sp>
        <p:nvSpPr>
          <p:cNvPr id="13" name="Pfeil Cast"/>
          <p:cNvSpPr/>
          <p:nvPr/>
        </p:nvSpPr>
        <p:spPr>
          <a:xfrm>
            <a:off x="7909560" y="2121408"/>
            <a:ext cx="548640" cy="91"/>
          </a:xfrm>
          <a:prstGeom prst="line">
            <a:avLst/>
          </a:prstGeom>
          <a:noFill/>
          <a:ln w="28575">
            <a:solidFill>
              <a:schemeClr val="accent1"/>
            </a:solidFill>
            <a:prstDash val="solid"/>
            <a:tailEnd type="triangle"/>
          </a:ln>
        </p:spPr>
      </p:sp>
      <p:sp>
        <p:nvSpPr>
          <p:cNvPr id="14" name="Chip"/>
          <p:cNvSpPr txBox="1"/>
          <p:nvPr/>
        </p:nvSpPr>
        <p:spPr>
          <a:xfrm>
            <a:off x="8549640" y="1874520"/>
            <a:ext cx="1280160" cy="50292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bg1"/>
                </a:solidFill>
              </a:rPr>
              <a:t>(Kiste)</a:t>
            </a:r>
            <a:endParaRPr lang="en-US" sz="1600" dirty="0"/>
          </a:p>
        </p:txBody>
      </p:sp>
      <p:sp>
        <p:nvSpPr>
          <p:cNvPr id="15" name="Pfeil Ergebnis"/>
          <p:cNvSpPr/>
          <p:nvPr/>
        </p:nvSpPr>
        <p:spPr>
          <a:xfrm>
            <a:off x="9921240" y="2121408"/>
            <a:ext cx="320040" cy="91"/>
          </a:xfrm>
          <a:prstGeom prst="line">
            <a:avLst/>
          </a:prstGeom>
          <a:noFill/>
          <a:ln w="28575">
            <a:solidFill>
              <a:schemeClr val="accent1"/>
            </a:solidFill>
            <a:prstDash val="solid"/>
            <a:tailEnd type="triangle"/>
          </a:ln>
        </p:spPr>
      </p:sp>
      <p:sp>
        <p:nvSpPr>
          <p:cNvPr id="16" name="Chip"/>
          <p:cNvSpPr txBox="1"/>
          <p:nvPr/>
        </p:nvSpPr>
        <p:spPr>
          <a:xfrm>
            <a:off x="10332720" y="1874520"/>
            <a:ext cx="1280160" cy="502920"/>
          </a:xfrm>
          <a:prstGeom prst="roundRect">
            <a:avLst>
              <a:gd name="adj" fmla="val 50000"/>
            </a:avLst>
          </a:prstGeom>
          <a:solidFill>
            <a:schemeClr val="accent3"/>
          </a:solidFill>
          <a:ln/>
        </p:spPr>
        <p:txBody>
          <a:bodyPr wrap="square" lIns="0" tIns="0" rIns="0" bIns="0" rtlCol="0" anchor="ctr"/>
          <a:lstStyle/>
          <a:p>
            <a:pPr algn="ctr" indent="0" marL="0">
              <a:buNone/>
            </a:pPr>
            <a:r>
              <a:rPr lang="en-US" sz="1600" b="1" dirty="0">
                <a:solidFill>
                  <a:schemeClr val="bg1"/>
                </a:solidFill>
              </a:rPr>
              <a:t>Kiste k</a:t>
            </a:r>
            <a:endParaRPr lang="en-US" sz="1600" dirty="0"/>
          </a:p>
        </p:txBody>
      </p:sp>
      <p:sp>
        <p:nvSpPr>
          <p:cNvPr id="17" name="Text 15"/>
          <p:cNvSpPr txBox="1"/>
          <p:nvPr/>
        </p:nvSpPr>
        <p:spPr>
          <a:xfrm>
            <a:off x="7863840" y="2487168"/>
            <a:ext cx="3749040" cy="274320"/>
          </a:xfrm>
          <a:prstGeom prst="rect">
            <a:avLst/>
          </a:prstGeom>
          <a:noFill/>
          <a:ln/>
        </p:spPr>
        <p:txBody>
          <a:bodyPr wrap="square" lIns="0" tIns="0" rIns="0" bIns="0" rtlCol="0" anchor="t"/>
          <a:lstStyle/>
          <a:p>
            <a:pPr algn="ctr" indent="0" marL="0">
              <a:buNone/>
            </a:pPr>
            <a:r>
              <a:rPr lang="en-US" sz="1300" i="1" dirty="0">
                <a:solidFill>
                  <a:schemeClr val="accent2"/>
                </a:solidFill>
              </a:rPr>
              <a:t>Cast: „Ich weiß, das ist eine Kiste.“</a:t>
            </a:r>
            <a:endParaRPr lang="en-US" sz="1300" dirty="0"/>
          </a:p>
        </p:txBody>
      </p:sp>
      <p:sp>
        <p:nvSpPr>
          <p:cNvPr id="18" name="Code"/>
          <p:cNvSpPr txBox="1"/>
          <p:nvPr/>
        </p:nvSpPr>
        <p:spPr>
          <a:xfrm>
            <a:off x="548640" y="3154680"/>
            <a:ext cx="7452360" cy="1444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Stack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Stack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keine spitzen Klammern!</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Kiste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Kiste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pop</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Stapel vom Inhaltstyp Kiste</a:t>
            </a:r>
            <a:endParaRPr lang="en-US" sz="1200" dirty="0"/>
          </a:p>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x</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Integer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dequeue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Schlange vom Inhaltstyp Ganzzahl</a:t>
            </a:r>
            <a:endParaRPr lang="en-US" sz="1200" dirty="0"/>
          </a:p>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char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Character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pop</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Stapel vom Inhaltstyp Zeichen</a:t>
            </a:r>
            <a:endParaRPr lang="en-US" sz="1200" dirty="0"/>
          </a:p>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String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String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head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Schlange vom Inhaltstyp Zeichenkette</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Kiste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Kiste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dynamische Reihung vom Inhaltstyp Kiste</a:t>
            </a:r>
            <a:endParaRPr lang="en-US" sz="1200" dirty="0"/>
          </a:p>
        </p:txBody>
      </p:sp>
      <p:sp>
        <p:nvSpPr>
          <p:cNvPr id="19" name="Hineinlegen"/>
          <p:cNvSpPr/>
          <p:nvPr/>
        </p:nvSpPr>
        <p:spPr>
          <a:xfrm>
            <a:off x="548640" y="5257800"/>
            <a:ext cx="7452360" cy="868680"/>
          </a:xfrm>
          <a:prstGeom prst="roundRect">
            <a:avLst>
              <a:gd name="adj" fmla="val 12632"/>
            </a:avLst>
          </a:prstGeom>
          <a:solidFill>
            <a:schemeClr val="bg2"/>
          </a:solidFill>
          <a:ln/>
        </p:spPr>
      </p:sp>
      <p:sp>
        <p:nvSpPr>
          <p:cNvPr id="20" name="Text 18"/>
          <p:cNvSpPr txBox="1"/>
          <p:nvPr/>
        </p:nvSpPr>
        <p:spPr>
          <a:xfrm>
            <a:off x="749808" y="5257800"/>
            <a:ext cx="7086600" cy="868680"/>
          </a:xfrm>
          <a:prstGeom prst="rect">
            <a:avLst/>
          </a:prstGeom>
          <a:noFill/>
          <a:ln/>
        </p:spPr>
        <p:txBody>
          <a:bodyPr wrap="square" lIns="0" tIns="0" rIns="0" bIns="0" rtlCol="0" anchor="ctr"/>
          <a:lstStyle/>
          <a:p>
            <a:pPr indent="0" marL="0">
              <a:buNone/>
            </a:pPr>
            <a:r>
              <a:rPr lang="en-US" sz="1500" b="1" dirty="0">
                <a:solidFill>
                  <a:schemeClr val="accent1"/>
                </a:solidFill>
              </a:rPr>
              <a:t>Hineinlegen ohne Cast: </a:t>
            </a:r>
            <a:pPr indent="0" marL="0">
              <a:buNone/>
            </a:pPr>
            <a:r>
              <a:rPr lang="en-US" sz="1400" dirty="0">
                <a:solidFill>
                  <a:schemeClr val="tx1"/>
                </a:solidFill>
                <a:latin typeface="Consolas" pitchFamily="34" charset="0"/>
                <a:ea typeface="Consolas" pitchFamily="34" charset="-122"/>
                <a:cs typeface="Consolas" pitchFamily="34" charset="-120"/>
              </a:rPr>
              <a:t>s.push(5)</a:t>
            </a:r>
            <a:pPr indent="0" marL="0">
              <a:buNone/>
            </a:pPr>
            <a:r>
              <a:rPr lang="en-US" sz="1500" dirty="0">
                <a:solidFill>
                  <a:schemeClr val="tx1"/>
                </a:solidFill>
              </a:rPr>
              <a:t>, </a:t>
            </a:r>
            <a:pPr indent="0" marL="0">
              <a:buNone/>
            </a:pPr>
            <a:r>
              <a:rPr lang="en-US" sz="1400" dirty="0">
                <a:solidFill>
                  <a:schemeClr val="tx1"/>
                </a:solidFill>
                <a:latin typeface="Consolas" pitchFamily="34" charset="0"/>
                <a:ea typeface="Consolas" pitchFamily="34" charset="-122"/>
                <a:cs typeface="Consolas" pitchFamily="34" charset="-120"/>
              </a:rPr>
              <a:t>q.enqueue("Moewe")</a:t>
            </a:r>
            <a:pPr indent="0" marL="0">
              <a:buNone/>
            </a:pPr>
            <a:r>
              <a:rPr lang="en-US" sz="1500" dirty="0">
                <a:solidFill>
                  <a:schemeClr val="tx1"/>
                </a:solidFill>
              </a:rPr>
              <a:t> – Zahlen und Zeichen werden automatisch verpackt.</a:t>
            </a:r>
            <a:endParaRPr lang="en-US" sz="1500" dirty="0"/>
          </a:p>
        </p:txBody>
      </p:sp>
      <p:sp>
        <p:nvSpPr>
          <p:cNvPr id="21" name="Cast vergessen"/>
          <p:cNvSpPr/>
          <p:nvPr/>
        </p:nvSpPr>
        <p:spPr>
          <a:xfrm>
            <a:off x="8229600" y="3154680"/>
            <a:ext cx="3383280" cy="914400"/>
          </a:xfrm>
          <a:prstGeom prst="roundRect">
            <a:avLst>
              <a:gd name="adj" fmla="val 12000"/>
            </a:avLst>
          </a:prstGeom>
          <a:solidFill>
            <a:schemeClr val="bg1"/>
          </a:solidFill>
          <a:ln w="25400">
            <a:solidFill>
              <a:schemeClr val="accent4"/>
            </a:solidFill>
            <a:prstDash val="solid"/>
          </a:ln>
        </p:spPr>
      </p:sp>
      <p:sp>
        <p:nvSpPr>
          <p:cNvPr id="22" name="Text 20"/>
          <p:cNvSpPr txBox="1"/>
          <p:nvPr/>
        </p:nvSpPr>
        <p:spPr>
          <a:xfrm>
            <a:off x="8430768" y="3154680"/>
            <a:ext cx="3017520" cy="914400"/>
          </a:xfrm>
          <a:prstGeom prst="rect">
            <a:avLst/>
          </a:prstGeom>
          <a:noFill/>
          <a:ln/>
        </p:spPr>
        <p:txBody>
          <a:bodyPr wrap="square" lIns="0" tIns="0" rIns="0" bIns="0" rtlCol="0" anchor="ctr"/>
          <a:lstStyle/>
          <a:p>
            <a:pPr indent="0" marL="0">
              <a:buNone/>
            </a:pPr>
            <a:r>
              <a:rPr lang="en-US" sz="1500" b="1" dirty="0">
                <a:solidFill>
                  <a:schemeClr val="accent4"/>
                </a:solidFill>
              </a:rPr>
              <a:t>Cast vergessen: </a:t>
            </a:r>
            <a:pPr indent="0" marL="0">
              <a:buNone/>
            </a:pPr>
            <a:r>
              <a:rPr lang="en-US" sz="1500" dirty="0">
                <a:solidFill>
                  <a:schemeClr val="tx1"/>
                </a:solidFill>
              </a:rPr>
              <a:t>Fehler schon beim Kompilieren – Object passt nicht zu Kiste.</a:t>
            </a:r>
            <a:endParaRPr lang="en-US" sz="1500" dirty="0"/>
          </a:p>
        </p:txBody>
      </p:sp>
      <p:sp>
        <p:nvSpPr>
          <p:cNvPr id="23" name="Falscher Cast"/>
          <p:cNvSpPr/>
          <p:nvPr/>
        </p:nvSpPr>
        <p:spPr>
          <a:xfrm>
            <a:off x="8229600" y="4206240"/>
            <a:ext cx="3383280" cy="914400"/>
          </a:xfrm>
          <a:prstGeom prst="roundRect">
            <a:avLst>
              <a:gd name="adj" fmla="val 12000"/>
            </a:avLst>
          </a:prstGeom>
          <a:solidFill>
            <a:schemeClr val="bg1"/>
          </a:solidFill>
          <a:ln w="25400">
            <a:solidFill>
              <a:schemeClr val="accent4"/>
            </a:solidFill>
            <a:prstDash val="solid"/>
          </a:ln>
        </p:spPr>
      </p:sp>
      <p:sp>
        <p:nvSpPr>
          <p:cNvPr id="24" name="Text 22"/>
          <p:cNvSpPr txBox="1"/>
          <p:nvPr/>
        </p:nvSpPr>
        <p:spPr>
          <a:xfrm>
            <a:off x="8430768" y="4206240"/>
            <a:ext cx="3017520" cy="914400"/>
          </a:xfrm>
          <a:prstGeom prst="rect">
            <a:avLst/>
          </a:prstGeom>
          <a:noFill/>
          <a:ln/>
        </p:spPr>
        <p:txBody>
          <a:bodyPr wrap="square" lIns="0" tIns="0" rIns="0" bIns="0" rtlCol="0" anchor="ctr"/>
          <a:lstStyle/>
          <a:p>
            <a:pPr indent="0" marL="0">
              <a:buNone/>
            </a:pPr>
            <a:r>
              <a:rPr lang="en-US" sz="1500" b="1" dirty="0">
                <a:solidFill>
                  <a:schemeClr val="accent4"/>
                </a:solidFill>
              </a:rPr>
              <a:t>Falscher Cast: </a:t>
            </a:r>
            <a:pPr indent="0" marL="0">
              <a:buNone/>
            </a:pPr>
            <a:r>
              <a:rPr lang="en-US" sz="1500" dirty="0">
                <a:solidFill>
                  <a:schemeClr val="tx1"/>
                </a:solidFill>
              </a:rPr>
              <a:t>Laufzeitfehler ClassCastException, z. B. (Integer) auf eine Kiste.</a:t>
            </a:r>
            <a:endParaRPr lang="en-US" sz="1500" dirty="0"/>
          </a:p>
        </p:txBody>
      </p:sp>
      <p:sp>
        <p:nvSpPr>
          <p:cNvPr id="25" name="Casts Papier"/>
          <p:cNvSpPr/>
          <p:nvPr/>
        </p:nvSpPr>
        <p:spPr>
          <a:xfrm>
            <a:off x="8229600" y="5257800"/>
            <a:ext cx="3383280" cy="868680"/>
          </a:xfrm>
          <a:prstGeom prst="roundRect">
            <a:avLst>
              <a:gd name="adj" fmla="val 12632"/>
            </a:avLst>
          </a:prstGeom>
          <a:solidFill>
            <a:schemeClr val="bg1"/>
          </a:solidFill>
          <a:ln w="25400">
            <a:solidFill>
              <a:schemeClr val="accent3"/>
            </a:solidFill>
            <a:prstDash val="solid"/>
          </a:ln>
        </p:spPr>
      </p:sp>
      <p:sp>
        <p:nvSpPr>
          <p:cNvPr id="26" name="Text 24"/>
          <p:cNvSpPr txBox="1"/>
          <p:nvPr/>
        </p:nvSpPr>
        <p:spPr>
          <a:xfrm>
            <a:off x="8430768" y="5257800"/>
            <a:ext cx="3017520" cy="868680"/>
          </a:xfrm>
          <a:prstGeom prst="rect">
            <a:avLst/>
          </a:prstGeom>
          <a:noFill/>
          <a:ln/>
        </p:spPr>
        <p:txBody>
          <a:bodyPr wrap="square" lIns="0" tIns="0" rIns="0" bIns="0" rtlCol="0" anchor="ctr"/>
          <a:lstStyle/>
          <a:p>
            <a:pPr indent="0" marL="0">
              <a:buNone/>
            </a:pPr>
            <a:r>
              <a:rPr lang="en-US" sz="1500" b="1" dirty="0">
                <a:solidFill>
                  <a:schemeClr val="accent3"/>
                </a:solidFill>
              </a:rPr>
              <a:t>Papier-Compiler: </a:t>
            </a:r>
            <a:pPr indent="0" marL="0">
              <a:buNone/>
            </a:pPr>
            <a:r>
              <a:rPr lang="en-US" sz="1500" dirty="0">
                <a:solidFill>
                  <a:schemeClr val="tx1"/>
                </a:solidFill>
              </a:rPr>
              <a:t>Casts auch handschriftlich mitschreiben!</a:t>
            </a:r>
            <a:endParaRPr lang="en-US" sz="1500" dirty="0"/>
          </a:p>
        </p:txBody>
      </p:sp>
      <p:sp>
        <p:nvSpPr>
          <p:cNvPr id="27" name="Text 25"/>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24 · Casten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Laufzeitfehler vermeiden: Erst fragen, dann nehmen</a:t>
            </a:r>
            <a:endParaRPr lang="en-US" sz="3600" dirty="0"/>
          </a:p>
        </p:txBody>
      </p:sp>
      <p:sp>
        <p:nvSpPr>
          <p:cNvPr id="3" name="Chip"/>
          <p:cNvSpPr txBox="1"/>
          <p:nvPr/>
        </p:nvSpPr>
        <p:spPr>
          <a:xfrm>
            <a:off x="548640" y="1325880"/>
            <a:ext cx="1097280"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b="1" dirty="0">
                <a:solidFill>
                  <a:schemeClr val="bg1"/>
                </a:solidFill>
              </a:rPr>
              <a:t>falsch</a:t>
            </a:r>
            <a:endParaRPr lang="en-US" sz="1400" dirty="0"/>
          </a:p>
        </p:txBody>
      </p:sp>
      <p:sp>
        <p:nvSpPr>
          <p:cNvPr id="4" name="Text 2"/>
          <p:cNvSpPr txBox="1"/>
          <p:nvPr/>
        </p:nvSpPr>
        <p:spPr>
          <a:xfrm>
            <a:off x="1783080" y="1325880"/>
            <a:ext cx="4480560" cy="329184"/>
          </a:xfrm>
          <a:prstGeom prst="rect">
            <a:avLst/>
          </a:prstGeom>
          <a:noFill/>
          <a:ln/>
        </p:spPr>
        <p:txBody>
          <a:bodyPr wrap="square" lIns="0" tIns="0" rIns="0" bIns="0" rtlCol="0" anchor="ctr"/>
          <a:lstStyle/>
          <a:p>
            <a:pPr indent="0" marL="0">
              <a:buNone/>
            </a:pPr>
            <a:r>
              <a:rPr lang="en-US" sz="1300" i="1" dirty="0">
                <a:solidFill>
                  <a:schemeClr val="accent6"/>
                </a:solidFill>
              </a:rPr>
              <a:t>obersterWert: leerer Stapel → −1</a:t>
            </a:r>
            <a:endParaRPr lang="en-US" sz="1300" dirty="0"/>
          </a:p>
        </p:txBody>
      </p:sp>
      <p:sp>
        <p:nvSpPr>
          <p:cNvPr id="5" name="Code"/>
          <p:cNvSpPr txBox="1"/>
          <p:nvPr/>
        </p:nvSpPr>
        <p:spPr>
          <a:xfrm>
            <a:off x="548640" y="1737360"/>
            <a:ext cx="5669280" cy="9875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static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obersterWert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Stack</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Integer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top</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i="1" dirty="0">
                <a:solidFill>
                  <a:schemeClr val="accent3"/>
                </a:solidFill>
                <a:latin typeface="Consolas" pitchFamily="34" charset="0"/>
                <a:ea typeface="Consolas" pitchFamily="34" charset="-122"/>
                <a:cs typeface="Consolas" pitchFamily="34" charset="-120"/>
              </a:rPr>
              <a:t>// leer? Absturz!</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6" name="Chip"/>
          <p:cNvSpPr txBox="1"/>
          <p:nvPr/>
        </p:nvSpPr>
        <p:spPr>
          <a:xfrm>
            <a:off x="548640" y="2788920"/>
            <a:ext cx="109728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richtig</a:t>
            </a:r>
            <a:endParaRPr lang="en-US" sz="1400" dirty="0"/>
          </a:p>
        </p:txBody>
      </p:sp>
      <p:sp>
        <p:nvSpPr>
          <p:cNvPr id="7" name="Code"/>
          <p:cNvSpPr txBox="1"/>
          <p:nvPr/>
        </p:nvSpPr>
        <p:spPr>
          <a:xfrm>
            <a:off x="548640" y="3200400"/>
            <a:ext cx="5669280" cy="1673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static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obersterWert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Stack</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if</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isEmpty</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-1;   </a:t>
            </a:r>
            <a:pPr algn="l" indent="0" marL="0">
              <a:lnSpc>
                <a:spcPts val="1800"/>
              </a:lnSpc>
              <a:buNone/>
            </a:pPr>
            <a:r>
              <a:rPr lang="en-US" sz="1400" i="1" dirty="0">
                <a:solidFill>
                  <a:schemeClr val="accent3"/>
                </a:solidFill>
                <a:latin typeface="Consolas" pitchFamily="34" charset="0"/>
                <a:ea typeface="Consolas" pitchFamily="34" charset="-122"/>
                <a:cs typeface="Consolas" pitchFamily="34" charset="-120"/>
              </a:rPr>
              <a:t>// Leer? -&gt; kein top()!</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Integer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top</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8" name="Markierung Leerabfrage"/>
          <p:cNvSpPr/>
          <p:nvPr/>
        </p:nvSpPr>
        <p:spPr>
          <a:xfrm>
            <a:off x="594360" y="3557016"/>
            <a:ext cx="5577840" cy="685800"/>
          </a:xfrm>
          <a:prstGeom prst="rect">
            <a:avLst/>
          </a:prstGeom>
          <a:ln w="28575">
            <a:solidFill>
              <a:schemeClr val="accent3"/>
            </a:solidFill>
            <a:prstDash val="solid"/>
          </a:ln>
        </p:spPr>
      </p:sp>
      <p:graphicFrame>
        <p:nvGraphicFramePr>
          <p:cNvPr id="12" name="Laufzeitfehler"/>
          <p:cNvGraphicFramePr>
            <a:graphicFrameLocks noGrp="1"/>
          </p:cNvGraphicFramePr>
          <p:nvPr>
            <p:extLst>
              <p:ext uri="{D42A27DB-BD31-4B8C-83A1-F6EECF244321}">
                <p14:modId xmlns:p14="http://schemas.microsoft.com/office/powerpoint/2010/main" val="1579011935"/>
              </p:ext>
            </p:extLst>
          </p:nvPr>
        </p:nvGraphicFramePr>
        <p:xfrm>
          <a:off x="6537960" y="1325880"/>
          <a:ext cx="5074920" cy="914400"/>
        </p:xfrm>
        <a:graphic>
          <a:graphicData uri="http://schemas.openxmlformats.org/drawingml/2006/table">
            <a:tbl>
              <a:tblPr/>
              <a:tblGrid>
                <a:gridCol w="2514600"/>
                <a:gridCol w="2560320"/>
              </a:tblGrid>
              <a:tr h="438912">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Laufzeitfehler</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Ursache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38912">
                <a:tc>
                  <a:txBody>
                    <a:bodyPr/>
                    <a:lstStyle/>
                    <a:p>
                      <a:pPr algn="l" indent="0" marL="0">
                        <a:buNone/>
                      </a:pPr>
                      <a:r>
                        <a:rPr lang="en-US" sz="1400" b="1" dirty="0">
                          <a:solidFill>
                            <a:schemeClr val="accent4"/>
                          </a:solidFill>
                          <a:latin typeface="Calibri" pitchFamily="34" charset="0"/>
                          <a:ea typeface="Calibri" pitchFamily="34" charset="-122"/>
                          <a:cs typeface="Calibri" pitchFamily="34" charset="-120"/>
                        </a:rPr>
                        <a:t>IllegalStateException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top, pop, head, dequeue auf leerer Struktur</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algn="l" indent="0" marL="0">
                        <a:buNone/>
                      </a:pPr>
                      <a:r>
                        <a:rPr lang="en-US" sz="1400" b="1" dirty="0">
                          <a:solidFill>
                            <a:schemeClr val="accent4"/>
                          </a:solidFill>
                          <a:latin typeface="Calibri" pitchFamily="34" charset="0"/>
                          <a:ea typeface="Calibri" pitchFamily="34" charset="-122"/>
                          <a:cs typeface="Calibri" pitchFamily="34" charset="-120"/>
                        </a:rPr>
                        <a:t>IndexOutOfBoundsException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DynArray-Index nicht in 0 … getLength() − 1</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algn="l" indent="0" marL="0">
                        <a:buNone/>
                      </a:pPr>
                      <a:r>
                        <a:rPr lang="en-US" sz="1400" b="1" dirty="0">
                          <a:solidFill>
                            <a:schemeClr val="accent4"/>
                          </a:solidFill>
                          <a:latin typeface="Calibri" pitchFamily="34" charset="0"/>
                          <a:ea typeface="Calibri" pitchFamily="34" charset="-122"/>
                          <a:cs typeface="Calibri" pitchFamily="34" charset="-120"/>
                        </a:rPr>
                        <a:t>IllegalArgumentException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null hineinlegen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algn="l" indent="0" marL="0">
                        <a:buNone/>
                      </a:pPr>
                      <a:r>
                        <a:rPr lang="en-US" sz="1400" b="1" dirty="0">
                          <a:solidFill>
                            <a:schemeClr val="accent4"/>
                          </a:solidFill>
                          <a:latin typeface="Calibri" pitchFamily="34" charset="0"/>
                          <a:ea typeface="Calibri" pitchFamily="34" charset="-122"/>
                          <a:cs typeface="Calibri" pitchFamily="34" charset="-120"/>
                        </a:rPr>
                        <a:t>ClassCastException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falscher Cast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0" name="Text 7"/>
          <p:cNvSpPr txBox="1"/>
          <p:nvPr/>
        </p:nvSpPr>
        <p:spPr>
          <a:xfrm>
            <a:off x="6537960" y="3703320"/>
            <a:ext cx="5074920" cy="320040"/>
          </a:xfrm>
          <a:prstGeom prst="rect">
            <a:avLst/>
          </a:prstGeom>
          <a:noFill/>
          <a:ln/>
        </p:spPr>
        <p:txBody>
          <a:bodyPr wrap="square" lIns="0" tIns="0" rIns="0" bIns="0" rtlCol="0" anchor="t"/>
          <a:lstStyle/>
          <a:p>
            <a:pPr indent="0" marL="0">
              <a:buNone/>
            </a:pPr>
            <a:r>
              <a:rPr lang="en-US" sz="1700" b="1" dirty="0">
                <a:solidFill>
                  <a:schemeClr val="accent2"/>
                </a:solidFill>
              </a:rPr>
              <a:t>Abi-Check Welt 4</a:t>
            </a:r>
            <a:endParaRPr lang="en-US" sz="1700" dirty="0"/>
          </a:p>
        </p:txBody>
      </p:sp>
      <p:sp>
        <p:nvSpPr>
          <p:cNvPr id="11" name="Icon-Kreis"/>
          <p:cNvSpPr/>
          <p:nvPr/>
        </p:nvSpPr>
        <p:spPr>
          <a:xfrm>
            <a:off x="6537960" y="4087368"/>
            <a:ext cx="274320" cy="274320"/>
          </a:xfrm>
          <a:prstGeom prst="ellipse">
            <a:avLst/>
          </a:prstGeom>
          <a:solidFill>
            <a:schemeClr val="accent3"/>
          </a:solidFill>
          <a:ln/>
        </p:spPr>
      </p:sp>
      <p:pic>
        <p:nvPicPr>
          <p:cNvPr id="12" name="Icon GiCheckMark" descr="preencoded.png">    </p:cNvPr>
          <p:cNvPicPr>
            <a:picLocks noChangeAspect="1"/>
          </p:cNvPicPr>
          <p:nvPr/>
        </p:nvPicPr>
        <p:blipFill>
          <a:blip r:embed="rId1"/>
          <a:stretch>
            <a:fillRect/>
          </a:stretch>
        </p:blipFill>
        <p:spPr>
          <a:xfrm>
            <a:off x="6581851" y="4131259"/>
            <a:ext cx="186538" cy="186538"/>
          </a:xfrm>
          <a:prstGeom prst="rect">
            <a:avLst/>
          </a:prstGeom>
        </p:spPr>
      </p:pic>
      <p:sp>
        <p:nvSpPr>
          <p:cNvPr id="13" name="Text 9"/>
          <p:cNvSpPr txBox="1"/>
          <p:nvPr/>
        </p:nvSpPr>
        <p:spPr>
          <a:xfrm>
            <a:off x="6949440" y="4069080"/>
            <a:ext cx="4663440" cy="310896"/>
          </a:xfrm>
          <a:prstGeom prst="rect">
            <a:avLst/>
          </a:prstGeom>
          <a:noFill/>
          <a:ln/>
        </p:spPr>
        <p:txBody>
          <a:bodyPr wrap="square" lIns="0" tIns="0" rIns="0" bIns="0" rtlCol="0" anchor="ctr"/>
          <a:lstStyle/>
          <a:p>
            <a:pPr indent="0" marL="0">
              <a:buNone/>
            </a:pPr>
            <a:r>
              <a:rPr lang="en-US" sz="1500" dirty="0">
                <a:solidFill>
                  <a:schemeClr val="tx1"/>
                </a:solidFill>
              </a:rPr>
              <a:t>Leer? – vor top, pop, head, dequeue: isEmpty()</a:t>
            </a:r>
            <a:endParaRPr lang="en-US" sz="1500" dirty="0"/>
          </a:p>
        </p:txBody>
      </p:sp>
      <p:sp>
        <p:nvSpPr>
          <p:cNvPr id="14" name="Icon-Kreis"/>
          <p:cNvSpPr/>
          <p:nvPr/>
        </p:nvSpPr>
        <p:spPr>
          <a:xfrm>
            <a:off x="6537960" y="4416552"/>
            <a:ext cx="274320" cy="274320"/>
          </a:xfrm>
          <a:prstGeom prst="ellipse">
            <a:avLst/>
          </a:prstGeom>
          <a:solidFill>
            <a:schemeClr val="accent3"/>
          </a:solidFill>
          <a:ln/>
        </p:spPr>
      </p:sp>
      <p:pic>
        <p:nvPicPr>
          <p:cNvPr id="15" name="Icon GiCheckMark" descr="preencoded.png">    </p:cNvPr>
          <p:cNvPicPr>
            <a:picLocks noChangeAspect="1"/>
          </p:cNvPicPr>
          <p:nvPr/>
        </p:nvPicPr>
        <p:blipFill>
          <a:blip r:embed="rId2"/>
          <a:stretch>
            <a:fillRect/>
          </a:stretch>
        </p:blipFill>
        <p:spPr>
          <a:xfrm>
            <a:off x="6581851" y="4460443"/>
            <a:ext cx="186538" cy="186538"/>
          </a:xfrm>
          <a:prstGeom prst="rect">
            <a:avLst/>
          </a:prstGeom>
        </p:spPr>
      </p:pic>
      <p:sp>
        <p:nvSpPr>
          <p:cNvPr id="16" name="Text 11"/>
          <p:cNvSpPr txBox="1"/>
          <p:nvPr/>
        </p:nvSpPr>
        <p:spPr>
          <a:xfrm>
            <a:off x="6949440" y="4398264"/>
            <a:ext cx="4663440" cy="310896"/>
          </a:xfrm>
          <a:prstGeom prst="rect">
            <a:avLst/>
          </a:prstGeom>
          <a:noFill/>
          <a:ln/>
        </p:spPr>
        <p:txBody>
          <a:bodyPr wrap="square" lIns="0" tIns="0" rIns="0" bIns="0" rtlCol="0" anchor="ctr"/>
          <a:lstStyle/>
          <a:p>
            <a:pPr indent="0" marL="0">
              <a:buNone/>
            </a:pPr>
            <a:r>
              <a:rPr lang="en-US" sz="1500" dirty="0">
                <a:solidFill>
                  <a:schemeClr val="tx1"/>
                </a:solidFill>
              </a:rPr>
              <a:t>Index? – 0 ≤ i &lt; getLength()</a:t>
            </a:r>
            <a:endParaRPr lang="en-US" sz="1500" dirty="0"/>
          </a:p>
        </p:txBody>
      </p:sp>
      <p:sp>
        <p:nvSpPr>
          <p:cNvPr id="17" name="Icon-Kreis"/>
          <p:cNvSpPr/>
          <p:nvPr/>
        </p:nvSpPr>
        <p:spPr>
          <a:xfrm>
            <a:off x="6537960" y="4745736"/>
            <a:ext cx="274320" cy="274320"/>
          </a:xfrm>
          <a:prstGeom prst="ellipse">
            <a:avLst/>
          </a:prstGeom>
          <a:solidFill>
            <a:schemeClr val="accent3"/>
          </a:solidFill>
          <a:ln/>
        </p:spPr>
      </p:sp>
      <p:pic>
        <p:nvPicPr>
          <p:cNvPr id="18" name="Icon GiCheckMark" descr="preencoded.png">    </p:cNvPr>
          <p:cNvPicPr>
            <a:picLocks noChangeAspect="1"/>
          </p:cNvPicPr>
          <p:nvPr/>
        </p:nvPicPr>
        <p:blipFill>
          <a:blip r:embed="rId3"/>
          <a:stretch>
            <a:fillRect/>
          </a:stretch>
        </p:blipFill>
        <p:spPr>
          <a:xfrm>
            <a:off x="6581851" y="4789627"/>
            <a:ext cx="186538" cy="186538"/>
          </a:xfrm>
          <a:prstGeom prst="rect">
            <a:avLst/>
          </a:prstGeom>
        </p:spPr>
      </p:pic>
      <p:sp>
        <p:nvSpPr>
          <p:cNvPr id="19" name="Text 13"/>
          <p:cNvSpPr txBox="1"/>
          <p:nvPr/>
        </p:nvSpPr>
        <p:spPr>
          <a:xfrm>
            <a:off x="6949440" y="4727448"/>
            <a:ext cx="4663440" cy="310896"/>
          </a:xfrm>
          <a:prstGeom prst="rect">
            <a:avLst/>
          </a:prstGeom>
          <a:noFill/>
          <a:ln/>
        </p:spPr>
        <p:txBody>
          <a:bodyPr wrap="square" lIns="0" tIns="0" rIns="0" bIns="0" rtlCol="0" anchor="ctr"/>
          <a:lstStyle/>
          <a:p>
            <a:pPr indent="0" marL="0">
              <a:buNone/>
            </a:pPr>
            <a:r>
              <a:rPr lang="en-US" sz="1500" dirty="0">
                <a:solidFill>
                  <a:schemeClr val="tx1"/>
                </a:solidFill>
              </a:rPr>
              <a:t>Cast beim Entnehmen</a:t>
            </a:r>
            <a:endParaRPr lang="en-US" sz="1500" dirty="0"/>
          </a:p>
        </p:txBody>
      </p:sp>
      <p:sp>
        <p:nvSpPr>
          <p:cNvPr id="20" name="Icon-Kreis"/>
          <p:cNvSpPr/>
          <p:nvPr/>
        </p:nvSpPr>
        <p:spPr>
          <a:xfrm>
            <a:off x="6537960" y="5074920"/>
            <a:ext cx="274320" cy="274320"/>
          </a:xfrm>
          <a:prstGeom prst="ellipse">
            <a:avLst/>
          </a:prstGeom>
          <a:solidFill>
            <a:schemeClr val="accent3"/>
          </a:solidFill>
          <a:ln/>
        </p:spPr>
      </p:sp>
      <p:pic>
        <p:nvPicPr>
          <p:cNvPr id="21" name="Icon GiCheckMark" descr="preencoded.png">    </p:cNvPr>
          <p:cNvPicPr>
            <a:picLocks noChangeAspect="1"/>
          </p:cNvPicPr>
          <p:nvPr/>
        </p:nvPicPr>
        <p:blipFill>
          <a:blip r:embed="rId4"/>
          <a:stretch>
            <a:fillRect/>
          </a:stretch>
        </p:blipFill>
        <p:spPr>
          <a:xfrm>
            <a:off x="6581851" y="5118811"/>
            <a:ext cx="186538" cy="186538"/>
          </a:xfrm>
          <a:prstGeom prst="rect">
            <a:avLst/>
          </a:prstGeom>
        </p:spPr>
      </p:pic>
      <p:sp>
        <p:nvSpPr>
          <p:cNvPr id="22" name="Text 15"/>
          <p:cNvSpPr txBox="1"/>
          <p:nvPr/>
        </p:nvSpPr>
        <p:spPr>
          <a:xfrm>
            <a:off x="6949440" y="5056632"/>
            <a:ext cx="4663440" cy="310896"/>
          </a:xfrm>
          <a:prstGeom prst="rect">
            <a:avLst/>
          </a:prstGeom>
          <a:noFill/>
          <a:ln/>
        </p:spPr>
        <p:txBody>
          <a:bodyPr wrap="square" lIns="0" tIns="0" rIns="0" bIns="0" rtlCol="0" anchor="ctr"/>
          <a:lstStyle/>
          <a:p>
            <a:pPr indent="0" marL="0">
              <a:buNone/>
            </a:pPr>
            <a:r>
              <a:rPr lang="en-US" sz="1500" dirty="0">
                <a:solidFill>
                  <a:schemeClr val="tx1"/>
                </a:solidFill>
              </a:rPr>
              <a:t>unverändert, falls gefordert</a:t>
            </a:r>
            <a:endParaRPr lang="en-US" sz="1500" dirty="0"/>
          </a:p>
        </p:txBody>
      </p:sp>
      <p:sp>
        <p:nvSpPr>
          <p:cNvPr id="23" name="Achtung Abi Laufzeitfehler"/>
          <p:cNvSpPr/>
          <p:nvPr/>
        </p:nvSpPr>
        <p:spPr>
          <a:xfrm>
            <a:off x="548640" y="5440680"/>
            <a:ext cx="11064240" cy="685800"/>
          </a:xfrm>
          <a:prstGeom prst="roundRect">
            <a:avLst>
              <a:gd name="adj" fmla="val 16000"/>
            </a:avLst>
          </a:prstGeom>
          <a:solidFill>
            <a:schemeClr val="bg1"/>
          </a:solidFill>
          <a:ln w="25400">
            <a:solidFill>
              <a:schemeClr val="accent4"/>
            </a:solidFill>
            <a:prstDash val="solid"/>
          </a:ln>
        </p:spPr>
      </p:sp>
      <p:sp>
        <p:nvSpPr>
          <p:cNvPr id="24" name="Text 17"/>
          <p:cNvSpPr txBox="1"/>
          <p:nvPr/>
        </p:nvSpPr>
        <p:spPr>
          <a:xfrm>
            <a:off x="749808" y="5440680"/>
            <a:ext cx="10698480" cy="685800"/>
          </a:xfrm>
          <a:prstGeom prst="rect">
            <a:avLst/>
          </a:prstGeom>
          <a:noFill/>
          <a:ln/>
        </p:spPr>
        <p:txBody>
          <a:bodyPr wrap="square" lIns="0" tIns="0" rIns="0" bIns="0" rtlCol="0" anchor="ctr"/>
          <a:lstStyle/>
          <a:p>
            <a:pPr indent="0" marL="0">
              <a:buNone/>
            </a:pPr>
            <a:r>
              <a:rPr lang="en-US" sz="1700" b="1" dirty="0">
                <a:solidFill>
                  <a:schemeClr val="accent4"/>
                </a:solidFill>
              </a:rPr>
              <a:t>Achtung Abi: </a:t>
            </a:r>
            <a:pPr indent="0" marL="0">
              <a:buNone/>
            </a:pPr>
            <a:r>
              <a:rPr lang="en-US" sz="1700" dirty="0">
                <a:solidFill>
                  <a:schemeClr val="tx1"/>
                </a:solidFill>
              </a:rPr>
              <a:t>Laufzeitfehler müssen durch Abfragen ausgeschlossen werden (EH §4) – auch bei leeren Strukturen.</a:t>
            </a:r>
            <a:endParaRPr lang="en-US" sz="1700" dirty="0"/>
          </a:p>
        </p:txBody>
      </p:sp>
      <p:sp>
        <p:nvSpPr>
          <p:cNvPr id="25" name="Text 18"/>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24 · Abi-Check</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Mischaufgabe: Stapel und Schlange zusammen tracen</a:t>
            </a:r>
            <a:endParaRPr lang="en-US" sz="3600" dirty="0"/>
          </a:p>
        </p:txBody>
      </p:sp>
      <p:sp>
        <p:nvSpPr>
          <p:cNvPr id="3" name="Code"/>
          <p:cNvSpPr txBox="1"/>
          <p:nvPr/>
        </p:nvSpPr>
        <p:spPr>
          <a:xfrm>
            <a:off x="548640" y="1325880"/>
            <a:ext cx="5029200" cy="2587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Queue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q</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    </a:t>
            </a:r>
            <a:pPr algn="l" indent="0" marL="0">
              <a:lnSpc>
                <a:spcPts val="1800"/>
              </a:lnSpc>
              <a:buNone/>
            </a:pPr>
            <a:r>
              <a:rPr lang="en-US" sz="1400" i="1" dirty="0">
                <a:solidFill>
                  <a:schemeClr val="accent3"/>
                </a:solidFill>
                <a:latin typeface="Consolas" pitchFamily="34" charset="0"/>
                <a:ea typeface="Consolas" pitchFamily="34" charset="-122"/>
                <a:cs typeface="Consolas" pitchFamily="34" charset="-120"/>
              </a:rPr>
              <a:t>// q: 3 1 4 1 5 (vorne 3)</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Stack</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new</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Stack</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1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push</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q</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dequeue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2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push</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q</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dequeue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3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q</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enqueue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pop</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4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q</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enqueue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q</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dequeue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5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push</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q</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head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6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x</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Integer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pop</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Integer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q</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dequeue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7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push</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x</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4" name="Fehlerquelle Zeile"/>
          <p:cNvSpPr/>
          <p:nvPr/>
        </p:nvSpPr>
        <p:spPr>
          <a:xfrm>
            <a:off x="594360" y="2596896"/>
            <a:ext cx="4937760" cy="228600"/>
          </a:xfrm>
          <a:prstGeom prst="rect">
            <a:avLst/>
          </a:prstGeom>
          <a:ln w="28575">
            <a:solidFill>
              <a:schemeClr val="accent2"/>
            </a:solidFill>
            <a:prstDash val="solid"/>
          </a:ln>
        </p:spPr>
      </p:sp>
      <p:sp>
        <p:nvSpPr>
          <p:cNvPr id="5" name="Fehlerquelle Zeile"/>
          <p:cNvSpPr/>
          <p:nvPr/>
        </p:nvSpPr>
        <p:spPr>
          <a:xfrm>
            <a:off x="594360" y="2825496"/>
            <a:ext cx="4937760" cy="228600"/>
          </a:xfrm>
          <a:prstGeom prst="rect">
            <a:avLst/>
          </a:prstGeom>
          <a:ln w="28575">
            <a:solidFill>
              <a:schemeClr val="accent2"/>
            </a:solidFill>
            <a:prstDash val="solid"/>
          </a:ln>
        </p:spPr>
      </p:sp>
      <p:sp>
        <p:nvSpPr>
          <p:cNvPr id="6" name="Fehlerquellen"/>
          <p:cNvSpPr/>
          <p:nvPr/>
        </p:nvSpPr>
        <p:spPr>
          <a:xfrm>
            <a:off x="548640" y="4160520"/>
            <a:ext cx="5029200" cy="1097280"/>
          </a:xfrm>
          <a:prstGeom prst="roundRect">
            <a:avLst>
              <a:gd name="adj" fmla="val 10000"/>
            </a:avLst>
          </a:prstGeom>
          <a:solidFill>
            <a:schemeClr val="bg1"/>
          </a:solidFill>
          <a:ln w="25400">
            <a:solidFill>
              <a:schemeClr val="accent4"/>
            </a:solidFill>
            <a:prstDash val="solid"/>
          </a:ln>
        </p:spPr>
      </p:sp>
      <p:sp>
        <p:nvSpPr>
          <p:cNvPr id="7" name="Text 5"/>
          <p:cNvSpPr txBox="1"/>
          <p:nvPr/>
        </p:nvSpPr>
        <p:spPr>
          <a:xfrm>
            <a:off x="749808" y="4160520"/>
            <a:ext cx="4663440" cy="1097280"/>
          </a:xfrm>
          <a:prstGeom prst="rect">
            <a:avLst/>
          </a:prstGeom>
          <a:noFill/>
          <a:ln/>
        </p:spPr>
        <p:txBody>
          <a:bodyPr wrap="square" lIns="0" tIns="0" rIns="0" bIns="0" rtlCol="0" anchor="ctr"/>
          <a:lstStyle/>
          <a:p>
            <a:pPr indent="0" marL="0">
              <a:buNone/>
            </a:pPr>
            <a:r>
              <a:rPr lang="en-US" sz="1500" b="1" dirty="0">
                <a:solidFill>
                  <a:schemeClr val="accent4"/>
                </a:solidFill>
              </a:rPr>
              <a:t>Fehlerquellen: </a:t>
            </a:r>
            <a:pPr indent="0" marL="0">
              <a:buNone/>
            </a:pPr>
            <a:r>
              <a:rPr lang="en-US" sz="1500" dirty="0">
                <a:solidFill>
                  <a:schemeClr val="tx1"/>
                </a:solidFill>
              </a:rPr>
              <a:t>Zeile 4 – das vordere Element wandert nach hinten. Zeile 5 – head() entnimmt nicht: q bleibt gleich!</a:t>
            </a:r>
            <a:endParaRPr lang="en-US" sz="1500" dirty="0"/>
          </a:p>
        </p:txBody>
      </p:sp>
      <p:sp>
        <p:nvSpPr>
          <p:cNvPr id="8" name="Notation Trace"/>
          <p:cNvSpPr/>
          <p:nvPr/>
        </p:nvSpPr>
        <p:spPr>
          <a:xfrm>
            <a:off x="548640" y="5440680"/>
            <a:ext cx="5029200" cy="685800"/>
          </a:xfrm>
          <a:prstGeom prst="roundRect">
            <a:avLst>
              <a:gd name="adj" fmla="val 16000"/>
            </a:avLst>
          </a:prstGeom>
          <a:solidFill>
            <a:schemeClr val="bg2"/>
          </a:solidFill>
          <a:ln/>
        </p:spPr>
      </p:sp>
      <p:sp>
        <p:nvSpPr>
          <p:cNvPr id="9" name="Text 7"/>
          <p:cNvSpPr txBox="1"/>
          <p:nvPr/>
        </p:nvSpPr>
        <p:spPr>
          <a:xfrm>
            <a:off x="749808" y="5440680"/>
            <a:ext cx="4663440" cy="685800"/>
          </a:xfrm>
          <a:prstGeom prst="rect">
            <a:avLst/>
          </a:prstGeom>
          <a:noFill/>
          <a:ln/>
        </p:spPr>
        <p:txBody>
          <a:bodyPr wrap="square" lIns="0" tIns="0" rIns="0" bIns="0" rtlCol="0" anchor="ctr"/>
          <a:lstStyle/>
          <a:p>
            <a:pPr indent="0" marL="0">
              <a:buNone/>
            </a:pPr>
            <a:r>
              <a:rPr lang="en-US" sz="1500" b="1" dirty="0">
                <a:solidFill>
                  <a:schemeClr val="accent1"/>
                </a:solidFill>
              </a:rPr>
              <a:t>Notation: </a:t>
            </a:r>
            <a:pPr indent="0" marL="0">
              <a:buNone/>
            </a:pPr>
            <a:r>
              <a:rPr lang="en-US" sz="1500" dirty="0">
                <a:solidFill>
                  <a:schemeClr val="tx1"/>
                </a:solidFill>
              </a:rPr>
              <a:t>Stapel von oben, Schlange von vorne, – = leer</a:t>
            </a:r>
            <a:endParaRPr lang="en-US" sz="1500" dirty="0"/>
          </a:p>
        </p:txBody>
      </p:sp>
      <p:graphicFrame>
        <p:nvGraphicFramePr>
          <p:cNvPr id="13" name="Trace Mischaufgabe"/>
          <p:cNvGraphicFramePr>
            <a:graphicFrameLocks noGrp="1"/>
          </p:cNvGraphicFramePr>
          <p:nvPr>
            <p:extLst>
              <p:ext uri="{D42A27DB-BD31-4B8C-83A1-F6EECF244321}">
                <p14:modId xmlns:p14="http://schemas.microsoft.com/office/powerpoint/2010/main" val="1579011935"/>
              </p:ext>
            </p:extLst>
          </p:nvPr>
        </p:nvGraphicFramePr>
        <p:xfrm>
          <a:off x="5897880" y="1325880"/>
          <a:ext cx="5715000" cy="914400"/>
        </p:xfrm>
        <a:graphic>
          <a:graphicData uri="http://schemas.openxmlformats.org/drawingml/2006/table">
            <a:tbl>
              <a:tblPr/>
              <a:tblGrid>
                <a:gridCol w="502920"/>
                <a:gridCol w="1828800"/>
                <a:gridCol w="1600200"/>
                <a:gridCol w="1783080"/>
              </a:tblGrid>
              <a:tr h="45720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Nr</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q (vorne … hinten)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 (oben … unten)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Bemerkung</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3 1 4 1 5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Start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1 4 1 5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3 auf 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4 1 5</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1 3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1 liegt oben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4 1 5 1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1 hinten angestellt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1 5 1 4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rotiert: 4 nach hinten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1 5 1 4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1 3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head: q bleibt!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5 1 4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x = 1 + 1 = 2</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ctr" indent="0" marL="0">
                        <a:buNone/>
                      </a:pPr>
                      <a:r>
                        <a:rPr lang="en-US" sz="1600" b="1" dirty="0">
                          <a:solidFill>
                            <a:schemeClr val="accent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5 1 4</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2 3</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x aufgelegt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1" name="Chip"/>
          <p:cNvSpPr txBox="1"/>
          <p:nvPr/>
        </p:nvSpPr>
        <p:spPr>
          <a:xfrm>
            <a:off x="5897880" y="5669280"/>
            <a:ext cx="571500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Am Ende: q = 5 1 4 · s = 2 3 · x = 2</a:t>
            </a:r>
            <a:endParaRPr lang="en-US" sz="1600" dirty="0"/>
          </a:p>
        </p:txBody>
      </p:sp>
      <p:sp>
        <p:nvSpPr>
          <p:cNvPr id="12" name="Text 9"/>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24 · Mischaufgabe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Undo/Redo im Zugbuch: zwei Stapel</a:t>
            </a:r>
            <a:endParaRPr lang="en-US" sz="3600" dirty="0"/>
          </a:p>
        </p:txBody>
      </p:sp>
      <p:sp>
        <p:nvSpPr>
          <p:cNvPr id="3" name="Bild 1"/>
          <p:cNvSpPr/>
          <p:nvPr/>
        </p:nvSpPr>
        <p:spPr>
          <a:xfrm>
            <a:off x="548640" y="1325880"/>
            <a:ext cx="2651760" cy="2697480"/>
          </a:xfrm>
          <a:prstGeom prst="roundRect">
            <a:avLst>
              <a:gd name="adj" fmla="val 4138"/>
            </a:avLst>
          </a:prstGeom>
          <a:solidFill>
            <a:schemeClr val="bg1"/>
          </a:solidFill>
          <a:ln w="15875">
            <a:solidFill>
              <a:schemeClr val="bg2"/>
            </a:solidFill>
            <a:prstDash val="solid"/>
          </a:ln>
          <a:effectLst>
            <a:outerShdw sx="100000" sy="100000" kx="0" ky="0" algn="bl" rotWithShape="0" blurRad="76200" dist="25400" dir="5400000">
              <a:srgbClr val="000000">
                <a:alpha val="18000"/>
              </a:srgbClr>
            </a:outerShdw>
          </a:effectLst>
        </p:spPr>
      </p:sp>
      <p:sp>
        <p:nvSpPr>
          <p:cNvPr id="4" name="Nummer 1"/>
          <p:cNvSpPr txBox="1"/>
          <p:nvPr/>
        </p:nvSpPr>
        <p:spPr>
          <a:xfrm>
            <a:off x="640080" y="1417320"/>
            <a:ext cx="329184" cy="329184"/>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 3"/>
          <p:cNvSpPr txBox="1"/>
          <p:nvPr/>
        </p:nvSpPr>
        <p:spPr>
          <a:xfrm>
            <a:off x="1005840" y="1417320"/>
            <a:ext cx="2148840" cy="329184"/>
          </a:xfrm>
          <a:prstGeom prst="rect">
            <a:avLst/>
          </a:prstGeom>
          <a:noFill/>
          <a:ln/>
        </p:spPr>
        <p:txBody>
          <a:bodyPr wrap="square" lIns="0" tIns="0" rIns="0" bIns="0" rtlCol="0" anchor="ctr"/>
          <a:lstStyle/>
          <a:p>
            <a:pPr indent="0" marL="0">
              <a:buNone/>
            </a:pPr>
            <a:r>
              <a:rPr lang="en-US" sz="1300" b="1" dirty="0">
                <a:solidFill>
                  <a:schemeClr val="accent1"/>
                </a:solidFill>
              </a:rPr>
              <a:t>3 Züge: Nord, Ost, Sued</a:t>
            </a:r>
            <a:endParaRPr lang="en-US" sz="1300" dirty="0"/>
          </a:p>
        </p:txBody>
      </p:sp>
      <p:sp>
        <p:nvSpPr>
          <p:cNvPr id="6" name="Stapel Wand links"/>
          <p:cNvSpPr/>
          <p:nvPr/>
        </p:nvSpPr>
        <p:spPr>
          <a:xfrm>
            <a:off x="685800" y="2249424"/>
            <a:ext cx="91" cy="1271016"/>
          </a:xfrm>
          <a:prstGeom prst="line">
            <a:avLst/>
          </a:prstGeom>
          <a:noFill/>
          <a:ln w="31750">
            <a:solidFill>
              <a:schemeClr val="accent1"/>
            </a:solidFill>
            <a:prstDash val="solid"/>
          </a:ln>
        </p:spPr>
      </p:sp>
      <p:sp>
        <p:nvSpPr>
          <p:cNvPr id="7" name="Stapel Boden"/>
          <p:cNvSpPr/>
          <p:nvPr/>
        </p:nvSpPr>
        <p:spPr>
          <a:xfrm>
            <a:off x="685800" y="3520440"/>
            <a:ext cx="1143000" cy="91"/>
          </a:xfrm>
          <a:prstGeom prst="line">
            <a:avLst/>
          </a:prstGeom>
          <a:noFill/>
          <a:ln w="31750">
            <a:solidFill>
              <a:schemeClr val="accent1"/>
            </a:solidFill>
            <a:prstDash val="solid"/>
          </a:ln>
        </p:spPr>
      </p:sp>
      <p:sp>
        <p:nvSpPr>
          <p:cNvPr id="8" name="Stapel Wand rechts"/>
          <p:cNvSpPr/>
          <p:nvPr/>
        </p:nvSpPr>
        <p:spPr>
          <a:xfrm>
            <a:off x="1828800" y="2249424"/>
            <a:ext cx="91" cy="1271016"/>
          </a:xfrm>
          <a:prstGeom prst="line">
            <a:avLst/>
          </a:prstGeom>
          <a:noFill/>
          <a:ln w="31750">
            <a:solidFill>
              <a:schemeClr val="accent1"/>
            </a:solidFill>
            <a:prstDash val="solid"/>
          </a:ln>
        </p:spPr>
      </p:sp>
      <p:sp>
        <p:nvSpPr>
          <p:cNvPr id="9" name="Element Nord"/>
          <p:cNvSpPr txBox="1"/>
          <p:nvPr/>
        </p:nvSpPr>
        <p:spPr>
          <a:xfrm>
            <a:off x="749808" y="3090672"/>
            <a:ext cx="1014984" cy="365760"/>
          </a:xfrm>
          <a:prstGeom prst="roundRect">
            <a:avLst>
              <a:gd name="adj" fmla="val 20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Nord</a:t>
            </a:r>
            <a:endParaRPr lang="en-US" sz="1400" dirty="0"/>
          </a:p>
        </p:txBody>
      </p:sp>
      <p:sp>
        <p:nvSpPr>
          <p:cNvPr id="10" name="Element Ost"/>
          <p:cNvSpPr txBox="1"/>
          <p:nvPr/>
        </p:nvSpPr>
        <p:spPr>
          <a:xfrm>
            <a:off x="749808" y="2688336"/>
            <a:ext cx="1014984" cy="365760"/>
          </a:xfrm>
          <a:prstGeom prst="roundRect">
            <a:avLst>
              <a:gd name="adj" fmla="val 20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Ost</a:t>
            </a:r>
            <a:endParaRPr lang="en-US" sz="1400" dirty="0"/>
          </a:p>
        </p:txBody>
      </p:sp>
      <p:sp>
        <p:nvSpPr>
          <p:cNvPr id="11" name="Element Sued"/>
          <p:cNvSpPr txBox="1"/>
          <p:nvPr/>
        </p:nvSpPr>
        <p:spPr>
          <a:xfrm>
            <a:off x="749808" y="2286000"/>
            <a:ext cx="1014984" cy="365760"/>
          </a:xfrm>
          <a:prstGeom prst="roundRect">
            <a:avLst>
              <a:gd name="adj" fmla="val 20000"/>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400" b="1" dirty="0">
                <a:solidFill>
                  <a:schemeClr val="accent1"/>
                </a:solidFill>
              </a:rPr>
              <a:t>Sued</a:t>
            </a:r>
            <a:endParaRPr lang="en-US" sz="1400" dirty="0"/>
          </a:p>
        </p:txBody>
      </p:sp>
      <p:sp>
        <p:nvSpPr>
          <p:cNvPr id="12" name="Text 10"/>
          <p:cNvSpPr txBox="1"/>
          <p:nvPr/>
        </p:nvSpPr>
        <p:spPr>
          <a:xfrm>
            <a:off x="411480" y="3566160"/>
            <a:ext cx="1691640" cy="274320"/>
          </a:xfrm>
          <a:prstGeom prst="rect">
            <a:avLst/>
          </a:prstGeom>
          <a:noFill/>
          <a:ln/>
        </p:spPr>
        <p:txBody>
          <a:bodyPr wrap="square" lIns="0" tIns="0" rIns="0" bIns="0" rtlCol="0" anchor="t"/>
          <a:lstStyle/>
          <a:p>
            <a:pPr algn="ctr" indent="0" marL="0">
              <a:buNone/>
            </a:pPr>
            <a:r>
              <a:rPr lang="en-US" sz="1100" b="1" dirty="0">
                <a:solidFill>
                  <a:schemeClr val="accent6"/>
                </a:solidFill>
              </a:rPr>
              <a:t>erledigt</a:t>
            </a:r>
            <a:endParaRPr lang="en-US" sz="1100" dirty="0"/>
          </a:p>
        </p:txBody>
      </p:sp>
      <p:sp>
        <p:nvSpPr>
          <p:cNvPr id="13" name="Stapel Wand links"/>
          <p:cNvSpPr/>
          <p:nvPr/>
        </p:nvSpPr>
        <p:spPr>
          <a:xfrm>
            <a:off x="1920240" y="2249424"/>
            <a:ext cx="91" cy="1271016"/>
          </a:xfrm>
          <a:prstGeom prst="line">
            <a:avLst/>
          </a:prstGeom>
          <a:noFill/>
          <a:ln w="31750">
            <a:solidFill>
              <a:schemeClr val="accent1"/>
            </a:solidFill>
            <a:prstDash val="solid"/>
          </a:ln>
        </p:spPr>
      </p:sp>
      <p:sp>
        <p:nvSpPr>
          <p:cNvPr id="14" name="Stapel Boden"/>
          <p:cNvSpPr/>
          <p:nvPr/>
        </p:nvSpPr>
        <p:spPr>
          <a:xfrm>
            <a:off x="1920240" y="3520440"/>
            <a:ext cx="1143000" cy="91"/>
          </a:xfrm>
          <a:prstGeom prst="line">
            <a:avLst/>
          </a:prstGeom>
          <a:noFill/>
          <a:ln w="31750">
            <a:solidFill>
              <a:schemeClr val="accent1"/>
            </a:solidFill>
            <a:prstDash val="solid"/>
          </a:ln>
        </p:spPr>
      </p:sp>
      <p:sp>
        <p:nvSpPr>
          <p:cNvPr id="15" name="Stapel Wand rechts"/>
          <p:cNvSpPr/>
          <p:nvPr/>
        </p:nvSpPr>
        <p:spPr>
          <a:xfrm>
            <a:off x="3063240" y="2249424"/>
            <a:ext cx="91" cy="1271016"/>
          </a:xfrm>
          <a:prstGeom prst="line">
            <a:avLst/>
          </a:prstGeom>
          <a:noFill/>
          <a:ln w="31750">
            <a:solidFill>
              <a:schemeClr val="accent1"/>
            </a:solidFill>
            <a:prstDash val="solid"/>
          </a:ln>
        </p:spPr>
      </p:sp>
      <p:sp>
        <p:nvSpPr>
          <p:cNvPr id="16" name="Text 14"/>
          <p:cNvSpPr txBox="1"/>
          <p:nvPr/>
        </p:nvSpPr>
        <p:spPr>
          <a:xfrm>
            <a:off x="1920240" y="3090672"/>
            <a:ext cx="1143000" cy="365760"/>
          </a:xfrm>
          <a:prstGeom prst="rect">
            <a:avLst/>
          </a:prstGeom>
          <a:noFill/>
          <a:ln/>
        </p:spPr>
        <p:txBody>
          <a:bodyPr wrap="square" lIns="0" tIns="0" rIns="0" bIns="0" rtlCol="0" anchor="ctr"/>
          <a:lstStyle/>
          <a:p>
            <a:pPr algn="ctr" indent="0" marL="0">
              <a:buNone/>
            </a:pPr>
            <a:r>
              <a:rPr lang="en-US" sz="1400" dirty="0">
                <a:solidFill>
                  <a:srgbClr val="A6A6A6"/>
                </a:solidFill>
              </a:rPr>
              <a:t>–</a:t>
            </a:r>
            <a:endParaRPr lang="en-US" sz="1400" dirty="0"/>
          </a:p>
        </p:txBody>
      </p:sp>
      <p:sp>
        <p:nvSpPr>
          <p:cNvPr id="17" name="Text 15"/>
          <p:cNvSpPr txBox="1"/>
          <p:nvPr/>
        </p:nvSpPr>
        <p:spPr>
          <a:xfrm>
            <a:off x="1645920" y="3566160"/>
            <a:ext cx="1691640" cy="274320"/>
          </a:xfrm>
          <a:prstGeom prst="rect">
            <a:avLst/>
          </a:prstGeom>
          <a:noFill/>
          <a:ln/>
        </p:spPr>
        <p:txBody>
          <a:bodyPr wrap="square" lIns="0" tIns="0" rIns="0" bIns="0" rtlCol="0" anchor="t"/>
          <a:lstStyle/>
          <a:p>
            <a:pPr algn="ctr" indent="0" marL="0">
              <a:buNone/>
            </a:pPr>
            <a:r>
              <a:rPr lang="en-US" sz="1100" b="1" dirty="0">
                <a:solidFill>
                  <a:schemeClr val="accent6"/>
                </a:solidFill>
              </a:rPr>
              <a:t>zurueckgenommen</a:t>
            </a:r>
            <a:endParaRPr lang="en-US" sz="1100" dirty="0"/>
          </a:p>
        </p:txBody>
      </p:sp>
      <p:sp>
        <p:nvSpPr>
          <p:cNvPr id="18" name="Bild 2"/>
          <p:cNvSpPr/>
          <p:nvPr/>
        </p:nvSpPr>
        <p:spPr>
          <a:xfrm>
            <a:off x="3364992" y="1325880"/>
            <a:ext cx="2651760" cy="2697480"/>
          </a:xfrm>
          <a:prstGeom prst="roundRect">
            <a:avLst>
              <a:gd name="adj" fmla="val 4138"/>
            </a:avLst>
          </a:prstGeom>
          <a:solidFill>
            <a:schemeClr val="bg1"/>
          </a:solidFill>
          <a:ln w="15875">
            <a:solidFill>
              <a:schemeClr val="accent1"/>
            </a:solidFill>
            <a:prstDash val="solid"/>
          </a:ln>
          <a:effectLst>
            <a:outerShdw sx="100000" sy="100000" kx="0" ky="0" algn="bl" rotWithShape="0" blurRad="76200" dist="25400" dir="5400000">
              <a:srgbClr val="000000">
                <a:alpha val="18000"/>
              </a:srgbClr>
            </a:outerShdw>
          </a:effectLst>
        </p:spPr>
      </p:sp>
      <p:sp>
        <p:nvSpPr>
          <p:cNvPr id="19" name="Nummer 2"/>
          <p:cNvSpPr txBox="1"/>
          <p:nvPr/>
        </p:nvSpPr>
        <p:spPr>
          <a:xfrm>
            <a:off x="3456432" y="1417320"/>
            <a:ext cx="329184" cy="329184"/>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0" name="Text 18"/>
          <p:cNvSpPr txBox="1"/>
          <p:nvPr/>
        </p:nvSpPr>
        <p:spPr>
          <a:xfrm>
            <a:off x="3822192" y="1417320"/>
            <a:ext cx="2148840" cy="329184"/>
          </a:xfrm>
          <a:prstGeom prst="rect">
            <a:avLst/>
          </a:prstGeom>
          <a:noFill/>
          <a:ln/>
        </p:spPr>
        <p:txBody>
          <a:bodyPr wrap="square" lIns="0" tIns="0" rIns="0" bIns="0" rtlCol="0" anchor="ctr"/>
          <a:lstStyle/>
          <a:p>
            <a:pPr indent="0" marL="0">
              <a:buNone/>
            </a:pPr>
            <a:r>
              <a:rPr lang="en-US" sz="1300" b="1" dirty="0">
                <a:solidFill>
                  <a:schemeClr val="accent1"/>
                </a:solidFill>
                <a:latin typeface="Consolas" pitchFamily="34" charset="0"/>
                <a:ea typeface="Consolas" pitchFamily="34" charset="-122"/>
                <a:cs typeface="Consolas" pitchFamily="34" charset="-120"/>
              </a:rPr>
              <a:t>rueckgaengig() → "Sued"</a:t>
            </a:r>
            <a:endParaRPr lang="en-US" sz="1300" dirty="0"/>
          </a:p>
        </p:txBody>
      </p:sp>
      <p:sp>
        <p:nvSpPr>
          <p:cNvPr id="21" name="Stapel Wand links"/>
          <p:cNvSpPr/>
          <p:nvPr/>
        </p:nvSpPr>
        <p:spPr>
          <a:xfrm>
            <a:off x="3502152" y="2249424"/>
            <a:ext cx="91" cy="1271016"/>
          </a:xfrm>
          <a:prstGeom prst="line">
            <a:avLst/>
          </a:prstGeom>
          <a:noFill/>
          <a:ln w="31750">
            <a:solidFill>
              <a:schemeClr val="accent1"/>
            </a:solidFill>
            <a:prstDash val="solid"/>
          </a:ln>
        </p:spPr>
      </p:sp>
      <p:sp>
        <p:nvSpPr>
          <p:cNvPr id="22" name="Stapel Boden"/>
          <p:cNvSpPr/>
          <p:nvPr/>
        </p:nvSpPr>
        <p:spPr>
          <a:xfrm>
            <a:off x="3502152" y="3520440"/>
            <a:ext cx="1143000" cy="91"/>
          </a:xfrm>
          <a:prstGeom prst="line">
            <a:avLst/>
          </a:prstGeom>
          <a:noFill/>
          <a:ln w="31750">
            <a:solidFill>
              <a:schemeClr val="accent1"/>
            </a:solidFill>
            <a:prstDash val="solid"/>
          </a:ln>
        </p:spPr>
      </p:sp>
      <p:sp>
        <p:nvSpPr>
          <p:cNvPr id="23" name="Stapel Wand rechts"/>
          <p:cNvSpPr/>
          <p:nvPr/>
        </p:nvSpPr>
        <p:spPr>
          <a:xfrm>
            <a:off x="4645152" y="2249424"/>
            <a:ext cx="91" cy="1271016"/>
          </a:xfrm>
          <a:prstGeom prst="line">
            <a:avLst/>
          </a:prstGeom>
          <a:noFill/>
          <a:ln w="31750">
            <a:solidFill>
              <a:schemeClr val="accent1"/>
            </a:solidFill>
            <a:prstDash val="solid"/>
          </a:ln>
        </p:spPr>
      </p:sp>
      <p:sp>
        <p:nvSpPr>
          <p:cNvPr id="24" name="Element Nord"/>
          <p:cNvSpPr txBox="1"/>
          <p:nvPr/>
        </p:nvSpPr>
        <p:spPr>
          <a:xfrm>
            <a:off x="3566160" y="3090672"/>
            <a:ext cx="1014984" cy="365760"/>
          </a:xfrm>
          <a:prstGeom prst="roundRect">
            <a:avLst>
              <a:gd name="adj" fmla="val 20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Nord</a:t>
            </a:r>
            <a:endParaRPr lang="en-US" sz="1400" dirty="0"/>
          </a:p>
        </p:txBody>
      </p:sp>
      <p:sp>
        <p:nvSpPr>
          <p:cNvPr id="25" name="Element Ost"/>
          <p:cNvSpPr txBox="1"/>
          <p:nvPr/>
        </p:nvSpPr>
        <p:spPr>
          <a:xfrm>
            <a:off x="3566160" y="2688336"/>
            <a:ext cx="1014984" cy="365760"/>
          </a:xfrm>
          <a:prstGeom prst="roundRect">
            <a:avLst>
              <a:gd name="adj" fmla="val 20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Ost</a:t>
            </a:r>
            <a:endParaRPr lang="en-US" sz="1400" dirty="0"/>
          </a:p>
        </p:txBody>
      </p:sp>
      <p:sp>
        <p:nvSpPr>
          <p:cNvPr id="26" name="Text 24"/>
          <p:cNvSpPr txBox="1"/>
          <p:nvPr/>
        </p:nvSpPr>
        <p:spPr>
          <a:xfrm>
            <a:off x="3227832" y="3566160"/>
            <a:ext cx="1691640" cy="274320"/>
          </a:xfrm>
          <a:prstGeom prst="rect">
            <a:avLst/>
          </a:prstGeom>
          <a:noFill/>
          <a:ln/>
        </p:spPr>
        <p:txBody>
          <a:bodyPr wrap="square" lIns="0" tIns="0" rIns="0" bIns="0" rtlCol="0" anchor="t"/>
          <a:lstStyle/>
          <a:p>
            <a:pPr algn="ctr" indent="0" marL="0">
              <a:buNone/>
            </a:pPr>
            <a:r>
              <a:rPr lang="en-US" sz="1100" b="1" dirty="0">
                <a:solidFill>
                  <a:schemeClr val="accent6"/>
                </a:solidFill>
              </a:rPr>
              <a:t>erledigt</a:t>
            </a:r>
            <a:endParaRPr lang="en-US" sz="1100" dirty="0"/>
          </a:p>
        </p:txBody>
      </p:sp>
      <p:sp>
        <p:nvSpPr>
          <p:cNvPr id="27" name="Stapel Wand links"/>
          <p:cNvSpPr/>
          <p:nvPr/>
        </p:nvSpPr>
        <p:spPr>
          <a:xfrm>
            <a:off x="4736592" y="2249424"/>
            <a:ext cx="91" cy="1271016"/>
          </a:xfrm>
          <a:prstGeom prst="line">
            <a:avLst/>
          </a:prstGeom>
          <a:noFill/>
          <a:ln w="31750">
            <a:solidFill>
              <a:schemeClr val="accent1"/>
            </a:solidFill>
            <a:prstDash val="solid"/>
          </a:ln>
        </p:spPr>
      </p:sp>
      <p:sp>
        <p:nvSpPr>
          <p:cNvPr id="28" name="Stapel Boden"/>
          <p:cNvSpPr/>
          <p:nvPr/>
        </p:nvSpPr>
        <p:spPr>
          <a:xfrm>
            <a:off x="4736592" y="3520440"/>
            <a:ext cx="1143000" cy="91"/>
          </a:xfrm>
          <a:prstGeom prst="line">
            <a:avLst/>
          </a:prstGeom>
          <a:noFill/>
          <a:ln w="31750">
            <a:solidFill>
              <a:schemeClr val="accent1"/>
            </a:solidFill>
            <a:prstDash val="solid"/>
          </a:ln>
        </p:spPr>
      </p:sp>
      <p:sp>
        <p:nvSpPr>
          <p:cNvPr id="29" name="Stapel Wand rechts"/>
          <p:cNvSpPr/>
          <p:nvPr/>
        </p:nvSpPr>
        <p:spPr>
          <a:xfrm>
            <a:off x="5879592" y="2249424"/>
            <a:ext cx="91" cy="1271016"/>
          </a:xfrm>
          <a:prstGeom prst="line">
            <a:avLst/>
          </a:prstGeom>
          <a:noFill/>
          <a:ln w="31750">
            <a:solidFill>
              <a:schemeClr val="accent1"/>
            </a:solidFill>
            <a:prstDash val="solid"/>
          </a:ln>
        </p:spPr>
      </p:sp>
      <p:sp>
        <p:nvSpPr>
          <p:cNvPr id="30" name="Element Sued"/>
          <p:cNvSpPr txBox="1"/>
          <p:nvPr/>
        </p:nvSpPr>
        <p:spPr>
          <a:xfrm>
            <a:off x="4800600" y="3090672"/>
            <a:ext cx="1014984" cy="365760"/>
          </a:xfrm>
          <a:prstGeom prst="roundRect">
            <a:avLst>
              <a:gd name="adj" fmla="val 20000"/>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400" b="1" dirty="0">
                <a:solidFill>
                  <a:schemeClr val="accent1"/>
                </a:solidFill>
              </a:rPr>
              <a:t>Sued</a:t>
            </a:r>
            <a:endParaRPr lang="en-US" sz="1400" dirty="0"/>
          </a:p>
        </p:txBody>
      </p:sp>
      <p:sp>
        <p:nvSpPr>
          <p:cNvPr id="31" name="Text 29"/>
          <p:cNvSpPr txBox="1"/>
          <p:nvPr/>
        </p:nvSpPr>
        <p:spPr>
          <a:xfrm>
            <a:off x="4462272" y="3566160"/>
            <a:ext cx="1691640" cy="274320"/>
          </a:xfrm>
          <a:prstGeom prst="rect">
            <a:avLst/>
          </a:prstGeom>
          <a:noFill/>
          <a:ln/>
        </p:spPr>
        <p:txBody>
          <a:bodyPr wrap="square" lIns="0" tIns="0" rIns="0" bIns="0" rtlCol="0" anchor="t"/>
          <a:lstStyle/>
          <a:p>
            <a:pPr algn="ctr" indent="0" marL="0">
              <a:buNone/>
            </a:pPr>
            <a:r>
              <a:rPr lang="en-US" sz="1100" b="1" dirty="0">
                <a:solidFill>
                  <a:schemeClr val="accent6"/>
                </a:solidFill>
              </a:rPr>
              <a:t>zurueckgenommen</a:t>
            </a:r>
            <a:endParaRPr lang="en-US" sz="1100" dirty="0"/>
          </a:p>
        </p:txBody>
      </p:sp>
      <p:sp>
        <p:nvSpPr>
          <p:cNvPr id="32" name="Pfeil rueckgaengig"/>
          <p:cNvSpPr/>
          <p:nvPr/>
        </p:nvSpPr>
        <p:spPr>
          <a:xfrm>
            <a:off x="4142232" y="2103120"/>
            <a:ext cx="1143000" cy="91"/>
          </a:xfrm>
          <a:prstGeom prst="line">
            <a:avLst/>
          </a:prstGeom>
          <a:noFill/>
          <a:ln w="28575">
            <a:solidFill>
              <a:schemeClr val="accent2"/>
            </a:solidFill>
            <a:prstDash val="solid"/>
            <a:tailEnd type="triangle"/>
          </a:ln>
        </p:spPr>
      </p:sp>
      <p:sp>
        <p:nvSpPr>
          <p:cNvPr id="33" name="Bild 3"/>
          <p:cNvSpPr/>
          <p:nvPr/>
        </p:nvSpPr>
        <p:spPr>
          <a:xfrm>
            <a:off x="6181344" y="1325880"/>
            <a:ext cx="2651760" cy="2697480"/>
          </a:xfrm>
          <a:prstGeom prst="roundRect">
            <a:avLst>
              <a:gd name="adj" fmla="val 4138"/>
            </a:avLst>
          </a:prstGeom>
          <a:solidFill>
            <a:schemeClr val="bg1"/>
          </a:solidFill>
          <a:ln w="15875">
            <a:solidFill>
              <a:schemeClr val="accent1"/>
            </a:solidFill>
            <a:prstDash val="solid"/>
          </a:ln>
          <a:effectLst>
            <a:outerShdw sx="100000" sy="100000" kx="0" ky="0" algn="bl" rotWithShape="0" blurRad="76200" dist="25400" dir="5400000">
              <a:srgbClr val="000000">
                <a:alpha val="18000"/>
              </a:srgbClr>
            </a:outerShdw>
          </a:effectLst>
        </p:spPr>
      </p:sp>
      <p:sp>
        <p:nvSpPr>
          <p:cNvPr id="34" name="Nummer 3"/>
          <p:cNvSpPr txBox="1"/>
          <p:nvPr/>
        </p:nvSpPr>
        <p:spPr>
          <a:xfrm>
            <a:off x="6272784" y="1417320"/>
            <a:ext cx="329184" cy="329184"/>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5" name="Text 33"/>
          <p:cNvSpPr txBox="1"/>
          <p:nvPr/>
        </p:nvSpPr>
        <p:spPr>
          <a:xfrm>
            <a:off x="6638544" y="1417320"/>
            <a:ext cx="2148840" cy="329184"/>
          </a:xfrm>
          <a:prstGeom prst="rect">
            <a:avLst/>
          </a:prstGeom>
          <a:noFill/>
          <a:ln/>
        </p:spPr>
        <p:txBody>
          <a:bodyPr wrap="square" lIns="0" tIns="0" rIns="0" bIns="0" rtlCol="0" anchor="ctr"/>
          <a:lstStyle/>
          <a:p>
            <a:pPr indent="0" marL="0">
              <a:buNone/>
            </a:pPr>
            <a:r>
              <a:rPr lang="en-US" sz="1300" b="1" dirty="0">
                <a:solidFill>
                  <a:schemeClr val="accent1"/>
                </a:solidFill>
                <a:latin typeface="Consolas" pitchFamily="34" charset="0"/>
                <a:ea typeface="Consolas" pitchFamily="34" charset="-122"/>
                <a:cs typeface="Consolas" pitchFamily="34" charset="-120"/>
              </a:rPr>
              <a:t>rueckgaengig() → "Ost"</a:t>
            </a:r>
            <a:endParaRPr lang="en-US" sz="1300" dirty="0"/>
          </a:p>
        </p:txBody>
      </p:sp>
      <p:sp>
        <p:nvSpPr>
          <p:cNvPr id="36" name="Stapel Wand links"/>
          <p:cNvSpPr/>
          <p:nvPr/>
        </p:nvSpPr>
        <p:spPr>
          <a:xfrm>
            <a:off x="6318504" y="2249424"/>
            <a:ext cx="91" cy="1271016"/>
          </a:xfrm>
          <a:prstGeom prst="line">
            <a:avLst/>
          </a:prstGeom>
          <a:noFill/>
          <a:ln w="31750">
            <a:solidFill>
              <a:schemeClr val="accent1"/>
            </a:solidFill>
            <a:prstDash val="solid"/>
          </a:ln>
        </p:spPr>
      </p:sp>
      <p:sp>
        <p:nvSpPr>
          <p:cNvPr id="37" name="Stapel Boden"/>
          <p:cNvSpPr/>
          <p:nvPr/>
        </p:nvSpPr>
        <p:spPr>
          <a:xfrm>
            <a:off x="6318504" y="3520440"/>
            <a:ext cx="1143000" cy="91"/>
          </a:xfrm>
          <a:prstGeom prst="line">
            <a:avLst/>
          </a:prstGeom>
          <a:noFill/>
          <a:ln w="31750">
            <a:solidFill>
              <a:schemeClr val="accent1"/>
            </a:solidFill>
            <a:prstDash val="solid"/>
          </a:ln>
        </p:spPr>
      </p:sp>
      <p:sp>
        <p:nvSpPr>
          <p:cNvPr id="38" name="Stapel Wand rechts"/>
          <p:cNvSpPr/>
          <p:nvPr/>
        </p:nvSpPr>
        <p:spPr>
          <a:xfrm>
            <a:off x="7461504" y="2249424"/>
            <a:ext cx="91" cy="1271016"/>
          </a:xfrm>
          <a:prstGeom prst="line">
            <a:avLst/>
          </a:prstGeom>
          <a:noFill/>
          <a:ln w="31750">
            <a:solidFill>
              <a:schemeClr val="accent1"/>
            </a:solidFill>
            <a:prstDash val="solid"/>
          </a:ln>
        </p:spPr>
      </p:sp>
      <p:sp>
        <p:nvSpPr>
          <p:cNvPr id="39" name="Element Nord"/>
          <p:cNvSpPr txBox="1"/>
          <p:nvPr/>
        </p:nvSpPr>
        <p:spPr>
          <a:xfrm>
            <a:off x="6382512" y="3090672"/>
            <a:ext cx="1014984" cy="365760"/>
          </a:xfrm>
          <a:prstGeom prst="roundRect">
            <a:avLst>
              <a:gd name="adj" fmla="val 20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Nord</a:t>
            </a:r>
            <a:endParaRPr lang="en-US" sz="1400" dirty="0"/>
          </a:p>
        </p:txBody>
      </p:sp>
      <p:sp>
        <p:nvSpPr>
          <p:cNvPr id="40" name="Text 38"/>
          <p:cNvSpPr txBox="1"/>
          <p:nvPr/>
        </p:nvSpPr>
        <p:spPr>
          <a:xfrm>
            <a:off x="6044184" y="3566160"/>
            <a:ext cx="1691640" cy="274320"/>
          </a:xfrm>
          <a:prstGeom prst="rect">
            <a:avLst/>
          </a:prstGeom>
          <a:noFill/>
          <a:ln/>
        </p:spPr>
        <p:txBody>
          <a:bodyPr wrap="square" lIns="0" tIns="0" rIns="0" bIns="0" rtlCol="0" anchor="t"/>
          <a:lstStyle/>
          <a:p>
            <a:pPr algn="ctr" indent="0" marL="0">
              <a:buNone/>
            </a:pPr>
            <a:r>
              <a:rPr lang="en-US" sz="1100" b="1" dirty="0">
                <a:solidFill>
                  <a:schemeClr val="accent6"/>
                </a:solidFill>
              </a:rPr>
              <a:t>erledigt</a:t>
            </a:r>
            <a:endParaRPr lang="en-US" sz="1100" dirty="0"/>
          </a:p>
        </p:txBody>
      </p:sp>
      <p:sp>
        <p:nvSpPr>
          <p:cNvPr id="41" name="Stapel Wand links"/>
          <p:cNvSpPr/>
          <p:nvPr/>
        </p:nvSpPr>
        <p:spPr>
          <a:xfrm>
            <a:off x="7552944" y="2249424"/>
            <a:ext cx="91" cy="1271016"/>
          </a:xfrm>
          <a:prstGeom prst="line">
            <a:avLst/>
          </a:prstGeom>
          <a:noFill/>
          <a:ln w="31750">
            <a:solidFill>
              <a:schemeClr val="accent1"/>
            </a:solidFill>
            <a:prstDash val="solid"/>
          </a:ln>
        </p:spPr>
      </p:sp>
      <p:sp>
        <p:nvSpPr>
          <p:cNvPr id="42" name="Stapel Boden"/>
          <p:cNvSpPr/>
          <p:nvPr/>
        </p:nvSpPr>
        <p:spPr>
          <a:xfrm>
            <a:off x="7552944" y="3520440"/>
            <a:ext cx="1143000" cy="91"/>
          </a:xfrm>
          <a:prstGeom prst="line">
            <a:avLst/>
          </a:prstGeom>
          <a:noFill/>
          <a:ln w="31750">
            <a:solidFill>
              <a:schemeClr val="accent1"/>
            </a:solidFill>
            <a:prstDash val="solid"/>
          </a:ln>
        </p:spPr>
      </p:sp>
      <p:sp>
        <p:nvSpPr>
          <p:cNvPr id="43" name="Stapel Wand rechts"/>
          <p:cNvSpPr/>
          <p:nvPr/>
        </p:nvSpPr>
        <p:spPr>
          <a:xfrm>
            <a:off x="8695944" y="2249424"/>
            <a:ext cx="91" cy="1271016"/>
          </a:xfrm>
          <a:prstGeom prst="line">
            <a:avLst/>
          </a:prstGeom>
          <a:noFill/>
          <a:ln w="31750">
            <a:solidFill>
              <a:schemeClr val="accent1"/>
            </a:solidFill>
            <a:prstDash val="solid"/>
          </a:ln>
        </p:spPr>
      </p:sp>
      <p:sp>
        <p:nvSpPr>
          <p:cNvPr id="44" name="Element Sued"/>
          <p:cNvSpPr txBox="1"/>
          <p:nvPr/>
        </p:nvSpPr>
        <p:spPr>
          <a:xfrm>
            <a:off x="7616952" y="3090672"/>
            <a:ext cx="1014984" cy="365760"/>
          </a:xfrm>
          <a:prstGeom prst="roundRect">
            <a:avLst>
              <a:gd name="adj" fmla="val 20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Sued</a:t>
            </a:r>
            <a:endParaRPr lang="en-US" sz="1400" dirty="0"/>
          </a:p>
        </p:txBody>
      </p:sp>
      <p:sp>
        <p:nvSpPr>
          <p:cNvPr id="45" name="Element Ost"/>
          <p:cNvSpPr txBox="1"/>
          <p:nvPr/>
        </p:nvSpPr>
        <p:spPr>
          <a:xfrm>
            <a:off x="7616952" y="2688336"/>
            <a:ext cx="1014984" cy="365760"/>
          </a:xfrm>
          <a:prstGeom prst="roundRect">
            <a:avLst>
              <a:gd name="adj" fmla="val 20000"/>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400" b="1" dirty="0">
                <a:solidFill>
                  <a:schemeClr val="accent1"/>
                </a:solidFill>
              </a:rPr>
              <a:t>Ost</a:t>
            </a:r>
            <a:endParaRPr lang="en-US" sz="1400" dirty="0"/>
          </a:p>
        </p:txBody>
      </p:sp>
      <p:sp>
        <p:nvSpPr>
          <p:cNvPr id="46" name="Text 44"/>
          <p:cNvSpPr txBox="1"/>
          <p:nvPr/>
        </p:nvSpPr>
        <p:spPr>
          <a:xfrm>
            <a:off x="7278624" y="3566160"/>
            <a:ext cx="1691640" cy="274320"/>
          </a:xfrm>
          <a:prstGeom prst="rect">
            <a:avLst/>
          </a:prstGeom>
          <a:noFill/>
          <a:ln/>
        </p:spPr>
        <p:txBody>
          <a:bodyPr wrap="square" lIns="0" tIns="0" rIns="0" bIns="0" rtlCol="0" anchor="t"/>
          <a:lstStyle/>
          <a:p>
            <a:pPr algn="ctr" indent="0" marL="0">
              <a:buNone/>
            </a:pPr>
            <a:r>
              <a:rPr lang="en-US" sz="1100" b="1" dirty="0">
                <a:solidFill>
                  <a:schemeClr val="accent6"/>
                </a:solidFill>
              </a:rPr>
              <a:t>zurueckgenommen</a:t>
            </a:r>
            <a:endParaRPr lang="en-US" sz="1100" dirty="0"/>
          </a:p>
        </p:txBody>
      </p:sp>
      <p:sp>
        <p:nvSpPr>
          <p:cNvPr id="47" name="Pfeil rueckgaengig"/>
          <p:cNvSpPr/>
          <p:nvPr/>
        </p:nvSpPr>
        <p:spPr>
          <a:xfrm>
            <a:off x="6958584" y="2103120"/>
            <a:ext cx="1143000" cy="91"/>
          </a:xfrm>
          <a:prstGeom prst="line">
            <a:avLst/>
          </a:prstGeom>
          <a:noFill/>
          <a:ln w="28575">
            <a:solidFill>
              <a:schemeClr val="accent2"/>
            </a:solidFill>
            <a:prstDash val="solid"/>
            <a:tailEnd type="triangle"/>
          </a:ln>
        </p:spPr>
      </p:sp>
      <p:sp>
        <p:nvSpPr>
          <p:cNvPr id="48" name="Bild 4"/>
          <p:cNvSpPr/>
          <p:nvPr/>
        </p:nvSpPr>
        <p:spPr>
          <a:xfrm>
            <a:off x="8997696" y="1325880"/>
            <a:ext cx="2651760" cy="2697480"/>
          </a:xfrm>
          <a:prstGeom prst="roundRect">
            <a:avLst>
              <a:gd name="adj" fmla="val 4138"/>
            </a:avLst>
          </a:prstGeom>
          <a:solidFill>
            <a:schemeClr val="bg1"/>
          </a:solidFill>
          <a:ln w="15875">
            <a:solidFill>
              <a:schemeClr val="accent1"/>
            </a:solidFill>
            <a:prstDash val="solid"/>
          </a:ln>
          <a:effectLst>
            <a:outerShdw sx="100000" sy="100000" kx="0" ky="0" algn="bl" rotWithShape="0" blurRad="76200" dist="25400" dir="5400000">
              <a:srgbClr val="000000">
                <a:alpha val="18000"/>
              </a:srgbClr>
            </a:outerShdw>
          </a:effectLst>
        </p:spPr>
      </p:sp>
      <p:sp>
        <p:nvSpPr>
          <p:cNvPr id="49" name="Nummer 4"/>
          <p:cNvSpPr txBox="1"/>
          <p:nvPr/>
        </p:nvSpPr>
        <p:spPr>
          <a:xfrm>
            <a:off x="9089136" y="1417320"/>
            <a:ext cx="329184" cy="329184"/>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50" name="Text 48"/>
          <p:cNvSpPr txBox="1"/>
          <p:nvPr/>
        </p:nvSpPr>
        <p:spPr>
          <a:xfrm>
            <a:off x="9454896" y="1417320"/>
            <a:ext cx="2148840" cy="329184"/>
          </a:xfrm>
          <a:prstGeom prst="rect">
            <a:avLst/>
          </a:prstGeom>
          <a:noFill/>
          <a:ln/>
        </p:spPr>
        <p:txBody>
          <a:bodyPr wrap="square" lIns="0" tIns="0" rIns="0" bIns="0" rtlCol="0" anchor="ctr"/>
          <a:lstStyle/>
          <a:p>
            <a:pPr indent="0" marL="0">
              <a:buNone/>
            </a:pPr>
            <a:r>
              <a:rPr lang="en-US" sz="1300" b="1" dirty="0">
                <a:solidFill>
                  <a:schemeClr val="accent1"/>
                </a:solidFill>
                <a:latin typeface="Consolas" pitchFamily="34" charset="0"/>
                <a:ea typeface="Consolas" pitchFamily="34" charset="-122"/>
                <a:cs typeface="Consolas" pitchFamily="34" charset="-120"/>
              </a:rPr>
              <a:t>wiederholen() → "Ost"</a:t>
            </a:r>
            <a:endParaRPr lang="en-US" sz="1300" dirty="0"/>
          </a:p>
        </p:txBody>
      </p:sp>
      <p:sp>
        <p:nvSpPr>
          <p:cNvPr id="51" name="Stapel Wand links"/>
          <p:cNvSpPr/>
          <p:nvPr/>
        </p:nvSpPr>
        <p:spPr>
          <a:xfrm>
            <a:off x="9134856" y="2249424"/>
            <a:ext cx="91" cy="1271016"/>
          </a:xfrm>
          <a:prstGeom prst="line">
            <a:avLst/>
          </a:prstGeom>
          <a:noFill/>
          <a:ln w="31750">
            <a:solidFill>
              <a:schemeClr val="accent1"/>
            </a:solidFill>
            <a:prstDash val="solid"/>
          </a:ln>
        </p:spPr>
      </p:sp>
      <p:sp>
        <p:nvSpPr>
          <p:cNvPr id="52" name="Stapel Boden"/>
          <p:cNvSpPr/>
          <p:nvPr/>
        </p:nvSpPr>
        <p:spPr>
          <a:xfrm>
            <a:off x="9134856" y="3520440"/>
            <a:ext cx="1143000" cy="91"/>
          </a:xfrm>
          <a:prstGeom prst="line">
            <a:avLst/>
          </a:prstGeom>
          <a:noFill/>
          <a:ln w="31750">
            <a:solidFill>
              <a:schemeClr val="accent1"/>
            </a:solidFill>
            <a:prstDash val="solid"/>
          </a:ln>
        </p:spPr>
      </p:sp>
      <p:sp>
        <p:nvSpPr>
          <p:cNvPr id="53" name="Stapel Wand rechts"/>
          <p:cNvSpPr/>
          <p:nvPr/>
        </p:nvSpPr>
        <p:spPr>
          <a:xfrm>
            <a:off x="10277856" y="2249424"/>
            <a:ext cx="91" cy="1271016"/>
          </a:xfrm>
          <a:prstGeom prst="line">
            <a:avLst/>
          </a:prstGeom>
          <a:noFill/>
          <a:ln w="31750">
            <a:solidFill>
              <a:schemeClr val="accent1"/>
            </a:solidFill>
            <a:prstDash val="solid"/>
          </a:ln>
        </p:spPr>
      </p:sp>
      <p:sp>
        <p:nvSpPr>
          <p:cNvPr id="54" name="Element Nord"/>
          <p:cNvSpPr txBox="1"/>
          <p:nvPr/>
        </p:nvSpPr>
        <p:spPr>
          <a:xfrm>
            <a:off x="9198864" y="3090672"/>
            <a:ext cx="1014984" cy="365760"/>
          </a:xfrm>
          <a:prstGeom prst="roundRect">
            <a:avLst>
              <a:gd name="adj" fmla="val 20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Nord</a:t>
            </a:r>
            <a:endParaRPr lang="en-US" sz="1400" dirty="0"/>
          </a:p>
        </p:txBody>
      </p:sp>
      <p:sp>
        <p:nvSpPr>
          <p:cNvPr id="55" name="Element Ost"/>
          <p:cNvSpPr txBox="1"/>
          <p:nvPr/>
        </p:nvSpPr>
        <p:spPr>
          <a:xfrm>
            <a:off x="9198864" y="2688336"/>
            <a:ext cx="1014984" cy="365760"/>
          </a:xfrm>
          <a:prstGeom prst="roundRect">
            <a:avLst>
              <a:gd name="adj" fmla="val 20000"/>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400" b="1" dirty="0">
                <a:solidFill>
                  <a:schemeClr val="accent1"/>
                </a:solidFill>
              </a:rPr>
              <a:t>Ost</a:t>
            </a:r>
            <a:endParaRPr lang="en-US" sz="1400" dirty="0"/>
          </a:p>
        </p:txBody>
      </p:sp>
      <p:sp>
        <p:nvSpPr>
          <p:cNvPr id="56" name="Text 54"/>
          <p:cNvSpPr txBox="1"/>
          <p:nvPr/>
        </p:nvSpPr>
        <p:spPr>
          <a:xfrm>
            <a:off x="8860536" y="3566160"/>
            <a:ext cx="1691640" cy="274320"/>
          </a:xfrm>
          <a:prstGeom prst="rect">
            <a:avLst/>
          </a:prstGeom>
          <a:noFill/>
          <a:ln/>
        </p:spPr>
        <p:txBody>
          <a:bodyPr wrap="square" lIns="0" tIns="0" rIns="0" bIns="0" rtlCol="0" anchor="t"/>
          <a:lstStyle/>
          <a:p>
            <a:pPr algn="ctr" indent="0" marL="0">
              <a:buNone/>
            </a:pPr>
            <a:r>
              <a:rPr lang="en-US" sz="1100" b="1" dirty="0">
                <a:solidFill>
                  <a:schemeClr val="accent6"/>
                </a:solidFill>
              </a:rPr>
              <a:t>erledigt</a:t>
            </a:r>
            <a:endParaRPr lang="en-US" sz="1100" dirty="0"/>
          </a:p>
        </p:txBody>
      </p:sp>
      <p:sp>
        <p:nvSpPr>
          <p:cNvPr id="57" name="Stapel Wand links"/>
          <p:cNvSpPr/>
          <p:nvPr/>
        </p:nvSpPr>
        <p:spPr>
          <a:xfrm>
            <a:off x="10369296" y="2249424"/>
            <a:ext cx="91" cy="1271016"/>
          </a:xfrm>
          <a:prstGeom prst="line">
            <a:avLst/>
          </a:prstGeom>
          <a:noFill/>
          <a:ln w="31750">
            <a:solidFill>
              <a:schemeClr val="accent1"/>
            </a:solidFill>
            <a:prstDash val="solid"/>
          </a:ln>
        </p:spPr>
      </p:sp>
      <p:sp>
        <p:nvSpPr>
          <p:cNvPr id="58" name="Stapel Boden"/>
          <p:cNvSpPr/>
          <p:nvPr/>
        </p:nvSpPr>
        <p:spPr>
          <a:xfrm>
            <a:off x="10369296" y="3520440"/>
            <a:ext cx="1143000" cy="91"/>
          </a:xfrm>
          <a:prstGeom prst="line">
            <a:avLst/>
          </a:prstGeom>
          <a:noFill/>
          <a:ln w="31750">
            <a:solidFill>
              <a:schemeClr val="accent1"/>
            </a:solidFill>
            <a:prstDash val="solid"/>
          </a:ln>
        </p:spPr>
      </p:sp>
      <p:sp>
        <p:nvSpPr>
          <p:cNvPr id="59" name="Stapel Wand rechts"/>
          <p:cNvSpPr/>
          <p:nvPr/>
        </p:nvSpPr>
        <p:spPr>
          <a:xfrm>
            <a:off x="11512296" y="2249424"/>
            <a:ext cx="91" cy="1271016"/>
          </a:xfrm>
          <a:prstGeom prst="line">
            <a:avLst/>
          </a:prstGeom>
          <a:noFill/>
          <a:ln w="31750">
            <a:solidFill>
              <a:schemeClr val="accent1"/>
            </a:solidFill>
            <a:prstDash val="solid"/>
          </a:ln>
        </p:spPr>
      </p:sp>
      <p:sp>
        <p:nvSpPr>
          <p:cNvPr id="60" name="Element Sued"/>
          <p:cNvSpPr txBox="1"/>
          <p:nvPr/>
        </p:nvSpPr>
        <p:spPr>
          <a:xfrm>
            <a:off x="10433304" y="3090672"/>
            <a:ext cx="1014984" cy="365760"/>
          </a:xfrm>
          <a:prstGeom prst="roundRect">
            <a:avLst>
              <a:gd name="adj" fmla="val 20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Sued</a:t>
            </a:r>
            <a:endParaRPr lang="en-US" sz="1400" dirty="0"/>
          </a:p>
        </p:txBody>
      </p:sp>
      <p:sp>
        <p:nvSpPr>
          <p:cNvPr id="61" name="Text 59"/>
          <p:cNvSpPr txBox="1"/>
          <p:nvPr/>
        </p:nvSpPr>
        <p:spPr>
          <a:xfrm>
            <a:off x="10094976" y="3566160"/>
            <a:ext cx="1691640" cy="274320"/>
          </a:xfrm>
          <a:prstGeom prst="rect">
            <a:avLst/>
          </a:prstGeom>
          <a:noFill/>
          <a:ln/>
        </p:spPr>
        <p:txBody>
          <a:bodyPr wrap="square" lIns="0" tIns="0" rIns="0" bIns="0" rtlCol="0" anchor="t"/>
          <a:lstStyle/>
          <a:p>
            <a:pPr algn="ctr" indent="0" marL="0">
              <a:buNone/>
            </a:pPr>
            <a:r>
              <a:rPr lang="en-US" sz="1100" b="1" dirty="0">
                <a:solidFill>
                  <a:schemeClr val="accent6"/>
                </a:solidFill>
              </a:rPr>
              <a:t>zurueckgenommen</a:t>
            </a:r>
            <a:endParaRPr lang="en-US" sz="1100" dirty="0"/>
          </a:p>
        </p:txBody>
      </p:sp>
      <p:sp>
        <p:nvSpPr>
          <p:cNvPr id="62" name="Pfeil wiederholen"/>
          <p:cNvSpPr/>
          <p:nvPr/>
        </p:nvSpPr>
        <p:spPr>
          <a:xfrm flipH="1">
            <a:off x="9774936" y="2103120"/>
            <a:ext cx="1143000" cy="91"/>
          </a:xfrm>
          <a:prstGeom prst="line">
            <a:avLst/>
          </a:prstGeom>
          <a:noFill/>
          <a:ln w="28575">
            <a:solidFill>
              <a:schemeClr val="accent2"/>
            </a:solidFill>
            <a:prstDash val="solid"/>
            <a:tailEnd type="triangle"/>
          </a:ln>
        </p:spPr>
      </p:sp>
      <p:sp>
        <p:nvSpPr>
          <p:cNvPr id="63" name="Code"/>
          <p:cNvSpPr txBox="1"/>
          <p:nvPr/>
        </p:nvSpPr>
        <p:spPr>
          <a:xfrm>
            <a:off x="548640" y="4251960"/>
            <a:ext cx="5486400" cy="1927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String</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rueckgaengig</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erledigt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isEmpty</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Leer? -&gt; kein pop()!</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String</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z</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String</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erledigt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pop</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zurueckgenommen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push</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z</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z</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64" name="Regel zug(z)"/>
          <p:cNvSpPr txBox="1"/>
          <p:nvPr/>
        </p:nvSpPr>
        <p:spPr>
          <a:xfrm>
            <a:off x="6309360" y="4251960"/>
            <a:ext cx="1783080" cy="502920"/>
          </a:xfrm>
          <a:prstGeom prst="roundRect">
            <a:avLst>
              <a:gd name="adj" fmla="val 14545"/>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nsolas" pitchFamily="34" charset="0"/>
                <a:ea typeface="Consolas" pitchFamily="34" charset="-122"/>
                <a:cs typeface="Consolas" pitchFamily="34" charset="-120"/>
              </a:rPr>
              <a:t>zug(z)</a:t>
            </a:r>
            <a:endParaRPr lang="en-US" sz="1400" dirty="0"/>
          </a:p>
        </p:txBody>
      </p:sp>
      <p:sp>
        <p:nvSpPr>
          <p:cNvPr id="65" name="Text 63"/>
          <p:cNvSpPr txBox="1"/>
          <p:nvPr/>
        </p:nvSpPr>
        <p:spPr>
          <a:xfrm>
            <a:off x="8229600" y="4251960"/>
            <a:ext cx="3383280" cy="502920"/>
          </a:xfrm>
          <a:prstGeom prst="rect">
            <a:avLst/>
          </a:prstGeom>
          <a:noFill/>
          <a:ln/>
        </p:spPr>
        <p:txBody>
          <a:bodyPr wrap="square" lIns="0" tIns="0" rIns="0" bIns="0" rtlCol="0" anchor="ctr"/>
          <a:lstStyle/>
          <a:p>
            <a:pPr indent="0" marL="0">
              <a:buNone/>
            </a:pPr>
            <a:r>
              <a:rPr lang="en-US" sz="1500" dirty="0">
                <a:solidFill>
                  <a:schemeClr val="tx1"/>
                </a:solidFill>
              </a:rPr>
              <a:t>push auf erledigt – und zurueckgenommen wird geleert</a:t>
            </a:r>
            <a:endParaRPr lang="en-US" sz="1500" dirty="0"/>
          </a:p>
        </p:txBody>
      </p:sp>
      <p:sp>
        <p:nvSpPr>
          <p:cNvPr id="66" name="Regel rueckgaengig()"/>
          <p:cNvSpPr txBox="1"/>
          <p:nvPr/>
        </p:nvSpPr>
        <p:spPr>
          <a:xfrm>
            <a:off x="6309360" y="4892040"/>
            <a:ext cx="1783080" cy="502920"/>
          </a:xfrm>
          <a:prstGeom prst="roundRect">
            <a:avLst>
              <a:gd name="adj" fmla="val 14545"/>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nsolas" pitchFamily="34" charset="0"/>
                <a:ea typeface="Consolas" pitchFamily="34" charset="-122"/>
                <a:cs typeface="Consolas" pitchFamily="34" charset="-120"/>
              </a:rPr>
              <a:t>rueckgaengig()</a:t>
            </a:r>
            <a:endParaRPr lang="en-US" sz="1400" dirty="0"/>
          </a:p>
        </p:txBody>
      </p:sp>
      <p:sp>
        <p:nvSpPr>
          <p:cNvPr id="67" name="Text 65"/>
          <p:cNvSpPr txBox="1"/>
          <p:nvPr/>
        </p:nvSpPr>
        <p:spPr>
          <a:xfrm>
            <a:off x="8229600" y="4892040"/>
            <a:ext cx="3383280" cy="502920"/>
          </a:xfrm>
          <a:prstGeom prst="rect">
            <a:avLst/>
          </a:prstGeom>
          <a:noFill/>
          <a:ln/>
        </p:spPr>
        <p:txBody>
          <a:bodyPr wrap="square" lIns="0" tIns="0" rIns="0" bIns="0" rtlCol="0" anchor="ctr"/>
          <a:lstStyle/>
          <a:p>
            <a:pPr indent="0" marL="0">
              <a:buNone/>
            </a:pPr>
            <a:r>
              <a:rPr lang="en-US" sz="1500" dirty="0">
                <a:solidFill>
                  <a:schemeClr val="tx1"/>
                </a:solidFill>
              </a:rPr>
              <a:t>oberster Zug: erledigt → zurueckgenommen</a:t>
            </a:r>
            <a:endParaRPr lang="en-US" sz="1500" dirty="0"/>
          </a:p>
        </p:txBody>
      </p:sp>
      <p:sp>
        <p:nvSpPr>
          <p:cNvPr id="68" name="Regel wiederholen()"/>
          <p:cNvSpPr txBox="1"/>
          <p:nvPr/>
        </p:nvSpPr>
        <p:spPr>
          <a:xfrm>
            <a:off x="6309360" y="5532120"/>
            <a:ext cx="1783080" cy="502920"/>
          </a:xfrm>
          <a:prstGeom prst="roundRect">
            <a:avLst>
              <a:gd name="adj" fmla="val 14545"/>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nsolas" pitchFamily="34" charset="0"/>
                <a:ea typeface="Consolas" pitchFamily="34" charset="-122"/>
                <a:cs typeface="Consolas" pitchFamily="34" charset="-120"/>
              </a:rPr>
              <a:t>wiederholen()</a:t>
            </a:r>
            <a:endParaRPr lang="en-US" sz="1400" dirty="0"/>
          </a:p>
        </p:txBody>
      </p:sp>
      <p:sp>
        <p:nvSpPr>
          <p:cNvPr id="69" name="Text 67"/>
          <p:cNvSpPr txBox="1"/>
          <p:nvPr/>
        </p:nvSpPr>
        <p:spPr>
          <a:xfrm>
            <a:off x="8229600" y="5532120"/>
            <a:ext cx="3383280" cy="502920"/>
          </a:xfrm>
          <a:prstGeom prst="rect">
            <a:avLst/>
          </a:prstGeom>
          <a:noFill/>
          <a:ln/>
        </p:spPr>
        <p:txBody>
          <a:bodyPr wrap="square" lIns="0" tIns="0" rIns="0" bIns="0" rtlCol="0" anchor="ctr"/>
          <a:lstStyle/>
          <a:p>
            <a:pPr indent="0" marL="0">
              <a:buNone/>
            </a:pPr>
            <a:r>
              <a:rPr lang="en-US" sz="1500" dirty="0">
                <a:solidFill>
                  <a:schemeClr val="tx1"/>
                </a:solidFill>
              </a:rPr>
              <a:t>oberster Zug: zurueckgenommen → erledigt</a:t>
            </a:r>
            <a:endParaRPr lang="en-US" sz="1500" dirty="0"/>
          </a:p>
        </p:txBody>
      </p:sp>
      <p:sp>
        <p:nvSpPr>
          <p:cNvPr id="70" name="Text 68"/>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25 · Spielmodule (Kür)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Initiative: Die Zugreihenfolge rotiert in einer Schlange</a:t>
            </a:r>
            <a:endParaRPr lang="en-US" sz="3600" dirty="0"/>
          </a:p>
        </p:txBody>
      </p:sp>
      <p:sp>
        <p:nvSpPr>
          <p:cNvPr id="3" name="Text 1"/>
          <p:cNvSpPr txBox="1"/>
          <p:nvPr/>
        </p:nvSpPr>
        <p:spPr>
          <a:xfrm>
            <a:off x="2743200" y="1325880"/>
            <a:ext cx="914400" cy="274320"/>
          </a:xfrm>
          <a:prstGeom prst="rect">
            <a:avLst/>
          </a:prstGeom>
          <a:noFill/>
          <a:ln/>
        </p:spPr>
        <p:txBody>
          <a:bodyPr wrap="square" lIns="0" tIns="0" rIns="0" bIns="0" rtlCol="0" anchor="t"/>
          <a:lstStyle/>
          <a:p>
            <a:pPr indent="0" marL="0">
              <a:buNone/>
            </a:pPr>
            <a:r>
              <a:rPr lang="en-US" sz="1300" i="1" dirty="0">
                <a:solidFill>
                  <a:schemeClr val="accent6"/>
                </a:solidFill>
              </a:rPr>
              <a:t>vorne</a:t>
            </a:r>
            <a:endParaRPr lang="en-US" sz="1300" dirty="0"/>
          </a:p>
        </p:txBody>
      </p:sp>
      <p:sp>
        <p:nvSpPr>
          <p:cNvPr id="4" name="Text 2"/>
          <p:cNvSpPr txBox="1"/>
          <p:nvPr/>
        </p:nvSpPr>
        <p:spPr>
          <a:xfrm>
            <a:off x="4974336" y="1325880"/>
            <a:ext cx="914400" cy="274320"/>
          </a:xfrm>
          <a:prstGeom prst="rect">
            <a:avLst/>
          </a:prstGeom>
          <a:noFill/>
          <a:ln/>
        </p:spPr>
        <p:txBody>
          <a:bodyPr wrap="square" lIns="0" tIns="0" rIns="0" bIns="0" rtlCol="0" anchor="t"/>
          <a:lstStyle/>
          <a:p>
            <a:pPr algn="r" indent="0" marL="0">
              <a:buNone/>
            </a:pPr>
            <a:r>
              <a:rPr lang="en-US" sz="1300" i="1" dirty="0">
                <a:solidFill>
                  <a:schemeClr val="accent6"/>
                </a:solidFill>
              </a:rPr>
              <a:t>hinten</a:t>
            </a:r>
            <a:endParaRPr lang="en-US" sz="1300" dirty="0"/>
          </a:p>
        </p:txBody>
      </p:sp>
      <p:sp>
        <p:nvSpPr>
          <p:cNvPr id="5" name="Text 3"/>
          <p:cNvSpPr txBox="1"/>
          <p:nvPr/>
        </p:nvSpPr>
        <p:spPr>
          <a:xfrm>
            <a:off x="548640" y="1691640"/>
            <a:ext cx="2103120" cy="585216"/>
          </a:xfrm>
          <a:prstGeom prst="rect">
            <a:avLst/>
          </a:prstGeom>
          <a:noFill/>
          <a:ln/>
        </p:spPr>
        <p:txBody>
          <a:bodyPr wrap="square" lIns="0" tIns="0" rIns="0" bIns="0" rtlCol="0" anchor="ctr"/>
          <a:lstStyle/>
          <a:p>
            <a:pPr indent="0" marL="0">
              <a:buNone/>
            </a:pPr>
            <a:r>
              <a:rPr lang="en-US" sz="1400" b="1" dirty="0">
                <a:solidFill>
                  <a:schemeClr val="accent6"/>
                </a:solidFill>
              </a:rPr>
              <a:t>Start</a:t>
            </a:r>
            <a:endParaRPr lang="en-US" sz="1400" dirty="0"/>
          </a:p>
        </p:txBody>
      </p:sp>
      <p:sp>
        <p:nvSpPr>
          <p:cNvPr id="6" name="Schlange oben"/>
          <p:cNvSpPr/>
          <p:nvPr/>
        </p:nvSpPr>
        <p:spPr>
          <a:xfrm>
            <a:off x="2743200" y="1691640"/>
            <a:ext cx="3282696" cy="91"/>
          </a:xfrm>
          <a:prstGeom prst="line">
            <a:avLst/>
          </a:prstGeom>
          <a:noFill/>
          <a:ln w="31750">
            <a:solidFill>
              <a:schemeClr val="accent1"/>
            </a:solidFill>
            <a:prstDash val="solid"/>
          </a:ln>
        </p:spPr>
      </p:sp>
      <p:sp>
        <p:nvSpPr>
          <p:cNvPr id="7" name="Schlange unten"/>
          <p:cNvSpPr/>
          <p:nvPr/>
        </p:nvSpPr>
        <p:spPr>
          <a:xfrm>
            <a:off x="2743200" y="2276856"/>
            <a:ext cx="3282696" cy="91"/>
          </a:xfrm>
          <a:prstGeom prst="line">
            <a:avLst/>
          </a:prstGeom>
          <a:noFill/>
          <a:ln w="31750">
            <a:solidFill>
              <a:schemeClr val="accent1"/>
            </a:solidFill>
            <a:prstDash val="solid"/>
          </a:ln>
        </p:spPr>
      </p:sp>
      <p:sp>
        <p:nvSpPr>
          <p:cNvPr id="8" name="Element Aria"/>
          <p:cNvSpPr txBox="1"/>
          <p:nvPr/>
        </p:nvSpPr>
        <p:spPr>
          <a:xfrm>
            <a:off x="2834640" y="1755648"/>
            <a:ext cx="996696"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Aria</a:t>
            </a:r>
            <a:endParaRPr lang="en-US" sz="1400" dirty="0"/>
          </a:p>
        </p:txBody>
      </p:sp>
      <p:sp>
        <p:nvSpPr>
          <p:cNvPr id="9" name="Element Borin"/>
          <p:cNvSpPr txBox="1"/>
          <p:nvPr/>
        </p:nvSpPr>
        <p:spPr>
          <a:xfrm>
            <a:off x="3886200" y="1755648"/>
            <a:ext cx="996696"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Borin</a:t>
            </a:r>
            <a:endParaRPr lang="en-US" sz="1400" dirty="0"/>
          </a:p>
        </p:txBody>
      </p:sp>
      <p:sp>
        <p:nvSpPr>
          <p:cNvPr id="10" name="Element Cyra"/>
          <p:cNvSpPr txBox="1"/>
          <p:nvPr/>
        </p:nvSpPr>
        <p:spPr>
          <a:xfrm>
            <a:off x="4937760" y="1755648"/>
            <a:ext cx="996696"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Cyra</a:t>
            </a:r>
            <a:endParaRPr lang="en-US" sz="1400" dirty="0"/>
          </a:p>
        </p:txBody>
      </p:sp>
      <p:sp>
        <p:nvSpPr>
          <p:cNvPr id="11" name="Text 9"/>
          <p:cNvSpPr txBox="1"/>
          <p:nvPr/>
        </p:nvSpPr>
        <p:spPr>
          <a:xfrm>
            <a:off x="548640" y="2468880"/>
            <a:ext cx="2103120" cy="585216"/>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amZug() → "Aria"</a:t>
            </a:r>
            <a:endParaRPr lang="en-US" sz="1400" dirty="0"/>
          </a:p>
        </p:txBody>
      </p:sp>
      <p:sp>
        <p:nvSpPr>
          <p:cNvPr id="12" name="Schlange oben"/>
          <p:cNvSpPr/>
          <p:nvPr/>
        </p:nvSpPr>
        <p:spPr>
          <a:xfrm>
            <a:off x="2743200" y="2468880"/>
            <a:ext cx="3282696" cy="91"/>
          </a:xfrm>
          <a:prstGeom prst="line">
            <a:avLst/>
          </a:prstGeom>
          <a:noFill/>
          <a:ln w="31750">
            <a:solidFill>
              <a:schemeClr val="accent1"/>
            </a:solidFill>
            <a:prstDash val="solid"/>
          </a:ln>
        </p:spPr>
      </p:sp>
      <p:sp>
        <p:nvSpPr>
          <p:cNvPr id="13" name="Schlange unten"/>
          <p:cNvSpPr/>
          <p:nvPr/>
        </p:nvSpPr>
        <p:spPr>
          <a:xfrm>
            <a:off x="2743200" y="3054096"/>
            <a:ext cx="3282696" cy="91"/>
          </a:xfrm>
          <a:prstGeom prst="line">
            <a:avLst/>
          </a:prstGeom>
          <a:noFill/>
          <a:ln w="31750">
            <a:solidFill>
              <a:schemeClr val="accent1"/>
            </a:solidFill>
            <a:prstDash val="solid"/>
          </a:ln>
        </p:spPr>
      </p:sp>
      <p:sp>
        <p:nvSpPr>
          <p:cNvPr id="14" name="Element Borin"/>
          <p:cNvSpPr txBox="1"/>
          <p:nvPr/>
        </p:nvSpPr>
        <p:spPr>
          <a:xfrm>
            <a:off x="2834640" y="2532888"/>
            <a:ext cx="996696"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Borin</a:t>
            </a:r>
            <a:endParaRPr lang="en-US" sz="1400" dirty="0"/>
          </a:p>
        </p:txBody>
      </p:sp>
      <p:sp>
        <p:nvSpPr>
          <p:cNvPr id="15" name="Element Cyra"/>
          <p:cNvSpPr txBox="1"/>
          <p:nvPr/>
        </p:nvSpPr>
        <p:spPr>
          <a:xfrm>
            <a:off x="3886200" y="2532888"/>
            <a:ext cx="996696"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Cyra</a:t>
            </a:r>
            <a:endParaRPr lang="en-US" sz="1400" dirty="0"/>
          </a:p>
        </p:txBody>
      </p:sp>
      <p:sp>
        <p:nvSpPr>
          <p:cNvPr id="16" name="Element Aria"/>
          <p:cNvSpPr txBox="1"/>
          <p:nvPr/>
        </p:nvSpPr>
        <p:spPr>
          <a:xfrm>
            <a:off x="4937760" y="2532888"/>
            <a:ext cx="996696" cy="457200"/>
          </a:xfrm>
          <a:prstGeom prst="roundRect">
            <a:avLst>
              <a:gd name="adj" fmla="val 16000"/>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400" b="1" dirty="0">
                <a:solidFill>
                  <a:schemeClr val="accent1"/>
                </a:solidFill>
              </a:rPr>
              <a:t>Aria</a:t>
            </a:r>
            <a:endParaRPr lang="en-US" sz="1400" dirty="0"/>
          </a:p>
        </p:txBody>
      </p:sp>
      <p:sp>
        <p:nvSpPr>
          <p:cNvPr id="17" name="Text 15"/>
          <p:cNvSpPr txBox="1"/>
          <p:nvPr/>
        </p:nvSpPr>
        <p:spPr>
          <a:xfrm>
            <a:off x="548640" y="3246120"/>
            <a:ext cx="2103120" cy="585216"/>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amZug() → "Borin"</a:t>
            </a:r>
            <a:endParaRPr lang="en-US" sz="1400" dirty="0"/>
          </a:p>
        </p:txBody>
      </p:sp>
      <p:sp>
        <p:nvSpPr>
          <p:cNvPr id="18" name="Schlange oben"/>
          <p:cNvSpPr/>
          <p:nvPr/>
        </p:nvSpPr>
        <p:spPr>
          <a:xfrm>
            <a:off x="2743200" y="3246120"/>
            <a:ext cx="3282696" cy="91"/>
          </a:xfrm>
          <a:prstGeom prst="line">
            <a:avLst/>
          </a:prstGeom>
          <a:noFill/>
          <a:ln w="31750">
            <a:solidFill>
              <a:schemeClr val="accent1"/>
            </a:solidFill>
            <a:prstDash val="solid"/>
          </a:ln>
        </p:spPr>
      </p:sp>
      <p:sp>
        <p:nvSpPr>
          <p:cNvPr id="19" name="Schlange unten"/>
          <p:cNvSpPr/>
          <p:nvPr/>
        </p:nvSpPr>
        <p:spPr>
          <a:xfrm>
            <a:off x="2743200" y="3831336"/>
            <a:ext cx="3282696" cy="91"/>
          </a:xfrm>
          <a:prstGeom prst="line">
            <a:avLst/>
          </a:prstGeom>
          <a:noFill/>
          <a:ln w="31750">
            <a:solidFill>
              <a:schemeClr val="accent1"/>
            </a:solidFill>
            <a:prstDash val="solid"/>
          </a:ln>
        </p:spPr>
      </p:sp>
      <p:sp>
        <p:nvSpPr>
          <p:cNvPr id="20" name="Element Cyra"/>
          <p:cNvSpPr txBox="1"/>
          <p:nvPr/>
        </p:nvSpPr>
        <p:spPr>
          <a:xfrm>
            <a:off x="2834640" y="3310128"/>
            <a:ext cx="996696"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Cyra</a:t>
            </a:r>
            <a:endParaRPr lang="en-US" sz="1400" dirty="0"/>
          </a:p>
        </p:txBody>
      </p:sp>
      <p:sp>
        <p:nvSpPr>
          <p:cNvPr id="21" name="Element Aria"/>
          <p:cNvSpPr txBox="1"/>
          <p:nvPr/>
        </p:nvSpPr>
        <p:spPr>
          <a:xfrm>
            <a:off x="3886200" y="3310128"/>
            <a:ext cx="996696"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Aria</a:t>
            </a:r>
            <a:endParaRPr lang="en-US" sz="1400" dirty="0"/>
          </a:p>
        </p:txBody>
      </p:sp>
      <p:sp>
        <p:nvSpPr>
          <p:cNvPr id="22" name="Element Borin"/>
          <p:cNvSpPr txBox="1"/>
          <p:nvPr/>
        </p:nvSpPr>
        <p:spPr>
          <a:xfrm>
            <a:off x="4937760" y="3310128"/>
            <a:ext cx="996696" cy="457200"/>
          </a:xfrm>
          <a:prstGeom prst="roundRect">
            <a:avLst>
              <a:gd name="adj" fmla="val 16000"/>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400" b="1" dirty="0">
                <a:solidFill>
                  <a:schemeClr val="accent1"/>
                </a:solidFill>
              </a:rPr>
              <a:t>Borin</a:t>
            </a:r>
            <a:endParaRPr lang="en-US" sz="1400" dirty="0"/>
          </a:p>
        </p:txBody>
      </p:sp>
      <p:sp>
        <p:nvSpPr>
          <p:cNvPr id="23" name="Text 21"/>
          <p:cNvSpPr txBox="1"/>
          <p:nvPr/>
        </p:nvSpPr>
        <p:spPr>
          <a:xfrm>
            <a:off x="548640" y="4023360"/>
            <a:ext cx="2103120" cy="585216"/>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amZug() → "Cyra"</a:t>
            </a:r>
            <a:endParaRPr lang="en-US" sz="1400" dirty="0"/>
          </a:p>
        </p:txBody>
      </p:sp>
      <p:sp>
        <p:nvSpPr>
          <p:cNvPr id="24" name="Schlange oben"/>
          <p:cNvSpPr/>
          <p:nvPr/>
        </p:nvSpPr>
        <p:spPr>
          <a:xfrm>
            <a:off x="2743200" y="4023360"/>
            <a:ext cx="3282696" cy="91"/>
          </a:xfrm>
          <a:prstGeom prst="line">
            <a:avLst/>
          </a:prstGeom>
          <a:noFill/>
          <a:ln w="31750">
            <a:solidFill>
              <a:schemeClr val="accent1"/>
            </a:solidFill>
            <a:prstDash val="solid"/>
          </a:ln>
        </p:spPr>
      </p:sp>
      <p:sp>
        <p:nvSpPr>
          <p:cNvPr id="25" name="Schlange unten"/>
          <p:cNvSpPr/>
          <p:nvPr/>
        </p:nvSpPr>
        <p:spPr>
          <a:xfrm>
            <a:off x="2743200" y="4608576"/>
            <a:ext cx="3282696" cy="91"/>
          </a:xfrm>
          <a:prstGeom prst="line">
            <a:avLst/>
          </a:prstGeom>
          <a:noFill/>
          <a:ln w="31750">
            <a:solidFill>
              <a:schemeClr val="accent1"/>
            </a:solidFill>
            <a:prstDash val="solid"/>
          </a:ln>
        </p:spPr>
      </p:sp>
      <p:sp>
        <p:nvSpPr>
          <p:cNvPr id="26" name="Element Aria"/>
          <p:cNvSpPr txBox="1"/>
          <p:nvPr/>
        </p:nvSpPr>
        <p:spPr>
          <a:xfrm>
            <a:off x="2834640" y="4087368"/>
            <a:ext cx="996696"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Aria</a:t>
            </a:r>
            <a:endParaRPr lang="en-US" sz="1400" dirty="0"/>
          </a:p>
        </p:txBody>
      </p:sp>
      <p:sp>
        <p:nvSpPr>
          <p:cNvPr id="27" name="Element Borin"/>
          <p:cNvSpPr txBox="1"/>
          <p:nvPr/>
        </p:nvSpPr>
        <p:spPr>
          <a:xfrm>
            <a:off x="3886200" y="4087368"/>
            <a:ext cx="996696"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Borin</a:t>
            </a:r>
            <a:endParaRPr lang="en-US" sz="1400" dirty="0"/>
          </a:p>
        </p:txBody>
      </p:sp>
      <p:sp>
        <p:nvSpPr>
          <p:cNvPr id="28" name="Element Cyra"/>
          <p:cNvSpPr txBox="1"/>
          <p:nvPr/>
        </p:nvSpPr>
        <p:spPr>
          <a:xfrm>
            <a:off x="4937760" y="4087368"/>
            <a:ext cx="996696" cy="457200"/>
          </a:xfrm>
          <a:prstGeom prst="roundRect">
            <a:avLst>
              <a:gd name="adj" fmla="val 16000"/>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400" b="1" dirty="0">
                <a:solidFill>
                  <a:schemeClr val="accent1"/>
                </a:solidFill>
              </a:rPr>
              <a:t>Cyra</a:t>
            </a:r>
            <a:endParaRPr lang="en-US" sz="1400" dirty="0"/>
          </a:p>
        </p:txBody>
      </p:sp>
      <p:sp>
        <p:nvSpPr>
          <p:cNvPr id="29" name="Text 27"/>
          <p:cNvSpPr txBox="1"/>
          <p:nvPr/>
        </p:nvSpPr>
        <p:spPr>
          <a:xfrm>
            <a:off x="548640" y="4800600"/>
            <a:ext cx="2103120" cy="585216"/>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amZug() → "Aria"</a:t>
            </a:r>
            <a:endParaRPr lang="en-US" sz="1400" dirty="0"/>
          </a:p>
        </p:txBody>
      </p:sp>
      <p:sp>
        <p:nvSpPr>
          <p:cNvPr id="30" name="Schlange oben"/>
          <p:cNvSpPr/>
          <p:nvPr/>
        </p:nvSpPr>
        <p:spPr>
          <a:xfrm>
            <a:off x="2743200" y="4800600"/>
            <a:ext cx="3282696" cy="91"/>
          </a:xfrm>
          <a:prstGeom prst="line">
            <a:avLst/>
          </a:prstGeom>
          <a:noFill/>
          <a:ln w="31750">
            <a:solidFill>
              <a:schemeClr val="accent1"/>
            </a:solidFill>
            <a:prstDash val="solid"/>
          </a:ln>
        </p:spPr>
      </p:sp>
      <p:sp>
        <p:nvSpPr>
          <p:cNvPr id="31" name="Schlange unten"/>
          <p:cNvSpPr/>
          <p:nvPr/>
        </p:nvSpPr>
        <p:spPr>
          <a:xfrm>
            <a:off x="2743200" y="5385816"/>
            <a:ext cx="3282696" cy="91"/>
          </a:xfrm>
          <a:prstGeom prst="line">
            <a:avLst/>
          </a:prstGeom>
          <a:noFill/>
          <a:ln w="31750">
            <a:solidFill>
              <a:schemeClr val="accent1"/>
            </a:solidFill>
            <a:prstDash val="solid"/>
          </a:ln>
        </p:spPr>
      </p:sp>
      <p:sp>
        <p:nvSpPr>
          <p:cNvPr id="32" name="Element Borin"/>
          <p:cNvSpPr txBox="1"/>
          <p:nvPr/>
        </p:nvSpPr>
        <p:spPr>
          <a:xfrm>
            <a:off x="2834640" y="4864608"/>
            <a:ext cx="996696"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Borin</a:t>
            </a:r>
            <a:endParaRPr lang="en-US" sz="1400" dirty="0"/>
          </a:p>
        </p:txBody>
      </p:sp>
      <p:sp>
        <p:nvSpPr>
          <p:cNvPr id="33" name="Element Cyra"/>
          <p:cNvSpPr txBox="1"/>
          <p:nvPr/>
        </p:nvSpPr>
        <p:spPr>
          <a:xfrm>
            <a:off x="3886200" y="4864608"/>
            <a:ext cx="996696"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Cyra</a:t>
            </a:r>
            <a:endParaRPr lang="en-US" sz="1400" dirty="0"/>
          </a:p>
        </p:txBody>
      </p:sp>
      <p:sp>
        <p:nvSpPr>
          <p:cNvPr id="34" name="Element Aria"/>
          <p:cNvSpPr txBox="1"/>
          <p:nvPr/>
        </p:nvSpPr>
        <p:spPr>
          <a:xfrm>
            <a:off x="4937760" y="4864608"/>
            <a:ext cx="996696" cy="457200"/>
          </a:xfrm>
          <a:prstGeom prst="roundRect">
            <a:avLst>
              <a:gd name="adj" fmla="val 16000"/>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400" b="1" dirty="0">
                <a:solidFill>
                  <a:schemeClr val="accent1"/>
                </a:solidFill>
              </a:rPr>
              <a:t>Aria</a:t>
            </a:r>
            <a:endParaRPr lang="en-US" sz="1400" dirty="0"/>
          </a:p>
        </p:txBody>
      </p:sp>
      <p:sp>
        <p:nvSpPr>
          <p:cNvPr id="35" name="Chip"/>
          <p:cNvSpPr txBox="1"/>
          <p:nvPr/>
        </p:nvSpPr>
        <p:spPr>
          <a:xfrm>
            <a:off x="548640" y="5669280"/>
            <a:ext cx="548640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Reihenfolge: Aria, Borin, Cyra, Aria, …</a:t>
            </a:r>
            <a:endParaRPr lang="en-US" sz="1600" dirty="0"/>
          </a:p>
        </p:txBody>
      </p:sp>
      <p:sp>
        <p:nvSpPr>
          <p:cNvPr id="36" name="Code"/>
          <p:cNvSpPr txBox="1"/>
          <p:nvPr/>
        </p:nvSpPr>
        <p:spPr>
          <a:xfrm>
            <a:off x="6309360" y="1325880"/>
            <a:ext cx="5303520" cy="1927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String</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amZug</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reihe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isEmpty</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String</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name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String</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reihe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dequeue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reihe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enqueue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name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hinten anstellen</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name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37" name="Rotieren"/>
          <p:cNvSpPr/>
          <p:nvPr/>
        </p:nvSpPr>
        <p:spPr>
          <a:xfrm>
            <a:off x="6309360" y="3520440"/>
            <a:ext cx="5303520" cy="1051560"/>
          </a:xfrm>
          <a:prstGeom prst="roundRect">
            <a:avLst>
              <a:gd name="adj" fmla="val 10435"/>
            </a:avLst>
          </a:prstGeom>
          <a:solidFill>
            <a:schemeClr val="bg2"/>
          </a:solidFill>
          <a:ln/>
        </p:spPr>
      </p:sp>
      <p:sp>
        <p:nvSpPr>
          <p:cNvPr id="38" name="Text 36"/>
          <p:cNvSpPr txBox="1"/>
          <p:nvPr/>
        </p:nvSpPr>
        <p:spPr>
          <a:xfrm>
            <a:off x="6510528" y="3520440"/>
            <a:ext cx="4937760" cy="1051560"/>
          </a:xfrm>
          <a:prstGeom prst="rect">
            <a:avLst/>
          </a:prstGeom>
          <a:noFill/>
          <a:ln/>
        </p:spPr>
        <p:txBody>
          <a:bodyPr wrap="square" lIns="0" tIns="0" rIns="0" bIns="0" rtlCol="0" anchor="ctr"/>
          <a:lstStyle/>
          <a:p>
            <a:pPr indent="0" marL="0">
              <a:buNone/>
            </a:pPr>
            <a:r>
              <a:rPr lang="en-US" sz="1500" b="1" dirty="0">
                <a:solidFill>
                  <a:schemeClr val="accent1"/>
                </a:solidFill>
              </a:rPr>
              <a:t>Rotieren: </a:t>
            </a:r>
            <a:pPr indent="0" marL="0">
              <a:buNone/>
            </a:pPr>
            <a:r>
              <a:rPr lang="en-US" sz="1400" dirty="0">
                <a:solidFill>
                  <a:schemeClr val="tx1"/>
                </a:solidFill>
                <a:latin typeface="Consolas" pitchFamily="34" charset="0"/>
                <a:ea typeface="Consolas" pitchFamily="34" charset="-122"/>
                <a:cs typeface="Consolas" pitchFamily="34" charset="-120"/>
              </a:rPr>
              <a:t>q.enqueue(q.dequeue())</a:t>
            </a:r>
            <a:pPr indent="0" marL="0">
              <a:buNone/>
            </a:pPr>
            <a:r>
              <a:rPr lang="en-US" sz="1500" dirty="0">
                <a:solidFill>
                  <a:schemeClr val="tx1"/>
                </a:solidFill>
              </a:rPr>
              <a:t> – nach n-mal Rotieren (n Elemente) ist die Schlange wieder wie vorher.</a:t>
            </a:r>
            <a:endParaRPr lang="en-US" sz="1500" dirty="0"/>
          </a:p>
        </p:txBody>
      </p:sp>
      <p:sp>
        <p:nvSpPr>
          <p:cNvPr id="39" name="Endlosschleife"/>
          <p:cNvSpPr/>
          <p:nvPr/>
        </p:nvSpPr>
        <p:spPr>
          <a:xfrm>
            <a:off x="6309360" y="4754880"/>
            <a:ext cx="5303520" cy="1371600"/>
          </a:xfrm>
          <a:prstGeom prst="roundRect">
            <a:avLst>
              <a:gd name="adj" fmla="val 8000"/>
            </a:avLst>
          </a:prstGeom>
          <a:solidFill>
            <a:schemeClr val="bg1"/>
          </a:solidFill>
          <a:ln w="25400">
            <a:solidFill>
              <a:schemeClr val="accent4"/>
            </a:solidFill>
            <a:prstDash val="solid"/>
          </a:ln>
        </p:spPr>
      </p:sp>
      <p:sp>
        <p:nvSpPr>
          <p:cNvPr id="40" name="Text 38"/>
          <p:cNvSpPr txBox="1"/>
          <p:nvPr/>
        </p:nvSpPr>
        <p:spPr>
          <a:xfrm>
            <a:off x="6510528" y="4754880"/>
            <a:ext cx="4937760" cy="1371600"/>
          </a:xfrm>
          <a:prstGeom prst="rect">
            <a:avLst/>
          </a:prstGeom>
          <a:noFill/>
          <a:ln/>
        </p:spPr>
        <p:txBody>
          <a:bodyPr wrap="square" lIns="0" tIns="0" rIns="0" bIns="0" rtlCol="0" anchor="ctr"/>
          <a:lstStyle/>
          <a:p>
            <a:pPr indent="0" marL="0">
              <a:buNone/>
            </a:pPr>
            <a:r>
              <a:rPr lang="en-US" sz="1500" b="1" dirty="0">
                <a:solidFill>
                  <a:schemeClr val="accent4"/>
                </a:solidFill>
              </a:rPr>
              <a:t>Achtung: </a:t>
            </a:r>
            <a:pPr indent="0" marL="0">
              <a:buNone/>
            </a:pPr>
            <a:r>
              <a:rPr lang="en-US" sz="1500" dirty="0">
                <a:solidFill>
                  <a:schemeClr val="tx1"/>
                </a:solidFill>
              </a:rPr>
              <a:t>Rotieren, „bis der Name vorne steht“, ohne Zähler: Fehlt der Name, dreht sich die Schlange endlos. Erst die Länge bestimmen – oder eine Hilfsschlange benutzen.</a:t>
            </a:r>
            <a:endParaRPr lang="en-US" sz="1500" dirty="0"/>
          </a:p>
        </p:txBody>
      </p:sp>
      <p:sp>
        <p:nvSpPr>
          <p:cNvPr id="41" name="Text 39"/>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25 · Spielmodule (Kür)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Welche Struktur passt? Eignung beurteilen</a:t>
            </a:r>
            <a:endParaRPr lang="en-US" sz="3600" dirty="0"/>
          </a:p>
        </p:txBody>
      </p:sp>
      <p:graphicFrame>
        <p:nvGraphicFramePr>
          <p:cNvPr id="16" name="Eignung Tabel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828800"/>
                <a:gridCol w="3063240"/>
                <a:gridCol w="3063240"/>
                <a:gridCol w="3108960"/>
              </a:tblGrid>
              <a:tr h="457200">
                <a:tc>
                  <a:txBody>
                    <a:bodyPr/>
                    <a:lstStyle/>
                    <a:p>
                      <a:pPr algn="ctr" indent="0" marL="0">
                        <a:buNone/>
                      </a:pP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Stapel</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Schlange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dynamische Reihung</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57200">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Zugriff</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nur oben: top, pop</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vorne entnehmen, hinten anstellen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überall über den Index</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Prinzip</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LIFO – das Neueste zuerst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FIFO – das Älteste zuerst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Position frei wählbar</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im Spiel</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Zugbuch: Rückgängig</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Initiative: Zugreihenfolge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Inventar, Ladeliste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Schwäche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an untere Elemente nur durch Umschichten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an mittlere nur durch Rotieren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Einfügen und Löschen verschieben die Nachfolger</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4114800"/>
            <a:ext cx="5120640" cy="347472"/>
          </a:xfrm>
          <a:prstGeom prst="rect">
            <a:avLst/>
          </a:prstGeom>
          <a:noFill/>
          <a:ln/>
        </p:spPr>
        <p:txBody>
          <a:bodyPr wrap="square" lIns="0" tIns="0" rIns="0" bIns="0" rtlCol="0" anchor="t"/>
          <a:lstStyle/>
          <a:p>
            <a:pPr indent="0" marL="0">
              <a:buNone/>
            </a:pPr>
            <a:r>
              <a:rPr lang="en-US" sz="1800" b="1" dirty="0">
                <a:solidFill>
                  <a:schemeClr val="accent2"/>
                </a:solidFill>
              </a:rPr>
              <a:t>So beurteilst du im Abi</a:t>
            </a:r>
            <a:endParaRPr lang="en-US" sz="1800" dirty="0"/>
          </a:p>
        </p:txBody>
      </p:sp>
      <p:sp>
        <p:nvSpPr>
          <p:cNvPr id="5" name="Nummer 1"/>
          <p:cNvSpPr txBox="1"/>
          <p:nvPr/>
        </p:nvSpPr>
        <p:spPr>
          <a:xfrm>
            <a:off x="548640" y="4553712"/>
            <a:ext cx="329184" cy="329184"/>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1005840" y="4553712"/>
            <a:ext cx="4663440" cy="329184"/>
          </a:xfrm>
          <a:prstGeom prst="rect">
            <a:avLst/>
          </a:prstGeom>
          <a:noFill/>
          <a:ln/>
        </p:spPr>
        <p:txBody>
          <a:bodyPr wrap="square" lIns="0" tIns="0" rIns="0" bIns="0" rtlCol="0" anchor="ctr"/>
          <a:lstStyle/>
          <a:p>
            <a:pPr indent="0" marL="0">
              <a:buNone/>
            </a:pPr>
            <a:r>
              <a:rPr lang="en-US" sz="1600" dirty="0">
                <a:solidFill>
                  <a:schemeClr val="tx1"/>
                </a:solidFill>
              </a:rPr>
              <a:t>Struktur nennen</a:t>
            </a:r>
            <a:endParaRPr lang="en-US" sz="1600" dirty="0"/>
          </a:p>
        </p:txBody>
      </p:sp>
      <p:sp>
        <p:nvSpPr>
          <p:cNvPr id="7" name="Nummer 2"/>
          <p:cNvSpPr txBox="1"/>
          <p:nvPr/>
        </p:nvSpPr>
        <p:spPr>
          <a:xfrm>
            <a:off x="548640" y="4956048"/>
            <a:ext cx="329184" cy="329184"/>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Text 5"/>
          <p:cNvSpPr txBox="1"/>
          <p:nvPr/>
        </p:nvSpPr>
        <p:spPr>
          <a:xfrm>
            <a:off x="1005840" y="4956048"/>
            <a:ext cx="4663440" cy="329184"/>
          </a:xfrm>
          <a:prstGeom prst="rect">
            <a:avLst/>
          </a:prstGeom>
          <a:noFill/>
          <a:ln/>
        </p:spPr>
        <p:txBody>
          <a:bodyPr wrap="square" lIns="0" tIns="0" rIns="0" bIns="0" rtlCol="0" anchor="ctr"/>
          <a:lstStyle/>
          <a:p>
            <a:pPr indent="0" marL="0">
              <a:buNone/>
            </a:pPr>
            <a:r>
              <a:rPr lang="en-US" sz="1600" dirty="0">
                <a:solidFill>
                  <a:schemeClr val="tx1"/>
                </a:solidFill>
              </a:rPr>
              <a:t>Zugriffsprinzip angeben (LIFO, FIFO, Index)</a:t>
            </a:r>
            <a:endParaRPr lang="en-US" sz="1600" dirty="0"/>
          </a:p>
        </p:txBody>
      </p:sp>
      <p:sp>
        <p:nvSpPr>
          <p:cNvPr id="9" name="Nummer 3"/>
          <p:cNvSpPr txBox="1"/>
          <p:nvPr/>
        </p:nvSpPr>
        <p:spPr>
          <a:xfrm>
            <a:off x="548640" y="5358384"/>
            <a:ext cx="329184" cy="329184"/>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0" name="Text 7"/>
          <p:cNvSpPr txBox="1"/>
          <p:nvPr/>
        </p:nvSpPr>
        <p:spPr>
          <a:xfrm>
            <a:off x="1005840" y="5358384"/>
            <a:ext cx="4663440" cy="329184"/>
          </a:xfrm>
          <a:prstGeom prst="rect">
            <a:avLst/>
          </a:prstGeom>
          <a:noFill/>
          <a:ln/>
        </p:spPr>
        <p:txBody>
          <a:bodyPr wrap="square" lIns="0" tIns="0" rIns="0" bIns="0" rtlCol="0" anchor="ctr"/>
          <a:lstStyle/>
          <a:p>
            <a:pPr indent="0" marL="0">
              <a:buNone/>
            </a:pPr>
            <a:r>
              <a:rPr lang="en-US" sz="1600" dirty="0">
                <a:solidFill>
                  <a:schemeClr val="tx1"/>
                </a:solidFill>
              </a:rPr>
              <a:t>auf den Kontext beziehen</a:t>
            </a:r>
            <a:endParaRPr lang="en-US" sz="1600" dirty="0"/>
          </a:p>
        </p:txBody>
      </p:sp>
      <p:sp>
        <p:nvSpPr>
          <p:cNvPr id="11" name="Nummer 4"/>
          <p:cNvSpPr txBox="1"/>
          <p:nvPr/>
        </p:nvSpPr>
        <p:spPr>
          <a:xfrm>
            <a:off x="548640" y="5760720"/>
            <a:ext cx="329184" cy="329184"/>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2" name="Text 9"/>
          <p:cNvSpPr txBox="1"/>
          <p:nvPr/>
        </p:nvSpPr>
        <p:spPr>
          <a:xfrm>
            <a:off x="1005840" y="5760720"/>
            <a:ext cx="4663440" cy="329184"/>
          </a:xfrm>
          <a:prstGeom prst="rect">
            <a:avLst/>
          </a:prstGeom>
          <a:noFill/>
          <a:ln/>
        </p:spPr>
        <p:txBody>
          <a:bodyPr wrap="square" lIns="0" tIns="0" rIns="0" bIns="0" rtlCol="0" anchor="ctr"/>
          <a:lstStyle/>
          <a:p>
            <a:pPr indent="0" marL="0">
              <a:buNone/>
            </a:pPr>
            <a:r>
              <a:rPr lang="en-US" sz="1600" dirty="0">
                <a:solidFill>
                  <a:schemeClr val="tx1"/>
                </a:solidFill>
              </a:rPr>
              <a:t>Alternative begründet ausschließen</a:t>
            </a:r>
            <a:endParaRPr lang="en-US" sz="1600" dirty="0"/>
          </a:p>
        </p:txBody>
      </p:sp>
      <p:sp>
        <p:nvSpPr>
          <p:cNvPr id="13" name="Beispiel Eignung"/>
          <p:cNvSpPr/>
          <p:nvPr/>
        </p:nvSpPr>
        <p:spPr>
          <a:xfrm>
            <a:off x="6035040" y="4114800"/>
            <a:ext cx="5577840" cy="2011680"/>
          </a:xfrm>
          <a:prstGeom prst="roundRect">
            <a:avLst>
              <a:gd name="adj" fmla="val 5455"/>
            </a:avLst>
          </a:prstGeom>
          <a:solidFill>
            <a:schemeClr val="accent1"/>
          </a:solidFill>
          <a:ln/>
          <a:effectLst>
            <a:outerShdw sx="100000" sy="100000" kx="0" ky="0" algn="bl" rotWithShape="0" blurRad="76200" dist="25400" dir="5400000">
              <a:srgbClr val="000000">
                <a:alpha val="18000"/>
              </a:srgbClr>
            </a:outerShdw>
          </a:effectLst>
        </p:spPr>
      </p:sp>
      <p:sp>
        <p:nvSpPr>
          <p:cNvPr id="14" name="Text 11"/>
          <p:cNvSpPr txBox="1"/>
          <p:nvPr/>
        </p:nvSpPr>
        <p:spPr>
          <a:xfrm>
            <a:off x="6263640" y="4160520"/>
            <a:ext cx="5166360" cy="1920240"/>
          </a:xfrm>
          <a:prstGeom prst="rect">
            <a:avLst/>
          </a:prstGeom>
          <a:noFill/>
          <a:ln/>
        </p:spPr>
        <p:txBody>
          <a:bodyPr wrap="square" lIns="0" tIns="0" rIns="0" bIns="0" rtlCol="0" anchor="ctr"/>
          <a:lstStyle/>
          <a:p>
            <a:pPr indent="0" marL="0">
              <a:spcAft>
                <a:spcPts val="600"/>
              </a:spcAft>
              <a:buNone/>
            </a:pPr>
            <a:r>
              <a:rPr lang="en-US" sz="1500" b="1" dirty="0">
                <a:solidFill>
                  <a:schemeClr val="accent2"/>
                </a:solidFill>
              </a:rPr>
              <a:t>Beispiel: </a:t>
            </a:r>
            <a:pPr indent="0" marL="0">
              <a:spcAft>
                <a:spcPts val="600"/>
              </a:spcAft>
              <a:buNone/>
            </a:pPr>
            <a:r>
              <a:rPr lang="en-US" sz="1500" dirty="0">
                <a:solidFill>
                  <a:schemeClr val="bg1"/>
                </a:solidFill>
              </a:rPr>
              <a:t>Funksprüche im Hafenbüro werden in der Reihenfolge ihres Eingangs beantwortet.</a:t>
            </a:r>
            <a:endParaRPr lang="en-US" sz="1500" dirty="0"/>
          </a:p>
          <a:p>
            <a:pPr indent="0" marL="0">
              <a:spcAft>
                <a:spcPts val="600"/>
              </a:spcAft>
              <a:buNone/>
            </a:pPr>
            <a:r>
              <a:rPr lang="en-US" sz="1500" b="1" dirty="0">
                <a:solidFill>
                  <a:schemeClr val="accent2"/>
                </a:solidFill>
              </a:rPr>
              <a:t>Musterantwort: </a:t>
            </a:r>
            <a:pPr indent="0" marL="0">
              <a:spcAft>
                <a:spcPts val="600"/>
              </a:spcAft>
              <a:buNone/>
            </a:pPr>
            <a:r>
              <a:rPr lang="en-US" sz="1500" dirty="0">
                <a:solidFill>
                  <a:schemeClr val="bg1"/>
                </a:solidFill>
              </a:rPr>
              <a:t>Eine Schlange: Neue Funksprüche werden hinten angestellt, beantwortet wird vorne – der älteste zuerst (FIFO). Ein Stapel lieferte den neuesten zuerst.</a:t>
            </a:r>
            <a:endParaRPr lang="en-US" sz="1500" dirty="0"/>
          </a:p>
        </p:txBody>
      </p:sp>
      <p:sp>
        <p:nvSpPr>
          <p:cNvPr id="15" name="Text 12"/>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25 · Eignung</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Muster „unverändert lassen“: der Hilfsstapel</a:t>
            </a:r>
            <a:endParaRPr lang="en-US" sz="3600" dirty="0"/>
          </a:p>
        </p:txBody>
      </p:sp>
      <p:sp>
        <p:nvSpPr>
          <p:cNvPr id="3" name="Schritt 0"/>
          <p:cNvSpPr/>
          <p:nvPr/>
        </p:nvSpPr>
        <p:spPr>
          <a:xfrm>
            <a:off x="548640" y="1325880"/>
            <a:ext cx="1481328" cy="2880360"/>
          </a:xfrm>
          <a:prstGeom prst="roundRect">
            <a:avLst>
              <a:gd name="adj" fmla="val 7407"/>
            </a:avLst>
          </a:prstGeom>
          <a:solidFill>
            <a:schemeClr val="bg1"/>
          </a:solidFill>
          <a:ln w="19050">
            <a:solidFill>
              <a:schemeClr val="accent3"/>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548640" y="1389888"/>
            <a:ext cx="1481328" cy="292608"/>
          </a:xfrm>
          <a:prstGeom prst="rect">
            <a:avLst/>
          </a:prstGeom>
          <a:noFill/>
          <a:ln/>
        </p:spPr>
        <p:txBody>
          <a:bodyPr wrap="square" lIns="0" tIns="0" rIns="0" bIns="0" rtlCol="0" anchor="t"/>
          <a:lstStyle/>
          <a:p>
            <a:pPr algn="ctr" indent="0" marL="0">
              <a:buNone/>
            </a:pPr>
            <a:r>
              <a:rPr lang="en-US" sz="1400" b="1" dirty="0">
                <a:solidFill>
                  <a:schemeClr val="accent1"/>
                </a:solidFill>
              </a:rPr>
              <a:t>Start</a:t>
            </a:r>
            <a:endParaRPr lang="en-US" sz="1400" dirty="0"/>
          </a:p>
        </p:txBody>
      </p:sp>
      <p:sp>
        <p:nvSpPr>
          <p:cNvPr id="5" name="Stapel Wand links"/>
          <p:cNvSpPr/>
          <p:nvPr/>
        </p:nvSpPr>
        <p:spPr>
          <a:xfrm>
            <a:off x="603504" y="2267712"/>
            <a:ext cx="91" cy="1161288"/>
          </a:xfrm>
          <a:prstGeom prst="line">
            <a:avLst/>
          </a:prstGeom>
          <a:noFill/>
          <a:ln w="31750">
            <a:solidFill>
              <a:schemeClr val="accent1"/>
            </a:solidFill>
            <a:prstDash val="solid"/>
          </a:ln>
        </p:spPr>
      </p:sp>
      <p:sp>
        <p:nvSpPr>
          <p:cNvPr id="6" name="Stapel Boden"/>
          <p:cNvSpPr/>
          <p:nvPr/>
        </p:nvSpPr>
        <p:spPr>
          <a:xfrm>
            <a:off x="603504" y="3429000"/>
            <a:ext cx="658368" cy="91"/>
          </a:xfrm>
          <a:prstGeom prst="line">
            <a:avLst/>
          </a:prstGeom>
          <a:noFill/>
          <a:ln w="31750">
            <a:solidFill>
              <a:schemeClr val="accent1"/>
            </a:solidFill>
            <a:prstDash val="solid"/>
          </a:ln>
        </p:spPr>
      </p:sp>
      <p:sp>
        <p:nvSpPr>
          <p:cNvPr id="7" name="Stapel Wand rechts"/>
          <p:cNvSpPr/>
          <p:nvPr/>
        </p:nvSpPr>
        <p:spPr>
          <a:xfrm>
            <a:off x="1261872" y="2267712"/>
            <a:ext cx="91" cy="1161288"/>
          </a:xfrm>
          <a:prstGeom prst="line">
            <a:avLst/>
          </a:prstGeom>
          <a:noFill/>
          <a:ln w="31750">
            <a:solidFill>
              <a:schemeClr val="accent1"/>
            </a:solidFill>
            <a:prstDash val="solid"/>
          </a:ln>
        </p:spPr>
      </p:sp>
      <p:sp>
        <p:nvSpPr>
          <p:cNvPr id="8" name="Element Holz"/>
          <p:cNvSpPr txBox="1"/>
          <p:nvPr/>
        </p:nvSpPr>
        <p:spPr>
          <a:xfrm>
            <a:off x="667512" y="3035808"/>
            <a:ext cx="530352" cy="329184"/>
          </a:xfrm>
          <a:prstGeom prst="roundRect">
            <a:avLst>
              <a:gd name="adj" fmla="val 22222"/>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200" b="1" dirty="0">
                <a:solidFill>
                  <a:schemeClr val="accent1"/>
                </a:solidFill>
              </a:rPr>
              <a:t>Holz</a:t>
            </a:r>
            <a:endParaRPr lang="en-US" sz="1200" dirty="0"/>
          </a:p>
        </p:txBody>
      </p:sp>
      <p:sp>
        <p:nvSpPr>
          <p:cNvPr id="9" name="Element Gold"/>
          <p:cNvSpPr txBox="1"/>
          <p:nvPr/>
        </p:nvSpPr>
        <p:spPr>
          <a:xfrm>
            <a:off x="667512" y="2670048"/>
            <a:ext cx="530352" cy="329184"/>
          </a:xfrm>
          <a:prstGeom prst="roundRect">
            <a:avLst>
              <a:gd name="adj" fmla="val 22222"/>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200" b="1" dirty="0">
                <a:solidFill>
                  <a:schemeClr val="accent1"/>
                </a:solidFill>
              </a:rPr>
              <a:t>Gold</a:t>
            </a:r>
            <a:endParaRPr lang="en-US" sz="1200" dirty="0"/>
          </a:p>
        </p:txBody>
      </p:sp>
      <p:sp>
        <p:nvSpPr>
          <p:cNvPr id="10" name="Element Wein"/>
          <p:cNvSpPr txBox="1"/>
          <p:nvPr/>
        </p:nvSpPr>
        <p:spPr>
          <a:xfrm>
            <a:off x="667512" y="2304288"/>
            <a:ext cx="530352" cy="329184"/>
          </a:xfrm>
          <a:prstGeom prst="roundRect">
            <a:avLst>
              <a:gd name="adj" fmla="val 22222"/>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200" b="1" dirty="0">
                <a:solidFill>
                  <a:schemeClr val="accent1"/>
                </a:solidFill>
              </a:rPr>
              <a:t>Wein</a:t>
            </a:r>
            <a:endParaRPr lang="en-US" sz="1200" dirty="0"/>
          </a:p>
        </p:txBody>
      </p:sp>
      <p:sp>
        <p:nvSpPr>
          <p:cNvPr id="11" name="Text 9"/>
          <p:cNvSpPr txBox="1"/>
          <p:nvPr/>
        </p:nvSpPr>
        <p:spPr>
          <a:xfrm>
            <a:off x="329184"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s</a:t>
            </a:r>
            <a:endParaRPr lang="en-US" sz="1200" dirty="0"/>
          </a:p>
        </p:txBody>
      </p:sp>
      <p:sp>
        <p:nvSpPr>
          <p:cNvPr id="12" name="Stapel Wand links"/>
          <p:cNvSpPr/>
          <p:nvPr/>
        </p:nvSpPr>
        <p:spPr>
          <a:xfrm>
            <a:off x="1316736" y="2267712"/>
            <a:ext cx="91" cy="1161288"/>
          </a:xfrm>
          <a:prstGeom prst="line">
            <a:avLst/>
          </a:prstGeom>
          <a:noFill/>
          <a:ln w="31750">
            <a:solidFill>
              <a:schemeClr val="accent1"/>
            </a:solidFill>
            <a:prstDash val="solid"/>
          </a:ln>
        </p:spPr>
      </p:sp>
      <p:sp>
        <p:nvSpPr>
          <p:cNvPr id="13" name="Stapel Boden"/>
          <p:cNvSpPr/>
          <p:nvPr/>
        </p:nvSpPr>
        <p:spPr>
          <a:xfrm>
            <a:off x="1316736" y="3429000"/>
            <a:ext cx="658368" cy="91"/>
          </a:xfrm>
          <a:prstGeom prst="line">
            <a:avLst/>
          </a:prstGeom>
          <a:noFill/>
          <a:ln w="31750">
            <a:solidFill>
              <a:schemeClr val="accent1"/>
            </a:solidFill>
            <a:prstDash val="solid"/>
          </a:ln>
        </p:spPr>
      </p:sp>
      <p:sp>
        <p:nvSpPr>
          <p:cNvPr id="14" name="Stapel Wand rechts"/>
          <p:cNvSpPr/>
          <p:nvPr/>
        </p:nvSpPr>
        <p:spPr>
          <a:xfrm>
            <a:off x="1975104" y="2267712"/>
            <a:ext cx="91" cy="1161288"/>
          </a:xfrm>
          <a:prstGeom prst="line">
            <a:avLst/>
          </a:prstGeom>
          <a:noFill/>
          <a:ln w="31750">
            <a:solidFill>
              <a:schemeClr val="accent1"/>
            </a:solidFill>
            <a:prstDash val="solid"/>
          </a:ln>
        </p:spPr>
      </p:sp>
      <p:sp>
        <p:nvSpPr>
          <p:cNvPr id="15" name="Text 13"/>
          <p:cNvSpPr txBox="1"/>
          <p:nvPr/>
        </p:nvSpPr>
        <p:spPr>
          <a:xfrm>
            <a:off x="1316736" y="3035808"/>
            <a:ext cx="658368" cy="329184"/>
          </a:xfrm>
          <a:prstGeom prst="rect">
            <a:avLst/>
          </a:prstGeom>
          <a:noFill/>
          <a:ln/>
        </p:spPr>
        <p:txBody>
          <a:bodyPr wrap="square" lIns="0" tIns="0" rIns="0" bIns="0" rtlCol="0" anchor="ctr"/>
          <a:lstStyle/>
          <a:p>
            <a:pPr algn="ctr" indent="0" marL="0">
              <a:buNone/>
            </a:pPr>
            <a:r>
              <a:rPr lang="en-US" sz="1200" dirty="0">
                <a:solidFill>
                  <a:srgbClr val="A6A6A6"/>
                </a:solidFill>
              </a:rPr>
              <a:t>–</a:t>
            </a:r>
            <a:endParaRPr lang="en-US" sz="1200" dirty="0"/>
          </a:p>
        </p:txBody>
      </p:sp>
      <p:sp>
        <p:nvSpPr>
          <p:cNvPr id="16" name="Text 14"/>
          <p:cNvSpPr txBox="1"/>
          <p:nvPr/>
        </p:nvSpPr>
        <p:spPr>
          <a:xfrm>
            <a:off x="1042416"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hilf</a:t>
            </a:r>
            <a:endParaRPr lang="en-US" sz="1200" dirty="0"/>
          </a:p>
        </p:txBody>
      </p:sp>
      <p:sp>
        <p:nvSpPr>
          <p:cNvPr id="17" name="Text 15"/>
          <p:cNvSpPr txBox="1"/>
          <p:nvPr/>
        </p:nvSpPr>
        <p:spPr>
          <a:xfrm>
            <a:off x="621792" y="3767328"/>
            <a:ext cx="1371600" cy="41148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k = –</a:t>
            </a:r>
            <a:endParaRPr lang="en-US" sz="1100" dirty="0"/>
          </a:p>
          <a:p>
            <a:pPr indent="0" marL="0">
              <a:buNone/>
            </a:pPr>
            <a:r>
              <a:rPr lang="en-US" sz="1100" dirty="0">
                <a:solidFill>
                  <a:schemeClr val="tx1"/>
                </a:solidFill>
                <a:latin typeface="Consolas" pitchFamily="34" charset="0"/>
                <a:ea typeface="Consolas" pitchFamily="34" charset="-122"/>
                <a:cs typeface="Consolas" pitchFamily="34" charset="-120"/>
              </a:rPr>
              <a:t>gefunden = false</a:t>
            </a:r>
            <a:endParaRPr lang="en-US" sz="1100" dirty="0"/>
          </a:p>
        </p:txBody>
      </p:sp>
      <p:sp>
        <p:nvSpPr>
          <p:cNvPr id="18" name="Schritt 1"/>
          <p:cNvSpPr/>
          <p:nvPr/>
        </p:nvSpPr>
        <p:spPr>
          <a:xfrm>
            <a:off x="2148840" y="1325880"/>
            <a:ext cx="1481328" cy="2880360"/>
          </a:xfrm>
          <a:prstGeom prst="roundRect">
            <a:avLst>
              <a:gd name="adj" fmla="val 740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19" name="Text 17"/>
          <p:cNvSpPr txBox="1"/>
          <p:nvPr/>
        </p:nvSpPr>
        <p:spPr>
          <a:xfrm>
            <a:off x="2148840" y="1389888"/>
            <a:ext cx="1481328" cy="292608"/>
          </a:xfrm>
          <a:prstGeom prst="rect">
            <a:avLst/>
          </a:prstGeom>
          <a:noFill/>
          <a:ln/>
        </p:spPr>
        <p:txBody>
          <a:bodyPr wrap="square" lIns="0" tIns="0" rIns="0" bIns="0" rtlCol="0" anchor="t"/>
          <a:lstStyle/>
          <a:p>
            <a:pPr algn="ctr" indent="0" marL="0">
              <a:buNone/>
            </a:pPr>
            <a:r>
              <a:rPr lang="en-US" sz="1400" b="1" dirty="0">
                <a:solidFill>
                  <a:schemeClr val="accent1"/>
                </a:solidFill>
              </a:rPr>
              <a:t>abbauen</a:t>
            </a:r>
            <a:endParaRPr lang="en-US" sz="1400" dirty="0"/>
          </a:p>
        </p:txBody>
      </p:sp>
      <p:sp>
        <p:nvSpPr>
          <p:cNvPr id="20" name="Stapel Wand links"/>
          <p:cNvSpPr/>
          <p:nvPr/>
        </p:nvSpPr>
        <p:spPr>
          <a:xfrm>
            <a:off x="2203704" y="2267712"/>
            <a:ext cx="91" cy="1161288"/>
          </a:xfrm>
          <a:prstGeom prst="line">
            <a:avLst/>
          </a:prstGeom>
          <a:noFill/>
          <a:ln w="31750">
            <a:solidFill>
              <a:schemeClr val="accent1"/>
            </a:solidFill>
            <a:prstDash val="solid"/>
          </a:ln>
        </p:spPr>
      </p:sp>
      <p:sp>
        <p:nvSpPr>
          <p:cNvPr id="21" name="Stapel Boden"/>
          <p:cNvSpPr/>
          <p:nvPr/>
        </p:nvSpPr>
        <p:spPr>
          <a:xfrm>
            <a:off x="2203704" y="3429000"/>
            <a:ext cx="658368" cy="91"/>
          </a:xfrm>
          <a:prstGeom prst="line">
            <a:avLst/>
          </a:prstGeom>
          <a:noFill/>
          <a:ln w="31750">
            <a:solidFill>
              <a:schemeClr val="accent1"/>
            </a:solidFill>
            <a:prstDash val="solid"/>
          </a:ln>
        </p:spPr>
      </p:sp>
      <p:sp>
        <p:nvSpPr>
          <p:cNvPr id="22" name="Stapel Wand rechts"/>
          <p:cNvSpPr/>
          <p:nvPr/>
        </p:nvSpPr>
        <p:spPr>
          <a:xfrm>
            <a:off x="2862072" y="2267712"/>
            <a:ext cx="91" cy="1161288"/>
          </a:xfrm>
          <a:prstGeom prst="line">
            <a:avLst/>
          </a:prstGeom>
          <a:noFill/>
          <a:ln w="31750">
            <a:solidFill>
              <a:schemeClr val="accent1"/>
            </a:solidFill>
            <a:prstDash val="solid"/>
          </a:ln>
        </p:spPr>
      </p:sp>
      <p:sp>
        <p:nvSpPr>
          <p:cNvPr id="23" name="Element Holz"/>
          <p:cNvSpPr txBox="1"/>
          <p:nvPr/>
        </p:nvSpPr>
        <p:spPr>
          <a:xfrm>
            <a:off x="2267712" y="3035808"/>
            <a:ext cx="530352" cy="329184"/>
          </a:xfrm>
          <a:prstGeom prst="roundRect">
            <a:avLst>
              <a:gd name="adj" fmla="val 22222"/>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200" b="1" dirty="0">
                <a:solidFill>
                  <a:schemeClr val="accent1"/>
                </a:solidFill>
              </a:rPr>
              <a:t>Holz</a:t>
            </a:r>
            <a:endParaRPr lang="en-US" sz="1200" dirty="0"/>
          </a:p>
        </p:txBody>
      </p:sp>
      <p:sp>
        <p:nvSpPr>
          <p:cNvPr id="24" name="Element Gold"/>
          <p:cNvSpPr txBox="1"/>
          <p:nvPr/>
        </p:nvSpPr>
        <p:spPr>
          <a:xfrm>
            <a:off x="2267712" y="2670048"/>
            <a:ext cx="530352" cy="329184"/>
          </a:xfrm>
          <a:prstGeom prst="roundRect">
            <a:avLst>
              <a:gd name="adj" fmla="val 22222"/>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200" b="1" dirty="0">
                <a:solidFill>
                  <a:schemeClr val="accent1"/>
                </a:solidFill>
              </a:rPr>
              <a:t>Gold</a:t>
            </a:r>
            <a:endParaRPr lang="en-US" sz="1200" dirty="0"/>
          </a:p>
        </p:txBody>
      </p:sp>
      <p:sp>
        <p:nvSpPr>
          <p:cNvPr id="25" name="Text 23"/>
          <p:cNvSpPr txBox="1"/>
          <p:nvPr/>
        </p:nvSpPr>
        <p:spPr>
          <a:xfrm>
            <a:off x="1929384"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s</a:t>
            </a:r>
            <a:endParaRPr lang="en-US" sz="1200" dirty="0"/>
          </a:p>
        </p:txBody>
      </p:sp>
      <p:sp>
        <p:nvSpPr>
          <p:cNvPr id="26" name="Stapel Wand links"/>
          <p:cNvSpPr/>
          <p:nvPr/>
        </p:nvSpPr>
        <p:spPr>
          <a:xfrm>
            <a:off x="2916936" y="2267712"/>
            <a:ext cx="91" cy="1161288"/>
          </a:xfrm>
          <a:prstGeom prst="line">
            <a:avLst/>
          </a:prstGeom>
          <a:noFill/>
          <a:ln w="31750">
            <a:solidFill>
              <a:schemeClr val="accent1"/>
            </a:solidFill>
            <a:prstDash val="solid"/>
          </a:ln>
        </p:spPr>
      </p:sp>
      <p:sp>
        <p:nvSpPr>
          <p:cNvPr id="27" name="Stapel Boden"/>
          <p:cNvSpPr/>
          <p:nvPr/>
        </p:nvSpPr>
        <p:spPr>
          <a:xfrm>
            <a:off x="2916936" y="3429000"/>
            <a:ext cx="658368" cy="91"/>
          </a:xfrm>
          <a:prstGeom prst="line">
            <a:avLst/>
          </a:prstGeom>
          <a:noFill/>
          <a:ln w="31750">
            <a:solidFill>
              <a:schemeClr val="accent1"/>
            </a:solidFill>
            <a:prstDash val="solid"/>
          </a:ln>
        </p:spPr>
      </p:sp>
      <p:sp>
        <p:nvSpPr>
          <p:cNvPr id="28" name="Stapel Wand rechts"/>
          <p:cNvSpPr/>
          <p:nvPr/>
        </p:nvSpPr>
        <p:spPr>
          <a:xfrm>
            <a:off x="3575304" y="2267712"/>
            <a:ext cx="91" cy="1161288"/>
          </a:xfrm>
          <a:prstGeom prst="line">
            <a:avLst/>
          </a:prstGeom>
          <a:noFill/>
          <a:ln w="31750">
            <a:solidFill>
              <a:schemeClr val="accent1"/>
            </a:solidFill>
            <a:prstDash val="solid"/>
          </a:ln>
        </p:spPr>
      </p:sp>
      <p:sp>
        <p:nvSpPr>
          <p:cNvPr id="29" name="Element Wein"/>
          <p:cNvSpPr txBox="1"/>
          <p:nvPr/>
        </p:nvSpPr>
        <p:spPr>
          <a:xfrm>
            <a:off x="2980944" y="3035808"/>
            <a:ext cx="530352" cy="329184"/>
          </a:xfrm>
          <a:prstGeom prst="roundRect">
            <a:avLst>
              <a:gd name="adj" fmla="val 22222"/>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200" b="1" dirty="0">
                <a:solidFill>
                  <a:schemeClr val="bg1"/>
                </a:solidFill>
              </a:rPr>
              <a:t>Wein</a:t>
            </a:r>
            <a:endParaRPr lang="en-US" sz="1200" dirty="0"/>
          </a:p>
        </p:txBody>
      </p:sp>
      <p:sp>
        <p:nvSpPr>
          <p:cNvPr id="30" name="Text 28"/>
          <p:cNvSpPr txBox="1"/>
          <p:nvPr/>
        </p:nvSpPr>
        <p:spPr>
          <a:xfrm>
            <a:off x="2642616"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hilf</a:t>
            </a:r>
            <a:endParaRPr lang="en-US" sz="1200" dirty="0"/>
          </a:p>
        </p:txBody>
      </p:sp>
      <p:sp>
        <p:nvSpPr>
          <p:cNvPr id="31" name="Text 29"/>
          <p:cNvSpPr txBox="1"/>
          <p:nvPr/>
        </p:nvSpPr>
        <p:spPr>
          <a:xfrm>
            <a:off x="2221992" y="3767328"/>
            <a:ext cx="1371600" cy="41148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k = Wein</a:t>
            </a:r>
            <a:endParaRPr lang="en-US" sz="1100" dirty="0"/>
          </a:p>
          <a:p>
            <a:pPr indent="0" marL="0">
              <a:buNone/>
            </a:pPr>
            <a:r>
              <a:rPr lang="en-US" sz="1100" dirty="0">
                <a:solidFill>
                  <a:schemeClr val="tx1"/>
                </a:solidFill>
                <a:latin typeface="Consolas" pitchFamily="34" charset="0"/>
                <a:ea typeface="Consolas" pitchFamily="34" charset="-122"/>
                <a:cs typeface="Consolas" pitchFamily="34" charset="-120"/>
              </a:rPr>
              <a:t>gefunden = false</a:t>
            </a:r>
            <a:endParaRPr lang="en-US" sz="1100" dirty="0"/>
          </a:p>
        </p:txBody>
      </p:sp>
      <p:sp>
        <p:nvSpPr>
          <p:cNvPr id="32" name="Schritt 2"/>
          <p:cNvSpPr/>
          <p:nvPr/>
        </p:nvSpPr>
        <p:spPr>
          <a:xfrm>
            <a:off x="3749040" y="1325880"/>
            <a:ext cx="1481328" cy="2880360"/>
          </a:xfrm>
          <a:prstGeom prst="roundRect">
            <a:avLst>
              <a:gd name="adj" fmla="val 740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33" name="Text 31"/>
          <p:cNvSpPr txBox="1"/>
          <p:nvPr/>
        </p:nvSpPr>
        <p:spPr>
          <a:xfrm>
            <a:off x="3749040" y="1389888"/>
            <a:ext cx="1481328" cy="292608"/>
          </a:xfrm>
          <a:prstGeom prst="rect">
            <a:avLst/>
          </a:prstGeom>
          <a:noFill/>
          <a:ln/>
        </p:spPr>
        <p:txBody>
          <a:bodyPr wrap="square" lIns="0" tIns="0" rIns="0" bIns="0" rtlCol="0" anchor="t"/>
          <a:lstStyle/>
          <a:p>
            <a:pPr algn="ctr" indent="0" marL="0">
              <a:buNone/>
            </a:pPr>
            <a:r>
              <a:rPr lang="en-US" sz="1400" b="1" dirty="0">
                <a:solidFill>
                  <a:schemeClr val="accent1"/>
                </a:solidFill>
              </a:rPr>
              <a:t>abbauen</a:t>
            </a:r>
            <a:endParaRPr lang="en-US" sz="1400" dirty="0"/>
          </a:p>
        </p:txBody>
      </p:sp>
      <p:sp>
        <p:nvSpPr>
          <p:cNvPr id="34" name="Stapel Wand links"/>
          <p:cNvSpPr/>
          <p:nvPr/>
        </p:nvSpPr>
        <p:spPr>
          <a:xfrm>
            <a:off x="3803904" y="2267712"/>
            <a:ext cx="91" cy="1161288"/>
          </a:xfrm>
          <a:prstGeom prst="line">
            <a:avLst/>
          </a:prstGeom>
          <a:noFill/>
          <a:ln w="31750">
            <a:solidFill>
              <a:schemeClr val="accent1"/>
            </a:solidFill>
            <a:prstDash val="solid"/>
          </a:ln>
        </p:spPr>
      </p:sp>
      <p:sp>
        <p:nvSpPr>
          <p:cNvPr id="35" name="Stapel Boden"/>
          <p:cNvSpPr/>
          <p:nvPr/>
        </p:nvSpPr>
        <p:spPr>
          <a:xfrm>
            <a:off x="3803904" y="3429000"/>
            <a:ext cx="658368" cy="91"/>
          </a:xfrm>
          <a:prstGeom prst="line">
            <a:avLst/>
          </a:prstGeom>
          <a:noFill/>
          <a:ln w="31750">
            <a:solidFill>
              <a:schemeClr val="accent1"/>
            </a:solidFill>
            <a:prstDash val="solid"/>
          </a:ln>
        </p:spPr>
      </p:sp>
      <p:sp>
        <p:nvSpPr>
          <p:cNvPr id="36" name="Stapel Wand rechts"/>
          <p:cNvSpPr/>
          <p:nvPr/>
        </p:nvSpPr>
        <p:spPr>
          <a:xfrm>
            <a:off x="4462272" y="2267712"/>
            <a:ext cx="91" cy="1161288"/>
          </a:xfrm>
          <a:prstGeom prst="line">
            <a:avLst/>
          </a:prstGeom>
          <a:noFill/>
          <a:ln w="31750">
            <a:solidFill>
              <a:schemeClr val="accent1"/>
            </a:solidFill>
            <a:prstDash val="solid"/>
          </a:ln>
        </p:spPr>
      </p:sp>
      <p:sp>
        <p:nvSpPr>
          <p:cNvPr id="37" name="Element Holz"/>
          <p:cNvSpPr txBox="1"/>
          <p:nvPr/>
        </p:nvSpPr>
        <p:spPr>
          <a:xfrm>
            <a:off x="3867912" y="3035808"/>
            <a:ext cx="530352" cy="329184"/>
          </a:xfrm>
          <a:prstGeom prst="roundRect">
            <a:avLst>
              <a:gd name="adj" fmla="val 22222"/>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200" b="1" dirty="0">
                <a:solidFill>
                  <a:schemeClr val="accent1"/>
                </a:solidFill>
              </a:rPr>
              <a:t>Holz</a:t>
            </a:r>
            <a:endParaRPr lang="en-US" sz="1200" dirty="0"/>
          </a:p>
        </p:txBody>
      </p:sp>
      <p:sp>
        <p:nvSpPr>
          <p:cNvPr id="38" name="Text 36"/>
          <p:cNvSpPr txBox="1"/>
          <p:nvPr/>
        </p:nvSpPr>
        <p:spPr>
          <a:xfrm>
            <a:off x="3529584"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s</a:t>
            </a:r>
            <a:endParaRPr lang="en-US" sz="1200" dirty="0"/>
          </a:p>
        </p:txBody>
      </p:sp>
      <p:sp>
        <p:nvSpPr>
          <p:cNvPr id="39" name="Stapel Wand links"/>
          <p:cNvSpPr/>
          <p:nvPr/>
        </p:nvSpPr>
        <p:spPr>
          <a:xfrm>
            <a:off x="4517136" y="2267712"/>
            <a:ext cx="91" cy="1161288"/>
          </a:xfrm>
          <a:prstGeom prst="line">
            <a:avLst/>
          </a:prstGeom>
          <a:noFill/>
          <a:ln w="31750">
            <a:solidFill>
              <a:schemeClr val="accent1"/>
            </a:solidFill>
            <a:prstDash val="solid"/>
          </a:ln>
        </p:spPr>
      </p:sp>
      <p:sp>
        <p:nvSpPr>
          <p:cNvPr id="40" name="Stapel Boden"/>
          <p:cNvSpPr/>
          <p:nvPr/>
        </p:nvSpPr>
        <p:spPr>
          <a:xfrm>
            <a:off x="4517136" y="3429000"/>
            <a:ext cx="658368" cy="91"/>
          </a:xfrm>
          <a:prstGeom prst="line">
            <a:avLst/>
          </a:prstGeom>
          <a:noFill/>
          <a:ln w="31750">
            <a:solidFill>
              <a:schemeClr val="accent1"/>
            </a:solidFill>
            <a:prstDash val="solid"/>
          </a:ln>
        </p:spPr>
      </p:sp>
      <p:sp>
        <p:nvSpPr>
          <p:cNvPr id="41" name="Stapel Wand rechts"/>
          <p:cNvSpPr/>
          <p:nvPr/>
        </p:nvSpPr>
        <p:spPr>
          <a:xfrm>
            <a:off x="5175504" y="2267712"/>
            <a:ext cx="91" cy="1161288"/>
          </a:xfrm>
          <a:prstGeom prst="line">
            <a:avLst/>
          </a:prstGeom>
          <a:noFill/>
          <a:ln w="31750">
            <a:solidFill>
              <a:schemeClr val="accent1"/>
            </a:solidFill>
            <a:prstDash val="solid"/>
          </a:ln>
        </p:spPr>
      </p:sp>
      <p:sp>
        <p:nvSpPr>
          <p:cNvPr id="42" name="Element Wein"/>
          <p:cNvSpPr txBox="1"/>
          <p:nvPr/>
        </p:nvSpPr>
        <p:spPr>
          <a:xfrm>
            <a:off x="4581144" y="3035808"/>
            <a:ext cx="530352" cy="329184"/>
          </a:xfrm>
          <a:prstGeom prst="roundRect">
            <a:avLst>
              <a:gd name="adj" fmla="val 22222"/>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200" b="1" dirty="0">
                <a:solidFill>
                  <a:schemeClr val="accent1"/>
                </a:solidFill>
              </a:rPr>
              <a:t>Wein</a:t>
            </a:r>
            <a:endParaRPr lang="en-US" sz="1200" dirty="0"/>
          </a:p>
        </p:txBody>
      </p:sp>
      <p:sp>
        <p:nvSpPr>
          <p:cNvPr id="43" name="Element Gold"/>
          <p:cNvSpPr txBox="1"/>
          <p:nvPr/>
        </p:nvSpPr>
        <p:spPr>
          <a:xfrm>
            <a:off x="4581144" y="2670048"/>
            <a:ext cx="530352" cy="329184"/>
          </a:xfrm>
          <a:prstGeom prst="roundRect">
            <a:avLst>
              <a:gd name="adj" fmla="val 22222"/>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200" b="1" dirty="0">
                <a:solidFill>
                  <a:schemeClr val="bg1"/>
                </a:solidFill>
              </a:rPr>
              <a:t>Gold</a:t>
            </a:r>
            <a:endParaRPr lang="en-US" sz="1200" dirty="0"/>
          </a:p>
        </p:txBody>
      </p:sp>
      <p:sp>
        <p:nvSpPr>
          <p:cNvPr id="44" name="Text 42"/>
          <p:cNvSpPr txBox="1"/>
          <p:nvPr/>
        </p:nvSpPr>
        <p:spPr>
          <a:xfrm>
            <a:off x="4242816"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hilf</a:t>
            </a:r>
            <a:endParaRPr lang="en-US" sz="1200" dirty="0"/>
          </a:p>
        </p:txBody>
      </p:sp>
      <p:sp>
        <p:nvSpPr>
          <p:cNvPr id="45" name="Text 43"/>
          <p:cNvSpPr txBox="1"/>
          <p:nvPr/>
        </p:nvSpPr>
        <p:spPr>
          <a:xfrm>
            <a:off x="3822192" y="3767328"/>
            <a:ext cx="1371600" cy="41148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k = Gold</a:t>
            </a:r>
            <a:endParaRPr lang="en-US" sz="1100" dirty="0"/>
          </a:p>
          <a:p>
            <a:pPr indent="0" marL="0">
              <a:buNone/>
            </a:pPr>
            <a:r>
              <a:rPr lang="en-US" sz="1100" dirty="0">
                <a:solidFill>
                  <a:schemeClr val="accent3"/>
                </a:solidFill>
                <a:latin typeface="Consolas" pitchFamily="34" charset="0"/>
                <a:ea typeface="Consolas" pitchFamily="34" charset="-122"/>
                <a:cs typeface="Consolas" pitchFamily="34" charset="-120"/>
              </a:rPr>
              <a:t>gefunden = true</a:t>
            </a:r>
            <a:endParaRPr lang="en-US" sz="1100" dirty="0"/>
          </a:p>
        </p:txBody>
      </p:sp>
      <p:sp>
        <p:nvSpPr>
          <p:cNvPr id="46" name="Schritt 3"/>
          <p:cNvSpPr/>
          <p:nvPr/>
        </p:nvSpPr>
        <p:spPr>
          <a:xfrm>
            <a:off x="5349240" y="1325880"/>
            <a:ext cx="1481328" cy="2880360"/>
          </a:xfrm>
          <a:prstGeom prst="roundRect">
            <a:avLst>
              <a:gd name="adj" fmla="val 740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47" name="Text 45"/>
          <p:cNvSpPr txBox="1"/>
          <p:nvPr/>
        </p:nvSpPr>
        <p:spPr>
          <a:xfrm>
            <a:off x="5349240" y="1389888"/>
            <a:ext cx="1481328" cy="292608"/>
          </a:xfrm>
          <a:prstGeom prst="rect">
            <a:avLst/>
          </a:prstGeom>
          <a:noFill/>
          <a:ln/>
        </p:spPr>
        <p:txBody>
          <a:bodyPr wrap="square" lIns="0" tIns="0" rIns="0" bIns="0" rtlCol="0" anchor="t"/>
          <a:lstStyle/>
          <a:p>
            <a:pPr algn="ctr" indent="0" marL="0">
              <a:buNone/>
            </a:pPr>
            <a:r>
              <a:rPr lang="en-US" sz="1400" b="1" dirty="0">
                <a:solidFill>
                  <a:schemeClr val="accent1"/>
                </a:solidFill>
              </a:rPr>
              <a:t>abbauen</a:t>
            </a:r>
            <a:endParaRPr lang="en-US" sz="1400" dirty="0"/>
          </a:p>
        </p:txBody>
      </p:sp>
      <p:sp>
        <p:nvSpPr>
          <p:cNvPr id="48" name="Stapel Wand links"/>
          <p:cNvSpPr/>
          <p:nvPr/>
        </p:nvSpPr>
        <p:spPr>
          <a:xfrm>
            <a:off x="5404104" y="2267712"/>
            <a:ext cx="91" cy="1161288"/>
          </a:xfrm>
          <a:prstGeom prst="line">
            <a:avLst/>
          </a:prstGeom>
          <a:noFill/>
          <a:ln w="31750">
            <a:solidFill>
              <a:schemeClr val="accent1"/>
            </a:solidFill>
            <a:prstDash val="solid"/>
          </a:ln>
        </p:spPr>
      </p:sp>
      <p:sp>
        <p:nvSpPr>
          <p:cNvPr id="49" name="Stapel Boden"/>
          <p:cNvSpPr/>
          <p:nvPr/>
        </p:nvSpPr>
        <p:spPr>
          <a:xfrm>
            <a:off x="5404104" y="3429000"/>
            <a:ext cx="658368" cy="91"/>
          </a:xfrm>
          <a:prstGeom prst="line">
            <a:avLst/>
          </a:prstGeom>
          <a:noFill/>
          <a:ln w="31750">
            <a:solidFill>
              <a:schemeClr val="accent1"/>
            </a:solidFill>
            <a:prstDash val="solid"/>
          </a:ln>
        </p:spPr>
      </p:sp>
      <p:sp>
        <p:nvSpPr>
          <p:cNvPr id="50" name="Stapel Wand rechts"/>
          <p:cNvSpPr/>
          <p:nvPr/>
        </p:nvSpPr>
        <p:spPr>
          <a:xfrm>
            <a:off x="6062472" y="2267712"/>
            <a:ext cx="91" cy="1161288"/>
          </a:xfrm>
          <a:prstGeom prst="line">
            <a:avLst/>
          </a:prstGeom>
          <a:noFill/>
          <a:ln w="31750">
            <a:solidFill>
              <a:schemeClr val="accent1"/>
            </a:solidFill>
            <a:prstDash val="solid"/>
          </a:ln>
        </p:spPr>
      </p:sp>
      <p:sp>
        <p:nvSpPr>
          <p:cNvPr id="51" name="Text 49"/>
          <p:cNvSpPr txBox="1"/>
          <p:nvPr/>
        </p:nvSpPr>
        <p:spPr>
          <a:xfrm>
            <a:off x="5404104" y="3035808"/>
            <a:ext cx="658368" cy="329184"/>
          </a:xfrm>
          <a:prstGeom prst="rect">
            <a:avLst/>
          </a:prstGeom>
          <a:noFill/>
          <a:ln/>
        </p:spPr>
        <p:txBody>
          <a:bodyPr wrap="square" lIns="0" tIns="0" rIns="0" bIns="0" rtlCol="0" anchor="ctr"/>
          <a:lstStyle/>
          <a:p>
            <a:pPr algn="ctr" indent="0" marL="0">
              <a:buNone/>
            </a:pPr>
            <a:r>
              <a:rPr lang="en-US" sz="1200" dirty="0">
                <a:solidFill>
                  <a:srgbClr val="A6A6A6"/>
                </a:solidFill>
              </a:rPr>
              <a:t>–</a:t>
            </a:r>
            <a:endParaRPr lang="en-US" sz="1200" dirty="0"/>
          </a:p>
        </p:txBody>
      </p:sp>
      <p:sp>
        <p:nvSpPr>
          <p:cNvPr id="52" name="Text 50"/>
          <p:cNvSpPr txBox="1"/>
          <p:nvPr/>
        </p:nvSpPr>
        <p:spPr>
          <a:xfrm>
            <a:off x="5129784"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s</a:t>
            </a:r>
            <a:endParaRPr lang="en-US" sz="1200" dirty="0"/>
          </a:p>
        </p:txBody>
      </p:sp>
      <p:sp>
        <p:nvSpPr>
          <p:cNvPr id="53" name="Stapel Wand links"/>
          <p:cNvSpPr/>
          <p:nvPr/>
        </p:nvSpPr>
        <p:spPr>
          <a:xfrm>
            <a:off x="6117336" y="2267712"/>
            <a:ext cx="91" cy="1161288"/>
          </a:xfrm>
          <a:prstGeom prst="line">
            <a:avLst/>
          </a:prstGeom>
          <a:noFill/>
          <a:ln w="31750">
            <a:solidFill>
              <a:schemeClr val="accent1"/>
            </a:solidFill>
            <a:prstDash val="solid"/>
          </a:ln>
        </p:spPr>
      </p:sp>
      <p:sp>
        <p:nvSpPr>
          <p:cNvPr id="54" name="Stapel Boden"/>
          <p:cNvSpPr/>
          <p:nvPr/>
        </p:nvSpPr>
        <p:spPr>
          <a:xfrm>
            <a:off x="6117336" y="3429000"/>
            <a:ext cx="658368" cy="91"/>
          </a:xfrm>
          <a:prstGeom prst="line">
            <a:avLst/>
          </a:prstGeom>
          <a:noFill/>
          <a:ln w="31750">
            <a:solidFill>
              <a:schemeClr val="accent1"/>
            </a:solidFill>
            <a:prstDash val="solid"/>
          </a:ln>
        </p:spPr>
      </p:sp>
      <p:sp>
        <p:nvSpPr>
          <p:cNvPr id="55" name="Stapel Wand rechts"/>
          <p:cNvSpPr/>
          <p:nvPr/>
        </p:nvSpPr>
        <p:spPr>
          <a:xfrm>
            <a:off x="6775704" y="2267712"/>
            <a:ext cx="91" cy="1161288"/>
          </a:xfrm>
          <a:prstGeom prst="line">
            <a:avLst/>
          </a:prstGeom>
          <a:noFill/>
          <a:ln w="31750">
            <a:solidFill>
              <a:schemeClr val="accent1"/>
            </a:solidFill>
            <a:prstDash val="solid"/>
          </a:ln>
        </p:spPr>
      </p:sp>
      <p:sp>
        <p:nvSpPr>
          <p:cNvPr id="56" name="Element Wein"/>
          <p:cNvSpPr txBox="1"/>
          <p:nvPr/>
        </p:nvSpPr>
        <p:spPr>
          <a:xfrm>
            <a:off x="6181344" y="3035808"/>
            <a:ext cx="530352" cy="329184"/>
          </a:xfrm>
          <a:prstGeom prst="roundRect">
            <a:avLst>
              <a:gd name="adj" fmla="val 22222"/>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200" b="1" dirty="0">
                <a:solidFill>
                  <a:schemeClr val="accent1"/>
                </a:solidFill>
              </a:rPr>
              <a:t>Wein</a:t>
            </a:r>
            <a:endParaRPr lang="en-US" sz="1200" dirty="0"/>
          </a:p>
        </p:txBody>
      </p:sp>
      <p:sp>
        <p:nvSpPr>
          <p:cNvPr id="57" name="Element Gold"/>
          <p:cNvSpPr txBox="1"/>
          <p:nvPr/>
        </p:nvSpPr>
        <p:spPr>
          <a:xfrm>
            <a:off x="6181344" y="2670048"/>
            <a:ext cx="530352" cy="329184"/>
          </a:xfrm>
          <a:prstGeom prst="roundRect">
            <a:avLst>
              <a:gd name="adj" fmla="val 22222"/>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200" b="1" dirty="0">
                <a:solidFill>
                  <a:schemeClr val="accent1"/>
                </a:solidFill>
              </a:rPr>
              <a:t>Gold</a:t>
            </a:r>
            <a:endParaRPr lang="en-US" sz="1200" dirty="0"/>
          </a:p>
        </p:txBody>
      </p:sp>
      <p:sp>
        <p:nvSpPr>
          <p:cNvPr id="58" name="Element Holz"/>
          <p:cNvSpPr txBox="1"/>
          <p:nvPr/>
        </p:nvSpPr>
        <p:spPr>
          <a:xfrm>
            <a:off x="6181344" y="2304288"/>
            <a:ext cx="530352" cy="329184"/>
          </a:xfrm>
          <a:prstGeom prst="roundRect">
            <a:avLst>
              <a:gd name="adj" fmla="val 22222"/>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200" b="1" dirty="0">
                <a:solidFill>
                  <a:schemeClr val="bg1"/>
                </a:solidFill>
              </a:rPr>
              <a:t>Holz</a:t>
            </a:r>
            <a:endParaRPr lang="en-US" sz="1200" dirty="0"/>
          </a:p>
        </p:txBody>
      </p:sp>
      <p:sp>
        <p:nvSpPr>
          <p:cNvPr id="59" name="Text 57"/>
          <p:cNvSpPr txBox="1"/>
          <p:nvPr/>
        </p:nvSpPr>
        <p:spPr>
          <a:xfrm>
            <a:off x="5843016"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hilf</a:t>
            </a:r>
            <a:endParaRPr lang="en-US" sz="1200" dirty="0"/>
          </a:p>
        </p:txBody>
      </p:sp>
      <p:sp>
        <p:nvSpPr>
          <p:cNvPr id="60" name="Text 58"/>
          <p:cNvSpPr txBox="1"/>
          <p:nvPr/>
        </p:nvSpPr>
        <p:spPr>
          <a:xfrm>
            <a:off x="5422392" y="3767328"/>
            <a:ext cx="1371600" cy="41148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k = Holz</a:t>
            </a:r>
            <a:endParaRPr lang="en-US" sz="1100" dirty="0"/>
          </a:p>
          <a:p>
            <a:pPr indent="0" marL="0">
              <a:buNone/>
            </a:pPr>
            <a:r>
              <a:rPr lang="en-US" sz="1100" dirty="0">
                <a:solidFill>
                  <a:schemeClr val="accent3"/>
                </a:solidFill>
                <a:latin typeface="Consolas" pitchFamily="34" charset="0"/>
                <a:ea typeface="Consolas" pitchFamily="34" charset="-122"/>
                <a:cs typeface="Consolas" pitchFamily="34" charset="-120"/>
              </a:rPr>
              <a:t>gefunden = true</a:t>
            </a:r>
            <a:endParaRPr lang="en-US" sz="1100" dirty="0"/>
          </a:p>
        </p:txBody>
      </p:sp>
      <p:sp>
        <p:nvSpPr>
          <p:cNvPr id="61" name="Schritt 4"/>
          <p:cNvSpPr/>
          <p:nvPr/>
        </p:nvSpPr>
        <p:spPr>
          <a:xfrm>
            <a:off x="6949440" y="1325880"/>
            <a:ext cx="1481328" cy="2880360"/>
          </a:xfrm>
          <a:prstGeom prst="roundRect">
            <a:avLst>
              <a:gd name="adj" fmla="val 740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62" name="Text 60"/>
          <p:cNvSpPr txBox="1"/>
          <p:nvPr/>
        </p:nvSpPr>
        <p:spPr>
          <a:xfrm>
            <a:off x="6949440" y="1389888"/>
            <a:ext cx="1481328" cy="292608"/>
          </a:xfrm>
          <a:prstGeom prst="rect">
            <a:avLst/>
          </a:prstGeom>
          <a:noFill/>
          <a:ln/>
        </p:spPr>
        <p:txBody>
          <a:bodyPr wrap="square" lIns="0" tIns="0" rIns="0" bIns="0" rtlCol="0" anchor="t"/>
          <a:lstStyle/>
          <a:p>
            <a:pPr algn="ctr" indent="0" marL="0">
              <a:buNone/>
            </a:pPr>
            <a:r>
              <a:rPr lang="en-US" sz="1400" b="1" dirty="0">
                <a:solidFill>
                  <a:schemeClr val="accent1"/>
                </a:solidFill>
              </a:rPr>
              <a:t>zurück</a:t>
            </a:r>
            <a:endParaRPr lang="en-US" sz="1400" dirty="0"/>
          </a:p>
        </p:txBody>
      </p:sp>
      <p:sp>
        <p:nvSpPr>
          <p:cNvPr id="63" name="Stapel Wand links"/>
          <p:cNvSpPr/>
          <p:nvPr/>
        </p:nvSpPr>
        <p:spPr>
          <a:xfrm>
            <a:off x="7004304" y="2267712"/>
            <a:ext cx="91" cy="1161288"/>
          </a:xfrm>
          <a:prstGeom prst="line">
            <a:avLst/>
          </a:prstGeom>
          <a:noFill/>
          <a:ln w="31750">
            <a:solidFill>
              <a:schemeClr val="accent1"/>
            </a:solidFill>
            <a:prstDash val="solid"/>
          </a:ln>
        </p:spPr>
      </p:sp>
      <p:sp>
        <p:nvSpPr>
          <p:cNvPr id="64" name="Stapel Boden"/>
          <p:cNvSpPr/>
          <p:nvPr/>
        </p:nvSpPr>
        <p:spPr>
          <a:xfrm>
            <a:off x="7004304" y="3429000"/>
            <a:ext cx="658368" cy="91"/>
          </a:xfrm>
          <a:prstGeom prst="line">
            <a:avLst/>
          </a:prstGeom>
          <a:noFill/>
          <a:ln w="31750">
            <a:solidFill>
              <a:schemeClr val="accent1"/>
            </a:solidFill>
            <a:prstDash val="solid"/>
          </a:ln>
        </p:spPr>
      </p:sp>
      <p:sp>
        <p:nvSpPr>
          <p:cNvPr id="65" name="Stapel Wand rechts"/>
          <p:cNvSpPr/>
          <p:nvPr/>
        </p:nvSpPr>
        <p:spPr>
          <a:xfrm>
            <a:off x="7662672" y="2267712"/>
            <a:ext cx="91" cy="1161288"/>
          </a:xfrm>
          <a:prstGeom prst="line">
            <a:avLst/>
          </a:prstGeom>
          <a:noFill/>
          <a:ln w="31750">
            <a:solidFill>
              <a:schemeClr val="accent1"/>
            </a:solidFill>
            <a:prstDash val="solid"/>
          </a:ln>
        </p:spPr>
      </p:sp>
      <p:sp>
        <p:nvSpPr>
          <p:cNvPr id="66" name="Element Holz"/>
          <p:cNvSpPr txBox="1"/>
          <p:nvPr/>
        </p:nvSpPr>
        <p:spPr>
          <a:xfrm>
            <a:off x="7068312" y="3035808"/>
            <a:ext cx="530352" cy="329184"/>
          </a:xfrm>
          <a:prstGeom prst="roundRect">
            <a:avLst>
              <a:gd name="adj" fmla="val 22222"/>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200" b="1" dirty="0">
                <a:solidFill>
                  <a:schemeClr val="bg1"/>
                </a:solidFill>
              </a:rPr>
              <a:t>Holz</a:t>
            </a:r>
            <a:endParaRPr lang="en-US" sz="1200" dirty="0"/>
          </a:p>
        </p:txBody>
      </p:sp>
      <p:sp>
        <p:nvSpPr>
          <p:cNvPr id="67" name="Text 65"/>
          <p:cNvSpPr txBox="1"/>
          <p:nvPr/>
        </p:nvSpPr>
        <p:spPr>
          <a:xfrm>
            <a:off x="6729984"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s</a:t>
            </a:r>
            <a:endParaRPr lang="en-US" sz="1200" dirty="0"/>
          </a:p>
        </p:txBody>
      </p:sp>
      <p:sp>
        <p:nvSpPr>
          <p:cNvPr id="68" name="Stapel Wand links"/>
          <p:cNvSpPr/>
          <p:nvPr/>
        </p:nvSpPr>
        <p:spPr>
          <a:xfrm>
            <a:off x="7717536" y="2267712"/>
            <a:ext cx="91" cy="1161288"/>
          </a:xfrm>
          <a:prstGeom prst="line">
            <a:avLst/>
          </a:prstGeom>
          <a:noFill/>
          <a:ln w="31750">
            <a:solidFill>
              <a:schemeClr val="accent1"/>
            </a:solidFill>
            <a:prstDash val="solid"/>
          </a:ln>
        </p:spPr>
      </p:sp>
      <p:sp>
        <p:nvSpPr>
          <p:cNvPr id="69" name="Stapel Boden"/>
          <p:cNvSpPr/>
          <p:nvPr/>
        </p:nvSpPr>
        <p:spPr>
          <a:xfrm>
            <a:off x="7717536" y="3429000"/>
            <a:ext cx="658368" cy="91"/>
          </a:xfrm>
          <a:prstGeom prst="line">
            <a:avLst/>
          </a:prstGeom>
          <a:noFill/>
          <a:ln w="31750">
            <a:solidFill>
              <a:schemeClr val="accent1"/>
            </a:solidFill>
            <a:prstDash val="solid"/>
          </a:ln>
        </p:spPr>
      </p:sp>
      <p:sp>
        <p:nvSpPr>
          <p:cNvPr id="70" name="Stapel Wand rechts"/>
          <p:cNvSpPr/>
          <p:nvPr/>
        </p:nvSpPr>
        <p:spPr>
          <a:xfrm>
            <a:off x="8375904" y="2267712"/>
            <a:ext cx="91" cy="1161288"/>
          </a:xfrm>
          <a:prstGeom prst="line">
            <a:avLst/>
          </a:prstGeom>
          <a:noFill/>
          <a:ln w="31750">
            <a:solidFill>
              <a:schemeClr val="accent1"/>
            </a:solidFill>
            <a:prstDash val="solid"/>
          </a:ln>
        </p:spPr>
      </p:sp>
      <p:sp>
        <p:nvSpPr>
          <p:cNvPr id="71" name="Element Wein"/>
          <p:cNvSpPr txBox="1"/>
          <p:nvPr/>
        </p:nvSpPr>
        <p:spPr>
          <a:xfrm>
            <a:off x="7781544" y="3035808"/>
            <a:ext cx="530352" cy="329184"/>
          </a:xfrm>
          <a:prstGeom prst="roundRect">
            <a:avLst>
              <a:gd name="adj" fmla="val 22222"/>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200" b="1" dirty="0">
                <a:solidFill>
                  <a:schemeClr val="accent1"/>
                </a:solidFill>
              </a:rPr>
              <a:t>Wein</a:t>
            </a:r>
            <a:endParaRPr lang="en-US" sz="1200" dirty="0"/>
          </a:p>
        </p:txBody>
      </p:sp>
      <p:sp>
        <p:nvSpPr>
          <p:cNvPr id="72" name="Element Gold"/>
          <p:cNvSpPr txBox="1"/>
          <p:nvPr/>
        </p:nvSpPr>
        <p:spPr>
          <a:xfrm>
            <a:off x="7781544" y="2670048"/>
            <a:ext cx="530352" cy="329184"/>
          </a:xfrm>
          <a:prstGeom prst="roundRect">
            <a:avLst>
              <a:gd name="adj" fmla="val 22222"/>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200" b="1" dirty="0">
                <a:solidFill>
                  <a:schemeClr val="accent1"/>
                </a:solidFill>
              </a:rPr>
              <a:t>Gold</a:t>
            </a:r>
            <a:endParaRPr lang="en-US" sz="1200" dirty="0"/>
          </a:p>
        </p:txBody>
      </p:sp>
      <p:sp>
        <p:nvSpPr>
          <p:cNvPr id="73" name="Text 71"/>
          <p:cNvSpPr txBox="1"/>
          <p:nvPr/>
        </p:nvSpPr>
        <p:spPr>
          <a:xfrm>
            <a:off x="7443216"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hilf</a:t>
            </a:r>
            <a:endParaRPr lang="en-US" sz="1200" dirty="0"/>
          </a:p>
        </p:txBody>
      </p:sp>
      <p:sp>
        <p:nvSpPr>
          <p:cNvPr id="74" name="Text 72"/>
          <p:cNvSpPr txBox="1"/>
          <p:nvPr/>
        </p:nvSpPr>
        <p:spPr>
          <a:xfrm>
            <a:off x="7022592" y="3767328"/>
            <a:ext cx="1371600" cy="41148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k = –</a:t>
            </a:r>
            <a:endParaRPr lang="en-US" sz="1100" dirty="0"/>
          </a:p>
          <a:p>
            <a:pPr indent="0" marL="0">
              <a:buNone/>
            </a:pPr>
            <a:r>
              <a:rPr lang="en-US" sz="1100" dirty="0">
                <a:solidFill>
                  <a:schemeClr val="accent3"/>
                </a:solidFill>
                <a:latin typeface="Consolas" pitchFamily="34" charset="0"/>
                <a:ea typeface="Consolas" pitchFamily="34" charset="-122"/>
                <a:cs typeface="Consolas" pitchFamily="34" charset="-120"/>
              </a:rPr>
              <a:t>gefunden = true</a:t>
            </a:r>
            <a:endParaRPr lang="en-US" sz="1100" dirty="0"/>
          </a:p>
        </p:txBody>
      </p:sp>
      <p:sp>
        <p:nvSpPr>
          <p:cNvPr id="75" name="Schritt 5"/>
          <p:cNvSpPr/>
          <p:nvPr/>
        </p:nvSpPr>
        <p:spPr>
          <a:xfrm>
            <a:off x="8549640" y="1325880"/>
            <a:ext cx="1481328" cy="2880360"/>
          </a:xfrm>
          <a:prstGeom prst="roundRect">
            <a:avLst>
              <a:gd name="adj" fmla="val 740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76" name="Text 74"/>
          <p:cNvSpPr txBox="1"/>
          <p:nvPr/>
        </p:nvSpPr>
        <p:spPr>
          <a:xfrm>
            <a:off x="8549640" y="1389888"/>
            <a:ext cx="1481328" cy="292608"/>
          </a:xfrm>
          <a:prstGeom prst="rect">
            <a:avLst/>
          </a:prstGeom>
          <a:noFill/>
          <a:ln/>
        </p:spPr>
        <p:txBody>
          <a:bodyPr wrap="square" lIns="0" tIns="0" rIns="0" bIns="0" rtlCol="0" anchor="t"/>
          <a:lstStyle/>
          <a:p>
            <a:pPr algn="ctr" indent="0" marL="0">
              <a:buNone/>
            </a:pPr>
            <a:r>
              <a:rPr lang="en-US" sz="1400" b="1" dirty="0">
                <a:solidFill>
                  <a:schemeClr val="accent1"/>
                </a:solidFill>
              </a:rPr>
              <a:t>zurück</a:t>
            </a:r>
            <a:endParaRPr lang="en-US" sz="1400" dirty="0"/>
          </a:p>
        </p:txBody>
      </p:sp>
      <p:sp>
        <p:nvSpPr>
          <p:cNvPr id="77" name="Stapel Wand links"/>
          <p:cNvSpPr/>
          <p:nvPr/>
        </p:nvSpPr>
        <p:spPr>
          <a:xfrm>
            <a:off x="8604504" y="2267712"/>
            <a:ext cx="91" cy="1161288"/>
          </a:xfrm>
          <a:prstGeom prst="line">
            <a:avLst/>
          </a:prstGeom>
          <a:noFill/>
          <a:ln w="31750">
            <a:solidFill>
              <a:schemeClr val="accent1"/>
            </a:solidFill>
            <a:prstDash val="solid"/>
          </a:ln>
        </p:spPr>
      </p:sp>
      <p:sp>
        <p:nvSpPr>
          <p:cNvPr id="78" name="Stapel Boden"/>
          <p:cNvSpPr/>
          <p:nvPr/>
        </p:nvSpPr>
        <p:spPr>
          <a:xfrm>
            <a:off x="8604504" y="3429000"/>
            <a:ext cx="658368" cy="91"/>
          </a:xfrm>
          <a:prstGeom prst="line">
            <a:avLst/>
          </a:prstGeom>
          <a:noFill/>
          <a:ln w="31750">
            <a:solidFill>
              <a:schemeClr val="accent1"/>
            </a:solidFill>
            <a:prstDash val="solid"/>
          </a:ln>
        </p:spPr>
      </p:sp>
      <p:sp>
        <p:nvSpPr>
          <p:cNvPr id="79" name="Stapel Wand rechts"/>
          <p:cNvSpPr/>
          <p:nvPr/>
        </p:nvSpPr>
        <p:spPr>
          <a:xfrm>
            <a:off x="9262872" y="2267712"/>
            <a:ext cx="91" cy="1161288"/>
          </a:xfrm>
          <a:prstGeom prst="line">
            <a:avLst/>
          </a:prstGeom>
          <a:noFill/>
          <a:ln w="31750">
            <a:solidFill>
              <a:schemeClr val="accent1"/>
            </a:solidFill>
            <a:prstDash val="solid"/>
          </a:ln>
        </p:spPr>
      </p:sp>
      <p:sp>
        <p:nvSpPr>
          <p:cNvPr id="80" name="Element Holz"/>
          <p:cNvSpPr txBox="1"/>
          <p:nvPr/>
        </p:nvSpPr>
        <p:spPr>
          <a:xfrm>
            <a:off x="8668512" y="3035808"/>
            <a:ext cx="530352" cy="329184"/>
          </a:xfrm>
          <a:prstGeom prst="roundRect">
            <a:avLst>
              <a:gd name="adj" fmla="val 22222"/>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200" b="1" dirty="0">
                <a:solidFill>
                  <a:schemeClr val="accent1"/>
                </a:solidFill>
              </a:rPr>
              <a:t>Holz</a:t>
            </a:r>
            <a:endParaRPr lang="en-US" sz="1200" dirty="0"/>
          </a:p>
        </p:txBody>
      </p:sp>
      <p:sp>
        <p:nvSpPr>
          <p:cNvPr id="81" name="Element Gold"/>
          <p:cNvSpPr txBox="1"/>
          <p:nvPr/>
        </p:nvSpPr>
        <p:spPr>
          <a:xfrm>
            <a:off x="8668512" y="2670048"/>
            <a:ext cx="530352" cy="329184"/>
          </a:xfrm>
          <a:prstGeom prst="roundRect">
            <a:avLst>
              <a:gd name="adj" fmla="val 22222"/>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200" b="1" dirty="0">
                <a:solidFill>
                  <a:schemeClr val="bg1"/>
                </a:solidFill>
              </a:rPr>
              <a:t>Gold</a:t>
            </a:r>
            <a:endParaRPr lang="en-US" sz="1200" dirty="0"/>
          </a:p>
        </p:txBody>
      </p:sp>
      <p:sp>
        <p:nvSpPr>
          <p:cNvPr id="82" name="Text 80"/>
          <p:cNvSpPr txBox="1"/>
          <p:nvPr/>
        </p:nvSpPr>
        <p:spPr>
          <a:xfrm>
            <a:off x="8330184"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s</a:t>
            </a:r>
            <a:endParaRPr lang="en-US" sz="1200" dirty="0"/>
          </a:p>
        </p:txBody>
      </p:sp>
      <p:sp>
        <p:nvSpPr>
          <p:cNvPr id="83" name="Stapel Wand links"/>
          <p:cNvSpPr/>
          <p:nvPr/>
        </p:nvSpPr>
        <p:spPr>
          <a:xfrm>
            <a:off x="9317736" y="2267712"/>
            <a:ext cx="91" cy="1161288"/>
          </a:xfrm>
          <a:prstGeom prst="line">
            <a:avLst/>
          </a:prstGeom>
          <a:noFill/>
          <a:ln w="31750">
            <a:solidFill>
              <a:schemeClr val="accent1"/>
            </a:solidFill>
            <a:prstDash val="solid"/>
          </a:ln>
        </p:spPr>
      </p:sp>
      <p:sp>
        <p:nvSpPr>
          <p:cNvPr id="84" name="Stapel Boden"/>
          <p:cNvSpPr/>
          <p:nvPr/>
        </p:nvSpPr>
        <p:spPr>
          <a:xfrm>
            <a:off x="9317736" y="3429000"/>
            <a:ext cx="658368" cy="91"/>
          </a:xfrm>
          <a:prstGeom prst="line">
            <a:avLst/>
          </a:prstGeom>
          <a:noFill/>
          <a:ln w="31750">
            <a:solidFill>
              <a:schemeClr val="accent1"/>
            </a:solidFill>
            <a:prstDash val="solid"/>
          </a:ln>
        </p:spPr>
      </p:sp>
      <p:sp>
        <p:nvSpPr>
          <p:cNvPr id="85" name="Stapel Wand rechts"/>
          <p:cNvSpPr/>
          <p:nvPr/>
        </p:nvSpPr>
        <p:spPr>
          <a:xfrm>
            <a:off x="9976104" y="2267712"/>
            <a:ext cx="91" cy="1161288"/>
          </a:xfrm>
          <a:prstGeom prst="line">
            <a:avLst/>
          </a:prstGeom>
          <a:noFill/>
          <a:ln w="31750">
            <a:solidFill>
              <a:schemeClr val="accent1"/>
            </a:solidFill>
            <a:prstDash val="solid"/>
          </a:ln>
        </p:spPr>
      </p:sp>
      <p:sp>
        <p:nvSpPr>
          <p:cNvPr id="86" name="Element Wein"/>
          <p:cNvSpPr txBox="1"/>
          <p:nvPr/>
        </p:nvSpPr>
        <p:spPr>
          <a:xfrm>
            <a:off x="9381744" y="3035808"/>
            <a:ext cx="530352" cy="329184"/>
          </a:xfrm>
          <a:prstGeom prst="roundRect">
            <a:avLst>
              <a:gd name="adj" fmla="val 22222"/>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200" b="1" dirty="0">
                <a:solidFill>
                  <a:schemeClr val="accent1"/>
                </a:solidFill>
              </a:rPr>
              <a:t>Wein</a:t>
            </a:r>
            <a:endParaRPr lang="en-US" sz="1200" dirty="0"/>
          </a:p>
        </p:txBody>
      </p:sp>
      <p:sp>
        <p:nvSpPr>
          <p:cNvPr id="87" name="Text 85"/>
          <p:cNvSpPr txBox="1"/>
          <p:nvPr/>
        </p:nvSpPr>
        <p:spPr>
          <a:xfrm>
            <a:off x="9043416"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hilf</a:t>
            </a:r>
            <a:endParaRPr lang="en-US" sz="1200" dirty="0"/>
          </a:p>
        </p:txBody>
      </p:sp>
      <p:sp>
        <p:nvSpPr>
          <p:cNvPr id="88" name="Text 86"/>
          <p:cNvSpPr txBox="1"/>
          <p:nvPr/>
        </p:nvSpPr>
        <p:spPr>
          <a:xfrm>
            <a:off x="8622792" y="3767328"/>
            <a:ext cx="1371600" cy="41148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k = –</a:t>
            </a:r>
            <a:endParaRPr lang="en-US" sz="1100" dirty="0"/>
          </a:p>
          <a:p>
            <a:pPr indent="0" marL="0">
              <a:buNone/>
            </a:pPr>
            <a:r>
              <a:rPr lang="en-US" sz="1100" dirty="0">
                <a:solidFill>
                  <a:schemeClr val="accent3"/>
                </a:solidFill>
                <a:latin typeface="Consolas" pitchFamily="34" charset="0"/>
                <a:ea typeface="Consolas" pitchFamily="34" charset="-122"/>
                <a:cs typeface="Consolas" pitchFamily="34" charset="-120"/>
              </a:rPr>
              <a:t>gefunden = true</a:t>
            </a:r>
            <a:endParaRPr lang="en-US" sz="1100" dirty="0"/>
          </a:p>
        </p:txBody>
      </p:sp>
      <p:sp>
        <p:nvSpPr>
          <p:cNvPr id="89" name="Schritt 6"/>
          <p:cNvSpPr/>
          <p:nvPr/>
        </p:nvSpPr>
        <p:spPr>
          <a:xfrm>
            <a:off x="10149840" y="1325880"/>
            <a:ext cx="1481328" cy="2880360"/>
          </a:xfrm>
          <a:prstGeom prst="roundRect">
            <a:avLst>
              <a:gd name="adj" fmla="val 7407"/>
            </a:avLst>
          </a:prstGeom>
          <a:solidFill>
            <a:schemeClr val="bg1"/>
          </a:solidFill>
          <a:ln w="19050">
            <a:solidFill>
              <a:schemeClr val="accent3"/>
            </a:solidFill>
            <a:prstDash val="solid"/>
          </a:ln>
          <a:effectLst>
            <a:outerShdw sx="100000" sy="100000" kx="0" ky="0" algn="bl" rotWithShape="0" blurRad="76200" dist="25400" dir="5400000">
              <a:srgbClr val="000000">
                <a:alpha val="18000"/>
              </a:srgbClr>
            </a:outerShdw>
          </a:effectLst>
        </p:spPr>
      </p:sp>
      <p:sp>
        <p:nvSpPr>
          <p:cNvPr id="90" name="Text 88"/>
          <p:cNvSpPr txBox="1"/>
          <p:nvPr/>
        </p:nvSpPr>
        <p:spPr>
          <a:xfrm>
            <a:off x="10149840" y="1389888"/>
            <a:ext cx="1481328" cy="292608"/>
          </a:xfrm>
          <a:prstGeom prst="rect">
            <a:avLst/>
          </a:prstGeom>
          <a:noFill/>
          <a:ln/>
        </p:spPr>
        <p:txBody>
          <a:bodyPr wrap="square" lIns="0" tIns="0" rIns="0" bIns="0" rtlCol="0" anchor="t"/>
          <a:lstStyle/>
          <a:p>
            <a:pPr algn="ctr" indent="0" marL="0">
              <a:buNone/>
            </a:pPr>
            <a:r>
              <a:rPr lang="en-US" sz="1400" b="1" dirty="0">
                <a:solidFill>
                  <a:schemeClr val="accent1"/>
                </a:solidFill>
              </a:rPr>
              <a:t>zurück</a:t>
            </a:r>
            <a:endParaRPr lang="en-US" sz="1400" dirty="0"/>
          </a:p>
        </p:txBody>
      </p:sp>
      <p:sp>
        <p:nvSpPr>
          <p:cNvPr id="91" name="Stapel Wand links"/>
          <p:cNvSpPr/>
          <p:nvPr/>
        </p:nvSpPr>
        <p:spPr>
          <a:xfrm>
            <a:off x="10204704" y="2267712"/>
            <a:ext cx="91" cy="1161288"/>
          </a:xfrm>
          <a:prstGeom prst="line">
            <a:avLst/>
          </a:prstGeom>
          <a:noFill/>
          <a:ln w="31750">
            <a:solidFill>
              <a:schemeClr val="accent1"/>
            </a:solidFill>
            <a:prstDash val="solid"/>
          </a:ln>
        </p:spPr>
      </p:sp>
      <p:sp>
        <p:nvSpPr>
          <p:cNvPr id="92" name="Stapel Boden"/>
          <p:cNvSpPr/>
          <p:nvPr/>
        </p:nvSpPr>
        <p:spPr>
          <a:xfrm>
            <a:off x="10204704" y="3429000"/>
            <a:ext cx="658368" cy="91"/>
          </a:xfrm>
          <a:prstGeom prst="line">
            <a:avLst/>
          </a:prstGeom>
          <a:noFill/>
          <a:ln w="31750">
            <a:solidFill>
              <a:schemeClr val="accent1"/>
            </a:solidFill>
            <a:prstDash val="solid"/>
          </a:ln>
        </p:spPr>
      </p:sp>
      <p:sp>
        <p:nvSpPr>
          <p:cNvPr id="93" name="Stapel Wand rechts"/>
          <p:cNvSpPr/>
          <p:nvPr/>
        </p:nvSpPr>
        <p:spPr>
          <a:xfrm>
            <a:off x="10863072" y="2267712"/>
            <a:ext cx="91" cy="1161288"/>
          </a:xfrm>
          <a:prstGeom prst="line">
            <a:avLst/>
          </a:prstGeom>
          <a:noFill/>
          <a:ln w="31750">
            <a:solidFill>
              <a:schemeClr val="accent1"/>
            </a:solidFill>
            <a:prstDash val="solid"/>
          </a:ln>
        </p:spPr>
      </p:sp>
      <p:sp>
        <p:nvSpPr>
          <p:cNvPr id="94" name="Element Holz"/>
          <p:cNvSpPr txBox="1"/>
          <p:nvPr/>
        </p:nvSpPr>
        <p:spPr>
          <a:xfrm>
            <a:off x="10268712" y="3035808"/>
            <a:ext cx="530352" cy="329184"/>
          </a:xfrm>
          <a:prstGeom prst="roundRect">
            <a:avLst>
              <a:gd name="adj" fmla="val 22222"/>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200" b="1" dirty="0">
                <a:solidFill>
                  <a:schemeClr val="accent1"/>
                </a:solidFill>
              </a:rPr>
              <a:t>Holz</a:t>
            </a:r>
            <a:endParaRPr lang="en-US" sz="1200" dirty="0"/>
          </a:p>
        </p:txBody>
      </p:sp>
      <p:sp>
        <p:nvSpPr>
          <p:cNvPr id="95" name="Element Gold"/>
          <p:cNvSpPr txBox="1"/>
          <p:nvPr/>
        </p:nvSpPr>
        <p:spPr>
          <a:xfrm>
            <a:off x="10268712" y="2670048"/>
            <a:ext cx="530352" cy="329184"/>
          </a:xfrm>
          <a:prstGeom prst="roundRect">
            <a:avLst>
              <a:gd name="adj" fmla="val 22222"/>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200" b="1" dirty="0">
                <a:solidFill>
                  <a:schemeClr val="accent1"/>
                </a:solidFill>
              </a:rPr>
              <a:t>Gold</a:t>
            </a:r>
            <a:endParaRPr lang="en-US" sz="1200" dirty="0"/>
          </a:p>
        </p:txBody>
      </p:sp>
      <p:sp>
        <p:nvSpPr>
          <p:cNvPr id="96" name="Element Wein"/>
          <p:cNvSpPr txBox="1"/>
          <p:nvPr/>
        </p:nvSpPr>
        <p:spPr>
          <a:xfrm>
            <a:off x="10268712" y="2304288"/>
            <a:ext cx="530352" cy="329184"/>
          </a:xfrm>
          <a:prstGeom prst="roundRect">
            <a:avLst>
              <a:gd name="adj" fmla="val 22222"/>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200" b="1" dirty="0">
                <a:solidFill>
                  <a:schemeClr val="bg1"/>
                </a:solidFill>
              </a:rPr>
              <a:t>Wein</a:t>
            </a:r>
            <a:endParaRPr lang="en-US" sz="1200" dirty="0"/>
          </a:p>
        </p:txBody>
      </p:sp>
      <p:sp>
        <p:nvSpPr>
          <p:cNvPr id="97" name="Text 95"/>
          <p:cNvSpPr txBox="1"/>
          <p:nvPr/>
        </p:nvSpPr>
        <p:spPr>
          <a:xfrm>
            <a:off x="9930384"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s</a:t>
            </a:r>
            <a:endParaRPr lang="en-US" sz="1200" dirty="0"/>
          </a:p>
        </p:txBody>
      </p:sp>
      <p:sp>
        <p:nvSpPr>
          <p:cNvPr id="98" name="Stapel Wand links"/>
          <p:cNvSpPr/>
          <p:nvPr/>
        </p:nvSpPr>
        <p:spPr>
          <a:xfrm>
            <a:off x="10917936" y="2267712"/>
            <a:ext cx="91" cy="1161288"/>
          </a:xfrm>
          <a:prstGeom prst="line">
            <a:avLst/>
          </a:prstGeom>
          <a:noFill/>
          <a:ln w="31750">
            <a:solidFill>
              <a:schemeClr val="accent1"/>
            </a:solidFill>
            <a:prstDash val="solid"/>
          </a:ln>
        </p:spPr>
      </p:sp>
      <p:sp>
        <p:nvSpPr>
          <p:cNvPr id="99" name="Stapel Boden"/>
          <p:cNvSpPr/>
          <p:nvPr/>
        </p:nvSpPr>
        <p:spPr>
          <a:xfrm>
            <a:off x="10917936" y="3429000"/>
            <a:ext cx="658368" cy="91"/>
          </a:xfrm>
          <a:prstGeom prst="line">
            <a:avLst/>
          </a:prstGeom>
          <a:noFill/>
          <a:ln w="31750">
            <a:solidFill>
              <a:schemeClr val="accent1"/>
            </a:solidFill>
            <a:prstDash val="solid"/>
          </a:ln>
        </p:spPr>
      </p:sp>
      <p:sp>
        <p:nvSpPr>
          <p:cNvPr id="100" name="Stapel Wand rechts"/>
          <p:cNvSpPr/>
          <p:nvPr/>
        </p:nvSpPr>
        <p:spPr>
          <a:xfrm>
            <a:off x="11576304" y="2267712"/>
            <a:ext cx="91" cy="1161288"/>
          </a:xfrm>
          <a:prstGeom prst="line">
            <a:avLst/>
          </a:prstGeom>
          <a:noFill/>
          <a:ln w="31750">
            <a:solidFill>
              <a:schemeClr val="accent1"/>
            </a:solidFill>
            <a:prstDash val="solid"/>
          </a:ln>
        </p:spPr>
      </p:sp>
      <p:sp>
        <p:nvSpPr>
          <p:cNvPr id="101" name="Text 99"/>
          <p:cNvSpPr txBox="1"/>
          <p:nvPr/>
        </p:nvSpPr>
        <p:spPr>
          <a:xfrm>
            <a:off x="10917936" y="3035808"/>
            <a:ext cx="658368" cy="329184"/>
          </a:xfrm>
          <a:prstGeom prst="rect">
            <a:avLst/>
          </a:prstGeom>
          <a:noFill/>
          <a:ln/>
        </p:spPr>
        <p:txBody>
          <a:bodyPr wrap="square" lIns="0" tIns="0" rIns="0" bIns="0" rtlCol="0" anchor="ctr"/>
          <a:lstStyle/>
          <a:p>
            <a:pPr algn="ctr" indent="0" marL="0">
              <a:buNone/>
            </a:pPr>
            <a:r>
              <a:rPr lang="en-US" sz="1200" dirty="0">
                <a:solidFill>
                  <a:srgbClr val="A6A6A6"/>
                </a:solidFill>
              </a:rPr>
              <a:t>–</a:t>
            </a:r>
            <a:endParaRPr lang="en-US" sz="1200" dirty="0"/>
          </a:p>
        </p:txBody>
      </p:sp>
      <p:sp>
        <p:nvSpPr>
          <p:cNvPr id="102" name="Text 100"/>
          <p:cNvSpPr txBox="1"/>
          <p:nvPr/>
        </p:nvSpPr>
        <p:spPr>
          <a:xfrm>
            <a:off x="10643616" y="3474720"/>
            <a:ext cx="1207008"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hilf</a:t>
            </a:r>
            <a:endParaRPr lang="en-US" sz="1200" dirty="0"/>
          </a:p>
        </p:txBody>
      </p:sp>
      <p:sp>
        <p:nvSpPr>
          <p:cNvPr id="103" name="Text 101"/>
          <p:cNvSpPr txBox="1"/>
          <p:nvPr/>
        </p:nvSpPr>
        <p:spPr>
          <a:xfrm>
            <a:off x="10222992" y="3767328"/>
            <a:ext cx="1371600" cy="41148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k = –</a:t>
            </a:r>
            <a:endParaRPr lang="en-US" sz="1100" dirty="0"/>
          </a:p>
          <a:p>
            <a:pPr indent="0" marL="0">
              <a:buNone/>
            </a:pPr>
            <a:r>
              <a:rPr lang="en-US" sz="1100" dirty="0">
                <a:solidFill>
                  <a:schemeClr val="accent3"/>
                </a:solidFill>
                <a:latin typeface="Consolas" pitchFamily="34" charset="0"/>
                <a:ea typeface="Consolas" pitchFamily="34" charset="-122"/>
                <a:cs typeface="Consolas" pitchFamily="34" charset="-120"/>
              </a:rPr>
              <a:t>gefunden = true</a:t>
            </a:r>
            <a:endParaRPr lang="en-US" sz="1100" dirty="0"/>
          </a:p>
        </p:txBody>
      </p:sp>
      <p:sp>
        <p:nvSpPr>
          <p:cNvPr id="104" name="Chip"/>
          <p:cNvSpPr txBox="1"/>
          <p:nvPr/>
        </p:nvSpPr>
        <p:spPr>
          <a:xfrm>
            <a:off x="2148840" y="4315968"/>
            <a:ext cx="4681728"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Phase 1: pop von s · auswerten · push auf hilf</a:t>
            </a:r>
            <a:endParaRPr lang="en-US" sz="1400" dirty="0"/>
          </a:p>
        </p:txBody>
      </p:sp>
      <p:sp>
        <p:nvSpPr>
          <p:cNvPr id="105" name="Chip"/>
          <p:cNvSpPr txBox="1"/>
          <p:nvPr/>
        </p:nvSpPr>
        <p:spPr>
          <a:xfrm>
            <a:off x="6949440" y="4315968"/>
            <a:ext cx="4681728" cy="384048"/>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Phase 2: pop von hilf · push auf s</a:t>
            </a:r>
            <a:endParaRPr lang="en-US" sz="1400" dirty="0"/>
          </a:p>
        </p:txBody>
      </p:sp>
      <p:sp>
        <p:nvSpPr>
          <p:cNvPr id="106" name="Ergebnis enthaelt"/>
          <p:cNvSpPr/>
          <p:nvPr/>
        </p:nvSpPr>
        <p:spPr>
          <a:xfrm>
            <a:off x="548640" y="4937760"/>
            <a:ext cx="5440680" cy="1188720"/>
          </a:xfrm>
          <a:prstGeom prst="roundRect">
            <a:avLst>
              <a:gd name="adj" fmla="val 9231"/>
            </a:avLst>
          </a:prstGeom>
          <a:solidFill>
            <a:schemeClr val="bg1"/>
          </a:solidFill>
          <a:ln w="25400">
            <a:solidFill>
              <a:schemeClr val="accent3"/>
            </a:solidFill>
            <a:prstDash val="solid"/>
          </a:ln>
        </p:spPr>
      </p:sp>
      <p:sp>
        <p:nvSpPr>
          <p:cNvPr id="107" name="Text 105"/>
          <p:cNvSpPr txBox="1"/>
          <p:nvPr/>
        </p:nvSpPr>
        <p:spPr>
          <a:xfrm>
            <a:off x="749808" y="4937760"/>
            <a:ext cx="5074920" cy="1188720"/>
          </a:xfrm>
          <a:prstGeom prst="rect">
            <a:avLst/>
          </a:prstGeom>
          <a:noFill/>
          <a:ln/>
        </p:spPr>
        <p:txBody>
          <a:bodyPr wrap="square" lIns="0" tIns="0" rIns="0" bIns="0" rtlCol="0" anchor="ctr"/>
          <a:lstStyle/>
          <a:p>
            <a:pPr indent="0" marL="0">
              <a:buNone/>
            </a:pPr>
            <a:r>
              <a:rPr lang="en-US" sz="1500" b="1" dirty="0">
                <a:solidFill>
                  <a:schemeClr val="accent3"/>
                </a:solidFill>
                <a:latin typeface="Consolas" pitchFamily="34" charset="0"/>
                <a:ea typeface="Consolas" pitchFamily="34" charset="-122"/>
                <a:cs typeface="Consolas" pitchFamily="34" charset="-120"/>
              </a:rPr>
              <a:t>enthaelt(s, "Gold")</a:t>
            </a:r>
            <a:pPr indent="0" marL="0">
              <a:buNone/>
            </a:pPr>
            <a:r>
              <a:rPr lang="en-US" sz="1500" dirty="0">
                <a:solidFill>
                  <a:schemeClr val="tx1"/>
                </a:solidFill>
              </a:rPr>
              <a:t> liefert true – s ist danach wieder Wein, Gold, Holz: dieselben Kisten in derselben Reihenfolge.</a:t>
            </a:r>
            <a:endParaRPr lang="en-US" sz="1500" dirty="0"/>
          </a:p>
        </p:txBody>
      </p:sp>
      <p:sp>
        <p:nvSpPr>
          <p:cNvPr id="108" name="Fehler return"/>
          <p:cNvSpPr/>
          <p:nvPr/>
        </p:nvSpPr>
        <p:spPr>
          <a:xfrm>
            <a:off x="6172200" y="4937760"/>
            <a:ext cx="5440680" cy="1188720"/>
          </a:xfrm>
          <a:prstGeom prst="roundRect">
            <a:avLst>
              <a:gd name="adj" fmla="val 9231"/>
            </a:avLst>
          </a:prstGeom>
          <a:solidFill>
            <a:schemeClr val="bg1"/>
          </a:solidFill>
          <a:ln w="25400">
            <a:solidFill>
              <a:schemeClr val="accent4"/>
            </a:solidFill>
            <a:prstDash val="solid"/>
          </a:ln>
        </p:spPr>
      </p:sp>
      <p:sp>
        <p:nvSpPr>
          <p:cNvPr id="109" name="Text 107"/>
          <p:cNvSpPr txBox="1"/>
          <p:nvPr/>
        </p:nvSpPr>
        <p:spPr>
          <a:xfrm>
            <a:off x="6373368" y="4937760"/>
            <a:ext cx="5074920" cy="1188720"/>
          </a:xfrm>
          <a:prstGeom prst="rect">
            <a:avLst/>
          </a:prstGeom>
          <a:noFill/>
          <a:ln/>
        </p:spPr>
        <p:txBody>
          <a:bodyPr wrap="square" lIns="0" tIns="0" rIns="0" bIns="0" rtlCol="0" anchor="ctr"/>
          <a:lstStyle/>
          <a:p>
            <a:pPr indent="0" marL="0">
              <a:buNone/>
            </a:pPr>
            <a:r>
              <a:rPr lang="en-US" sz="1500" b="1" dirty="0">
                <a:solidFill>
                  <a:schemeClr val="accent4"/>
                </a:solidFill>
              </a:rPr>
              <a:t>Achtung: </a:t>
            </a:r>
            <a:pPr indent="0" marL="0">
              <a:buNone/>
            </a:pPr>
            <a:r>
              <a:rPr lang="en-US" sz="1500" dirty="0">
                <a:solidFill>
                  <a:schemeClr val="tx1"/>
                </a:solidFill>
              </a:rPr>
              <a:t>Mit return true sofort beim Fund bliebe s = Holz – Wein und Gold lägen noch im Hilfsstapel!</a:t>
            </a:r>
            <a:endParaRPr lang="en-US" sz="1500" dirty="0"/>
          </a:p>
        </p:txBody>
      </p:sp>
      <p:sp>
        <p:nvSpPr>
          <p:cNvPr id="110" name="Text 108"/>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26 · Unverändert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Das Muster als Struktogramm – und bei der Schlange</a:t>
            </a:r>
            <a:endParaRPr lang="en-US" sz="3600" dirty="0"/>
          </a:p>
        </p:txBody>
      </p:sp>
      <p:pic>
        <p:nvPicPr>
          <p:cNvPr id="3" name="Struktogramm sg_muster" descr="Struktogramm sg_muster">    </p:cNvPr>
          <p:cNvPicPr>
            <a:picLocks noChangeAspect="1"/>
          </p:cNvPicPr>
          <p:nvPr/>
        </p:nvPicPr>
        <p:blipFill>
          <a:blip r:embed="rId1"/>
          <a:stretch>
            <a:fillRect/>
          </a:stretch>
        </p:blipFill>
        <p:spPr>
          <a:xfrm>
            <a:off x="548640" y="1371600"/>
            <a:ext cx="5486400" cy="2925874"/>
          </a:xfrm>
          <a:prstGeom prst="rect">
            <a:avLst/>
          </a:prstGeom>
        </p:spPr>
      </p:pic>
      <p:sp>
        <p:nvSpPr>
          <p:cNvPr id="4" name="Merke zweimal"/>
          <p:cNvSpPr/>
          <p:nvPr/>
        </p:nvSpPr>
        <p:spPr>
          <a:xfrm>
            <a:off x="548640" y="4526280"/>
            <a:ext cx="5486400" cy="731520"/>
          </a:xfrm>
          <a:prstGeom prst="roundRect">
            <a:avLst>
              <a:gd name="adj" fmla="val 15000"/>
            </a:avLst>
          </a:prstGeom>
          <a:solidFill>
            <a:schemeClr val="bg2"/>
          </a:solidFill>
          <a:ln/>
        </p:spPr>
      </p:sp>
      <p:sp>
        <p:nvSpPr>
          <p:cNvPr id="5" name="Text 2"/>
          <p:cNvSpPr txBox="1"/>
          <p:nvPr/>
        </p:nvSpPr>
        <p:spPr>
          <a:xfrm>
            <a:off x="749808" y="4526280"/>
            <a:ext cx="5120640" cy="731520"/>
          </a:xfrm>
          <a:prstGeom prst="rect">
            <a:avLst/>
          </a:prstGeom>
          <a:noFill/>
          <a:ln/>
        </p:spPr>
        <p:txBody>
          <a:bodyPr wrap="square" lIns="0" tIns="0" rIns="0" bIns="0" rtlCol="0" anchor="ctr"/>
          <a:lstStyle/>
          <a:p>
            <a:pPr indent="0" marL="0">
              <a:buNone/>
            </a:pPr>
            <a:r>
              <a:rPr lang="en-US" sz="1500" b="1" dirty="0">
                <a:solidFill>
                  <a:schemeClr val="accent1"/>
                </a:solidFill>
              </a:rPr>
              <a:t>Stapel → Hilfsstapel → Stapel: </a:t>
            </a:r>
            <a:pPr indent="0" marL="0">
              <a:buNone/>
            </a:pPr>
            <a:r>
              <a:rPr lang="en-US" sz="1500" dirty="0">
                <a:solidFill>
                  <a:schemeClr val="tx1"/>
                </a:solidFill>
              </a:rPr>
              <a:t>zweimal umgedreht = alte Reihenfolge.</a:t>
            </a:r>
            <a:endParaRPr lang="en-US" sz="1500" dirty="0"/>
          </a:p>
        </p:txBody>
      </p:sp>
      <p:sp>
        <p:nvSpPr>
          <p:cNvPr id="6" name="Dieselben Objekte"/>
          <p:cNvSpPr/>
          <p:nvPr/>
        </p:nvSpPr>
        <p:spPr>
          <a:xfrm>
            <a:off x="548640" y="5394960"/>
            <a:ext cx="5486400" cy="731520"/>
          </a:xfrm>
          <a:prstGeom prst="roundRect">
            <a:avLst>
              <a:gd name="adj" fmla="val 15000"/>
            </a:avLst>
          </a:prstGeom>
          <a:solidFill>
            <a:schemeClr val="bg1"/>
          </a:solidFill>
          <a:ln w="25400">
            <a:solidFill>
              <a:schemeClr val="accent4"/>
            </a:solidFill>
            <a:prstDash val="solid"/>
          </a:ln>
        </p:spPr>
      </p:sp>
      <p:sp>
        <p:nvSpPr>
          <p:cNvPr id="7" name="Text 4"/>
          <p:cNvSpPr txBox="1"/>
          <p:nvPr/>
        </p:nvSpPr>
        <p:spPr>
          <a:xfrm>
            <a:off x="749808" y="5394960"/>
            <a:ext cx="5120640" cy="731520"/>
          </a:xfrm>
          <a:prstGeom prst="rect">
            <a:avLst/>
          </a:prstGeom>
          <a:noFill/>
          <a:ln/>
        </p:spPr>
        <p:txBody>
          <a:bodyPr wrap="square" lIns="0" tIns="0" rIns="0" bIns="0" rtlCol="0" anchor="ctr"/>
          <a:lstStyle/>
          <a:p>
            <a:pPr indent="0" marL="0">
              <a:buNone/>
            </a:pPr>
            <a:r>
              <a:rPr lang="en-US" sz="1500" b="1" dirty="0">
                <a:solidFill>
                  <a:schemeClr val="accent4"/>
                </a:solidFill>
              </a:rPr>
              <a:t>unverändert = </a:t>
            </a:r>
            <a:pPr indent="0" marL="0">
              <a:buNone/>
            </a:pPr>
            <a:r>
              <a:rPr lang="en-US" sz="1500" dirty="0">
                <a:solidFill>
                  <a:schemeClr val="tx1"/>
                </a:solidFill>
              </a:rPr>
              <a:t>dieselben Objekte, nicht new Kiste(…) mit gleichen Werten.</a:t>
            </a:r>
            <a:endParaRPr lang="en-US" sz="1500" dirty="0"/>
          </a:p>
        </p:txBody>
      </p:sp>
      <p:sp>
        <p:nvSpPr>
          <p:cNvPr id="8" name="Text 5"/>
          <p:cNvSpPr txBox="1"/>
          <p:nvPr/>
        </p:nvSpPr>
        <p:spPr>
          <a:xfrm>
            <a:off x="6355080" y="1280160"/>
            <a:ext cx="5257800" cy="365760"/>
          </a:xfrm>
          <a:prstGeom prst="rect">
            <a:avLst/>
          </a:prstGeom>
          <a:noFill/>
          <a:ln/>
        </p:spPr>
        <p:txBody>
          <a:bodyPr wrap="square" lIns="0" tIns="0" rIns="0" bIns="0" rtlCol="0" anchor="t"/>
          <a:lstStyle/>
          <a:p>
            <a:pPr indent="0" marL="0">
              <a:buNone/>
            </a:pPr>
            <a:r>
              <a:rPr lang="en-US" sz="1900" b="1" dirty="0">
                <a:solidFill>
                  <a:schemeClr val="accent1"/>
                </a:solidFill>
              </a:rPr>
              <a:t>Und bei der Schlange?</a:t>
            </a:r>
            <a:endParaRPr lang="en-US" sz="1900" dirty="0"/>
          </a:p>
        </p:txBody>
      </p:sp>
      <p:graphicFrame>
        <p:nvGraphicFramePr>
          <p:cNvPr id="18" name="Schlange Wege"/>
          <p:cNvGraphicFramePr>
            <a:graphicFrameLocks noGrp="1"/>
          </p:cNvGraphicFramePr>
          <p:nvPr>
            <p:extLst>
              <p:ext uri="{D42A27DB-BD31-4B8C-83A1-F6EECF244321}">
                <p14:modId xmlns:p14="http://schemas.microsoft.com/office/powerpoint/2010/main" val="1579011935"/>
              </p:ext>
            </p:extLst>
          </p:nvPr>
        </p:nvGraphicFramePr>
        <p:xfrm>
          <a:off x="6355080" y="1691640"/>
          <a:ext cx="5257800" cy="914400"/>
        </p:xfrm>
        <a:graphic>
          <a:graphicData uri="http://schemas.openxmlformats.org/drawingml/2006/table">
            <a:tbl>
              <a:tblPr/>
              <a:tblGrid>
                <a:gridCol w="3017520"/>
                <a:gridCol w="2240280"/>
              </a:tblGrid>
              <a:tr h="475488">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Weg</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Reihenfolge danach</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75488">
                <a:tc>
                  <a:txBody>
                    <a:bodyPr/>
                    <a:lstStyle/>
                    <a:p>
                      <a:pPr algn="l" indent="0" marL="0">
                        <a:buNone/>
                      </a:pPr>
                      <a:r>
                        <a:rPr lang="en-US" sz="1250" dirty="0">
                          <a:solidFill>
                            <a:schemeClr val="tx1"/>
                          </a:solidFill>
                          <a:latin typeface="Consolas" pitchFamily="34" charset="0"/>
                          <a:ea typeface="Consolas" pitchFamily="34" charset="-122"/>
                          <a:cs typeface="Consolas" pitchFamily="34" charset="-120"/>
                        </a:rPr>
                        <a:t>Schlange → Hilfsschlange → Schlange</a:t>
                      </a:r>
                      <a:endParaRPr lang="en-US" sz="12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bleibt ✓</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75488">
                <a:tc>
                  <a:txBody>
                    <a:bodyPr/>
                    <a:lstStyle/>
                    <a:p>
                      <a:pPr algn="l" indent="0" marL="0">
                        <a:buNone/>
                      </a:pPr>
                      <a:r>
                        <a:rPr lang="en-US" sz="1250" dirty="0">
                          <a:solidFill>
                            <a:schemeClr val="tx1"/>
                          </a:solidFill>
                          <a:latin typeface="Consolas" pitchFamily="34" charset="0"/>
                          <a:ea typeface="Consolas" pitchFamily="34" charset="-122"/>
                          <a:cs typeface="Consolas" pitchFamily="34" charset="-120"/>
                        </a:rPr>
                        <a:t>n-mal q.enqueue(q.dequeue())</a:t>
                      </a:r>
                      <a:endParaRPr lang="en-US" sz="12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bleibt ✓ (n bekannt)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75488">
                <a:tc>
                  <a:txBody>
                    <a:bodyPr/>
                    <a:lstStyle/>
                    <a:p>
                      <a:pPr algn="l" indent="0" marL="0">
                        <a:buNone/>
                      </a:pPr>
                      <a:r>
                        <a:rPr lang="en-US" sz="1250" dirty="0">
                          <a:solidFill>
                            <a:schemeClr val="tx1"/>
                          </a:solidFill>
                          <a:latin typeface="Consolas" pitchFamily="34" charset="0"/>
                          <a:ea typeface="Consolas" pitchFamily="34" charset="-122"/>
                          <a:cs typeface="Consolas" pitchFamily="34" charset="-120"/>
                        </a:rPr>
                        <a:t>Schlange → Hilfsstapel → Schlange</a:t>
                      </a:r>
                      <a:endParaRPr lang="en-US" sz="12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4"/>
                          </a:solidFill>
                          <a:latin typeface="Calibri" pitchFamily="34" charset="0"/>
                          <a:ea typeface="Calibri" pitchFamily="34" charset="-122"/>
                          <a:cs typeface="Calibri" pitchFamily="34" charset="-120"/>
                        </a:rPr>
                        <a:t>umgekehrt – richtig nur für umkehren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0" name="Text 6"/>
          <p:cNvSpPr txBox="1"/>
          <p:nvPr/>
        </p:nvSpPr>
        <p:spPr>
          <a:xfrm>
            <a:off x="6355080" y="3794760"/>
            <a:ext cx="5257800" cy="292608"/>
          </a:xfrm>
          <a:prstGeom prst="rect">
            <a:avLst/>
          </a:prstGeom>
          <a:noFill/>
          <a:ln/>
        </p:spPr>
        <p:txBody>
          <a:bodyPr wrap="square" lIns="0" tIns="0" rIns="0" bIns="0" rtlCol="0" anchor="t"/>
          <a:lstStyle/>
          <a:p>
            <a:pPr indent="0" marL="0">
              <a:buNone/>
            </a:pPr>
            <a:r>
              <a:rPr lang="en-US" sz="1500" b="1" dirty="0">
                <a:solidFill>
                  <a:schemeClr val="accent2"/>
                </a:solidFill>
              </a:rPr>
              <a:t>umkehren(q) mit Hilfsstapel</a:t>
            </a:r>
            <a:endParaRPr lang="en-US" sz="1500" dirty="0"/>
          </a:p>
        </p:txBody>
      </p:sp>
      <p:sp>
        <p:nvSpPr>
          <p:cNvPr id="11" name="q vorher 0"/>
          <p:cNvSpPr txBox="1"/>
          <p:nvPr/>
        </p:nvSpPr>
        <p:spPr>
          <a:xfrm>
            <a:off x="6355080" y="4526280"/>
            <a:ext cx="457200" cy="41148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A</a:t>
            </a:r>
            <a:endParaRPr lang="en-US" sz="1500" dirty="0"/>
          </a:p>
        </p:txBody>
      </p:sp>
      <p:sp>
        <p:nvSpPr>
          <p:cNvPr id="12" name="q vorher 1"/>
          <p:cNvSpPr txBox="1"/>
          <p:nvPr/>
        </p:nvSpPr>
        <p:spPr>
          <a:xfrm>
            <a:off x="6812280" y="4526280"/>
            <a:ext cx="457200" cy="41148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B</a:t>
            </a:r>
            <a:endParaRPr lang="en-US" sz="1500" dirty="0"/>
          </a:p>
        </p:txBody>
      </p:sp>
      <p:sp>
        <p:nvSpPr>
          <p:cNvPr id="13" name="q vorher 2"/>
          <p:cNvSpPr txBox="1"/>
          <p:nvPr/>
        </p:nvSpPr>
        <p:spPr>
          <a:xfrm>
            <a:off x="7269480" y="4526280"/>
            <a:ext cx="457200" cy="41148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C</a:t>
            </a:r>
            <a:endParaRPr lang="en-US" sz="1500" dirty="0"/>
          </a:p>
        </p:txBody>
      </p:sp>
      <p:sp>
        <p:nvSpPr>
          <p:cNvPr id="14" name="Text 10"/>
          <p:cNvSpPr txBox="1"/>
          <p:nvPr/>
        </p:nvSpPr>
        <p:spPr>
          <a:xfrm>
            <a:off x="6355080" y="4983480"/>
            <a:ext cx="1371600" cy="256032"/>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q</a:t>
            </a:r>
            <a:endParaRPr lang="en-US" sz="1200" dirty="0"/>
          </a:p>
        </p:txBody>
      </p:sp>
      <p:sp>
        <p:nvSpPr>
          <p:cNvPr id="15" name="Pfeil dequeue push"/>
          <p:cNvSpPr/>
          <p:nvPr/>
        </p:nvSpPr>
        <p:spPr>
          <a:xfrm>
            <a:off x="7818120" y="4727448"/>
            <a:ext cx="457200" cy="91"/>
          </a:xfrm>
          <a:prstGeom prst="line">
            <a:avLst/>
          </a:prstGeom>
          <a:noFill/>
          <a:ln w="25400">
            <a:solidFill>
              <a:schemeClr val="accent1"/>
            </a:solidFill>
            <a:prstDash val="solid"/>
            <a:tailEnd type="triangle"/>
          </a:ln>
        </p:spPr>
      </p:sp>
      <p:sp>
        <p:nvSpPr>
          <p:cNvPr id="16" name="Stapel Wand links"/>
          <p:cNvSpPr/>
          <p:nvPr/>
        </p:nvSpPr>
        <p:spPr>
          <a:xfrm>
            <a:off x="8366760" y="4206240"/>
            <a:ext cx="91" cy="1051560"/>
          </a:xfrm>
          <a:prstGeom prst="line">
            <a:avLst/>
          </a:prstGeom>
          <a:noFill/>
          <a:ln w="31750">
            <a:solidFill>
              <a:schemeClr val="accent1"/>
            </a:solidFill>
            <a:prstDash val="solid"/>
          </a:ln>
        </p:spPr>
      </p:sp>
      <p:sp>
        <p:nvSpPr>
          <p:cNvPr id="17" name="Stapel Boden"/>
          <p:cNvSpPr/>
          <p:nvPr/>
        </p:nvSpPr>
        <p:spPr>
          <a:xfrm>
            <a:off x="8366760" y="5257800"/>
            <a:ext cx="731520" cy="91"/>
          </a:xfrm>
          <a:prstGeom prst="line">
            <a:avLst/>
          </a:prstGeom>
          <a:noFill/>
          <a:ln w="31750">
            <a:solidFill>
              <a:schemeClr val="accent1"/>
            </a:solidFill>
            <a:prstDash val="solid"/>
          </a:ln>
        </p:spPr>
      </p:sp>
      <p:sp>
        <p:nvSpPr>
          <p:cNvPr id="18" name="Stapel Wand rechts"/>
          <p:cNvSpPr/>
          <p:nvPr/>
        </p:nvSpPr>
        <p:spPr>
          <a:xfrm>
            <a:off x="9098280" y="4206240"/>
            <a:ext cx="91" cy="1051560"/>
          </a:xfrm>
          <a:prstGeom prst="line">
            <a:avLst/>
          </a:prstGeom>
          <a:noFill/>
          <a:ln w="31750">
            <a:solidFill>
              <a:schemeClr val="accent1"/>
            </a:solidFill>
            <a:prstDash val="solid"/>
          </a:ln>
        </p:spPr>
      </p:sp>
      <p:sp>
        <p:nvSpPr>
          <p:cNvPr id="19" name="Element A"/>
          <p:cNvSpPr txBox="1"/>
          <p:nvPr/>
        </p:nvSpPr>
        <p:spPr>
          <a:xfrm>
            <a:off x="8430768" y="4901184"/>
            <a:ext cx="603504" cy="292608"/>
          </a:xfrm>
          <a:prstGeom prst="roundRect">
            <a:avLst>
              <a:gd name="adj" fmla="val 25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20" name="Element B"/>
          <p:cNvSpPr txBox="1"/>
          <p:nvPr/>
        </p:nvSpPr>
        <p:spPr>
          <a:xfrm>
            <a:off x="8430768" y="4572000"/>
            <a:ext cx="603504" cy="292608"/>
          </a:xfrm>
          <a:prstGeom prst="roundRect">
            <a:avLst>
              <a:gd name="adj" fmla="val 25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21" name="Element C"/>
          <p:cNvSpPr txBox="1"/>
          <p:nvPr/>
        </p:nvSpPr>
        <p:spPr>
          <a:xfrm>
            <a:off x="8430768" y="4242816"/>
            <a:ext cx="603504" cy="292608"/>
          </a:xfrm>
          <a:prstGeom prst="roundRect">
            <a:avLst>
              <a:gd name="adj" fmla="val 25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22" name="Text 18"/>
          <p:cNvSpPr txBox="1"/>
          <p:nvPr/>
        </p:nvSpPr>
        <p:spPr>
          <a:xfrm>
            <a:off x="8092440" y="5303520"/>
            <a:ext cx="1280160"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hilf</a:t>
            </a:r>
            <a:endParaRPr lang="en-US" sz="1200" dirty="0"/>
          </a:p>
        </p:txBody>
      </p:sp>
      <p:sp>
        <p:nvSpPr>
          <p:cNvPr id="23" name="Pfeil pop enqueue"/>
          <p:cNvSpPr/>
          <p:nvPr/>
        </p:nvSpPr>
        <p:spPr>
          <a:xfrm>
            <a:off x="9189720" y="4727448"/>
            <a:ext cx="457200" cy="91"/>
          </a:xfrm>
          <a:prstGeom prst="line">
            <a:avLst/>
          </a:prstGeom>
          <a:noFill/>
          <a:ln w="25400">
            <a:solidFill>
              <a:schemeClr val="accent1"/>
            </a:solidFill>
            <a:prstDash val="solid"/>
            <a:tailEnd type="triangle"/>
          </a:ln>
        </p:spPr>
      </p:sp>
      <p:sp>
        <p:nvSpPr>
          <p:cNvPr id="24" name="q nachher 0"/>
          <p:cNvSpPr txBox="1"/>
          <p:nvPr/>
        </p:nvSpPr>
        <p:spPr>
          <a:xfrm>
            <a:off x="9738360" y="4526280"/>
            <a:ext cx="457200" cy="41148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C</a:t>
            </a:r>
            <a:endParaRPr lang="en-US" sz="1500" dirty="0"/>
          </a:p>
        </p:txBody>
      </p:sp>
      <p:sp>
        <p:nvSpPr>
          <p:cNvPr id="25" name="q nachher 1"/>
          <p:cNvSpPr txBox="1"/>
          <p:nvPr/>
        </p:nvSpPr>
        <p:spPr>
          <a:xfrm>
            <a:off x="10195560" y="4526280"/>
            <a:ext cx="457200" cy="41148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B</a:t>
            </a:r>
            <a:endParaRPr lang="en-US" sz="1500" dirty="0"/>
          </a:p>
        </p:txBody>
      </p:sp>
      <p:sp>
        <p:nvSpPr>
          <p:cNvPr id="26" name="q nachher 2"/>
          <p:cNvSpPr txBox="1"/>
          <p:nvPr/>
        </p:nvSpPr>
        <p:spPr>
          <a:xfrm>
            <a:off x="10652760" y="4526280"/>
            <a:ext cx="457200" cy="41148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A</a:t>
            </a:r>
            <a:endParaRPr lang="en-US" sz="1500" dirty="0"/>
          </a:p>
        </p:txBody>
      </p:sp>
      <p:sp>
        <p:nvSpPr>
          <p:cNvPr id="27" name="Text 23"/>
          <p:cNvSpPr txBox="1"/>
          <p:nvPr/>
        </p:nvSpPr>
        <p:spPr>
          <a:xfrm>
            <a:off x="9738360" y="4983480"/>
            <a:ext cx="1371600" cy="256032"/>
          </a:xfrm>
          <a:prstGeom prst="rect">
            <a:avLst/>
          </a:prstGeom>
          <a:noFill/>
          <a:ln/>
        </p:spPr>
        <p:txBody>
          <a:bodyPr wrap="square" lIns="0" tIns="0" rIns="0" bIns="0" rtlCol="0" anchor="t"/>
          <a:lstStyle/>
          <a:p>
            <a:pPr algn="ctr" indent="0" marL="0">
              <a:buNone/>
            </a:pPr>
            <a:r>
              <a:rPr lang="en-US" sz="1200" b="1" dirty="0">
                <a:solidFill>
                  <a:schemeClr val="accent6"/>
                </a:solidFill>
                <a:latin typeface="Consolas" pitchFamily="34" charset="0"/>
                <a:ea typeface="Consolas" pitchFamily="34" charset="-122"/>
                <a:cs typeface="Consolas" pitchFamily="34" charset="-120"/>
              </a:rPr>
              <a:t>q</a:t>
            </a:r>
            <a:endParaRPr lang="en-US" sz="1200" dirty="0"/>
          </a:p>
        </p:txBody>
      </p:sp>
      <p:sp>
        <p:nvSpPr>
          <p:cNvPr id="28" name="Chip"/>
          <p:cNvSpPr txBox="1"/>
          <p:nvPr/>
        </p:nvSpPr>
        <p:spPr>
          <a:xfrm>
            <a:off x="6355080" y="5669280"/>
            <a:ext cx="525780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summe(4 8 15 16 23 42) = 108 · q bleibt gleich</a:t>
            </a:r>
            <a:endParaRPr lang="en-US" sz="1500" dirty="0"/>
          </a:p>
        </p:txBody>
      </p:sp>
      <p:sp>
        <p:nvSpPr>
          <p:cNvPr id="29" name="Text 25"/>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26 · Unverändert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dynamische Reihung (DynArray) nach EH §4</a:t>
            </a:r>
            <a:endParaRPr lang="en-US" sz="3600" dirty="0"/>
          </a:p>
        </p:txBody>
      </p:sp>
      <p:graphicFrame>
        <p:nvGraphicFramePr>
          <p:cNvPr id="19" name="Schnittstelle DynArray"/>
          <p:cNvGraphicFramePr>
            <a:graphicFrameLocks noGrp="1"/>
          </p:cNvGraphicFramePr>
          <p:nvPr>
            <p:extLst>
              <p:ext uri="{D42A27DB-BD31-4B8C-83A1-F6EECF244321}">
                <p14:modId xmlns:p14="http://schemas.microsoft.com/office/powerpoint/2010/main" val="1579011935"/>
              </p:ext>
            </p:extLst>
          </p:nvPr>
        </p:nvGraphicFramePr>
        <p:xfrm>
          <a:off x="548640" y="1325880"/>
          <a:ext cx="5669280" cy="914400"/>
        </p:xfrm>
        <a:graphic>
          <a:graphicData uri="http://schemas.openxmlformats.org/drawingml/2006/table">
            <a:tbl>
              <a:tblPr/>
              <a:tblGrid>
                <a:gridCol w="2514600"/>
                <a:gridCol w="3154680"/>
              </a:tblGrid>
              <a:tr h="402336">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Operation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Wirkung</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02336">
                <a:tc>
                  <a:txBody>
                    <a:bodyPr/>
                    <a:lstStyle/>
                    <a:p>
                      <a:pPr algn="l" indent="0" marL="0">
                        <a:buNone/>
                      </a:pPr>
                      <a:r>
                        <a:rPr lang="en-US" sz="1250" b="1" dirty="0">
                          <a:solidFill>
                            <a:schemeClr val="accent1"/>
                          </a:solidFill>
                          <a:latin typeface="Consolas" pitchFamily="34" charset="0"/>
                          <a:ea typeface="Consolas" pitchFamily="34" charset="-122"/>
                          <a:cs typeface="Consolas" pitchFamily="34" charset="-120"/>
                        </a:rPr>
                        <a:t>c DynArray()</a:t>
                      </a:r>
                      <a:endParaRPr lang="en-US" sz="12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erzeugt eine leere dynamische Reihung</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02336">
                <a:tc>
                  <a:txBody>
                    <a:bodyPr/>
                    <a:lstStyle/>
                    <a:p>
                      <a:pPr algn="l" indent="0" marL="0">
                        <a:buNone/>
                      </a:pPr>
                      <a:r>
                        <a:rPr lang="en-US" sz="1250" b="1" dirty="0">
                          <a:solidFill>
                            <a:schemeClr val="accent1"/>
                          </a:solidFill>
                          <a:latin typeface="Consolas" pitchFamily="34" charset="0"/>
                          <a:ea typeface="Consolas" pitchFamily="34" charset="-122"/>
                          <a:cs typeface="Consolas" pitchFamily="34" charset="-120"/>
                        </a:rPr>
                        <a:t>isEmpty(): Wahrheitswert</a:t>
                      </a:r>
                      <a:endParaRPr lang="en-US" sz="12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wahr, wenn leer</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02336">
                <a:tc>
                  <a:txBody>
                    <a:bodyPr/>
                    <a:lstStyle/>
                    <a:p>
                      <a:pPr algn="l" indent="0" marL="0">
                        <a:buNone/>
                      </a:pPr>
                      <a:r>
                        <a:rPr lang="en-US" sz="1250" b="1" dirty="0">
                          <a:solidFill>
                            <a:schemeClr val="accent1"/>
                          </a:solidFill>
                          <a:latin typeface="Consolas" pitchFamily="34" charset="0"/>
                          <a:ea typeface="Consolas" pitchFamily="34" charset="-122"/>
                          <a:cs typeface="Consolas" pitchFamily="34" charset="-120"/>
                        </a:rPr>
                        <a:t>getLength(): Ganzzahl</a:t>
                      </a:r>
                      <a:endParaRPr lang="en-US" sz="12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Anzahl der Elemente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02336">
                <a:tc>
                  <a:txBody>
                    <a:bodyPr/>
                    <a:lstStyle/>
                    <a:p>
                      <a:pPr algn="l" indent="0" marL="0">
                        <a:buNone/>
                      </a:pPr>
                      <a:r>
                        <a:rPr lang="en-US" sz="1250" b="1" dirty="0">
                          <a:solidFill>
                            <a:schemeClr val="accent1"/>
                          </a:solidFill>
                          <a:latin typeface="Consolas" pitchFamily="34" charset="0"/>
                          <a:ea typeface="Consolas" pitchFamily="34" charset="-122"/>
                          <a:cs typeface="Consolas" pitchFamily="34" charset="-120"/>
                        </a:rPr>
                        <a:t>getItem(i): Inhaltstyp</a:t>
                      </a:r>
                      <a:endParaRPr lang="en-US" sz="12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Element an Index i</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02336">
                <a:tc>
                  <a:txBody>
                    <a:bodyPr/>
                    <a:lstStyle/>
                    <a:p>
                      <a:pPr algn="l" indent="0" marL="0">
                        <a:buNone/>
                      </a:pPr>
                      <a:r>
                        <a:rPr lang="en-US" sz="1250" b="1" dirty="0">
                          <a:solidFill>
                            <a:schemeClr val="accent1"/>
                          </a:solidFill>
                          <a:latin typeface="Consolas" pitchFamily="34" charset="0"/>
                          <a:ea typeface="Consolas" pitchFamily="34" charset="-122"/>
                          <a:cs typeface="Consolas" pitchFamily="34" charset="-120"/>
                        </a:rPr>
                        <a:t>setItem(i, x): nichts</a:t>
                      </a:r>
                      <a:endParaRPr lang="en-US" sz="12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ersetzt das Element an Index i</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02336">
                <a:tc>
                  <a:txBody>
                    <a:bodyPr/>
                    <a:lstStyle/>
                    <a:p>
                      <a:pPr algn="l" indent="0" marL="0">
                        <a:buNone/>
                      </a:pPr>
                      <a:r>
                        <a:rPr lang="en-US" sz="1250" b="1" dirty="0">
                          <a:solidFill>
                            <a:schemeClr val="accent1"/>
                          </a:solidFill>
                          <a:latin typeface="Consolas" pitchFamily="34" charset="0"/>
                          <a:ea typeface="Consolas" pitchFamily="34" charset="-122"/>
                          <a:cs typeface="Consolas" pitchFamily="34" charset="-120"/>
                        </a:rPr>
                        <a:t>append(x): nichts</a:t>
                      </a:r>
                      <a:endParaRPr lang="en-US" sz="12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hängt x hinten an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02336">
                <a:tc>
                  <a:txBody>
                    <a:bodyPr/>
                    <a:lstStyle/>
                    <a:p>
                      <a:pPr algn="l" indent="0" marL="0">
                        <a:buNone/>
                      </a:pPr>
                      <a:r>
                        <a:rPr lang="en-US" sz="1250" b="1" dirty="0">
                          <a:solidFill>
                            <a:schemeClr val="accent1"/>
                          </a:solidFill>
                          <a:latin typeface="Consolas" pitchFamily="34" charset="0"/>
                          <a:ea typeface="Consolas" pitchFamily="34" charset="-122"/>
                          <a:cs typeface="Consolas" pitchFamily="34" charset="-120"/>
                        </a:rPr>
                        <a:t>insertAt(i, x): nichts</a:t>
                      </a:r>
                      <a:endParaRPr lang="en-US" sz="12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fügt x an Index i ein – Nachfolger rücken auf</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02336">
                <a:tc>
                  <a:txBody>
                    <a:bodyPr/>
                    <a:lstStyle/>
                    <a:p>
                      <a:pPr algn="l" indent="0" marL="0">
                        <a:buNone/>
                      </a:pPr>
                      <a:r>
                        <a:rPr lang="en-US" sz="1250" b="1" dirty="0">
                          <a:solidFill>
                            <a:schemeClr val="accent1"/>
                          </a:solidFill>
                          <a:latin typeface="Consolas" pitchFamily="34" charset="0"/>
                          <a:ea typeface="Consolas" pitchFamily="34" charset="-122"/>
                          <a:cs typeface="Consolas" pitchFamily="34" charset="-120"/>
                        </a:rPr>
                        <a:t>delete(i): nichts</a:t>
                      </a:r>
                      <a:endParaRPr lang="en-US" sz="12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entfernt das Element an Index i – Nachfolger rücken nach</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6537960" y="1325880"/>
            <a:ext cx="5074920" cy="320040"/>
          </a:xfrm>
          <a:prstGeom prst="rect">
            <a:avLst/>
          </a:prstGeom>
          <a:noFill/>
          <a:ln/>
        </p:spPr>
        <p:txBody>
          <a:bodyPr wrap="square" lIns="0" tIns="0" rIns="0" bIns="0" rtlCol="0" anchor="t"/>
          <a:lstStyle/>
          <a:p>
            <a:pPr indent="0" marL="0">
              <a:buNone/>
            </a:pPr>
            <a:r>
              <a:rPr lang="en-US" sz="1500" b="1" dirty="0">
                <a:solidFill>
                  <a:schemeClr val="accent1"/>
                </a:solidFill>
                <a:latin typeface="Consolas" pitchFamily="34" charset="0"/>
                <a:ea typeface="Consolas" pitchFamily="34" charset="-122"/>
                <a:cs typeface="Consolas" pitchFamily="34" charset="-120"/>
              </a:rPr>
              <a:t>d</a:t>
            </a:r>
            <a:pPr indent="0" marL="0">
              <a:buNone/>
            </a:pPr>
            <a:r>
              <a:rPr lang="en-US" sz="1500" dirty="0">
                <a:solidFill>
                  <a:schemeClr val="accent1"/>
                </a:solidFill>
              </a:rPr>
              <a:t> – Ladeliste</a:t>
            </a:r>
            <a:endParaRPr lang="en-US" sz="1500" dirty="0"/>
          </a:p>
        </p:txBody>
      </p:sp>
      <p:sp>
        <p:nvSpPr>
          <p:cNvPr id="5" name="Text 2"/>
          <p:cNvSpPr txBox="1"/>
          <p:nvPr/>
        </p:nvSpPr>
        <p:spPr>
          <a:xfrm>
            <a:off x="6537960" y="1691640"/>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6" name="Text 3"/>
          <p:cNvSpPr txBox="1"/>
          <p:nvPr/>
        </p:nvSpPr>
        <p:spPr>
          <a:xfrm>
            <a:off x="7498080" y="1691640"/>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7" name="Text 4"/>
          <p:cNvSpPr txBox="1"/>
          <p:nvPr/>
        </p:nvSpPr>
        <p:spPr>
          <a:xfrm>
            <a:off x="8458200" y="1691640"/>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8" name="Text 5"/>
          <p:cNvSpPr txBox="1"/>
          <p:nvPr/>
        </p:nvSpPr>
        <p:spPr>
          <a:xfrm>
            <a:off x="9418320" y="1691640"/>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9" name="Ladeliste 0 0"/>
          <p:cNvSpPr txBox="1"/>
          <p:nvPr/>
        </p:nvSpPr>
        <p:spPr>
          <a:xfrm>
            <a:off x="6537960" y="1947672"/>
            <a:ext cx="9601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Holz</a:t>
            </a:r>
            <a:endParaRPr lang="en-US" sz="1600" dirty="0"/>
          </a:p>
        </p:txBody>
      </p:sp>
      <p:sp>
        <p:nvSpPr>
          <p:cNvPr id="10" name="Ladeliste 0 1"/>
          <p:cNvSpPr txBox="1"/>
          <p:nvPr/>
        </p:nvSpPr>
        <p:spPr>
          <a:xfrm>
            <a:off x="7498080" y="1947672"/>
            <a:ext cx="9601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Erz</a:t>
            </a:r>
            <a:endParaRPr lang="en-US" sz="1600" dirty="0"/>
          </a:p>
        </p:txBody>
      </p:sp>
      <p:sp>
        <p:nvSpPr>
          <p:cNvPr id="11" name="Ladeliste 0 2"/>
          <p:cNvSpPr txBox="1"/>
          <p:nvPr/>
        </p:nvSpPr>
        <p:spPr>
          <a:xfrm>
            <a:off x="8458200" y="1947672"/>
            <a:ext cx="9601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Gold</a:t>
            </a:r>
            <a:endParaRPr lang="en-US" sz="1600" dirty="0"/>
          </a:p>
        </p:txBody>
      </p:sp>
      <p:sp>
        <p:nvSpPr>
          <p:cNvPr id="12" name="Ladeliste 0 3"/>
          <p:cNvSpPr txBox="1"/>
          <p:nvPr/>
        </p:nvSpPr>
        <p:spPr>
          <a:xfrm>
            <a:off x="9418320" y="1947672"/>
            <a:ext cx="9601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Salz</a:t>
            </a:r>
            <a:endParaRPr lang="en-US" sz="1600" dirty="0"/>
          </a:p>
        </p:txBody>
      </p:sp>
      <p:sp>
        <p:nvSpPr>
          <p:cNvPr id="13" name="Text 10"/>
          <p:cNvSpPr txBox="1"/>
          <p:nvPr/>
        </p:nvSpPr>
        <p:spPr>
          <a:xfrm>
            <a:off x="6537960" y="2624328"/>
            <a:ext cx="5074920" cy="320040"/>
          </a:xfrm>
          <a:prstGeom prst="rect">
            <a:avLst/>
          </a:prstGeom>
          <a:noFill/>
          <a:ln/>
        </p:spPr>
        <p:txBody>
          <a:bodyPr wrap="square" lIns="0" tIns="0" rIns="0" bIns="0" rtlCol="0" anchor="t"/>
          <a:lstStyle/>
          <a:p>
            <a:pPr indent="0" marL="0">
              <a:buNone/>
            </a:pPr>
            <a:r>
              <a:rPr lang="en-US" sz="1500" b="1" dirty="0">
                <a:solidFill>
                  <a:schemeClr val="accent1"/>
                </a:solidFill>
                <a:latin typeface="Consolas" pitchFamily="34" charset="0"/>
                <a:ea typeface="Consolas" pitchFamily="34" charset="-122"/>
                <a:cs typeface="Consolas" pitchFamily="34" charset="-120"/>
              </a:rPr>
              <a:t>d.insertAt(1, Blei)</a:t>
            </a:r>
            <a:pPr indent="0" marL="0">
              <a:buNone/>
            </a:pPr>
            <a:r>
              <a:rPr lang="en-US" sz="1500" i="1" dirty="0">
                <a:solidFill>
                  <a:schemeClr val="accent6"/>
                </a:solidFill>
              </a:rPr>
              <a:t> – Erz, Gold, Salz rücken auf</a:t>
            </a:r>
            <a:endParaRPr lang="en-US" sz="1500" dirty="0"/>
          </a:p>
        </p:txBody>
      </p:sp>
      <p:sp>
        <p:nvSpPr>
          <p:cNvPr id="14" name="Text 11"/>
          <p:cNvSpPr txBox="1"/>
          <p:nvPr/>
        </p:nvSpPr>
        <p:spPr>
          <a:xfrm>
            <a:off x="6537960" y="2990088"/>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15" name="Text 12"/>
          <p:cNvSpPr txBox="1"/>
          <p:nvPr/>
        </p:nvSpPr>
        <p:spPr>
          <a:xfrm>
            <a:off x="7498080" y="2990088"/>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16" name="Text 13"/>
          <p:cNvSpPr txBox="1"/>
          <p:nvPr/>
        </p:nvSpPr>
        <p:spPr>
          <a:xfrm>
            <a:off x="8458200" y="2990088"/>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17" name="Text 14"/>
          <p:cNvSpPr txBox="1"/>
          <p:nvPr/>
        </p:nvSpPr>
        <p:spPr>
          <a:xfrm>
            <a:off x="9418320" y="2990088"/>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18" name="Text 15"/>
          <p:cNvSpPr txBox="1"/>
          <p:nvPr/>
        </p:nvSpPr>
        <p:spPr>
          <a:xfrm>
            <a:off x="10378440" y="2990088"/>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19" name="Ladeliste 1 0"/>
          <p:cNvSpPr txBox="1"/>
          <p:nvPr/>
        </p:nvSpPr>
        <p:spPr>
          <a:xfrm>
            <a:off x="6537960" y="3246120"/>
            <a:ext cx="9601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Holz</a:t>
            </a:r>
            <a:endParaRPr lang="en-US" sz="1600" dirty="0"/>
          </a:p>
        </p:txBody>
      </p:sp>
      <p:sp>
        <p:nvSpPr>
          <p:cNvPr id="20" name="Ladeliste 1 1"/>
          <p:cNvSpPr txBox="1"/>
          <p:nvPr/>
        </p:nvSpPr>
        <p:spPr>
          <a:xfrm>
            <a:off x="7498080" y="3246120"/>
            <a:ext cx="960120"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Blei</a:t>
            </a:r>
            <a:endParaRPr lang="en-US" sz="1600" dirty="0"/>
          </a:p>
        </p:txBody>
      </p:sp>
      <p:sp>
        <p:nvSpPr>
          <p:cNvPr id="21" name="Ladeliste 1 2"/>
          <p:cNvSpPr txBox="1"/>
          <p:nvPr/>
        </p:nvSpPr>
        <p:spPr>
          <a:xfrm>
            <a:off x="8458200" y="3246120"/>
            <a:ext cx="960120" cy="457200"/>
          </a:xfrm>
          <a:prstGeom prst="rect">
            <a:avLst/>
          </a:prstGeom>
          <a:solidFill>
            <a:schemeClr val="bg1"/>
          </a:solidFill>
          <a:ln w="15875">
            <a:solidFill>
              <a:schemeClr val="accent1"/>
            </a:solidFill>
            <a:prstDash val="dash"/>
          </a:ln>
        </p:spPr>
        <p:txBody>
          <a:bodyPr wrap="square" lIns="0" tIns="0" rIns="0" bIns="0" rtlCol="0" anchor="ctr"/>
          <a:lstStyle/>
          <a:p>
            <a:pPr algn="ctr" indent="0" marL="0">
              <a:buNone/>
            </a:pPr>
            <a:r>
              <a:rPr lang="en-US" sz="1600" b="1" dirty="0">
                <a:solidFill>
                  <a:schemeClr val="accent1"/>
                </a:solidFill>
              </a:rPr>
              <a:t>Erz</a:t>
            </a:r>
            <a:endParaRPr lang="en-US" sz="1600" dirty="0"/>
          </a:p>
        </p:txBody>
      </p:sp>
      <p:sp>
        <p:nvSpPr>
          <p:cNvPr id="22" name="Ladeliste 1 3"/>
          <p:cNvSpPr txBox="1"/>
          <p:nvPr/>
        </p:nvSpPr>
        <p:spPr>
          <a:xfrm>
            <a:off x="9418320" y="3246120"/>
            <a:ext cx="960120" cy="457200"/>
          </a:xfrm>
          <a:prstGeom prst="rect">
            <a:avLst/>
          </a:prstGeom>
          <a:solidFill>
            <a:schemeClr val="bg1"/>
          </a:solidFill>
          <a:ln w="15875">
            <a:solidFill>
              <a:schemeClr val="accent1"/>
            </a:solidFill>
            <a:prstDash val="dash"/>
          </a:ln>
        </p:spPr>
        <p:txBody>
          <a:bodyPr wrap="square" lIns="0" tIns="0" rIns="0" bIns="0" rtlCol="0" anchor="ctr"/>
          <a:lstStyle/>
          <a:p>
            <a:pPr algn="ctr" indent="0" marL="0">
              <a:buNone/>
            </a:pPr>
            <a:r>
              <a:rPr lang="en-US" sz="1600" b="1" dirty="0">
                <a:solidFill>
                  <a:schemeClr val="accent1"/>
                </a:solidFill>
              </a:rPr>
              <a:t>Gold</a:t>
            </a:r>
            <a:endParaRPr lang="en-US" sz="1600" dirty="0"/>
          </a:p>
        </p:txBody>
      </p:sp>
      <p:sp>
        <p:nvSpPr>
          <p:cNvPr id="23" name="Ladeliste 1 4"/>
          <p:cNvSpPr txBox="1"/>
          <p:nvPr/>
        </p:nvSpPr>
        <p:spPr>
          <a:xfrm>
            <a:off x="10378440" y="3246120"/>
            <a:ext cx="960120" cy="457200"/>
          </a:xfrm>
          <a:prstGeom prst="rect">
            <a:avLst/>
          </a:prstGeom>
          <a:solidFill>
            <a:schemeClr val="bg1"/>
          </a:solidFill>
          <a:ln w="15875">
            <a:solidFill>
              <a:schemeClr val="accent1"/>
            </a:solidFill>
            <a:prstDash val="dash"/>
          </a:ln>
        </p:spPr>
        <p:txBody>
          <a:bodyPr wrap="square" lIns="0" tIns="0" rIns="0" bIns="0" rtlCol="0" anchor="ctr"/>
          <a:lstStyle/>
          <a:p>
            <a:pPr algn="ctr" indent="0" marL="0">
              <a:buNone/>
            </a:pPr>
            <a:r>
              <a:rPr lang="en-US" sz="1600" b="1" dirty="0">
                <a:solidFill>
                  <a:schemeClr val="accent1"/>
                </a:solidFill>
              </a:rPr>
              <a:t>Salz</a:t>
            </a:r>
            <a:endParaRPr lang="en-US" sz="1600" dirty="0"/>
          </a:p>
        </p:txBody>
      </p:sp>
      <p:sp>
        <p:nvSpPr>
          <p:cNvPr id="24" name="Text 21"/>
          <p:cNvSpPr txBox="1"/>
          <p:nvPr/>
        </p:nvSpPr>
        <p:spPr>
          <a:xfrm>
            <a:off x="6537960" y="3922776"/>
            <a:ext cx="5074920" cy="320040"/>
          </a:xfrm>
          <a:prstGeom prst="rect">
            <a:avLst/>
          </a:prstGeom>
          <a:noFill/>
          <a:ln/>
        </p:spPr>
        <p:txBody>
          <a:bodyPr wrap="square" lIns="0" tIns="0" rIns="0" bIns="0" rtlCol="0" anchor="t"/>
          <a:lstStyle/>
          <a:p>
            <a:pPr indent="0" marL="0">
              <a:buNone/>
            </a:pPr>
            <a:r>
              <a:rPr lang="en-US" sz="1500" b="1" dirty="0">
                <a:solidFill>
                  <a:schemeClr val="accent1"/>
                </a:solidFill>
                <a:latin typeface="Consolas" pitchFamily="34" charset="0"/>
                <a:ea typeface="Consolas" pitchFamily="34" charset="-122"/>
                <a:cs typeface="Consolas" pitchFamily="34" charset="-120"/>
              </a:rPr>
              <a:t>d.delete(2)</a:t>
            </a:r>
            <a:pPr indent="0" marL="0">
              <a:buNone/>
            </a:pPr>
            <a:r>
              <a:rPr lang="en-US" sz="1500" i="1" dirty="0">
                <a:solidFill>
                  <a:schemeClr val="accent6"/>
                </a:solidFill>
              </a:rPr>
              <a:t> – Erz weg, Gold und Salz rücken nach</a:t>
            </a:r>
            <a:endParaRPr lang="en-US" sz="1500" dirty="0"/>
          </a:p>
        </p:txBody>
      </p:sp>
      <p:sp>
        <p:nvSpPr>
          <p:cNvPr id="25" name="Text 22"/>
          <p:cNvSpPr txBox="1"/>
          <p:nvPr/>
        </p:nvSpPr>
        <p:spPr>
          <a:xfrm>
            <a:off x="6537960" y="4288536"/>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26" name="Text 23"/>
          <p:cNvSpPr txBox="1"/>
          <p:nvPr/>
        </p:nvSpPr>
        <p:spPr>
          <a:xfrm>
            <a:off x="7498080" y="4288536"/>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27" name="Text 24"/>
          <p:cNvSpPr txBox="1"/>
          <p:nvPr/>
        </p:nvSpPr>
        <p:spPr>
          <a:xfrm>
            <a:off x="8458200" y="4288536"/>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28" name="Text 25"/>
          <p:cNvSpPr txBox="1"/>
          <p:nvPr/>
        </p:nvSpPr>
        <p:spPr>
          <a:xfrm>
            <a:off x="9418320" y="4288536"/>
            <a:ext cx="960120"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29" name="Ladeliste 2 0"/>
          <p:cNvSpPr txBox="1"/>
          <p:nvPr/>
        </p:nvSpPr>
        <p:spPr>
          <a:xfrm>
            <a:off x="6537960" y="4544568"/>
            <a:ext cx="9601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Holz</a:t>
            </a:r>
            <a:endParaRPr lang="en-US" sz="1600" dirty="0"/>
          </a:p>
        </p:txBody>
      </p:sp>
      <p:sp>
        <p:nvSpPr>
          <p:cNvPr id="30" name="Ladeliste 2 1"/>
          <p:cNvSpPr txBox="1"/>
          <p:nvPr/>
        </p:nvSpPr>
        <p:spPr>
          <a:xfrm>
            <a:off x="7498080" y="4544568"/>
            <a:ext cx="960120"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Blei</a:t>
            </a:r>
            <a:endParaRPr lang="en-US" sz="1600" dirty="0"/>
          </a:p>
        </p:txBody>
      </p:sp>
      <p:sp>
        <p:nvSpPr>
          <p:cNvPr id="31" name="Ladeliste 2 2"/>
          <p:cNvSpPr txBox="1"/>
          <p:nvPr/>
        </p:nvSpPr>
        <p:spPr>
          <a:xfrm>
            <a:off x="8458200" y="4544568"/>
            <a:ext cx="960120" cy="457200"/>
          </a:xfrm>
          <a:prstGeom prst="rect">
            <a:avLst/>
          </a:prstGeom>
          <a:solidFill>
            <a:schemeClr val="bg1"/>
          </a:solidFill>
          <a:ln w="15875">
            <a:solidFill>
              <a:schemeClr val="accent1"/>
            </a:solidFill>
            <a:prstDash val="dash"/>
          </a:ln>
        </p:spPr>
        <p:txBody>
          <a:bodyPr wrap="square" lIns="0" tIns="0" rIns="0" bIns="0" rtlCol="0" anchor="ctr"/>
          <a:lstStyle/>
          <a:p>
            <a:pPr algn="ctr" indent="0" marL="0">
              <a:buNone/>
            </a:pPr>
            <a:r>
              <a:rPr lang="en-US" sz="1600" b="1" dirty="0">
                <a:solidFill>
                  <a:schemeClr val="accent1"/>
                </a:solidFill>
              </a:rPr>
              <a:t>Gold</a:t>
            </a:r>
            <a:endParaRPr lang="en-US" sz="1600" dirty="0"/>
          </a:p>
        </p:txBody>
      </p:sp>
      <p:sp>
        <p:nvSpPr>
          <p:cNvPr id="32" name="Ladeliste 2 3"/>
          <p:cNvSpPr txBox="1"/>
          <p:nvPr/>
        </p:nvSpPr>
        <p:spPr>
          <a:xfrm>
            <a:off x="9418320" y="4544568"/>
            <a:ext cx="960120" cy="457200"/>
          </a:xfrm>
          <a:prstGeom prst="rect">
            <a:avLst/>
          </a:prstGeom>
          <a:solidFill>
            <a:schemeClr val="bg1"/>
          </a:solidFill>
          <a:ln w="15875">
            <a:solidFill>
              <a:schemeClr val="accent1"/>
            </a:solidFill>
            <a:prstDash val="dash"/>
          </a:ln>
        </p:spPr>
        <p:txBody>
          <a:bodyPr wrap="square" lIns="0" tIns="0" rIns="0" bIns="0" rtlCol="0" anchor="ctr"/>
          <a:lstStyle/>
          <a:p>
            <a:pPr algn="ctr" indent="0" marL="0">
              <a:buNone/>
            </a:pPr>
            <a:r>
              <a:rPr lang="en-US" sz="1600" b="1" dirty="0">
                <a:solidFill>
                  <a:schemeClr val="accent1"/>
                </a:solidFill>
              </a:rPr>
              <a:t>Salz</a:t>
            </a:r>
            <a:endParaRPr lang="en-US" sz="1600" dirty="0"/>
          </a:p>
        </p:txBody>
      </p:sp>
      <p:sp>
        <p:nvSpPr>
          <p:cNvPr id="33" name="Index pruefen"/>
          <p:cNvSpPr/>
          <p:nvPr/>
        </p:nvSpPr>
        <p:spPr>
          <a:xfrm>
            <a:off x="548640" y="5212080"/>
            <a:ext cx="5669280" cy="914400"/>
          </a:xfrm>
          <a:prstGeom prst="roundRect">
            <a:avLst>
              <a:gd name="adj" fmla="val 12000"/>
            </a:avLst>
          </a:prstGeom>
          <a:solidFill>
            <a:schemeClr val="bg1"/>
          </a:solidFill>
          <a:ln w="25400">
            <a:solidFill>
              <a:schemeClr val="accent4"/>
            </a:solidFill>
            <a:prstDash val="solid"/>
          </a:ln>
        </p:spPr>
      </p:sp>
      <p:sp>
        <p:nvSpPr>
          <p:cNvPr id="34" name="Text 31"/>
          <p:cNvSpPr txBox="1"/>
          <p:nvPr/>
        </p:nvSpPr>
        <p:spPr>
          <a:xfrm>
            <a:off x="749808" y="5212080"/>
            <a:ext cx="5303520" cy="914400"/>
          </a:xfrm>
          <a:prstGeom prst="rect">
            <a:avLst/>
          </a:prstGeom>
          <a:noFill/>
          <a:ln/>
        </p:spPr>
        <p:txBody>
          <a:bodyPr wrap="square" lIns="0" tIns="0" rIns="0" bIns="0" rtlCol="0" anchor="ctr"/>
          <a:lstStyle/>
          <a:p>
            <a:pPr indent="0" marL="0">
              <a:buNone/>
            </a:pPr>
            <a:r>
              <a:rPr lang="en-US" sz="1500" b="1" dirty="0">
                <a:solidFill>
                  <a:schemeClr val="accent4"/>
                </a:solidFill>
              </a:rPr>
              <a:t>Index? </a:t>
            </a:r>
            <a:pPr indent="0" marL="0">
              <a:buNone/>
            </a:pPr>
            <a:r>
              <a:rPr lang="en-US" sz="1500" dirty="0">
                <a:solidFill>
                  <a:schemeClr val="tx1"/>
                </a:solidFill>
              </a:rPr>
              <a:t>getItem, setItem, delete: 0 ≤ i &lt; getLength() · insertAt: 0 ≤ i ≤ getLength()</a:t>
            </a:r>
            <a:endParaRPr lang="en-US" sz="1500" dirty="0"/>
          </a:p>
        </p:txBody>
      </p:sp>
      <p:sp>
        <p:nvSpPr>
          <p:cNvPr id="35" name="Merke Index"/>
          <p:cNvSpPr/>
          <p:nvPr/>
        </p:nvSpPr>
        <p:spPr>
          <a:xfrm>
            <a:off x="6537960" y="5212080"/>
            <a:ext cx="5074920" cy="914400"/>
          </a:xfrm>
          <a:prstGeom prst="roundRect">
            <a:avLst>
              <a:gd name="adj" fmla="val 12000"/>
            </a:avLst>
          </a:prstGeom>
          <a:solidFill>
            <a:schemeClr val="bg2"/>
          </a:solidFill>
          <a:ln/>
        </p:spPr>
      </p:sp>
      <p:sp>
        <p:nvSpPr>
          <p:cNvPr id="36" name="Text 33"/>
          <p:cNvSpPr txBox="1"/>
          <p:nvPr/>
        </p:nvSpPr>
        <p:spPr>
          <a:xfrm>
            <a:off x="6739128" y="5212080"/>
            <a:ext cx="4709160" cy="914400"/>
          </a:xfrm>
          <a:prstGeom prst="rect">
            <a:avLst/>
          </a:prstGeom>
          <a:noFill/>
          <a:ln/>
        </p:spPr>
        <p:txBody>
          <a:bodyPr wrap="square" lIns="0" tIns="0" rIns="0" bIns="0" rtlCol="0" anchor="ctr"/>
          <a:lstStyle/>
          <a:p>
            <a:pPr indent="0" marL="0">
              <a:buNone/>
            </a:pPr>
            <a:r>
              <a:rPr lang="en-US" sz="1500" b="1" dirty="0">
                <a:solidFill>
                  <a:schemeClr val="accent1"/>
                </a:solidFill>
              </a:rPr>
              <a:t>Merke: </a:t>
            </a:r>
            <a:pPr indent="0" marL="0">
              <a:buNone/>
            </a:pPr>
            <a:r>
              <a:rPr lang="en-US" sz="1500" dirty="0">
                <a:solidFill>
                  <a:schemeClr val="tx1"/>
                </a:solidFill>
              </a:rPr>
              <a:t>Nach insertAt und delete haben alle Nachfolger einen neuen Index.</a:t>
            </a:r>
            <a:endParaRPr lang="en-US" sz="1500" dirty="0"/>
          </a:p>
        </p:txBody>
      </p:sp>
      <p:sp>
        <p:nvSpPr>
          <p:cNvPr id="37" name="Text 34"/>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27 · Ladeliste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Sortiert einfügen: einfuegenSortiert(d, Blei 3)</a:t>
            </a:r>
            <a:endParaRPr lang="en-US" sz="3600" dirty="0"/>
          </a:p>
        </p:txBody>
      </p:sp>
      <p:pic>
        <p:nvPicPr>
          <p:cNvPr id="3" name="Struktogramm sg_einfuegen" descr="Struktogramm sg_einfuegen">    </p:cNvPr>
          <p:cNvPicPr>
            <a:picLocks noChangeAspect="1"/>
          </p:cNvPicPr>
          <p:nvPr/>
        </p:nvPicPr>
        <p:blipFill>
          <a:blip r:embed="rId1"/>
          <a:stretch>
            <a:fillRect/>
          </a:stretch>
        </p:blipFill>
        <p:spPr>
          <a:xfrm>
            <a:off x="548640" y="1371600"/>
            <a:ext cx="5852160" cy="2912464"/>
          </a:xfrm>
          <a:prstGeom prst="rect">
            <a:avLst/>
          </a:prstGeom>
        </p:spPr>
      </p:pic>
      <p:sp>
        <p:nvSpPr>
          <p:cNvPr id="4" name="Text 1"/>
          <p:cNvSpPr txBox="1"/>
          <p:nvPr/>
        </p:nvSpPr>
        <p:spPr>
          <a:xfrm>
            <a:off x="548640" y="4526280"/>
            <a:ext cx="914400" cy="411480"/>
          </a:xfrm>
          <a:prstGeom prst="rect">
            <a:avLst/>
          </a:prstGeom>
          <a:noFill/>
          <a:ln/>
        </p:spPr>
        <p:txBody>
          <a:bodyPr wrap="square" lIns="0" tIns="0" rIns="0" bIns="0" rtlCol="0" anchor="ctr"/>
          <a:lstStyle/>
          <a:p>
            <a:pPr indent="0" marL="0">
              <a:buNone/>
            </a:pPr>
            <a:r>
              <a:rPr lang="en-US" sz="1500" b="1" dirty="0">
                <a:solidFill>
                  <a:schemeClr val="accent6"/>
                </a:solidFill>
              </a:rPr>
              <a:t>vorher</a:t>
            </a:r>
            <a:endParaRPr lang="en-US" sz="1500" dirty="0"/>
          </a:p>
        </p:txBody>
      </p:sp>
      <p:sp>
        <p:nvSpPr>
          <p:cNvPr id="5" name="vorher 0"/>
          <p:cNvSpPr txBox="1"/>
          <p:nvPr/>
        </p:nvSpPr>
        <p:spPr>
          <a:xfrm>
            <a:off x="1554480" y="4526280"/>
            <a:ext cx="960120" cy="41148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Holz 3</a:t>
            </a:r>
            <a:endParaRPr lang="en-US" sz="1400" dirty="0"/>
          </a:p>
        </p:txBody>
      </p:sp>
      <p:sp>
        <p:nvSpPr>
          <p:cNvPr id="6" name="vorher 1"/>
          <p:cNvSpPr txBox="1"/>
          <p:nvPr/>
        </p:nvSpPr>
        <p:spPr>
          <a:xfrm>
            <a:off x="2514600" y="4526280"/>
            <a:ext cx="960120" cy="41148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Salz 3</a:t>
            </a:r>
            <a:endParaRPr lang="en-US" sz="1400" dirty="0"/>
          </a:p>
        </p:txBody>
      </p:sp>
      <p:sp>
        <p:nvSpPr>
          <p:cNvPr id="7" name="vorher 2"/>
          <p:cNvSpPr txBox="1"/>
          <p:nvPr/>
        </p:nvSpPr>
        <p:spPr>
          <a:xfrm>
            <a:off x="3474720" y="4526280"/>
            <a:ext cx="960120" cy="41148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Erz 5</a:t>
            </a:r>
            <a:endParaRPr lang="en-US" sz="1400" dirty="0"/>
          </a:p>
        </p:txBody>
      </p:sp>
      <p:sp>
        <p:nvSpPr>
          <p:cNvPr id="8" name="vorher 3"/>
          <p:cNvSpPr txBox="1"/>
          <p:nvPr/>
        </p:nvSpPr>
        <p:spPr>
          <a:xfrm>
            <a:off x="4434840" y="4526280"/>
            <a:ext cx="960120" cy="41148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Gold 8</a:t>
            </a:r>
            <a:endParaRPr lang="en-US" sz="1400" dirty="0"/>
          </a:p>
        </p:txBody>
      </p:sp>
      <p:sp>
        <p:nvSpPr>
          <p:cNvPr id="9" name="Text 6"/>
          <p:cNvSpPr txBox="1"/>
          <p:nvPr/>
        </p:nvSpPr>
        <p:spPr>
          <a:xfrm>
            <a:off x="548640" y="5166360"/>
            <a:ext cx="914400" cy="411480"/>
          </a:xfrm>
          <a:prstGeom prst="rect">
            <a:avLst/>
          </a:prstGeom>
          <a:noFill/>
          <a:ln/>
        </p:spPr>
        <p:txBody>
          <a:bodyPr wrap="square" lIns="0" tIns="0" rIns="0" bIns="0" rtlCol="0" anchor="ctr"/>
          <a:lstStyle/>
          <a:p>
            <a:pPr indent="0" marL="0">
              <a:buNone/>
            </a:pPr>
            <a:r>
              <a:rPr lang="en-US" sz="1500" b="1" dirty="0">
                <a:solidFill>
                  <a:schemeClr val="accent6"/>
                </a:solidFill>
              </a:rPr>
              <a:t>nachher</a:t>
            </a:r>
            <a:endParaRPr lang="en-US" sz="1500" dirty="0"/>
          </a:p>
        </p:txBody>
      </p:sp>
      <p:sp>
        <p:nvSpPr>
          <p:cNvPr id="10" name="nachher 0"/>
          <p:cNvSpPr txBox="1"/>
          <p:nvPr/>
        </p:nvSpPr>
        <p:spPr>
          <a:xfrm>
            <a:off x="1554480" y="5166360"/>
            <a:ext cx="960120" cy="41148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Holz 3</a:t>
            </a:r>
            <a:endParaRPr lang="en-US" sz="1400" dirty="0"/>
          </a:p>
        </p:txBody>
      </p:sp>
      <p:sp>
        <p:nvSpPr>
          <p:cNvPr id="11" name="nachher 1"/>
          <p:cNvSpPr txBox="1"/>
          <p:nvPr/>
        </p:nvSpPr>
        <p:spPr>
          <a:xfrm>
            <a:off x="2514600" y="5166360"/>
            <a:ext cx="960120" cy="41148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Salz 3</a:t>
            </a:r>
            <a:endParaRPr lang="en-US" sz="1400" dirty="0"/>
          </a:p>
        </p:txBody>
      </p:sp>
      <p:sp>
        <p:nvSpPr>
          <p:cNvPr id="12" name="nachher 2"/>
          <p:cNvSpPr txBox="1"/>
          <p:nvPr/>
        </p:nvSpPr>
        <p:spPr>
          <a:xfrm>
            <a:off x="3474720" y="5166360"/>
            <a:ext cx="960120" cy="41148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400" b="1" dirty="0">
                <a:solidFill>
                  <a:schemeClr val="accent1"/>
                </a:solidFill>
              </a:rPr>
              <a:t>Blei 3</a:t>
            </a:r>
            <a:endParaRPr lang="en-US" sz="1400" dirty="0"/>
          </a:p>
        </p:txBody>
      </p:sp>
      <p:sp>
        <p:nvSpPr>
          <p:cNvPr id="13" name="nachher 3"/>
          <p:cNvSpPr txBox="1"/>
          <p:nvPr/>
        </p:nvSpPr>
        <p:spPr>
          <a:xfrm>
            <a:off x="4434840" y="5166360"/>
            <a:ext cx="960120" cy="411480"/>
          </a:xfrm>
          <a:prstGeom prst="rect">
            <a:avLst/>
          </a:prstGeom>
          <a:solidFill>
            <a:schemeClr val="bg1"/>
          </a:solidFill>
          <a:ln w="15875">
            <a:solidFill>
              <a:schemeClr val="accent1"/>
            </a:solidFill>
            <a:prstDash val="dash"/>
          </a:ln>
        </p:spPr>
        <p:txBody>
          <a:bodyPr wrap="square" lIns="0" tIns="0" rIns="0" bIns="0" rtlCol="0" anchor="ctr"/>
          <a:lstStyle/>
          <a:p>
            <a:pPr algn="ctr" indent="0" marL="0">
              <a:buNone/>
            </a:pPr>
            <a:r>
              <a:rPr lang="en-US" sz="1400" b="1" dirty="0">
                <a:solidFill>
                  <a:schemeClr val="accent1"/>
                </a:solidFill>
              </a:rPr>
              <a:t>Erz 5</a:t>
            </a:r>
            <a:endParaRPr lang="en-US" sz="1400" dirty="0"/>
          </a:p>
        </p:txBody>
      </p:sp>
      <p:sp>
        <p:nvSpPr>
          <p:cNvPr id="14" name="nachher 4"/>
          <p:cNvSpPr txBox="1"/>
          <p:nvPr/>
        </p:nvSpPr>
        <p:spPr>
          <a:xfrm>
            <a:off x="5394960" y="5166360"/>
            <a:ext cx="960120" cy="411480"/>
          </a:xfrm>
          <a:prstGeom prst="rect">
            <a:avLst/>
          </a:prstGeom>
          <a:solidFill>
            <a:schemeClr val="bg1"/>
          </a:solidFill>
          <a:ln w="15875">
            <a:solidFill>
              <a:schemeClr val="accent1"/>
            </a:solidFill>
            <a:prstDash val="dash"/>
          </a:ln>
        </p:spPr>
        <p:txBody>
          <a:bodyPr wrap="square" lIns="0" tIns="0" rIns="0" bIns="0" rtlCol="0" anchor="ctr"/>
          <a:lstStyle/>
          <a:p>
            <a:pPr algn="ctr" indent="0" marL="0">
              <a:buNone/>
            </a:pPr>
            <a:r>
              <a:rPr lang="en-US" sz="1400" b="1" dirty="0">
                <a:solidFill>
                  <a:schemeClr val="accent1"/>
                </a:solidFill>
              </a:rPr>
              <a:t>Gold 8</a:t>
            </a:r>
            <a:endParaRPr lang="en-US" sz="1400" dirty="0"/>
          </a:p>
        </p:txBody>
      </p:sp>
      <p:sp>
        <p:nvSpPr>
          <p:cNvPr id="15" name="Text 12"/>
          <p:cNvSpPr txBox="1"/>
          <p:nvPr/>
        </p:nvSpPr>
        <p:spPr>
          <a:xfrm>
            <a:off x="1554480" y="5623560"/>
            <a:ext cx="960120" cy="256032"/>
          </a:xfrm>
          <a:prstGeom prst="rect">
            <a:avLst/>
          </a:prstGeom>
          <a:noFill/>
          <a:ln/>
        </p:spPr>
        <p:txBody>
          <a:bodyPr wrap="square" lIns="0" tIns="0" rIns="0" bIns="0" rtlCol="0" anchor="t"/>
          <a:lstStyle/>
          <a:p>
            <a:pPr algn="ctr" indent="0" marL="0">
              <a:buNone/>
            </a:pPr>
            <a:r>
              <a:rPr lang="en-US" sz="1200" dirty="0">
                <a:solidFill>
                  <a:schemeClr val="accent6"/>
                </a:solidFill>
              </a:rPr>
              <a:t>0</a:t>
            </a:r>
            <a:endParaRPr lang="en-US" sz="1200" dirty="0"/>
          </a:p>
        </p:txBody>
      </p:sp>
      <p:sp>
        <p:nvSpPr>
          <p:cNvPr id="16" name="Text 13"/>
          <p:cNvSpPr txBox="1"/>
          <p:nvPr/>
        </p:nvSpPr>
        <p:spPr>
          <a:xfrm>
            <a:off x="2514600" y="5623560"/>
            <a:ext cx="960120" cy="256032"/>
          </a:xfrm>
          <a:prstGeom prst="rect">
            <a:avLst/>
          </a:prstGeom>
          <a:noFill/>
          <a:ln/>
        </p:spPr>
        <p:txBody>
          <a:bodyPr wrap="square" lIns="0" tIns="0" rIns="0" bIns="0" rtlCol="0" anchor="t"/>
          <a:lstStyle/>
          <a:p>
            <a:pPr algn="ctr" indent="0" marL="0">
              <a:buNone/>
            </a:pPr>
            <a:r>
              <a:rPr lang="en-US" sz="1200" dirty="0">
                <a:solidFill>
                  <a:schemeClr val="accent6"/>
                </a:solidFill>
              </a:rPr>
              <a:t>1</a:t>
            </a:r>
            <a:endParaRPr lang="en-US" sz="1200" dirty="0"/>
          </a:p>
        </p:txBody>
      </p:sp>
      <p:sp>
        <p:nvSpPr>
          <p:cNvPr id="17" name="Text 14"/>
          <p:cNvSpPr txBox="1"/>
          <p:nvPr/>
        </p:nvSpPr>
        <p:spPr>
          <a:xfrm>
            <a:off x="3474720" y="5623560"/>
            <a:ext cx="960120" cy="256032"/>
          </a:xfrm>
          <a:prstGeom prst="rect">
            <a:avLst/>
          </a:prstGeom>
          <a:noFill/>
          <a:ln/>
        </p:spPr>
        <p:txBody>
          <a:bodyPr wrap="square" lIns="0" tIns="0" rIns="0" bIns="0" rtlCol="0" anchor="t"/>
          <a:lstStyle/>
          <a:p>
            <a:pPr algn="ctr" indent="0" marL="0">
              <a:buNone/>
            </a:pPr>
            <a:r>
              <a:rPr lang="en-US" sz="1200" dirty="0">
                <a:solidFill>
                  <a:schemeClr val="accent6"/>
                </a:solidFill>
              </a:rPr>
              <a:t>2</a:t>
            </a:r>
            <a:endParaRPr lang="en-US" sz="1200" dirty="0"/>
          </a:p>
        </p:txBody>
      </p:sp>
      <p:sp>
        <p:nvSpPr>
          <p:cNvPr id="18" name="Text 15"/>
          <p:cNvSpPr txBox="1"/>
          <p:nvPr/>
        </p:nvSpPr>
        <p:spPr>
          <a:xfrm>
            <a:off x="4434840" y="5623560"/>
            <a:ext cx="960120" cy="256032"/>
          </a:xfrm>
          <a:prstGeom prst="rect">
            <a:avLst/>
          </a:prstGeom>
          <a:noFill/>
          <a:ln/>
        </p:spPr>
        <p:txBody>
          <a:bodyPr wrap="square" lIns="0" tIns="0" rIns="0" bIns="0" rtlCol="0" anchor="t"/>
          <a:lstStyle/>
          <a:p>
            <a:pPr algn="ctr" indent="0" marL="0">
              <a:buNone/>
            </a:pPr>
            <a:r>
              <a:rPr lang="en-US" sz="1200" dirty="0">
                <a:solidFill>
                  <a:schemeClr val="accent6"/>
                </a:solidFill>
              </a:rPr>
              <a:t>3</a:t>
            </a:r>
            <a:endParaRPr lang="en-US" sz="1200" dirty="0"/>
          </a:p>
        </p:txBody>
      </p:sp>
      <p:sp>
        <p:nvSpPr>
          <p:cNvPr id="19" name="Text 16"/>
          <p:cNvSpPr txBox="1"/>
          <p:nvPr/>
        </p:nvSpPr>
        <p:spPr>
          <a:xfrm>
            <a:off x="5394960" y="5623560"/>
            <a:ext cx="960120" cy="256032"/>
          </a:xfrm>
          <a:prstGeom prst="rect">
            <a:avLst/>
          </a:prstGeom>
          <a:noFill/>
          <a:ln/>
        </p:spPr>
        <p:txBody>
          <a:bodyPr wrap="square" lIns="0" tIns="0" rIns="0" bIns="0" rtlCol="0" anchor="t"/>
          <a:lstStyle/>
          <a:p>
            <a:pPr algn="ctr" indent="0" marL="0">
              <a:buNone/>
            </a:pPr>
            <a:r>
              <a:rPr lang="en-US" sz="1200" dirty="0">
                <a:solidFill>
                  <a:schemeClr val="accent6"/>
                </a:solidFill>
              </a:rPr>
              <a:t>4</a:t>
            </a:r>
            <a:endParaRPr lang="en-US" sz="1200" dirty="0"/>
          </a:p>
        </p:txBody>
      </p:sp>
      <p:graphicFrame>
        <p:nvGraphicFramePr>
          <p:cNvPr id="20" name="Trace einfuegenSortiert"/>
          <p:cNvGraphicFramePr>
            <a:graphicFrameLocks noGrp="1"/>
          </p:cNvGraphicFramePr>
          <p:nvPr>
            <p:extLst>
              <p:ext uri="{D42A27DB-BD31-4B8C-83A1-F6EECF244321}">
                <p14:modId xmlns:p14="http://schemas.microsoft.com/office/powerpoint/2010/main" val="1579011935"/>
              </p:ext>
            </p:extLst>
          </p:nvPr>
        </p:nvGraphicFramePr>
        <p:xfrm>
          <a:off x="6675120" y="1371600"/>
          <a:ext cx="4937760" cy="914400"/>
        </p:xfrm>
        <a:graphic>
          <a:graphicData uri="http://schemas.openxmlformats.org/drawingml/2006/table">
            <a:tbl>
              <a:tblPr/>
              <a:tblGrid>
                <a:gridCol w="729442"/>
                <a:gridCol w="1627216"/>
                <a:gridCol w="2581102"/>
              </a:tblGrid>
              <a:tr h="45720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pos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getItem(pos)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Aktion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57200">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0</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Holz 3</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pos = 1</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1</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Salz 3</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pos = 2</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2</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Erz 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gefunden → insertAt(2, Blei)</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21" name="Gleich schwer"/>
          <p:cNvSpPr/>
          <p:nvPr/>
        </p:nvSpPr>
        <p:spPr>
          <a:xfrm>
            <a:off x="6675120" y="3520440"/>
            <a:ext cx="4937760" cy="1051560"/>
          </a:xfrm>
          <a:prstGeom prst="roundRect">
            <a:avLst>
              <a:gd name="adj" fmla="val 10435"/>
            </a:avLst>
          </a:prstGeom>
          <a:solidFill>
            <a:schemeClr val="bg2"/>
          </a:solidFill>
          <a:ln/>
        </p:spPr>
      </p:sp>
      <p:sp>
        <p:nvSpPr>
          <p:cNvPr id="22" name="Text 18"/>
          <p:cNvSpPr txBox="1"/>
          <p:nvPr/>
        </p:nvSpPr>
        <p:spPr>
          <a:xfrm>
            <a:off x="6876288" y="3520440"/>
            <a:ext cx="4572000" cy="1051560"/>
          </a:xfrm>
          <a:prstGeom prst="rect">
            <a:avLst/>
          </a:prstGeom>
          <a:noFill/>
          <a:ln/>
        </p:spPr>
        <p:txBody>
          <a:bodyPr wrap="square" lIns="0" tIns="0" rIns="0" bIns="0" rtlCol="0" anchor="ctr"/>
          <a:lstStyle/>
          <a:p>
            <a:pPr indent="0" marL="0">
              <a:buNone/>
            </a:pPr>
            <a:r>
              <a:rPr lang="en-US" sz="1500" b="1" dirty="0">
                <a:solidFill>
                  <a:schemeClr val="accent1"/>
                </a:solidFill>
              </a:rPr>
              <a:t>Hinter gleich schwere: </a:t>
            </a:r>
            <a:pPr indent="0" marL="0">
              <a:buNone/>
            </a:pPr>
            <a:r>
              <a:rPr lang="en-US" sz="1500" dirty="0">
                <a:solidFill>
                  <a:schemeClr val="tx1"/>
                </a:solidFill>
              </a:rPr>
              <a:t>Vergleich mit &gt; (nicht ≥) – Blei kommt hinter Holz und Salz.</a:t>
            </a:r>
            <a:endParaRPr lang="en-US" sz="1500" dirty="0"/>
          </a:p>
        </p:txBody>
      </p:sp>
      <p:sp>
        <p:nvSpPr>
          <p:cNvPr id="23" name="Anker"/>
          <p:cNvSpPr/>
          <p:nvPr/>
        </p:nvSpPr>
        <p:spPr>
          <a:xfrm>
            <a:off x="6675120" y="4754880"/>
            <a:ext cx="4937760" cy="1371600"/>
          </a:xfrm>
          <a:prstGeom prst="roundRect">
            <a:avLst>
              <a:gd name="adj" fmla="val 8000"/>
            </a:avLst>
          </a:prstGeom>
          <a:solidFill>
            <a:schemeClr val="bg1"/>
          </a:solidFill>
          <a:ln w="25400">
            <a:solidFill>
              <a:schemeClr val="accent3"/>
            </a:solidFill>
            <a:prstDash val="solid"/>
          </a:ln>
        </p:spPr>
      </p:sp>
      <p:sp>
        <p:nvSpPr>
          <p:cNvPr id="24" name="Text 20"/>
          <p:cNvSpPr txBox="1"/>
          <p:nvPr/>
        </p:nvSpPr>
        <p:spPr>
          <a:xfrm>
            <a:off x="6876288" y="4754880"/>
            <a:ext cx="4572000" cy="1371600"/>
          </a:xfrm>
          <a:prstGeom prst="rect">
            <a:avLst/>
          </a:prstGeom>
          <a:noFill/>
          <a:ln/>
        </p:spPr>
        <p:txBody>
          <a:bodyPr wrap="square" lIns="0" tIns="0" rIns="0" bIns="0" rtlCol="0" anchor="ctr"/>
          <a:lstStyle/>
          <a:p>
            <a:pPr indent="0" marL="0">
              <a:buNone/>
            </a:pPr>
            <a:r>
              <a:rPr lang="en-US" sz="1500" b="1" dirty="0">
                <a:solidFill>
                  <a:schemeClr val="accent3"/>
                </a:solidFill>
              </a:rPr>
              <a:t>Anker 9 kg: </a:t>
            </a:r>
            <a:pPr indent="0" marL="0">
              <a:buNone/>
            </a:pPr>
            <a:r>
              <a:rPr lang="en-US" sz="1500" dirty="0">
                <a:solidFill>
                  <a:schemeClr val="tx1"/>
                </a:solidFill>
              </a:rPr>
              <a:t>Die Schleife endet mit pos = 4 = getLength() – insertAt(4, Anker) hängt hinten an. Kein Sonderfall nötig.</a:t>
            </a:r>
            <a:endParaRPr lang="en-US" sz="1500" dirty="0"/>
          </a:p>
        </p:txBody>
      </p:sp>
      <p:sp>
        <p:nvSpPr>
          <p:cNvPr id="25" name="Text 21"/>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27 · Ladeliste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Fehlerbild: delete in der Vorwärtsschleife</a:t>
            </a:r>
            <a:endParaRPr lang="en-US" sz="3600" dirty="0"/>
          </a:p>
        </p:txBody>
      </p:sp>
      <p:sp>
        <p:nvSpPr>
          <p:cNvPr id="3" name="Chip"/>
          <p:cNvSpPr txBox="1"/>
          <p:nvPr/>
        </p:nvSpPr>
        <p:spPr>
          <a:xfrm>
            <a:off x="548640" y="1325880"/>
            <a:ext cx="2926080" cy="347472"/>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b="1" dirty="0">
                <a:solidFill>
                  <a:schemeClr val="bg1"/>
                </a:solidFill>
              </a:rPr>
              <a:t>FALSCH: i++ auch nach delete</a:t>
            </a:r>
            <a:endParaRPr lang="en-US" sz="1400" dirty="0"/>
          </a:p>
        </p:txBody>
      </p:sp>
      <p:sp>
        <p:nvSpPr>
          <p:cNvPr id="4" name="Chip"/>
          <p:cNvSpPr txBox="1"/>
          <p:nvPr/>
        </p:nvSpPr>
        <p:spPr>
          <a:xfrm>
            <a:off x="6217920" y="1325880"/>
            <a:ext cx="310896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RICHTIG: i nur im else erhöhen</a:t>
            </a:r>
            <a:endParaRPr lang="en-US" sz="1400" dirty="0"/>
          </a:p>
        </p:txBody>
      </p:sp>
      <p:sp>
        <p:nvSpPr>
          <p:cNvPr id="5" name="Text 3"/>
          <p:cNvSpPr txBox="1"/>
          <p:nvPr/>
        </p:nvSpPr>
        <p:spPr>
          <a:xfrm>
            <a:off x="3611880" y="1325880"/>
            <a:ext cx="2514600" cy="347472"/>
          </a:xfrm>
          <a:prstGeom prst="rect">
            <a:avLst/>
          </a:prstGeom>
          <a:noFill/>
          <a:ln/>
        </p:spPr>
        <p:txBody>
          <a:bodyPr wrap="square" lIns="0" tIns="0" rIns="0" bIns="0" rtlCol="0" anchor="ctr"/>
          <a:lstStyle/>
          <a:p>
            <a:pPr indent="0" marL="0">
              <a:buNone/>
            </a:pPr>
            <a:r>
              <a:rPr lang="en-US" sz="1100" i="1" dirty="0">
                <a:solidFill>
                  <a:schemeClr val="accent6"/>
                </a:solidFill>
              </a:rPr>
              <a:t>abspalten(d, 5) · d = Holz 3, Gold 8, Tuch 8, Erz 5</a:t>
            </a:r>
            <a:endParaRPr lang="en-US" sz="1100" dirty="0"/>
          </a:p>
        </p:txBody>
      </p:sp>
      <p:sp>
        <p:nvSpPr>
          <p:cNvPr id="6" name="Text 4"/>
          <p:cNvSpPr txBox="1"/>
          <p:nvPr/>
        </p:nvSpPr>
        <p:spPr>
          <a:xfrm>
            <a:off x="9464040" y="1325880"/>
            <a:ext cx="2148840" cy="347472"/>
          </a:xfrm>
          <a:prstGeom prst="rect">
            <a:avLst/>
          </a:prstGeom>
          <a:noFill/>
          <a:ln/>
        </p:spPr>
        <p:txBody>
          <a:bodyPr wrap="square" lIns="0" tIns="0" rIns="0" bIns="0" rtlCol="0" anchor="ctr"/>
          <a:lstStyle/>
          <a:p>
            <a:pPr indent="0" marL="0">
              <a:buNone/>
            </a:pPr>
            <a:r>
              <a:rPr lang="en-US" sz="1100" i="1" dirty="0">
                <a:solidFill>
                  <a:schemeClr val="accent6"/>
                </a:solidFill>
              </a:rPr>
              <a:t>schwer: alle Kisten mit Gewicht &gt; 5</a:t>
            </a:r>
            <a:endParaRPr lang="en-US" sz="1100" dirty="0"/>
          </a:p>
        </p:txBody>
      </p:sp>
      <p:sp>
        <p:nvSpPr>
          <p:cNvPr id="7" name="Code"/>
          <p:cNvSpPr txBox="1"/>
          <p:nvPr/>
        </p:nvSpPr>
        <p:spPr>
          <a:xfrm>
            <a:off x="548640" y="1783080"/>
            <a:ext cx="5394960" cy="1635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for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&lt;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getLength</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Kiste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Kiste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getGewicht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&gt;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grenze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schwer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append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delete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Nachfolger rueckt auf i</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 Tabellenzeile, dann i++</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8" name="Code"/>
          <p:cNvSpPr txBox="1"/>
          <p:nvPr/>
        </p:nvSpPr>
        <p:spPr>
          <a:xfrm>
            <a:off x="6217920" y="1783080"/>
            <a:ext cx="5394960" cy="2206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a:t>
            </a:r>
            <a:endParaRPr lang="en-US" sz="1200" dirty="0"/>
          </a:p>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while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&lt;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getLength</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Kiste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Kiste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getGewicht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&gt;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grenze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schwer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append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delete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i NICHT erhoehen</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else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r>
              <a:rPr lang="en-US" sz="1200" i="1" dirty="0">
                <a:solidFill>
                  <a:schemeClr val="accent3"/>
                </a:solidFill>
                <a:latin typeface="Consolas" pitchFamily="34" charset="0"/>
                <a:ea typeface="Consolas" pitchFamily="34" charset="-122"/>
                <a:cs typeface="Consolas" pitchFamily="34" charset="-120"/>
              </a:rPr>
              <a:t>   // → Tabellenzeile</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graphicFrame>
        <p:nvGraphicFramePr>
          <p:cNvPr id="21" name="Trace falsch"/>
          <p:cNvGraphicFramePr>
            <a:graphicFrameLocks noGrp="1"/>
          </p:cNvGraphicFramePr>
          <p:nvPr>
            <p:extLst>
              <p:ext uri="{D42A27DB-BD31-4B8C-83A1-F6EECF244321}">
                <p14:modId xmlns:p14="http://schemas.microsoft.com/office/powerpoint/2010/main" val="1579011935"/>
              </p:ext>
            </p:extLst>
          </p:nvPr>
        </p:nvGraphicFramePr>
        <p:xfrm>
          <a:off x="548640" y="4069080"/>
          <a:ext cx="5394960" cy="914400"/>
        </p:xfrm>
        <a:graphic>
          <a:graphicData uri="http://schemas.openxmlformats.org/drawingml/2006/table">
            <a:tbl>
              <a:tblPr/>
              <a:tblGrid>
                <a:gridCol w="407167"/>
                <a:gridCol w="916125"/>
                <a:gridCol w="1781355"/>
                <a:gridCol w="2290313"/>
              </a:tblGrid>
              <a:tr h="310896">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Kiste</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Aktion</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d danach</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10896">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Holz 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i = 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Holz Gold Tuch Erz</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10896">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Gold 8</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delete(1), i = 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Holz Tuch Erz</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10896">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Erz 5</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i = 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Holz Tuch Erz</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BE5E5"/>
                    </a:solidFill>
                  </a:tcPr>
                </a:tc>
              </a:tr>
            </a:tbl>
          </a:graphicData>
        </a:graphic>
      </p:graphicFrame>
      <p:graphicFrame>
        <p:nvGraphicFramePr>
          <p:cNvPr id="41" name="Trace richtig"/>
          <p:cNvGraphicFramePr>
            <a:graphicFrameLocks noGrp="1"/>
          </p:cNvGraphicFramePr>
          <p:nvPr>
            <p:extLst>
              <p:ext uri="{D42A27DB-BD31-4B8C-83A1-F6EECF244321}">
                <p14:modId xmlns:p14="http://schemas.microsoft.com/office/powerpoint/2010/main" val="1579011935"/>
              </p:ext>
            </p:extLst>
          </p:nvPr>
        </p:nvGraphicFramePr>
        <p:xfrm>
          <a:off x="6217920" y="4069080"/>
          <a:ext cx="5394960" cy="914400"/>
        </p:xfrm>
        <a:graphic>
          <a:graphicData uri="http://schemas.openxmlformats.org/drawingml/2006/table">
            <a:tbl>
              <a:tblPr/>
              <a:tblGrid>
                <a:gridCol w="407167"/>
                <a:gridCol w="916125"/>
                <a:gridCol w="1781355"/>
                <a:gridCol w="2290313"/>
              </a:tblGrid>
              <a:tr h="310896">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Kiste</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Aktion</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d danach</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10896">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Holz 3</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i = 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Holz Gold Tuch Erz</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10896">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Gold 8</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delete(1)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Holz Tuch Erz</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10896">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Tuch 8</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delete(1)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Holz Erz</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10896">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Erz 5</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i = 2</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Holz Erz</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1" name="Chip"/>
          <p:cNvSpPr txBox="1"/>
          <p:nvPr/>
        </p:nvSpPr>
        <p:spPr>
          <a:xfrm>
            <a:off x="548640" y="5715000"/>
            <a:ext cx="5394960" cy="411480"/>
          </a:xfrm>
          <a:prstGeom prst="roundRect">
            <a:avLst>
              <a:gd name="adj" fmla="val 50000"/>
            </a:avLst>
          </a:prstGeom>
          <a:solidFill>
            <a:schemeClr val="accent4"/>
          </a:solidFill>
          <a:ln/>
        </p:spPr>
        <p:txBody>
          <a:bodyPr wrap="square" lIns="0" tIns="0" rIns="0" bIns="0" rtlCol="0" anchor="ctr"/>
          <a:lstStyle/>
          <a:p>
            <a:pPr algn="ctr" indent="0" marL="0">
              <a:buNone/>
            </a:pPr>
            <a:r>
              <a:rPr lang="en-US" sz="1500" b="1" dirty="0">
                <a:solidFill>
                  <a:schemeClr val="bg1"/>
                </a:solidFill>
              </a:rPr>
              <a:t>Tuch übersprungen! schwer = Gold</a:t>
            </a:r>
            <a:endParaRPr lang="en-US" sz="1500" dirty="0"/>
          </a:p>
        </p:txBody>
      </p:sp>
      <p:sp>
        <p:nvSpPr>
          <p:cNvPr id="12" name="Chip"/>
          <p:cNvSpPr txBox="1"/>
          <p:nvPr/>
        </p:nvSpPr>
        <p:spPr>
          <a:xfrm>
            <a:off x="6217920" y="5715000"/>
            <a:ext cx="5394960" cy="411480"/>
          </a:xfrm>
          <a:prstGeom prst="roundRect">
            <a:avLst>
              <a:gd name="adj" fmla="val 50000"/>
            </a:avLst>
          </a:prstGeom>
          <a:solidFill>
            <a:schemeClr val="accent3"/>
          </a:solidFill>
          <a:ln/>
        </p:spPr>
        <p:txBody>
          <a:bodyPr wrap="square" lIns="0" tIns="0" rIns="0" bIns="0" rtlCol="0" anchor="ctr"/>
          <a:lstStyle/>
          <a:p>
            <a:pPr algn="ctr" indent="0" marL="0">
              <a:buNone/>
            </a:pPr>
            <a:r>
              <a:rPr lang="en-US" sz="1500" b="1" dirty="0">
                <a:solidFill>
                  <a:schemeClr val="bg1"/>
                </a:solidFill>
              </a:rPr>
              <a:t>schwer = Gold, Tuch · d = Holz, Erz</a:t>
            </a:r>
            <a:endParaRPr lang="en-US" sz="1500" dirty="0"/>
          </a:p>
        </p:txBody>
      </p:sp>
      <p:sp>
        <p:nvSpPr>
          <p:cNvPr id="13" name="Text 9"/>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27 · Fehlerbild</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Reihung, DynArray, Stapel, Schlange im Vergleich</a:t>
            </a:r>
            <a:endParaRPr lang="en-US" sz="3600" dirty="0"/>
          </a:p>
        </p:txBody>
      </p:sp>
      <p:graphicFrame>
        <p:nvGraphicFramePr>
          <p:cNvPr id="22" name="Vergleich Strukturen"/>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737360"/>
                <a:gridCol w="2148840"/>
                <a:gridCol w="2788920"/>
                <a:gridCol w="2194560"/>
                <a:gridCol w="2194560"/>
              </a:tblGrid>
              <a:tr h="475488">
                <a:tc>
                  <a:txBody>
                    <a:bodyPr/>
                    <a:lstStyle/>
                    <a:p>
                      <a:pPr algn="ctr" indent="0" marL="0">
                        <a:buNone/>
                      </a:pP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Reihung</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dynamische Reihung</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Stapel</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Schlange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75488">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Größe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fest bei der Erzeugung</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wächst und schrumpft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beliebig viele Elemente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beliebig viele Elemente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Zugriff</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r[i] an jeder Stelle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getItem(i) an jeder Stelle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nur oben: top, pop</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nur vorne: head, dequeue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Hinzufügen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nicht möglich, nur überschreiben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append, insertAt – Nachfolger rücken auf</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push: oben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enqueue: hinten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Entfernen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nicht möglich</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delete(i) – Nachfolger rücken nach</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pop: oben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dequeue: vorne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Vor dem Zugriff</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0 ≤ i &lt; r.length</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0 ≤ i &lt; getLength()</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isEmpty()</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isEmpty()</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Java</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150" dirty="0">
                          <a:solidFill>
                            <a:schemeClr val="tx1"/>
                          </a:solidFill>
                          <a:latin typeface="Consolas" pitchFamily="34" charset="0"/>
                          <a:ea typeface="Consolas" pitchFamily="34" charset="-122"/>
                          <a:cs typeface="Consolas" pitchFamily="34" charset="-120"/>
                        </a:rPr>
                        <a:t>int[] r = new int[5];</a:t>
                      </a:r>
                      <a:endParaRPr lang="en-US" sz="11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50" dirty="0">
                          <a:solidFill>
                            <a:schemeClr val="tx1"/>
                          </a:solidFill>
                          <a:latin typeface="Consolas" pitchFamily="34" charset="0"/>
                          <a:ea typeface="Consolas" pitchFamily="34" charset="-122"/>
                          <a:cs typeface="Consolas" pitchFamily="34" charset="-120"/>
                        </a:rPr>
                        <a:t>DynArray d = new DynArray();</a:t>
                      </a:r>
                      <a:endParaRPr lang="en-US" sz="11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50" dirty="0">
                          <a:solidFill>
                            <a:schemeClr val="tx1"/>
                          </a:solidFill>
                          <a:latin typeface="Consolas" pitchFamily="34" charset="0"/>
                          <a:ea typeface="Consolas" pitchFamily="34" charset="-122"/>
                          <a:cs typeface="Consolas" pitchFamily="34" charset="-120"/>
                        </a:rPr>
                        <a:t>Stack s = new Stack();</a:t>
                      </a:r>
                      <a:endParaRPr lang="en-US" sz="11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50" dirty="0">
                          <a:solidFill>
                            <a:schemeClr val="tx1"/>
                          </a:solidFill>
                          <a:latin typeface="Consolas" pitchFamily="34" charset="0"/>
                          <a:ea typeface="Consolas" pitchFamily="34" charset="-122"/>
                          <a:cs typeface="Consolas" pitchFamily="34" charset="-120"/>
                        </a:rPr>
                        <a:t>Queue q = new Queue();</a:t>
                      </a:r>
                      <a:endParaRPr lang="en-US" sz="115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accent1"/>
                          </a:solidFill>
                          <a:latin typeface="Calibri" pitchFamily="34" charset="0"/>
                          <a:ea typeface="Calibri" pitchFamily="34" charset="-122"/>
                          <a:cs typeface="Calibri" pitchFamily="34" charset="-120"/>
                        </a:rPr>
                        <a:t>Signatur</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Reihung von Kiste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dynamische Reihung vom Inhaltstyp Kiste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Stapel vom Inhaltstyp Kiste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Schlange vom Inhaltstyp Kiste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4" name="Faustregel"/>
          <p:cNvSpPr/>
          <p:nvPr/>
        </p:nvSpPr>
        <p:spPr>
          <a:xfrm>
            <a:off x="548640" y="5440680"/>
            <a:ext cx="11064240" cy="685800"/>
          </a:xfrm>
          <a:prstGeom prst="roundRect">
            <a:avLst>
              <a:gd name="adj" fmla="val 16000"/>
            </a:avLst>
          </a:prstGeom>
          <a:solidFill>
            <a:schemeClr val="bg2"/>
          </a:solidFill>
          <a:ln/>
        </p:spPr>
      </p:sp>
      <p:sp>
        <p:nvSpPr>
          <p:cNvPr id="5" name="Text 2"/>
          <p:cNvSpPr txBox="1"/>
          <p:nvPr/>
        </p:nvSpPr>
        <p:spPr>
          <a:xfrm>
            <a:off x="749808" y="5440680"/>
            <a:ext cx="10698480" cy="685800"/>
          </a:xfrm>
          <a:prstGeom prst="rect">
            <a:avLst/>
          </a:prstGeom>
          <a:noFill/>
          <a:ln/>
        </p:spPr>
        <p:txBody>
          <a:bodyPr wrap="square" lIns="0" tIns="0" rIns="0" bIns="0" rtlCol="0" anchor="ctr"/>
          <a:lstStyle/>
          <a:p>
            <a:pPr indent="0" marL="0">
              <a:buNone/>
            </a:pPr>
            <a:r>
              <a:rPr lang="en-US" sz="1600" b="1" dirty="0">
                <a:solidFill>
                  <a:schemeClr val="accent1"/>
                </a:solidFill>
              </a:rPr>
              <a:t>Faustregel: </a:t>
            </a:r>
            <a:pPr indent="0" marL="0">
              <a:buNone/>
            </a:pPr>
            <a:r>
              <a:rPr lang="en-US" sz="1600" dirty="0">
                <a:solidFill>
                  <a:schemeClr val="tx1"/>
                </a:solidFill>
              </a:rPr>
              <a:t>Reihenfolge des Hereinkommens entscheidet → Stapel oder Schlange. Zugriff über die Position → (dynamische) Reihung.</a:t>
            </a:r>
            <a:endParaRPr lang="en-US" sz="1600" dirty="0"/>
          </a:p>
        </p:txBody>
      </p:sp>
      <p:sp>
        <p:nvSpPr>
          <p:cNvPr id="6" name="Text 3"/>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27 · Vergleich</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Umformen zwischen den Strukturen</a:t>
            </a:r>
            <a:endParaRPr lang="en-US" sz="3600" dirty="0"/>
          </a:p>
        </p:txBody>
      </p:sp>
      <p:sp>
        <p:nvSpPr>
          <p:cNvPr id="3" name="Text 1"/>
          <p:cNvSpPr txBox="1"/>
          <p:nvPr/>
        </p:nvSpPr>
        <p:spPr>
          <a:xfrm>
            <a:off x="640080" y="1783080"/>
            <a:ext cx="3291840" cy="320040"/>
          </a:xfrm>
          <a:prstGeom prst="rect">
            <a:avLst/>
          </a:prstGeom>
          <a:noFill/>
          <a:ln/>
        </p:spPr>
        <p:txBody>
          <a:bodyPr wrap="square" lIns="0" tIns="0" rIns="0" bIns="0" rtlCol="0" anchor="t"/>
          <a:lstStyle/>
          <a:p>
            <a:pPr algn="ctr" indent="0" marL="0">
              <a:buNone/>
            </a:pPr>
            <a:r>
              <a:rPr lang="en-US" sz="1600" b="1" dirty="0">
                <a:solidFill>
                  <a:schemeClr val="accent1"/>
                </a:solidFill>
              </a:rPr>
              <a:t>Schlange q</a:t>
            </a:r>
            <a:endParaRPr lang="en-US" sz="1600" dirty="0"/>
          </a:p>
        </p:txBody>
      </p:sp>
      <p:sp>
        <p:nvSpPr>
          <p:cNvPr id="4" name="Text 2"/>
          <p:cNvSpPr txBox="1"/>
          <p:nvPr/>
        </p:nvSpPr>
        <p:spPr>
          <a:xfrm>
            <a:off x="5074920" y="1783080"/>
            <a:ext cx="3017520" cy="320040"/>
          </a:xfrm>
          <a:prstGeom prst="rect">
            <a:avLst/>
          </a:prstGeom>
          <a:noFill/>
          <a:ln/>
        </p:spPr>
        <p:txBody>
          <a:bodyPr wrap="square" lIns="0" tIns="0" rIns="0" bIns="0" rtlCol="0" anchor="t"/>
          <a:lstStyle/>
          <a:p>
            <a:pPr algn="ctr" indent="0" marL="0">
              <a:buNone/>
            </a:pPr>
            <a:r>
              <a:rPr lang="en-US" sz="1600" b="1" dirty="0">
                <a:solidFill>
                  <a:schemeClr val="accent1"/>
                </a:solidFill>
              </a:rPr>
              <a:t>dynamische Reihung d</a:t>
            </a:r>
            <a:endParaRPr lang="en-US" sz="1600" dirty="0"/>
          </a:p>
        </p:txBody>
      </p:sp>
      <p:sp>
        <p:nvSpPr>
          <p:cNvPr id="5" name="Text 3"/>
          <p:cNvSpPr txBox="1"/>
          <p:nvPr/>
        </p:nvSpPr>
        <p:spPr>
          <a:xfrm>
            <a:off x="9235440" y="1783080"/>
            <a:ext cx="2011680" cy="320040"/>
          </a:xfrm>
          <a:prstGeom prst="rect">
            <a:avLst/>
          </a:prstGeom>
          <a:noFill/>
          <a:ln/>
        </p:spPr>
        <p:txBody>
          <a:bodyPr wrap="square" lIns="0" tIns="0" rIns="0" bIns="0" rtlCol="0" anchor="t"/>
          <a:lstStyle/>
          <a:p>
            <a:pPr algn="ctr" indent="0" marL="0">
              <a:buNone/>
            </a:pPr>
            <a:r>
              <a:rPr lang="en-US" sz="1600" b="1" dirty="0">
                <a:solidFill>
                  <a:schemeClr val="accent1"/>
                </a:solidFill>
              </a:rPr>
              <a:t>Stapel s</a:t>
            </a:r>
            <a:endParaRPr lang="en-US" sz="1600" dirty="0"/>
          </a:p>
        </p:txBody>
      </p:sp>
      <p:sp>
        <p:nvSpPr>
          <p:cNvPr id="6" name="Schlange oben"/>
          <p:cNvSpPr/>
          <p:nvPr/>
        </p:nvSpPr>
        <p:spPr>
          <a:xfrm>
            <a:off x="640080" y="2286000"/>
            <a:ext cx="3282696" cy="91"/>
          </a:xfrm>
          <a:prstGeom prst="line">
            <a:avLst/>
          </a:prstGeom>
          <a:noFill/>
          <a:ln w="31750">
            <a:solidFill>
              <a:schemeClr val="accent1"/>
            </a:solidFill>
            <a:prstDash val="solid"/>
          </a:ln>
        </p:spPr>
      </p:sp>
      <p:sp>
        <p:nvSpPr>
          <p:cNvPr id="7" name="Schlange unten"/>
          <p:cNvSpPr/>
          <p:nvPr/>
        </p:nvSpPr>
        <p:spPr>
          <a:xfrm>
            <a:off x="640080" y="2916936"/>
            <a:ext cx="3282696" cy="91"/>
          </a:xfrm>
          <a:prstGeom prst="line">
            <a:avLst/>
          </a:prstGeom>
          <a:noFill/>
          <a:ln w="31750">
            <a:solidFill>
              <a:schemeClr val="accent1"/>
            </a:solidFill>
            <a:prstDash val="solid"/>
          </a:ln>
        </p:spPr>
      </p:sp>
      <p:sp>
        <p:nvSpPr>
          <p:cNvPr id="8" name="Element Holz"/>
          <p:cNvSpPr txBox="1"/>
          <p:nvPr/>
        </p:nvSpPr>
        <p:spPr>
          <a:xfrm>
            <a:off x="731520" y="2350008"/>
            <a:ext cx="996696" cy="502920"/>
          </a:xfrm>
          <a:prstGeom prst="roundRect">
            <a:avLst>
              <a:gd name="adj" fmla="val 14545"/>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Holz</a:t>
            </a:r>
            <a:endParaRPr lang="en-US" sz="1500" dirty="0"/>
          </a:p>
        </p:txBody>
      </p:sp>
      <p:sp>
        <p:nvSpPr>
          <p:cNvPr id="9" name="Element Erz"/>
          <p:cNvSpPr txBox="1"/>
          <p:nvPr/>
        </p:nvSpPr>
        <p:spPr>
          <a:xfrm>
            <a:off x="1783080" y="2350008"/>
            <a:ext cx="996696" cy="502920"/>
          </a:xfrm>
          <a:prstGeom prst="roundRect">
            <a:avLst>
              <a:gd name="adj" fmla="val 14545"/>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Erz</a:t>
            </a:r>
            <a:endParaRPr lang="en-US" sz="1500" dirty="0"/>
          </a:p>
        </p:txBody>
      </p:sp>
      <p:sp>
        <p:nvSpPr>
          <p:cNvPr id="10" name="Element Gold"/>
          <p:cNvSpPr txBox="1"/>
          <p:nvPr/>
        </p:nvSpPr>
        <p:spPr>
          <a:xfrm>
            <a:off x="2834640" y="2350008"/>
            <a:ext cx="996696" cy="502920"/>
          </a:xfrm>
          <a:prstGeom prst="roundRect">
            <a:avLst>
              <a:gd name="adj" fmla="val 14545"/>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Gold</a:t>
            </a:r>
            <a:endParaRPr lang="en-US" sz="1500" dirty="0"/>
          </a:p>
        </p:txBody>
      </p:sp>
      <p:sp>
        <p:nvSpPr>
          <p:cNvPr id="11" name="Text 9"/>
          <p:cNvSpPr txBox="1"/>
          <p:nvPr/>
        </p:nvSpPr>
        <p:spPr>
          <a:xfrm>
            <a:off x="640080" y="2953512"/>
            <a:ext cx="914400" cy="256032"/>
          </a:xfrm>
          <a:prstGeom prst="rect">
            <a:avLst/>
          </a:prstGeom>
          <a:noFill/>
          <a:ln/>
        </p:spPr>
        <p:txBody>
          <a:bodyPr wrap="square" lIns="0" tIns="0" rIns="0" bIns="0" rtlCol="0" anchor="t"/>
          <a:lstStyle/>
          <a:p>
            <a:pPr indent="0" marL="0">
              <a:buNone/>
            </a:pPr>
            <a:r>
              <a:rPr lang="en-US" sz="1200" i="1" dirty="0">
                <a:solidFill>
                  <a:schemeClr val="accent6"/>
                </a:solidFill>
              </a:rPr>
              <a:t>vorne</a:t>
            </a:r>
            <a:endParaRPr lang="en-US" sz="1200" dirty="0"/>
          </a:p>
        </p:txBody>
      </p:sp>
      <p:sp>
        <p:nvSpPr>
          <p:cNvPr id="12" name="Text 10"/>
          <p:cNvSpPr txBox="1"/>
          <p:nvPr/>
        </p:nvSpPr>
        <p:spPr>
          <a:xfrm>
            <a:off x="3008376" y="2953512"/>
            <a:ext cx="914400" cy="256032"/>
          </a:xfrm>
          <a:prstGeom prst="rect">
            <a:avLst/>
          </a:prstGeom>
          <a:noFill/>
          <a:ln/>
        </p:spPr>
        <p:txBody>
          <a:bodyPr wrap="square" lIns="0" tIns="0" rIns="0" bIns="0" rtlCol="0" anchor="t"/>
          <a:lstStyle/>
          <a:p>
            <a:pPr algn="r" indent="0" marL="0">
              <a:buNone/>
            </a:pPr>
            <a:r>
              <a:rPr lang="en-US" sz="1200" i="1" dirty="0">
                <a:solidFill>
                  <a:schemeClr val="accent6"/>
                </a:solidFill>
              </a:rPr>
              <a:t>hinten</a:t>
            </a:r>
            <a:endParaRPr lang="en-US" sz="1200" dirty="0"/>
          </a:p>
        </p:txBody>
      </p:sp>
      <p:sp>
        <p:nvSpPr>
          <p:cNvPr id="13" name="Pfeil Schlange DynArray"/>
          <p:cNvSpPr/>
          <p:nvPr/>
        </p:nvSpPr>
        <p:spPr>
          <a:xfrm>
            <a:off x="4069080" y="2606040"/>
            <a:ext cx="868680" cy="91"/>
          </a:xfrm>
          <a:prstGeom prst="line">
            <a:avLst/>
          </a:prstGeom>
          <a:noFill/>
          <a:ln w="34925">
            <a:solidFill>
              <a:schemeClr val="accent2"/>
            </a:solidFill>
            <a:prstDash val="solid"/>
            <a:tailEnd type="triangle"/>
          </a:ln>
        </p:spPr>
      </p:sp>
      <p:sp>
        <p:nvSpPr>
          <p:cNvPr id="14" name="Text 12"/>
          <p:cNvSpPr txBox="1"/>
          <p:nvPr/>
        </p:nvSpPr>
        <p:spPr>
          <a:xfrm>
            <a:off x="3108960" y="1325880"/>
            <a:ext cx="2834640" cy="292608"/>
          </a:xfrm>
          <a:prstGeom prst="rect">
            <a:avLst/>
          </a:prstGeom>
          <a:noFill/>
          <a:ln/>
        </p:spPr>
        <p:txBody>
          <a:bodyPr wrap="square" lIns="0" tIns="0" rIns="0" bIns="0" rtlCol="0" anchor="t"/>
          <a:lstStyle/>
          <a:p>
            <a:pPr algn="ctr" indent="0" marL="0">
              <a:buNone/>
            </a:pPr>
            <a:r>
              <a:rPr lang="en-US" sz="1300" b="1" dirty="0">
                <a:solidFill>
                  <a:schemeClr val="accent2"/>
                </a:solidFill>
                <a:latin typeface="Consolas" pitchFamily="34" charset="0"/>
                <a:ea typeface="Consolas" pitchFamily="34" charset="-122"/>
                <a:cs typeface="Consolas" pitchFamily="34" charset="-120"/>
              </a:rPr>
              <a:t>schlangeZuDynArray(q)</a:t>
            </a:r>
            <a:endParaRPr lang="en-US" sz="1300" dirty="0"/>
          </a:p>
        </p:txBody>
      </p:sp>
      <p:sp>
        <p:nvSpPr>
          <p:cNvPr id="15" name="d 0"/>
          <p:cNvSpPr txBox="1"/>
          <p:nvPr/>
        </p:nvSpPr>
        <p:spPr>
          <a:xfrm>
            <a:off x="5074920" y="2350008"/>
            <a:ext cx="1005840" cy="50292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Holz</a:t>
            </a:r>
            <a:endParaRPr lang="en-US" sz="1500" dirty="0"/>
          </a:p>
        </p:txBody>
      </p:sp>
      <p:sp>
        <p:nvSpPr>
          <p:cNvPr id="16" name="d 1"/>
          <p:cNvSpPr txBox="1"/>
          <p:nvPr/>
        </p:nvSpPr>
        <p:spPr>
          <a:xfrm>
            <a:off x="6080760" y="2350008"/>
            <a:ext cx="1005840" cy="50292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Erz</a:t>
            </a:r>
            <a:endParaRPr lang="en-US" sz="1500" dirty="0"/>
          </a:p>
        </p:txBody>
      </p:sp>
      <p:sp>
        <p:nvSpPr>
          <p:cNvPr id="17" name="d 2"/>
          <p:cNvSpPr txBox="1"/>
          <p:nvPr/>
        </p:nvSpPr>
        <p:spPr>
          <a:xfrm>
            <a:off x="7086600" y="2350008"/>
            <a:ext cx="1005840" cy="50292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Gold</a:t>
            </a:r>
            <a:endParaRPr lang="en-US" sz="1500" dirty="0"/>
          </a:p>
        </p:txBody>
      </p:sp>
      <p:sp>
        <p:nvSpPr>
          <p:cNvPr id="18" name="Text 16"/>
          <p:cNvSpPr txBox="1"/>
          <p:nvPr/>
        </p:nvSpPr>
        <p:spPr>
          <a:xfrm>
            <a:off x="5074920" y="2898648"/>
            <a:ext cx="1005840"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19" name="Text 17"/>
          <p:cNvSpPr txBox="1"/>
          <p:nvPr/>
        </p:nvSpPr>
        <p:spPr>
          <a:xfrm>
            <a:off x="6080760" y="2898648"/>
            <a:ext cx="1005840"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20" name="Text 18"/>
          <p:cNvSpPr txBox="1"/>
          <p:nvPr/>
        </p:nvSpPr>
        <p:spPr>
          <a:xfrm>
            <a:off x="7086600" y="2898648"/>
            <a:ext cx="1005840"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21" name="Pfeil DynArray Stapel"/>
          <p:cNvSpPr/>
          <p:nvPr/>
        </p:nvSpPr>
        <p:spPr>
          <a:xfrm>
            <a:off x="8229600" y="2606040"/>
            <a:ext cx="868680" cy="91"/>
          </a:xfrm>
          <a:prstGeom prst="line">
            <a:avLst/>
          </a:prstGeom>
          <a:noFill/>
          <a:ln w="34925">
            <a:solidFill>
              <a:schemeClr val="accent2"/>
            </a:solidFill>
            <a:prstDash val="solid"/>
            <a:tailEnd type="triangle"/>
          </a:ln>
        </p:spPr>
      </p:sp>
      <p:sp>
        <p:nvSpPr>
          <p:cNvPr id="22" name="Text 20"/>
          <p:cNvSpPr txBox="1"/>
          <p:nvPr/>
        </p:nvSpPr>
        <p:spPr>
          <a:xfrm>
            <a:off x="7269480" y="1325880"/>
            <a:ext cx="2834640" cy="292608"/>
          </a:xfrm>
          <a:prstGeom prst="rect">
            <a:avLst/>
          </a:prstGeom>
          <a:noFill/>
          <a:ln/>
        </p:spPr>
        <p:txBody>
          <a:bodyPr wrap="square" lIns="0" tIns="0" rIns="0" bIns="0" rtlCol="0" anchor="t"/>
          <a:lstStyle/>
          <a:p>
            <a:pPr algn="ctr" indent="0" marL="0">
              <a:buNone/>
            </a:pPr>
            <a:r>
              <a:rPr lang="en-US" sz="1300" b="1" dirty="0">
                <a:solidFill>
                  <a:schemeClr val="accent2"/>
                </a:solidFill>
                <a:latin typeface="Consolas" pitchFamily="34" charset="0"/>
                <a:ea typeface="Consolas" pitchFamily="34" charset="-122"/>
                <a:cs typeface="Consolas" pitchFamily="34" charset="-120"/>
              </a:rPr>
              <a:t>dynArrayZuStapel(d)</a:t>
            </a:r>
            <a:endParaRPr lang="en-US" sz="1300" dirty="0"/>
          </a:p>
        </p:txBody>
      </p:sp>
      <p:sp>
        <p:nvSpPr>
          <p:cNvPr id="23" name="Stapel Wand links"/>
          <p:cNvSpPr/>
          <p:nvPr/>
        </p:nvSpPr>
        <p:spPr>
          <a:xfrm>
            <a:off x="9509760" y="2249424"/>
            <a:ext cx="91" cy="1545336"/>
          </a:xfrm>
          <a:prstGeom prst="line">
            <a:avLst/>
          </a:prstGeom>
          <a:noFill/>
          <a:ln w="31750">
            <a:solidFill>
              <a:schemeClr val="accent1"/>
            </a:solidFill>
            <a:prstDash val="solid"/>
          </a:ln>
        </p:spPr>
      </p:sp>
      <p:sp>
        <p:nvSpPr>
          <p:cNvPr id="24" name="Stapel Boden"/>
          <p:cNvSpPr/>
          <p:nvPr/>
        </p:nvSpPr>
        <p:spPr>
          <a:xfrm>
            <a:off x="9509760" y="3794760"/>
            <a:ext cx="1463040" cy="91"/>
          </a:xfrm>
          <a:prstGeom prst="line">
            <a:avLst/>
          </a:prstGeom>
          <a:noFill/>
          <a:ln w="31750">
            <a:solidFill>
              <a:schemeClr val="accent1"/>
            </a:solidFill>
            <a:prstDash val="solid"/>
          </a:ln>
        </p:spPr>
      </p:sp>
      <p:sp>
        <p:nvSpPr>
          <p:cNvPr id="25" name="Stapel Wand rechts"/>
          <p:cNvSpPr/>
          <p:nvPr/>
        </p:nvSpPr>
        <p:spPr>
          <a:xfrm>
            <a:off x="10972800" y="2249424"/>
            <a:ext cx="91" cy="1545336"/>
          </a:xfrm>
          <a:prstGeom prst="line">
            <a:avLst/>
          </a:prstGeom>
          <a:noFill/>
          <a:ln w="31750">
            <a:solidFill>
              <a:schemeClr val="accent1"/>
            </a:solidFill>
            <a:prstDash val="solid"/>
          </a:ln>
        </p:spPr>
      </p:sp>
      <p:sp>
        <p:nvSpPr>
          <p:cNvPr id="26" name="Element Holz"/>
          <p:cNvSpPr txBox="1"/>
          <p:nvPr/>
        </p:nvSpPr>
        <p:spPr>
          <a:xfrm>
            <a:off x="9573768" y="3273552"/>
            <a:ext cx="1335024"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Holz</a:t>
            </a:r>
            <a:endParaRPr lang="en-US" sz="1500" dirty="0"/>
          </a:p>
        </p:txBody>
      </p:sp>
      <p:sp>
        <p:nvSpPr>
          <p:cNvPr id="27" name="Element Erz"/>
          <p:cNvSpPr txBox="1"/>
          <p:nvPr/>
        </p:nvSpPr>
        <p:spPr>
          <a:xfrm>
            <a:off x="9573768" y="2779776"/>
            <a:ext cx="1335024"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Erz</a:t>
            </a:r>
            <a:endParaRPr lang="en-US" sz="1500" dirty="0"/>
          </a:p>
        </p:txBody>
      </p:sp>
      <p:sp>
        <p:nvSpPr>
          <p:cNvPr id="28" name="Element Gold"/>
          <p:cNvSpPr txBox="1"/>
          <p:nvPr/>
        </p:nvSpPr>
        <p:spPr>
          <a:xfrm>
            <a:off x="9573768" y="2286000"/>
            <a:ext cx="1335024" cy="457200"/>
          </a:xfrm>
          <a:prstGeom prst="roundRect">
            <a:avLst>
              <a:gd name="adj" fmla="val 16000"/>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Gold</a:t>
            </a:r>
            <a:endParaRPr lang="en-US" sz="1500" dirty="0"/>
          </a:p>
        </p:txBody>
      </p:sp>
      <p:sp>
        <p:nvSpPr>
          <p:cNvPr id="29" name="Text 27"/>
          <p:cNvSpPr txBox="1"/>
          <p:nvPr/>
        </p:nvSpPr>
        <p:spPr>
          <a:xfrm>
            <a:off x="640080" y="3246120"/>
            <a:ext cx="3291840" cy="274320"/>
          </a:xfrm>
          <a:prstGeom prst="rect">
            <a:avLst/>
          </a:prstGeom>
          <a:noFill/>
          <a:ln/>
        </p:spPr>
        <p:txBody>
          <a:bodyPr wrap="square" lIns="0" tIns="0" rIns="0" bIns="0" rtlCol="0" anchor="t"/>
          <a:lstStyle/>
          <a:p>
            <a:pPr algn="ctr" indent="0" marL="0">
              <a:buNone/>
            </a:pPr>
            <a:r>
              <a:rPr lang="en-US" sz="1400" b="1" dirty="0">
                <a:solidFill>
                  <a:schemeClr val="accent3"/>
                </a:solidFill>
              </a:rPr>
              <a:t>q danach unverändert</a:t>
            </a:r>
            <a:endParaRPr lang="en-US" sz="1400" dirty="0"/>
          </a:p>
        </p:txBody>
      </p:sp>
      <p:sp>
        <p:nvSpPr>
          <p:cNvPr id="30" name="Text 28"/>
          <p:cNvSpPr txBox="1"/>
          <p:nvPr/>
        </p:nvSpPr>
        <p:spPr>
          <a:xfrm>
            <a:off x="5074920" y="3246120"/>
            <a:ext cx="3017520" cy="274320"/>
          </a:xfrm>
          <a:prstGeom prst="rect">
            <a:avLst/>
          </a:prstGeom>
          <a:noFill/>
          <a:ln/>
        </p:spPr>
        <p:txBody>
          <a:bodyPr wrap="square" lIns="0" tIns="0" rIns="0" bIns="0" rtlCol="0" anchor="t"/>
          <a:lstStyle/>
          <a:p>
            <a:pPr algn="ctr" indent="0" marL="0">
              <a:buNone/>
            </a:pPr>
            <a:r>
              <a:rPr lang="en-US" sz="1400" i="1" dirty="0">
                <a:solidFill>
                  <a:schemeClr val="accent6"/>
                </a:solidFill>
              </a:rPr>
              <a:t>vorne → Index 0</a:t>
            </a:r>
            <a:endParaRPr lang="en-US" sz="1400" dirty="0"/>
          </a:p>
        </p:txBody>
      </p:sp>
      <p:sp>
        <p:nvSpPr>
          <p:cNvPr id="31" name="Text 29"/>
          <p:cNvSpPr txBox="1"/>
          <p:nvPr/>
        </p:nvSpPr>
        <p:spPr>
          <a:xfrm>
            <a:off x="8595360" y="3886200"/>
            <a:ext cx="3017520" cy="274320"/>
          </a:xfrm>
          <a:prstGeom prst="rect">
            <a:avLst/>
          </a:prstGeom>
          <a:noFill/>
          <a:ln/>
        </p:spPr>
        <p:txBody>
          <a:bodyPr wrap="square" lIns="0" tIns="0" rIns="0" bIns="0" rtlCol="0" anchor="t"/>
          <a:lstStyle/>
          <a:p>
            <a:pPr algn="ctr" indent="0" marL="0">
              <a:buNone/>
            </a:pPr>
            <a:r>
              <a:rPr lang="en-US" sz="1400" i="1" dirty="0">
                <a:solidFill>
                  <a:schemeClr val="accent6"/>
                </a:solidFill>
              </a:rPr>
              <a:t>Index 0 zuerst gepusht → Gold oben</a:t>
            </a:r>
            <a:endParaRPr lang="en-US" sz="1400" dirty="0"/>
          </a:p>
        </p:txBody>
      </p:sp>
      <p:sp>
        <p:nvSpPr>
          <p:cNvPr id="32" name="Code"/>
          <p:cNvSpPr txBox="1"/>
          <p:nvPr/>
        </p:nvSpPr>
        <p:spPr>
          <a:xfrm>
            <a:off x="548640" y="4434840"/>
            <a:ext cx="5760720" cy="11145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Stack</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new</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Stack</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for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0;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&lt;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d</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getLength</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push</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d</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getItem</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Object rein: kein Cast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33" name="Wiederherstellen"/>
          <p:cNvSpPr/>
          <p:nvPr/>
        </p:nvSpPr>
        <p:spPr>
          <a:xfrm>
            <a:off x="6583680" y="4434840"/>
            <a:ext cx="5029200" cy="777240"/>
          </a:xfrm>
          <a:prstGeom prst="roundRect">
            <a:avLst>
              <a:gd name="adj" fmla="val 14118"/>
            </a:avLst>
          </a:prstGeom>
          <a:solidFill>
            <a:schemeClr val="bg1"/>
          </a:solidFill>
          <a:ln w="25400">
            <a:solidFill>
              <a:schemeClr val="accent4"/>
            </a:solidFill>
            <a:prstDash val="solid"/>
          </a:ln>
        </p:spPr>
      </p:sp>
      <p:sp>
        <p:nvSpPr>
          <p:cNvPr id="34" name="Text 32"/>
          <p:cNvSpPr txBox="1"/>
          <p:nvPr/>
        </p:nvSpPr>
        <p:spPr>
          <a:xfrm>
            <a:off x="6784848" y="4434840"/>
            <a:ext cx="4663440" cy="777240"/>
          </a:xfrm>
          <a:prstGeom prst="rect">
            <a:avLst/>
          </a:prstGeom>
          <a:noFill/>
          <a:ln/>
        </p:spPr>
        <p:txBody>
          <a:bodyPr wrap="square" lIns="0" tIns="0" rIns="0" bIns="0" rtlCol="0" anchor="ctr"/>
          <a:lstStyle/>
          <a:p>
            <a:pPr indent="0" marL="0">
              <a:buNone/>
            </a:pPr>
            <a:r>
              <a:rPr lang="en-US" sz="1500" b="1" dirty="0">
                <a:solidFill>
                  <a:schemeClr val="accent4"/>
                </a:solidFill>
              </a:rPr>
              <a:t>Achtung: </a:t>
            </a:r>
            <a:pPr indent="0" marL="0">
              <a:buNone/>
            </a:pPr>
            <a:r>
              <a:rPr lang="en-US" sz="1500" dirty="0">
                <a:solidFill>
                  <a:schemeClr val="tx1"/>
                </a:solidFill>
              </a:rPr>
              <a:t>Wer die Schlange abbaut, muss sie danach wiederherstellen.</a:t>
            </a:r>
            <a:endParaRPr lang="en-US" sz="1500" dirty="0"/>
          </a:p>
        </p:txBody>
      </p:sp>
      <p:sp>
        <p:nvSpPr>
          <p:cNvPr id="35" name="Merke Umdrehen"/>
          <p:cNvSpPr/>
          <p:nvPr/>
        </p:nvSpPr>
        <p:spPr>
          <a:xfrm>
            <a:off x="6583680" y="5349240"/>
            <a:ext cx="5029200" cy="777240"/>
          </a:xfrm>
          <a:prstGeom prst="roundRect">
            <a:avLst>
              <a:gd name="adj" fmla="val 14118"/>
            </a:avLst>
          </a:prstGeom>
          <a:solidFill>
            <a:schemeClr val="bg2"/>
          </a:solidFill>
          <a:ln/>
        </p:spPr>
      </p:sp>
      <p:sp>
        <p:nvSpPr>
          <p:cNvPr id="36" name="Text 34"/>
          <p:cNvSpPr txBox="1"/>
          <p:nvPr/>
        </p:nvSpPr>
        <p:spPr>
          <a:xfrm>
            <a:off x="6784848" y="5349240"/>
            <a:ext cx="4663440" cy="777240"/>
          </a:xfrm>
          <a:prstGeom prst="rect">
            <a:avLst/>
          </a:prstGeom>
          <a:noFill/>
          <a:ln/>
        </p:spPr>
        <p:txBody>
          <a:bodyPr wrap="square" lIns="0" tIns="0" rIns="0" bIns="0" rtlCol="0" anchor="ctr"/>
          <a:lstStyle/>
          <a:p>
            <a:pPr indent="0" marL="0">
              <a:buNone/>
            </a:pPr>
            <a:r>
              <a:rPr lang="en-US" sz="1500" b="1" dirty="0">
                <a:solidFill>
                  <a:schemeClr val="accent1"/>
                </a:solidFill>
              </a:rPr>
              <a:t>Merke: </a:t>
            </a:r>
            <a:pPr indent="0" marL="0">
              <a:buNone/>
            </a:pPr>
            <a:r>
              <a:rPr lang="en-US" sz="1500" dirty="0">
                <a:solidFill>
                  <a:schemeClr val="tx1"/>
                </a:solidFill>
              </a:rPr>
              <a:t>Einmal über einen Stapel dreht die Reihenfolge um.</a:t>
            </a:r>
            <a:endParaRPr lang="en-US" sz="1500" dirty="0"/>
          </a:p>
        </p:txBody>
      </p:sp>
      <p:sp>
        <p:nvSpPr>
          <p:cNvPr id="37" name="Text 35"/>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28 · Umformen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Klammerprüfung mit Stapel: "{[()]}" Schritt für Schritt</a:t>
            </a:r>
            <a:endParaRPr lang="en-US" sz="3600" dirty="0"/>
          </a:p>
        </p:txBody>
      </p:sp>
      <p:sp>
        <p:nvSpPr>
          <p:cNvPr id="3" name="Zeichen 0 0"/>
          <p:cNvSpPr txBox="1"/>
          <p:nvPr/>
        </p:nvSpPr>
        <p:spPr>
          <a:xfrm>
            <a:off x="1097280" y="1325880"/>
            <a:ext cx="640080" cy="5943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4" name="Text 2"/>
          <p:cNvSpPr txBox="1"/>
          <p:nvPr/>
        </p:nvSpPr>
        <p:spPr>
          <a:xfrm>
            <a:off x="548640" y="2011680"/>
            <a:ext cx="1737360" cy="320040"/>
          </a:xfrm>
          <a:prstGeom prst="rect">
            <a:avLst/>
          </a:prstGeom>
          <a:noFill/>
          <a:ln/>
        </p:spPr>
        <p:txBody>
          <a:bodyPr wrap="square" lIns="0" tIns="0" rIns="0" bIns="0" rtlCol="0" anchor="t"/>
          <a:lstStyle/>
          <a:p>
            <a:pPr algn="ctr" indent="0" marL="0">
              <a:buNone/>
            </a:pPr>
            <a:r>
              <a:rPr lang="en-US" sz="1500" b="1" dirty="0">
                <a:solidFill>
                  <a:schemeClr val="accent1"/>
                </a:solidFill>
              </a:rPr>
              <a:t>push</a:t>
            </a:r>
            <a:endParaRPr lang="en-US" sz="1500" dirty="0"/>
          </a:p>
        </p:txBody>
      </p:sp>
      <p:sp>
        <p:nvSpPr>
          <p:cNvPr id="5" name="Stapel Wand links"/>
          <p:cNvSpPr/>
          <p:nvPr/>
        </p:nvSpPr>
        <p:spPr>
          <a:xfrm>
            <a:off x="960120" y="2468880"/>
            <a:ext cx="91" cy="1325880"/>
          </a:xfrm>
          <a:prstGeom prst="line">
            <a:avLst/>
          </a:prstGeom>
          <a:noFill/>
          <a:ln w="31750">
            <a:solidFill>
              <a:schemeClr val="accent1"/>
            </a:solidFill>
            <a:prstDash val="solid"/>
          </a:ln>
        </p:spPr>
      </p:sp>
      <p:sp>
        <p:nvSpPr>
          <p:cNvPr id="6" name="Stapel Boden"/>
          <p:cNvSpPr/>
          <p:nvPr/>
        </p:nvSpPr>
        <p:spPr>
          <a:xfrm>
            <a:off x="960120" y="3794760"/>
            <a:ext cx="914400" cy="91"/>
          </a:xfrm>
          <a:prstGeom prst="line">
            <a:avLst/>
          </a:prstGeom>
          <a:noFill/>
          <a:ln w="31750">
            <a:solidFill>
              <a:schemeClr val="accent1"/>
            </a:solidFill>
            <a:prstDash val="solid"/>
          </a:ln>
        </p:spPr>
      </p:sp>
      <p:sp>
        <p:nvSpPr>
          <p:cNvPr id="7" name="Stapel Wand rechts"/>
          <p:cNvSpPr/>
          <p:nvPr/>
        </p:nvSpPr>
        <p:spPr>
          <a:xfrm>
            <a:off x="1874520" y="2468880"/>
            <a:ext cx="91" cy="1325880"/>
          </a:xfrm>
          <a:prstGeom prst="line">
            <a:avLst/>
          </a:prstGeom>
          <a:noFill/>
          <a:ln w="31750">
            <a:solidFill>
              <a:schemeClr val="accent1"/>
            </a:solidFill>
            <a:prstDash val="solid"/>
          </a:ln>
        </p:spPr>
      </p:sp>
      <p:sp>
        <p:nvSpPr>
          <p:cNvPr id="8" name="Element {"/>
          <p:cNvSpPr txBox="1"/>
          <p:nvPr/>
        </p:nvSpPr>
        <p:spPr>
          <a:xfrm>
            <a:off x="1024128" y="3346704"/>
            <a:ext cx="786384" cy="384048"/>
          </a:xfrm>
          <a:prstGeom prst="roundRect">
            <a:avLst>
              <a:gd name="adj" fmla="val 19048"/>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a:t>
            </a:r>
            <a:endParaRPr lang="en-US" sz="1800" dirty="0"/>
          </a:p>
        </p:txBody>
      </p:sp>
      <p:sp>
        <p:nvSpPr>
          <p:cNvPr id="9" name="Pfeil weiter"/>
          <p:cNvSpPr/>
          <p:nvPr/>
        </p:nvSpPr>
        <p:spPr>
          <a:xfrm>
            <a:off x="1965960" y="1627632"/>
            <a:ext cx="457200" cy="91"/>
          </a:xfrm>
          <a:prstGeom prst="line">
            <a:avLst/>
          </a:prstGeom>
          <a:noFill/>
          <a:ln w="19050">
            <a:solidFill>
              <a:schemeClr val="accent6"/>
            </a:solidFill>
            <a:prstDash val="solid"/>
            <a:tailEnd type="triangle"/>
          </a:ln>
        </p:spPr>
      </p:sp>
      <p:sp>
        <p:nvSpPr>
          <p:cNvPr id="10" name="Zeichen 1 0"/>
          <p:cNvSpPr txBox="1"/>
          <p:nvPr/>
        </p:nvSpPr>
        <p:spPr>
          <a:xfrm>
            <a:off x="2944368" y="1325880"/>
            <a:ext cx="640080" cy="5943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11" name="Text 9"/>
          <p:cNvSpPr txBox="1"/>
          <p:nvPr/>
        </p:nvSpPr>
        <p:spPr>
          <a:xfrm>
            <a:off x="2395728" y="2011680"/>
            <a:ext cx="1737360" cy="320040"/>
          </a:xfrm>
          <a:prstGeom prst="rect">
            <a:avLst/>
          </a:prstGeom>
          <a:noFill/>
          <a:ln/>
        </p:spPr>
        <p:txBody>
          <a:bodyPr wrap="square" lIns="0" tIns="0" rIns="0" bIns="0" rtlCol="0" anchor="t"/>
          <a:lstStyle/>
          <a:p>
            <a:pPr algn="ctr" indent="0" marL="0">
              <a:buNone/>
            </a:pPr>
            <a:r>
              <a:rPr lang="en-US" sz="1500" b="1" dirty="0">
                <a:solidFill>
                  <a:schemeClr val="accent1"/>
                </a:solidFill>
              </a:rPr>
              <a:t>push</a:t>
            </a:r>
            <a:endParaRPr lang="en-US" sz="1500" dirty="0"/>
          </a:p>
        </p:txBody>
      </p:sp>
      <p:sp>
        <p:nvSpPr>
          <p:cNvPr id="12" name="Stapel Wand links"/>
          <p:cNvSpPr/>
          <p:nvPr/>
        </p:nvSpPr>
        <p:spPr>
          <a:xfrm>
            <a:off x="2807208" y="2468880"/>
            <a:ext cx="91" cy="1325880"/>
          </a:xfrm>
          <a:prstGeom prst="line">
            <a:avLst/>
          </a:prstGeom>
          <a:noFill/>
          <a:ln w="31750">
            <a:solidFill>
              <a:schemeClr val="accent1"/>
            </a:solidFill>
            <a:prstDash val="solid"/>
          </a:ln>
        </p:spPr>
      </p:sp>
      <p:sp>
        <p:nvSpPr>
          <p:cNvPr id="13" name="Stapel Boden"/>
          <p:cNvSpPr/>
          <p:nvPr/>
        </p:nvSpPr>
        <p:spPr>
          <a:xfrm>
            <a:off x="2807208" y="3794760"/>
            <a:ext cx="914400" cy="91"/>
          </a:xfrm>
          <a:prstGeom prst="line">
            <a:avLst/>
          </a:prstGeom>
          <a:noFill/>
          <a:ln w="31750">
            <a:solidFill>
              <a:schemeClr val="accent1"/>
            </a:solidFill>
            <a:prstDash val="solid"/>
          </a:ln>
        </p:spPr>
      </p:sp>
      <p:sp>
        <p:nvSpPr>
          <p:cNvPr id="14" name="Stapel Wand rechts"/>
          <p:cNvSpPr/>
          <p:nvPr/>
        </p:nvSpPr>
        <p:spPr>
          <a:xfrm>
            <a:off x="3721608" y="2468880"/>
            <a:ext cx="91" cy="1325880"/>
          </a:xfrm>
          <a:prstGeom prst="line">
            <a:avLst/>
          </a:prstGeom>
          <a:noFill/>
          <a:ln w="31750">
            <a:solidFill>
              <a:schemeClr val="accent1"/>
            </a:solidFill>
            <a:prstDash val="solid"/>
          </a:ln>
        </p:spPr>
      </p:sp>
      <p:sp>
        <p:nvSpPr>
          <p:cNvPr id="15" name="Element {"/>
          <p:cNvSpPr txBox="1"/>
          <p:nvPr/>
        </p:nvSpPr>
        <p:spPr>
          <a:xfrm>
            <a:off x="2871216" y="3346704"/>
            <a:ext cx="786384" cy="384048"/>
          </a:xfrm>
          <a:prstGeom prst="roundRect">
            <a:avLst>
              <a:gd name="adj" fmla="val 19048"/>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a:t>
            </a:r>
            <a:endParaRPr lang="en-US" sz="1800" dirty="0"/>
          </a:p>
        </p:txBody>
      </p:sp>
      <p:sp>
        <p:nvSpPr>
          <p:cNvPr id="16" name="Element ["/>
          <p:cNvSpPr txBox="1"/>
          <p:nvPr/>
        </p:nvSpPr>
        <p:spPr>
          <a:xfrm>
            <a:off x="2871216" y="2926080"/>
            <a:ext cx="786384" cy="384048"/>
          </a:xfrm>
          <a:prstGeom prst="roundRect">
            <a:avLst>
              <a:gd name="adj" fmla="val 19048"/>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a:t>
            </a:r>
            <a:endParaRPr lang="en-US" sz="1800" dirty="0"/>
          </a:p>
        </p:txBody>
      </p:sp>
      <p:sp>
        <p:nvSpPr>
          <p:cNvPr id="17" name="Pfeil weiter"/>
          <p:cNvSpPr/>
          <p:nvPr/>
        </p:nvSpPr>
        <p:spPr>
          <a:xfrm>
            <a:off x="3813048" y="1627632"/>
            <a:ext cx="457200" cy="91"/>
          </a:xfrm>
          <a:prstGeom prst="line">
            <a:avLst/>
          </a:prstGeom>
          <a:noFill/>
          <a:ln w="19050">
            <a:solidFill>
              <a:schemeClr val="accent6"/>
            </a:solidFill>
            <a:prstDash val="solid"/>
            <a:tailEnd type="triangle"/>
          </a:ln>
        </p:spPr>
      </p:sp>
      <p:sp>
        <p:nvSpPr>
          <p:cNvPr id="18" name="Zeichen 2 0"/>
          <p:cNvSpPr txBox="1"/>
          <p:nvPr/>
        </p:nvSpPr>
        <p:spPr>
          <a:xfrm>
            <a:off x="4791456" y="1325880"/>
            <a:ext cx="640080" cy="5943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19" name="Text 17"/>
          <p:cNvSpPr txBox="1"/>
          <p:nvPr/>
        </p:nvSpPr>
        <p:spPr>
          <a:xfrm>
            <a:off x="4242816" y="2011680"/>
            <a:ext cx="1737360" cy="320040"/>
          </a:xfrm>
          <a:prstGeom prst="rect">
            <a:avLst/>
          </a:prstGeom>
          <a:noFill/>
          <a:ln/>
        </p:spPr>
        <p:txBody>
          <a:bodyPr wrap="square" lIns="0" tIns="0" rIns="0" bIns="0" rtlCol="0" anchor="t"/>
          <a:lstStyle/>
          <a:p>
            <a:pPr algn="ctr" indent="0" marL="0">
              <a:buNone/>
            </a:pPr>
            <a:r>
              <a:rPr lang="en-US" sz="1500" b="1" dirty="0">
                <a:solidFill>
                  <a:schemeClr val="accent1"/>
                </a:solidFill>
              </a:rPr>
              <a:t>push</a:t>
            </a:r>
            <a:endParaRPr lang="en-US" sz="1500" dirty="0"/>
          </a:p>
        </p:txBody>
      </p:sp>
      <p:sp>
        <p:nvSpPr>
          <p:cNvPr id="20" name="Stapel Wand links"/>
          <p:cNvSpPr/>
          <p:nvPr/>
        </p:nvSpPr>
        <p:spPr>
          <a:xfrm>
            <a:off x="4654296" y="2468880"/>
            <a:ext cx="91" cy="1325880"/>
          </a:xfrm>
          <a:prstGeom prst="line">
            <a:avLst/>
          </a:prstGeom>
          <a:noFill/>
          <a:ln w="31750">
            <a:solidFill>
              <a:schemeClr val="accent1"/>
            </a:solidFill>
            <a:prstDash val="solid"/>
          </a:ln>
        </p:spPr>
      </p:sp>
      <p:sp>
        <p:nvSpPr>
          <p:cNvPr id="21" name="Stapel Boden"/>
          <p:cNvSpPr/>
          <p:nvPr/>
        </p:nvSpPr>
        <p:spPr>
          <a:xfrm>
            <a:off x="4654296" y="3794760"/>
            <a:ext cx="914400" cy="91"/>
          </a:xfrm>
          <a:prstGeom prst="line">
            <a:avLst/>
          </a:prstGeom>
          <a:noFill/>
          <a:ln w="31750">
            <a:solidFill>
              <a:schemeClr val="accent1"/>
            </a:solidFill>
            <a:prstDash val="solid"/>
          </a:ln>
        </p:spPr>
      </p:sp>
      <p:sp>
        <p:nvSpPr>
          <p:cNvPr id="22" name="Stapel Wand rechts"/>
          <p:cNvSpPr/>
          <p:nvPr/>
        </p:nvSpPr>
        <p:spPr>
          <a:xfrm>
            <a:off x="5568696" y="2468880"/>
            <a:ext cx="91" cy="1325880"/>
          </a:xfrm>
          <a:prstGeom prst="line">
            <a:avLst/>
          </a:prstGeom>
          <a:noFill/>
          <a:ln w="31750">
            <a:solidFill>
              <a:schemeClr val="accent1"/>
            </a:solidFill>
            <a:prstDash val="solid"/>
          </a:ln>
        </p:spPr>
      </p:sp>
      <p:sp>
        <p:nvSpPr>
          <p:cNvPr id="23" name="Element {"/>
          <p:cNvSpPr txBox="1"/>
          <p:nvPr/>
        </p:nvSpPr>
        <p:spPr>
          <a:xfrm>
            <a:off x="4718304" y="3346704"/>
            <a:ext cx="786384" cy="384048"/>
          </a:xfrm>
          <a:prstGeom prst="roundRect">
            <a:avLst>
              <a:gd name="adj" fmla="val 19048"/>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a:t>
            </a:r>
            <a:endParaRPr lang="en-US" sz="1800" dirty="0"/>
          </a:p>
        </p:txBody>
      </p:sp>
      <p:sp>
        <p:nvSpPr>
          <p:cNvPr id="24" name="Element ["/>
          <p:cNvSpPr txBox="1"/>
          <p:nvPr/>
        </p:nvSpPr>
        <p:spPr>
          <a:xfrm>
            <a:off x="4718304" y="2926080"/>
            <a:ext cx="786384" cy="384048"/>
          </a:xfrm>
          <a:prstGeom prst="roundRect">
            <a:avLst>
              <a:gd name="adj" fmla="val 19048"/>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a:t>
            </a:r>
            <a:endParaRPr lang="en-US" sz="1800" dirty="0"/>
          </a:p>
        </p:txBody>
      </p:sp>
      <p:sp>
        <p:nvSpPr>
          <p:cNvPr id="25" name="Element ("/>
          <p:cNvSpPr txBox="1"/>
          <p:nvPr/>
        </p:nvSpPr>
        <p:spPr>
          <a:xfrm>
            <a:off x="4718304" y="2505456"/>
            <a:ext cx="786384" cy="384048"/>
          </a:xfrm>
          <a:prstGeom prst="roundRect">
            <a:avLst>
              <a:gd name="adj" fmla="val 19048"/>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a:t>
            </a:r>
            <a:endParaRPr lang="en-US" sz="1800" dirty="0"/>
          </a:p>
        </p:txBody>
      </p:sp>
      <p:sp>
        <p:nvSpPr>
          <p:cNvPr id="26" name="Pfeil weiter"/>
          <p:cNvSpPr/>
          <p:nvPr/>
        </p:nvSpPr>
        <p:spPr>
          <a:xfrm>
            <a:off x="5660136" y="1627632"/>
            <a:ext cx="457200" cy="91"/>
          </a:xfrm>
          <a:prstGeom prst="line">
            <a:avLst/>
          </a:prstGeom>
          <a:noFill/>
          <a:ln w="19050">
            <a:solidFill>
              <a:schemeClr val="accent6"/>
            </a:solidFill>
            <a:prstDash val="solid"/>
            <a:tailEnd type="triangle"/>
          </a:ln>
        </p:spPr>
      </p:sp>
      <p:sp>
        <p:nvSpPr>
          <p:cNvPr id="27" name="Zeichen 3 0"/>
          <p:cNvSpPr txBox="1"/>
          <p:nvPr/>
        </p:nvSpPr>
        <p:spPr>
          <a:xfrm>
            <a:off x="6638544" y="1325880"/>
            <a:ext cx="640080" cy="59436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28" name="Text 26"/>
          <p:cNvSpPr txBox="1"/>
          <p:nvPr/>
        </p:nvSpPr>
        <p:spPr>
          <a:xfrm>
            <a:off x="6089904" y="2011680"/>
            <a:ext cx="1737360" cy="320040"/>
          </a:xfrm>
          <a:prstGeom prst="rect">
            <a:avLst/>
          </a:prstGeom>
          <a:noFill/>
          <a:ln/>
        </p:spPr>
        <p:txBody>
          <a:bodyPr wrap="square" lIns="0" tIns="0" rIns="0" bIns="0" rtlCol="0" anchor="t"/>
          <a:lstStyle/>
          <a:p>
            <a:pPr algn="ctr" indent="0" marL="0">
              <a:buNone/>
            </a:pPr>
            <a:r>
              <a:rPr lang="en-US" sz="1500" b="1" dirty="0">
                <a:solidFill>
                  <a:schemeClr val="accent3"/>
                </a:solidFill>
              </a:rPr>
              <a:t>pop: ( passt</a:t>
            </a:r>
            <a:endParaRPr lang="en-US" sz="1500" dirty="0"/>
          </a:p>
        </p:txBody>
      </p:sp>
      <p:sp>
        <p:nvSpPr>
          <p:cNvPr id="29" name="Stapel Wand links"/>
          <p:cNvSpPr/>
          <p:nvPr/>
        </p:nvSpPr>
        <p:spPr>
          <a:xfrm>
            <a:off x="6501384" y="2468880"/>
            <a:ext cx="91" cy="1325880"/>
          </a:xfrm>
          <a:prstGeom prst="line">
            <a:avLst/>
          </a:prstGeom>
          <a:noFill/>
          <a:ln w="31750">
            <a:solidFill>
              <a:schemeClr val="accent1"/>
            </a:solidFill>
            <a:prstDash val="solid"/>
          </a:ln>
        </p:spPr>
      </p:sp>
      <p:sp>
        <p:nvSpPr>
          <p:cNvPr id="30" name="Stapel Boden"/>
          <p:cNvSpPr/>
          <p:nvPr/>
        </p:nvSpPr>
        <p:spPr>
          <a:xfrm>
            <a:off x="6501384" y="3794760"/>
            <a:ext cx="914400" cy="91"/>
          </a:xfrm>
          <a:prstGeom prst="line">
            <a:avLst/>
          </a:prstGeom>
          <a:noFill/>
          <a:ln w="31750">
            <a:solidFill>
              <a:schemeClr val="accent1"/>
            </a:solidFill>
            <a:prstDash val="solid"/>
          </a:ln>
        </p:spPr>
      </p:sp>
      <p:sp>
        <p:nvSpPr>
          <p:cNvPr id="31" name="Stapel Wand rechts"/>
          <p:cNvSpPr/>
          <p:nvPr/>
        </p:nvSpPr>
        <p:spPr>
          <a:xfrm>
            <a:off x="7415784" y="2468880"/>
            <a:ext cx="91" cy="1325880"/>
          </a:xfrm>
          <a:prstGeom prst="line">
            <a:avLst/>
          </a:prstGeom>
          <a:noFill/>
          <a:ln w="31750">
            <a:solidFill>
              <a:schemeClr val="accent1"/>
            </a:solidFill>
            <a:prstDash val="solid"/>
          </a:ln>
        </p:spPr>
      </p:sp>
      <p:sp>
        <p:nvSpPr>
          <p:cNvPr id="32" name="Element {"/>
          <p:cNvSpPr txBox="1"/>
          <p:nvPr/>
        </p:nvSpPr>
        <p:spPr>
          <a:xfrm>
            <a:off x="6565392" y="3346704"/>
            <a:ext cx="786384" cy="384048"/>
          </a:xfrm>
          <a:prstGeom prst="roundRect">
            <a:avLst>
              <a:gd name="adj" fmla="val 19048"/>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a:t>
            </a:r>
            <a:endParaRPr lang="en-US" sz="1800" dirty="0"/>
          </a:p>
        </p:txBody>
      </p:sp>
      <p:sp>
        <p:nvSpPr>
          <p:cNvPr id="33" name="Element ["/>
          <p:cNvSpPr txBox="1"/>
          <p:nvPr/>
        </p:nvSpPr>
        <p:spPr>
          <a:xfrm>
            <a:off x="6565392" y="2926080"/>
            <a:ext cx="786384" cy="384048"/>
          </a:xfrm>
          <a:prstGeom prst="roundRect">
            <a:avLst>
              <a:gd name="adj" fmla="val 19048"/>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a:t>
            </a:r>
            <a:endParaRPr lang="en-US" sz="1800" dirty="0"/>
          </a:p>
        </p:txBody>
      </p:sp>
      <p:sp>
        <p:nvSpPr>
          <p:cNvPr id="34" name="Pfeil weiter"/>
          <p:cNvSpPr/>
          <p:nvPr/>
        </p:nvSpPr>
        <p:spPr>
          <a:xfrm>
            <a:off x="7507224" y="1627632"/>
            <a:ext cx="457200" cy="91"/>
          </a:xfrm>
          <a:prstGeom prst="line">
            <a:avLst/>
          </a:prstGeom>
          <a:noFill/>
          <a:ln w="19050">
            <a:solidFill>
              <a:schemeClr val="accent6"/>
            </a:solidFill>
            <a:prstDash val="solid"/>
            <a:tailEnd type="triangle"/>
          </a:ln>
        </p:spPr>
      </p:sp>
      <p:sp>
        <p:nvSpPr>
          <p:cNvPr id="35" name="Zeichen 4 0"/>
          <p:cNvSpPr txBox="1"/>
          <p:nvPr/>
        </p:nvSpPr>
        <p:spPr>
          <a:xfrm>
            <a:off x="8485632" y="1325880"/>
            <a:ext cx="640080" cy="59436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36" name="Text 34"/>
          <p:cNvSpPr txBox="1"/>
          <p:nvPr/>
        </p:nvSpPr>
        <p:spPr>
          <a:xfrm>
            <a:off x="7936992" y="2011680"/>
            <a:ext cx="1737360" cy="320040"/>
          </a:xfrm>
          <a:prstGeom prst="rect">
            <a:avLst/>
          </a:prstGeom>
          <a:noFill/>
          <a:ln/>
        </p:spPr>
        <p:txBody>
          <a:bodyPr wrap="square" lIns="0" tIns="0" rIns="0" bIns="0" rtlCol="0" anchor="t"/>
          <a:lstStyle/>
          <a:p>
            <a:pPr algn="ctr" indent="0" marL="0">
              <a:buNone/>
            </a:pPr>
            <a:r>
              <a:rPr lang="en-US" sz="1500" b="1" dirty="0">
                <a:solidFill>
                  <a:schemeClr val="accent3"/>
                </a:solidFill>
              </a:rPr>
              <a:t>pop: [ passt</a:t>
            </a:r>
            <a:endParaRPr lang="en-US" sz="1500" dirty="0"/>
          </a:p>
        </p:txBody>
      </p:sp>
      <p:sp>
        <p:nvSpPr>
          <p:cNvPr id="37" name="Stapel Wand links"/>
          <p:cNvSpPr/>
          <p:nvPr/>
        </p:nvSpPr>
        <p:spPr>
          <a:xfrm>
            <a:off x="8348472" y="2468880"/>
            <a:ext cx="91" cy="1325880"/>
          </a:xfrm>
          <a:prstGeom prst="line">
            <a:avLst/>
          </a:prstGeom>
          <a:noFill/>
          <a:ln w="31750">
            <a:solidFill>
              <a:schemeClr val="accent1"/>
            </a:solidFill>
            <a:prstDash val="solid"/>
          </a:ln>
        </p:spPr>
      </p:sp>
      <p:sp>
        <p:nvSpPr>
          <p:cNvPr id="38" name="Stapel Boden"/>
          <p:cNvSpPr/>
          <p:nvPr/>
        </p:nvSpPr>
        <p:spPr>
          <a:xfrm>
            <a:off x="8348472" y="3794760"/>
            <a:ext cx="914400" cy="91"/>
          </a:xfrm>
          <a:prstGeom prst="line">
            <a:avLst/>
          </a:prstGeom>
          <a:noFill/>
          <a:ln w="31750">
            <a:solidFill>
              <a:schemeClr val="accent1"/>
            </a:solidFill>
            <a:prstDash val="solid"/>
          </a:ln>
        </p:spPr>
      </p:sp>
      <p:sp>
        <p:nvSpPr>
          <p:cNvPr id="39" name="Stapel Wand rechts"/>
          <p:cNvSpPr/>
          <p:nvPr/>
        </p:nvSpPr>
        <p:spPr>
          <a:xfrm>
            <a:off x="9262872" y="2468880"/>
            <a:ext cx="91" cy="1325880"/>
          </a:xfrm>
          <a:prstGeom prst="line">
            <a:avLst/>
          </a:prstGeom>
          <a:noFill/>
          <a:ln w="31750">
            <a:solidFill>
              <a:schemeClr val="accent1"/>
            </a:solidFill>
            <a:prstDash val="solid"/>
          </a:ln>
        </p:spPr>
      </p:sp>
      <p:sp>
        <p:nvSpPr>
          <p:cNvPr id="40" name="Element {"/>
          <p:cNvSpPr txBox="1"/>
          <p:nvPr/>
        </p:nvSpPr>
        <p:spPr>
          <a:xfrm>
            <a:off x="8412480" y="3346704"/>
            <a:ext cx="786384" cy="384048"/>
          </a:xfrm>
          <a:prstGeom prst="roundRect">
            <a:avLst>
              <a:gd name="adj" fmla="val 19048"/>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a:t>
            </a:r>
            <a:endParaRPr lang="en-US" sz="1800" dirty="0"/>
          </a:p>
        </p:txBody>
      </p:sp>
      <p:sp>
        <p:nvSpPr>
          <p:cNvPr id="41" name="Pfeil weiter"/>
          <p:cNvSpPr/>
          <p:nvPr/>
        </p:nvSpPr>
        <p:spPr>
          <a:xfrm>
            <a:off x="9354312" y="1627632"/>
            <a:ext cx="457200" cy="91"/>
          </a:xfrm>
          <a:prstGeom prst="line">
            <a:avLst/>
          </a:prstGeom>
          <a:noFill/>
          <a:ln w="19050">
            <a:solidFill>
              <a:schemeClr val="accent6"/>
            </a:solidFill>
            <a:prstDash val="solid"/>
            <a:tailEnd type="triangle"/>
          </a:ln>
        </p:spPr>
      </p:sp>
      <p:sp>
        <p:nvSpPr>
          <p:cNvPr id="42" name="Zeichen 5 0"/>
          <p:cNvSpPr txBox="1"/>
          <p:nvPr/>
        </p:nvSpPr>
        <p:spPr>
          <a:xfrm>
            <a:off x="10332720" y="1325880"/>
            <a:ext cx="640080" cy="59436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43" name="Text 41"/>
          <p:cNvSpPr txBox="1"/>
          <p:nvPr/>
        </p:nvSpPr>
        <p:spPr>
          <a:xfrm>
            <a:off x="9784080" y="2011680"/>
            <a:ext cx="1737360" cy="320040"/>
          </a:xfrm>
          <a:prstGeom prst="rect">
            <a:avLst/>
          </a:prstGeom>
          <a:noFill/>
          <a:ln/>
        </p:spPr>
        <p:txBody>
          <a:bodyPr wrap="square" lIns="0" tIns="0" rIns="0" bIns="0" rtlCol="0" anchor="t"/>
          <a:lstStyle/>
          <a:p>
            <a:pPr algn="ctr" indent="0" marL="0">
              <a:buNone/>
            </a:pPr>
            <a:r>
              <a:rPr lang="en-US" sz="1500" b="1" dirty="0">
                <a:solidFill>
                  <a:schemeClr val="accent3"/>
                </a:solidFill>
              </a:rPr>
              <a:t>pop: { passt</a:t>
            </a:r>
            <a:endParaRPr lang="en-US" sz="1500" dirty="0"/>
          </a:p>
        </p:txBody>
      </p:sp>
      <p:sp>
        <p:nvSpPr>
          <p:cNvPr id="44" name="Stapel Wand links"/>
          <p:cNvSpPr/>
          <p:nvPr/>
        </p:nvSpPr>
        <p:spPr>
          <a:xfrm>
            <a:off x="10195560" y="2468880"/>
            <a:ext cx="91" cy="1325880"/>
          </a:xfrm>
          <a:prstGeom prst="line">
            <a:avLst/>
          </a:prstGeom>
          <a:noFill/>
          <a:ln w="31750">
            <a:solidFill>
              <a:schemeClr val="accent1"/>
            </a:solidFill>
            <a:prstDash val="solid"/>
          </a:ln>
        </p:spPr>
      </p:sp>
      <p:sp>
        <p:nvSpPr>
          <p:cNvPr id="45" name="Stapel Boden"/>
          <p:cNvSpPr/>
          <p:nvPr/>
        </p:nvSpPr>
        <p:spPr>
          <a:xfrm>
            <a:off x="10195560" y="3794760"/>
            <a:ext cx="914400" cy="91"/>
          </a:xfrm>
          <a:prstGeom prst="line">
            <a:avLst/>
          </a:prstGeom>
          <a:noFill/>
          <a:ln w="31750">
            <a:solidFill>
              <a:schemeClr val="accent1"/>
            </a:solidFill>
            <a:prstDash val="solid"/>
          </a:ln>
        </p:spPr>
      </p:sp>
      <p:sp>
        <p:nvSpPr>
          <p:cNvPr id="46" name="Stapel Wand rechts"/>
          <p:cNvSpPr/>
          <p:nvPr/>
        </p:nvSpPr>
        <p:spPr>
          <a:xfrm>
            <a:off x="11109960" y="2468880"/>
            <a:ext cx="91" cy="1325880"/>
          </a:xfrm>
          <a:prstGeom prst="line">
            <a:avLst/>
          </a:prstGeom>
          <a:noFill/>
          <a:ln w="31750">
            <a:solidFill>
              <a:schemeClr val="accent1"/>
            </a:solidFill>
            <a:prstDash val="solid"/>
          </a:ln>
        </p:spPr>
      </p:sp>
      <p:sp>
        <p:nvSpPr>
          <p:cNvPr id="47" name="Text 45"/>
          <p:cNvSpPr txBox="1"/>
          <p:nvPr/>
        </p:nvSpPr>
        <p:spPr>
          <a:xfrm>
            <a:off x="10195560" y="3346704"/>
            <a:ext cx="914400" cy="384048"/>
          </a:xfrm>
          <a:prstGeom prst="rect">
            <a:avLst/>
          </a:prstGeom>
          <a:noFill/>
          <a:ln/>
        </p:spPr>
        <p:txBody>
          <a:bodyPr wrap="square" lIns="0" tIns="0" rIns="0" bIns="0" rtlCol="0" anchor="ctr"/>
          <a:lstStyle/>
          <a:p>
            <a:pPr algn="ctr" indent="0" marL="0">
              <a:buNone/>
            </a:pPr>
            <a:r>
              <a:rPr lang="en-US" sz="1800" dirty="0">
                <a:solidFill>
                  <a:srgbClr val="A6A6A6"/>
                </a:solidFill>
              </a:rPr>
              <a:t>–</a:t>
            </a:r>
            <a:endParaRPr lang="en-US" sz="1800" dirty="0"/>
          </a:p>
        </p:txBody>
      </p:sp>
      <p:sp>
        <p:nvSpPr>
          <p:cNvPr id="48" name="Text 46"/>
          <p:cNvSpPr txBox="1"/>
          <p:nvPr/>
        </p:nvSpPr>
        <p:spPr>
          <a:xfrm>
            <a:off x="548640" y="4023360"/>
            <a:ext cx="8503920" cy="365760"/>
          </a:xfrm>
          <a:prstGeom prst="rect">
            <a:avLst/>
          </a:prstGeom>
          <a:noFill/>
          <a:ln/>
        </p:spPr>
        <p:txBody>
          <a:bodyPr wrap="square" lIns="0" tIns="0" rIns="0" bIns="0" rtlCol="0" anchor="ctr"/>
          <a:lstStyle/>
          <a:p>
            <a:pPr indent="0" marL="0">
              <a:buNone/>
            </a:pPr>
            <a:r>
              <a:rPr lang="en-US" sz="1500" dirty="0">
                <a:solidFill>
                  <a:schemeClr val="accent1"/>
                </a:solidFill>
              </a:rPr>
              <a:t>Stapel vom Inhaltstyp Zeichen: </a:t>
            </a:r>
            <a:pPr indent="0" marL="0">
              <a:buNone/>
            </a:pPr>
            <a:r>
              <a:rPr lang="en-US" sz="1400" dirty="0">
                <a:solidFill>
                  <a:schemeClr val="accent1"/>
                </a:solidFill>
                <a:latin typeface="Consolas" pitchFamily="34" charset="0"/>
                <a:ea typeface="Consolas" pitchFamily="34" charset="-122"/>
                <a:cs typeface="Consolas" pitchFamily="34" charset="-120"/>
              </a:rPr>
              <a:t>offen.push(c);</a:t>
            </a:r>
            <a:pPr indent="0" marL="0">
              <a:buNone/>
            </a:pPr>
            <a:r>
              <a:rPr lang="en-US" sz="1500" dirty="0">
                <a:solidFill>
                  <a:schemeClr val="accent1"/>
                </a:solidFill>
              </a:rPr>
              <a:t>   </a:t>
            </a:r>
            <a:pPr indent="0" marL="0">
              <a:buNone/>
            </a:pPr>
            <a:r>
              <a:rPr lang="en-US" sz="1400" dirty="0">
                <a:solidFill>
                  <a:schemeClr val="accent1"/>
                </a:solidFill>
                <a:latin typeface="Consolas" pitchFamily="34" charset="0"/>
                <a:ea typeface="Consolas" pitchFamily="34" charset="-122"/>
                <a:cs typeface="Consolas" pitchFamily="34" charset="-120"/>
              </a:rPr>
              <a:t>char auf = (Character) offen.pop();</a:t>
            </a:r>
            <a:endParaRPr lang="en-US" sz="1500" dirty="0"/>
          </a:p>
        </p:txBody>
      </p:sp>
      <p:sp>
        <p:nvSpPr>
          <p:cNvPr id="49" name="Chip"/>
          <p:cNvSpPr txBox="1"/>
          <p:nvPr/>
        </p:nvSpPr>
        <p:spPr>
          <a:xfrm>
            <a:off x="9144000" y="3995928"/>
            <a:ext cx="2468880" cy="411480"/>
          </a:xfrm>
          <a:prstGeom prst="roundRect">
            <a:avLst>
              <a:gd name="adj" fmla="val 50000"/>
            </a:avLst>
          </a:prstGeom>
          <a:solidFill>
            <a:schemeClr val="accent3"/>
          </a:solidFill>
          <a:ln/>
        </p:spPr>
        <p:txBody>
          <a:bodyPr wrap="square" lIns="0" tIns="0" rIns="0" bIns="0" rtlCol="0" anchor="ctr"/>
          <a:lstStyle/>
          <a:p>
            <a:pPr algn="ctr" indent="0" marL="0">
              <a:buNone/>
            </a:pPr>
            <a:r>
              <a:rPr lang="en-US" sz="1500" b="1" dirty="0">
                <a:solidFill>
                  <a:schemeClr val="bg1"/>
                </a:solidFill>
              </a:rPr>
              <a:t>Ende: Stapel leer → true</a:t>
            </a:r>
            <a:endParaRPr lang="en-US" sz="1500" dirty="0"/>
          </a:p>
        </p:txBody>
      </p:sp>
      <p:sp>
        <p:nvSpPr>
          <p:cNvPr id="50" name="Fehlerfall 1"/>
          <p:cNvSpPr/>
          <p:nvPr/>
        </p:nvSpPr>
        <p:spPr>
          <a:xfrm>
            <a:off x="548640" y="4617720"/>
            <a:ext cx="3566160" cy="1508760"/>
          </a:xfrm>
          <a:prstGeom prst="roundRect">
            <a:avLst>
              <a:gd name="adj" fmla="val 7273"/>
            </a:avLst>
          </a:prstGeom>
          <a:solidFill>
            <a:schemeClr val="bg1"/>
          </a:solidFill>
          <a:ln w="25400">
            <a:solidFill>
              <a:schemeClr val="accent4"/>
            </a:solidFill>
            <a:prstDash val="solid"/>
          </a:ln>
        </p:spPr>
      </p:sp>
      <p:sp>
        <p:nvSpPr>
          <p:cNvPr id="51" name="Text 49"/>
          <p:cNvSpPr txBox="1"/>
          <p:nvPr/>
        </p:nvSpPr>
        <p:spPr>
          <a:xfrm>
            <a:off x="731520" y="4681728"/>
            <a:ext cx="3200400" cy="384048"/>
          </a:xfrm>
          <a:prstGeom prst="rect">
            <a:avLst/>
          </a:prstGeom>
          <a:noFill/>
          <a:ln/>
        </p:spPr>
        <p:txBody>
          <a:bodyPr wrap="square" lIns="0" tIns="0" rIns="0" bIns="0" rtlCol="0" anchor="t"/>
          <a:lstStyle/>
          <a:p>
            <a:pPr indent="0" marL="0">
              <a:buNone/>
            </a:pPr>
            <a:r>
              <a:rPr lang="en-US" sz="1900" b="1" dirty="0">
                <a:solidFill>
                  <a:schemeClr val="accent4"/>
                </a:solidFill>
                <a:latin typeface="Consolas" pitchFamily="34" charset="0"/>
                <a:ea typeface="Consolas" pitchFamily="34" charset="-122"/>
                <a:cs typeface="Consolas" pitchFamily="34" charset="-120"/>
              </a:rPr>
              <a:t>"(]"</a:t>
            </a:r>
            <a:endParaRPr lang="en-US" sz="1900" dirty="0"/>
          </a:p>
        </p:txBody>
      </p:sp>
      <p:sp>
        <p:nvSpPr>
          <p:cNvPr id="52" name="Text 50"/>
          <p:cNvSpPr txBox="1"/>
          <p:nvPr/>
        </p:nvSpPr>
        <p:spPr>
          <a:xfrm>
            <a:off x="731520" y="5074920"/>
            <a:ext cx="3246120" cy="987552"/>
          </a:xfrm>
          <a:prstGeom prst="rect">
            <a:avLst/>
          </a:prstGeom>
          <a:noFill/>
          <a:ln/>
        </p:spPr>
        <p:txBody>
          <a:bodyPr wrap="square" lIns="0" tIns="0" rIns="0" bIns="0" rtlCol="0" anchor="t"/>
          <a:lstStyle/>
          <a:p>
            <a:pPr indent="0" marL="0">
              <a:buNone/>
            </a:pPr>
            <a:r>
              <a:rPr lang="en-US" sz="1500" dirty="0">
                <a:solidFill>
                  <a:schemeClr val="tx1"/>
                </a:solidFill>
              </a:rPr>
              <a:t>pop liefert (, aber ] braucht [ – Art passt nicht → false</a:t>
            </a:r>
            <a:endParaRPr lang="en-US" sz="1500" dirty="0"/>
          </a:p>
        </p:txBody>
      </p:sp>
      <p:sp>
        <p:nvSpPr>
          <p:cNvPr id="53" name="Fehlerfall 2"/>
          <p:cNvSpPr/>
          <p:nvPr/>
        </p:nvSpPr>
        <p:spPr>
          <a:xfrm>
            <a:off x="4297680" y="4617720"/>
            <a:ext cx="3566160" cy="1508760"/>
          </a:xfrm>
          <a:prstGeom prst="roundRect">
            <a:avLst>
              <a:gd name="adj" fmla="val 7273"/>
            </a:avLst>
          </a:prstGeom>
          <a:solidFill>
            <a:schemeClr val="bg1"/>
          </a:solidFill>
          <a:ln w="25400">
            <a:solidFill>
              <a:schemeClr val="accent4"/>
            </a:solidFill>
            <a:prstDash val="solid"/>
          </a:ln>
        </p:spPr>
      </p:sp>
      <p:sp>
        <p:nvSpPr>
          <p:cNvPr id="54" name="Text 52"/>
          <p:cNvSpPr txBox="1"/>
          <p:nvPr/>
        </p:nvSpPr>
        <p:spPr>
          <a:xfrm>
            <a:off x="4480560" y="4681728"/>
            <a:ext cx="3200400" cy="384048"/>
          </a:xfrm>
          <a:prstGeom prst="rect">
            <a:avLst/>
          </a:prstGeom>
          <a:noFill/>
          <a:ln/>
        </p:spPr>
        <p:txBody>
          <a:bodyPr wrap="square" lIns="0" tIns="0" rIns="0" bIns="0" rtlCol="0" anchor="t"/>
          <a:lstStyle/>
          <a:p>
            <a:pPr indent="0" marL="0">
              <a:buNone/>
            </a:pPr>
            <a:r>
              <a:rPr lang="en-US" sz="1900" b="1" dirty="0">
                <a:solidFill>
                  <a:schemeClr val="accent4"/>
                </a:solidFill>
                <a:latin typeface="Consolas" pitchFamily="34" charset="0"/>
                <a:ea typeface="Consolas" pitchFamily="34" charset="-122"/>
                <a:cs typeface="Consolas" pitchFamily="34" charset="-120"/>
              </a:rPr>
              <a:t>"())"</a:t>
            </a:r>
            <a:endParaRPr lang="en-US" sz="1900" dirty="0"/>
          </a:p>
        </p:txBody>
      </p:sp>
      <p:sp>
        <p:nvSpPr>
          <p:cNvPr id="55" name="Text 53"/>
          <p:cNvSpPr txBox="1"/>
          <p:nvPr/>
        </p:nvSpPr>
        <p:spPr>
          <a:xfrm>
            <a:off x="4480560" y="5074920"/>
            <a:ext cx="3246120" cy="987552"/>
          </a:xfrm>
          <a:prstGeom prst="rect">
            <a:avLst/>
          </a:prstGeom>
          <a:noFill/>
          <a:ln/>
        </p:spPr>
        <p:txBody>
          <a:bodyPr wrap="square" lIns="0" tIns="0" rIns="0" bIns="0" rtlCol="0" anchor="t"/>
          <a:lstStyle/>
          <a:p>
            <a:pPr indent="0" marL="0">
              <a:buNone/>
            </a:pPr>
            <a:r>
              <a:rPr lang="en-US" sz="1500" dirty="0">
                <a:solidFill>
                  <a:schemeClr val="tx1"/>
                </a:solidFill>
              </a:rPr>
              <a:t>zweite ): Stapel ist leer → false. Ohne Leer-Abfrage: Laufzeitfehler!</a:t>
            </a:r>
            <a:endParaRPr lang="en-US" sz="1500" dirty="0"/>
          </a:p>
        </p:txBody>
      </p:sp>
      <p:sp>
        <p:nvSpPr>
          <p:cNvPr id="56" name="Fehlerfall 3"/>
          <p:cNvSpPr/>
          <p:nvPr/>
        </p:nvSpPr>
        <p:spPr>
          <a:xfrm>
            <a:off x="8046720" y="4617720"/>
            <a:ext cx="3566160" cy="1508760"/>
          </a:xfrm>
          <a:prstGeom prst="roundRect">
            <a:avLst>
              <a:gd name="adj" fmla="val 7273"/>
            </a:avLst>
          </a:prstGeom>
          <a:solidFill>
            <a:schemeClr val="bg1"/>
          </a:solidFill>
          <a:ln w="25400">
            <a:solidFill>
              <a:schemeClr val="accent4"/>
            </a:solidFill>
            <a:prstDash val="solid"/>
          </a:ln>
        </p:spPr>
      </p:sp>
      <p:sp>
        <p:nvSpPr>
          <p:cNvPr id="57" name="Text 55"/>
          <p:cNvSpPr txBox="1"/>
          <p:nvPr/>
        </p:nvSpPr>
        <p:spPr>
          <a:xfrm>
            <a:off x="8229600" y="4681728"/>
            <a:ext cx="3200400" cy="384048"/>
          </a:xfrm>
          <a:prstGeom prst="rect">
            <a:avLst/>
          </a:prstGeom>
          <a:noFill/>
          <a:ln/>
        </p:spPr>
        <p:txBody>
          <a:bodyPr wrap="square" lIns="0" tIns="0" rIns="0" bIns="0" rtlCol="0" anchor="t"/>
          <a:lstStyle/>
          <a:p>
            <a:pPr indent="0" marL="0">
              <a:buNone/>
            </a:pPr>
            <a:r>
              <a:rPr lang="en-US" sz="1900" b="1" dirty="0">
                <a:solidFill>
                  <a:schemeClr val="accent4"/>
                </a:solidFill>
              </a:rPr>
              <a:t>Ende</a:t>
            </a:r>
            <a:endParaRPr lang="en-US" sz="1900" dirty="0"/>
          </a:p>
        </p:txBody>
      </p:sp>
      <p:sp>
        <p:nvSpPr>
          <p:cNvPr id="58" name="Text 56"/>
          <p:cNvSpPr txBox="1"/>
          <p:nvPr/>
        </p:nvSpPr>
        <p:spPr>
          <a:xfrm>
            <a:off x="8229600" y="5074920"/>
            <a:ext cx="3246120" cy="987552"/>
          </a:xfrm>
          <a:prstGeom prst="rect">
            <a:avLst/>
          </a:prstGeom>
          <a:noFill/>
          <a:ln/>
        </p:spPr>
        <p:txBody>
          <a:bodyPr wrap="square" lIns="0" tIns="0" rIns="0" bIns="0" rtlCol="0" anchor="t"/>
          <a:lstStyle/>
          <a:p>
            <a:pPr indent="0" marL="0">
              <a:buNone/>
            </a:pPr>
            <a:r>
              <a:rPr lang="en-US" sz="1500" dirty="0">
                <a:solidFill>
                  <a:schemeClr val="tx1"/>
                </a:solidFill>
              </a:rPr>
              <a:t>Stapel nicht leer: eine Klammer bleibt offen → false</a:t>
            </a:r>
            <a:endParaRPr lang="en-US" sz="1500" dirty="0"/>
          </a:p>
        </p:txBody>
      </p:sp>
      <p:sp>
        <p:nvSpPr>
          <p:cNvPr id="59" name="Text 57"/>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28 · Klammerprüfung</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Postfix-Rechner mit Stapel: "34+2*" Schritt für Schritt</a:t>
            </a:r>
            <a:endParaRPr lang="en-US" sz="3600" dirty="0"/>
          </a:p>
        </p:txBody>
      </p:sp>
      <p:sp>
        <p:nvSpPr>
          <p:cNvPr id="3" name="Zeichen 0 0"/>
          <p:cNvSpPr txBox="1"/>
          <p:nvPr/>
        </p:nvSpPr>
        <p:spPr>
          <a:xfrm>
            <a:off x="1097280" y="1325880"/>
            <a:ext cx="640080" cy="5943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600" b="1" dirty="0">
                <a:solidFill>
                  <a:schemeClr val="accent1"/>
                </a:solidFill>
              </a:rPr>
              <a:t>3</a:t>
            </a:r>
            <a:endParaRPr lang="en-US" sz="2600" dirty="0"/>
          </a:p>
        </p:txBody>
      </p:sp>
      <p:sp>
        <p:nvSpPr>
          <p:cNvPr id="4" name="Text 2"/>
          <p:cNvSpPr txBox="1"/>
          <p:nvPr/>
        </p:nvSpPr>
        <p:spPr>
          <a:xfrm>
            <a:off x="548640" y="2011680"/>
            <a:ext cx="1737360" cy="566928"/>
          </a:xfrm>
          <a:prstGeom prst="rect">
            <a:avLst/>
          </a:prstGeom>
          <a:noFill/>
          <a:ln/>
        </p:spPr>
        <p:txBody>
          <a:bodyPr wrap="square" lIns="0" tIns="0" rIns="0" bIns="0" rtlCol="0" anchor="t"/>
          <a:lstStyle/>
          <a:p>
            <a:pPr algn="ctr" indent="0" marL="0">
              <a:buNone/>
            </a:pPr>
            <a:r>
              <a:rPr lang="en-US" sz="1500" b="1" dirty="0">
                <a:solidFill>
                  <a:schemeClr val="accent1"/>
                </a:solidFill>
              </a:rPr>
              <a:t>push 3</a:t>
            </a:r>
            <a:endParaRPr lang="en-US" sz="1500" dirty="0"/>
          </a:p>
        </p:txBody>
      </p:sp>
      <p:sp>
        <p:nvSpPr>
          <p:cNvPr id="5" name="Stapel Wand links"/>
          <p:cNvSpPr/>
          <p:nvPr/>
        </p:nvSpPr>
        <p:spPr>
          <a:xfrm>
            <a:off x="960120" y="2834640"/>
            <a:ext cx="91" cy="960120"/>
          </a:xfrm>
          <a:prstGeom prst="line">
            <a:avLst/>
          </a:prstGeom>
          <a:noFill/>
          <a:ln w="31750">
            <a:solidFill>
              <a:schemeClr val="accent1"/>
            </a:solidFill>
            <a:prstDash val="solid"/>
          </a:ln>
        </p:spPr>
      </p:sp>
      <p:sp>
        <p:nvSpPr>
          <p:cNvPr id="6" name="Stapel Boden"/>
          <p:cNvSpPr/>
          <p:nvPr/>
        </p:nvSpPr>
        <p:spPr>
          <a:xfrm>
            <a:off x="960120" y="3794760"/>
            <a:ext cx="914400" cy="91"/>
          </a:xfrm>
          <a:prstGeom prst="line">
            <a:avLst/>
          </a:prstGeom>
          <a:noFill/>
          <a:ln w="31750">
            <a:solidFill>
              <a:schemeClr val="accent1"/>
            </a:solidFill>
            <a:prstDash val="solid"/>
          </a:ln>
        </p:spPr>
      </p:sp>
      <p:sp>
        <p:nvSpPr>
          <p:cNvPr id="7" name="Stapel Wand rechts"/>
          <p:cNvSpPr/>
          <p:nvPr/>
        </p:nvSpPr>
        <p:spPr>
          <a:xfrm>
            <a:off x="1874520" y="2834640"/>
            <a:ext cx="91" cy="960120"/>
          </a:xfrm>
          <a:prstGeom prst="line">
            <a:avLst/>
          </a:prstGeom>
          <a:noFill/>
          <a:ln w="31750">
            <a:solidFill>
              <a:schemeClr val="accent1"/>
            </a:solidFill>
            <a:prstDash val="solid"/>
          </a:ln>
        </p:spPr>
      </p:sp>
      <p:sp>
        <p:nvSpPr>
          <p:cNvPr id="8" name="Element 3"/>
          <p:cNvSpPr txBox="1"/>
          <p:nvPr/>
        </p:nvSpPr>
        <p:spPr>
          <a:xfrm>
            <a:off x="1024128" y="3319272"/>
            <a:ext cx="786384" cy="411480"/>
          </a:xfrm>
          <a:prstGeom prst="roundRect">
            <a:avLst>
              <a:gd name="adj" fmla="val 17778"/>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3</a:t>
            </a:r>
            <a:endParaRPr lang="en-US" sz="1800" dirty="0"/>
          </a:p>
        </p:txBody>
      </p:sp>
      <p:sp>
        <p:nvSpPr>
          <p:cNvPr id="9" name="Pfeil weiter"/>
          <p:cNvSpPr/>
          <p:nvPr/>
        </p:nvSpPr>
        <p:spPr>
          <a:xfrm>
            <a:off x="1965960" y="1627632"/>
            <a:ext cx="457200" cy="91"/>
          </a:xfrm>
          <a:prstGeom prst="line">
            <a:avLst/>
          </a:prstGeom>
          <a:noFill/>
          <a:ln w="19050">
            <a:solidFill>
              <a:schemeClr val="accent6"/>
            </a:solidFill>
            <a:prstDash val="solid"/>
            <a:tailEnd type="triangle"/>
          </a:ln>
        </p:spPr>
      </p:sp>
      <p:sp>
        <p:nvSpPr>
          <p:cNvPr id="10" name="Zeichen 1 0"/>
          <p:cNvSpPr txBox="1"/>
          <p:nvPr/>
        </p:nvSpPr>
        <p:spPr>
          <a:xfrm>
            <a:off x="2944368" y="1325880"/>
            <a:ext cx="640080" cy="5943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600" b="1" dirty="0">
                <a:solidFill>
                  <a:schemeClr val="accent1"/>
                </a:solidFill>
              </a:rPr>
              <a:t>4</a:t>
            </a:r>
            <a:endParaRPr lang="en-US" sz="2600" dirty="0"/>
          </a:p>
        </p:txBody>
      </p:sp>
      <p:sp>
        <p:nvSpPr>
          <p:cNvPr id="11" name="Text 9"/>
          <p:cNvSpPr txBox="1"/>
          <p:nvPr/>
        </p:nvSpPr>
        <p:spPr>
          <a:xfrm>
            <a:off x="2395728" y="2011680"/>
            <a:ext cx="1737360" cy="566928"/>
          </a:xfrm>
          <a:prstGeom prst="rect">
            <a:avLst/>
          </a:prstGeom>
          <a:noFill/>
          <a:ln/>
        </p:spPr>
        <p:txBody>
          <a:bodyPr wrap="square" lIns="0" tIns="0" rIns="0" bIns="0" rtlCol="0" anchor="t"/>
          <a:lstStyle/>
          <a:p>
            <a:pPr algn="ctr" indent="0" marL="0">
              <a:buNone/>
            </a:pPr>
            <a:r>
              <a:rPr lang="en-US" sz="1500" b="1" dirty="0">
                <a:solidFill>
                  <a:schemeClr val="accent1"/>
                </a:solidFill>
              </a:rPr>
              <a:t>push 4</a:t>
            </a:r>
            <a:endParaRPr lang="en-US" sz="1500" dirty="0"/>
          </a:p>
        </p:txBody>
      </p:sp>
      <p:sp>
        <p:nvSpPr>
          <p:cNvPr id="12" name="Stapel Wand links"/>
          <p:cNvSpPr/>
          <p:nvPr/>
        </p:nvSpPr>
        <p:spPr>
          <a:xfrm>
            <a:off x="2807208" y="2834640"/>
            <a:ext cx="91" cy="960120"/>
          </a:xfrm>
          <a:prstGeom prst="line">
            <a:avLst/>
          </a:prstGeom>
          <a:noFill/>
          <a:ln w="31750">
            <a:solidFill>
              <a:schemeClr val="accent1"/>
            </a:solidFill>
            <a:prstDash val="solid"/>
          </a:ln>
        </p:spPr>
      </p:sp>
      <p:sp>
        <p:nvSpPr>
          <p:cNvPr id="13" name="Stapel Boden"/>
          <p:cNvSpPr/>
          <p:nvPr/>
        </p:nvSpPr>
        <p:spPr>
          <a:xfrm>
            <a:off x="2807208" y="3794760"/>
            <a:ext cx="914400" cy="91"/>
          </a:xfrm>
          <a:prstGeom prst="line">
            <a:avLst/>
          </a:prstGeom>
          <a:noFill/>
          <a:ln w="31750">
            <a:solidFill>
              <a:schemeClr val="accent1"/>
            </a:solidFill>
            <a:prstDash val="solid"/>
          </a:ln>
        </p:spPr>
      </p:sp>
      <p:sp>
        <p:nvSpPr>
          <p:cNvPr id="14" name="Stapel Wand rechts"/>
          <p:cNvSpPr/>
          <p:nvPr/>
        </p:nvSpPr>
        <p:spPr>
          <a:xfrm>
            <a:off x="3721608" y="2834640"/>
            <a:ext cx="91" cy="960120"/>
          </a:xfrm>
          <a:prstGeom prst="line">
            <a:avLst/>
          </a:prstGeom>
          <a:noFill/>
          <a:ln w="31750">
            <a:solidFill>
              <a:schemeClr val="accent1"/>
            </a:solidFill>
            <a:prstDash val="solid"/>
          </a:ln>
        </p:spPr>
      </p:sp>
      <p:sp>
        <p:nvSpPr>
          <p:cNvPr id="15" name="Element 3"/>
          <p:cNvSpPr txBox="1"/>
          <p:nvPr/>
        </p:nvSpPr>
        <p:spPr>
          <a:xfrm>
            <a:off x="2871216" y="3319272"/>
            <a:ext cx="786384" cy="411480"/>
          </a:xfrm>
          <a:prstGeom prst="roundRect">
            <a:avLst>
              <a:gd name="adj" fmla="val 17778"/>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3</a:t>
            </a:r>
            <a:endParaRPr lang="en-US" sz="1800" dirty="0"/>
          </a:p>
        </p:txBody>
      </p:sp>
      <p:sp>
        <p:nvSpPr>
          <p:cNvPr id="16" name="Element 4"/>
          <p:cNvSpPr txBox="1"/>
          <p:nvPr/>
        </p:nvSpPr>
        <p:spPr>
          <a:xfrm>
            <a:off x="2871216" y="2871216"/>
            <a:ext cx="786384" cy="411480"/>
          </a:xfrm>
          <a:prstGeom prst="roundRect">
            <a:avLst>
              <a:gd name="adj" fmla="val 17778"/>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4</a:t>
            </a:r>
            <a:endParaRPr lang="en-US" sz="1800" dirty="0"/>
          </a:p>
        </p:txBody>
      </p:sp>
      <p:sp>
        <p:nvSpPr>
          <p:cNvPr id="17" name="Pfeil weiter"/>
          <p:cNvSpPr/>
          <p:nvPr/>
        </p:nvSpPr>
        <p:spPr>
          <a:xfrm>
            <a:off x="3813048" y="1627632"/>
            <a:ext cx="457200" cy="91"/>
          </a:xfrm>
          <a:prstGeom prst="line">
            <a:avLst/>
          </a:prstGeom>
          <a:noFill/>
          <a:ln w="19050">
            <a:solidFill>
              <a:schemeClr val="accent6"/>
            </a:solidFill>
            <a:prstDash val="solid"/>
            <a:tailEnd type="triangle"/>
          </a:ln>
        </p:spPr>
      </p:sp>
      <p:sp>
        <p:nvSpPr>
          <p:cNvPr id="18" name="Zeichen 2 0"/>
          <p:cNvSpPr txBox="1"/>
          <p:nvPr/>
        </p:nvSpPr>
        <p:spPr>
          <a:xfrm>
            <a:off x="4791456" y="1325880"/>
            <a:ext cx="640080" cy="594360"/>
          </a:xfrm>
          <a:prstGeom prst="rect">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2600" b="1" dirty="0">
                <a:solidFill>
                  <a:schemeClr val="bg1"/>
                </a:solidFill>
              </a:rPr>
              <a:t>+</a:t>
            </a:r>
            <a:endParaRPr lang="en-US" sz="2600" dirty="0"/>
          </a:p>
        </p:txBody>
      </p:sp>
      <p:sp>
        <p:nvSpPr>
          <p:cNvPr id="19" name="Text 17"/>
          <p:cNvSpPr txBox="1"/>
          <p:nvPr/>
        </p:nvSpPr>
        <p:spPr>
          <a:xfrm>
            <a:off x="4242816" y="2011680"/>
            <a:ext cx="1737360" cy="566928"/>
          </a:xfrm>
          <a:prstGeom prst="rect">
            <a:avLst/>
          </a:prstGeom>
          <a:noFill/>
          <a:ln/>
        </p:spPr>
        <p:txBody>
          <a:bodyPr wrap="square" lIns="0" tIns="0" rIns="0" bIns="0" rtlCol="0" anchor="t"/>
          <a:lstStyle/>
          <a:p>
            <a:pPr algn="ctr" indent="0" marL="0">
              <a:buNone/>
            </a:pPr>
            <a:r>
              <a:rPr lang="en-US" sz="1500" b="1" dirty="0">
                <a:solidFill>
                  <a:schemeClr val="accent2"/>
                </a:solidFill>
              </a:rPr>
              <a:t>b = 4, a = 3</a:t>
            </a:r>
            <a:endParaRPr lang="en-US" sz="1500" dirty="0"/>
          </a:p>
          <a:p>
            <a:pPr algn="ctr" indent="0" marL="0">
              <a:buNone/>
            </a:pPr>
            <a:r>
              <a:rPr lang="en-US" sz="1500" b="1" dirty="0">
                <a:solidFill>
                  <a:schemeClr val="accent2"/>
                </a:solidFill>
              </a:rPr>
              <a:t>3 + 4 = 7</a:t>
            </a:r>
            <a:endParaRPr lang="en-US" sz="1500" dirty="0"/>
          </a:p>
        </p:txBody>
      </p:sp>
      <p:sp>
        <p:nvSpPr>
          <p:cNvPr id="20" name="Stapel Wand links"/>
          <p:cNvSpPr/>
          <p:nvPr/>
        </p:nvSpPr>
        <p:spPr>
          <a:xfrm>
            <a:off x="4654296" y="2834640"/>
            <a:ext cx="91" cy="960120"/>
          </a:xfrm>
          <a:prstGeom prst="line">
            <a:avLst/>
          </a:prstGeom>
          <a:noFill/>
          <a:ln w="31750">
            <a:solidFill>
              <a:schemeClr val="accent1"/>
            </a:solidFill>
            <a:prstDash val="solid"/>
          </a:ln>
        </p:spPr>
      </p:sp>
      <p:sp>
        <p:nvSpPr>
          <p:cNvPr id="21" name="Stapel Boden"/>
          <p:cNvSpPr/>
          <p:nvPr/>
        </p:nvSpPr>
        <p:spPr>
          <a:xfrm>
            <a:off x="4654296" y="3794760"/>
            <a:ext cx="914400" cy="91"/>
          </a:xfrm>
          <a:prstGeom prst="line">
            <a:avLst/>
          </a:prstGeom>
          <a:noFill/>
          <a:ln w="31750">
            <a:solidFill>
              <a:schemeClr val="accent1"/>
            </a:solidFill>
            <a:prstDash val="solid"/>
          </a:ln>
        </p:spPr>
      </p:sp>
      <p:sp>
        <p:nvSpPr>
          <p:cNvPr id="22" name="Stapel Wand rechts"/>
          <p:cNvSpPr/>
          <p:nvPr/>
        </p:nvSpPr>
        <p:spPr>
          <a:xfrm>
            <a:off x="5568696" y="2834640"/>
            <a:ext cx="91" cy="960120"/>
          </a:xfrm>
          <a:prstGeom prst="line">
            <a:avLst/>
          </a:prstGeom>
          <a:noFill/>
          <a:ln w="31750">
            <a:solidFill>
              <a:schemeClr val="accent1"/>
            </a:solidFill>
            <a:prstDash val="solid"/>
          </a:ln>
        </p:spPr>
      </p:sp>
      <p:sp>
        <p:nvSpPr>
          <p:cNvPr id="23" name="Element 7"/>
          <p:cNvSpPr txBox="1"/>
          <p:nvPr/>
        </p:nvSpPr>
        <p:spPr>
          <a:xfrm>
            <a:off x="4718304" y="3319272"/>
            <a:ext cx="786384" cy="411480"/>
          </a:xfrm>
          <a:prstGeom prst="roundRect">
            <a:avLst>
              <a:gd name="adj" fmla="val 17778"/>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7</a:t>
            </a:r>
            <a:endParaRPr lang="en-US" sz="1800" dirty="0"/>
          </a:p>
        </p:txBody>
      </p:sp>
      <p:sp>
        <p:nvSpPr>
          <p:cNvPr id="24" name="Pfeil weiter"/>
          <p:cNvSpPr/>
          <p:nvPr/>
        </p:nvSpPr>
        <p:spPr>
          <a:xfrm>
            <a:off x="5660136" y="1627632"/>
            <a:ext cx="457200" cy="91"/>
          </a:xfrm>
          <a:prstGeom prst="line">
            <a:avLst/>
          </a:prstGeom>
          <a:noFill/>
          <a:ln w="19050">
            <a:solidFill>
              <a:schemeClr val="accent6"/>
            </a:solidFill>
            <a:prstDash val="solid"/>
            <a:tailEnd type="triangle"/>
          </a:ln>
        </p:spPr>
      </p:sp>
      <p:sp>
        <p:nvSpPr>
          <p:cNvPr id="25" name="Zeichen 3 0"/>
          <p:cNvSpPr txBox="1"/>
          <p:nvPr/>
        </p:nvSpPr>
        <p:spPr>
          <a:xfrm>
            <a:off x="6638544" y="1325880"/>
            <a:ext cx="640080" cy="59436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2600" b="1" dirty="0">
                <a:solidFill>
                  <a:schemeClr val="accent1"/>
                </a:solidFill>
              </a:rPr>
              <a:t>2</a:t>
            </a:r>
            <a:endParaRPr lang="en-US" sz="2600" dirty="0"/>
          </a:p>
        </p:txBody>
      </p:sp>
      <p:sp>
        <p:nvSpPr>
          <p:cNvPr id="26" name="Text 24"/>
          <p:cNvSpPr txBox="1"/>
          <p:nvPr/>
        </p:nvSpPr>
        <p:spPr>
          <a:xfrm>
            <a:off x="6089904" y="2011680"/>
            <a:ext cx="1737360" cy="566928"/>
          </a:xfrm>
          <a:prstGeom prst="rect">
            <a:avLst/>
          </a:prstGeom>
          <a:noFill/>
          <a:ln/>
        </p:spPr>
        <p:txBody>
          <a:bodyPr wrap="square" lIns="0" tIns="0" rIns="0" bIns="0" rtlCol="0" anchor="t"/>
          <a:lstStyle/>
          <a:p>
            <a:pPr algn="ctr" indent="0" marL="0">
              <a:buNone/>
            </a:pPr>
            <a:r>
              <a:rPr lang="en-US" sz="1500" b="1" dirty="0">
                <a:solidFill>
                  <a:schemeClr val="accent1"/>
                </a:solidFill>
              </a:rPr>
              <a:t>push 2</a:t>
            </a:r>
            <a:endParaRPr lang="en-US" sz="1500" dirty="0"/>
          </a:p>
        </p:txBody>
      </p:sp>
      <p:sp>
        <p:nvSpPr>
          <p:cNvPr id="27" name="Stapel Wand links"/>
          <p:cNvSpPr/>
          <p:nvPr/>
        </p:nvSpPr>
        <p:spPr>
          <a:xfrm>
            <a:off x="6501384" y="2834640"/>
            <a:ext cx="91" cy="960120"/>
          </a:xfrm>
          <a:prstGeom prst="line">
            <a:avLst/>
          </a:prstGeom>
          <a:noFill/>
          <a:ln w="31750">
            <a:solidFill>
              <a:schemeClr val="accent1"/>
            </a:solidFill>
            <a:prstDash val="solid"/>
          </a:ln>
        </p:spPr>
      </p:sp>
      <p:sp>
        <p:nvSpPr>
          <p:cNvPr id="28" name="Stapel Boden"/>
          <p:cNvSpPr/>
          <p:nvPr/>
        </p:nvSpPr>
        <p:spPr>
          <a:xfrm>
            <a:off x="6501384" y="3794760"/>
            <a:ext cx="914400" cy="91"/>
          </a:xfrm>
          <a:prstGeom prst="line">
            <a:avLst/>
          </a:prstGeom>
          <a:noFill/>
          <a:ln w="31750">
            <a:solidFill>
              <a:schemeClr val="accent1"/>
            </a:solidFill>
            <a:prstDash val="solid"/>
          </a:ln>
        </p:spPr>
      </p:sp>
      <p:sp>
        <p:nvSpPr>
          <p:cNvPr id="29" name="Stapel Wand rechts"/>
          <p:cNvSpPr/>
          <p:nvPr/>
        </p:nvSpPr>
        <p:spPr>
          <a:xfrm>
            <a:off x="7415784" y="2834640"/>
            <a:ext cx="91" cy="960120"/>
          </a:xfrm>
          <a:prstGeom prst="line">
            <a:avLst/>
          </a:prstGeom>
          <a:noFill/>
          <a:ln w="31750">
            <a:solidFill>
              <a:schemeClr val="accent1"/>
            </a:solidFill>
            <a:prstDash val="solid"/>
          </a:ln>
        </p:spPr>
      </p:sp>
      <p:sp>
        <p:nvSpPr>
          <p:cNvPr id="30" name="Element 7"/>
          <p:cNvSpPr txBox="1"/>
          <p:nvPr/>
        </p:nvSpPr>
        <p:spPr>
          <a:xfrm>
            <a:off x="6565392" y="3319272"/>
            <a:ext cx="786384" cy="411480"/>
          </a:xfrm>
          <a:prstGeom prst="roundRect">
            <a:avLst>
              <a:gd name="adj" fmla="val 17778"/>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7</a:t>
            </a:r>
            <a:endParaRPr lang="en-US" sz="1800" dirty="0"/>
          </a:p>
        </p:txBody>
      </p:sp>
      <p:sp>
        <p:nvSpPr>
          <p:cNvPr id="31" name="Element 2"/>
          <p:cNvSpPr txBox="1"/>
          <p:nvPr/>
        </p:nvSpPr>
        <p:spPr>
          <a:xfrm>
            <a:off x="6565392" y="2871216"/>
            <a:ext cx="786384" cy="411480"/>
          </a:xfrm>
          <a:prstGeom prst="roundRect">
            <a:avLst>
              <a:gd name="adj" fmla="val 17778"/>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2</a:t>
            </a:r>
            <a:endParaRPr lang="en-US" sz="1800" dirty="0"/>
          </a:p>
        </p:txBody>
      </p:sp>
      <p:sp>
        <p:nvSpPr>
          <p:cNvPr id="32" name="Pfeil weiter"/>
          <p:cNvSpPr/>
          <p:nvPr/>
        </p:nvSpPr>
        <p:spPr>
          <a:xfrm>
            <a:off x="7507224" y="1627632"/>
            <a:ext cx="457200" cy="91"/>
          </a:xfrm>
          <a:prstGeom prst="line">
            <a:avLst/>
          </a:prstGeom>
          <a:noFill/>
          <a:ln w="19050">
            <a:solidFill>
              <a:schemeClr val="accent6"/>
            </a:solidFill>
            <a:prstDash val="solid"/>
            <a:tailEnd type="triangle"/>
          </a:ln>
        </p:spPr>
      </p:sp>
      <p:sp>
        <p:nvSpPr>
          <p:cNvPr id="33" name="Zeichen 4 0"/>
          <p:cNvSpPr txBox="1"/>
          <p:nvPr/>
        </p:nvSpPr>
        <p:spPr>
          <a:xfrm>
            <a:off x="8485632" y="1325880"/>
            <a:ext cx="640080" cy="594360"/>
          </a:xfrm>
          <a:prstGeom prst="rect">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2600" b="1" dirty="0">
                <a:solidFill>
                  <a:schemeClr val="bg1"/>
                </a:solidFill>
              </a:rPr>
              <a:t>*</a:t>
            </a:r>
            <a:endParaRPr lang="en-US" sz="2600" dirty="0"/>
          </a:p>
        </p:txBody>
      </p:sp>
      <p:sp>
        <p:nvSpPr>
          <p:cNvPr id="34" name="Text 32"/>
          <p:cNvSpPr txBox="1"/>
          <p:nvPr/>
        </p:nvSpPr>
        <p:spPr>
          <a:xfrm>
            <a:off x="7936992" y="2011680"/>
            <a:ext cx="1737360" cy="566928"/>
          </a:xfrm>
          <a:prstGeom prst="rect">
            <a:avLst/>
          </a:prstGeom>
          <a:noFill/>
          <a:ln/>
        </p:spPr>
        <p:txBody>
          <a:bodyPr wrap="square" lIns="0" tIns="0" rIns="0" bIns="0" rtlCol="0" anchor="t"/>
          <a:lstStyle/>
          <a:p>
            <a:pPr algn="ctr" indent="0" marL="0">
              <a:buNone/>
            </a:pPr>
            <a:r>
              <a:rPr lang="en-US" sz="1500" b="1" dirty="0">
                <a:solidFill>
                  <a:schemeClr val="accent2"/>
                </a:solidFill>
              </a:rPr>
              <a:t>b = 2, a = 7</a:t>
            </a:r>
            <a:endParaRPr lang="en-US" sz="1500" dirty="0"/>
          </a:p>
          <a:p>
            <a:pPr algn="ctr" indent="0" marL="0">
              <a:buNone/>
            </a:pPr>
            <a:r>
              <a:rPr lang="en-US" sz="1500" b="1" dirty="0">
                <a:solidFill>
                  <a:schemeClr val="accent2"/>
                </a:solidFill>
              </a:rPr>
              <a:t>7 · 2 = 14</a:t>
            </a:r>
            <a:endParaRPr lang="en-US" sz="1500" dirty="0"/>
          </a:p>
        </p:txBody>
      </p:sp>
      <p:sp>
        <p:nvSpPr>
          <p:cNvPr id="35" name="Stapel Wand links"/>
          <p:cNvSpPr/>
          <p:nvPr/>
        </p:nvSpPr>
        <p:spPr>
          <a:xfrm>
            <a:off x="8348472" y="2834640"/>
            <a:ext cx="91" cy="960120"/>
          </a:xfrm>
          <a:prstGeom prst="line">
            <a:avLst/>
          </a:prstGeom>
          <a:noFill/>
          <a:ln w="31750">
            <a:solidFill>
              <a:schemeClr val="accent1"/>
            </a:solidFill>
            <a:prstDash val="solid"/>
          </a:ln>
        </p:spPr>
      </p:sp>
      <p:sp>
        <p:nvSpPr>
          <p:cNvPr id="36" name="Stapel Boden"/>
          <p:cNvSpPr/>
          <p:nvPr/>
        </p:nvSpPr>
        <p:spPr>
          <a:xfrm>
            <a:off x="8348472" y="3794760"/>
            <a:ext cx="914400" cy="91"/>
          </a:xfrm>
          <a:prstGeom prst="line">
            <a:avLst/>
          </a:prstGeom>
          <a:noFill/>
          <a:ln w="31750">
            <a:solidFill>
              <a:schemeClr val="accent1"/>
            </a:solidFill>
            <a:prstDash val="solid"/>
          </a:ln>
        </p:spPr>
      </p:sp>
      <p:sp>
        <p:nvSpPr>
          <p:cNvPr id="37" name="Stapel Wand rechts"/>
          <p:cNvSpPr/>
          <p:nvPr/>
        </p:nvSpPr>
        <p:spPr>
          <a:xfrm>
            <a:off x="9262872" y="2834640"/>
            <a:ext cx="91" cy="960120"/>
          </a:xfrm>
          <a:prstGeom prst="line">
            <a:avLst/>
          </a:prstGeom>
          <a:noFill/>
          <a:ln w="31750">
            <a:solidFill>
              <a:schemeClr val="accent1"/>
            </a:solidFill>
            <a:prstDash val="solid"/>
          </a:ln>
        </p:spPr>
      </p:sp>
      <p:sp>
        <p:nvSpPr>
          <p:cNvPr id="38" name="Element 14"/>
          <p:cNvSpPr txBox="1"/>
          <p:nvPr/>
        </p:nvSpPr>
        <p:spPr>
          <a:xfrm>
            <a:off x="8412480" y="3319272"/>
            <a:ext cx="786384" cy="411480"/>
          </a:xfrm>
          <a:prstGeom prst="roundRect">
            <a:avLst>
              <a:gd name="adj" fmla="val 17778"/>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14</a:t>
            </a:r>
            <a:endParaRPr lang="en-US" sz="1800" dirty="0"/>
          </a:p>
        </p:txBody>
      </p:sp>
      <p:sp>
        <p:nvSpPr>
          <p:cNvPr id="39" name="Pfeil weiter"/>
          <p:cNvSpPr/>
          <p:nvPr/>
        </p:nvSpPr>
        <p:spPr>
          <a:xfrm>
            <a:off x="9354312" y="1627632"/>
            <a:ext cx="457200" cy="91"/>
          </a:xfrm>
          <a:prstGeom prst="line">
            <a:avLst/>
          </a:prstGeom>
          <a:noFill/>
          <a:ln w="19050">
            <a:solidFill>
              <a:schemeClr val="accent6"/>
            </a:solidFill>
            <a:prstDash val="solid"/>
            <a:tailEnd type="triangle"/>
          </a:ln>
        </p:spPr>
      </p:sp>
      <p:sp>
        <p:nvSpPr>
          <p:cNvPr id="40" name="Zeichen 5 0"/>
          <p:cNvSpPr txBox="1"/>
          <p:nvPr/>
        </p:nvSpPr>
        <p:spPr>
          <a:xfrm>
            <a:off x="10104120" y="1325880"/>
            <a:ext cx="1097280" cy="59436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800" b="1" dirty="0">
                <a:solidFill>
                  <a:schemeClr val="accent1"/>
                </a:solidFill>
              </a:rPr>
              <a:t>Ende</a:t>
            </a:r>
            <a:endParaRPr lang="en-US" sz="1800" dirty="0"/>
          </a:p>
        </p:txBody>
      </p:sp>
      <p:sp>
        <p:nvSpPr>
          <p:cNvPr id="41" name="Text 39"/>
          <p:cNvSpPr txBox="1"/>
          <p:nvPr/>
        </p:nvSpPr>
        <p:spPr>
          <a:xfrm>
            <a:off x="9784080" y="2011680"/>
            <a:ext cx="1737360" cy="566928"/>
          </a:xfrm>
          <a:prstGeom prst="rect">
            <a:avLst/>
          </a:prstGeom>
          <a:noFill/>
          <a:ln/>
        </p:spPr>
        <p:txBody>
          <a:bodyPr wrap="square" lIns="0" tIns="0" rIns="0" bIns="0" rtlCol="0" anchor="t"/>
          <a:lstStyle/>
          <a:p>
            <a:pPr algn="ctr" indent="0" marL="0">
              <a:buNone/>
            </a:pPr>
            <a:r>
              <a:rPr lang="en-US" sz="1500" b="1" dirty="0">
                <a:solidFill>
                  <a:schemeClr val="accent3"/>
                </a:solidFill>
              </a:rPr>
              <a:t>pop → 14</a:t>
            </a:r>
            <a:endParaRPr lang="en-US" sz="1500" dirty="0"/>
          </a:p>
        </p:txBody>
      </p:sp>
      <p:sp>
        <p:nvSpPr>
          <p:cNvPr id="42" name="Stapel Wand links"/>
          <p:cNvSpPr/>
          <p:nvPr/>
        </p:nvSpPr>
        <p:spPr>
          <a:xfrm>
            <a:off x="10195560" y="2834640"/>
            <a:ext cx="91" cy="960120"/>
          </a:xfrm>
          <a:prstGeom prst="line">
            <a:avLst/>
          </a:prstGeom>
          <a:noFill/>
          <a:ln w="31750">
            <a:solidFill>
              <a:schemeClr val="accent1"/>
            </a:solidFill>
            <a:prstDash val="solid"/>
          </a:ln>
        </p:spPr>
      </p:sp>
      <p:sp>
        <p:nvSpPr>
          <p:cNvPr id="43" name="Stapel Boden"/>
          <p:cNvSpPr/>
          <p:nvPr/>
        </p:nvSpPr>
        <p:spPr>
          <a:xfrm>
            <a:off x="10195560" y="3794760"/>
            <a:ext cx="914400" cy="91"/>
          </a:xfrm>
          <a:prstGeom prst="line">
            <a:avLst/>
          </a:prstGeom>
          <a:noFill/>
          <a:ln w="31750">
            <a:solidFill>
              <a:schemeClr val="accent1"/>
            </a:solidFill>
            <a:prstDash val="solid"/>
          </a:ln>
        </p:spPr>
      </p:sp>
      <p:sp>
        <p:nvSpPr>
          <p:cNvPr id="44" name="Stapel Wand rechts"/>
          <p:cNvSpPr/>
          <p:nvPr/>
        </p:nvSpPr>
        <p:spPr>
          <a:xfrm>
            <a:off x="11109960" y="2834640"/>
            <a:ext cx="91" cy="960120"/>
          </a:xfrm>
          <a:prstGeom prst="line">
            <a:avLst/>
          </a:prstGeom>
          <a:noFill/>
          <a:ln w="31750">
            <a:solidFill>
              <a:schemeClr val="accent1"/>
            </a:solidFill>
            <a:prstDash val="solid"/>
          </a:ln>
        </p:spPr>
      </p:sp>
      <p:sp>
        <p:nvSpPr>
          <p:cNvPr id="45" name="Text 43"/>
          <p:cNvSpPr txBox="1"/>
          <p:nvPr/>
        </p:nvSpPr>
        <p:spPr>
          <a:xfrm>
            <a:off x="10195560" y="3319272"/>
            <a:ext cx="914400" cy="411480"/>
          </a:xfrm>
          <a:prstGeom prst="rect">
            <a:avLst/>
          </a:prstGeom>
          <a:noFill/>
          <a:ln/>
        </p:spPr>
        <p:txBody>
          <a:bodyPr wrap="square" lIns="0" tIns="0" rIns="0" bIns="0" rtlCol="0" anchor="ctr"/>
          <a:lstStyle/>
          <a:p>
            <a:pPr algn="ctr" indent="0" marL="0">
              <a:buNone/>
            </a:pPr>
            <a:r>
              <a:rPr lang="en-US" sz="1800" dirty="0">
                <a:solidFill>
                  <a:srgbClr val="A6A6A6"/>
                </a:solidFill>
              </a:rPr>
              <a:t>–</a:t>
            </a:r>
            <a:endParaRPr lang="en-US" sz="1800" dirty="0"/>
          </a:p>
        </p:txBody>
      </p:sp>
      <p:sp>
        <p:nvSpPr>
          <p:cNvPr id="46" name="Text 44"/>
          <p:cNvSpPr txBox="1"/>
          <p:nvPr/>
        </p:nvSpPr>
        <p:spPr>
          <a:xfrm>
            <a:off x="548640" y="4023360"/>
            <a:ext cx="11064240" cy="365760"/>
          </a:xfrm>
          <a:prstGeom prst="rect">
            <a:avLst/>
          </a:prstGeom>
          <a:noFill/>
          <a:ln/>
        </p:spPr>
        <p:txBody>
          <a:bodyPr wrap="square" lIns="0" tIns="0" rIns="0" bIns="0" rtlCol="0" anchor="ctr"/>
          <a:lstStyle/>
          <a:p>
            <a:pPr indent="0" marL="0">
              <a:buNone/>
            </a:pPr>
            <a:r>
              <a:rPr lang="en-US" sz="1600" b="1" dirty="0">
                <a:solidFill>
                  <a:schemeClr val="accent1"/>
                </a:solidFill>
              </a:rPr>
              <a:t>Postfix: </a:t>
            </a:r>
            <a:pPr indent="0" marL="0">
              <a:buNone/>
            </a:pPr>
            <a:r>
              <a:rPr lang="en-US" sz="1600" dirty="0">
                <a:solidFill>
                  <a:schemeClr val="accent1"/>
                </a:solidFill>
              </a:rPr>
              <a:t>Der Operator steht hinter seinen Operanden – </a:t>
            </a:r>
            <a:pPr indent="0" marL="0">
              <a:buNone/>
            </a:pPr>
            <a:r>
              <a:rPr lang="en-US" sz="1500" dirty="0">
                <a:solidFill>
                  <a:schemeClr val="accent1"/>
                </a:solidFill>
                <a:latin typeface="Consolas" pitchFamily="34" charset="0"/>
                <a:ea typeface="Consolas" pitchFamily="34" charset="-122"/>
                <a:cs typeface="Consolas" pitchFamily="34" charset="-120"/>
              </a:rPr>
              <a:t>"34+2*"</a:t>
            </a:r>
            <a:pPr indent="0" marL="0">
              <a:buNone/>
            </a:pPr>
            <a:r>
              <a:rPr lang="en-US" sz="1600" dirty="0">
                <a:solidFill>
                  <a:schemeClr val="accent1"/>
                </a:solidFill>
              </a:rPr>
              <a:t> = (3 + 4) · 2 = 14, ganz ohne Klammern.</a:t>
            </a:r>
            <a:endParaRPr lang="en-US" sz="1600" dirty="0"/>
          </a:p>
        </p:txBody>
      </p:sp>
      <p:sp>
        <p:nvSpPr>
          <p:cNvPr id="47" name="Reihenfolge!"/>
          <p:cNvSpPr/>
          <p:nvPr/>
        </p:nvSpPr>
        <p:spPr>
          <a:xfrm>
            <a:off x="548640" y="4617720"/>
            <a:ext cx="3566160" cy="1508760"/>
          </a:xfrm>
          <a:prstGeom prst="roundRect">
            <a:avLst>
              <a:gd name="adj" fmla="val 7273"/>
            </a:avLst>
          </a:prstGeom>
          <a:solidFill>
            <a:schemeClr val="bg1"/>
          </a:solidFill>
          <a:ln w="25400">
            <a:solidFill>
              <a:schemeClr val="accent4"/>
            </a:solidFill>
            <a:prstDash val="solid"/>
          </a:ln>
        </p:spPr>
      </p:sp>
      <p:sp>
        <p:nvSpPr>
          <p:cNvPr id="48" name="Text 46"/>
          <p:cNvSpPr txBox="1"/>
          <p:nvPr/>
        </p:nvSpPr>
        <p:spPr>
          <a:xfrm>
            <a:off x="731520" y="4681728"/>
            <a:ext cx="3200400" cy="365760"/>
          </a:xfrm>
          <a:prstGeom prst="rect">
            <a:avLst/>
          </a:prstGeom>
          <a:noFill/>
          <a:ln/>
        </p:spPr>
        <p:txBody>
          <a:bodyPr wrap="square" lIns="0" tIns="0" rIns="0" bIns="0" rtlCol="0" anchor="t"/>
          <a:lstStyle/>
          <a:p>
            <a:pPr indent="0" marL="0">
              <a:buNone/>
            </a:pPr>
            <a:r>
              <a:rPr lang="en-US" sz="1800" b="1" dirty="0">
                <a:solidFill>
                  <a:schemeClr val="accent4"/>
                </a:solidFill>
              </a:rPr>
              <a:t>Reihenfolge!</a:t>
            </a:r>
            <a:endParaRPr lang="en-US" sz="1800" dirty="0"/>
          </a:p>
        </p:txBody>
      </p:sp>
      <p:sp>
        <p:nvSpPr>
          <p:cNvPr id="49" name="Text 47"/>
          <p:cNvSpPr txBox="1"/>
          <p:nvPr/>
        </p:nvSpPr>
        <p:spPr>
          <a:xfrm>
            <a:off x="731520" y="5047488"/>
            <a:ext cx="3246120" cy="1024128"/>
          </a:xfrm>
          <a:prstGeom prst="rect">
            <a:avLst/>
          </a:prstGeom>
          <a:noFill/>
          <a:ln/>
        </p:spPr>
        <p:txBody>
          <a:bodyPr wrap="square" lIns="0" tIns="0" rIns="0" bIns="0" rtlCol="0" anchor="t"/>
          <a:lstStyle/>
          <a:p>
            <a:pPr indent="0" marL="0">
              <a:buNone/>
            </a:pPr>
            <a:r>
              <a:rPr lang="en-US" sz="1500" dirty="0">
                <a:solidFill>
                  <a:schemeClr val="tx1"/>
                </a:solidFill>
              </a:rPr>
              <a:t>Zuerst entnommen = RECHTER Operand: </a:t>
            </a:r>
            <a:pPr indent="0" marL="0">
              <a:buNone/>
            </a:pPr>
            <a:r>
              <a:rPr lang="en-US" sz="1400" dirty="0">
                <a:solidFill>
                  <a:schemeClr val="tx1"/>
                </a:solidFill>
                <a:latin typeface="Consolas" pitchFamily="34" charset="0"/>
                <a:ea typeface="Consolas" pitchFamily="34" charset="-122"/>
                <a:cs typeface="Consolas" pitchFamily="34" charset="-120"/>
              </a:rPr>
              <a:t>"93-"</a:t>
            </a:r>
            <a:pPr indent="0" marL="0">
              <a:buNone/>
            </a:pPr>
            <a:r>
              <a:rPr lang="en-US" sz="1500" dirty="0">
                <a:solidFill>
                  <a:schemeClr val="tx1"/>
                </a:solidFill>
              </a:rPr>
              <a:t> → b = 3, a = 9 → 9 − 3 = 6 (vertauscht: −6)</a:t>
            </a:r>
            <a:endParaRPr lang="en-US" sz="1500" dirty="0"/>
          </a:p>
        </p:txBody>
      </p:sp>
      <p:sp>
        <p:nvSpPr>
          <p:cNvPr id="50" name="Ziffer → Zahl"/>
          <p:cNvSpPr/>
          <p:nvPr/>
        </p:nvSpPr>
        <p:spPr>
          <a:xfrm>
            <a:off x="4297680" y="4617720"/>
            <a:ext cx="3566160" cy="1508760"/>
          </a:xfrm>
          <a:prstGeom prst="roundRect">
            <a:avLst>
              <a:gd name="adj" fmla="val 7273"/>
            </a:avLst>
          </a:prstGeom>
          <a:solidFill>
            <a:schemeClr val="bg2"/>
          </a:solidFill>
          <a:ln/>
        </p:spPr>
      </p:sp>
      <p:sp>
        <p:nvSpPr>
          <p:cNvPr id="51" name="Text 49"/>
          <p:cNvSpPr txBox="1"/>
          <p:nvPr/>
        </p:nvSpPr>
        <p:spPr>
          <a:xfrm>
            <a:off x="4480560" y="4681728"/>
            <a:ext cx="3200400" cy="365760"/>
          </a:xfrm>
          <a:prstGeom prst="rect">
            <a:avLst/>
          </a:prstGeom>
          <a:noFill/>
          <a:ln/>
        </p:spPr>
        <p:txBody>
          <a:bodyPr wrap="square" lIns="0" tIns="0" rIns="0" bIns="0" rtlCol="0" anchor="t"/>
          <a:lstStyle/>
          <a:p>
            <a:pPr indent="0" marL="0">
              <a:buNone/>
            </a:pPr>
            <a:r>
              <a:rPr lang="en-US" sz="1800" b="1" dirty="0">
                <a:solidFill>
                  <a:schemeClr val="accent1"/>
                </a:solidFill>
              </a:rPr>
              <a:t>Ziffer → Zahl</a:t>
            </a:r>
            <a:endParaRPr lang="en-US" sz="1800" dirty="0"/>
          </a:p>
        </p:txBody>
      </p:sp>
      <p:sp>
        <p:nvSpPr>
          <p:cNvPr id="52" name="Text 50"/>
          <p:cNvSpPr txBox="1"/>
          <p:nvPr/>
        </p:nvSpPr>
        <p:spPr>
          <a:xfrm>
            <a:off x="4480560" y="5047488"/>
            <a:ext cx="3246120" cy="1024128"/>
          </a:xfrm>
          <a:prstGeom prst="rect">
            <a:avLst/>
          </a:prstGeom>
          <a:noFill/>
          <a:ln/>
        </p:spPr>
        <p:txBody>
          <a:bodyPr wrap="square" lIns="0" tIns="0" rIns="0" bIns="0" rtlCol="0" anchor="t"/>
          <a:lstStyle/>
          <a:p>
            <a:pPr indent="0" marL="0">
              <a:buNone/>
            </a:pPr>
            <a:r>
              <a:rPr lang="en-US" sz="1400" dirty="0">
                <a:solidFill>
                  <a:schemeClr val="tx1"/>
                </a:solidFill>
                <a:latin typeface="Consolas" pitchFamily="34" charset="0"/>
                <a:ea typeface="Consolas" pitchFamily="34" charset="-122"/>
                <a:cs typeface="Consolas" pitchFamily="34" charset="-120"/>
              </a:rPr>
              <a:t>(int) c - (int) '0'</a:t>
            </a:r>
            <a:pPr indent="0" marL="0">
              <a:buNone/>
            </a:pPr>
            <a:r>
              <a:rPr lang="en-US" sz="1500" dirty="0">
                <a:solidFill>
                  <a:schemeClr val="tx1"/>
                </a:solidFill>
              </a:rPr>
              <a:t> – denn '3' hat den ASCII-Wert 51</a:t>
            </a:r>
            <a:endParaRPr lang="en-US" sz="1500" dirty="0"/>
          </a:p>
        </p:txBody>
      </p:sp>
      <p:sp>
        <p:nvSpPr>
          <p:cNvPr id="53" name="Jetzt du (Papier)"/>
          <p:cNvSpPr/>
          <p:nvPr/>
        </p:nvSpPr>
        <p:spPr>
          <a:xfrm>
            <a:off x="8046720" y="4617720"/>
            <a:ext cx="3566160" cy="1508760"/>
          </a:xfrm>
          <a:prstGeom prst="roundRect">
            <a:avLst>
              <a:gd name="adj" fmla="val 7273"/>
            </a:avLst>
          </a:prstGeom>
          <a:solidFill>
            <a:schemeClr val="accent1"/>
          </a:solidFill>
          <a:ln/>
          <a:effectLst>
            <a:outerShdw sx="100000" sy="100000" kx="0" ky="0" algn="bl" rotWithShape="0" blurRad="76200" dist="25400" dir="5400000">
              <a:srgbClr val="000000">
                <a:alpha val="18000"/>
              </a:srgbClr>
            </a:outerShdw>
          </a:effectLst>
        </p:spPr>
      </p:sp>
      <p:sp>
        <p:nvSpPr>
          <p:cNvPr id="54" name="Text 52"/>
          <p:cNvSpPr txBox="1"/>
          <p:nvPr/>
        </p:nvSpPr>
        <p:spPr>
          <a:xfrm>
            <a:off x="8229600" y="4681728"/>
            <a:ext cx="3200400" cy="365760"/>
          </a:xfrm>
          <a:prstGeom prst="rect">
            <a:avLst/>
          </a:prstGeom>
          <a:noFill/>
          <a:ln/>
        </p:spPr>
        <p:txBody>
          <a:bodyPr wrap="square" lIns="0" tIns="0" rIns="0" bIns="0" rtlCol="0" anchor="t"/>
          <a:lstStyle/>
          <a:p>
            <a:pPr indent="0" marL="0">
              <a:buNone/>
            </a:pPr>
            <a:r>
              <a:rPr lang="en-US" sz="1800" b="1" dirty="0">
                <a:solidFill>
                  <a:schemeClr val="accent2"/>
                </a:solidFill>
              </a:rPr>
              <a:t>Jetzt du (Papier)</a:t>
            </a:r>
            <a:endParaRPr lang="en-US" sz="1800" dirty="0"/>
          </a:p>
        </p:txBody>
      </p:sp>
      <p:sp>
        <p:nvSpPr>
          <p:cNvPr id="55" name="Text 53"/>
          <p:cNvSpPr txBox="1"/>
          <p:nvPr/>
        </p:nvSpPr>
        <p:spPr>
          <a:xfrm>
            <a:off x="8229600" y="5047488"/>
            <a:ext cx="3246120" cy="1024128"/>
          </a:xfrm>
          <a:prstGeom prst="rect">
            <a:avLst/>
          </a:prstGeom>
          <a:noFill/>
          <a:ln/>
        </p:spPr>
        <p:txBody>
          <a:bodyPr wrap="square" lIns="0" tIns="0" rIns="0" bIns="0" rtlCol="0" anchor="t"/>
          <a:lstStyle/>
          <a:p>
            <a:pPr indent="0" marL="0">
              <a:buNone/>
            </a:pPr>
            <a:r>
              <a:rPr lang="en-US" sz="1500" dirty="0">
                <a:solidFill>
                  <a:schemeClr val="bg1"/>
                </a:solidFill>
              </a:rPr>
              <a:t>Werte </a:t>
            </a:r>
            <a:pPr indent="0" marL="0">
              <a:buNone/>
            </a:pPr>
            <a:r>
              <a:rPr lang="en-US" sz="1400" dirty="0">
                <a:solidFill>
                  <a:schemeClr val="bg1"/>
                </a:solidFill>
                <a:latin typeface="Consolas" pitchFamily="34" charset="0"/>
                <a:ea typeface="Consolas" pitchFamily="34" charset="-122"/>
                <a:cs typeface="Consolas" pitchFamily="34" charset="-120"/>
              </a:rPr>
              <a:t>"2534+*-"</a:t>
            </a:r>
            <a:pPr indent="0" marL="0">
              <a:buNone/>
            </a:pPr>
            <a:r>
              <a:rPr lang="en-US" sz="1500" dirty="0">
                <a:solidFill>
                  <a:schemeClr val="bg1"/>
                </a:solidFill>
              </a:rPr>
              <a:t> aus und skizziere den Stapel nach jedem Zeichen.</a:t>
            </a:r>
            <a:endParaRPr lang="en-US" sz="1500" dirty="0"/>
          </a:p>
        </p:txBody>
      </p:sp>
      <p:sp>
        <p:nvSpPr>
          <p:cNvPr id="56" name="Text 54"/>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28 · Postfix</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Nebel lüften ohne Rekursion: Schlange oder Stapel?</a:t>
            </a:r>
            <a:endParaRPr lang="en-US" sz="3600" dirty="0"/>
          </a:p>
        </p:txBody>
      </p:sp>
      <p:sp>
        <p:nvSpPr>
          <p:cNvPr id="3" name="Text 1"/>
          <p:cNvSpPr txBox="1"/>
          <p:nvPr/>
        </p:nvSpPr>
        <p:spPr>
          <a:xfrm>
            <a:off x="640080" y="1280160"/>
            <a:ext cx="4480560" cy="365760"/>
          </a:xfrm>
          <a:prstGeom prst="rect">
            <a:avLst/>
          </a:prstGeom>
          <a:noFill/>
          <a:ln/>
        </p:spPr>
        <p:txBody>
          <a:bodyPr wrap="square" lIns="0" tIns="0" rIns="0" bIns="0" rtlCol="0" anchor="t"/>
          <a:lstStyle/>
          <a:p>
            <a:pPr indent="0" marL="0">
              <a:buNone/>
            </a:pPr>
            <a:r>
              <a:rPr lang="en-US" sz="1800" b="1" dirty="0">
                <a:solidFill>
                  <a:schemeClr val="accent1"/>
                </a:solidFill>
              </a:rPr>
              <a:t>mit Schlange (dequeue)</a:t>
            </a:r>
            <a:endParaRPr lang="en-US" sz="1800" dirty="0"/>
          </a:p>
        </p:txBody>
      </p:sp>
      <p:sp>
        <p:nvSpPr>
          <p:cNvPr id="4" name="Feld 0,0"/>
          <p:cNvSpPr txBox="1"/>
          <p:nvPr/>
        </p:nvSpPr>
        <p:spPr>
          <a:xfrm>
            <a:off x="914400"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5" name="Feld 0,1"/>
          <p:cNvSpPr txBox="1"/>
          <p:nvPr/>
        </p:nvSpPr>
        <p:spPr>
          <a:xfrm>
            <a:off x="1481328"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6" name="Feld 0,2"/>
          <p:cNvSpPr txBox="1"/>
          <p:nvPr/>
        </p:nvSpPr>
        <p:spPr>
          <a:xfrm>
            <a:off x="2048256"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7" name="Feld 0,3"/>
          <p:cNvSpPr txBox="1"/>
          <p:nvPr/>
        </p:nvSpPr>
        <p:spPr>
          <a:xfrm>
            <a:off x="2615184"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8" name="Feld 0,4"/>
          <p:cNvSpPr txBox="1"/>
          <p:nvPr/>
        </p:nvSpPr>
        <p:spPr>
          <a:xfrm>
            <a:off x="3182112"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9" name="Feld 0,5"/>
          <p:cNvSpPr txBox="1"/>
          <p:nvPr/>
        </p:nvSpPr>
        <p:spPr>
          <a:xfrm>
            <a:off x="3749040"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10" name="Feld 0,6"/>
          <p:cNvSpPr txBox="1"/>
          <p:nvPr/>
        </p:nvSpPr>
        <p:spPr>
          <a:xfrm>
            <a:off x="4315968"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11" name="Feld 1,0"/>
          <p:cNvSpPr txBox="1"/>
          <p:nvPr/>
        </p:nvSpPr>
        <p:spPr>
          <a:xfrm>
            <a:off x="914400" y="2532888"/>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12" name="Feld 1,1"/>
          <p:cNvSpPr txBox="1"/>
          <p:nvPr/>
        </p:nvSpPr>
        <p:spPr>
          <a:xfrm>
            <a:off x="1481328" y="2532888"/>
            <a:ext cx="566928" cy="566928"/>
          </a:xfrm>
          <a:prstGeom prst="rect">
            <a:avLst/>
          </a:prstGeom>
          <a:solidFill>
            <a:srgbClr val="1F4E79"/>
          </a:solidFill>
          <a:ln w="9525">
            <a:solidFill>
              <a:srgbClr val="BFBFBF"/>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3" name="Feld 1,2"/>
          <p:cNvSpPr txBox="1"/>
          <p:nvPr/>
        </p:nvSpPr>
        <p:spPr>
          <a:xfrm>
            <a:off x="2048256" y="2532888"/>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2</a:t>
            </a:r>
            <a:endParaRPr lang="en-US" sz="1700" dirty="0"/>
          </a:p>
        </p:txBody>
      </p:sp>
      <p:sp>
        <p:nvSpPr>
          <p:cNvPr id="14" name="Feld 1,3"/>
          <p:cNvSpPr txBox="1"/>
          <p:nvPr/>
        </p:nvSpPr>
        <p:spPr>
          <a:xfrm>
            <a:off x="2615184" y="2532888"/>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4</a:t>
            </a:r>
            <a:endParaRPr lang="en-US" sz="1700" dirty="0"/>
          </a:p>
        </p:txBody>
      </p:sp>
      <p:sp>
        <p:nvSpPr>
          <p:cNvPr id="15" name="Feld 1,4"/>
          <p:cNvSpPr txBox="1"/>
          <p:nvPr/>
        </p:nvSpPr>
        <p:spPr>
          <a:xfrm>
            <a:off x="3182112" y="2532888"/>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7</a:t>
            </a:r>
            <a:endParaRPr lang="en-US" sz="1700" dirty="0"/>
          </a:p>
        </p:txBody>
      </p:sp>
      <p:sp>
        <p:nvSpPr>
          <p:cNvPr id="16" name="Feld 1,5"/>
          <p:cNvSpPr txBox="1"/>
          <p:nvPr/>
        </p:nvSpPr>
        <p:spPr>
          <a:xfrm>
            <a:off x="3749040" y="2532888"/>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9</a:t>
            </a:r>
            <a:endParaRPr lang="en-US" sz="1700" dirty="0"/>
          </a:p>
        </p:txBody>
      </p:sp>
      <p:sp>
        <p:nvSpPr>
          <p:cNvPr id="17" name="Feld 1,6"/>
          <p:cNvSpPr txBox="1"/>
          <p:nvPr/>
        </p:nvSpPr>
        <p:spPr>
          <a:xfrm>
            <a:off x="4315968" y="2532888"/>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18" name="Feld 2,0"/>
          <p:cNvSpPr txBox="1"/>
          <p:nvPr/>
        </p:nvSpPr>
        <p:spPr>
          <a:xfrm>
            <a:off x="914400" y="3099816"/>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19" name="Feld 2,1"/>
          <p:cNvSpPr txBox="1"/>
          <p:nvPr/>
        </p:nvSpPr>
        <p:spPr>
          <a:xfrm>
            <a:off x="1481328" y="3099816"/>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3</a:t>
            </a:r>
            <a:endParaRPr lang="en-US" sz="1700" dirty="0"/>
          </a:p>
        </p:txBody>
      </p:sp>
      <p:sp>
        <p:nvSpPr>
          <p:cNvPr id="20" name="Feld 2,2"/>
          <p:cNvSpPr txBox="1"/>
          <p:nvPr/>
        </p:nvSpPr>
        <p:spPr>
          <a:xfrm>
            <a:off x="2048256" y="3099816"/>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5</a:t>
            </a:r>
            <a:endParaRPr lang="en-US" sz="1700" dirty="0"/>
          </a:p>
        </p:txBody>
      </p:sp>
      <p:sp>
        <p:nvSpPr>
          <p:cNvPr id="21" name="Feld 2,3"/>
          <p:cNvSpPr txBox="1"/>
          <p:nvPr/>
        </p:nvSpPr>
        <p:spPr>
          <a:xfrm>
            <a:off x="2615184" y="3099816"/>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22" name="Feld 2,4"/>
          <p:cNvSpPr txBox="1"/>
          <p:nvPr/>
        </p:nvSpPr>
        <p:spPr>
          <a:xfrm>
            <a:off x="3182112" y="3099816"/>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10</a:t>
            </a:r>
            <a:endParaRPr lang="en-US" sz="1700" dirty="0"/>
          </a:p>
        </p:txBody>
      </p:sp>
      <p:sp>
        <p:nvSpPr>
          <p:cNvPr id="23" name="Feld 2,5"/>
          <p:cNvSpPr txBox="1"/>
          <p:nvPr/>
        </p:nvSpPr>
        <p:spPr>
          <a:xfrm>
            <a:off x="3749040" y="3099816"/>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12</a:t>
            </a:r>
            <a:endParaRPr lang="en-US" sz="1700" dirty="0"/>
          </a:p>
        </p:txBody>
      </p:sp>
      <p:sp>
        <p:nvSpPr>
          <p:cNvPr id="24" name="Feld 2,6"/>
          <p:cNvSpPr txBox="1"/>
          <p:nvPr/>
        </p:nvSpPr>
        <p:spPr>
          <a:xfrm>
            <a:off x="4315968" y="3099816"/>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25" name="Feld 3,0"/>
          <p:cNvSpPr txBox="1"/>
          <p:nvPr/>
        </p:nvSpPr>
        <p:spPr>
          <a:xfrm>
            <a:off x="914400" y="3666744"/>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26" name="Feld 3,1"/>
          <p:cNvSpPr txBox="1"/>
          <p:nvPr/>
        </p:nvSpPr>
        <p:spPr>
          <a:xfrm>
            <a:off x="1481328" y="3666744"/>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6</a:t>
            </a:r>
            <a:endParaRPr lang="en-US" sz="1700" dirty="0"/>
          </a:p>
        </p:txBody>
      </p:sp>
      <p:sp>
        <p:nvSpPr>
          <p:cNvPr id="27" name="Feld 3,2"/>
          <p:cNvSpPr txBox="1"/>
          <p:nvPr/>
        </p:nvSpPr>
        <p:spPr>
          <a:xfrm>
            <a:off x="2048256" y="3666744"/>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8</a:t>
            </a:r>
            <a:endParaRPr lang="en-US" sz="1700" dirty="0"/>
          </a:p>
        </p:txBody>
      </p:sp>
      <p:sp>
        <p:nvSpPr>
          <p:cNvPr id="28" name="Feld 3,3"/>
          <p:cNvSpPr txBox="1"/>
          <p:nvPr/>
        </p:nvSpPr>
        <p:spPr>
          <a:xfrm>
            <a:off x="2615184" y="3666744"/>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11</a:t>
            </a:r>
            <a:endParaRPr lang="en-US" sz="1700" dirty="0"/>
          </a:p>
        </p:txBody>
      </p:sp>
      <p:sp>
        <p:nvSpPr>
          <p:cNvPr id="29" name="Feld 3,4"/>
          <p:cNvSpPr txBox="1"/>
          <p:nvPr/>
        </p:nvSpPr>
        <p:spPr>
          <a:xfrm>
            <a:off x="3182112" y="3666744"/>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13</a:t>
            </a:r>
            <a:endParaRPr lang="en-US" sz="1700" dirty="0"/>
          </a:p>
        </p:txBody>
      </p:sp>
      <p:sp>
        <p:nvSpPr>
          <p:cNvPr id="30" name="Feld 3,5"/>
          <p:cNvSpPr txBox="1"/>
          <p:nvPr/>
        </p:nvSpPr>
        <p:spPr>
          <a:xfrm>
            <a:off x="3749040" y="3666744"/>
            <a:ext cx="566928" cy="566928"/>
          </a:xfrm>
          <a:prstGeom prst="rect">
            <a:avLst/>
          </a:prstGeom>
          <a:solidFill>
            <a:srgbClr val="548235"/>
          </a:solidFill>
          <a:ln w="9525">
            <a:solidFill>
              <a:srgbClr val="BFBFBF"/>
            </a:solidFill>
          </a:ln>
        </p:spPr>
        <p:txBody>
          <a:bodyPr wrap="square" lIns="0" tIns="0" rIns="0" bIns="0" rtlCol="0" anchor="ctr"/>
          <a:lstStyle/>
          <a:p>
            <a:pPr algn="ctr" indent="0" marL="0">
              <a:buNone/>
            </a:pPr>
            <a:r>
              <a:rPr lang="en-US" sz="1700" b="1" dirty="0">
                <a:solidFill>
                  <a:schemeClr val="bg1"/>
                </a:solidFill>
              </a:rPr>
              <a:t>14</a:t>
            </a:r>
            <a:endParaRPr lang="en-US" sz="1700" dirty="0"/>
          </a:p>
        </p:txBody>
      </p:sp>
      <p:sp>
        <p:nvSpPr>
          <p:cNvPr id="31" name="Feld 3,6"/>
          <p:cNvSpPr txBox="1"/>
          <p:nvPr/>
        </p:nvSpPr>
        <p:spPr>
          <a:xfrm>
            <a:off x="4315968" y="3666744"/>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32" name="Feld 4,0"/>
          <p:cNvSpPr txBox="1"/>
          <p:nvPr/>
        </p:nvSpPr>
        <p:spPr>
          <a:xfrm>
            <a:off x="914400"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33" name="Feld 4,1"/>
          <p:cNvSpPr txBox="1"/>
          <p:nvPr/>
        </p:nvSpPr>
        <p:spPr>
          <a:xfrm>
            <a:off x="1481328"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34" name="Feld 4,2"/>
          <p:cNvSpPr txBox="1"/>
          <p:nvPr/>
        </p:nvSpPr>
        <p:spPr>
          <a:xfrm>
            <a:off x="2048256"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35" name="Feld 4,3"/>
          <p:cNvSpPr txBox="1"/>
          <p:nvPr/>
        </p:nvSpPr>
        <p:spPr>
          <a:xfrm>
            <a:off x="2615184"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36" name="Feld 4,4"/>
          <p:cNvSpPr txBox="1"/>
          <p:nvPr/>
        </p:nvSpPr>
        <p:spPr>
          <a:xfrm>
            <a:off x="3182112"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37" name="Feld 4,5"/>
          <p:cNvSpPr txBox="1"/>
          <p:nvPr/>
        </p:nvSpPr>
        <p:spPr>
          <a:xfrm>
            <a:off x="3749040"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38" name="Feld 4,6"/>
          <p:cNvSpPr txBox="1"/>
          <p:nvPr/>
        </p:nvSpPr>
        <p:spPr>
          <a:xfrm>
            <a:off x="4315968"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39" name="Text 37"/>
          <p:cNvSpPr txBox="1"/>
          <p:nvPr/>
        </p:nvSpPr>
        <p:spPr>
          <a:xfrm>
            <a:off x="914400"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0</a:t>
            </a:r>
            <a:endParaRPr lang="en-US" sz="1200" dirty="0"/>
          </a:p>
        </p:txBody>
      </p:sp>
      <p:sp>
        <p:nvSpPr>
          <p:cNvPr id="40" name="Text 38"/>
          <p:cNvSpPr txBox="1"/>
          <p:nvPr/>
        </p:nvSpPr>
        <p:spPr>
          <a:xfrm>
            <a:off x="1481328"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1</a:t>
            </a:r>
            <a:endParaRPr lang="en-US" sz="1200" dirty="0"/>
          </a:p>
        </p:txBody>
      </p:sp>
      <p:sp>
        <p:nvSpPr>
          <p:cNvPr id="41" name="Text 39"/>
          <p:cNvSpPr txBox="1"/>
          <p:nvPr/>
        </p:nvSpPr>
        <p:spPr>
          <a:xfrm>
            <a:off x="2048256"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2</a:t>
            </a:r>
            <a:endParaRPr lang="en-US" sz="1200" dirty="0"/>
          </a:p>
        </p:txBody>
      </p:sp>
      <p:sp>
        <p:nvSpPr>
          <p:cNvPr id="42" name="Text 40"/>
          <p:cNvSpPr txBox="1"/>
          <p:nvPr/>
        </p:nvSpPr>
        <p:spPr>
          <a:xfrm>
            <a:off x="2615184"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3</a:t>
            </a:r>
            <a:endParaRPr lang="en-US" sz="1200" dirty="0"/>
          </a:p>
        </p:txBody>
      </p:sp>
      <p:sp>
        <p:nvSpPr>
          <p:cNvPr id="43" name="Text 41"/>
          <p:cNvSpPr txBox="1"/>
          <p:nvPr/>
        </p:nvSpPr>
        <p:spPr>
          <a:xfrm>
            <a:off x="3182112"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4</a:t>
            </a:r>
            <a:endParaRPr lang="en-US" sz="1200" dirty="0"/>
          </a:p>
        </p:txBody>
      </p:sp>
      <p:sp>
        <p:nvSpPr>
          <p:cNvPr id="44" name="Text 42"/>
          <p:cNvSpPr txBox="1"/>
          <p:nvPr/>
        </p:nvSpPr>
        <p:spPr>
          <a:xfrm>
            <a:off x="3749040"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5</a:t>
            </a:r>
            <a:endParaRPr lang="en-US" sz="1200" dirty="0"/>
          </a:p>
        </p:txBody>
      </p:sp>
      <p:sp>
        <p:nvSpPr>
          <p:cNvPr id="45" name="Text 43"/>
          <p:cNvSpPr txBox="1"/>
          <p:nvPr/>
        </p:nvSpPr>
        <p:spPr>
          <a:xfrm>
            <a:off x="4315968"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6</a:t>
            </a:r>
            <a:endParaRPr lang="en-US" sz="1200" dirty="0"/>
          </a:p>
        </p:txBody>
      </p:sp>
      <p:sp>
        <p:nvSpPr>
          <p:cNvPr id="46" name="Text 44"/>
          <p:cNvSpPr txBox="1"/>
          <p:nvPr/>
        </p:nvSpPr>
        <p:spPr>
          <a:xfrm>
            <a:off x="621792" y="1965960"/>
            <a:ext cx="219456" cy="566928"/>
          </a:xfrm>
          <a:prstGeom prst="rect">
            <a:avLst/>
          </a:prstGeom>
          <a:noFill/>
          <a:ln/>
        </p:spPr>
        <p:txBody>
          <a:bodyPr wrap="square" lIns="0" tIns="0" rIns="0" bIns="0" rtlCol="0" anchor="ctr"/>
          <a:lstStyle/>
          <a:p>
            <a:pPr algn="r" indent="0" marL="0">
              <a:buNone/>
            </a:pPr>
            <a:r>
              <a:rPr lang="en-US" sz="1200" b="1" dirty="0">
                <a:solidFill>
                  <a:schemeClr val="accent6"/>
                </a:solidFill>
              </a:rPr>
              <a:t>0</a:t>
            </a:r>
            <a:endParaRPr lang="en-US" sz="1200" dirty="0"/>
          </a:p>
        </p:txBody>
      </p:sp>
      <p:sp>
        <p:nvSpPr>
          <p:cNvPr id="47" name="Text 45"/>
          <p:cNvSpPr txBox="1"/>
          <p:nvPr/>
        </p:nvSpPr>
        <p:spPr>
          <a:xfrm>
            <a:off x="621792" y="2532888"/>
            <a:ext cx="219456" cy="566928"/>
          </a:xfrm>
          <a:prstGeom prst="rect">
            <a:avLst/>
          </a:prstGeom>
          <a:noFill/>
          <a:ln/>
        </p:spPr>
        <p:txBody>
          <a:bodyPr wrap="square" lIns="0" tIns="0" rIns="0" bIns="0" rtlCol="0" anchor="ctr"/>
          <a:lstStyle/>
          <a:p>
            <a:pPr algn="r" indent="0" marL="0">
              <a:buNone/>
            </a:pPr>
            <a:r>
              <a:rPr lang="en-US" sz="1200" b="1" dirty="0">
                <a:solidFill>
                  <a:schemeClr val="accent6"/>
                </a:solidFill>
              </a:rPr>
              <a:t>1</a:t>
            </a:r>
            <a:endParaRPr lang="en-US" sz="1200" dirty="0"/>
          </a:p>
        </p:txBody>
      </p:sp>
      <p:sp>
        <p:nvSpPr>
          <p:cNvPr id="48" name="Text 46"/>
          <p:cNvSpPr txBox="1"/>
          <p:nvPr/>
        </p:nvSpPr>
        <p:spPr>
          <a:xfrm>
            <a:off x="621792" y="3099816"/>
            <a:ext cx="219456" cy="566928"/>
          </a:xfrm>
          <a:prstGeom prst="rect">
            <a:avLst/>
          </a:prstGeom>
          <a:noFill/>
          <a:ln/>
        </p:spPr>
        <p:txBody>
          <a:bodyPr wrap="square" lIns="0" tIns="0" rIns="0" bIns="0" rtlCol="0" anchor="ctr"/>
          <a:lstStyle/>
          <a:p>
            <a:pPr algn="r" indent="0" marL="0">
              <a:buNone/>
            </a:pPr>
            <a:r>
              <a:rPr lang="en-US" sz="1200" b="1" dirty="0">
                <a:solidFill>
                  <a:schemeClr val="accent6"/>
                </a:solidFill>
              </a:rPr>
              <a:t>2</a:t>
            </a:r>
            <a:endParaRPr lang="en-US" sz="1200" dirty="0"/>
          </a:p>
        </p:txBody>
      </p:sp>
      <p:sp>
        <p:nvSpPr>
          <p:cNvPr id="49" name="Text 47"/>
          <p:cNvSpPr txBox="1"/>
          <p:nvPr/>
        </p:nvSpPr>
        <p:spPr>
          <a:xfrm>
            <a:off x="621792" y="3666744"/>
            <a:ext cx="219456" cy="566928"/>
          </a:xfrm>
          <a:prstGeom prst="rect">
            <a:avLst/>
          </a:prstGeom>
          <a:noFill/>
          <a:ln/>
        </p:spPr>
        <p:txBody>
          <a:bodyPr wrap="square" lIns="0" tIns="0" rIns="0" bIns="0" rtlCol="0" anchor="ctr"/>
          <a:lstStyle/>
          <a:p>
            <a:pPr algn="r" indent="0" marL="0">
              <a:buNone/>
            </a:pPr>
            <a:r>
              <a:rPr lang="en-US" sz="1200" b="1" dirty="0">
                <a:solidFill>
                  <a:schemeClr val="accent6"/>
                </a:solidFill>
              </a:rPr>
              <a:t>3</a:t>
            </a:r>
            <a:endParaRPr lang="en-US" sz="1200" dirty="0"/>
          </a:p>
        </p:txBody>
      </p:sp>
      <p:sp>
        <p:nvSpPr>
          <p:cNvPr id="50" name="Text 48"/>
          <p:cNvSpPr txBox="1"/>
          <p:nvPr/>
        </p:nvSpPr>
        <p:spPr>
          <a:xfrm>
            <a:off x="621792" y="4233672"/>
            <a:ext cx="219456" cy="566928"/>
          </a:xfrm>
          <a:prstGeom prst="rect">
            <a:avLst/>
          </a:prstGeom>
          <a:noFill/>
          <a:ln/>
        </p:spPr>
        <p:txBody>
          <a:bodyPr wrap="square" lIns="0" tIns="0" rIns="0" bIns="0" rtlCol="0" anchor="ctr"/>
          <a:lstStyle/>
          <a:p>
            <a:pPr algn="r" indent="0" marL="0">
              <a:buNone/>
            </a:pPr>
            <a:r>
              <a:rPr lang="en-US" sz="1200" b="1" dirty="0">
                <a:solidFill>
                  <a:schemeClr val="accent6"/>
                </a:solidFill>
              </a:rPr>
              <a:t>4</a:t>
            </a:r>
            <a:endParaRPr lang="en-US" sz="1200" dirty="0"/>
          </a:p>
        </p:txBody>
      </p:sp>
      <p:sp>
        <p:nvSpPr>
          <p:cNvPr id="51" name="Text 49"/>
          <p:cNvSpPr txBox="1"/>
          <p:nvPr/>
        </p:nvSpPr>
        <p:spPr>
          <a:xfrm>
            <a:off x="5212080" y="1280160"/>
            <a:ext cx="4480560" cy="365760"/>
          </a:xfrm>
          <a:prstGeom prst="rect">
            <a:avLst/>
          </a:prstGeom>
          <a:noFill/>
          <a:ln/>
        </p:spPr>
        <p:txBody>
          <a:bodyPr wrap="square" lIns="0" tIns="0" rIns="0" bIns="0" rtlCol="0" anchor="t"/>
          <a:lstStyle/>
          <a:p>
            <a:pPr indent="0" marL="0">
              <a:buNone/>
            </a:pPr>
            <a:r>
              <a:rPr lang="en-US" sz="1800" b="1" dirty="0">
                <a:solidFill>
                  <a:schemeClr val="accent1"/>
                </a:solidFill>
              </a:rPr>
              <a:t>mit Stapel (pop)</a:t>
            </a:r>
            <a:endParaRPr lang="en-US" sz="1800" dirty="0"/>
          </a:p>
        </p:txBody>
      </p:sp>
      <p:sp>
        <p:nvSpPr>
          <p:cNvPr id="52" name="Feld 0,0"/>
          <p:cNvSpPr txBox="1"/>
          <p:nvPr/>
        </p:nvSpPr>
        <p:spPr>
          <a:xfrm>
            <a:off x="5486400"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53" name="Feld 0,1"/>
          <p:cNvSpPr txBox="1"/>
          <p:nvPr/>
        </p:nvSpPr>
        <p:spPr>
          <a:xfrm>
            <a:off x="6053328"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54" name="Feld 0,2"/>
          <p:cNvSpPr txBox="1"/>
          <p:nvPr/>
        </p:nvSpPr>
        <p:spPr>
          <a:xfrm>
            <a:off x="6620256"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55" name="Feld 0,3"/>
          <p:cNvSpPr txBox="1"/>
          <p:nvPr/>
        </p:nvSpPr>
        <p:spPr>
          <a:xfrm>
            <a:off x="7187184"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56" name="Feld 0,4"/>
          <p:cNvSpPr txBox="1"/>
          <p:nvPr/>
        </p:nvSpPr>
        <p:spPr>
          <a:xfrm>
            <a:off x="7754112"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57" name="Feld 0,5"/>
          <p:cNvSpPr txBox="1"/>
          <p:nvPr/>
        </p:nvSpPr>
        <p:spPr>
          <a:xfrm>
            <a:off x="8321040"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58" name="Feld 0,6"/>
          <p:cNvSpPr txBox="1"/>
          <p:nvPr/>
        </p:nvSpPr>
        <p:spPr>
          <a:xfrm>
            <a:off x="8887968" y="1965960"/>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59" name="Feld 1,0"/>
          <p:cNvSpPr txBox="1"/>
          <p:nvPr/>
        </p:nvSpPr>
        <p:spPr>
          <a:xfrm>
            <a:off x="5486400" y="2532888"/>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60" name="Feld 1,1"/>
          <p:cNvSpPr txBox="1"/>
          <p:nvPr/>
        </p:nvSpPr>
        <p:spPr>
          <a:xfrm>
            <a:off x="6053328" y="2532888"/>
            <a:ext cx="566928" cy="566928"/>
          </a:xfrm>
          <a:prstGeom prst="rect">
            <a:avLst/>
          </a:prstGeom>
          <a:solidFill>
            <a:srgbClr val="1F4E79"/>
          </a:solidFill>
          <a:ln w="9525">
            <a:solidFill>
              <a:srgbClr val="BFBFBF"/>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61" name="Feld 1,2"/>
          <p:cNvSpPr txBox="1"/>
          <p:nvPr/>
        </p:nvSpPr>
        <p:spPr>
          <a:xfrm>
            <a:off x="6620256" y="2532888"/>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2</a:t>
            </a:r>
            <a:endParaRPr lang="en-US" sz="1700" dirty="0"/>
          </a:p>
        </p:txBody>
      </p:sp>
      <p:sp>
        <p:nvSpPr>
          <p:cNvPr id="62" name="Feld 1,3"/>
          <p:cNvSpPr txBox="1"/>
          <p:nvPr/>
        </p:nvSpPr>
        <p:spPr>
          <a:xfrm>
            <a:off x="7187184" y="2532888"/>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14</a:t>
            </a:r>
            <a:endParaRPr lang="en-US" sz="1700" dirty="0"/>
          </a:p>
        </p:txBody>
      </p:sp>
      <p:sp>
        <p:nvSpPr>
          <p:cNvPr id="63" name="Feld 1,4"/>
          <p:cNvSpPr txBox="1"/>
          <p:nvPr/>
        </p:nvSpPr>
        <p:spPr>
          <a:xfrm>
            <a:off x="7754112" y="2532888"/>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13</a:t>
            </a:r>
            <a:endParaRPr lang="en-US" sz="1700" dirty="0"/>
          </a:p>
        </p:txBody>
      </p:sp>
      <p:sp>
        <p:nvSpPr>
          <p:cNvPr id="64" name="Feld 1,5"/>
          <p:cNvSpPr txBox="1"/>
          <p:nvPr/>
        </p:nvSpPr>
        <p:spPr>
          <a:xfrm>
            <a:off x="8321040" y="2532888"/>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12</a:t>
            </a:r>
            <a:endParaRPr lang="en-US" sz="1700" dirty="0"/>
          </a:p>
        </p:txBody>
      </p:sp>
      <p:sp>
        <p:nvSpPr>
          <p:cNvPr id="65" name="Feld 1,6"/>
          <p:cNvSpPr txBox="1"/>
          <p:nvPr/>
        </p:nvSpPr>
        <p:spPr>
          <a:xfrm>
            <a:off x="8887968" y="2532888"/>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66" name="Feld 2,0"/>
          <p:cNvSpPr txBox="1"/>
          <p:nvPr/>
        </p:nvSpPr>
        <p:spPr>
          <a:xfrm>
            <a:off x="5486400" y="3099816"/>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67" name="Feld 2,1"/>
          <p:cNvSpPr txBox="1"/>
          <p:nvPr/>
        </p:nvSpPr>
        <p:spPr>
          <a:xfrm>
            <a:off x="6053328" y="3099816"/>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3</a:t>
            </a:r>
            <a:endParaRPr lang="en-US" sz="1700" dirty="0"/>
          </a:p>
        </p:txBody>
      </p:sp>
      <p:sp>
        <p:nvSpPr>
          <p:cNvPr id="68" name="Feld 2,2"/>
          <p:cNvSpPr txBox="1"/>
          <p:nvPr/>
        </p:nvSpPr>
        <p:spPr>
          <a:xfrm>
            <a:off x="6620256" y="3099816"/>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4</a:t>
            </a:r>
            <a:endParaRPr lang="en-US" sz="1700" dirty="0"/>
          </a:p>
        </p:txBody>
      </p:sp>
      <p:sp>
        <p:nvSpPr>
          <p:cNvPr id="69" name="Feld 2,3"/>
          <p:cNvSpPr txBox="1"/>
          <p:nvPr/>
        </p:nvSpPr>
        <p:spPr>
          <a:xfrm>
            <a:off x="7187184" y="3099816"/>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70" name="Feld 2,4"/>
          <p:cNvSpPr txBox="1"/>
          <p:nvPr/>
        </p:nvSpPr>
        <p:spPr>
          <a:xfrm>
            <a:off x="7754112" y="3099816"/>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9</a:t>
            </a:r>
            <a:endParaRPr lang="en-US" sz="1700" dirty="0"/>
          </a:p>
        </p:txBody>
      </p:sp>
      <p:sp>
        <p:nvSpPr>
          <p:cNvPr id="71" name="Feld 2,5"/>
          <p:cNvSpPr txBox="1"/>
          <p:nvPr/>
        </p:nvSpPr>
        <p:spPr>
          <a:xfrm>
            <a:off x="8321040" y="3099816"/>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11</a:t>
            </a:r>
            <a:endParaRPr lang="en-US" sz="1700" dirty="0"/>
          </a:p>
        </p:txBody>
      </p:sp>
      <p:sp>
        <p:nvSpPr>
          <p:cNvPr id="72" name="Feld 2,6"/>
          <p:cNvSpPr txBox="1"/>
          <p:nvPr/>
        </p:nvSpPr>
        <p:spPr>
          <a:xfrm>
            <a:off x="8887968" y="3099816"/>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73" name="Feld 3,0"/>
          <p:cNvSpPr txBox="1"/>
          <p:nvPr/>
        </p:nvSpPr>
        <p:spPr>
          <a:xfrm>
            <a:off x="5486400" y="3666744"/>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74" name="Feld 3,1"/>
          <p:cNvSpPr txBox="1"/>
          <p:nvPr/>
        </p:nvSpPr>
        <p:spPr>
          <a:xfrm>
            <a:off x="6053328" y="3666744"/>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5</a:t>
            </a:r>
            <a:endParaRPr lang="en-US" sz="1700" dirty="0"/>
          </a:p>
        </p:txBody>
      </p:sp>
      <p:sp>
        <p:nvSpPr>
          <p:cNvPr id="75" name="Feld 3,2"/>
          <p:cNvSpPr txBox="1"/>
          <p:nvPr/>
        </p:nvSpPr>
        <p:spPr>
          <a:xfrm>
            <a:off x="6620256" y="3666744"/>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6</a:t>
            </a:r>
            <a:endParaRPr lang="en-US" sz="1700" dirty="0"/>
          </a:p>
        </p:txBody>
      </p:sp>
      <p:sp>
        <p:nvSpPr>
          <p:cNvPr id="76" name="Feld 3,3"/>
          <p:cNvSpPr txBox="1"/>
          <p:nvPr/>
        </p:nvSpPr>
        <p:spPr>
          <a:xfrm>
            <a:off x="7187184" y="3666744"/>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7</a:t>
            </a:r>
            <a:endParaRPr lang="en-US" sz="1700" dirty="0"/>
          </a:p>
        </p:txBody>
      </p:sp>
      <p:sp>
        <p:nvSpPr>
          <p:cNvPr id="77" name="Feld 3,4"/>
          <p:cNvSpPr txBox="1"/>
          <p:nvPr/>
        </p:nvSpPr>
        <p:spPr>
          <a:xfrm>
            <a:off x="7754112" y="3666744"/>
            <a:ext cx="566928" cy="566928"/>
          </a:xfrm>
          <a:prstGeom prst="rect">
            <a:avLst/>
          </a:prstGeom>
          <a:solidFill>
            <a:srgbClr val="FFF2CC"/>
          </a:solidFill>
          <a:ln w="9525">
            <a:solidFill>
              <a:srgbClr val="BFBFBF"/>
            </a:solidFill>
          </a:ln>
        </p:spPr>
        <p:txBody>
          <a:bodyPr wrap="square" lIns="0" tIns="0" rIns="0" bIns="0" rtlCol="0" anchor="ctr"/>
          <a:lstStyle/>
          <a:p>
            <a:pPr algn="ctr" indent="0" marL="0">
              <a:buNone/>
            </a:pPr>
            <a:r>
              <a:rPr lang="en-US" sz="1700" b="1" dirty="0">
                <a:solidFill>
                  <a:schemeClr val="accent1"/>
                </a:solidFill>
              </a:rPr>
              <a:t>8</a:t>
            </a:r>
            <a:endParaRPr lang="en-US" sz="1700" dirty="0"/>
          </a:p>
        </p:txBody>
      </p:sp>
      <p:sp>
        <p:nvSpPr>
          <p:cNvPr id="78" name="Feld 3,5"/>
          <p:cNvSpPr txBox="1"/>
          <p:nvPr/>
        </p:nvSpPr>
        <p:spPr>
          <a:xfrm>
            <a:off x="8321040" y="3666744"/>
            <a:ext cx="566928" cy="566928"/>
          </a:xfrm>
          <a:prstGeom prst="rect">
            <a:avLst/>
          </a:prstGeom>
          <a:solidFill>
            <a:srgbClr val="548235"/>
          </a:solidFill>
          <a:ln w="9525">
            <a:solidFill>
              <a:srgbClr val="BFBFBF"/>
            </a:solidFill>
          </a:ln>
        </p:spPr>
        <p:txBody>
          <a:bodyPr wrap="square" lIns="0" tIns="0" rIns="0" bIns="0" rtlCol="0" anchor="ctr"/>
          <a:lstStyle/>
          <a:p>
            <a:pPr algn="ctr" indent="0" marL="0">
              <a:buNone/>
            </a:pPr>
            <a:r>
              <a:rPr lang="en-US" sz="1700" b="1" dirty="0">
                <a:solidFill>
                  <a:schemeClr val="bg1"/>
                </a:solidFill>
              </a:rPr>
              <a:t>10</a:t>
            </a:r>
            <a:endParaRPr lang="en-US" sz="1700" dirty="0"/>
          </a:p>
        </p:txBody>
      </p:sp>
      <p:sp>
        <p:nvSpPr>
          <p:cNvPr id="79" name="Feld 3,6"/>
          <p:cNvSpPr txBox="1"/>
          <p:nvPr/>
        </p:nvSpPr>
        <p:spPr>
          <a:xfrm>
            <a:off x="8887968" y="3666744"/>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80" name="Feld 4,0"/>
          <p:cNvSpPr txBox="1"/>
          <p:nvPr/>
        </p:nvSpPr>
        <p:spPr>
          <a:xfrm>
            <a:off x="5486400"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81" name="Feld 4,1"/>
          <p:cNvSpPr txBox="1"/>
          <p:nvPr/>
        </p:nvSpPr>
        <p:spPr>
          <a:xfrm>
            <a:off x="6053328"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82" name="Feld 4,2"/>
          <p:cNvSpPr txBox="1"/>
          <p:nvPr/>
        </p:nvSpPr>
        <p:spPr>
          <a:xfrm>
            <a:off x="6620256"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83" name="Feld 4,3"/>
          <p:cNvSpPr txBox="1"/>
          <p:nvPr/>
        </p:nvSpPr>
        <p:spPr>
          <a:xfrm>
            <a:off x="7187184"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84" name="Feld 4,4"/>
          <p:cNvSpPr txBox="1"/>
          <p:nvPr/>
        </p:nvSpPr>
        <p:spPr>
          <a:xfrm>
            <a:off x="7754112"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85" name="Feld 4,5"/>
          <p:cNvSpPr txBox="1"/>
          <p:nvPr/>
        </p:nvSpPr>
        <p:spPr>
          <a:xfrm>
            <a:off x="8321040"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86" name="Feld 4,6"/>
          <p:cNvSpPr txBox="1"/>
          <p:nvPr/>
        </p:nvSpPr>
        <p:spPr>
          <a:xfrm>
            <a:off x="8887968" y="4233672"/>
            <a:ext cx="566928" cy="566928"/>
          </a:xfrm>
          <a:prstGeom prst="rect">
            <a:avLst/>
          </a:prstGeom>
          <a:solidFill>
            <a:srgbClr val="3A3A3A"/>
          </a:solidFill>
          <a:ln w="9525">
            <a:solidFill>
              <a:srgbClr val="BFBFBF"/>
            </a:solidFill>
          </a:ln>
        </p:spPr>
        <p:txBody>
          <a:bodyPr wrap="square" lIns="0" tIns="0" rIns="0" bIns="0" rtlCol="0" anchor="ctr"/>
          <a:lstStyle/>
          <a:p>
            <a:pPr algn="ctr" indent="0" marL="0">
              <a:buNone/>
            </a:pPr>
            <a:endParaRPr lang="en-US" sz="1700" dirty="0"/>
          </a:p>
        </p:txBody>
      </p:sp>
      <p:sp>
        <p:nvSpPr>
          <p:cNvPr id="87" name="Text 85"/>
          <p:cNvSpPr txBox="1"/>
          <p:nvPr/>
        </p:nvSpPr>
        <p:spPr>
          <a:xfrm>
            <a:off x="5486400"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0</a:t>
            </a:r>
            <a:endParaRPr lang="en-US" sz="1200" dirty="0"/>
          </a:p>
        </p:txBody>
      </p:sp>
      <p:sp>
        <p:nvSpPr>
          <p:cNvPr id="88" name="Text 86"/>
          <p:cNvSpPr txBox="1"/>
          <p:nvPr/>
        </p:nvSpPr>
        <p:spPr>
          <a:xfrm>
            <a:off x="6053328"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1</a:t>
            </a:r>
            <a:endParaRPr lang="en-US" sz="1200" dirty="0"/>
          </a:p>
        </p:txBody>
      </p:sp>
      <p:sp>
        <p:nvSpPr>
          <p:cNvPr id="89" name="Text 87"/>
          <p:cNvSpPr txBox="1"/>
          <p:nvPr/>
        </p:nvSpPr>
        <p:spPr>
          <a:xfrm>
            <a:off x="6620256"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2</a:t>
            </a:r>
            <a:endParaRPr lang="en-US" sz="1200" dirty="0"/>
          </a:p>
        </p:txBody>
      </p:sp>
      <p:sp>
        <p:nvSpPr>
          <p:cNvPr id="90" name="Text 88"/>
          <p:cNvSpPr txBox="1"/>
          <p:nvPr/>
        </p:nvSpPr>
        <p:spPr>
          <a:xfrm>
            <a:off x="7187184"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3</a:t>
            </a:r>
            <a:endParaRPr lang="en-US" sz="1200" dirty="0"/>
          </a:p>
        </p:txBody>
      </p:sp>
      <p:sp>
        <p:nvSpPr>
          <p:cNvPr id="91" name="Text 89"/>
          <p:cNvSpPr txBox="1"/>
          <p:nvPr/>
        </p:nvSpPr>
        <p:spPr>
          <a:xfrm>
            <a:off x="7754112"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4</a:t>
            </a:r>
            <a:endParaRPr lang="en-US" sz="1200" dirty="0"/>
          </a:p>
        </p:txBody>
      </p:sp>
      <p:sp>
        <p:nvSpPr>
          <p:cNvPr id="92" name="Text 90"/>
          <p:cNvSpPr txBox="1"/>
          <p:nvPr/>
        </p:nvSpPr>
        <p:spPr>
          <a:xfrm>
            <a:off x="8321040"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5</a:t>
            </a:r>
            <a:endParaRPr lang="en-US" sz="1200" dirty="0"/>
          </a:p>
        </p:txBody>
      </p:sp>
      <p:sp>
        <p:nvSpPr>
          <p:cNvPr id="93" name="Text 91"/>
          <p:cNvSpPr txBox="1"/>
          <p:nvPr/>
        </p:nvSpPr>
        <p:spPr>
          <a:xfrm>
            <a:off x="8887968" y="1691640"/>
            <a:ext cx="566928" cy="237744"/>
          </a:xfrm>
          <a:prstGeom prst="rect">
            <a:avLst/>
          </a:prstGeom>
          <a:noFill/>
          <a:ln/>
        </p:spPr>
        <p:txBody>
          <a:bodyPr wrap="square" lIns="0" tIns="0" rIns="0" bIns="0" rtlCol="0" anchor="t"/>
          <a:lstStyle/>
          <a:p>
            <a:pPr algn="ctr" indent="0" marL="0">
              <a:buNone/>
            </a:pPr>
            <a:r>
              <a:rPr lang="en-US" sz="1200" b="1" dirty="0">
                <a:solidFill>
                  <a:schemeClr val="accent6"/>
                </a:solidFill>
              </a:rPr>
              <a:t>6</a:t>
            </a:r>
            <a:endParaRPr lang="en-US" sz="1200" dirty="0"/>
          </a:p>
        </p:txBody>
      </p:sp>
      <p:sp>
        <p:nvSpPr>
          <p:cNvPr id="94" name="Text 92"/>
          <p:cNvSpPr txBox="1"/>
          <p:nvPr/>
        </p:nvSpPr>
        <p:spPr>
          <a:xfrm>
            <a:off x="5193792" y="1965960"/>
            <a:ext cx="219456" cy="566928"/>
          </a:xfrm>
          <a:prstGeom prst="rect">
            <a:avLst/>
          </a:prstGeom>
          <a:noFill/>
          <a:ln/>
        </p:spPr>
        <p:txBody>
          <a:bodyPr wrap="square" lIns="0" tIns="0" rIns="0" bIns="0" rtlCol="0" anchor="ctr"/>
          <a:lstStyle/>
          <a:p>
            <a:pPr algn="r" indent="0" marL="0">
              <a:buNone/>
            </a:pPr>
            <a:r>
              <a:rPr lang="en-US" sz="1200" b="1" dirty="0">
                <a:solidFill>
                  <a:schemeClr val="accent6"/>
                </a:solidFill>
              </a:rPr>
              <a:t>0</a:t>
            </a:r>
            <a:endParaRPr lang="en-US" sz="1200" dirty="0"/>
          </a:p>
        </p:txBody>
      </p:sp>
      <p:sp>
        <p:nvSpPr>
          <p:cNvPr id="95" name="Text 93"/>
          <p:cNvSpPr txBox="1"/>
          <p:nvPr/>
        </p:nvSpPr>
        <p:spPr>
          <a:xfrm>
            <a:off x="5193792" y="2532888"/>
            <a:ext cx="219456" cy="566928"/>
          </a:xfrm>
          <a:prstGeom prst="rect">
            <a:avLst/>
          </a:prstGeom>
          <a:noFill/>
          <a:ln/>
        </p:spPr>
        <p:txBody>
          <a:bodyPr wrap="square" lIns="0" tIns="0" rIns="0" bIns="0" rtlCol="0" anchor="ctr"/>
          <a:lstStyle/>
          <a:p>
            <a:pPr algn="r" indent="0" marL="0">
              <a:buNone/>
            </a:pPr>
            <a:r>
              <a:rPr lang="en-US" sz="1200" b="1" dirty="0">
                <a:solidFill>
                  <a:schemeClr val="accent6"/>
                </a:solidFill>
              </a:rPr>
              <a:t>1</a:t>
            </a:r>
            <a:endParaRPr lang="en-US" sz="1200" dirty="0"/>
          </a:p>
        </p:txBody>
      </p:sp>
      <p:sp>
        <p:nvSpPr>
          <p:cNvPr id="96" name="Text 94"/>
          <p:cNvSpPr txBox="1"/>
          <p:nvPr/>
        </p:nvSpPr>
        <p:spPr>
          <a:xfrm>
            <a:off x="5193792" y="3099816"/>
            <a:ext cx="219456" cy="566928"/>
          </a:xfrm>
          <a:prstGeom prst="rect">
            <a:avLst/>
          </a:prstGeom>
          <a:noFill/>
          <a:ln/>
        </p:spPr>
        <p:txBody>
          <a:bodyPr wrap="square" lIns="0" tIns="0" rIns="0" bIns="0" rtlCol="0" anchor="ctr"/>
          <a:lstStyle/>
          <a:p>
            <a:pPr algn="r" indent="0" marL="0">
              <a:buNone/>
            </a:pPr>
            <a:r>
              <a:rPr lang="en-US" sz="1200" b="1" dirty="0">
                <a:solidFill>
                  <a:schemeClr val="accent6"/>
                </a:solidFill>
              </a:rPr>
              <a:t>2</a:t>
            </a:r>
            <a:endParaRPr lang="en-US" sz="1200" dirty="0"/>
          </a:p>
        </p:txBody>
      </p:sp>
      <p:sp>
        <p:nvSpPr>
          <p:cNvPr id="97" name="Text 95"/>
          <p:cNvSpPr txBox="1"/>
          <p:nvPr/>
        </p:nvSpPr>
        <p:spPr>
          <a:xfrm>
            <a:off x="5193792" y="3666744"/>
            <a:ext cx="219456" cy="566928"/>
          </a:xfrm>
          <a:prstGeom prst="rect">
            <a:avLst/>
          </a:prstGeom>
          <a:noFill/>
          <a:ln/>
        </p:spPr>
        <p:txBody>
          <a:bodyPr wrap="square" lIns="0" tIns="0" rIns="0" bIns="0" rtlCol="0" anchor="ctr"/>
          <a:lstStyle/>
          <a:p>
            <a:pPr algn="r" indent="0" marL="0">
              <a:buNone/>
            </a:pPr>
            <a:r>
              <a:rPr lang="en-US" sz="1200" b="1" dirty="0">
                <a:solidFill>
                  <a:schemeClr val="accent6"/>
                </a:solidFill>
              </a:rPr>
              <a:t>3</a:t>
            </a:r>
            <a:endParaRPr lang="en-US" sz="1200" dirty="0"/>
          </a:p>
        </p:txBody>
      </p:sp>
      <p:sp>
        <p:nvSpPr>
          <p:cNvPr id="98" name="Text 96"/>
          <p:cNvSpPr txBox="1"/>
          <p:nvPr/>
        </p:nvSpPr>
        <p:spPr>
          <a:xfrm>
            <a:off x="5193792" y="4233672"/>
            <a:ext cx="219456" cy="566928"/>
          </a:xfrm>
          <a:prstGeom prst="rect">
            <a:avLst/>
          </a:prstGeom>
          <a:noFill/>
          <a:ln/>
        </p:spPr>
        <p:txBody>
          <a:bodyPr wrap="square" lIns="0" tIns="0" rIns="0" bIns="0" rtlCol="0" anchor="ctr"/>
          <a:lstStyle/>
          <a:p>
            <a:pPr algn="r" indent="0" marL="0">
              <a:buNone/>
            </a:pPr>
            <a:r>
              <a:rPr lang="en-US" sz="1200" b="1" dirty="0">
                <a:solidFill>
                  <a:schemeClr val="accent6"/>
                </a:solidFill>
              </a:rPr>
              <a:t>4</a:t>
            </a:r>
            <a:endParaRPr lang="en-US" sz="1200" dirty="0"/>
          </a:p>
        </p:txBody>
      </p:sp>
      <p:sp>
        <p:nvSpPr>
          <p:cNvPr id="99" name="Chip"/>
          <p:cNvSpPr txBox="1"/>
          <p:nvPr/>
        </p:nvSpPr>
        <p:spPr>
          <a:xfrm>
            <a:off x="640080" y="4937760"/>
            <a:ext cx="4251960" cy="41148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in Wellen (Breitensuche) · max. 3 gespeichert</a:t>
            </a:r>
            <a:endParaRPr lang="en-US" sz="1400" dirty="0"/>
          </a:p>
        </p:txBody>
      </p:sp>
      <p:sp>
        <p:nvSpPr>
          <p:cNvPr id="100" name="Chip"/>
          <p:cNvSpPr txBox="1"/>
          <p:nvPr/>
        </p:nvSpPr>
        <p:spPr>
          <a:xfrm>
            <a:off x="5212080" y="4937760"/>
            <a:ext cx="4251960" cy="411480"/>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erst ein Gang bis zum Ende (Tiefensuche) · max. 4</a:t>
            </a:r>
            <a:endParaRPr lang="en-US" sz="1400" dirty="0"/>
          </a:p>
        </p:txBody>
      </p:sp>
      <p:sp>
        <p:nvSpPr>
          <p:cNvPr id="101" name="Regeln"/>
          <p:cNvSpPr/>
          <p:nvPr/>
        </p:nvSpPr>
        <p:spPr>
          <a:xfrm>
            <a:off x="9738360" y="1325880"/>
            <a:ext cx="1874520" cy="4023360"/>
          </a:xfrm>
          <a:prstGeom prst="roundRect">
            <a:avLst>
              <a:gd name="adj" fmla="val 5854"/>
            </a:avLst>
          </a:prstGeom>
          <a:solidFill>
            <a:schemeClr val="bg2"/>
          </a:solidFill>
          <a:ln/>
        </p:spPr>
      </p:sp>
      <p:sp>
        <p:nvSpPr>
          <p:cNvPr id="102" name="Text 100"/>
          <p:cNvSpPr txBox="1"/>
          <p:nvPr/>
        </p:nvSpPr>
        <p:spPr>
          <a:xfrm>
            <a:off x="9875520" y="1417320"/>
            <a:ext cx="1645920" cy="384048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Regeln</a:t>
            </a:r>
            <a:endParaRPr lang="en-US" sz="1400" dirty="0"/>
          </a:p>
          <a:p>
            <a:pPr indent="0" marL="0">
              <a:spcAft>
                <a:spcPts val="600"/>
              </a:spcAft>
              <a:buNone/>
            </a:pPr>
            <a:r>
              <a:rPr lang="en-US" sz="1400" dirty="0">
                <a:solidFill>
                  <a:schemeClr val="tx1"/>
                </a:solidFill>
              </a:rPr>
              <a:t>Zahl = Reihenfolge des Markierens</a:t>
            </a:r>
            <a:endParaRPr lang="en-US" sz="1400" dirty="0"/>
          </a:p>
          <a:p>
            <a:pPr indent="0" marL="0">
              <a:spcAft>
                <a:spcPts val="600"/>
              </a:spcAft>
              <a:buNone/>
            </a:pPr>
            <a:r>
              <a:rPr lang="en-US" sz="1400" dirty="0">
                <a:solidFill>
                  <a:schemeClr val="tx1"/>
                </a:solidFill>
              </a:rPr>
              <a:t>markiert beim Einfügen</a:t>
            </a:r>
            <a:endParaRPr lang="en-US" sz="1400" dirty="0"/>
          </a:p>
          <a:p>
            <a:pPr indent="0" marL="0">
              <a:spcAft>
                <a:spcPts val="600"/>
              </a:spcAft>
              <a:buNone/>
            </a:pPr>
            <a:r>
              <a:rPr lang="en-US" sz="1400" dirty="0">
                <a:solidFill>
                  <a:schemeClr val="tx1"/>
                </a:solidFill>
              </a:rPr>
              <a:t>Nachbarn: oben, rechts, unten, links</a:t>
            </a:r>
            <a:endParaRPr lang="en-US" sz="1400" dirty="0"/>
          </a:p>
          <a:p>
            <a:pPr indent="0" marL="0">
              <a:spcAft>
                <a:spcPts val="600"/>
              </a:spcAft>
              <a:buNone/>
            </a:pPr>
            <a:r>
              <a:rPr lang="en-US" sz="1400" dirty="0">
                <a:solidFill>
                  <a:schemeClr val="tx1"/>
                </a:solidFill>
              </a:rPr>
              <a:t>Position als eine Ganzzahl:</a:t>
            </a:r>
            <a:endParaRPr lang="en-US" sz="1400" dirty="0"/>
          </a:p>
          <a:p>
            <a:pPr indent="0" marL="0">
              <a:spcAft>
                <a:spcPts val="600"/>
              </a:spcAft>
              <a:buNone/>
            </a:pPr>
            <a:r>
              <a:rPr lang="en-US" sz="1400" b="1" dirty="0">
                <a:solidFill>
                  <a:schemeClr val="accent1"/>
                </a:solidFill>
                <a:latin typeface="Consolas" pitchFamily="34" charset="0"/>
                <a:ea typeface="Consolas" pitchFamily="34" charset="-122"/>
                <a:cs typeface="Consolas" pitchFamily="34" charset="-120"/>
              </a:rPr>
              <a:t>z · 1000 + s</a:t>
            </a:r>
            <a:endParaRPr lang="en-US" sz="1400" dirty="0"/>
          </a:p>
        </p:txBody>
      </p:sp>
      <p:sp>
        <p:nvSpPr>
          <p:cNvPr id="103" name="Gleiche Endkarte"/>
          <p:cNvSpPr/>
          <p:nvPr/>
        </p:nvSpPr>
        <p:spPr>
          <a:xfrm>
            <a:off x="548640" y="5440680"/>
            <a:ext cx="11064240" cy="685800"/>
          </a:xfrm>
          <a:prstGeom prst="roundRect">
            <a:avLst>
              <a:gd name="adj" fmla="val 16000"/>
            </a:avLst>
          </a:prstGeom>
          <a:solidFill>
            <a:schemeClr val="bg1"/>
          </a:solidFill>
          <a:ln w="25400">
            <a:solidFill>
              <a:schemeClr val="accent3"/>
            </a:solidFill>
            <a:prstDash val="solid"/>
          </a:ln>
        </p:spPr>
      </p:sp>
      <p:sp>
        <p:nvSpPr>
          <p:cNvPr id="104" name="Text 102"/>
          <p:cNvSpPr txBox="1"/>
          <p:nvPr/>
        </p:nvSpPr>
        <p:spPr>
          <a:xfrm>
            <a:off x="749808" y="5440680"/>
            <a:ext cx="10698480" cy="685800"/>
          </a:xfrm>
          <a:prstGeom prst="rect">
            <a:avLst/>
          </a:prstGeom>
          <a:noFill/>
          <a:ln/>
        </p:spPr>
        <p:txBody>
          <a:bodyPr wrap="square" lIns="0" tIns="0" rIns="0" bIns="0" rtlCol="0" anchor="ctr"/>
          <a:lstStyle/>
          <a:p>
            <a:pPr indent="0" marL="0">
              <a:buNone/>
            </a:pPr>
            <a:r>
              <a:rPr lang="en-US" sz="1700" b="1" dirty="0">
                <a:solidFill>
                  <a:schemeClr val="accent3"/>
                </a:solidFill>
              </a:rPr>
              <a:t>Gleiche Endkarte: </a:t>
            </a:r>
            <a:pPr indent="0" marL="0">
              <a:buNone/>
            </a:pPr>
            <a:r>
              <a:rPr lang="en-US" sz="1700" dirty="0">
                <a:solidFill>
                  <a:schemeClr val="tx1"/>
                </a:solidFill>
              </a:rPr>
              <a:t>12 Felder "." → "+" (dazu S und Z) – verschieden ist nur die Reihenfolge.</a:t>
            </a:r>
            <a:endParaRPr lang="en-US" sz="1700" dirty="0"/>
          </a:p>
        </p:txBody>
      </p:sp>
      <p:sp>
        <p:nvSpPr>
          <p:cNvPr id="105" name="Text 103"/>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29 · Expertenpfad (Kür)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Vertiefung: ein eigener Stapel aus Knoten</a:t>
            </a:r>
            <a:endParaRPr lang="en-US" sz="3600" dirty="0"/>
          </a:p>
        </p:txBody>
      </p:sp>
      <p:sp>
        <p:nvSpPr>
          <p:cNvPr id="3" name="Klassenkarte Knoten"/>
          <p:cNvSpPr/>
          <p:nvPr/>
        </p:nvSpPr>
        <p:spPr>
          <a:xfrm>
            <a:off x="548640" y="1325880"/>
            <a:ext cx="3840480" cy="2251710"/>
          </a:xfrm>
          <a:prstGeom prst="rect">
            <a:avLst/>
          </a:prstGeom>
          <a:solidFill>
            <a:schemeClr val="bg1"/>
          </a:solidFill>
          <a:ln w="22225">
            <a:solidFill>
              <a:schemeClr val="accent1"/>
            </a:solidFill>
            <a:prstDash val="solid"/>
          </a:ln>
        </p:spPr>
      </p:sp>
      <p:sp>
        <p:nvSpPr>
          <p:cNvPr id="4" name="Klassenname Knoten"/>
          <p:cNvSpPr txBox="1"/>
          <p:nvPr/>
        </p:nvSpPr>
        <p:spPr>
          <a:xfrm>
            <a:off x="548640" y="1325880"/>
            <a:ext cx="3840480" cy="347726"/>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400" b="1" dirty="0">
                <a:solidFill>
                  <a:schemeClr val="accent1"/>
                </a:solidFill>
              </a:rPr>
              <a:t>Knoten</a:t>
            </a:r>
            <a:endParaRPr lang="en-US" sz="1400" dirty="0"/>
          </a:p>
        </p:txBody>
      </p:sp>
      <p:sp>
        <p:nvSpPr>
          <p:cNvPr id="5" name="Attribute Knoten"/>
          <p:cNvSpPr txBox="1"/>
          <p:nvPr/>
        </p:nvSpPr>
        <p:spPr>
          <a:xfrm>
            <a:off x="548640" y="1673606"/>
            <a:ext cx="3840480" cy="549148"/>
          </a:xfrm>
          <a:prstGeom prst="rect">
            <a:avLst/>
          </a:prstGeom>
          <a:noFill/>
          <a:ln/>
        </p:spPr>
        <p:txBody>
          <a:bodyPr wrap="square" lIns="109728" tIns="73152" rIns="73152" bIns="73152" rtlCol="0" anchor="t"/>
          <a:lstStyle/>
          <a:p>
            <a:pPr algn="l" indent="0" marL="0">
              <a:lnSpc>
                <a:spcPts val="1600"/>
              </a:lnSpc>
              <a:buNone/>
            </a:pPr>
            <a:r>
              <a:rPr lang="en-US" sz="1300" dirty="0">
                <a:solidFill>
                  <a:schemeClr val="tx1"/>
                </a:solidFill>
              </a:rPr>
              <a:t>- inhalt: Object</a:t>
            </a:r>
            <a:endParaRPr lang="en-US" sz="1300" dirty="0"/>
          </a:p>
          <a:p>
            <a:pPr algn="l" indent="0" marL="0">
              <a:lnSpc>
                <a:spcPts val="1600"/>
              </a:lnSpc>
              <a:buNone/>
            </a:pPr>
            <a:r>
              <a:rPr lang="en-US" sz="1300" dirty="0">
                <a:solidFill>
                  <a:schemeClr val="tx1"/>
                </a:solidFill>
              </a:rPr>
              <a:t>- naechster: Knoten</a:t>
            </a:r>
            <a:endParaRPr lang="en-US" sz="1300" dirty="0"/>
          </a:p>
        </p:txBody>
      </p:sp>
      <p:sp>
        <p:nvSpPr>
          <p:cNvPr id="6" name="Linie"/>
          <p:cNvSpPr/>
          <p:nvPr/>
        </p:nvSpPr>
        <p:spPr>
          <a:xfrm>
            <a:off x="548640" y="2222754"/>
            <a:ext cx="3840480" cy="91"/>
          </a:xfrm>
          <a:prstGeom prst="line">
            <a:avLst/>
          </a:prstGeom>
          <a:noFill/>
          <a:ln w="22225">
            <a:solidFill>
              <a:schemeClr val="accent1"/>
            </a:solidFill>
            <a:prstDash val="solid"/>
          </a:ln>
        </p:spPr>
      </p:sp>
      <p:sp>
        <p:nvSpPr>
          <p:cNvPr id="7" name="Methoden Knoten"/>
          <p:cNvSpPr txBox="1"/>
          <p:nvPr/>
        </p:nvSpPr>
        <p:spPr>
          <a:xfrm>
            <a:off x="548640" y="2222754"/>
            <a:ext cx="3840480" cy="1354836"/>
          </a:xfrm>
          <a:prstGeom prst="rect">
            <a:avLst/>
          </a:prstGeom>
          <a:noFill/>
          <a:ln/>
        </p:spPr>
        <p:txBody>
          <a:bodyPr wrap="square" lIns="109728" tIns="73152" rIns="73152" bIns="73152" rtlCol="0" anchor="t"/>
          <a:lstStyle/>
          <a:p>
            <a:pPr algn="l" indent="0" marL="0">
              <a:lnSpc>
                <a:spcPts val="1600"/>
              </a:lnSpc>
              <a:buNone/>
            </a:pPr>
            <a:r>
              <a:rPr lang="en-US" sz="1300" dirty="0">
                <a:solidFill>
                  <a:schemeClr val="tx1"/>
                </a:solidFill>
              </a:rPr>
              <a:t>+ c Knoten(inhalt: Object,</a:t>
            </a:r>
            <a:endParaRPr lang="en-US" sz="1300" dirty="0"/>
          </a:p>
          <a:p>
            <a:pPr algn="l" indent="0" marL="0">
              <a:lnSpc>
                <a:spcPts val="1600"/>
              </a:lnSpc>
              <a:buNone/>
            </a:pPr>
            <a:r>
              <a:rPr lang="en-US" sz="1300" dirty="0">
                <a:solidFill>
                  <a:schemeClr val="tx1"/>
                </a:solidFill>
              </a:rPr>
              <a:t>        naechster: Knoten)</a:t>
            </a:r>
            <a:endParaRPr lang="en-US" sz="1300" dirty="0"/>
          </a:p>
          <a:p>
            <a:pPr algn="l" indent="0" marL="0">
              <a:lnSpc>
                <a:spcPts val="1600"/>
              </a:lnSpc>
              <a:buNone/>
            </a:pPr>
            <a:r>
              <a:rPr lang="en-US" sz="1300" dirty="0">
                <a:solidFill>
                  <a:schemeClr val="tx1"/>
                </a:solidFill>
              </a:rPr>
              <a:t>+ getInhalt(): Object</a:t>
            </a:r>
            <a:endParaRPr lang="en-US" sz="1300" dirty="0"/>
          </a:p>
          <a:p>
            <a:pPr algn="l" indent="0" marL="0">
              <a:lnSpc>
                <a:spcPts val="1600"/>
              </a:lnSpc>
              <a:buNone/>
            </a:pPr>
            <a:r>
              <a:rPr lang="en-US" sz="1300" dirty="0">
                <a:solidFill>
                  <a:schemeClr val="tx1"/>
                </a:solidFill>
              </a:rPr>
              <a:t>+ getNaechster(): Knoten</a:t>
            </a:r>
            <a:endParaRPr lang="en-US" sz="1300" dirty="0"/>
          </a:p>
          <a:p>
            <a:pPr algn="l" indent="0" marL="0">
              <a:lnSpc>
                <a:spcPts val="1600"/>
              </a:lnSpc>
              <a:buNone/>
            </a:pPr>
            <a:r>
              <a:rPr lang="en-US" sz="1300" dirty="0">
                <a:solidFill>
                  <a:schemeClr val="tx1"/>
                </a:solidFill>
              </a:rPr>
              <a:t>+ setInhalt(inhalt: Object): nichts</a:t>
            </a:r>
            <a:endParaRPr lang="en-US" sz="1300" dirty="0"/>
          </a:p>
          <a:p>
            <a:pPr algn="l" indent="0" marL="0">
              <a:lnSpc>
                <a:spcPts val="1600"/>
              </a:lnSpc>
              <a:buNone/>
            </a:pPr>
            <a:r>
              <a:rPr lang="en-US" sz="1300" dirty="0">
                <a:solidFill>
                  <a:schemeClr val="tx1"/>
                </a:solidFill>
              </a:rPr>
              <a:t>+ setNaechster(n: Knoten): nichts</a:t>
            </a:r>
            <a:endParaRPr lang="en-US" sz="1300" dirty="0"/>
          </a:p>
        </p:txBody>
      </p:sp>
      <p:sp>
        <p:nvSpPr>
          <p:cNvPr id="8" name="Klassenkarte MeinStapel"/>
          <p:cNvSpPr/>
          <p:nvPr/>
        </p:nvSpPr>
        <p:spPr>
          <a:xfrm>
            <a:off x="548640" y="3897630"/>
            <a:ext cx="3840480" cy="1848866"/>
          </a:xfrm>
          <a:prstGeom prst="rect">
            <a:avLst/>
          </a:prstGeom>
          <a:solidFill>
            <a:schemeClr val="bg1"/>
          </a:solidFill>
          <a:ln w="22225">
            <a:solidFill>
              <a:schemeClr val="accent1"/>
            </a:solidFill>
            <a:prstDash val="solid"/>
          </a:ln>
        </p:spPr>
      </p:sp>
      <p:sp>
        <p:nvSpPr>
          <p:cNvPr id="9" name="Klassenname MeinStapel"/>
          <p:cNvSpPr txBox="1"/>
          <p:nvPr/>
        </p:nvSpPr>
        <p:spPr>
          <a:xfrm>
            <a:off x="548640" y="3897630"/>
            <a:ext cx="3840480" cy="347726"/>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400" b="1" dirty="0">
                <a:solidFill>
                  <a:schemeClr val="accent1"/>
                </a:solidFill>
              </a:rPr>
              <a:t>MeinStapel</a:t>
            </a:r>
            <a:endParaRPr lang="en-US" sz="1400" dirty="0"/>
          </a:p>
        </p:txBody>
      </p:sp>
      <p:sp>
        <p:nvSpPr>
          <p:cNvPr id="10" name="Attribute MeinStapel"/>
          <p:cNvSpPr txBox="1"/>
          <p:nvPr/>
        </p:nvSpPr>
        <p:spPr>
          <a:xfrm>
            <a:off x="548640" y="4245356"/>
            <a:ext cx="3840480" cy="347726"/>
          </a:xfrm>
          <a:prstGeom prst="rect">
            <a:avLst/>
          </a:prstGeom>
          <a:noFill/>
          <a:ln/>
        </p:spPr>
        <p:txBody>
          <a:bodyPr wrap="square" lIns="109728" tIns="73152" rIns="73152" bIns="73152" rtlCol="0" anchor="t"/>
          <a:lstStyle/>
          <a:p>
            <a:pPr algn="l" indent="0" marL="0">
              <a:lnSpc>
                <a:spcPts val="1600"/>
              </a:lnSpc>
              <a:buNone/>
            </a:pPr>
            <a:r>
              <a:rPr lang="en-US" sz="1300" dirty="0">
                <a:solidFill>
                  <a:schemeClr val="tx1"/>
                </a:solidFill>
              </a:rPr>
              <a:t>- kopf: Knoten</a:t>
            </a:r>
            <a:endParaRPr lang="en-US" sz="1300" dirty="0"/>
          </a:p>
        </p:txBody>
      </p:sp>
      <p:sp>
        <p:nvSpPr>
          <p:cNvPr id="11" name="Linie"/>
          <p:cNvSpPr/>
          <p:nvPr/>
        </p:nvSpPr>
        <p:spPr>
          <a:xfrm>
            <a:off x="548640" y="4593082"/>
            <a:ext cx="3840480" cy="91"/>
          </a:xfrm>
          <a:prstGeom prst="line">
            <a:avLst/>
          </a:prstGeom>
          <a:noFill/>
          <a:ln w="22225">
            <a:solidFill>
              <a:schemeClr val="accent1"/>
            </a:solidFill>
            <a:prstDash val="solid"/>
          </a:ln>
        </p:spPr>
      </p:sp>
      <p:sp>
        <p:nvSpPr>
          <p:cNvPr id="12" name="Methoden MeinStapel"/>
          <p:cNvSpPr txBox="1"/>
          <p:nvPr/>
        </p:nvSpPr>
        <p:spPr>
          <a:xfrm>
            <a:off x="548640" y="4593082"/>
            <a:ext cx="3840480" cy="1153414"/>
          </a:xfrm>
          <a:prstGeom prst="rect">
            <a:avLst/>
          </a:prstGeom>
          <a:noFill/>
          <a:ln/>
        </p:spPr>
        <p:txBody>
          <a:bodyPr wrap="square" lIns="109728" tIns="73152" rIns="73152" bIns="73152" rtlCol="0" anchor="t"/>
          <a:lstStyle/>
          <a:p>
            <a:pPr algn="l" indent="0" marL="0">
              <a:lnSpc>
                <a:spcPts val="1600"/>
              </a:lnSpc>
              <a:buNone/>
            </a:pPr>
            <a:r>
              <a:rPr lang="en-US" sz="1300" dirty="0">
                <a:solidFill>
                  <a:schemeClr val="tx1"/>
                </a:solidFill>
              </a:rPr>
              <a:t>+ c MeinStapel()</a:t>
            </a:r>
            <a:endParaRPr lang="en-US" sz="1300" dirty="0"/>
          </a:p>
          <a:p>
            <a:pPr algn="l" indent="0" marL="0">
              <a:lnSpc>
                <a:spcPts val="1600"/>
              </a:lnSpc>
              <a:buNone/>
            </a:pPr>
            <a:r>
              <a:rPr lang="en-US" sz="1300" dirty="0">
                <a:solidFill>
                  <a:schemeClr val="tx1"/>
                </a:solidFill>
              </a:rPr>
              <a:t>+ isEmpty(): Wahrheitswert</a:t>
            </a:r>
            <a:endParaRPr lang="en-US" sz="1300" dirty="0"/>
          </a:p>
          <a:p>
            <a:pPr algn="l" indent="0" marL="0">
              <a:lnSpc>
                <a:spcPts val="1600"/>
              </a:lnSpc>
              <a:buNone/>
            </a:pPr>
            <a:r>
              <a:rPr lang="en-US" sz="1300" dirty="0">
                <a:solidFill>
                  <a:schemeClr val="tx1"/>
                </a:solidFill>
              </a:rPr>
              <a:t>+ push(inhalt: Object): nichts</a:t>
            </a:r>
            <a:endParaRPr lang="en-US" sz="1300" dirty="0"/>
          </a:p>
          <a:p>
            <a:pPr algn="l" indent="0" marL="0">
              <a:lnSpc>
                <a:spcPts val="1600"/>
              </a:lnSpc>
              <a:buNone/>
            </a:pPr>
            <a:r>
              <a:rPr lang="en-US" sz="1300" dirty="0">
                <a:solidFill>
                  <a:schemeClr val="tx1"/>
                </a:solidFill>
              </a:rPr>
              <a:t>+ top(): Object</a:t>
            </a:r>
            <a:endParaRPr lang="en-US" sz="1300" dirty="0"/>
          </a:p>
          <a:p>
            <a:pPr algn="l" indent="0" marL="0">
              <a:lnSpc>
                <a:spcPts val="1600"/>
              </a:lnSpc>
              <a:buNone/>
            </a:pPr>
            <a:r>
              <a:rPr lang="en-US" sz="1300" dirty="0">
                <a:solidFill>
                  <a:schemeClr val="tx1"/>
                </a:solidFill>
              </a:rPr>
              <a:t>+ pop(): Object</a:t>
            </a:r>
            <a:endParaRPr lang="en-US" sz="1300" dirty="0"/>
          </a:p>
        </p:txBody>
      </p:sp>
      <p:sp>
        <p:nvSpPr>
          <p:cNvPr id="13" name="Assoziation"/>
          <p:cNvSpPr/>
          <p:nvPr/>
        </p:nvSpPr>
        <p:spPr>
          <a:xfrm>
            <a:off x="2468880" y="3577590"/>
            <a:ext cx="91" cy="320040"/>
          </a:xfrm>
          <a:prstGeom prst="line">
            <a:avLst/>
          </a:prstGeom>
          <a:noFill/>
          <a:ln w="22225">
            <a:solidFill>
              <a:schemeClr val="accent1"/>
            </a:solidFill>
            <a:prstDash val="solid"/>
          </a:ln>
        </p:spPr>
      </p:sp>
      <p:sp>
        <p:nvSpPr>
          <p:cNvPr id="14" name="Text 12"/>
          <p:cNvSpPr txBox="1"/>
          <p:nvPr/>
        </p:nvSpPr>
        <p:spPr>
          <a:xfrm>
            <a:off x="4754880" y="1325880"/>
            <a:ext cx="6858000" cy="32004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push("Erz"); push("Holz"); push("Gold");</a:t>
            </a:r>
            <a:endParaRPr lang="en-US" sz="1400" dirty="0"/>
          </a:p>
        </p:txBody>
      </p:sp>
      <p:sp>
        <p:nvSpPr>
          <p:cNvPr id="15" name="Text 13"/>
          <p:cNvSpPr txBox="1"/>
          <p:nvPr/>
        </p:nvSpPr>
        <p:spPr>
          <a:xfrm>
            <a:off x="4754880" y="1828800"/>
            <a:ext cx="548640" cy="548640"/>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kopf</a:t>
            </a:r>
            <a:endParaRPr lang="en-US" sz="1500" dirty="0"/>
          </a:p>
        </p:txBody>
      </p:sp>
      <p:sp>
        <p:nvSpPr>
          <p:cNvPr id="16" name="Variable kopf"/>
          <p:cNvSpPr/>
          <p:nvPr/>
        </p:nvSpPr>
        <p:spPr>
          <a:xfrm>
            <a:off x="5321808" y="1828800"/>
            <a:ext cx="457200" cy="548640"/>
          </a:xfrm>
          <a:prstGeom prst="rect">
            <a:avLst/>
          </a:prstGeom>
          <a:solidFill>
            <a:schemeClr val="bg1"/>
          </a:solidFill>
          <a:ln w="22225">
            <a:solidFill>
              <a:schemeClr val="accent1"/>
            </a:solidFill>
            <a:prstDash val="solid"/>
          </a:ln>
        </p:spPr>
      </p:sp>
      <p:sp>
        <p:nvSpPr>
          <p:cNvPr id="17" name="Punkt kopf"/>
          <p:cNvSpPr/>
          <p:nvPr/>
        </p:nvSpPr>
        <p:spPr>
          <a:xfrm>
            <a:off x="5495544" y="2048256"/>
            <a:ext cx="109728" cy="109728"/>
          </a:xfrm>
          <a:prstGeom prst="ellipse">
            <a:avLst/>
          </a:prstGeom>
          <a:solidFill>
            <a:schemeClr val="accent1"/>
          </a:solidFill>
          <a:ln/>
        </p:spPr>
      </p:sp>
      <p:sp>
        <p:nvSpPr>
          <p:cNvPr id="18" name="Knoten Gold"/>
          <p:cNvSpPr txBox="1"/>
          <p:nvPr/>
        </p:nvSpPr>
        <p:spPr>
          <a:xfrm>
            <a:off x="6309360" y="1828800"/>
            <a:ext cx="914400" cy="548640"/>
          </a:xfrm>
          <a:prstGeom prst="rect">
            <a:avLst/>
          </a:prstGeom>
          <a:solidFill>
            <a:schemeClr val="bg2"/>
          </a:solidFill>
          <a:ln w="2222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Gold</a:t>
            </a:r>
            <a:endParaRPr lang="en-US" sz="1600" dirty="0"/>
          </a:p>
        </p:txBody>
      </p:sp>
      <p:sp>
        <p:nvSpPr>
          <p:cNvPr id="19" name="Zeiger Gold"/>
          <p:cNvSpPr txBox="1"/>
          <p:nvPr/>
        </p:nvSpPr>
        <p:spPr>
          <a:xfrm>
            <a:off x="7223760" y="1828800"/>
            <a:ext cx="457200" cy="548640"/>
          </a:xfrm>
          <a:prstGeom prst="rect">
            <a:avLst/>
          </a:prstGeom>
          <a:solidFill>
            <a:schemeClr val="bg1"/>
          </a:solidFill>
          <a:ln w="22225">
            <a:solidFill>
              <a:schemeClr val="accent1"/>
            </a:solidFill>
            <a:prstDash val="solid"/>
          </a:ln>
        </p:spPr>
        <p:txBody>
          <a:bodyPr wrap="square" lIns="0" tIns="0" rIns="0" bIns="0" rtlCol="0" anchor="ctr"/>
          <a:lstStyle/>
          <a:p>
            <a:pPr algn="ctr" indent="0" marL="0">
              <a:buNone/>
            </a:pPr>
            <a:endParaRPr lang="en-US" sz="1100" dirty="0"/>
          </a:p>
        </p:txBody>
      </p:sp>
      <p:sp>
        <p:nvSpPr>
          <p:cNvPr id="20" name="Punkt Gold"/>
          <p:cNvSpPr/>
          <p:nvPr/>
        </p:nvSpPr>
        <p:spPr>
          <a:xfrm>
            <a:off x="7397496" y="2048256"/>
            <a:ext cx="109728" cy="109728"/>
          </a:xfrm>
          <a:prstGeom prst="ellipse">
            <a:avLst/>
          </a:prstGeom>
          <a:solidFill>
            <a:schemeClr val="accent1"/>
          </a:solidFill>
          <a:ln/>
        </p:spPr>
      </p:sp>
      <p:sp>
        <p:nvSpPr>
          <p:cNvPr id="21" name="Knoten Holz"/>
          <p:cNvSpPr txBox="1"/>
          <p:nvPr/>
        </p:nvSpPr>
        <p:spPr>
          <a:xfrm>
            <a:off x="8183880" y="1828800"/>
            <a:ext cx="914400" cy="548640"/>
          </a:xfrm>
          <a:prstGeom prst="rect">
            <a:avLst/>
          </a:prstGeom>
          <a:solidFill>
            <a:schemeClr val="bg2"/>
          </a:solidFill>
          <a:ln w="2222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Holz</a:t>
            </a:r>
            <a:endParaRPr lang="en-US" sz="1600" dirty="0"/>
          </a:p>
        </p:txBody>
      </p:sp>
      <p:sp>
        <p:nvSpPr>
          <p:cNvPr id="22" name="Zeiger Holz"/>
          <p:cNvSpPr txBox="1"/>
          <p:nvPr/>
        </p:nvSpPr>
        <p:spPr>
          <a:xfrm>
            <a:off x="9098280" y="1828800"/>
            <a:ext cx="457200" cy="548640"/>
          </a:xfrm>
          <a:prstGeom prst="rect">
            <a:avLst/>
          </a:prstGeom>
          <a:solidFill>
            <a:schemeClr val="bg1"/>
          </a:solidFill>
          <a:ln w="22225">
            <a:solidFill>
              <a:schemeClr val="accent1"/>
            </a:solidFill>
            <a:prstDash val="solid"/>
          </a:ln>
        </p:spPr>
        <p:txBody>
          <a:bodyPr wrap="square" lIns="0" tIns="0" rIns="0" bIns="0" rtlCol="0" anchor="ctr"/>
          <a:lstStyle/>
          <a:p>
            <a:pPr algn="ctr" indent="0" marL="0">
              <a:buNone/>
            </a:pPr>
            <a:endParaRPr lang="en-US" sz="1100" dirty="0"/>
          </a:p>
        </p:txBody>
      </p:sp>
      <p:sp>
        <p:nvSpPr>
          <p:cNvPr id="23" name="Punkt Holz"/>
          <p:cNvSpPr/>
          <p:nvPr/>
        </p:nvSpPr>
        <p:spPr>
          <a:xfrm>
            <a:off x="9272016" y="2048256"/>
            <a:ext cx="109728" cy="109728"/>
          </a:xfrm>
          <a:prstGeom prst="ellipse">
            <a:avLst/>
          </a:prstGeom>
          <a:solidFill>
            <a:schemeClr val="accent1"/>
          </a:solidFill>
          <a:ln/>
        </p:spPr>
      </p:sp>
      <p:sp>
        <p:nvSpPr>
          <p:cNvPr id="24" name="Knoten Erz"/>
          <p:cNvSpPr txBox="1"/>
          <p:nvPr/>
        </p:nvSpPr>
        <p:spPr>
          <a:xfrm>
            <a:off x="10058400" y="1828800"/>
            <a:ext cx="914400" cy="548640"/>
          </a:xfrm>
          <a:prstGeom prst="rect">
            <a:avLst/>
          </a:prstGeom>
          <a:solidFill>
            <a:schemeClr val="bg2"/>
          </a:solidFill>
          <a:ln w="2222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Erz</a:t>
            </a:r>
            <a:endParaRPr lang="en-US" sz="1600" dirty="0"/>
          </a:p>
        </p:txBody>
      </p:sp>
      <p:sp>
        <p:nvSpPr>
          <p:cNvPr id="25" name="Zeiger Erz"/>
          <p:cNvSpPr txBox="1"/>
          <p:nvPr/>
        </p:nvSpPr>
        <p:spPr>
          <a:xfrm>
            <a:off x="10972800" y="1828800"/>
            <a:ext cx="457200" cy="548640"/>
          </a:xfrm>
          <a:prstGeom prst="rect">
            <a:avLst/>
          </a:prstGeom>
          <a:solidFill>
            <a:schemeClr val="bg1"/>
          </a:solidFill>
          <a:ln w="22225">
            <a:solidFill>
              <a:schemeClr val="accent1"/>
            </a:solidFill>
            <a:prstDash val="solid"/>
          </a:ln>
        </p:spPr>
        <p:txBody>
          <a:bodyPr wrap="square" lIns="0" tIns="0" rIns="0" bIns="0" rtlCol="0" anchor="ctr"/>
          <a:lstStyle/>
          <a:p>
            <a:pPr algn="ctr" indent="0" marL="0">
              <a:buNone/>
            </a:pPr>
            <a:r>
              <a:rPr lang="en-US" sz="1100" dirty="0">
                <a:solidFill>
                  <a:schemeClr val="accent6"/>
                </a:solidFill>
              </a:rPr>
              <a:t>null</a:t>
            </a:r>
            <a:endParaRPr lang="en-US" sz="1100" dirty="0"/>
          </a:p>
        </p:txBody>
      </p:sp>
      <p:sp>
        <p:nvSpPr>
          <p:cNvPr id="26" name="Pfeil"/>
          <p:cNvSpPr/>
          <p:nvPr/>
        </p:nvSpPr>
        <p:spPr>
          <a:xfrm>
            <a:off x="5550408" y="2103120"/>
            <a:ext cx="740664" cy="91"/>
          </a:xfrm>
          <a:prstGeom prst="line">
            <a:avLst/>
          </a:prstGeom>
          <a:noFill/>
          <a:ln w="22225">
            <a:solidFill>
              <a:schemeClr val="accent1"/>
            </a:solidFill>
            <a:prstDash val="solid"/>
            <a:tailEnd type="triangle"/>
          </a:ln>
        </p:spPr>
      </p:sp>
      <p:sp>
        <p:nvSpPr>
          <p:cNvPr id="27" name="Pfeil"/>
          <p:cNvSpPr/>
          <p:nvPr/>
        </p:nvSpPr>
        <p:spPr>
          <a:xfrm>
            <a:off x="7452360" y="2103120"/>
            <a:ext cx="713232" cy="91"/>
          </a:xfrm>
          <a:prstGeom prst="line">
            <a:avLst/>
          </a:prstGeom>
          <a:noFill/>
          <a:ln w="22225">
            <a:solidFill>
              <a:schemeClr val="accent1"/>
            </a:solidFill>
            <a:prstDash val="solid"/>
            <a:tailEnd type="triangle"/>
          </a:ln>
        </p:spPr>
      </p:sp>
      <p:sp>
        <p:nvSpPr>
          <p:cNvPr id="28" name="Pfeil"/>
          <p:cNvSpPr/>
          <p:nvPr/>
        </p:nvSpPr>
        <p:spPr>
          <a:xfrm>
            <a:off x="9326880" y="2103120"/>
            <a:ext cx="713232" cy="91"/>
          </a:xfrm>
          <a:prstGeom prst="line">
            <a:avLst/>
          </a:prstGeom>
          <a:noFill/>
          <a:ln w="22225">
            <a:solidFill>
              <a:schemeClr val="accent1"/>
            </a:solidFill>
            <a:prstDash val="solid"/>
            <a:tailEnd type="triangle"/>
          </a:ln>
        </p:spPr>
      </p:sp>
      <p:sp>
        <p:nvSpPr>
          <p:cNvPr id="29" name="Text 27"/>
          <p:cNvSpPr txBox="1"/>
          <p:nvPr/>
        </p:nvSpPr>
        <p:spPr>
          <a:xfrm>
            <a:off x="6309360" y="2423160"/>
            <a:ext cx="914400" cy="256032"/>
          </a:xfrm>
          <a:prstGeom prst="rect">
            <a:avLst/>
          </a:prstGeom>
          <a:noFill/>
          <a:ln/>
        </p:spPr>
        <p:txBody>
          <a:bodyPr wrap="square" lIns="0" tIns="0" rIns="0" bIns="0" rtlCol="0" anchor="t"/>
          <a:lstStyle/>
          <a:p>
            <a:pPr algn="ctr" indent="0" marL="0">
              <a:buNone/>
            </a:pPr>
            <a:r>
              <a:rPr lang="en-US" sz="1200" i="1" dirty="0">
                <a:solidFill>
                  <a:schemeClr val="accent6"/>
                </a:solidFill>
              </a:rPr>
              <a:t>oben</a:t>
            </a:r>
            <a:endParaRPr lang="en-US" sz="1200" dirty="0"/>
          </a:p>
        </p:txBody>
      </p:sp>
      <p:sp>
        <p:nvSpPr>
          <p:cNvPr id="30" name="Text 28"/>
          <p:cNvSpPr txBox="1"/>
          <p:nvPr/>
        </p:nvSpPr>
        <p:spPr>
          <a:xfrm>
            <a:off x="10058400" y="2423160"/>
            <a:ext cx="914400" cy="256032"/>
          </a:xfrm>
          <a:prstGeom prst="rect">
            <a:avLst/>
          </a:prstGeom>
          <a:noFill/>
          <a:ln/>
        </p:spPr>
        <p:txBody>
          <a:bodyPr wrap="square" lIns="0" tIns="0" rIns="0" bIns="0" rtlCol="0" anchor="t"/>
          <a:lstStyle/>
          <a:p>
            <a:pPr algn="ctr" indent="0" marL="0">
              <a:buNone/>
            </a:pPr>
            <a:r>
              <a:rPr lang="en-US" sz="1200" i="1" dirty="0">
                <a:solidFill>
                  <a:schemeClr val="accent6"/>
                </a:solidFill>
              </a:rPr>
              <a:t>unten</a:t>
            </a:r>
            <a:endParaRPr lang="en-US" sz="1200" dirty="0"/>
          </a:p>
        </p:txBody>
      </p:sp>
      <p:sp>
        <p:nvSpPr>
          <p:cNvPr id="31" name="Text 29"/>
          <p:cNvSpPr txBox="1"/>
          <p:nvPr/>
        </p:nvSpPr>
        <p:spPr>
          <a:xfrm>
            <a:off x="4754880" y="2834640"/>
            <a:ext cx="5120640" cy="32004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pop()</a:t>
            </a:r>
            <a:pPr indent="0" marL="0">
              <a:buNone/>
            </a:pPr>
            <a:r>
              <a:rPr lang="en-US" sz="1400" dirty="0">
                <a:solidFill>
                  <a:schemeClr val="accent1"/>
                </a:solidFill>
              </a:rPr>
              <a:t> – erst Inhalt merken, dann kopf umhängen</a:t>
            </a:r>
            <a:endParaRPr lang="en-US" sz="1400" dirty="0"/>
          </a:p>
        </p:txBody>
      </p:sp>
      <p:sp>
        <p:nvSpPr>
          <p:cNvPr id="32" name="Knoten Gold"/>
          <p:cNvSpPr txBox="1"/>
          <p:nvPr/>
        </p:nvSpPr>
        <p:spPr>
          <a:xfrm>
            <a:off x="6309360" y="3246120"/>
            <a:ext cx="914400" cy="548640"/>
          </a:xfrm>
          <a:prstGeom prst="rect">
            <a:avLst/>
          </a:prstGeom>
          <a:solidFill>
            <a:schemeClr val="accent5"/>
          </a:solidFill>
          <a:ln w="22225">
            <a:solidFill>
              <a:srgbClr val="A6A6A6"/>
            </a:solidFill>
            <a:prstDash val="dash"/>
          </a:ln>
        </p:spPr>
        <p:txBody>
          <a:bodyPr wrap="square" lIns="0" tIns="0" rIns="0" bIns="0" rtlCol="0" anchor="ctr"/>
          <a:lstStyle/>
          <a:p>
            <a:pPr algn="ctr" indent="0" marL="0">
              <a:buNone/>
            </a:pPr>
            <a:r>
              <a:rPr lang="en-US" sz="1600" b="1" dirty="0">
                <a:solidFill>
                  <a:srgbClr val="8C8C8C"/>
                </a:solidFill>
              </a:rPr>
              <a:t>Gold</a:t>
            </a:r>
            <a:endParaRPr lang="en-US" sz="1600" dirty="0"/>
          </a:p>
        </p:txBody>
      </p:sp>
      <p:sp>
        <p:nvSpPr>
          <p:cNvPr id="33" name="Zeiger Gold"/>
          <p:cNvSpPr txBox="1"/>
          <p:nvPr/>
        </p:nvSpPr>
        <p:spPr>
          <a:xfrm>
            <a:off x="7223760" y="3246120"/>
            <a:ext cx="457200" cy="548640"/>
          </a:xfrm>
          <a:prstGeom prst="rect">
            <a:avLst/>
          </a:prstGeom>
          <a:solidFill>
            <a:schemeClr val="bg1"/>
          </a:solidFill>
          <a:ln w="22225">
            <a:solidFill>
              <a:srgbClr val="A6A6A6"/>
            </a:solidFill>
            <a:prstDash val="dash"/>
          </a:ln>
        </p:spPr>
        <p:txBody>
          <a:bodyPr wrap="square" lIns="0" tIns="0" rIns="0" bIns="0" rtlCol="0" anchor="ctr"/>
          <a:lstStyle/>
          <a:p>
            <a:pPr algn="ctr" indent="0" marL="0">
              <a:buNone/>
            </a:pPr>
            <a:endParaRPr lang="en-US" sz="1100" dirty="0"/>
          </a:p>
        </p:txBody>
      </p:sp>
      <p:sp>
        <p:nvSpPr>
          <p:cNvPr id="34" name="Punkt Gold"/>
          <p:cNvSpPr/>
          <p:nvPr/>
        </p:nvSpPr>
        <p:spPr>
          <a:xfrm>
            <a:off x="7397496" y="3465576"/>
            <a:ext cx="109728" cy="109728"/>
          </a:xfrm>
          <a:prstGeom prst="ellipse">
            <a:avLst/>
          </a:prstGeom>
          <a:solidFill>
            <a:srgbClr val="A6A6A6"/>
          </a:solidFill>
          <a:ln/>
        </p:spPr>
      </p:sp>
      <p:sp>
        <p:nvSpPr>
          <p:cNvPr id="35" name="alter Zeiger"/>
          <p:cNvSpPr/>
          <p:nvPr/>
        </p:nvSpPr>
        <p:spPr>
          <a:xfrm>
            <a:off x="7452360" y="3520440"/>
            <a:ext cx="731520" cy="594360"/>
          </a:xfrm>
          <a:prstGeom prst="line">
            <a:avLst/>
          </a:prstGeom>
          <a:noFill/>
          <a:ln w="19050">
            <a:solidFill>
              <a:srgbClr val="A6A6A6"/>
            </a:solidFill>
            <a:prstDash val="dash"/>
            <a:tailEnd type="triangle"/>
          </a:ln>
        </p:spPr>
      </p:sp>
      <p:sp>
        <p:nvSpPr>
          <p:cNvPr id="36" name="Text 34"/>
          <p:cNvSpPr txBox="1"/>
          <p:nvPr/>
        </p:nvSpPr>
        <p:spPr>
          <a:xfrm>
            <a:off x="4754880" y="3931920"/>
            <a:ext cx="548640" cy="548640"/>
          </a:xfrm>
          <a:prstGeom prst="rect">
            <a:avLst/>
          </a:prstGeom>
          <a:noFill/>
          <a:ln/>
        </p:spPr>
        <p:txBody>
          <a:bodyPr wrap="square" lIns="0" tIns="0" rIns="0" bIns="0" rtlCol="0" anchor="ctr"/>
          <a:lstStyle/>
          <a:p>
            <a:pPr indent="0" marL="0">
              <a:buNone/>
            </a:pPr>
            <a:r>
              <a:rPr lang="en-US" sz="1500" b="1" dirty="0">
                <a:solidFill>
                  <a:schemeClr val="accent1"/>
                </a:solidFill>
                <a:latin typeface="Consolas" pitchFamily="34" charset="0"/>
                <a:ea typeface="Consolas" pitchFamily="34" charset="-122"/>
                <a:cs typeface="Consolas" pitchFamily="34" charset="-120"/>
              </a:rPr>
              <a:t>kopf</a:t>
            </a:r>
            <a:endParaRPr lang="en-US" sz="1500" dirty="0"/>
          </a:p>
        </p:txBody>
      </p:sp>
      <p:sp>
        <p:nvSpPr>
          <p:cNvPr id="37" name="Variable kopf"/>
          <p:cNvSpPr/>
          <p:nvPr/>
        </p:nvSpPr>
        <p:spPr>
          <a:xfrm>
            <a:off x="5321808" y="3931920"/>
            <a:ext cx="457200" cy="548640"/>
          </a:xfrm>
          <a:prstGeom prst="rect">
            <a:avLst/>
          </a:prstGeom>
          <a:solidFill>
            <a:schemeClr val="bg1"/>
          </a:solidFill>
          <a:ln w="22225">
            <a:solidFill>
              <a:schemeClr val="accent1"/>
            </a:solidFill>
            <a:prstDash val="solid"/>
          </a:ln>
        </p:spPr>
      </p:sp>
      <p:sp>
        <p:nvSpPr>
          <p:cNvPr id="38" name="Punkt kopf"/>
          <p:cNvSpPr/>
          <p:nvPr/>
        </p:nvSpPr>
        <p:spPr>
          <a:xfrm>
            <a:off x="5495544" y="4151376"/>
            <a:ext cx="109728" cy="109728"/>
          </a:xfrm>
          <a:prstGeom prst="ellipse">
            <a:avLst/>
          </a:prstGeom>
          <a:solidFill>
            <a:schemeClr val="accent1"/>
          </a:solidFill>
          <a:ln/>
        </p:spPr>
      </p:sp>
      <p:sp>
        <p:nvSpPr>
          <p:cNvPr id="39" name="Knoten Holz"/>
          <p:cNvSpPr txBox="1"/>
          <p:nvPr/>
        </p:nvSpPr>
        <p:spPr>
          <a:xfrm>
            <a:off x="8183880" y="3931920"/>
            <a:ext cx="914400" cy="548640"/>
          </a:xfrm>
          <a:prstGeom prst="rect">
            <a:avLst/>
          </a:prstGeom>
          <a:solidFill>
            <a:schemeClr val="bg2"/>
          </a:solidFill>
          <a:ln w="2222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Holz</a:t>
            </a:r>
            <a:endParaRPr lang="en-US" sz="1600" dirty="0"/>
          </a:p>
        </p:txBody>
      </p:sp>
      <p:sp>
        <p:nvSpPr>
          <p:cNvPr id="40" name="Zeiger Holz"/>
          <p:cNvSpPr txBox="1"/>
          <p:nvPr/>
        </p:nvSpPr>
        <p:spPr>
          <a:xfrm>
            <a:off x="9098280" y="3931920"/>
            <a:ext cx="457200" cy="548640"/>
          </a:xfrm>
          <a:prstGeom prst="rect">
            <a:avLst/>
          </a:prstGeom>
          <a:solidFill>
            <a:schemeClr val="bg1"/>
          </a:solidFill>
          <a:ln w="22225">
            <a:solidFill>
              <a:schemeClr val="accent1"/>
            </a:solidFill>
            <a:prstDash val="solid"/>
          </a:ln>
        </p:spPr>
        <p:txBody>
          <a:bodyPr wrap="square" lIns="0" tIns="0" rIns="0" bIns="0" rtlCol="0" anchor="ctr"/>
          <a:lstStyle/>
          <a:p>
            <a:pPr algn="ctr" indent="0" marL="0">
              <a:buNone/>
            </a:pPr>
            <a:endParaRPr lang="en-US" sz="1100" dirty="0"/>
          </a:p>
        </p:txBody>
      </p:sp>
      <p:sp>
        <p:nvSpPr>
          <p:cNvPr id="41" name="Punkt Holz"/>
          <p:cNvSpPr/>
          <p:nvPr/>
        </p:nvSpPr>
        <p:spPr>
          <a:xfrm>
            <a:off x="9272016" y="4151376"/>
            <a:ext cx="109728" cy="109728"/>
          </a:xfrm>
          <a:prstGeom prst="ellipse">
            <a:avLst/>
          </a:prstGeom>
          <a:solidFill>
            <a:schemeClr val="accent1"/>
          </a:solidFill>
          <a:ln/>
        </p:spPr>
      </p:sp>
      <p:sp>
        <p:nvSpPr>
          <p:cNvPr id="42" name="Knoten Erz"/>
          <p:cNvSpPr txBox="1"/>
          <p:nvPr/>
        </p:nvSpPr>
        <p:spPr>
          <a:xfrm>
            <a:off x="10058400" y="3931920"/>
            <a:ext cx="914400" cy="548640"/>
          </a:xfrm>
          <a:prstGeom prst="rect">
            <a:avLst/>
          </a:prstGeom>
          <a:solidFill>
            <a:schemeClr val="bg2"/>
          </a:solidFill>
          <a:ln w="2222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Erz</a:t>
            </a:r>
            <a:endParaRPr lang="en-US" sz="1600" dirty="0"/>
          </a:p>
        </p:txBody>
      </p:sp>
      <p:sp>
        <p:nvSpPr>
          <p:cNvPr id="43" name="Zeiger Erz"/>
          <p:cNvSpPr txBox="1"/>
          <p:nvPr/>
        </p:nvSpPr>
        <p:spPr>
          <a:xfrm>
            <a:off x="10972800" y="3931920"/>
            <a:ext cx="457200" cy="548640"/>
          </a:xfrm>
          <a:prstGeom prst="rect">
            <a:avLst/>
          </a:prstGeom>
          <a:solidFill>
            <a:schemeClr val="bg1"/>
          </a:solidFill>
          <a:ln w="22225">
            <a:solidFill>
              <a:schemeClr val="accent1"/>
            </a:solidFill>
            <a:prstDash val="solid"/>
          </a:ln>
        </p:spPr>
        <p:txBody>
          <a:bodyPr wrap="square" lIns="0" tIns="0" rIns="0" bIns="0" rtlCol="0" anchor="ctr"/>
          <a:lstStyle/>
          <a:p>
            <a:pPr algn="ctr" indent="0" marL="0">
              <a:buNone/>
            </a:pPr>
            <a:r>
              <a:rPr lang="en-US" sz="1100" dirty="0">
                <a:solidFill>
                  <a:schemeClr val="accent6"/>
                </a:solidFill>
              </a:rPr>
              <a:t>null</a:t>
            </a:r>
            <a:endParaRPr lang="en-US" sz="1100" dirty="0"/>
          </a:p>
        </p:txBody>
      </p:sp>
      <p:sp>
        <p:nvSpPr>
          <p:cNvPr id="44" name="kopf neu"/>
          <p:cNvSpPr/>
          <p:nvPr/>
        </p:nvSpPr>
        <p:spPr>
          <a:xfrm>
            <a:off x="5550408" y="4206240"/>
            <a:ext cx="2615184" cy="91"/>
          </a:xfrm>
          <a:prstGeom prst="line">
            <a:avLst/>
          </a:prstGeom>
          <a:noFill/>
          <a:ln w="22225">
            <a:solidFill>
              <a:schemeClr val="accent1"/>
            </a:solidFill>
            <a:prstDash val="solid"/>
            <a:tailEnd type="triangle"/>
          </a:ln>
        </p:spPr>
      </p:sp>
      <p:sp>
        <p:nvSpPr>
          <p:cNvPr id="45" name="Pfeil"/>
          <p:cNvSpPr/>
          <p:nvPr/>
        </p:nvSpPr>
        <p:spPr>
          <a:xfrm>
            <a:off x="9326880" y="4206240"/>
            <a:ext cx="713232" cy="91"/>
          </a:xfrm>
          <a:prstGeom prst="line">
            <a:avLst/>
          </a:prstGeom>
          <a:noFill/>
          <a:ln w="22225">
            <a:solidFill>
              <a:schemeClr val="accent1"/>
            </a:solidFill>
            <a:prstDash val="solid"/>
            <a:tailEnd type="triangle"/>
          </a:ln>
        </p:spPr>
      </p:sp>
      <p:sp>
        <p:nvSpPr>
          <p:cNvPr id="46" name="Chip"/>
          <p:cNvSpPr txBox="1"/>
          <p:nvPr/>
        </p:nvSpPr>
        <p:spPr>
          <a:xfrm>
            <a:off x="10012680" y="2834640"/>
            <a:ext cx="160020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liefert "Gold"</a:t>
            </a:r>
            <a:endParaRPr lang="en-US" sz="1400" dirty="0"/>
          </a:p>
        </p:txBody>
      </p:sp>
      <p:sp>
        <p:nvSpPr>
          <p:cNvPr id="47" name="Regel push(x)"/>
          <p:cNvSpPr txBox="1"/>
          <p:nvPr/>
        </p:nvSpPr>
        <p:spPr>
          <a:xfrm>
            <a:off x="4754880" y="4709160"/>
            <a:ext cx="1600200" cy="402336"/>
          </a:xfrm>
          <a:prstGeom prst="roundRect">
            <a:avLst>
              <a:gd name="adj" fmla="val 18182"/>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push(x)</a:t>
            </a:r>
            <a:endParaRPr lang="en-US" sz="1300" dirty="0"/>
          </a:p>
        </p:txBody>
      </p:sp>
      <p:sp>
        <p:nvSpPr>
          <p:cNvPr id="48" name="Text 46"/>
          <p:cNvSpPr txBox="1"/>
          <p:nvPr/>
        </p:nvSpPr>
        <p:spPr>
          <a:xfrm>
            <a:off x="6492240" y="4709160"/>
            <a:ext cx="5120640" cy="402336"/>
          </a:xfrm>
          <a:prstGeom prst="rect">
            <a:avLst/>
          </a:prstGeom>
          <a:noFill/>
          <a:ln/>
        </p:spPr>
        <p:txBody>
          <a:bodyPr wrap="square" lIns="0" tIns="0" rIns="0" bIns="0" rtlCol="0" anchor="ctr"/>
          <a:lstStyle/>
          <a:p>
            <a:pPr indent="0" marL="0">
              <a:buNone/>
            </a:pPr>
            <a:r>
              <a:rPr lang="en-US" sz="1500" dirty="0">
                <a:solidFill>
                  <a:schemeClr val="tx1"/>
                </a:solidFill>
              </a:rPr>
              <a:t>neuer Knoten wird kopf, sein naechster ist der alte kopf</a:t>
            </a:r>
            <a:endParaRPr lang="en-US" sz="1500" dirty="0"/>
          </a:p>
        </p:txBody>
      </p:sp>
      <p:sp>
        <p:nvSpPr>
          <p:cNvPr id="49" name="Regel pop(), top()"/>
          <p:cNvSpPr txBox="1"/>
          <p:nvPr/>
        </p:nvSpPr>
        <p:spPr>
          <a:xfrm>
            <a:off x="4754880" y="5184648"/>
            <a:ext cx="1600200" cy="402336"/>
          </a:xfrm>
          <a:prstGeom prst="roundRect">
            <a:avLst>
              <a:gd name="adj" fmla="val 18182"/>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pop(), top()</a:t>
            </a:r>
            <a:endParaRPr lang="en-US" sz="1300" dirty="0"/>
          </a:p>
        </p:txBody>
      </p:sp>
      <p:sp>
        <p:nvSpPr>
          <p:cNvPr id="50" name="Text 48"/>
          <p:cNvSpPr txBox="1"/>
          <p:nvPr/>
        </p:nvSpPr>
        <p:spPr>
          <a:xfrm>
            <a:off x="6492240" y="5184648"/>
            <a:ext cx="5120640" cy="402336"/>
          </a:xfrm>
          <a:prstGeom prst="rect">
            <a:avLst/>
          </a:prstGeom>
          <a:noFill/>
          <a:ln/>
        </p:spPr>
        <p:txBody>
          <a:bodyPr wrap="square" lIns="0" tIns="0" rIns="0" bIns="0" rtlCol="0" anchor="ctr"/>
          <a:lstStyle/>
          <a:p>
            <a:pPr indent="0" marL="0">
              <a:buNone/>
            </a:pPr>
            <a:r>
              <a:rPr lang="en-US" sz="1500" dirty="0">
                <a:solidFill>
                  <a:schemeClr val="tx1"/>
                </a:solidFill>
              </a:rPr>
              <a:t>Inhalt von kopf; pop hängt kopf auf den Nachfolger um</a:t>
            </a:r>
            <a:endParaRPr lang="en-US" sz="1500" dirty="0"/>
          </a:p>
        </p:txBody>
      </p:sp>
      <p:sp>
        <p:nvSpPr>
          <p:cNvPr id="51" name="Regel leer"/>
          <p:cNvSpPr txBox="1"/>
          <p:nvPr/>
        </p:nvSpPr>
        <p:spPr>
          <a:xfrm>
            <a:off x="4754880" y="5660136"/>
            <a:ext cx="1600200" cy="402336"/>
          </a:xfrm>
          <a:prstGeom prst="roundRect">
            <a:avLst>
              <a:gd name="adj" fmla="val 18182"/>
            </a:avLst>
          </a:prstGeom>
          <a:solidFill>
            <a:schemeClr val="accent4"/>
          </a:solidFill>
          <a:ln/>
        </p:spPr>
        <p:txBody>
          <a:bodyPr wrap="square" lIns="0" tIns="0" rIns="0" bIns="0" rtlCol="0" anchor="ctr"/>
          <a:lstStyle/>
          <a:p>
            <a:pPr algn="ctr" indent="0" marL="0">
              <a:buNone/>
            </a:pPr>
            <a:r>
              <a:rPr lang="en-US" sz="1300" b="1" dirty="0">
                <a:solidFill>
                  <a:schemeClr val="bg1"/>
                </a:solidFill>
                <a:latin typeface="Consolas" pitchFamily="34" charset="0"/>
                <a:ea typeface="Consolas" pitchFamily="34" charset="-122"/>
                <a:cs typeface="Consolas" pitchFamily="34" charset="-120"/>
              </a:rPr>
              <a:t>leer</a:t>
            </a:r>
            <a:endParaRPr lang="en-US" sz="1300" dirty="0"/>
          </a:p>
        </p:txBody>
      </p:sp>
      <p:sp>
        <p:nvSpPr>
          <p:cNvPr id="52" name="Text 50"/>
          <p:cNvSpPr txBox="1"/>
          <p:nvPr/>
        </p:nvSpPr>
        <p:spPr>
          <a:xfrm>
            <a:off x="6492240" y="5660136"/>
            <a:ext cx="5120640" cy="402336"/>
          </a:xfrm>
          <a:prstGeom prst="rect">
            <a:avLst/>
          </a:prstGeom>
          <a:noFill/>
          <a:ln/>
        </p:spPr>
        <p:txBody>
          <a:bodyPr wrap="square" lIns="0" tIns="0" rIns="0" bIns="0" rtlCol="0" anchor="ctr"/>
          <a:lstStyle/>
          <a:p>
            <a:pPr indent="0" marL="0">
              <a:buNone/>
            </a:pPr>
            <a:r>
              <a:rPr lang="en-US" sz="1500" dirty="0">
                <a:solidFill>
                  <a:schemeClr val="tx1"/>
                </a:solidFill>
              </a:rPr>
              <a:t>kopf == null – top und pop werfen IllegalStateException</a:t>
            </a:r>
            <a:endParaRPr lang="en-US" sz="1500" dirty="0"/>
          </a:p>
        </p:txBody>
      </p:sp>
      <p:sp>
        <p:nvSpPr>
          <p:cNvPr id="53" name="Text 51"/>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29 · Vertiefung (Experte)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Abi-Format: implementieren und unverändert lassen</a:t>
            </a:r>
            <a:endParaRPr lang="en-US" sz="3600" dirty="0"/>
          </a:p>
        </p:txBody>
      </p:sp>
      <p:sp>
        <p:nvSpPr>
          <p:cNvPr id="3" name="Aufgabe"/>
          <p:cNvSpPr/>
          <p:nvPr/>
        </p:nvSpPr>
        <p:spPr>
          <a:xfrm>
            <a:off x="548640" y="1325880"/>
            <a:ext cx="5212080" cy="2514600"/>
          </a:xfrm>
          <a:prstGeom prst="roundRect">
            <a:avLst>
              <a:gd name="adj" fmla="val 4364"/>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777240" y="1417320"/>
            <a:ext cx="4800600" cy="2377440"/>
          </a:xfrm>
          <a:prstGeom prst="rect">
            <a:avLst/>
          </a:prstGeom>
          <a:noFill/>
          <a:ln/>
        </p:spPr>
        <p:txBody>
          <a:bodyPr wrap="square" lIns="0" tIns="0" rIns="0" bIns="0" rtlCol="0" anchor="ctr"/>
          <a:lstStyle/>
          <a:p>
            <a:pPr indent="0" marL="0">
              <a:buNone/>
            </a:pPr>
            <a:r>
              <a:rPr lang="en-US" sz="1800" b="1" dirty="0">
                <a:solidFill>
                  <a:schemeClr val="accent1"/>
                </a:solidFill>
              </a:rPr>
              <a:t>Aufgabe  </a:t>
            </a:r>
            <a:pPr indent="0" marL="0">
              <a:buNone/>
            </a:pPr>
            <a:r>
              <a:rPr lang="en-US" sz="1600" b="1" dirty="0">
                <a:solidFill>
                  <a:schemeClr val="accent2"/>
                </a:solidFill>
              </a:rPr>
              <a:t>[5 BE]</a:t>
            </a:r>
            <a:endParaRPr lang="en-US" sz="1800" dirty="0"/>
          </a:p>
          <a:p>
            <a:pPr indent="0" marL="0">
              <a:buNone/>
            </a:pPr>
            <a:r>
              <a:rPr lang="en-US" sz="1500" dirty="0">
                <a:solidFill>
                  <a:schemeClr val="tx1"/>
                </a:solidFill>
              </a:rPr>
              <a:t>Implementieren Sie die Methode </a:t>
            </a:r>
            <a:pPr indent="0" marL="0">
              <a:buNone/>
            </a:pPr>
            <a:r>
              <a:rPr lang="en-US" sz="1300" dirty="0">
                <a:solidFill>
                  <a:schemeClr val="accent1"/>
                </a:solidFill>
                <a:latin typeface="Consolas" pitchFamily="34" charset="0"/>
                <a:ea typeface="Consolas" pitchFamily="34" charset="-122"/>
                <a:cs typeface="Consolas" pitchFamily="34" charset="-120"/>
              </a:rPr>
              <a:t>durchschnittsGewicht(q: Schlange vom Inhaltstyp Kiste): Kommazahl</a:t>
            </a:r>
            <a:pPr indent="0" marL="0">
              <a:buNone/>
            </a:pPr>
            <a:r>
              <a:rPr lang="en-US" sz="1500" dirty="0">
                <a:solidFill>
                  <a:schemeClr val="tx1"/>
                </a:solidFill>
              </a:rPr>
              <a:t>. Sie liefert das durchschnittliche Gewicht der Kisten in q, bei leerer Schlange 0.0. Nach dem Aufruf muss q unverändert sein.</a:t>
            </a:r>
            <a:endParaRPr lang="en-US" sz="1800" dirty="0"/>
          </a:p>
        </p:txBody>
      </p:sp>
      <p:sp>
        <p:nvSpPr>
          <p:cNvPr id="5" name="Text 3"/>
          <p:cNvSpPr txBox="1"/>
          <p:nvPr/>
        </p:nvSpPr>
        <p:spPr>
          <a:xfrm>
            <a:off x="548640" y="4023360"/>
            <a:ext cx="5212080" cy="347472"/>
          </a:xfrm>
          <a:prstGeom prst="rect">
            <a:avLst/>
          </a:prstGeom>
          <a:noFill/>
          <a:ln/>
        </p:spPr>
        <p:txBody>
          <a:bodyPr wrap="square" lIns="0" tIns="0" rIns="0" bIns="0" rtlCol="0" anchor="t"/>
          <a:lstStyle/>
          <a:p>
            <a:pPr indent="0" marL="0">
              <a:buNone/>
            </a:pPr>
            <a:r>
              <a:rPr lang="en-US" sz="1800" b="1" dirty="0">
                <a:solidFill>
                  <a:schemeClr val="accent2"/>
                </a:solidFill>
              </a:rPr>
              <a:t>Abi-Check</a:t>
            </a:r>
            <a:endParaRPr lang="en-US" sz="1800" dirty="0"/>
          </a:p>
        </p:txBody>
      </p:sp>
      <p:sp>
        <p:nvSpPr>
          <p:cNvPr id="6" name="Icon-Kreis"/>
          <p:cNvSpPr/>
          <p:nvPr/>
        </p:nvSpPr>
        <p:spPr>
          <a:xfrm>
            <a:off x="548640" y="4462272"/>
            <a:ext cx="274320" cy="274320"/>
          </a:xfrm>
          <a:prstGeom prst="ellipse">
            <a:avLst/>
          </a:prstGeom>
          <a:solidFill>
            <a:schemeClr val="accent3"/>
          </a:solidFill>
          <a:ln/>
        </p:spPr>
      </p:sp>
      <p:pic>
        <p:nvPicPr>
          <p:cNvPr id="7" name="Icon GiCheckMark" descr="preencoded.png">    </p:cNvPr>
          <p:cNvPicPr>
            <a:picLocks noChangeAspect="1"/>
          </p:cNvPicPr>
          <p:nvPr/>
        </p:nvPicPr>
        <p:blipFill>
          <a:blip r:embed="rId1"/>
          <a:stretch>
            <a:fillRect/>
          </a:stretch>
        </p:blipFill>
        <p:spPr>
          <a:xfrm>
            <a:off x="592531" y="4506163"/>
            <a:ext cx="186538" cy="186538"/>
          </a:xfrm>
          <a:prstGeom prst="rect">
            <a:avLst/>
          </a:prstGeom>
        </p:spPr>
      </p:pic>
      <p:sp>
        <p:nvSpPr>
          <p:cNvPr id="8" name="Text 5"/>
          <p:cNvSpPr txBox="1"/>
          <p:nvPr/>
        </p:nvSpPr>
        <p:spPr>
          <a:xfrm>
            <a:off x="960120" y="4434840"/>
            <a:ext cx="4800600" cy="329184"/>
          </a:xfrm>
          <a:prstGeom prst="rect">
            <a:avLst/>
          </a:prstGeom>
          <a:noFill/>
          <a:ln/>
        </p:spPr>
        <p:txBody>
          <a:bodyPr wrap="square" lIns="0" tIns="0" rIns="0" bIns="0" rtlCol="0" anchor="ctr"/>
          <a:lstStyle/>
          <a:p>
            <a:pPr indent="0" marL="0">
              <a:buNone/>
            </a:pPr>
            <a:r>
              <a:rPr lang="en-US" sz="1500" dirty="0">
                <a:solidFill>
                  <a:schemeClr val="tx1"/>
                </a:solidFill>
              </a:rPr>
              <a:t>Leer? – kein Teilen durch 0, sondern 0.0</a:t>
            </a:r>
            <a:endParaRPr lang="en-US" sz="1500" dirty="0"/>
          </a:p>
        </p:txBody>
      </p:sp>
      <p:sp>
        <p:nvSpPr>
          <p:cNvPr id="9" name="Icon-Kreis"/>
          <p:cNvSpPr/>
          <p:nvPr/>
        </p:nvSpPr>
        <p:spPr>
          <a:xfrm>
            <a:off x="548640" y="4800600"/>
            <a:ext cx="274320" cy="274320"/>
          </a:xfrm>
          <a:prstGeom prst="ellipse">
            <a:avLst/>
          </a:prstGeom>
          <a:solidFill>
            <a:schemeClr val="accent3"/>
          </a:solidFill>
          <a:ln/>
        </p:spPr>
      </p:sp>
      <p:pic>
        <p:nvPicPr>
          <p:cNvPr id="10" name="Icon GiCheckMark" descr="preencoded.png">    </p:cNvPr>
          <p:cNvPicPr>
            <a:picLocks noChangeAspect="1"/>
          </p:cNvPicPr>
          <p:nvPr/>
        </p:nvPicPr>
        <p:blipFill>
          <a:blip r:embed="rId2"/>
          <a:stretch>
            <a:fillRect/>
          </a:stretch>
        </p:blipFill>
        <p:spPr>
          <a:xfrm>
            <a:off x="592531" y="4844491"/>
            <a:ext cx="186538" cy="186538"/>
          </a:xfrm>
          <a:prstGeom prst="rect">
            <a:avLst/>
          </a:prstGeom>
        </p:spPr>
      </p:pic>
      <p:sp>
        <p:nvSpPr>
          <p:cNvPr id="11" name="Text 7"/>
          <p:cNvSpPr txBox="1"/>
          <p:nvPr/>
        </p:nvSpPr>
        <p:spPr>
          <a:xfrm>
            <a:off x="960120" y="4773168"/>
            <a:ext cx="4800600" cy="329184"/>
          </a:xfrm>
          <a:prstGeom prst="rect">
            <a:avLst/>
          </a:prstGeom>
          <a:noFill/>
          <a:ln/>
        </p:spPr>
        <p:txBody>
          <a:bodyPr wrap="square" lIns="0" tIns="0" rIns="0" bIns="0" rtlCol="0" anchor="ctr"/>
          <a:lstStyle/>
          <a:p>
            <a:pPr indent="0" marL="0">
              <a:buNone/>
            </a:pPr>
            <a:r>
              <a:rPr lang="en-US" sz="1500" dirty="0">
                <a:solidFill>
                  <a:schemeClr val="tx1"/>
                </a:solidFill>
              </a:rPr>
              <a:t>Hilfsschlange und zurückschichten</a:t>
            </a:r>
            <a:endParaRPr lang="en-US" sz="1500" dirty="0"/>
          </a:p>
        </p:txBody>
      </p:sp>
      <p:sp>
        <p:nvSpPr>
          <p:cNvPr id="12" name="Icon-Kreis"/>
          <p:cNvSpPr/>
          <p:nvPr/>
        </p:nvSpPr>
        <p:spPr>
          <a:xfrm>
            <a:off x="548640" y="5138928"/>
            <a:ext cx="274320" cy="274320"/>
          </a:xfrm>
          <a:prstGeom prst="ellipse">
            <a:avLst/>
          </a:prstGeom>
          <a:solidFill>
            <a:schemeClr val="accent3"/>
          </a:solidFill>
          <a:ln/>
        </p:spPr>
      </p:sp>
      <p:pic>
        <p:nvPicPr>
          <p:cNvPr id="13" name="Icon GiCheckMark" descr="preencoded.png">    </p:cNvPr>
          <p:cNvPicPr>
            <a:picLocks noChangeAspect="1"/>
          </p:cNvPicPr>
          <p:nvPr/>
        </p:nvPicPr>
        <p:blipFill>
          <a:blip r:embed="rId3"/>
          <a:stretch>
            <a:fillRect/>
          </a:stretch>
        </p:blipFill>
        <p:spPr>
          <a:xfrm>
            <a:off x="592531" y="5182819"/>
            <a:ext cx="186538" cy="186538"/>
          </a:xfrm>
          <a:prstGeom prst="rect">
            <a:avLst/>
          </a:prstGeom>
        </p:spPr>
      </p:pic>
      <p:sp>
        <p:nvSpPr>
          <p:cNvPr id="14" name="Text 9"/>
          <p:cNvSpPr txBox="1"/>
          <p:nvPr/>
        </p:nvSpPr>
        <p:spPr>
          <a:xfrm>
            <a:off x="960120" y="5111496"/>
            <a:ext cx="4800600" cy="329184"/>
          </a:xfrm>
          <a:prstGeom prst="rect">
            <a:avLst/>
          </a:prstGeom>
          <a:noFill/>
          <a:ln/>
        </p:spPr>
        <p:txBody>
          <a:bodyPr wrap="square" lIns="0" tIns="0" rIns="0" bIns="0" rtlCol="0" anchor="ctr"/>
          <a:lstStyle/>
          <a:p>
            <a:pPr indent="0" marL="0">
              <a:buNone/>
            </a:pPr>
            <a:r>
              <a:rPr lang="en-US" sz="1500" dirty="0">
                <a:solidFill>
                  <a:schemeClr val="tx1"/>
                </a:solidFill>
              </a:rPr>
              <a:t>Cast beim Entnehmen: (Kiste)</a:t>
            </a:r>
            <a:endParaRPr lang="en-US" sz="1500" dirty="0"/>
          </a:p>
        </p:txBody>
      </p:sp>
      <p:sp>
        <p:nvSpPr>
          <p:cNvPr id="15" name="Icon-Kreis"/>
          <p:cNvSpPr/>
          <p:nvPr/>
        </p:nvSpPr>
        <p:spPr>
          <a:xfrm>
            <a:off x="548640" y="5477256"/>
            <a:ext cx="274320" cy="274320"/>
          </a:xfrm>
          <a:prstGeom prst="ellipse">
            <a:avLst/>
          </a:prstGeom>
          <a:solidFill>
            <a:schemeClr val="accent3"/>
          </a:solidFill>
          <a:ln/>
        </p:spPr>
      </p:sp>
      <p:pic>
        <p:nvPicPr>
          <p:cNvPr id="16" name="Icon GiCheckMark" descr="preencoded.png">    </p:cNvPr>
          <p:cNvPicPr>
            <a:picLocks noChangeAspect="1"/>
          </p:cNvPicPr>
          <p:nvPr/>
        </p:nvPicPr>
        <p:blipFill>
          <a:blip r:embed="rId4"/>
          <a:stretch>
            <a:fillRect/>
          </a:stretch>
        </p:blipFill>
        <p:spPr>
          <a:xfrm>
            <a:off x="592531" y="5521147"/>
            <a:ext cx="186538" cy="186538"/>
          </a:xfrm>
          <a:prstGeom prst="rect">
            <a:avLst/>
          </a:prstGeom>
        </p:spPr>
      </p:pic>
      <p:sp>
        <p:nvSpPr>
          <p:cNvPr id="17" name="Text 11"/>
          <p:cNvSpPr txBox="1"/>
          <p:nvPr/>
        </p:nvSpPr>
        <p:spPr>
          <a:xfrm>
            <a:off x="960120" y="5449824"/>
            <a:ext cx="4800600" cy="329184"/>
          </a:xfrm>
          <a:prstGeom prst="rect">
            <a:avLst/>
          </a:prstGeom>
          <a:noFill/>
          <a:ln/>
        </p:spPr>
        <p:txBody>
          <a:bodyPr wrap="square" lIns="0" tIns="0" rIns="0" bIns="0" rtlCol="0" anchor="ctr"/>
          <a:lstStyle/>
          <a:p>
            <a:pPr indent="0" marL="0">
              <a:buNone/>
            </a:pPr>
            <a:r>
              <a:rPr lang="en-US" sz="1500" dirty="0">
                <a:solidFill>
                  <a:schemeClr val="tx1"/>
                </a:solidFill>
              </a:rPr>
              <a:t>Kommazahl-Division: (double) summe / anzahl</a:t>
            </a:r>
            <a:endParaRPr lang="en-US" sz="1500" dirty="0"/>
          </a:p>
        </p:txBody>
      </p:sp>
      <p:sp>
        <p:nvSpPr>
          <p:cNvPr id="18" name="Icon-Kreis"/>
          <p:cNvSpPr/>
          <p:nvPr/>
        </p:nvSpPr>
        <p:spPr>
          <a:xfrm>
            <a:off x="548640" y="5815584"/>
            <a:ext cx="274320" cy="274320"/>
          </a:xfrm>
          <a:prstGeom prst="ellipse">
            <a:avLst/>
          </a:prstGeom>
          <a:solidFill>
            <a:schemeClr val="accent3"/>
          </a:solidFill>
          <a:ln/>
        </p:spPr>
      </p:sp>
      <p:pic>
        <p:nvPicPr>
          <p:cNvPr id="19" name="Icon GiCheckMark" descr="preencoded.png">    </p:cNvPr>
          <p:cNvPicPr>
            <a:picLocks noChangeAspect="1"/>
          </p:cNvPicPr>
          <p:nvPr/>
        </p:nvPicPr>
        <p:blipFill>
          <a:blip r:embed="rId5"/>
          <a:stretch>
            <a:fillRect/>
          </a:stretch>
        </p:blipFill>
        <p:spPr>
          <a:xfrm>
            <a:off x="592531" y="5859475"/>
            <a:ext cx="186538" cy="186538"/>
          </a:xfrm>
          <a:prstGeom prst="rect">
            <a:avLst/>
          </a:prstGeom>
        </p:spPr>
      </p:pic>
      <p:sp>
        <p:nvSpPr>
          <p:cNvPr id="20" name="Text 13"/>
          <p:cNvSpPr txBox="1"/>
          <p:nvPr/>
        </p:nvSpPr>
        <p:spPr>
          <a:xfrm>
            <a:off x="960120" y="5788152"/>
            <a:ext cx="4800600" cy="329184"/>
          </a:xfrm>
          <a:prstGeom prst="rect">
            <a:avLst/>
          </a:prstGeom>
          <a:noFill/>
          <a:ln/>
        </p:spPr>
        <p:txBody>
          <a:bodyPr wrap="square" lIns="0" tIns="0" rIns="0" bIns="0" rtlCol="0" anchor="ctr"/>
          <a:lstStyle/>
          <a:p>
            <a:pPr indent="0" marL="0">
              <a:buNone/>
            </a:pPr>
            <a:r>
              <a:rPr lang="en-US" sz="1500" dirty="0">
                <a:solidFill>
                  <a:schemeClr val="tx1"/>
                </a:solidFill>
              </a:rPr>
              <a:t>Rückgabe in jedem Pfad</a:t>
            </a:r>
            <a:endParaRPr lang="en-US" sz="1500" dirty="0"/>
          </a:p>
        </p:txBody>
      </p:sp>
      <p:sp>
        <p:nvSpPr>
          <p:cNvPr id="21" name="Text 14"/>
          <p:cNvSpPr txBox="1"/>
          <p:nvPr/>
        </p:nvSpPr>
        <p:spPr>
          <a:xfrm>
            <a:off x="6035040" y="1280160"/>
            <a:ext cx="5577840" cy="365760"/>
          </a:xfrm>
          <a:prstGeom prst="rect">
            <a:avLst/>
          </a:prstGeom>
          <a:noFill/>
          <a:ln/>
        </p:spPr>
        <p:txBody>
          <a:bodyPr wrap="square" lIns="0" tIns="0" rIns="0" bIns="0" rtlCol="0" anchor="t"/>
          <a:lstStyle/>
          <a:p>
            <a:pPr indent="0" marL="0">
              <a:buNone/>
            </a:pPr>
            <a:r>
              <a:rPr lang="en-US" sz="1900" b="1" dirty="0">
                <a:solidFill>
                  <a:schemeClr val="accent3"/>
                </a:solidFill>
              </a:rPr>
              <a:t>Musterantwort</a:t>
            </a:r>
            <a:endParaRPr lang="en-US" sz="1900" dirty="0"/>
          </a:p>
        </p:txBody>
      </p:sp>
      <p:sp>
        <p:nvSpPr>
          <p:cNvPr id="22" name="Code"/>
          <p:cNvSpPr txBox="1"/>
          <p:nvPr/>
        </p:nvSpPr>
        <p:spPr>
          <a:xfrm>
            <a:off x="6035040" y="1691640"/>
            <a:ext cx="5577840" cy="3730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double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durchschnittsGewicht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hilf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anzahl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while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isEmpty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Kiste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Kiste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dequeue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getGewicht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anzahl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hilf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enqueue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while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hilf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isEmpty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enqueue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hilf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dequeue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anzahl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0.0;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nie durch 0 teilen</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double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anzahl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23" name="Chip"/>
          <p:cNvSpPr txBox="1"/>
          <p:nvPr/>
        </p:nvSpPr>
        <p:spPr>
          <a:xfrm>
            <a:off x="6035040" y="5669280"/>
            <a:ext cx="557784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Standard-Ladung: 33 kg / 6 = 5,5 · ganzzahlig: 5 ✗</a:t>
            </a:r>
            <a:endParaRPr lang="en-US" sz="1500" dirty="0"/>
          </a:p>
        </p:txBody>
      </p:sp>
      <p:sp>
        <p:nvSpPr>
          <p:cNvPr id="24" name="Text 17"/>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29 · Abi-Format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Boss 4: Die Fähre von Nebelhafen</a:t>
            </a:r>
            <a:endParaRPr lang="en-US" sz="3600" dirty="0"/>
          </a:p>
        </p:txBody>
      </p:sp>
      <p:sp>
        <p:nvSpPr>
          <p:cNvPr id="3" name="Icon-Kreis"/>
          <p:cNvSpPr/>
          <p:nvPr/>
        </p:nvSpPr>
        <p:spPr>
          <a:xfrm>
            <a:off x="822960" y="1600200"/>
            <a:ext cx="2926080" cy="2926080"/>
          </a:xfrm>
          <a:prstGeom prst="ellipse">
            <a:avLst/>
          </a:prstGeom>
          <a:solidFill>
            <a:schemeClr val="accent4"/>
          </a:solidFill>
          <a:ln w="63500">
            <a:solidFill>
              <a:schemeClr val="accent2"/>
            </a:solidFill>
            <a:prstDash val="solid"/>
          </a:ln>
        </p:spPr>
      </p:sp>
      <p:pic>
        <p:nvPicPr>
          <p:cNvPr id="4" name="Icon GiLighthouse" descr="preencoded.png">    </p:cNvPr>
          <p:cNvPicPr>
            <a:picLocks noChangeAspect="1"/>
          </p:cNvPicPr>
          <p:nvPr/>
        </p:nvPicPr>
        <p:blipFill>
          <a:blip r:embed="rId1"/>
          <a:stretch>
            <a:fillRect/>
          </a:stretch>
        </p:blipFill>
        <p:spPr>
          <a:xfrm>
            <a:off x="1349654" y="2126894"/>
            <a:ext cx="1872691" cy="1872691"/>
          </a:xfrm>
          <a:prstGeom prst="rect">
            <a:avLst/>
          </a:prstGeom>
        </p:spPr>
      </p:pic>
      <p:sp>
        <p:nvSpPr>
          <p:cNvPr id="5" name="Chip"/>
          <p:cNvSpPr txBox="1"/>
          <p:nvPr/>
        </p:nvSpPr>
        <p:spPr>
          <a:xfrm>
            <a:off x="1600200" y="4754880"/>
            <a:ext cx="137160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2000" b="1" dirty="0">
                <a:solidFill>
                  <a:schemeClr val="bg1"/>
                </a:solidFill>
              </a:rPr>
              <a:t>DS 30</a:t>
            </a:r>
            <a:endParaRPr lang="en-US" sz="2000" dirty="0"/>
          </a:p>
        </p:txBody>
      </p:sp>
      <p:sp>
        <p:nvSpPr>
          <p:cNvPr id="6" name="Icon-Kreis"/>
          <p:cNvSpPr/>
          <p:nvPr/>
        </p:nvSpPr>
        <p:spPr>
          <a:xfrm>
            <a:off x="4480560" y="1325880"/>
            <a:ext cx="777240" cy="777240"/>
          </a:xfrm>
          <a:prstGeom prst="ellipse">
            <a:avLst/>
          </a:prstGeom>
          <a:solidFill>
            <a:schemeClr val="bg1"/>
          </a:solidFill>
          <a:ln/>
        </p:spPr>
      </p:sp>
      <p:pic>
        <p:nvPicPr>
          <p:cNvPr id="7" name="Icon GiHourglass" descr="preencoded.png">    </p:cNvPr>
          <p:cNvPicPr>
            <a:picLocks noChangeAspect="1"/>
          </p:cNvPicPr>
          <p:nvPr/>
        </p:nvPicPr>
        <p:blipFill>
          <a:blip r:embed="rId2"/>
          <a:stretch>
            <a:fillRect/>
          </a:stretch>
        </p:blipFill>
        <p:spPr>
          <a:xfrm>
            <a:off x="4651553" y="1496873"/>
            <a:ext cx="435254" cy="435254"/>
          </a:xfrm>
          <a:prstGeom prst="rect">
            <a:avLst/>
          </a:prstGeom>
        </p:spPr>
      </p:pic>
      <p:sp>
        <p:nvSpPr>
          <p:cNvPr id="8" name="Text 4"/>
          <p:cNvSpPr txBox="1"/>
          <p:nvPr/>
        </p:nvSpPr>
        <p:spPr>
          <a:xfrm>
            <a:off x="5486400" y="128016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60 Minuten · 24 BE</a:t>
            </a:r>
            <a:endParaRPr lang="en-US" sz="1800" dirty="0"/>
          </a:p>
          <a:p>
            <a:pPr indent="0" marL="0">
              <a:buNone/>
            </a:pPr>
            <a:r>
              <a:rPr lang="en-US" sz="1800" dirty="0">
                <a:solidFill>
                  <a:schemeClr val="bg1"/>
                </a:solidFill>
              </a:rPr>
              <a:t>Zeitbudget wie im Abi: ≈ 2,5 min pro BE</a:t>
            </a:r>
            <a:endParaRPr lang="en-US" sz="1800" dirty="0"/>
          </a:p>
        </p:txBody>
      </p:sp>
      <p:sp>
        <p:nvSpPr>
          <p:cNvPr id="9" name="Icon-Kreis"/>
          <p:cNvSpPr/>
          <p:nvPr/>
        </p:nvSpPr>
        <p:spPr>
          <a:xfrm>
            <a:off x="4480560" y="2331720"/>
            <a:ext cx="777240" cy="777240"/>
          </a:xfrm>
          <a:prstGeom prst="ellipse">
            <a:avLst/>
          </a:prstGeom>
          <a:solidFill>
            <a:schemeClr val="bg1"/>
          </a:solidFill>
          <a:ln/>
        </p:spPr>
      </p:sp>
      <p:pic>
        <p:nvPicPr>
          <p:cNvPr id="10" name="Icon GiQuillInk" descr="preencoded.png">    </p:cNvPr>
          <p:cNvPicPr>
            <a:picLocks noChangeAspect="1"/>
          </p:cNvPicPr>
          <p:nvPr/>
        </p:nvPicPr>
        <p:blipFill>
          <a:blip r:embed="rId3"/>
          <a:stretch>
            <a:fillRect/>
          </a:stretch>
        </p:blipFill>
        <p:spPr>
          <a:xfrm>
            <a:off x="4651553" y="2502713"/>
            <a:ext cx="435254" cy="435254"/>
          </a:xfrm>
          <a:prstGeom prst="rect">
            <a:avLst/>
          </a:prstGeom>
        </p:spPr>
      </p:pic>
      <p:sp>
        <p:nvSpPr>
          <p:cNvPr id="11" name="Text 6"/>
          <p:cNvSpPr txBox="1"/>
          <p:nvPr/>
        </p:nvSpPr>
        <p:spPr>
          <a:xfrm>
            <a:off x="5486400" y="228600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Papier, ohne Gerät</a:t>
            </a:r>
            <a:endParaRPr lang="en-US" sz="1800" dirty="0"/>
          </a:p>
          <a:p>
            <a:pPr indent="0" marL="0">
              <a:buNone/>
            </a:pPr>
            <a:r>
              <a:rPr lang="en-US" sz="1800" dirty="0">
                <a:solidFill>
                  <a:schemeClr val="bg1"/>
                </a:solidFill>
              </a:rPr>
              <a:t>Werkzeugkarten · ADT-Schnittstellen liegen als Hilfsmittel bei</a:t>
            </a:r>
            <a:endParaRPr lang="en-US" sz="1800" dirty="0"/>
          </a:p>
        </p:txBody>
      </p:sp>
      <p:sp>
        <p:nvSpPr>
          <p:cNvPr id="12" name="Icon-Kreis"/>
          <p:cNvSpPr/>
          <p:nvPr/>
        </p:nvSpPr>
        <p:spPr>
          <a:xfrm>
            <a:off x="4480560" y="3337560"/>
            <a:ext cx="777240" cy="777240"/>
          </a:xfrm>
          <a:prstGeom prst="ellipse">
            <a:avLst/>
          </a:prstGeom>
          <a:solidFill>
            <a:schemeClr val="bg1"/>
          </a:solidFill>
          <a:ln/>
        </p:spPr>
      </p:sp>
      <p:pic>
        <p:nvPicPr>
          <p:cNvPr id="13" name="Icon GiSailboat" descr="preencoded.png">    </p:cNvPr>
          <p:cNvPicPr>
            <a:picLocks noChangeAspect="1"/>
          </p:cNvPicPr>
          <p:nvPr/>
        </p:nvPicPr>
        <p:blipFill>
          <a:blip r:embed="rId4"/>
          <a:stretch>
            <a:fillRect/>
          </a:stretch>
        </p:blipFill>
        <p:spPr>
          <a:xfrm>
            <a:off x="4651553" y="3508553"/>
            <a:ext cx="435254" cy="435254"/>
          </a:xfrm>
          <a:prstGeom prst="rect">
            <a:avLst/>
          </a:prstGeom>
        </p:spPr>
      </p:pic>
      <p:sp>
        <p:nvSpPr>
          <p:cNvPr id="14" name="Text 8"/>
          <p:cNvSpPr txBox="1"/>
          <p:nvPr/>
        </p:nvSpPr>
        <p:spPr>
          <a:xfrm>
            <a:off x="5486400" y="329184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Neuer Kontext</a:t>
            </a:r>
            <a:endParaRPr lang="en-US" sz="1800" dirty="0"/>
          </a:p>
          <a:p>
            <a:pPr indent="0" marL="0">
              <a:buNone/>
            </a:pPr>
            <a:r>
              <a:rPr lang="en-US" sz="1800" dirty="0">
                <a:solidFill>
                  <a:schemeClr val="bg1"/>
                </a:solidFill>
              </a:rPr>
              <a:t>im Nebel vor der Hafenstadt: Stapel, Schlange und dynamische Reihung</a:t>
            </a:r>
            <a:endParaRPr lang="en-US" sz="1800" dirty="0"/>
          </a:p>
        </p:txBody>
      </p:sp>
      <p:sp>
        <p:nvSpPr>
          <p:cNvPr id="15" name="Icon-Kreis"/>
          <p:cNvSpPr/>
          <p:nvPr/>
        </p:nvSpPr>
        <p:spPr>
          <a:xfrm>
            <a:off x="4480560" y="4343400"/>
            <a:ext cx="777240" cy="777240"/>
          </a:xfrm>
          <a:prstGeom prst="ellipse">
            <a:avLst/>
          </a:prstGeom>
          <a:solidFill>
            <a:schemeClr val="bg1"/>
          </a:solidFill>
          <a:ln/>
        </p:spPr>
      </p:sp>
      <p:pic>
        <p:nvPicPr>
          <p:cNvPr id="16" name="Icon GiCrossedSwords" descr="preencoded.png">    </p:cNvPr>
          <p:cNvPicPr>
            <a:picLocks noChangeAspect="1"/>
          </p:cNvPicPr>
          <p:nvPr/>
        </p:nvPicPr>
        <p:blipFill>
          <a:blip r:embed="rId5"/>
          <a:stretch>
            <a:fillRect/>
          </a:stretch>
        </p:blipFill>
        <p:spPr>
          <a:xfrm>
            <a:off x="4651553" y="4514393"/>
            <a:ext cx="435254" cy="435254"/>
          </a:xfrm>
          <a:prstGeom prst="rect">
            <a:avLst/>
          </a:prstGeom>
        </p:spPr>
      </p:pic>
      <p:sp>
        <p:nvSpPr>
          <p:cNvPr id="17" name="Text 10"/>
          <p:cNvSpPr txBox="1"/>
          <p:nvPr/>
        </p:nvSpPr>
        <p:spPr>
          <a:xfrm>
            <a:off x="5486400" y="429768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Danach</a:t>
            </a:r>
            <a:endParaRPr lang="en-US" sz="1800" dirty="0"/>
          </a:p>
          <a:p>
            <a:pPr indent="0" marL="0">
              <a:buNone/>
            </a:pPr>
            <a:r>
              <a:rPr lang="en-US" sz="1800" dirty="0">
                <a:solidFill>
                  <a:schemeClr val="bg1"/>
                </a:solidFill>
              </a:rPr>
              <a:t>Papier-Compiler in der IDE · zusätzlich im Lab: Online-Boss „Die Postkutschenstation“</a:t>
            </a:r>
            <a:endParaRPr lang="en-US" sz="1800" dirty="0"/>
          </a:p>
        </p:txBody>
      </p:sp>
      <p:sp>
        <p:nvSpPr>
          <p:cNvPr id="18" name="Text 11"/>
          <p:cNvSpPr txBox="1"/>
          <p:nvPr/>
        </p:nvSpPr>
        <p:spPr>
          <a:xfrm>
            <a:off x="4480560" y="5440680"/>
            <a:ext cx="7132320" cy="731520"/>
          </a:xfrm>
          <a:prstGeom prst="rect">
            <a:avLst/>
          </a:prstGeom>
          <a:noFill/>
          <a:ln/>
        </p:spPr>
        <p:txBody>
          <a:bodyPr wrap="square" lIns="0" tIns="0" rIns="0" bIns="0" rtlCol="0" anchor="ctr"/>
          <a:lstStyle/>
          <a:p>
            <a:pPr indent="0" marL="0">
              <a:buNone/>
            </a:pPr>
            <a:r>
              <a:rPr lang="en-US" sz="1800" b="1" dirty="0">
                <a:solidFill>
                  <a:schemeClr val="accent2"/>
                </a:solidFill>
              </a:rPr>
              <a:t>Vorbereitung: </a:t>
            </a:r>
            <a:pPr indent="0" marL="0">
              <a:buNone/>
            </a:pPr>
            <a:r>
              <a:rPr lang="en-US" sz="1800" dirty="0">
                <a:solidFill>
                  <a:schemeClr val="bg1"/>
                </a:solidFill>
              </a:rPr>
              <a:t>Warm-up-Karten W4-01 bis W4-14 · Abi-Check „Leer? Index?“ · Casts mitschreiben</a:t>
            </a:r>
            <a:endParaRPr lang="en-US" sz="1800" dirty="0"/>
          </a:p>
        </p:txBody>
      </p:sp>
      <p:sp>
        <p:nvSpPr>
          <p:cNvPr id="19" name="Text 12"/>
          <p:cNvSpPr txBox="1"/>
          <p:nvPr/>
        </p:nvSpPr>
        <p:spPr>
          <a:xfrm>
            <a:off x="8412480" y="6419088"/>
            <a:ext cx="2560320" cy="274320"/>
          </a:xfrm>
          <a:prstGeom prst="rect">
            <a:avLst/>
          </a:prstGeom>
          <a:noFill/>
          <a:ln/>
        </p:spPr>
        <p:txBody>
          <a:bodyPr wrap="square" lIns="0" tIns="0" rIns="0" bIns="0" rtlCol="0" anchor="t"/>
          <a:lstStyle/>
          <a:p>
            <a:pPr algn="r" indent="0" marL="0">
              <a:buNone/>
            </a:pPr>
            <a:r>
              <a:rPr lang="en-US" sz="1100" b="1" dirty="0">
                <a:solidFill>
                  <a:schemeClr val="accent2"/>
                </a:solidFill>
              </a:rPr>
              <a:t>DS 30 · Boss 4</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Algo Quest">
  <a:themeElements>
    <a:clrScheme name="Algo Quest">
      <a:dk1>
        <a:srgbClr val="1A1A1A"/>
      </a:dk1>
      <a:lt1>
        <a:srgbClr val="FFFFFF"/>
      </a:lt1>
      <a:dk2>
        <a:srgbClr val="1F4E79"/>
      </a:dk2>
      <a:lt2>
        <a:srgbClr val="DBE7F5"/>
      </a:lt2>
      <a:accent1>
        <a:srgbClr val="1F4E79"/>
      </a:accent1>
      <a:accent2>
        <a:srgbClr val="B8860B"/>
      </a:accent2>
      <a:accent3>
        <a:srgbClr val="548235"/>
      </a:accent3>
      <a:accent4>
        <a:srgbClr val="C00000"/>
      </a:accent4>
      <a:accent5>
        <a:srgbClr val="F0F0F0"/>
      </a:accent5>
      <a:accent6>
        <a:srgbClr val="2E75B6"/>
      </a:accent6>
      <a:hlink>
        <a:srgbClr val="2E75B6"/>
      </a:hlink>
      <a:folHlink>
        <a:srgbClr val="7030A0"/>
      </a:folHlink>
    </a:clrScheme>
    <a:fontScheme name="Algo Ques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Max-Planck-Gymnasium Delmenhorst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 Quest – Welt 4: Der Hafen</dc:title>
  <dc:subject>PptxGenJS Presentation</dc:subject>
  <dc:creator>Frank Juchim</dc:creator>
  <cp:lastModifiedBy>Frank Juchim</cp:lastModifiedBy>
  <cp:revision>1</cp:revision>
  <dcterms:created xsi:type="dcterms:W3CDTF">2026-10-08T18:31:19Z</dcterms:created>
  <dcterms:modified xsi:type="dcterms:W3CDTF">2026-10-08T18:31:19Z</dcterms:modified>
</cp:coreProperties>
</file>