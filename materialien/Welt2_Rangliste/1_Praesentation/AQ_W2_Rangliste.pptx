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b42caa1c-498a-7151-a9bb-993f9e375bcd}">
          <p14:sldIdLst>
            <p14:sldId id="256"/>
            <p14:sldId id="257"/>
          </p14:sldIdLst>
        </p14:section>
        <p14:section name="Standardbausteine" id="{0458d478-20fe-738d-99d5-f2be09bcb0cb}">
          <p14:sldIdLst>
            <p14:sldId id="258"/>
            <p14:sldId id="259"/>
            <p14:sldId id="260"/>
            <p14:sldId id="261"/>
            <p14:sldId id="262"/>
            <p14:sldId id="263"/>
          </p14:sldIdLst>
        </p14:section>
        <p14:section name="Sortieren" id="{05a5b0c3-eb9e-ce8d-4aea-2fd527b5c7d5}">
          <p14:sldIdLst>
            <p14:sldId id="264"/>
            <p14:sldId id="265"/>
            <p14:sldId id="266"/>
            <p14:sldId id="267"/>
            <p14:sldId id="268"/>
            <p14:sldId id="269"/>
          </p14:sldIdLst>
        </p14:section>
        <p14:section name="Effizienz" id="{028a6013-489a-8256-8ef7-058137a8e4ab}">
          <p14:sldIdLst>
            <p14:sldId id="270"/>
            <p14:sldId id="271"/>
            <p14:sldId id="272"/>
            <p14:sldId id="273"/>
          </p14:sldIdLst>
        </p14:section>
        <p14:section name="Binäre Suche" id="{07c4e4f9-6756-c980-1ccb-5e6e0e31eab4}">
          <p14:sldIdLst>
            <p14:sldId id="274"/>
            <p14:sldId id="275"/>
            <p14:sldId id="276"/>
            <p14:sldId id="277"/>
          </p14:sldIdLst>
        </p14:section>
        <p14:section name="Abi-Training" id="{d8df171b-3f88-2585-125e-1d19cd39790f}">
          <p14:sldIdLst>
            <p14:sldId id="278"/>
          </p14:sldIdLst>
        </p14:section>
        <p14:section name="Boss 2" id="{c071ef67-83f8-a297-9f2f-385045ce70d7}">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4E79"/>
                </a:solidFill>
                <a:latin typeface="+mn-lt"/>
              </a:defRPr>
            </a:pPr>
            <a:r>
              <a:rPr sz="1500" b="0" i="0" u="none" strike="noStrike">
                <a:solidFill>
                  <a:srgbClr val="1F4E79"/>
                </a:solidFill>
                <a:latin typeface="+mn-lt"/>
              </a:rPr>
              <a:t>Vergleiche (gemessen im Sortier-Duell-Gerüst)</a:t>
            </a:r>
          </a:p>
        </c:rich>
      </c:tx>
      <c:layout/>
      <c:overlay val="0"/>
    </c:title>
    <c:autoTitleDeleted val="0"/>
    <c:plotArea>
      <c:layout/>
      <c:barChart>
        <c:barDir val="col"/>
        <c:grouping val="clustered"/>
        <c:varyColors val="0"/>
        <c:ser>
          <c:idx val="0"/>
          <c:order val="0"/>
          <c:tx>
            <c:strRef>
              <c:f>Sheet1!$B$1</c:f>
              <c:strCache>
                <c:ptCount val="1"/>
                <c:pt idx="0">
                  <c:v>Insertionsort, umgekehrt (schlechtester Fall)</c:v>
                </c:pt>
              </c:strCache>
            </c:strRef>
          </c:tx>
          <c:spPr>
            <a:solidFill>
              <a:srgbClr val="1F4E79"/>
            </a:solidFill>
            <a:effectLst/>
          </c:spPr>
          <c:invertIfNegative val="0"/>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n = 20</c:v>
                  </c:pt>
                  <c:pt idx="1">
                    <c:v>n = 40</c:v>
                  </c:pt>
                  <c:pt idx="2">
                    <c:v>n = 80</c:v>
                  </c:pt>
                  <c:pt idx="3">
                    <c:v>n = 160</c:v>
                  </c:pt>
                </c:lvl>
              </c:multiLvlStrCache>
            </c:multiLvlStrRef>
          </c:cat>
          <c:val>
            <c:numRef>
              <c:f>Sheet1!$B$2:$B$5</c:f>
              <c:numCache>
                <c:formatCode>General</c:formatCode>
                <c:ptCount val="4"/>
                <c:pt idx="0">
                  <c:v>190</c:v>
                </c:pt>
                <c:pt idx="1">
                  <c:v>780</c:v>
                </c:pt>
                <c:pt idx="2">
                  <c:v>3160</c:v>
                </c:pt>
                <c:pt idx="3">
                  <c:v>12720</c:v>
                </c:pt>
              </c:numCache>
            </c:numRef>
          </c:val>
        </c:ser>
        <c:ser>
          <c:idx val="1"/>
          <c:order val="1"/>
          <c:tx>
            <c:strRef>
              <c:f>Sheet1!$C$1</c:f>
              <c:strCache>
                <c:ptCount val="1"/>
                <c:pt idx="0">
                  <c:v>Insertionsort, zufällige Daten</c:v>
                </c:pt>
              </c:strCache>
            </c:strRef>
          </c:tx>
          <c:spPr>
            <a:solidFill>
              <a:srgbClr val="B8860B"/>
            </a:solidFill>
            <a:effectLst/>
          </c:spPr>
          <c:invertIfNegative val="0"/>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n = 20</c:v>
                  </c:pt>
                  <c:pt idx="1">
                    <c:v>n = 40</c:v>
                  </c:pt>
                  <c:pt idx="2">
                    <c:v>n = 80</c:v>
                  </c:pt>
                  <c:pt idx="3">
                    <c:v>n = 160</c:v>
                  </c:pt>
                </c:lvl>
              </c:multiLvlStrCache>
            </c:multiLvlStrRef>
          </c:cat>
          <c:val>
            <c:numRef>
              <c:f>Sheet1!$C$2:$C$5</c:f>
              <c:numCache>
                <c:formatCode>General</c:formatCode>
                <c:ptCount val="4"/>
                <c:pt idx="0">
                  <c:v>108</c:v>
                </c:pt>
                <c:pt idx="1">
                  <c:v>391</c:v>
                </c:pt>
                <c:pt idx="2">
                  <c:v>1629</c:v>
                </c:pt>
                <c:pt idx="3">
                  <c:v>6544</c:v>
                </c:pt>
              </c:numCache>
            </c:numRef>
          </c:val>
        </c:ser>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400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in Welt 2 (ca. 1 min): Unser Dungeon-Spiel bekommt eine Highscore-Liste. Damit sie funktioniert, müssen wir Einträge finden, zählen und sortieren – und zwar möglichst sparsam. Fachlich: Standardbausteine auf Reihungen von Objekten, drei Sortierverfahren, Effizienz durch Zählen und die binäre Suche. Die Präsentation begleitet DS 13 bis 17; je Stunde nur die passenden Folien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Überblick über Welt 2 (ca. 2 min): Drei IDE-Level mit Basis-, Erweiterungs- und Experten-Tests (alle in einer Gerüstdatei, Testklassen L21StandardTest, L22SortierTest, L23SucheTest), dazwischen in DS 15 das Sortier-Duell der Teams mit eigenem Gerüst. In DS 17 folgt Boss 2 auf Papier. Im Algo Quest Lab gibt es dazu die Lab-Level 2.1 bis 2.4 (Lab-Level 2.4 gehört zum IDE-Level 2.3, binäre Suche), den Trainingsplatz und den Online-Boss „Das Wettfischen am Drachensee“; Punkte vergibt nur das Lab. Wichtig für die Erwartung: Effizienz wird im Abitur durch Zählen geprüft – Vergleiche, schlechteste Eingaben, Verdopplung –, nicht mit O-Notation.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Domäne von Welt 2 (ca. 4 min): Eintrag ist komplett vorgegeben – in Welt 2 geht es um Algorithmen, nicht um Klassenbau. Die Rangliste verwaltet eine Reihung von Einträgen mit anzahl wie das Inventar aus Welt 1; hinzufuegen entspricht aufnehmen. Neu sind die Zähler: Die private Methode besser(a, b) zählt jeden Vergleich, vertausche(i, j) jede Vertauschung. Ab dem Sortieren gilt: Einträge nur über besser vergleichen, nur mit vertausche tauschen – sonst stimmen die Zähler in den Tests nicht. Klassenkarte nach EH §6: + und −, c für den Konstruktor, … für Weggelassenes.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Maximum-Baustein, DS 13 (ca. 5 min): Code und Struktogramm nebeneinander lesen – die Leerabfrage steht ganz oben, dann Start mit dem ersten Eintrag und Schleife ab Index 1. Für die Beispielliste 50, 80, 30, 90, 70 liefert hoechstePunktzahl 90, besterEintrag den Eintrag mit 90 Punkten. Typischer Fehler aus dem Warm-up: max mit 0 initialisiert – bei lauter negativen Punkten käme 0 heraus. Bei besterEintrag entscheidet &gt; gegen &gt;= darüber, ob bei Gleichstand der erste oder der letzte geliefert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Zähl-Baustein und Durchschnitt, DS 13 (ca. 4 min): Zählen braucht keine Leerabfrage – bei leerer Liste liefert die Schleife einfach 0. Beim Durchschnitt dagegen schon, sonst Division durch 0. Häufiger Fehler: return summe / anzahl ohne Cast – dann wird ganzzahlig geteilt und erst danach in eine Kommazahl umgewandelt. Beispielwerte sind mit der Musterlösung ausgeführt: anzahlUeber(60) = 3, durchschnitt() = 64.0.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Lineare Suche, DS 13 (ca. 4 min): Erstes Vorkommen, sofort zurückgeben; erst wenn die Schleife ohne Treffer durchgelaufen ist, steht fest, dass es den Namen nicht gibt – darum −1 hinter der Schleife. Klassischer Fehler: if (…) return i; else return −1; innerhalb der Schleife. Im schlechtesten Fall (Name fehlt) werden alle anzahl Einträge geprüft – das greifen wir bei der binären Suche in DS 16 wieder auf. Zu equals: In der Online-IDE vergleicht == Zeichenketten inhaltlich, im Abitur wird trotzdem equals verlangt.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Duplikate, DS 13 (ca. 4 min): Geschachtelte Schleife „jeder mit jedem“. Wenn die innere Schleife bei 0 beginnt, meldet die Methode immer true, weil jeder Eintrag mit sich selbst übereinstimmt – das ist der häufigste Fehler. Die Matrix zeigt, welche Paare verglichen werden: nur oberhalb der Diagonalen, bei 5 Einträgen 4 + 3 + 2 + 1 = 10. Diese Summe kommt in DS 15 als n(n−1)/2 wieder – hier nur andeuten.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Abi-Check zu den Bausteinen (ca. 3 min): Vier Fehler, die in Warm-up, Boss und Abitur immer wieder Punkte kosten. Erst nur die rote Spalte zeigen und die Teams den Fehler benennen lassen. Leerabfrage und Indexgrenzen sind die klassischen Abi-Fallen. Beim Vergleich von Zeichenketten gilt im Abitur ausschließlich equals – auch wenn die Online-IDE == inhaltlich auswertet.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Unplugged-Einstieg DS 14 (ca. 12 min): Pro Team ein Satz von fünf Spielkarten mit Punktzahlen (z. B. 50, 80, 30, 90, 70). Die Karten liegen verdeckt – so wird klar, dass ein Computer nur durch Vergleiche Informationen bekommt. Rollen: Schiedsrichter, Tauscher, Stratege; die vierte Person führt die Strichliste. Strategie-Karten: „Auswahl“ (Selectionsort: das Beste suchen und nach vorn), „Einfügen“ (Insertionsort: wie Karten auf der Hand einsortieren), „Blasen“ (Bubblesort: nur Nachbarn vergleichen). Nach zwei Runden die Strichlisten an der Tafel sammeln – sie werden auf den nächsten Folien mit den Zählungen der Musterlösung verglichen.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Selectionsort, DS 14 (ca. 6 min): Zustände nach jedem Durchlauf der äußeren Schleife – genau das Format der Tracetabelle im Abitur. Gezählt: V = Aufrufe von besser, T = Aufrufe von vertausche, jeweils kumuliert (mit der Musterlösung ausgeführt). In den Durchläufen i = 1 und i = 3 steht das Maximum schon an Position i, deshalb wird nicht getauscht. Nach i = 3 ist auch der letzte Eintrag automatisch richtig. Kernaussage: Die Zahl der Vergleiche hängt nicht von den Daten ab, die der Vertauschungen schon. Selectionsort ist nicht stabil (Thema auf dem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Insertionsort, DS 14 (ca. 6 min): Der sortierte Bereich links ist hier nicht endgültig – spätere Einträge können sich noch davorschieben (90 in i = 3). Gold markiert, wo der eingefügte Eintrag landet. Zählung aus der Musterlösung: 8 Vergleiche, 6 Vertauschungen. Wichtig im Code: j &gt; 0 muss vor besser(…) stehen (Kurzschlussauswertung von &amp;&amp;), sonst wird eintraege[−1] angefasst. Weil nur bei „echt besser“ getauscht wird, ist das Verfahren stabil.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Bubblesort, DS 14 (ca. 6 min): Nach jedem Durchlauf steht der schlechteste Eintrag des Rests ganz hinten, deshalb wird die innere Schleife jedes Mal um 1 kürzer (4, 3, 2, 1 Vergleiche). Lauf 4 vertauscht nichts mehr, getauscht bleibt false – das Verfahren bricht ab. Zählung aus der Musterlösung: 10 Vergleiche, 6 Vertauschungen. Auffällig: genauso viele Vertauschungen wie Insertionsort – beide beseitigen mit jedem Nachbartausch genau einen Fehlstand (hier 6 Paare in falscher Reihenfolge).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Vergleich und Sicherung DS 14 (ca. 5 min): Die Strichlisten aus dem Karten-Turnier neben die Tabelle legen. Alle Zahlen sind mit der Musterlösung (besser/vertausche-Zähler) für n = 5 ausgeführt. Begriff „stabil“: Gleich gute Einträge behalten ihre Reihenfolge – Selectionsort kann durch den weiten Tausch einen gleich guten Eintrag überspringen. Überleitung zu DS 15: Was passiert, wenn die Liste nicht 5, sondern 40 oder 80 Einträge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Sortiertes Einfügen, DS 14 Experte / Boss-relevant (ca. 5 min): Voraussetzung ist eine absteigend sortierte Liste. Von hinten wird jeder schlechtere Eintrag eine Stelle nach rechts kopiert, bis die Lücke an der richtigen Stelle ist – kein vertausche, deshalb 0 Vertauschungen (Musterlösung ausgeführt: 3 Vergleiche). Der Eintrag an Index 5 wird beim ersten Schieben überschrieben, deshalb muss vorher feststehen, dass die Reihung nicht voll ist. Stabil: Ein neuer Eintrag mit 70 Punkten landet hinter dem vorhandenen 70er, weil bei Gleichstand nicht weitergeschoben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Vergleiche zählen, DS 15 (ca. 8 min): An der Tafel herleiten. Durchlauf i vergleicht n − 1 − i Einträge, zusammen (n − 1) + … + 1. Das Bild: Die blaue Treppe zweimal genommen ergibt ein Rechteck mit (n − 1) Zeilen und n Spalten, also ist die Treppe n(n − 1)/2 (Gauß). Werte sind mit der Musterlösung gezählt (n = 5: 10, n = 40: 780, n = 100: 4950). Bester/schlechtester Fall: Bei Selectionsort gibt es keinen Unterschied bei den Vergleichen. Bei Insertion- und Bubblesort ist für unsere absteigende Rangliste eine aufsteigend sortierte Eingabe der schlechteste Fall – in der Tabelle „umgekehrt“ genannt. Im Abitur wird genau das verlangt: Eingabe angeben und Anzahl bestimmen.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Verdopplung, DS 15 (ca. 6 min): Alle Werte sind echte Zählerstände aus dem Sortier-Duell-Gerüst (Vis-Klasse, feste Datensätze „umgekehrt“, „zufall“, „sortiert“), nachgemessen mit der Musterlösung. Im schlechtesten Fall gilt exakt n(n − 1)/2: 780 → 3160 ist Faktor 4,05. Bei zufälligen Daten braucht Insertionsort etwa halb so viele Vergleiche, wächst aber genauso quadratisch. Im besten Fall (sortiert) sind es nur n − 1 Vergleiche – dann verdoppelt sich die Arbeit nur. Rechnung für die Begründung: 2n(2n − 1)/2 = n(2n − 1), also etwa 4 · n(n − 1)/2.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Sortier-Duell, DS 15 (Regeln ca. 4 min, Duell ca. 40 min): Gerüst AQ_W2_SortierDuell_Geruest.txt. Die Mini-Diagramme zeigen die echten Startdaten der vier Runden (Pseudozufall mit festem Startwert, kein Math.random). Erst Training 1 und 2 (Selection- und Insertionsort mit Vis.kleiner/Vis.vertausche), dann Messen auf allen vier Runden, dann das eigene duellSort. Das unveränderte Gerüst (duellSort ruft insertionSort) erzielt 1612 Vergleiche – das ist die Marke, die es zu schlagen gilt. Referenzwerte für die Lehrkraft (Summe Vergleiche/Vertauschungen, nachgemessen): bubbleSort 3120/1501, bubbleSort mit Abbruch 2806/1501, selectionSort 3120/88, insertionSort 1612/1501, Quicksort 1632/173, Musterlösung binäres Einfügen 639/1501, mit Vorab-Test 663/1501. Unter 600 nur mit adaptiven Ideen – unbedingt vorstellen lassen. Laufzeit zählt bewusst nicht, weil sie vom Tempo-Regler abhängt.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Duell auswerten (ca. 3 min, am Ende von DS 15): Die Tabelle an die Tafel übernehmen oder am Beamer ausfüllen. Jedes Team meldet genau eine Ergebniszeile (Vergleiche, Vertauschungen, gültig). Wertung: Summe der Vergleiche, weniger ist besser, bei Gleichstand entscheiden die Vertauschungen. Ungültige Ergebnisse (z. B. Kontrollrunde nicht sortiert oder Vis.wert benutzt) bleiben mit Kommentar stehen, zählen aber nicht. Das Duell ist ein Unterrichtsspiel ohne Lab-Wertung; die Punkte zum Thema Effizienz gibt es automatisch im Lab-Level 2.3 „Das Sortier-Duell – Effizienz durch Zählen“. Siegerlösung kurz vorstellen lassen: Warum braucht sie weniger Vergleiche?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Binäre Suche, DS 16 (ca. 5 min): Einstieg mit Zahlenraten zwischen 1 und 100 – wer immer die Mitte tippt, braucht höchstens 7 Versuche. Dann den Code aus IDE-Level 2.3 lesen: lo und hi begrenzen den Bereich, in dem x noch stehen kann; mid ist die ganzzahlige Mitte, so wie in der Spec festgelegt. Typische Fehler: while (lo &lt; hi) – dann wird ein Bereich aus einem Element nicht mehr geprüft; lo = mid statt mid + 1 – Endlosschleife. Die Reihung der Suche ist aufsteigend sortiert, anders als unsere absteigende Rangliste.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der binären Suche, DS 16 (ca. 8 min): Grau = außerhalb von lo … hi, also bereits ausgeschlossen; Gold = mid. Die Suche nach 67 endet nach 3 Durchläufen mit Index 10, die Suche nach 30 nach 4 Durchläufen mit −1 (beides mit Suche.binaer der Musterlösung ausgeführt). Die Tracetabelle unten ist das Abi-Format: pro Durchlauf eine Zeile mit lo, hi, mid und r[mid]. Erst selbst auf Papier ausfüllen lassen, dann aufdecken. Warm-up-Karten Welt 2 enthalten weitere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Maximale Durchläufe, DS 16 (ca. 6 min): Im schlechtesten Fall bleibt nach jedem Durchlauf höchstens die größere Hälfte übrig: 100, 50, 25, 12, 6, 3, 1 – also 7 Durchläufe. Allgemein höchstens ⌊log₂ n⌋ + 1; den Logarithmus brauchen wir im Abi nicht, die Begründung über das Halbieren bzw. die Zweierpotenzen genügt. Die Tabelle ist mit Suche.binaer der Musterlösung nachgemessen (alle Treffer- und Fehlschlag-Fälle; bei 1 000 000 stichprobenartig): 7, 8, 10, 11, 20. Abi-Formulierung: Bei Verdopplung von n erhöht sich die maximale Anzahl der Durchläufe nur um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gegen binär und Ausblick, DS 16 (ca. 4 min): Die Zahlen links sind die maximalen Durchläufe von Suche.linear und Suche.binaer der Musterlösung (nachgemessen). Der rechte Kasten ist ausdrücklich nur Ausblick: Im niedersächsischen Abitur wird Effizienz nicht über O-Notation geprüft, sondern über Zählen, Worst-Case-Eingaben und Verdopplung. Wer weiterdenken will: O(n log n) begegnet uns in Welt 3 bei Mergesort und Quicksort; das binäre Einfügen aus der Duell-Musterlösung liegt schon in dieser Nähe.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Abi-Format (ca. 15 min inkl. Bearbeitung): Aufgabe zeigen, Musterantwort abdecken, 10 Minuten auf Papier bearbeiten lassen. Erwartungshorizont: Verfahren benennen (1 BE), Funktionsweise mit unsortiertem Rest, Minimum und Tausch erläutern (2 BE), Vergleiche mit Rechenweg bestimmen (2 BE), Verdopplung begründen (1 BE). Zahlen geprüft: Die Methode wurde für 8 und 16 Elemente ausgeführt – 28 und 120 Vergleiche (Faktor ≈ 4,3). Häufige Fehler: „Bubblesort“, weil getauscht wird; Vergleiche als n² = 64 angegeben; vergessen, dass die Anzahl nicht von der Anordnung abhängt. Die Aufgabe ist bewusst nicht aus Boss 2 entnommen.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Boss-Vorschau am Ende von DS 16 (ca. 2 min): Rahmen nennen, keine Aufgaben verraten. Es kommt ein neuer Kontext, in dem Suchen, Sortieren und Zählen aus der Rangliste übertragen werden. 60 Minuten, etwa 24 BE, nur Papier mit den Werkzeugkarten. Direkt danach Papier-Compiler: eine Implementierung wird unverändert in der Online-IDE abgetippt. Zur Vorbereitung die Lab-Level 2.1 bis 2.4, den Trainingsplatz von Welt 2 und den Warm-up-Trainer im Lab (Tracetabellen zu allen drei Verfahren und zur binären Suche) sowie die Abi-Check-Karte nutzen. Zusätzlich gibt es im Lab den Online-Boss „Das Wettfischen am Drachensee“ (25 min, automatische Auswertung, bester Versuch zählt); der Papier-Boss wird von der Lehrkraft oder per Selbst-/Peer-Korrektur nach Erwartungshorizont ausgewertet.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Q Titel">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rtlCol="0"/>
          <a:lstStyle>
            <a:lvl1pPr indent="0" marL="0">
              <a:buNone/>
              <a:defRPr lang="en-US" sz="3000" dirty="0">
                <a:solidFill>
                  <a:schemeClr val="bg2"/>
                </a:solidFill>
              </a:defRPr>
            </a:lvl1pPr>
          </a:lstStyle>
          <a:p>
            <a:pPr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Q 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accent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accent6"/>
                </a:solidFill>
              </a:rPr>
              <a:t>Informatik LK · Algo Quest · Welt 2 – Die Rangliste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Q Dunkel">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t"/>
          <a:lstStyle/>
          <a:p>
            <a:pPr indent="0" marL="0">
              <a:buNone/>
            </a:pPr>
            <a:r>
              <a:rPr lang="en-US" sz="1100" dirty="0">
                <a:solidFill>
                  <a:schemeClr val="bg2"/>
                </a:solidFill>
              </a:rPr>
              <a:t>Informatik LK · Algo Quest · Welt 2 – Die Rangliste</a:t>
            </a:r>
            <a:endParaRPr lang="en-US" sz="11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3.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949440" cy="457200"/>
          </a:xfrm>
          <a:prstGeom prst="rect">
            <a:avLst/>
          </a:prstGeom>
          <a:noFill/>
          <a:ln/>
        </p:spPr>
        <p:txBody>
          <a:bodyPr wrap="square" lIns="0" tIns="0" rIns="0" bIns="0" rtlCol="0" anchor="t"/>
          <a:lstStyle/>
          <a:p>
            <a:pPr indent="0" marL="0">
              <a:buNone/>
            </a:pPr>
            <a:r>
              <a:rPr lang="en-US" sz="1800" b="1" spc="200" kern="0" dirty="0">
                <a:solidFill>
                  <a:schemeClr val="accent2"/>
                </a:solidFill>
              </a:rPr>
              <a:t>INFORMATIK LK · WELT 2 · DS 13–17</a:t>
            </a:r>
            <a:endParaRPr lang="en-US" sz="1800" dirty="0"/>
          </a:p>
        </p:txBody>
      </p:sp>
      <p:sp>
        <p:nvSpPr>
          <p:cNvPr id="3" name="Text 0"/>
          <p:cNvSpPr/>
          <p:nvPr>
            <p:ph idx="101" type="title" hasCustomPrompt="1"/>
          </p:nvPr>
        </p:nvSpPr>
        <p:spPr>
          <a:xfrm>
            <a:off x="731520" y="1920240"/>
            <a:ext cx="7132320" cy="1463040"/>
          </a:xfrm>
          <a:prstGeom prst="rect">
            <a:avLst/>
          </a:prstGeom>
          <a:noFill/>
          <a:ln/>
        </p:spPr>
        <p:txBody>
          <a:bodyPr wrap="square" lIns="0" tIns="0" rIns="0" bIns="0" rtlCol="0" anchor="t"/>
          <a:lstStyle/>
          <a:p>
            <a:pPr algn="l" indent="0" marL="0">
              <a:buNone/>
            </a:pPr>
            <a:r>
              <a:rPr lang="en-US" sz="6000" b="1" dirty="0">
                <a:solidFill>
                  <a:schemeClr val="bg1"/>
                </a:solidFill>
              </a:rPr>
              <a:t>Die Rangliste</a:t>
            </a:r>
            <a:endParaRPr lang="en-US" sz="6000" dirty="0"/>
          </a:p>
        </p:txBody>
      </p:sp>
      <p:sp>
        <p:nvSpPr>
          <p:cNvPr id="4" name="Text 0"/>
          <p:cNvSpPr/>
          <p:nvPr>
            <p:ph idx="102" type="body" hasCustomPrompt="1"/>
          </p:nvPr>
        </p:nvSpPr>
        <p:spPr>
          <a:xfrm>
            <a:off x="731520" y="3429000"/>
            <a:ext cx="6949440" cy="822960"/>
          </a:xfrm>
          <a:prstGeom prst="rect">
            <a:avLst/>
          </a:prstGeom>
          <a:noFill/>
          <a:ln/>
        </p:spPr>
        <p:txBody>
          <a:bodyPr wrap="square" lIns="0" tIns="0" rIns="0" bIns="0" rtlCol="0" anchor="t"/>
          <a:lstStyle/>
          <a:p>
            <a:pPr indent="0" marL="0">
              <a:buNone/>
            </a:pPr>
            <a:r>
              <a:rPr lang="en-US" sz="3000" dirty="0">
                <a:solidFill>
                  <a:schemeClr val="bg2"/>
                </a:solidFill>
              </a:rPr>
              <a:t>Suchen, Sortieren, Effizienz</a:t>
            </a:r>
            <a:endParaRPr lang="en-US" sz="3000" dirty="0"/>
          </a:p>
        </p:txBody>
      </p:sp>
      <p:sp>
        <p:nvSpPr>
          <p:cNvPr id="5" name="Icon-Kreis"/>
          <p:cNvSpPr/>
          <p:nvPr/>
        </p:nvSpPr>
        <p:spPr>
          <a:xfrm>
            <a:off x="8229600" y="1325880"/>
            <a:ext cx="3200400" cy="3200400"/>
          </a:xfrm>
          <a:prstGeom prst="ellipse">
            <a:avLst/>
          </a:prstGeom>
          <a:solidFill>
            <a:schemeClr val="accent1"/>
          </a:solidFill>
          <a:ln w="63500">
            <a:solidFill>
              <a:schemeClr val="accent2"/>
            </a:solidFill>
            <a:prstDash val="solid"/>
          </a:ln>
        </p:spPr>
      </p:sp>
      <p:pic>
        <p:nvPicPr>
          <p:cNvPr id="6" name="Icon GiPodium" descr="preencoded.png">    </p:cNvPr>
          <p:cNvPicPr>
            <a:picLocks noChangeAspect="1"/>
          </p:cNvPicPr>
          <p:nvPr/>
        </p:nvPicPr>
        <p:blipFill>
          <a:blip r:embed="rId1"/>
          <a:stretch>
            <a:fillRect/>
          </a:stretch>
        </p:blipFill>
        <p:spPr>
          <a:xfrm>
            <a:off x="8869680" y="1965960"/>
            <a:ext cx="1920240" cy="1920240"/>
          </a:xfrm>
          <a:prstGeom prst="rect">
            <a:avLst/>
          </a:prstGeom>
        </p:spPr>
      </p:pic>
      <p:sp>
        <p:nvSpPr>
          <p:cNvPr id="7" name="Linie"/>
          <p:cNvSpPr/>
          <p:nvPr/>
        </p:nvSpPr>
        <p:spPr>
          <a:xfrm>
            <a:off x="1600200" y="4983480"/>
            <a:ext cx="365760" cy="91"/>
          </a:xfrm>
          <a:prstGeom prst="line">
            <a:avLst/>
          </a:prstGeom>
          <a:noFill/>
          <a:ln w="31750">
            <a:solidFill>
              <a:schemeClr val="accent2"/>
            </a:solidFill>
            <a:prstDash val="sysDot"/>
          </a:ln>
        </p:spPr>
      </p:sp>
      <p:sp>
        <p:nvSpPr>
          <p:cNvPr id="8" name="Chip"/>
          <p:cNvSpPr txBox="1"/>
          <p:nvPr/>
        </p:nvSpPr>
        <p:spPr>
          <a:xfrm>
            <a:off x="73152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L2.1</a:t>
            </a:r>
            <a:endParaRPr lang="en-US" sz="1500" dirty="0"/>
          </a:p>
        </p:txBody>
      </p:sp>
      <p:sp>
        <p:nvSpPr>
          <p:cNvPr id="9" name="Linie"/>
          <p:cNvSpPr/>
          <p:nvPr/>
        </p:nvSpPr>
        <p:spPr>
          <a:xfrm>
            <a:off x="2834640" y="4983480"/>
            <a:ext cx="365760" cy="91"/>
          </a:xfrm>
          <a:prstGeom prst="line">
            <a:avLst/>
          </a:prstGeom>
          <a:noFill/>
          <a:ln w="31750">
            <a:solidFill>
              <a:schemeClr val="accent2"/>
            </a:solidFill>
            <a:prstDash val="sysDot"/>
          </a:ln>
        </p:spPr>
      </p:sp>
      <p:sp>
        <p:nvSpPr>
          <p:cNvPr id="10" name="Chip"/>
          <p:cNvSpPr txBox="1"/>
          <p:nvPr/>
        </p:nvSpPr>
        <p:spPr>
          <a:xfrm>
            <a:off x="196596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L2.2</a:t>
            </a:r>
            <a:endParaRPr lang="en-US" sz="1500" dirty="0"/>
          </a:p>
        </p:txBody>
      </p:sp>
      <p:sp>
        <p:nvSpPr>
          <p:cNvPr id="11" name="Linie"/>
          <p:cNvSpPr/>
          <p:nvPr/>
        </p:nvSpPr>
        <p:spPr>
          <a:xfrm>
            <a:off x="4069080" y="4983480"/>
            <a:ext cx="365760" cy="91"/>
          </a:xfrm>
          <a:prstGeom prst="line">
            <a:avLst/>
          </a:prstGeom>
          <a:noFill/>
          <a:ln w="31750">
            <a:solidFill>
              <a:schemeClr val="accent2"/>
            </a:solidFill>
            <a:prstDash val="sysDot"/>
          </a:ln>
        </p:spPr>
      </p:sp>
      <p:sp>
        <p:nvSpPr>
          <p:cNvPr id="12" name="Chip"/>
          <p:cNvSpPr txBox="1"/>
          <p:nvPr/>
        </p:nvSpPr>
        <p:spPr>
          <a:xfrm>
            <a:off x="3200400" y="4773168"/>
            <a:ext cx="868680" cy="420624"/>
          </a:xfrm>
          <a:prstGeom prst="roundRect">
            <a:avLst>
              <a:gd name="adj" fmla="val 50000"/>
            </a:avLst>
          </a:prstGeom>
          <a:solidFill>
            <a:schemeClr val="accent2"/>
          </a:solidFill>
          <a:ln w="15875">
            <a:solidFill>
              <a:schemeClr val="accent2"/>
            </a:solidFill>
          </a:ln>
        </p:spPr>
        <p:txBody>
          <a:bodyPr wrap="square" lIns="0" tIns="0" rIns="0" bIns="0" rtlCol="0" anchor="ctr"/>
          <a:lstStyle/>
          <a:p>
            <a:pPr algn="ctr" indent="0" marL="0">
              <a:buNone/>
            </a:pPr>
            <a:r>
              <a:rPr lang="en-US" sz="1400" b="1" dirty="0">
                <a:solidFill>
                  <a:schemeClr val="bg1"/>
                </a:solidFill>
              </a:rPr>
              <a:t>DUELL</a:t>
            </a:r>
            <a:endParaRPr lang="en-US" sz="1400" dirty="0"/>
          </a:p>
        </p:txBody>
      </p:sp>
      <p:sp>
        <p:nvSpPr>
          <p:cNvPr id="13" name="Linie"/>
          <p:cNvSpPr/>
          <p:nvPr/>
        </p:nvSpPr>
        <p:spPr>
          <a:xfrm>
            <a:off x="5303520" y="4983480"/>
            <a:ext cx="365760" cy="91"/>
          </a:xfrm>
          <a:prstGeom prst="line">
            <a:avLst/>
          </a:prstGeom>
          <a:noFill/>
          <a:ln w="31750">
            <a:solidFill>
              <a:schemeClr val="accent2"/>
            </a:solidFill>
            <a:prstDash val="sysDot"/>
          </a:ln>
        </p:spPr>
      </p:sp>
      <p:sp>
        <p:nvSpPr>
          <p:cNvPr id="14" name="Chip"/>
          <p:cNvSpPr txBox="1"/>
          <p:nvPr/>
        </p:nvSpPr>
        <p:spPr>
          <a:xfrm>
            <a:off x="4434840" y="4773168"/>
            <a:ext cx="868680" cy="420624"/>
          </a:xfrm>
          <a:prstGeom prst="roundRect">
            <a:avLst>
              <a:gd name="adj" fmla="val 50000"/>
            </a:avLst>
          </a:prstGeom>
          <a:solidFill>
            <a:schemeClr val="accent1"/>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L2.3</a:t>
            </a:r>
            <a:endParaRPr lang="en-US" sz="1500" dirty="0"/>
          </a:p>
        </p:txBody>
      </p:sp>
      <p:sp>
        <p:nvSpPr>
          <p:cNvPr id="15" name="Chip"/>
          <p:cNvSpPr txBox="1"/>
          <p:nvPr/>
        </p:nvSpPr>
        <p:spPr>
          <a:xfrm>
            <a:off x="5669280" y="4773168"/>
            <a:ext cx="868680" cy="420624"/>
          </a:xfrm>
          <a:prstGeom prst="roundRect">
            <a:avLst>
              <a:gd name="adj" fmla="val 50000"/>
            </a:avLst>
          </a:prstGeom>
          <a:solidFill>
            <a:schemeClr val="accent4"/>
          </a:solidFill>
          <a:ln w="15875">
            <a:solidFill>
              <a:schemeClr val="accent2"/>
            </a:solidFill>
          </a:ln>
        </p:spPr>
        <p:txBody>
          <a:bodyPr wrap="square" lIns="0" tIns="0" rIns="0" bIns="0" rtlCol="0" anchor="ctr"/>
          <a:lstStyle/>
          <a:p>
            <a:pPr algn="ctr" indent="0" marL="0">
              <a:buNone/>
            </a:pPr>
            <a:r>
              <a:rPr lang="en-US" sz="1500" b="1" dirty="0">
                <a:solidFill>
                  <a:schemeClr val="bg1"/>
                </a:solidFill>
              </a:rPr>
              <a:t>BOSS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Welt 2 im Überblick</a:t>
            </a:r>
            <a:endParaRPr lang="en-US" sz="3600" dirty="0"/>
          </a:p>
        </p:txBody>
      </p:sp>
      <p:sp>
        <p:nvSpPr>
          <p:cNvPr id="3" name="IDE-Level 2.1"/>
          <p:cNvSpPr/>
          <p:nvPr/>
        </p:nvSpPr>
        <p:spPr>
          <a:xfrm>
            <a:off x="548640" y="1371600"/>
            <a:ext cx="2103120" cy="4434840"/>
          </a:xfrm>
          <a:prstGeom prst="roundRect">
            <a:avLst>
              <a:gd name="adj" fmla="val 5217"/>
            </a:avLst>
          </a:prstGeom>
          <a:solidFill>
            <a:schemeClr val="bg1"/>
          </a:solidFill>
          <a:ln/>
          <a:effectLst>
            <a:outerShdw sx="100000" sy="100000" kx="0" ky="0" algn="bl" rotWithShape="0" blurRad="76200" dist="25400" dir="5400000">
              <a:srgbClr val="000000">
                <a:alpha val="18000"/>
              </a:srgbClr>
            </a:outerShdw>
          </a:effectLst>
        </p:spPr>
      </p:sp>
      <p:sp>
        <p:nvSpPr>
          <p:cNvPr id="4" name="Icon-Kreis"/>
          <p:cNvSpPr/>
          <p:nvPr/>
        </p:nvSpPr>
        <p:spPr>
          <a:xfrm>
            <a:off x="1097280" y="1600200"/>
            <a:ext cx="1005840" cy="1005840"/>
          </a:xfrm>
          <a:prstGeom prst="ellipse">
            <a:avLst/>
          </a:prstGeom>
          <a:solidFill>
            <a:schemeClr val="accent1"/>
          </a:solidFill>
          <a:ln/>
        </p:spPr>
      </p:sp>
      <p:pic>
        <p:nvPicPr>
          <p:cNvPr id="5" name="Icon GiAbacus" descr="preencoded.png">    </p:cNvPr>
          <p:cNvPicPr>
            <a:picLocks noChangeAspect="1"/>
          </p:cNvPicPr>
          <p:nvPr/>
        </p:nvPicPr>
        <p:blipFill>
          <a:blip r:embed="rId1"/>
          <a:stretch>
            <a:fillRect/>
          </a:stretch>
        </p:blipFill>
        <p:spPr>
          <a:xfrm>
            <a:off x="1318565" y="1821485"/>
            <a:ext cx="563270" cy="563270"/>
          </a:xfrm>
          <a:prstGeom prst="rect">
            <a:avLst/>
          </a:prstGeom>
        </p:spPr>
      </p:pic>
      <p:sp>
        <p:nvSpPr>
          <p:cNvPr id="6" name="Chip"/>
          <p:cNvSpPr txBox="1"/>
          <p:nvPr/>
        </p:nvSpPr>
        <p:spPr>
          <a:xfrm>
            <a:off x="1143000" y="2743200"/>
            <a:ext cx="9144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13</a:t>
            </a:r>
            <a:endParaRPr lang="en-US" sz="1500" dirty="0"/>
          </a:p>
        </p:txBody>
      </p:sp>
      <p:sp>
        <p:nvSpPr>
          <p:cNvPr id="7" name="Text 4"/>
          <p:cNvSpPr txBox="1"/>
          <p:nvPr/>
        </p:nvSpPr>
        <p:spPr>
          <a:xfrm>
            <a:off x="685800" y="3246120"/>
            <a:ext cx="1828800" cy="868680"/>
          </a:xfrm>
          <a:prstGeom prst="rect">
            <a:avLst/>
          </a:prstGeom>
          <a:noFill/>
          <a:ln/>
        </p:spPr>
        <p:txBody>
          <a:bodyPr wrap="square" lIns="0" tIns="0" rIns="0" bIns="0" rtlCol="0" anchor="t"/>
          <a:lstStyle/>
          <a:p>
            <a:pPr algn="ctr" indent="0" marL="0">
              <a:buNone/>
            </a:pPr>
            <a:r>
              <a:rPr lang="en-US" sz="1600" b="1" dirty="0">
                <a:solidFill>
                  <a:schemeClr val="accent6"/>
                </a:solidFill>
              </a:rPr>
              <a:t>IDE-Level 2.1</a:t>
            </a:r>
            <a:endParaRPr lang="en-US" sz="1800" dirty="0"/>
          </a:p>
          <a:p>
            <a:pPr algn="ctr" indent="0" marL="0">
              <a:buNone/>
            </a:pPr>
            <a:r>
              <a:rPr lang="en-US" sz="2100" b="1" dirty="0">
                <a:solidFill>
                  <a:schemeClr val="accent1"/>
                </a:solidFill>
              </a:rPr>
              <a:t>Bausteine</a:t>
            </a:r>
            <a:endParaRPr lang="en-US" sz="1800" dirty="0"/>
          </a:p>
        </p:txBody>
      </p:sp>
      <p:sp>
        <p:nvSpPr>
          <p:cNvPr id="8" name="Text 5"/>
          <p:cNvSpPr txBox="1"/>
          <p:nvPr/>
        </p:nvSpPr>
        <p:spPr>
          <a:xfrm>
            <a:off x="685800" y="4160520"/>
            <a:ext cx="1828800" cy="1005840"/>
          </a:xfrm>
          <a:prstGeom prst="rect">
            <a:avLst/>
          </a:prstGeom>
          <a:noFill/>
          <a:ln/>
        </p:spPr>
        <p:txBody>
          <a:bodyPr wrap="square" lIns="0" tIns="0" rIns="0" bIns="0" rtlCol="0" anchor="t"/>
          <a:lstStyle/>
          <a:p>
            <a:pPr algn="ctr" indent="0" marL="0">
              <a:buNone/>
            </a:pPr>
            <a:r>
              <a:rPr lang="en-US" sz="1600" dirty="0">
                <a:solidFill>
                  <a:schemeClr val="tx1"/>
                </a:solidFill>
              </a:rPr>
              <a:t>Maximum, Zählen, lineare Suche, Duplikate</a:t>
            </a:r>
            <a:endParaRPr lang="en-US" sz="1600" dirty="0"/>
          </a:p>
        </p:txBody>
      </p:sp>
      <p:sp>
        <p:nvSpPr>
          <p:cNvPr id="9" name="Text 6"/>
          <p:cNvSpPr txBox="1"/>
          <p:nvPr/>
        </p:nvSpPr>
        <p:spPr>
          <a:xfrm>
            <a:off x="685800" y="5303520"/>
            <a:ext cx="1828800" cy="320040"/>
          </a:xfrm>
          <a:prstGeom prst="rect">
            <a:avLst/>
          </a:prstGeom>
          <a:noFill/>
          <a:ln/>
        </p:spPr>
        <p:txBody>
          <a:bodyPr wrap="square" lIns="0" tIns="0" rIns="0" bIns="0" rtlCol="0" anchor="t"/>
          <a:lstStyle/>
          <a:p>
            <a:pPr algn="ctr" indent="0" marL="0">
              <a:buNone/>
            </a:pPr>
            <a:r>
              <a:rPr lang="en-US" sz="1500" b="1" dirty="0">
                <a:solidFill>
                  <a:schemeClr val="accent2"/>
                </a:solidFill>
              </a:rPr>
              <a:t>IDE + Lab 2.1</a:t>
            </a:r>
            <a:endParaRPr lang="en-US" sz="1500" dirty="0"/>
          </a:p>
        </p:txBody>
      </p:sp>
      <p:sp>
        <p:nvSpPr>
          <p:cNvPr id="10" name="IDE-Level 2.2"/>
          <p:cNvSpPr/>
          <p:nvPr/>
        </p:nvSpPr>
        <p:spPr>
          <a:xfrm>
            <a:off x="2788920" y="1371600"/>
            <a:ext cx="2103120" cy="4434840"/>
          </a:xfrm>
          <a:prstGeom prst="roundRect">
            <a:avLst>
              <a:gd name="adj" fmla="val 5217"/>
            </a:avLst>
          </a:prstGeom>
          <a:solidFill>
            <a:schemeClr val="bg1"/>
          </a:solidFill>
          <a:ln/>
          <a:effectLst>
            <a:outerShdw sx="100000" sy="100000" kx="0" ky="0" algn="bl" rotWithShape="0" blurRad="76200" dist="25400" dir="5400000">
              <a:srgbClr val="000000">
                <a:alpha val="18000"/>
              </a:srgbClr>
            </a:outerShdw>
          </a:effectLst>
        </p:spPr>
      </p:sp>
      <p:sp>
        <p:nvSpPr>
          <p:cNvPr id="11" name="Icon-Kreis"/>
          <p:cNvSpPr/>
          <p:nvPr/>
        </p:nvSpPr>
        <p:spPr>
          <a:xfrm>
            <a:off x="3337560" y="1600200"/>
            <a:ext cx="1005840" cy="1005840"/>
          </a:xfrm>
          <a:prstGeom prst="ellipse">
            <a:avLst/>
          </a:prstGeom>
          <a:solidFill>
            <a:schemeClr val="accent1"/>
          </a:solidFill>
          <a:ln/>
        </p:spPr>
      </p:sp>
      <p:pic>
        <p:nvPicPr>
          <p:cNvPr id="12" name="Icon GiCardRandom" descr="preencoded.png">    </p:cNvPr>
          <p:cNvPicPr>
            <a:picLocks noChangeAspect="1"/>
          </p:cNvPicPr>
          <p:nvPr/>
        </p:nvPicPr>
        <p:blipFill>
          <a:blip r:embed="rId2"/>
          <a:stretch>
            <a:fillRect/>
          </a:stretch>
        </p:blipFill>
        <p:spPr>
          <a:xfrm>
            <a:off x="3558845" y="1821485"/>
            <a:ext cx="563270" cy="563270"/>
          </a:xfrm>
          <a:prstGeom prst="rect">
            <a:avLst/>
          </a:prstGeom>
        </p:spPr>
      </p:pic>
      <p:sp>
        <p:nvSpPr>
          <p:cNvPr id="13" name="Chip"/>
          <p:cNvSpPr txBox="1"/>
          <p:nvPr/>
        </p:nvSpPr>
        <p:spPr>
          <a:xfrm>
            <a:off x="3383280" y="2743200"/>
            <a:ext cx="9144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14</a:t>
            </a:r>
            <a:endParaRPr lang="en-US" sz="1500" dirty="0"/>
          </a:p>
        </p:txBody>
      </p:sp>
      <p:sp>
        <p:nvSpPr>
          <p:cNvPr id="14" name="Text 10"/>
          <p:cNvSpPr txBox="1"/>
          <p:nvPr/>
        </p:nvSpPr>
        <p:spPr>
          <a:xfrm>
            <a:off x="2926080" y="3246120"/>
            <a:ext cx="1828800" cy="868680"/>
          </a:xfrm>
          <a:prstGeom prst="rect">
            <a:avLst/>
          </a:prstGeom>
          <a:noFill/>
          <a:ln/>
        </p:spPr>
        <p:txBody>
          <a:bodyPr wrap="square" lIns="0" tIns="0" rIns="0" bIns="0" rtlCol="0" anchor="t"/>
          <a:lstStyle/>
          <a:p>
            <a:pPr algn="ctr" indent="0" marL="0">
              <a:buNone/>
            </a:pPr>
            <a:r>
              <a:rPr lang="en-US" sz="1600" b="1" dirty="0">
                <a:solidFill>
                  <a:schemeClr val="accent6"/>
                </a:solidFill>
              </a:rPr>
              <a:t>IDE-Level 2.2</a:t>
            </a:r>
            <a:endParaRPr lang="en-US" sz="1800" dirty="0"/>
          </a:p>
          <a:p>
            <a:pPr algn="ctr" indent="0" marL="0">
              <a:buNone/>
            </a:pPr>
            <a:r>
              <a:rPr lang="en-US" sz="2100" b="1" dirty="0">
                <a:solidFill>
                  <a:schemeClr val="accent1"/>
                </a:solidFill>
              </a:rPr>
              <a:t>Sortieren</a:t>
            </a:r>
            <a:endParaRPr lang="en-US" sz="1800" dirty="0"/>
          </a:p>
        </p:txBody>
      </p:sp>
      <p:sp>
        <p:nvSpPr>
          <p:cNvPr id="15" name="Text 11"/>
          <p:cNvSpPr txBox="1"/>
          <p:nvPr/>
        </p:nvSpPr>
        <p:spPr>
          <a:xfrm>
            <a:off x="2926080" y="4160520"/>
            <a:ext cx="1828800" cy="1005840"/>
          </a:xfrm>
          <a:prstGeom prst="rect">
            <a:avLst/>
          </a:prstGeom>
          <a:noFill/>
          <a:ln/>
        </p:spPr>
        <p:txBody>
          <a:bodyPr wrap="square" lIns="0" tIns="0" rIns="0" bIns="0" rtlCol="0" anchor="t"/>
          <a:lstStyle/>
          <a:p>
            <a:pPr algn="ctr" indent="0" marL="0">
              <a:buNone/>
            </a:pPr>
            <a:r>
              <a:rPr lang="en-US" sz="1600" dirty="0">
                <a:solidFill>
                  <a:schemeClr val="tx1"/>
                </a:solidFill>
              </a:rPr>
              <a:t>Selection-, Insertion-, Bubblesort, sortiert einfügen</a:t>
            </a:r>
            <a:endParaRPr lang="en-US" sz="1600" dirty="0"/>
          </a:p>
        </p:txBody>
      </p:sp>
      <p:sp>
        <p:nvSpPr>
          <p:cNvPr id="16" name="Text 12"/>
          <p:cNvSpPr txBox="1"/>
          <p:nvPr/>
        </p:nvSpPr>
        <p:spPr>
          <a:xfrm>
            <a:off x="2926080" y="5303520"/>
            <a:ext cx="1828800" cy="320040"/>
          </a:xfrm>
          <a:prstGeom prst="rect">
            <a:avLst/>
          </a:prstGeom>
          <a:noFill/>
          <a:ln/>
        </p:spPr>
        <p:txBody>
          <a:bodyPr wrap="square" lIns="0" tIns="0" rIns="0" bIns="0" rtlCol="0" anchor="t"/>
          <a:lstStyle/>
          <a:p>
            <a:pPr algn="ctr" indent="0" marL="0">
              <a:buNone/>
            </a:pPr>
            <a:r>
              <a:rPr lang="en-US" sz="1500" b="1" dirty="0">
                <a:solidFill>
                  <a:schemeClr val="accent2"/>
                </a:solidFill>
              </a:rPr>
              <a:t>IDE + Lab 2.2</a:t>
            </a:r>
            <a:endParaRPr lang="en-US" sz="1500" dirty="0"/>
          </a:p>
        </p:txBody>
      </p:sp>
      <p:sp>
        <p:nvSpPr>
          <p:cNvPr id="17" name="Sortier-Duell"/>
          <p:cNvSpPr/>
          <p:nvPr/>
        </p:nvSpPr>
        <p:spPr>
          <a:xfrm>
            <a:off x="5029200" y="1371600"/>
            <a:ext cx="2103120" cy="4434840"/>
          </a:xfrm>
          <a:prstGeom prst="roundRect">
            <a:avLst>
              <a:gd name="adj" fmla="val 5217"/>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8" name="Icon-Kreis"/>
          <p:cNvSpPr/>
          <p:nvPr/>
        </p:nvSpPr>
        <p:spPr>
          <a:xfrm>
            <a:off x="5577840" y="1600200"/>
            <a:ext cx="1005840" cy="1005840"/>
          </a:xfrm>
          <a:prstGeom prst="ellipse">
            <a:avLst/>
          </a:prstGeom>
          <a:solidFill>
            <a:schemeClr val="accent2"/>
          </a:solidFill>
          <a:ln/>
        </p:spPr>
      </p:sp>
      <p:pic>
        <p:nvPicPr>
          <p:cNvPr id="19" name="Icon GiSprint" descr="preencoded.png">    </p:cNvPr>
          <p:cNvPicPr>
            <a:picLocks noChangeAspect="1"/>
          </p:cNvPicPr>
          <p:nvPr/>
        </p:nvPicPr>
        <p:blipFill>
          <a:blip r:embed="rId3"/>
          <a:stretch>
            <a:fillRect/>
          </a:stretch>
        </p:blipFill>
        <p:spPr>
          <a:xfrm>
            <a:off x="5799125" y="1821485"/>
            <a:ext cx="563270" cy="563270"/>
          </a:xfrm>
          <a:prstGeom prst="rect">
            <a:avLst/>
          </a:prstGeom>
        </p:spPr>
      </p:pic>
      <p:sp>
        <p:nvSpPr>
          <p:cNvPr id="20" name="Chip"/>
          <p:cNvSpPr txBox="1"/>
          <p:nvPr/>
        </p:nvSpPr>
        <p:spPr>
          <a:xfrm>
            <a:off x="5623560" y="2743200"/>
            <a:ext cx="9144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15</a:t>
            </a:r>
            <a:endParaRPr lang="en-US" sz="1500" dirty="0"/>
          </a:p>
        </p:txBody>
      </p:sp>
      <p:sp>
        <p:nvSpPr>
          <p:cNvPr id="21" name="Text 16"/>
          <p:cNvSpPr txBox="1"/>
          <p:nvPr/>
        </p:nvSpPr>
        <p:spPr>
          <a:xfrm>
            <a:off x="5166360" y="3246120"/>
            <a:ext cx="1828800" cy="868680"/>
          </a:xfrm>
          <a:prstGeom prst="rect">
            <a:avLst/>
          </a:prstGeom>
          <a:noFill/>
          <a:ln/>
        </p:spPr>
        <p:txBody>
          <a:bodyPr wrap="square" lIns="0" tIns="0" rIns="0" bIns="0" rtlCol="0" anchor="t"/>
          <a:lstStyle/>
          <a:p>
            <a:pPr algn="ctr" indent="0" marL="0">
              <a:buNone/>
            </a:pPr>
            <a:r>
              <a:rPr lang="en-US" sz="1600" b="1" dirty="0">
                <a:solidFill>
                  <a:schemeClr val="accent6"/>
                </a:solidFill>
              </a:rPr>
              <a:t>Sortier-Duell</a:t>
            </a:r>
            <a:endParaRPr lang="en-US" sz="1800" dirty="0"/>
          </a:p>
          <a:p>
            <a:pPr algn="ctr" indent="0" marL="0">
              <a:buNone/>
            </a:pPr>
            <a:r>
              <a:rPr lang="en-US" sz="2100" b="1" dirty="0">
                <a:solidFill>
                  <a:schemeClr val="accent1"/>
                </a:solidFill>
              </a:rPr>
              <a:t>Effizienz</a:t>
            </a:r>
            <a:endParaRPr lang="en-US" sz="1800" dirty="0"/>
          </a:p>
        </p:txBody>
      </p:sp>
      <p:sp>
        <p:nvSpPr>
          <p:cNvPr id="22" name="Text 17"/>
          <p:cNvSpPr txBox="1"/>
          <p:nvPr/>
        </p:nvSpPr>
        <p:spPr>
          <a:xfrm>
            <a:off x="5166360" y="4160520"/>
            <a:ext cx="1828800" cy="1005840"/>
          </a:xfrm>
          <a:prstGeom prst="rect">
            <a:avLst/>
          </a:prstGeom>
          <a:noFill/>
          <a:ln/>
        </p:spPr>
        <p:txBody>
          <a:bodyPr wrap="square" lIns="0" tIns="0" rIns="0" bIns="0" rtlCol="0" anchor="t"/>
          <a:lstStyle/>
          <a:p>
            <a:pPr algn="ctr" indent="0" marL="0">
              <a:buNone/>
            </a:pPr>
            <a:r>
              <a:rPr lang="en-US" sz="1600" dirty="0">
                <a:solidFill>
                  <a:schemeClr val="tx1"/>
                </a:solidFill>
              </a:rPr>
              <a:t>Vergleiche zählen, bester und schlechtester Fall</a:t>
            </a:r>
            <a:endParaRPr lang="en-US" sz="1600" dirty="0"/>
          </a:p>
        </p:txBody>
      </p:sp>
      <p:sp>
        <p:nvSpPr>
          <p:cNvPr id="23" name="Text 18"/>
          <p:cNvSpPr txBox="1"/>
          <p:nvPr/>
        </p:nvSpPr>
        <p:spPr>
          <a:xfrm>
            <a:off x="5166360" y="5303520"/>
            <a:ext cx="1828800" cy="320040"/>
          </a:xfrm>
          <a:prstGeom prst="rect">
            <a:avLst/>
          </a:prstGeom>
          <a:noFill/>
          <a:ln/>
        </p:spPr>
        <p:txBody>
          <a:bodyPr wrap="square" lIns="0" tIns="0" rIns="0" bIns="0" rtlCol="0" anchor="t"/>
          <a:lstStyle/>
          <a:p>
            <a:pPr algn="ctr" indent="0" marL="0">
              <a:buNone/>
            </a:pPr>
            <a:r>
              <a:rPr lang="en-US" sz="1500" b="1" dirty="0">
                <a:solidFill>
                  <a:schemeClr val="accent2"/>
                </a:solidFill>
              </a:rPr>
              <a:t>Team-Duell + Lab 2.3</a:t>
            </a:r>
            <a:endParaRPr lang="en-US" sz="1500" dirty="0"/>
          </a:p>
        </p:txBody>
      </p:sp>
      <p:sp>
        <p:nvSpPr>
          <p:cNvPr id="24" name="IDE-Level 2.3"/>
          <p:cNvSpPr/>
          <p:nvPr/>
        </p:nvSpPr>
        <p:spPr>
          <a:xfrm>
            <a:off x="7269480" y="1371600"/>
            <a:ext cx="2103120" cy="4434840"/>
          </a:xfrm>
          <a:prstGeom prst="roundRect">
            <a:avLst>
              <a:gd name="adj" fmla="val 5217"/>
            </a:avLst>
          </a:prstGeom>
          <a:solidFill>
            <a:schemeClr val="bg1"/>
          </a:solidFill>
          <a:ln/>
          <a:effectLst>
            <a:outerShdw sx="100000" sy="100000" kx="0" ky="0" algn="bl" rotWithShape="0" blurRad="76200" dist="25400" dir="5400000">
              <a:srgbClr val="000000">
                <a:alpha val="18000"/>
              </a:srgbClr>
            </a:outerShdw>
          </a:effectLst>
        </p:spPr>
      </p:sp>
      <p:sp>
        <p:nvSpPr>
          <p:cNvPr id="25" name="Icon-Kreis"/>
          <p:cNvSpPr/>
          <p:nvPr/>
        </p:nvSpPr>
        <p:spPr>
          <a:xfrm>
            <a:off x="7818120" y="1600200"/>
            <a:ext cx="1005840" cy="1005840"/>
          </a:xfrm>
          <a:prstGeom prst="ellipse">
            <a:avLst/>
          </a:prstGeom>
          <a:solidFill>
            <a:schemeClr val="accent1"/>
          </a:solidFill>
          <a:ln/>
        </p:spPr>
      </p:sp>
      <p:pic>
        <p:nvPicPr>
          <p:cNvPr id="26" name="Icon GiMagnifyingGlass" descr="preencoded.png">    </p:cNvPr>
          <p:cNvPicPr>
            <a:picLocks noChangeAspect="1"/>
          </p:cNvPicPr>
          <p:nvPr/>
        </p:nvPicPr>
        <p:blipFill>
          <a:blip r:embed="rId4"/>
          <a:stretch>
            <a:fillRect/>
          </a:stretch>
        </p:blipFill>
        <p:spPr>
          <a:xfrm>
            <a:off x="8039405" y="1821485"/>
            <a:ext cx="563270" cy="563270"/>
          </a:xfrm>
          <a:prstGeom prst="rect">
            <a:avLst/>
          </a:prstGeom>
        </p:spPr>
      </p:pic>
      <p:sp>
        <p:nvSpPr>
          <p:cNvPr id="27" name="Chip"/>
          <p:cNvSpPr txBox="1"/>
          <p:nvPr/>
        </p:nvSpPr>
        <p:spPr>
          <a:xfrm>
            <a:off x="7863840" y="2743200"/>
            <a:ext cx="9144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16</a:t>
            </a:r>
            <a:endParaRPr lang="en-US" sz="1500" dirty="0"/>
          </a:p>
        </p:txBody>
      </p:sp>
      <p:sp>
        <p:nvSpPr>
          <p:cNvPr id="28" name="Text 22"/>
          <p:cNvSpPr txBox="1"/>
          <p:nvPr/>
        </p:nvSpPr>
        <p:spPr>
          <a:xfrm>
            <a:off x="7406640" y="3246120"/>
            <a:ext cx="1828800" cy="868680"/>
          </a:xfrm>
          <a:prstGeom prst="rect">
            <a:avLst/>
          </a:prstGeom>
          <a:noFill/>
          <a:ln/>
        </p:spPr>
        <p:txBody>
          <a:bodyPr wrap="square" lIns="0" tIns="0" rIns="0" bIns="0" rtlCol="0" anchor="t"/>
          <a:lstStyle/>
          <a:p>
            <a:pPr algn="ctr" indent="0" marL="0">
              <a:buNone/>
            </a:pPr>
            <a:r>
              <a:rPr lang="en-US" sz="1600" b="1" dirty="0">
                <a:solidFill>
                  <a:schemeClr val="accent6"/>
                </a:solidFill>
              </a:rPr>
              <a:t>IDE-Level 2.3</a:t>
            </a:r>
            <a:endParaRPr lang="en-US" sz="1800" dirty="0"/>
          </a:p>
          <a:p>
            <a:pPr algn="ctr" indent="0" marL="0">
              <a:buNone/>
            </a:pPr>
            <a:r>
              <a:rPr lang="en-US" sz="2100" b="1" dirty="0">
                <a:solidFill>
                  <a:schemeClr val="accent1"/>
                </a:solidFill>
              </a:rPr>
              <a:t>Binäre Suche</a:t>
            </a:r>
            <a:endParaRPr lang="en-US" sz="1800" dirty="0"/>
          </a:p>
        </p:txBody>
      </p:sp>
      <p:sp>
        <p:nvSpPr>
          <p:cNvPr id="29" name="Text 23"/>
          <p:cNvSpPr txBox="1"/>
          <p:nvPr/>
        </p:nvSpPr>
        <p:spPr>
          <a:xfrm>
            <a:off x="7406640" y="4160520"/>
            <a:ext cx="1828800" cy="1005840"/>
          </a:xfrm>
          <a:prstGeom prst="rect">
            <a:avLst/>
          </a:prstGeom>
          <a:noFill/>
          <a:ln/>
        </p:spPr>
        <p:txBody>
          <a:bodyPr wrap="square" lIns="0" tIns="0" rIns="0" bIns="0" rtlCol="0" anchor="t"/>
          <a:lstStyle/>
          <a:p>
            <a:pPr algn="ctr" indent="0" marL="0">
              <a:buNone/>
            </a:pPr>
            <a:r>
              <a:rPr lang="en-US" sz="1600" dirty="0">
                <a:solidFill>
                  <a:schemeClr val="tx1"/>
                </a:solidFill>
              </a:rPr>
              <a:t>lo, hi, mid: halbieren statt durchlaufen</a:t>
            </a:r>
            <a:endParaRPr lang="en-US" sz="1600" dirty="0"/>
          </a:p>
        </p:txBody>
      </p:sp>
      <p:sp>
        <p:nvSpPr>
          <p:cNvPr id="30" name="Text 24"/>
          <p:cNvSpPr txBox="1"/>
          <p:nvPr/>
        </p:nvSpPr>
        <p:spPr>
          <a:xfrm>
            <a:off x="7406640" y="5303520"/>
            <a:ext cx="1828800" cy="320040"/>
          </a:xfrm>
          <a:prstGeom prst="rect">
            <a:avLst/>
          </a:prstGeom>
          <a:noFill/>
          <a:ln/>
        </p:spPr>
        <p:txBody>
          <a:bodyPr wrap="square" lIns="0" tIns="0" rIns="0" bIns="0" rtlCol="0" anchor="t"/>
          <a:lstStyle/>
          <a:p>
            <a:pPr algn="ctr" indent="0" marL="0">
              <a:buNone/>
            </a:pPr>
            <a:r>
              <a:rPr lang="en-US" sz="1500" b="1" dirty="0">
                <a:solidFill>
                  <a:schemeClr val="accent2"/>
                </a:solidFill>
              </a:rPr>
              <a:t>IDE 2.3 + Lab 2.4</a:t>
            </a:r>
            <a:endParaRPr lang="en-US" sz="1500" dirty="0"/>
          </a:p>
        </p:txBody>
      </p:sp>
      <p:sp>
        <p:nvSpPr>
          <p:cNvPr id="31" name="Boss 2"/>
          <p:cNvSpPr/>
          <p:nvPr/>
        </p:nvSpPr>
        <p:spPr>
          <a:xfrm>
            <a:off x="9509760" y="1371600"/>
            <a:ext cx="2103120" cy="4434840"/>
          </a:xfrm>
          <a:prstGeom prst="roundRect">
            <a:avLst>
              <a:gd name="adj" fmla="val 5217"/>
            </a:avLst>
          </a:prstGeom>
          <a:solidFill>
            <a:schemeClr val="accent4"/>
          </a:solidFill>
          <a:ln/>
          <a:effectLst>
            <a:outerShdw sx="100000" sy="100000" kx="0" ky="0" algn="bl" rotWithShape="0" blurRad="76200" dist="25400" dir="5400000">
              <a:srgbClr val="000000">
                <a:alpha val="18000"/>
              </a:srgbClr>
            </a:outerShdw>
          </a:effectLst>
        </p:spPr>
      </p:sp>
      <p:sp>
        <p:nvSpPr>
          <p:cNvPr id="32" name="Icon-Kreis"/>
          <p:cNvSpPr/>
          <p:nvPr/>
        </p:nvSpPr>
        <p:spPr>
          <a:xfrm>
            <a:off x="10058400" y="1600200"/>
            <a:ext cx="1005840" cy="1005840"/>
          </a:xfrm>
          <a:prstGeom prst="ellipse">
            <a:avLst/>
          </a:prstGeom>
          <a:solidFill>
            <a:schemeClr val="bg1"/>
          </a:solidFill>
          <a:ln/>
        </p:spPr>
      </p:sp>
      <p:pic>
        <p:nvPicPr>
          <p:cNvPr id="33" name="Icon GiArcheryTarget" descr="preencoded.png">    </p:cNvPr>
          <p:cNvPicPr>
            <a:picLocks noChangeAspect="1"/>
          </p:cNvPicPr>
          <p:nvPr/>
        </p:nvPicPr>
        <p:blipFill>
          <a:blip r:embed="rId5"/>
          <a:stretch>
            <a:fillRect/>
          </a:stretch>
        </p:blipFill>
        <p:spPr>
          <a:xfrm>
            <a:off x="10279685" y="1821485"/>
            <a:ext cx="563270" cy="563270"/>
          </a:xfrm>
          <a:prstGeom prst="rect">
            <a:avLst/>
          </a:prstGeom>
        </p:spPr>
      </p:pic>
      <p:sp>
        <p:nvSpPr>
          <p:cNvPr id="34" name="Chip"/>
          <p:cNvSpPr txBox="1"/>
          <p:nvPr/>
        </p:nvSpPr>
        <p:spPr>
          <a:xfrm>
            <a:off x="10104120" y="2743200"/>
            <a:ext cx="9144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500" b="1" dirty="0">
                <a:solidFill>
                  <a:schemeClr val="bg1"/>
                </a:solidFill>
              </a:rPr>
              <a:t>DS 17</a:t>
            </a:r>
            <a:endParaRPr lang="en-US" sz="1500" dirty="0"/>
          </a:p>
        </p:txBody>
      </p:sp>
      <p:sp>
        <p:nvSpPr>
          <p:cNvPr id="35" name="Text 28"/>
          <p:cNvSpPr txBox="1"/>
          <p:nvPr/>
        </p:nvSpPr>
        <p:spPr>
          <a:xfrm>
            <a:off x="9646920" y="3246120"/>
            <a:ext cx="1828800" cy="868680"/>
          </a:xfrm>
          <a:prstGeom prst="rect">
            <a:avLst/>
          </a:prstGeom>
          <a:noFill/>
          <a:ln/>
        </p:spPr>
        <p:txBody>
          <a:bodyPr wrap="square" lIns="0" tIns="0" rIns="0" bIns="0" rtlCol="0" anchor="t"/>
          <a:lstStyle/>
          <a:p>
            <a:pPr algn="ctr" indent="0" marL="0">
              <a:buNone/>
            </a:pPr>
            <a:r>
              <a:rPr lang="en-US" sz="1600" b="1" dirty="0">
                <a:solidFill>
                  <a:schemeClr val="bg1"/>
                </a:solidFill>
              </a:rPr>
              <a:t>Boss 2</a:t>
            </a:r>
            <a:endParaRPr lang="en-US" sz="1800" dirty="0"/>
          </a:p>
          <a:p>
            <a:pPr algn="ctr" indent="0" marL="0">
              <a:buNone/>
            </a:pPr>
            <a:r>
              <a:rPr lang="en-US" sz="2100" b="1" dirty="0">
                <a:solidFill>
                  <a:schemeClr val="bg1"/>
                </a:solidFill>
              </a:rPr>
              <a:t>Das Turnier</a:t>
            </a:r>
            <a:endParaRPr lang="en-US" sz="1800" dirty="0"/>
          </a:p>
        </p:txBody>
      </p:sp>
      <p:sp>
        <p:nvSpPr>
          <p:cNvPr id="36" name="Text 29"/>
          <p:cNvSpPr txBox="1"/>
          <p:nvPr/>
        </p:nvSpPr>
        <p:spPr>
          <a:xfrm>
            <a:off x="9646920" y="4160520"/>
            <a:ext cx="1828800" cy="1005840"/>
          </a:xfrm>
          <a:prstGeom prst="rect">
            <a:avLst/>
          </a:prstGeom>
          <a:noFill/>
          <a:ln/>
        </p:spPr>
        <p:txBody>
          <a:bodyPr wrap="square" lIns="0" tIns="0" rIns="0" bIns="0" rtlCol="0" anchor="t"/>
          <a:lstStyle/>
          <a:p>
            <a:pPr algn="ctr" indent="0" marL="0">
              <a:buNone/>
            </a:pPr>
            <a:r>
              <a:rPr lang="en-US" sz="1600" dirty="0">
                <a:solidFill>
                  <a:schemeClr val="bg1"/>
                </a:solidFill>
              </a:rPr>
              <a:t>Abi auf Zeit: ≈ 24 BE in 60 min</a:t>
            </a:r>
            <a:endParaRPr lang="en-US" sz="1600" dirty="0"/>
          </a:p>
        </p:txBody>
      </p:sp>
      <p:sp>
        <p:nvSpPr>
          <p:cNvPr id="37" name="Text 30"/>
          <p:cNvSpPr txBox="1"/>
          <p:nvPr/>
        </p:nvSpPr>
        <p:spPr>
          <a:xfrm>
            <a:off x="9646920" y="5303520"/>
            <a:ext cx="1828800" cy="320040"/>
          </a:xfrm>
          <a:prstGeom prst="rect">
            <a:avLst/>
          </a:prstGeom>
          <a:noFill/>
          <a:ln/>
        </p:spPr>
        <p:txBody>
          <a:bodyPr wrap="square" lIns="0" tIns="0" rIns="0" bIns="0" rtlCol="0" anchor="t"/>
          <a:lstStyle/>
          <a:p>
            <a:pPr algn="ctr" indent="0" marL="0">
              <a:buNone/>
            </a:pPr>
            <a:r>
              <a:rPr lang="en-US" sz="1500" b="1" dirty="0">
                <a:solidFill>
                  <a:schemeClr val="bg1"/>
                </a:solidFill>
              </a:rPr>
              <a:t>Papier + Online-Boss</a:t>
            </a:r>
            <a:endParaRPr lang="en-US" sz="15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Die Highscore-Liste: Eintrag und Rangliste</a:t>
            </a:r>
            <a:endParaRPr lang="en-US" sz="3600" dirty="0"/>
          </a:p>
        </p:txBody>
      </p:sp>
      <p:sp>
        <p:nvSpPr>
          <p:cNvPr id="3" name="Klassenkarte Eintrag"/>
          <p:cNvSpPr/>
          <p:nvPr/>
        </p:nvSpPr>
        <p:spPr>
          <a:xfrm>
            <a:off x="548640" y="1325880"/>
            <a:ext cx="4572000" cy="2763012"/>
          </a:xfrm>
          <a:prstGeom prst="rect">
            <a:avLst/>
          </a:prstGeom>
          <a:solidFill>
            <a:schemeClr val="bg1"/>
          </a:solidFill>
          <a:ln w="22225">
            <a:solidFill>
              <a:schemeClr val="accent1"/>
            </a:solidFill>
            <a:prstDash val="solid"/>
          </a:ln>
        </p:spPr>
      </p:sp>
      <p:sp>
        <p:nvSpPr>
          <p:cNvPr id="4" name="Klassenname Eintrag"/>
          <p:cNvSpPr txBox="1"/>
          <p:nvPr/>
        </p:nvSpPr>
        <p:spPr>
          <a:xfrm>
            <a:off x="548640" y="1325880"/>
            <a:ext cx="4572000" cy="378714"/>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600" b="1" dirty="0">
                <a:solidFill>
                  <a:schemeClr val="accent1"/>
                </a:solidFill>
              </a:rPr>
              <a:t>Eintrag</a:t>
            </a:r>
            <a:endParaRPr lang="en-US" sz="1600" dirty="0"/>
          </a:p>
        </p:txBody>
      </p:sp>
      <p:sp>
        <p:nvSpPr>
          <p:cNvPr id="5" name="Attribute Eintrag"/>
          <p:cNvSpPr txBox="1"/>
          <p:nvPr/>
        </p:nvSpPr>
        <p:spPr>
          <a:xfrm>
            <a:off x="548640" y="1704594"/>
            <a:ext cx="4572000" cy="84353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name: Zeichenkette</a:t>
            </a:r>
            <a:endParaRPr lang="en-US" sz="1500" dirty="0"/>
          </a:p>
          <a:p>
            <a:pPr algn="l" indent="0" marL="0">
              <a:lnSpc>
                <a:spcPts val="1800"/>
              </a:lnSpc>
              <a:buNone/>
            </a:pPr>
            <a:r>
              <a:rPr lang="en-US" sz="1500" dirty="0">
                <a:solidFill>
                  <a:schemeClr val="tx1"/>
                </a:solidFill>
              </a:rPr>
              <a:t>- punkte: Ganzzahl</a:t>
            </a:r>
            <a:endParaRPr lang="en-US" sz="1500" dirty="0"/>
          </a:p>
          <a:p>
            <a:pPr algn="l" indent="0" marL="0">
              <a:lnSpc>
                <a:spcPts val="1800"/>
              </a:lnSpc>
              <a:buNone/>
            </a:pPr>
            <a:r>
              <a:rPr lang="en-US" sz="1500" dirty="0">
                <a:solidFill>
                  <a:schemeClr val="tx1"/>
                </a:solidFill>
              </a:rPr>
              <a:t>- zeit: Ganzzahl</a:t>
            </a:r>
            <a:endParaRPr lang="en-US" sz="1500" dirty="0"/>
          </a:p>
        </p:txBody>
      </p:sp>
      <p:sp>
        <p:nvSpPr>
          <p:cNvPr id="6" name="Linie"/>
          <p:cNvSpPr/>
          <p:nvPr/>
        </p:nvSpPr>
        <p:spPr>
          <a:xfrm>
            <a:off x="548640" y="2548128"/>
            <a:ext cx="4572000" cy="91"/>
          </a:xfrm>
          <a:prstGeom prst="line">
            <a:avLst/>
          </a:prstGeom>
          <a:noFill/>
          <a:ln w="22225">
            <a:solidFill>
              <a:schemeClr val="accent1"/>
            </a:solidFill>
            <a:prstDash val="solid"/>
          </a:ln>
        </p:spPr>
      </p:sp>
      <p:sp>
        <p:nvSpPr>
          <p:cNvPr id="7" name="Methoden Eintrag"/>
          <p:cNvSpPr txBox="1"/>
          <p:nvPr/>
        </p:nvSpPr>
        <p:spPr>
          <a:xfrm>
            <a:off x="548640" y="2548128"/>
            <a:ext cx="4572000" cy="154076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c Eintrag(name: Zeichenkette, punkte: Ganzzahl,</a:t>
            </a:r>
            <a:endParaRPr lang="en-US" sz="1500" dirty="0"/>
          </a:p>
          <a:p>
            <a:pPr algn="l" indent="0" marL="0">
              <a:lnSpc>
                <a:spcPts val="1800"/>
              </a:lnSpc>
              <a:buNone/>
            </a:pPr>
            <a:r>
              <a:rPr lang="en-US" sz="1500" dirty="0">
                <a:solidFill>
                  <a:schemeClr val="tx1"/>
                </a:solidFill>
              </a:rPr>
              <a:t>                  zeit: Ganzzahl)</a:t>
            </a:r>
            <a:endParaRPr lang="en-US" sz="1500" dirty="0"/>
          </a:p>
          <a:p>
            <a:pPr algn="l" indent="0" marL="0">
              <a:lnSpc>
                <a:spcPts val="1800"/>
              </a:lnSpc>
              <a:buNone/>
            </a:pPr>
            <a:r>
              <a:rPr lang="en-US" sz="1500" dirty="0">
                <a:solidFill>
                  <a:schemeClr val="tx1"/>
                </a:solidFill>
              </a:rPr>
              <a:t>+ getName(): Zeichenkette</a:t>
            </a:r>
            <a:endParaRPr lang="en-US" sz="1500" dirty="0"/>
          </a:p>
          <a:p>
            <a:pPr algn="l" indent="0" marL="0">
              <a:lnSpc>
                <a:spcPts val="1800"/>
              </a:lnSpc>
              <a:buNone/>
            </a:pPr>
            <a:r>
              <a:rPr lang="en-US" sz="1500" dirty="0">
                <a:solidFill>
                  <a:schemeClr val="tx1"/>
                </a:solidFill>
              </a:rPr>
              <a:t>+ getPunkte(): Ganzzahl</a:t>
            </a:r>
            <a:endParaRPr lang="en-US" sz="1500" dirty="0"/>
          </a:p>
          <a:p>
            <a:pPr algn="l" indent="0" marL="0">
              <a:lnSpc>
                <a:spcPts val="1800"/>
              </a:lnSpc>
              <a:buNone/>
            </a:pPr>
            <a:r>
              <a:rPr lang="en-US" sz="1500" dirty="0">
                <a:solidFill>
                  <a:schemeClr val="tx1"/>
                </a:solidFill>
              </a:rPr>
              <a:t>+ getZeit(): Ganzzahl</a:t>
            </a:r>
            <a:endParaRPr lang="en-US" sz="1500" dirty="0"/>
          </a:p>
          <a:p>
            <a:pPr algn="l" indent="0" marL="0">
              <a:lnSpc>
                <a:spcPts val="1800"/>
              </a:lnSpc>
              <a:buNone/>
            </a:pPr>
            <a:r>
              <a:rPr lang="en-US" sz="1500" dirty="0">
                <a:solidFill>
                  <a:schemeClr val="tx1"/>
                </a:solidFill>
              </a:rPr>
              <a:t>+ beschreibung(): Zeichenkette</a:t>
            </a:r>
            <a:endParaRPr lang="en-US" sz="1500" dirty="0"/>
          </a:p>
        </p:txBody>
      </p:sp>
      <p:sp>
        <p:nvSpPr>
          <p:cNvPr id="8" name="Klassenkarte Rangliste"/>
          <p:cNvSpPr/>
          <p:nvPr/>
        </p:nvSpPr>
        <p:spPr>
          <a:xfrm>
            <a:off x="6035040" y="1325880"/>
            <a:ext cx="5577840" cy="3692652"/>
          </a:xfrm>
          <a:prstGeom prst="rect">
            <a:avLst/>
          </a:prstGeom>
          <a:solidFill>
            <a:schemeClr val="bg1"/>
          </a:solidFill>
          <a:ln w="22225">
            <a:solidFill>
              <a:schemeClr val="accent1"/>
            </a:solidFill>
            <a:prstDash val="solid"/>
          </a:ln>
        </p:spPr>
      </p:sp>
      <p:sp>
        <p:nvSpPr>
          <p:cNvPr id="9" name="Klassenname Rangliste"/>
          <p:cNvSpPr txBox="1"/>
          <p:nvPr/>
        </p:nvSpPr>
        <p:spPr>
          <a:xfrm>
            <a:off x="6035040" y="1325880"/>
            <a:ext cx="5577840" cy="378714"/>
          </a:xfrm>
          <a:prstGeom prst="rect">
            <a:avLst/>
          </a:prstGeom>
          <a:solidFill>
            <a:schemeClr val="bg2"/>
          </a:solidFill>
          <a:ln w="22225">
            <a:solidFill>
              <a:schemeClr val="accent1"/>
            </a:solidFill>
          </a:ln>
        </p:spPr>
        <p:txBody>
          <a:bodyPr wrap="square" lIns="0" tIns="0" rIns="0" bIns="0" rtlCol="0" anchor="ctr"/>
          <a:lstStyle/>
          <a:p>
            <a:pPr algn="ctr" indent="0" marL="0">
              <a:buNone/>
            </a:pPr>
            <a:r>
              <a:rPr lang="en-US" sz="1600" b="1" dirty="0">
                <a:solidFill>
                  <a:schemeClr val="accent1"/>
                </a:solidFill>
              </a:rPr>
              <a:t>Rangliste</a:t>
            </a:r>
            <a:endParaRPr lang="en-US" sz="1600" dirty="0"/>
          </a:p>
        </p:txBody>
      </p:sp>
      <p:sp>
        <p:nvSpPr>
          <p:cNvPr id="10" name="Attribute Rangliste"/>
          <p:cNvSpPr txBox="1"/>
          <p:nvPr/>
        </p:nvSpPr>
        <p:spPr>
          <a:xfrm>
            <a:off x="6035040" y="1704594"/>
            <a:ext cx="5577840" cy="107594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eintraege: Reihung von Eintrag</a:t>
            </a:r>
            <a:endParaRPr lang="en-US" sz="1500" dirty="0"/>
          </a:p>
          <a:p>
            <a:pPr algn="l" indent="0" marL="0">
              <a:lnSpc>
                <a:spcPts val="1800"/>
              </a:lnSpc>
              <a:buNone/>
            </a:pPr>
            <a:r>
              <a:rPr lang="en-US" sz="1500" dirty="0">
                <a:solidFill>
                  <a:schemeClr val="tx1"/>
                </a:solidFill>
              </a:rPr>
              <a:t>- anzahl: Ganzzahl</a:t>
            </a:r>
            <a:endParaRPr lang="en-US" sz="1500" dirty="0"/>
          </a:p>
          <a:p>
            <a:pPr algn="l" indent="0" marL="0">
              <a:lnSpc>
                <a:spcPts val="1800"/>
              </a:lnSpc>
              <a:buNone/>
            </a:pPr>
            <a:r>
              <a:rPr lang="en-US" sz="1500" dirty="0">
                <a:solidFill>
                  <a:schemeClr val="tx1"/>
                </a:solidFill>
              </a:rPr>
              <a:t>- vergleiche: Ganzzahl</a:t>
            </a:r>
            <a:endParaRPr lang="en-US" sz="1500" dirty="0"/>
          </a:p>
          <a:p>
            <a:pPr algn="l" indent="0" marL="0">
              <a:lnSpc>
                <a:spcPts val="1800"/>
              </a:lnSpc>
              <a:buNone/>
            </a:pPr>
            <a:r>
              <a:rPr lang="en-US" sz="1500" dirty="0">
                <a:solidFill>
                  <a:schemeClr val="tx1"/>
                </a:solidFill>
              </a:rPr>
              <a:t>- vertauschungen: Ganzzahl</a:t>
            </a:r>
            <a:endParaRPr lang="en-US" sz="1500" dirty="0"/>
          </a:p>
        </p:txBody>
      </p:sp>
      <p:sp>
        <p:nvSpPr>
          <p:cNvPr id="11" name="Linie"/>
          <p:cNvSpPr/>
          <p:nvPr/>
        </p:nvSpPr>
        <p:spPr>
          <a:xfrm>
            <a:off x="6035040" y="2780538"/>
            <a:ext cx="5577840" cy="91"/>
          </a:xfrm>
          <a:prstGeom prst="line">
            <a:avLst/>
          </a:prstGeom>
          <a:noFill/>
          <a:ln w="22225">
            <a:solidFill>
              <a:schemeClr val="accent1"/>
            </a:solidFill>
            <a:prstDash val="solid"/>
          </a:ln>
        </p:spPr>
      </p:sp>
      <p:sp>
        <p:nvSpPr>
          <p:cNvPr id="12" name="Methoden Rangliste"/>
          <p:cNvSpPr txBox="1"/>
          <p:nvPr/>
        </p:nvSpPr>
        <p:spPr>
          <a:xfrm>
            <a:off x="6035040" y="2780538"/>
            <a:ext cx="5577840" cy="2237994"/>
          </a:xfrm>
          <a:prstGeom prst="rect">
            <a:avLst/>
          </a:prstGeom>
          <a:noFill/>
          <a:ln/>
        </p:spPr>
        <p:txBody>
          <a:bodyPr wrap="square" lIns="109728" tIns="73152" rIns="73152" bIns="73152" rtlCol="0" anchor="t"/>
          <a:lstStyle/>
          <a:p>
            <a:pPr algn="l" indent="0" marL="0">
              <a:lnSpc>
                <a:spcPts val="1800"/>
              </a:lnSpc>
              <a:buNone/>
            </a:pPr>
            <a:r>
              <a:rPr lang="en-US" sz="1500" dirty="0">
                <a:solidFill>
                  <a:schemeClr val="tx1"/>
                </a:solidFill>
              </a:rPr>
              <a:t>+ c Rangliste(kapazitaet: Ganzzahl)</a:t>
            </a:r>
            <a:endParaRPr lang="en-US" sz="1500" dirty="0"/>
          </a:p>
          <a:p>
            <a:pPr algn="l" indent="0" marL="0">
              <a:lnSpc>
                <a:spcPts val="1800"/>
              </a:lnSpc>
              <a:buNone/>
            </a:pPr>
            <a:r>
              <a:rPr lang="en-US" sz="1500" dirty="0">
                <a:solidFill>
                  <a:schemeClr val="tx1"/>
                </a:solidFill>
              </a:rPr>
              <a:t>+ getAnzahl(): Ganzzahl</a:t>
            </a:r>
            <a:endParaRPr lang="en-US" sz="1500" dirty="0"/>
          </a:p>
          <a:p>
            <a:pPr algn="l" indent="0" marL="0">
              <a:lnSpc>
                <a:spcPts val="1800"/>
              </a:lnSpc>
              <a:buNone/>
            </a:pPr>
            <a:r>
              <a:rPr lang="en-US" sz="1500" dirty="0">
                <a:solidFill>
                  <a:schemeClr val="tx1"/>
                </a:solidFill>
              </a:rPr>
              <a:t>+ getEintrag(i: Ganzzahl): Eintrag</a:t>
            </a:r>
            <a:endParaRPr lang="en-US" sz="1500" dirty="0"/>
          </a:p>
          <a:p>
            <a:pPr algn="l" indent="0" marL="0">
              <a:lnSpc>
                <a:spcPts val="1800"/>
              </a:lnSpc>
              <a:buNone/>
            </a:pPr>
            <a:r>
              <a:rPr lang="en-US" sz="1500" dirty="0">
                <a:solidFill>
                  <a:schemeClr val="tx1"/>
                </a:solidFill>
              </a:rPr>
              <a:t>+ hinzufuegen(e: Eintrag): Wahrheitswert</a:t>
            </a:r>
            <a:endParaRPr lang="en-US" sz="1500" dirty="0"/>
          </a:p>
          <a:p>
            <a:pPr algn="l" indent="0" marL="0">
              <a:lnSpc>
                <a:spcPts val="1800"/>
              </a:lnSpc>
              <a:buNone/>
            </a:pPr>
            <a:r>
              <a:rPr lang="en-US" sz="1500" dirty="0">
                <a:solidFill>
                  <a:schemeClr val="tx1"/>
                </a:solidFill>
              </a:rPr>
              <a:t>- besser(a: Eintrag, b: Eintrag): Wahrheitswert</a:t>
            </a:r>
            <a:endParaRPr lang="en-US" sz="1500" dirty="0"/>
          </a:p>
          <a:p>
            <a:pPr algn="l" indent="0" marL="0">
              <a:lnSpc>
                <a:spcPts val="1800"/>
              </a:lnSpc>
              <a:buNone/>
            </a:pPr>
            <a:r>
              <a:rPr lang="en-US" sz="1500" dirty="0">
                <a:solidFill>
                  <a:schemeClr val="tx1"/>
                </a:solidFill>
              </a:rPr>
              <a:t>+ vertausche(i: Ganzzahl, j: Ganzzahl): nichts</a:t>
            </a:r>
            <a:endParaRPr lang="en-US" sz="1500" dirty="0"/>
          </a:p>
          <a:p>
            <a:pPr algn="l" indent="0" marL="0">
              <a:lnSpc>
                <a:spcPts val="1800"/>
              </a:lnSpc>
              <a:buNone/>
            </a:pPr>
            <a:r>
              <a:rPr lang="en-US" sz="1500" dirty="0">
                <a:solidFill>
                  <a:schemeClr val="tx1"/>
                </a:solidFill>
              </a:rPr>
              <a:t>+ hoechstePunktzahl(): Ganzzahl</a:t>
            </a:r>
            <a:endParaRPr lang="en-US" sz="1500" dirty="0"/>
          </a:p>
          <a:p>
            <a:pPr algn="l" indent="0" marL="0">
              <a:lnSpc>
                <a:spcPts val="1800"/>
              </a:lnSpc>
              <a:buNone/>
            </a:pPr>
            <a:r>
              <a:rPr lang="en-US" sz="1500" dirty="0">
                <a:solidFill>
                  <a:schemeClr val="tx1"/>
                </a:solidFill>
              </a:rPr>
              <a:t>+ selectionSort(): nichts</a:t>
            </a:r>
            <a:endParaRPr lang="en-US" sz="1500" dirty="0"/>
          </a:p>
          <a:p>
            <a:pPr algn="l" indent="0" marL="0">
              <a:lnSpc>
                <a:spcPts val="1800"/>
              </a:lnSpc>
              <a:buNone/>
            </a:pPr>
            <a:r>
              <a:rPr lang="en-US" sz="1500" dirty="0">
                <a:solidFill>
                  <a:schemeClr val="tx1"/>
                </a:solidFill>
              </a:rPr>
              <a:t>…</a:t>
            </a:r>
            <a:endParaRPr lang="en-US" sz="1500" dirty="0"/>
          </a:p>
        </p:txBody>
      </p:sp>
      <p:sp>
        <p:nvSpPr>
          <p:cNvPr id="13" name="Assoziation"/>
          <p:cNvSpPr/>
          <p:nvPr/>
        </p:nvSpPr>
        <p:spPr>
          <a:xfrm>
            <a:off x="5120640" y="2148840"/>
            <a:ext cx="914400" cy="91"/>
          </a:xfrm>
          <a:prstGeom prst="line">
            <a:avLst/>
          </a:prstGeom>
          <a:noFill/>
          <a:ln w="28575">
            <a:solidFill>
              <a:schemeClr val="accent1"/>
            </a:solidFill>
            <a:prstDash val="solid"/>
          </a:ln>
        </p:spPr>
      </p:sp>
      <p:sp>
        <p:nvSpPr>
          <p:cNvPr id="14" name="Text 12"/>
          <p:cNvSpPr txBox="1"/>
          <p:nvPr/>
        </p:nvSpPr>
        <p:spPr>
          <a:xfrm>
            <a:off x="548640" y="4198620"/>
            <a:ext cx="4572000" cy="310896"/>
          </a:xfrm>
          <a:prstGeom prst="rect">
            <a:avLst/>
          </a:prstGeom>
          <a:noFill/>
          <a:ln/>
        </p:spPr>
        <p:txBody>
          <a:bodyPr wrap="square" lIns="0" tIns="0" rIns="0" bIns="0" rtlCol="0" anchor="t"/>
          <a:lstStyle/>
          <a:p>
            <a:pPr indent="0" marL="0">
              <a:buNone/>
            </a:pPr>
            <a:r>
              <a:rPr lang="en-US" sz="1500" b="1" dirty="0">
                <a:solidFill>
                  <a:schemeClr val="accent1"/>
                </a:solidFill>
                <a:latin typeface="Consolas" pitchFamily="34" charset="0"/>
                <a:ea typeface="Consolas" pitchFamily="34" charset="-122"/>
                <a:cs typeface="Consolas" pitchFamily="34" charset="-120"/>
              </a:rPr>
              <a:t>eintraege</a:t>
            </a:r>
            <a:pPr indent="0" marL="0">
              <a:buNone/>
            </a:pPr>
            <a:r>
              <a:rPr lang="en-US" sz="1500" dirty="0">
                <a:solidFill>
                  <a:schemeClr val="accent6"/>
                </a:solidFill>
              </a:rPr>
              <a:t>  (Kapazität 5)</a:t>
            </a:r>
            <a:endParaRPr lang="en-US" sz="1500" dirty="0"/>
          </a:p>
        </p:txBody>
      </p:sp>
      <p:sp>
        <p:nvSpPr>
          <p:cNvPr id="15" name="Text 13"/>
          <p:cNvSpPr txBox="1"/>
          <p:nvPr/>
        </p:nvSpPr>
        <p:spPr>
          <a:xfrm>
            <a:off x="548640" y="4546092"/>
            <a:ext cx="914400" cy="658368"/>
          </a:xfrm>
          <a:prstGeom prst="rect">
            <a:avLst/>
          </a:prstGeom>
          <a:solidFill>
            <a:schemeClr val="bg2"/>
          </a:solidFill>
          <a:ln w="19050">
            <a:solidFill>
              <a:schemeClr val="accent1"/>
            </a:solidFill>
          </a:ln>
        </p:spPr>
        <p:txBody>
          <a:bodyPr wrap="square" lIns="0" tIns="0" rIns="0" bIns="0" rtlCol="0" anchor="ctr"/>
          <a:lstStyle/>
          <a:p>
            <a:pPr algn="ctr" indent="0" marL="0">
              <a:buNone/>
            </a:pPr>
            <a:r>
              <a:rPr lang="en-US" sz="1400" b="1" dirty="0">
                <a:solidFill>
                  <a:schemeClr val="accent1"/>
                </a:solidFill>
                <a:latin typeface="Calibri" pitchFamily="34" charset="0"/>
                <a:ea typeface="Calibri" pitchFamily="34" charset="-122"/>
                <a:cs typeface="Calibri" pitchFamily="34" charset="-120"/>
              </a:rPr>
              <a:t>Aria</a:t>
            </a:r>
            <a:endParaRPr lang="en-US" sz="1400" dirty="0"/>
          </a:p>
          <a:p>
            <a:pPr algn="ctr" indent="0" marL="0">
              <a:buNone/>
            </a:pPr>
            <a:r>
              <a:rPr lang="en-US" sz="1400" dirty="0">
                <a:solidFill>
                  <a:schemeClr val="accent1"/>
                </a:solidFill>
                <a:latin typeface="Calibri" pitchFamily="34" charset="0"/>
                <a:ea typeface="Calibri" pitchFamily="34" charset="-122"/>
                <a:cs typeface="Calibri" pitchFamily="34" charset="-120"/>
              </a:rPr>
              <a:t>1200</a:t>
            </a:r>
            <a:endParaRPr lang="en-US" sz="1400" dirty="0"/>
          </a:p>
        </p:txBody>
      </p:sp>
      <p:sp>
        <p:nvSpPr>
          <p:cNvPr id="16" name="Text 14"/>
          <p:cNvSpPr txBox="1"/>
          <p:nvPr/>
        </p:nvSpPr>
        <p:spPr>
          <a:xfrm>
            <a:off x="1463040" y="4546092"/>
            <a:ext cx="914400" cy="658368"/>
          </a:xfrm>
          <a:prstGeom prst="rect">
            <a:avLst/>
          </a:prstGeom>
          <a:solidFill>
            <a:schemeClr val="bg2"/>
          </a:solidFill>
          <a:ln w="19050">
            <a:solidFill>
              <a:schemeClr val="accent1"/>
            </a:solidFill>
          </a:ln>
        </p:spPr>
        <p:txBody>
          <a:bodyPr wrap="square" lIns="0" tIns="0" rIns="0" bIns="0" rtlCol="0" anchor="ctr"/>
          <a:lstStyle/>
          <a:p>
            <a:pPr algn="ctr" indent="0" marL="0">
              <a:buNone/>
            </a:pPr>
            <a:r>
              <a:rPr lang="en-US" sz="1400" b="1" dirty="0">
                <a:solidFill>
                  <a:schemeClr val="accent1"/>
                </a:solidFill>
                <a:latin typeface="Calibri" pitchFamily="34" charset="0"/>
                <a:ea typeface="Calibri" pitchFamily="34" charset="-122"/>
                <a:cs typeface="Calibri" pitchFamily="34" charset="-120"/>
              </a:rPr>
              <a:t>Brann</a:t>
            </a:r>
            <a:endParaRPr lang="en-US" sz="1400" dirty="0"/>
          </a:p>
          <a:p>
            <a:pPr algn="ctr" indent="0" marL="0">
              <a:buNone/>
            </a:pPr>
            <a:r>
              <a:rPr lang="en-US" sz="1400" dirty="0">
                <a:solidFill>
                  <a:schemeClr val="accent1"/>
                </a:solidFill>
                <a:latin typeface="Calibri" pitchFamily="34" charset="0"/>
                <a:ea typeface="Calibri" pitchFamily="34" charset="-122"/>
                <a:cs typeface="Calibri" pitchFamily="34" charset="-120"/>
              </a:rPr>
              <a:t>800</a:t>
            </a:r>
            <a:endParaRPr lang="en-US" sz="1400" dirty="0"/>
          </a:p>
        </p:txBody>
      </p:sp>
      <p:sp>
        <p:nvSpPr>
          <p:cNvPr id="17" name="Text 15"/>
          <p:cNvSpPr txBox="1"/>
          <p:nvPr/>
        </p:nvSpPr>
        <p:spPr>
          <a:xfrm>
            <a:off x="2377440" y="4546092"/>
            <a:ext cx="914400" cy="658368"/>
          </a:xfrm>
          <a:prstGeom prst="rect">
            <a:avLst/>
          </a:prstGeom>
          <a:solidFill>
            <a:schemeClr val="bg2"/>
          </a:solidFill>
          <a:ln w="19050">
            <a:solidFill>
              <a:schemeClr val="accent1"/>
            </a:solidFill>
          </a:ln>
        </p:spPr>
        <p:txBody>
          <a:bodyPr wrap="square" lIns="0" tIns="0" rIns="0" bIns="0" rtlCol="0" anchor="ctr"/>
          <a:lstStyle/>
          <a:p>
            <a:pPr algn="ctr" indent="0" marL="0">
              <a:buNone/>
            </a:pPr>
            <a:r>
              <a:rPr lang="en-US" sz="1400" b="1" dirty="0">
                <a:solidFill>
                  <a:schemeClr val="accent1"/>
                </a:solidFill>
                <a:latin typeface="Calibri" pitchFamily="34" charset="0"/>
                <a:ea typeface="Calibri" pitchFamily="34" charset="-122"/>
                <a:cs typeface="Calibri" pitchFamily="34" charset="-120"/>
              </a:rPr>
              <a:t>Cyra</a:t>
            </a:r>
            <a:endParaRPr lang="en-US" sz="1400" dirty="0"/>
          </a:p>
          <a:p>
            <a:pPr algn="ctr" indent="0" marL="0">
              <a:buNone/>
            </a:pPr>
            <a:r>
              <a:rPr lang="en-US" sz="1400" dirty="0">
                <a:solidFill>
                  <a:schemeClr val="accent1"/>
                </a:solidFill>
                <a:latin typeface="Calibri" pitchFamily="34" charset="0"/>
                <a:ea typeface="Calibri" pitchFamily="34" charset="-122"/>
                <a:cs typeface="Calibri" pitchFamily="34" charset="-120"/>
              </a:rPr>
              <a:t>1500</a:t>
            </a:r>
            <a:endParaRPr lang="en-US" sz="1400" dirty="0"/>
          </a:p>
        </p:txBody>
      </p:sp>
      <p:sp>
        <p:nvSpPr>
          <p:cNvPr id="18" name="Text 16"/>
          <p:cNvSpPr txBox="1"/>
          <p:nvPr/>
        </p:nvSpPr>
        <p:spPr>
          <a:xfrm>
            <a:off x="3291840" y="4546092"/>
            <a:ext cx="914400" cy="658368"/>
          </a:xfrm>
          <a:prstGeom prst="rect">
            <a:avLst/>
          </a:prstGeom>
          <a:solidFill>
            <a:schemeClr val="bg1"/>
          </a:solidFill>
          <a:ln w="19050">
            <a:solidFill>
              <a:schemeClr val="accent1"/>
            </a:solidFill>
          </a:ln>
        </p:spPr>
        <p:txBody>
          <a:bodyPr wrap="square" lIns="0" tIns="0" rIns="0" bIns="0" rtlCol="0" anchor="ctr"/>
          <a:lstStyle/>
          <a:p>
            <a:pPr algn="ctr" indent="0" marL="0">
              <a:buNone/>
            </a:pPr>
            <a:r>
              <a:rPr lang="en-US" sz="1400" dirty="0">
                <a:solidFill>
                  <a:schemeClr val="tx1"/>
                </a:solidFill>
                <a:latin typeface="Consolas" pitchFamily="34" charset="0"/>
                <a:ea typeface="Consolas" pitchFamily="34" charset="-122"/>
                <a:cs typeface="Consolas" pitchFamily="34" charset="-120"/>
              </a:rPr>
              <a:t>null</a:t>
            </a:r>
            <a:endParaRPr lang="en-US" sz="1400" dirty="0"/>
          </a:p>
        </p:txBody>
      </p:sp>
      <p:sp>
        <p:nvSpPr>
          <p:cNvPr id="19" name="Text 17"/>
          <p:cNvSpPr txBox="1"/>
          <p:nvPr/>
        </p:nvSpPr>
        <p:spPr>
          <a:xfrm>
            <a:off x="4206240" y="4546092"/>
            <a:ext cx="914400" cy="658368"/>
          </a:xfrm>
          <a:prstGeom prst="rect">
            <a:avLst/>
          </a:prstGeom>
          <a:solidFill>
            <a:schemeClr val="bg1"/>
          </a:solidFill>
          <a:ln w="19050">
            <a:solidFill>
              <a:schemeClr val="accent1"/>
            </a:solidFill>
          </a:ln>
        </p:spPr>
        <p:txBody>
          <a:bodyPr wrap="square" lIns="0" tIns="0" rIns="0" bIns="0" rtlCol="0" anchor="ctr"/>
          <a:lstStyle/>
          <a:p>
            <a:pPr algn="ctr" indent="0" marL="0">
              <a:buNone/>
            </a:pPr>
            <a:r>
              <a:rPr lang="en-US" sz="1400" dirty="0">
                <a:solidFill>
                  <a:schemeClr val="tx1"/>
                </a:solidFill>
                <a:latin typeface="Consolas" pitchFamily="34" charset="0"/>
                <a:ea typeface="Consolas" pitchFamily="34" charset="-122"/>
                <a:cs typeface="Consolas" pitchFamily="34" charset="-120"/>
              </a:rPr>
              <a:t>null</a:t>
            </a:r>
            <a:endParaRPr lang="en-US" sz="1400" dirty="0"/>
          </a:p>
        </p:txBody>
      </p:sp>
      <p:sp>
        <p:nvSpPr>
          <p:cNvPr id="20" name="Text 18"/>
          <p:cNvSpPr txBox="1"/>
          <p:nvPr/>
        </p:nvSpPr>
        <p:spPr>
          <a:xfrm>
            <a:off x="548640" y="5231892"/>
            <a:ext cx="914400"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21" name="Text 19"/>
          <p:cNvSpPr txBox="1"/>
          <p:nvPr/>
        </p:nvSpPr>
        <p:spPr>
          <a:xfrm>
            <a:off x="1463040" y="5231892"/>
            <a:ext cx="914400"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22" name="Text 20"/>
          <p:cNvSpPr txBox="1"/>
          <p:nvPr/>
        </p:nvSpPr>
        <p:spPr>
          <a:xfrm>
            <a:off x="2377440" y="5231892"/>
            <a:ext cx="914400"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23" name="Text 21"/>
          <p:cNvSpPr txBox="1"/>
          <p:nvPr/>
        </p:nvSpPr>
        <p:spPr>
          <a:xfrm>
            <a:off x="3291840" y="5231892"/>
            <a:ext cx="914400"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24" name="Text 22"/>
          <p:cNvSpPr txBox="1"/>
          <p:nvPr/>
        </p:nvSpPr>
        <p:spPr>
          <a:xfrm>
            <a:off x="4206240" y="5231892"/>
            <a:ext cx="914400"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25" name="Linie"/>
          <p:cNvSpPr/>
          <p:nvPr/>
        </p:nvSpPr>
        <p:spPr>
          <a:xfrm flipV="1">
            <a:off x="3749040" y="5524500"/>
            <a:ext cx="91" cy="347472"/>
          </a:xfrm>
          <a:prstGeom prst="line">
            <a:avLst/>
          </a:prstGeom>
          <a:noFill/>
          <a:ln w="38100">
            <a:solidFill>
              <a:schemeClr val="accent2"/>
            </a:solidFill>
            <a:prstDash val="solid"/>
            <a:tailEnd type="triangle"/>
          </a:ln>
        </p:spPr>
      </p:sp>
      <p:sp>
        <p:nvSpPr>
          <p:cNvPr id="26" name="Text 24"/>
          <p:cNvSpPr txBox="1"/>
          <p:nvPr/>
        </p:nvSpPr>
        <p:spPr>
          <a:xfrm>
            <a:off x="548640" y="5570220"/>
            <a:ext cx="3063240" cy="329184"/>
          </a:xfrm>
          <a:prstGeom prst="rect">
            <a:avLst/>
          </a:prstGeom>
          <a:noFill/>
          <a:ln/>
        </p:spPr>
        <p:txBody>
          <a:bodyPr wrap="square" lIns="0" tIns="0" rIns="0" bIns="0" rtlCol="0" anchor="ctr"/>
          <a:lstStyle/>
          <a:p>
            <a:pPr algn="r" indent="0" marL="0">
              <a:buNone/>
            </a:pPr>
            <a:r>
              <a:rPr lang="en-US" sz="1500" dirty="0">
                <a:solidFill>
                  <a:schemeClr val="tx1"/>
                </a:solidFill>
              </a:rPr>
              <a:t>nächster freier Platz:  </a:t>
            </a:r>
            <a:pPr algn="r" indent="0" marL="0">
              <a:buNone/>
            </a:pPr>
            <a:r>
              <a:rPr lang="en-US" sz="1500" b="1" dirty="0">
                <a:solidFill>
                  <a:schemeClr val="accent2"/>
                </a:solidFill>
                <a:latin typeface="Consolas" pitchFamily="34" charset="0"/>
                <a:ea typeface="Consolas" pitchFamily="34" charset="-122"/>
                <a:cs typeface="Consolas" pitchFamily="34" charset="-120"/>
              </a:rPr>
              <a:t>anzahl = 3</a:t>
            </a:r>
            <a:endParaRPr lang="en-US" sz="1500" dirty="0"/>
          </a:p>
        </p:txBody>
      </p:sp>
      <p:sp>
        <p:nvSpPr>
          <p:cNvPr id="27" name="Merke Zaehler"/>
          <p:cNvSpPr/>
          <p:nvPr/>
        </p:nvSpPr>
        <p:spPr>
          <a:xfrm>
            <a:off x="6035040" y="5201412"/>
            <a:ext cx="5577840" cy="925068"/>
          </a:xfrm>
          <a:prstGeom prst="roundRect">
            <a:avLst>
              <a:gd name="adj" fmla="val 11862"/>
            </a:avLst>
          </a:prstGeom>
          <a:solidFill>
            <a:schemeClr val="bg2"/>
          </a:solidFill>
          <a:ln/>
        </p:spPr>
      </p:sp>
      <p:sp>
        <p:nvSpPr>
          <p:cNvPr id="28" name="Text 26"/>
          <p:cNvSpPr txBox="1"/>
          <p:nvPr/>
        </p:nvSpPr>
        <p:spPr>
          <a:xfrm>
            <a:off x="6263640" y="5201412"/>
            <a:ext cx="5212080" cy="925068"/>
          </a:xfrm>
          <a:prstGeom prst="rect">
            <a:avLst/>
          </a:prstGeom>
          <a:noFill/>
          <a:ln/>
        </p:spPr>
        <p:txBody>
          <a:bodyPr wrap="square" lIns="0" tIns="0" rIns="0" bIns="0" rtlCol="0" anchor="ctr"/>
          <a:lstStyle/>
          <a:p>
            <a:pPr indent="0" marL="0">
              <a:buNone/>
            </a:pPr>
            <a:r>
              <a:rPr lang="en-US" sz="1600" b="1" dirty="0">
                <a:solidFill>
                  <a:schemeClr val="accent1"/>
                </a:solidFill>
              </a:rPr>
              <a:t>Sortiert wird absteigend: </a:t>
            </a:r>
            <a:pPr indent="0" marL="0">
              <a:buNone/>
            </a:pPr>
            <a:r>
              <a:rPr lang="en-US" sz="1600" dirty="0">
                <a:solidFill>
                  <a:schemeClr val="tx1"/>
                </a:solidFill>
              </a:rPr>
              <a:t>Platz 1 = meiste Punkte. </a:t>
            </a:r>
            <a:endParaRPr lang="en-US" sz="1600" dirty="0"/>
          </a:p>
          <a:p>
            <a:pPr indent="0" marL="0">
              <a:buNone/>
            </a:pPr>
            <a:r>
              <a:rPr lang="en-US" sz="1500" b="1" dirty="0">
                <a:solidFill>
                  <a:schemeClr val="tx1"/>
                </a:solidFill>
                <a:latin typeface="Consolas" pitchFamily="34" charset="0"/>
                <a:ea typeface="Consolas" pitchFamily="34" charset="-122"/>
                <a:cs typeface="Consolas" pitchFamily="34" charset="-120"/>
              </a:rPr>
              <a:t>besser</a:t>
            </a:r>
            <a:pPr indent="0" marL="0">
              <a:buNone/>
            </a:pPr>
            <a:r>
              <a:rPr lang="en-US" sz="1600" dirty="0">
                <a:solidFill>
                  <a:schemeClr val="tx1"/>
                </a:solidFill>
              </a:rPr>
              <a:t> zählt jeden Vergleich, </a:t>
            </a:r>
            <a:pPr indent="0" marL="0">
              <a:buNone/>
            </a:pPr>
            <a:r>
              <a:rPr lang="en-US" sz="1500" b="1" dirty="0">
                <a:solidFill>
                  <a:schemeClr val="tx1"/>
                </a:solidFill>
                <a:latin typeface="Consolas" pitchFamily="34" charset="0"/>
                <a:ea typeface="Consolas" pitchFamily="34" charset="-122"/>
                <a:cs typeface="Consolas" pitchFamily="34" charset="-120"/>
              </a:rPr>
              <a:t>vertausche</a:t>
            </a:r>
            <a:pPr indent="0" marL="0">
              <a:buNone/>
            </a:pPr>
            <a:r>
              <a:rPr lang="en-US" sz="1600" dirty="0">
                <a:solidFill>
                  <a:schemeClr val="tx1"/>
                </a:solidFill>
              </a:rPr>
              <a:t> jede Vertauschung.</a:t>
            </a:r>
            <a:endParaRPr lang="en-US" sz="16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Baustein 1: Maximum finden</a:t>
            </a:r>
            <a:endParaRPr lang="en-US" sz="3600" dirty="0"/>
          </a:p>
        </p:txBody>
      </p:sp>
      <p:sp>
        <p:nvSpPr>
          <p:cNvPr id="3" name="Code"/>
          <p:cNvSpPr txBox="1"/>
          <p:nvPr/>
        </p:nvSpPr>
        <p:spPr>
          <a:xfrm>
            <a:off x="548640" y="1325880"/>
            <a:ext cx="5852160" cy="3197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public</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hoechstePunktzahl</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if</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anzahl</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0)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return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-1;</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max</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eintraege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[0].</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getPunkte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for</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int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1;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&lt;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anzahl</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if</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eintraege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getPunkte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&gt;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max</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max</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eintraege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i</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getPunkte</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b="1" dirty="0">
                <a:solidFill>
                  <a:schemeClr val="accent1"/>
                </a:solidFill>
                <a:latin typeface="Consolas" pitchFamily="34" charset="0"/>
                <a:ea typeface="Consolas" pitchFamily="34" charset="-122"/>
                <a:cs typeface="Consolas" pitchFamily="34" charset="-120"/>
              </a:rPr>
              <a:t>return</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 </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max</a:t>
            </a:r>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a:p>
            <a:pPr algn="l" indent="0" marL="0">
              <a:lnSpc>
                <a:spcPts val="1900"/>
              </a:lnSpc>
              <a:buNone/>
            </a:pPr>
            <a:r>
              <a:rPr lang="en-US" sz="1500" dirty="0">
                <a:solidFill>
                  <a:schemeClr val="tx1"/>
                </a:solidFill>
                <a:latin typeface="Consolas" pitchFamily="34" charset="0"/>
                <a:ea typeface="Consolas" pitchFamily="34" charset="-122"/>
                <a:cs typeface="Consolas" pitchFamily="34" charset="-120"/>
              </a:rPr>
              <a:t>}</a:t>
            </a:r>
            <a:endParaRPr lang="en-US" sz="1500" dirty="0"/>
          </a:p>
        </p:txBody>
      </p:sp>
      <p:pic>
        <p:nvPicPr>
          <p:cNvPr id="4" name="Struktogramm sg_max" descr="Struktogramm sg_max">    </p:cNvPr>
          <p:cNvPicPr>
            <a:picLocks noChangeAspect="1"/>
          </p:cNvPicPr>
          <p:nvPr/>
        </p:nvPicPr>
        <p:blipFill>
          <a:blip r:embed="rId1"/>
          <a:stretch>
            <a:fillRect/>
          </a:stretch>
        </p:blipFill>
        <p:spPr>
          <a:xfrm>
            <a:off x="6720840" y="1325880"/>
            <a:ext cx="4892040" cy="3235055"/>
          </a:xfrm>
          <a:prstGeom prst="rect">
            <a:avLst/>
          </a:prstGeom>
        </p:spPr>
      </p:pic>
      <p:sp>
        <p:nvSpPr>
          <p:cNvPr id="5" name="Text 2"/>
          <p:cNvSpPr txBox="1"/>
          <p:nvPr/>
        </p:nvSpPr>
        <p:spPr>
          <a:xfrm>
            <a:off x="6720840" y="4634087"/>
            <a:ext cx="4892040" cy="292608"/>
          </a:xfrm>
          <a:prstGeom prst="rect">
            <a:avLst/>
          </a:prstGeom>
          <a:noFill/>
          <a:ln/>
        </p:spPr>
        <p:txBody>
          <a:bodyPr wrap="square" lIns="0" tIns="0" rIns="0" bIns="0" rtlCol="0" anchor="t"/>
          <a:lstStyle/>
          <a:p>
            <a:pPr indent="0" marL="0">
              <a:buNone/>
            </a:pPr>
            <a:r>
              <a:rPr lang="en-US" sz="1400" i="1" dirty="0">
                <a:solidFill>
                  <a:schemeClr val="accent6"/>
                </a:solidFill>
              </a:rPr>
              <a:t>dasselbe als Struktogramm (EH §5)</a:t>
            </a:r>
            <a:endParaRPr lang="en-US" sz="1400" dirty="0"/>
          </a:p>
        </p:txBody>
      </p:sp>
      <p:sp>
        <p:nvSpPr>
          <p:cNvPr id="6" name="Achtung max"/>
          <p:cNvSpPr/>
          <p:nvPr/>
        </p:nvSpPr>
        <p:spPr>
          <a:xfrm>
            <a:off x="548640" y="5120640"/>
            <a:ext cx="5852160" cy="1005840"/>
          </a:xfrm>
          <a:prstGeom prst="roundRect">
            <a:avLst>
              <a:gd name="adj" fmla="val 10909"/>
            </a:avLst>
          </a:prstGeom>
          <a:solidFill>
            <a:schemeClr val="bg1"/>
          </a:solidFill>
          <a:ln w="25400">
            <a:solidFill>
              <a:schemeClr val="accent4"/>
            </a:solidFill>
            <a:prstDash val="solid"/>
          </a:ln>
        </p:spPr>
      </p:sp>
      <p:sp>
        <p:nvSpPr>
          <p:cNvPr id="7" name="Text 4"/>
          <p:cNvSpPr txBox="1"/>
          <p:nvPr/>
        </p:nvSpPr>
        <p:spPr>
          <a:xfrm>
            <a:off x="749808" y="5120640"/>
            <a:ext cx="5486400" cy="1005840"/>
          </a:xfrm>
          <a:prstGeom prst="rect">
            <a:avLst/>
          </a:prstGeom>
          <a:noFill/>
          <a:ln/>
        </p:spPr>
        <p:txBody>
          <a:bodyPr wrap="square" lIns="0" tIns="0" rIns="0" bIns="0" rtlCol="0" anchor="ctr"/>
          <a:lstStyle/>
          <a:p>
            <a:pPr indent="0" marL="0">
              <a:buNone/>
            </a:pPr>
            <a:r>
              <a:rPr lang="en-US" sz="1600" b="1" dirty="0">
                <a:solidFill>
                  <a:schemeClr val="accent4"/>
                </a:solidFill>
              </a:rPr>
              <a:t>Achtung: </a:t>
            </a:r>
            <a:pPr indent="0" marL="0">
              <a:buNone/>
            </a:pPr>
            <a:r>
              <a:rPr lang="en-US" sz="1600" dirty="0">
                <a:solidFill>
                  <a:schemeClr val="tx1"/>
                </a:solidFill>
              </a:rPr>
              <a:t>nicht mit </a:t>
            </a:r>
            <a:pPr indent="0" marL="0">
              <a:buNone/>
            </a:pPr>
            <a:r>
              <a:rPr lang="en-US" sz="1600" b="1" dirty="0">
                <a:solidFill>
                  <a:schemeClr val="tx1"/>
                </a:solidFill>
                <a:latin typeface="Consolas" pitchFamily="34" charset="0"/>
                <a:ea typeface="Consolas" pitchFamily="34" charset="-122"/>
                <a:cs typeface="Consolas" pitchFamily="34" charset="-120"/>
              </a:rPr>
              <a:t>max = 0</a:t>
            </a:r>
            <a:pPr indent="0" marL="0">
              <a:buNone/>
            </a:pPr>
            <a:r>
              <a:rPr lang="en-US" sz="1600" dirty="0">
                <a:solidFill>
                  <a:schemeClr val="tx1"/>
                </a:solidFill>
              </a:rPr>
              <a:t> starten – Strafpunkte können negativ sein. Mit dem ersten Eintrag beginnen.</a:t>
            </a:r>
            <a:endParaRPr lang="en-US" sz="1600" dirty="0"/>
          </a:p>
        </p:txBody>
      </p:sp>
      <p:sp>
        <p:nvSpPr>
          <p:cNvPr id="8" name="besterEintrag"/>
          <p:cNvSpPr/>
          <p:nvPr/>
        </p:nvSpPr>
        <p:spPr>
          <a:xfrm>
            <a:off x="6720840" y="5120640"/>
            <a:ext cx="4892040" cy="1005840"/>
          </a:xfrm>
          <a:prstGeom prst="roundRect">
            <a:avLst>
              <a:gd name="adj" fmla="val 10909"/>
            </a:avLst>
          </a:prstGeom>
          <a:solidFill>
            <a:schemeClr val="bg2"/>
          </a:solidFill>
          <a:ln/>
        </p:spPr>
      </p:sp>
      <p:sp>
        <p:nvSpPr>
          <p:cNvPr id="9" name="Text 6"/>
          <p:cNvSpPr txBox="1"/>
          <p:nvPr/>
        </p:nvSpPr>
        <p:spPr>
          <a:xfrm>
            <a:off x="6922008" y="5120640"/>
            <a:ext cx="4526280" cy="1005840"/>
          </a:xfrm>
          <a:prstGeom prst="rect">
            <a:avLst/>
          </a:prstGeom>
          <a:noFill/>
          <a:ln/>
        </p:spPr>
        <p:txBody>
          <a:bodyPr wrap="square" lIns="0" tIns="0" rIns="0" bIns="0" rtlCol="0" anchor="ctr"/>
          <a:lstStyle/>
          <a:p>
            <a:pPr indent="0" marL="0">
              <a:buNone/>
            </a:pPr>
            <a:r>
              <a:rPr lang="en-US" sz="1600" b="1" dirty="0">
                <a:solidFill>
                  <a:schemeClr val="accent1"/>
                </a:solidFill>
              </a:rPr>
              <a:t>besterEintrag(): </a:t>
            </a:r>
            <a:pPr indent="0" marL="0">
              <a:buNone/>
            </a:pPr>
            <a:r>
              <a:rPr lang="en-US" sz="1600" dirty="0">
                <a:solidFill>
                  <a:schemeClr val="tx1"/>
                </a:solidFill>
              </a:rPr>
              <a:t>gleiche Idee, aber den Eintrag merken. Mit </a:t>
            </a:r>
            <a:pPr indent="0" marL="0">
              <a:buNone/>
            </a:pPr>
            <a:r>
              <a:rPr lang="en-US" sz="1600" b="1" dirty="0">
                <a:solidFill>
                  <a:schemeClr val="tx1"/>
                </a:solidFill>
                <a:latin typeface="Consolas" pitchFamily="34" charset="0"/>
                <a:ea typeface="Consolas" pitchFamily="34" charset="-122"/>
                <a:cs typeface="Consolas" pitchFamily="34" charset="-120"/>
              </a:rPr>
              <a:t>&gt;</a:t>
            </a:r>
            <a:pPr indent="0" marL="0">
              <a:buNone/>
            </a:pPr>
            <a:r>
              <a:rPr lang="en-US" sz="1600" dirty="0">
                <a:solidFill>
                  <a:schemeClr val="tx1"/>
                </a:solidFill>
              </a:rPr>
              <a:t> statt </a:t>
            </a:r>
            <a:pPr indent="0" marL="0">
              <a:buNone/>
            </a:pPr>
            <a:r>
              <a:rPr lang="en-US" sz="1600" b="1" dirty="0">
                <a:solidFill>
                  <a:schemeClr val="tx1"/>
                </a:solidFill>
                <a:latin typeface="Consolas" pitchFamily="34" charset="0"/>
                <a:ea typeface="Consolas" pitchFamily="34" charset="-122"/>
                <a:cs typeface="Consolas" pitchFamily="34" charset="-120"/>
              </a:rPr>
              <a:t>&gt;=</a:t>
            </a:r>
            <a:pPr indent="0" marL="0">
              <a:buNone/>
            </a:pPr>
            <a:r>
              <a:rPr lang="en-US" sz="1600" dirty="0">
                <a:solidFill>
                  <a:schemeClr val="tx1"/>
                </a:solidFill>
              </a:rPr>
              <a:t> bleibt bei Gleichstand der erste.</a:t>
            </a:r>
            <a:endParaRPr lang="en-US" sz="16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Baustein 2: Zählen und Durchschnitt</a:t>
            </a:r>
            <a:endParaRPr lang="en-US" sz="3600" dirty="0"/>
          </a:p>
        </p:txBody>
      </p:sp>
      <p:sp>
        <p:nvSpPr>
          <p:cNvPr id="3" name="Code"/>
          <p:cNvSpPr txBox="1"/>
          <p:nvPr/>
        </p:nvSpPr>
        <p:spPr>
          <a:xfrm>
            <a:off x="548640" y="1325880"/>
            <a:ext cx="5669280" cy="23591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anzahlUeber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grenze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zaehler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0;</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for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0;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&lt;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anzahl</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if</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eintraege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getPunkte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&gt;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grenze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zaehler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zaehler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pic>
        <p:nvPicPr>
          <p:cNvPr id="4" name="Struktogramm sg_zaehlen" descr="Struktogramm sg_zaehlen">    </p:cNvPr>
          <p:cNvPicPr>
            <a:picLocks noChangeAspect="1"/>
          </p:cNvPicPr>
          <p:nvPr/>
        </p:nvPicPr>
        <p:blipFill>
          <a:blip r:embed="rId1"/>
          <a:stretch>
            <a:fillRect/>
          </a:stretch>
        </p:blipFill>
        <p:spPr>
          <a:xfrm>
            <a:off x="548640" y="3959352"/>
            <a:ext cx="4480560" cy="2091408"/>
          </a:xfrm>
          <a:prstGeom prst="rect">
            <a:avLst/>
          </a:prstGeom>
        </p:spPr>
      </p:pic>
      <p:sp>
        <p:nvSpPr>
          <p:cNvPr id="5" name="Code"/>
          <p:cNvSpPr txBox="1"/>
          <p:nvPr/>
        </p:nvSpPr>
        <p:spPr>
          <a:xfrm>
            <a:off x="6492240" y="1325880"/>
            <a:ext cx="5120640" cy="2206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double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durchschnitt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0.0;</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for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eintraege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getPunkte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return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double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summe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6" name="Achtung double"/>
          <p:cNvSpPr/>
          <p:nvPr/>
        </p:nvSpPr>
        <p:spPr>
          <a:xfrm>
            <a:off x="6492240" y="3761232"/>
            <a:ext cx="5120640" cy="914400"/>
          </a:xfrm>
          <a:prstGeom prst="roundRect">
            <a:avLst>
              <a:gd name="adj" fmla="val 12000"/>
            </a:avLst>
          </a:prstGeom>
          <a:solidFill>
            <a:schemeClr val="bg1"/>
          </a:solidFill>
          <a:ln w="25400">
            <a:solidFill>
              <a:schemeClr val="accent4"/>
            </a:solidFill>
            <a:prstDash val="solid"/>
          </a:ln>
        </p:spPr>
      </p:sp>
      <p:sp>
        <p:nvSpPr>
          <p:cNvPr id="7" name="Text 4"/>
          <p:cNvSpPr txBox="1"/>
          <p:nvPr/>
        </p:nvSpPr>
        <p:spPr>
          <a:xfrm>
            <a:off x="6693408" y="3761232"/>
            <a:ext cx="4754880" cy="914400"/>
          </a:xfrm>
          <a:prstGeom prst="rect">
            <a:avLst/>
          </a:prstGeom>
          <a:noFill/>
          <a:ln/>
        </p:spPr>
        <p:txBody>
          <a:bodyPr wrap="square" lIns="0" tIns="0" rIns="0" bIns="0" rtlCol="0" anchor="ctr"/>
          <a:lstStyle/>
          <a:p>
            <a:pPr indent="0" marL="0">
              <a:buNone/>
            </a:pPr>
            <a:r>
              <a:rPr lang="en-US" sz="1600" b="1" dirty="0">
                <a:solidFill>
                  <a:schemeClr val="accent4"/>
                </a:solidFill>
              </a:rPr>
              <a:t>Achtung: </a:t>
            </a:r>
            <a:pPr indent="0" marL="0">
              <a:buNone/>
            </a:pPr>
            <a:r>
              <a:rPr lang="en-US" sz="1600" b="1" dirty="0">
                <a:solidFill>
                  <a:schemeClr val="tx1"/>
                </a:solidFill>
                <a:latin typeface="Consolas" pitchFamily="34" charset="0"/>
                <a:ea typeface="Consolas" pitchFamily="34" charset="-122"/>
                <a:cs typeface="Consolas" pitchFamily="34" charset="-120"/>
              </a:rPr>
              <a:t>(double)</a:t>
            </a:r>
            <a:pPr indent="0" marL="0">
              <a:buNone/>
            </a:pPr>
            <a:r>
              <a:rPr lang="en-US" sz="1600" dirty="0">
                <a:solidFill>
                  <a:schemeClr val="tx1"/>
                </a:solidFill>
              </a:rPr>
              <a:t> vor der Division – sonst rechnet Java ganzzahlig: 7 / 2 = 3.</a:t>
            </a:r>
            <a:endParaRPr lang="en-US" sz="1600" dirty="0"/>
          </a:p>
        </p:txBody>
      </p:sp>
      <p:sp>
        <p:nvSpPr>
          <p:cNvPr id="8" name="Beispiel Zaehlen"/>
          <p:cNvSpPr/>
          <p:nvPr/>
        </p:nvSpPr>
        <p:spPr>
          <a:xfrm>
            <a:off x="6492240" y="4983480"/>
            <a:ext cx="5120640" cy="1143000"/>
          </a:xfrm>
          <a:prstGeom prst="roundRect">
            <a:avLst>
              <a:gd name="adj" fmla="val 9600"/>
            </a:avLst>
          </a:prstGeom>
          <a:solidFill>
            <a:schemeClr val="bg1"/>
          </a:solidFill>
          <a:ln/>
          <a:effectLst>
            <a:outerShdw sx="100000" sy="100000" kx="0" ky="0" algn="bl" rotWithShape="0" blurRad="76200" dist="25400" dir="5400000">
              <a:srgbClr val="000000">
                <a:alpha val="18000"/>
              </a:srgbClr>
            </a:outerShdw>
          </a:effectLst>
        </p:spPr>
      </p:sp>
      <p:sp>
        <p:nvSpPr>
          <p:cNvPr id="9" name="Text 6"/>
          <p:cNvSpPr txBox="1"/>
          <p:nvPr/>
        </p:nvSpPr>
        <p:spPr>
          <a:xfrm>
            <a:off x="6720840" y="5047488"/>
            <a:ext cx="4754880" cy="1005840"/>
          </a:xfrm>
          <a:prstGeom prst="rect">
            <a:avLst/>
          </a:prstGeom>
          <a:noFill/>
          <a:ln/>
        </p:spPr>
        <p:txBody>
          <a:bodyPr wrap="square" lIns="0" tIns="0" rIns="0" bIns="0" rtlCol="0" anchor="t"/>
          <a:lstStyle/>
          <a:p>
            <a:pPr indent="0" marL="0">
              <a:buNone/>
            </a:pPr>
            <a:r>
              <a:rPr lang="en-US" sz="1600" b="1" dirty="0">
                <a:solidFill>
                  <a:schemeClr val="accent1"/>
                </a:solidFill>
              </a:rPr>
              <a:t>Liste 50, 80, 30, 90, 70</a:t>
            </a:r>
            <a:endParaRPr lang="en-US" sz="1600" dirty="0"/>
          </a:p>
          <a:p>
            <a:pPr indent="0" marL="0">
              <a:buNone/>
            </a:pPr>
            <a:r>
              <a:rPr lang="en-US" sz="1500" dirty="0">
                <a:solidFill>
                  <a:schemeClr val="tx1"/>
                </a:solidFill>
                <a:latin typeface="Consolas" pitchFamily="34" charset="0"/>
                <a:ea typeface="Consolas" pitchFamily="34" charset="-122"/>
                <a:cs typeface="Consolas" pitchFamily="34" charset="-120"/>
              </a:rPr>
              <a:t>anzahlUeber(60)</a:t>
            </a:r>
            <a:pPr indent="0" marL="0">
              <a:buNone/>
            </a:pPr>
            <a:r>
              <a:rPr lang="en-US" sz="1600" b="1" dirty="0">
                <a:solidFill>
                  <a:schemeClr val="tx1"/>
                </a:solidFill>
              </a:rPr>
              <a:t> → 3</a:t>
            </a:r>
            <a:endParaRPr lang="en-US" sz="1600" dirty="0"/>
          </a:p>
          <a:p>
            <a:pPr indent="0" marL="0">
              <a:buNone/>
            </a:pPr>
            <a:r>
              <a:rPr lang="en-US" sz="1500" dirty="0">
                <a:solidFill>
                  <a:schemeClr val="tx1"/>
                </a:solidFill>
                <a:latin typeface="Consolas" pitchFamily="34" charset="0"/>
                <a:ea typeface="Consolas" pitchFamily="34" charset="-122"/>
                <a:cs typeface="Consolas" pitchFamily="34" charset="-120"/>
              </a:rPr>
              <a:t>durchschnitt()</a:t>
            </a:r>
            <a:pPr indent="0" marL="0">
              <a:buNone/>
            </a:pPr>
            <a:r>
              <a:rPr lang="en-US" sz="1600" b="1" dirty="0">
                <a:solidFill>
                  <a:schemeClr val="tx1"/>
                </a:solidFill>
              </a:rPr>
              <a:t> → 320 / 5 = 64.0</a:t>
            </a:r>
            <a:endParaRPr lang="en-US" sz="16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Baustein 3: Lineare Suche</a:t>
            </a:r>
            <a:endParaRPr lang="en-US" sz="3600" dirty="0"/>
          </a:p>
        </p:txBody>
      </p:sp>
      <p:sp>
        <p:nvSpPr>
          <p:cNvPr id="3" name="Code"/>
          <p:cNvSpPr txBox="1"/>
          <p:nvPr/>
        </p:nvSpPr>
        <p:spPr>
          <a:xfrm>
            <a:off x="548640" y="1325880"/>
            <a:ext cx="5852160" cy="21305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indexVon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String</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name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for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0;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&lt;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anzahl</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if</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eintraege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getName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equals</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name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-1;</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pic>
        <p:nvPicPr>
          <p:cNvPr id="4" name="Struktogramm sg_suche" descr="Struktogramm sg_suche">    </p:cNvPr>
          <p:cNvPicPr>
            <a:picLocks noChangeAspect="1"/>
          </p:cNvPicPr>
          <p:nvPr/>
        </p:nvPicPr>
        <p:blipFill>
          <a:blip r:embed="rId1"/>
          <a:stretch>
            <a:fillRect/>
          </a:stretch>
        </p:blipFill>
        <p:spPr>
          <a:xfrm>
            <a:off x="6720840" y="1325880"/>
            <a:ext cx="4892040" cy="1976515"/>
          </a:xfrm>
          <a:prstGeom prst="rect">
            <a:avLst/>
          </a:prstGeom>
        </p:spPr>
      </p:pic>
      <p:sp>
        <p:nvSpPr>
          <p:cNvPr id="5" name="Text 2"/>
          <p:cNvSpPr txBox="1"/>
          <p:nvPr/>
        </p:nvSpPr>
        <p:spPr>
          <a:xfrm>
            <a:off x="548640" y="3593592"/>
            <a:ext cx="7315200" cy="365760"/>
          </a:xfrm>
          <a:prstGeom prst="rect">
            <a:avLst/>
          </a:prstGeom>
          <a:noFill/>
          <a:ln/>
        </p:spPr>
        <p:txBody>
          <a:bodyPr wrap="square" lIns="0" tIns="0" rIns="0" bIns="0" rtlCol="0" anchor="ctr"/>
          <a:lstStyle/>
          <a:p>
            <a:pPr indent="0" marL="0">
              <a:buNone/>
            </a:pPr>
            <a:r>
              <a:rPr lang="en-US" sz="1700" b="1" dirty="0">
                <a:solidFill>
                  <a:schemeClr val="accent1"/>
                </a:solidFill>
                <a:latin typeface="Consolas" pitchFamily="34" charset="0"/>
                <a:ea typeface="Consolas" pitchFamily="34" charset="-122"/>
                <a:cs typeface="Consolas" pitchFamily="34" charset="-120"/>
              </a:rPr>
              <a:t>indexVon("Cyra")</a:t>
            </a:r>
            <a:pPr indent="0" marL="0">
              <a:buNone/>
            </a:pPr>
            <a:r>
              <a:rPr lang="en-US" sz="1700" dirty="0">
                <a:solidFill>
                  <a:schemeClr val="tx1"/>
                </a:solidFill>
              </a:rPr>
              <a:t>  prüft von vorn, bis zum ersten Treffer</a:t>
            </a:r>
            <a:endParaRPr lang="en-US" sz="1700" dirty="0"/>
          </a:p>
        </p:txBody>
      </p:sp>
      <p:sp>
        <p:nvSpPr>
          <p:cNvPr id="6" name="Text 3"/>
          <p:cNvSpPr txBox="1"/>
          <p:nvPr/>
        </p:nvSpPr>
        <p:spPr>
          <a:xfrm>
            <a:off x="548640" y="4343400"/>
            <a:ext cx="1188720" cy="566928"/>
          </a:xfrm>
          <a:prstGeom prst="rect">
            <a:avLst/>
          </a:prstGeom>
          <a:solidFill>
            <a:schemeClr val="accent5"/>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Aria</a:t>
            </a:r>
            <a:endParaRPr lang="en-US" sz="1600" dirty="0"/>
          </a:p>
        </p:txBody>
      </p:sp>
      <p:sp>
        <p:nvSpPr>
          <p:cNvPr id="7" name="Text 4"/>
          <p:cNvSpPr txBox="1"/>
          <p:nvPr/>
        </p:nvSpPr>
        <p:spPr>
          <a:xfrm>
            <a:off x="548640" y="4928616"/>
            <a:ext cx="1188720"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8" name="Text 5"/>
          <p:cNvSpPr txBox="1"/>
          <p:nvPr/>
        </p:nvSpPr>
        <p:spPr>
          <a:xfrm>
            <a:off x="548640" y="4050792"/>
            <a:ext cx="1188720" cy="274320"/>
          </a:xfrm>
          <a:prstGeom prst="rect">
            <a:avLst/>
          </a:prstGeom>
          <a:noFill/>
          <a:ln/>
        </p:spPr>
        <p:txBody>
          <a:bodyPr wrap="square" lIns="0" tIns="0" rIns="0" bIns="0" rtlCol="0" anchor="t"/>
          <a:lstStyle/>
          <a:p>
            <a:pPr algn="ctr" indent="0" marL="0">
              <a:buNone/>
            </a:pPr>
            <a:r>
              <a:rPr lang="en-US" sz="1600" b="1" dirty="0">
                <a:solidFill>
                  <a:schemeClr val="accent4"/>
                </a:solidFill>
              </a:rPr>
              <a:t>✗</a:t>
            </a:r>
            <a:endParaRPr lang="en-US" sz="1600" dirty="0"/>
          </a:p>
        </p:txBody>
      </p:sp>
      <p:sp>
        <p:nvSpPr>
          <p:cNvPr id="9" name="Text 6"/>
          <p:cNvSpPr txBox="1"/>
          <p:nvPr/>
        </p:nvSpPr>
        <p:spPr>
          <a:xfrm>
            <a:off x="1737360" y="4343400"/>
            <a:ext cx="1188720" cy="566928"/>
          </a:xfrm>
          <a:prstGeom prst="rect">
            <a:avLst/>
          </a:prstGeom>
          <a:solidFill>
            <a:schemeClr val="accent5"/>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Brann</a:t>
            </a:r>
            <a:endParaRPr lang="en-US" sz="1600" dirty="0"/>
          </a:p>
        </p:txBody>
      </p:sp>
      <p:sp>
        <p:nvSpPr>
          <p:cNvPr id="10" name="Text 7"/>
          <p:cNvSpPr txBox="1"/>
          <p:nvPr/>
        </p:nvSpPr>
        <p:spPr>
          <a:xfrm>
            <a:off x="1737360" y="4928616"/>
            <a:ext cx="1188720"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11" name="Text 8"/>
          <p:cNvSpPr txBox="1"/>
          <p:nvPr/>
        </p:nvSpPr>
        <p:spPr>
          <a:xfrm>
            <a:off x="1737360" y="4050792"/>
            <a:ext cx="1188720" cy="274320"/>
          </a:xfrm>
          <a:prstGeom prst="rect">
            <a:avLst/>
          </a:prstGeom>
          <a:noFill/>
          <a:ln/>
        </p:spPr>
        <p:txBody>
          <a:bodyPr wrap="square" lIns="0" tIns="0" rIns="0" bIns="0" rtlCol="0" anchor="t"/>
          <a:lstStyle/>
          <a:p>
            <a:pPr algn="ctr" indent="0" marL="0">
              <a:buNone/>
            </a:pPr>
            <a:r>
              <a:rPr lang="en-US" sz="1600" b="1" dirty="0">
                <a:solidFill>
                  <a:schemeClr val="accent4"/>
                </a:solidFill>
              </a:rPr>
              <a:t>✗</a:t>
            </a:r>
            <a:endParaRPr lang="en-US" sz="1600" dirty="0"/>
          </a:p>
        </p:txBody>
      </p:sp>
      <p:sp>
        <p:nvSpPr>
          <p:cNvPr id="12" name="Text 9"/>
          <p:cNvSpPr txBox="1"/>
          <p:nvPr/>
        </p:nvSpPr>
        <p:spPr>
          <a:xfrm>
            <a:off x="2926080" y="4343400"/>
            <a:ext cx="1188720" cy="566928"/>
          </a:xfrm>
          <a:prstGeom prst="rect">
            <a:avLst/>
          </a:prstGeom>
          <a:solidFill>
            <a:srgbClr val="E2EFDA"/>
          </a:solidFill>
          <a:ln w="38100">
            <a:solidFill>
              <a:schemeClr val="accent3"/>
            </a:solidFill>
          </a:ln>
        </p:spPr>
        <p:txBody>
          <a:bodyPr wrap="square" lIns="0" tIns="0" rIns="0" bIns="0" rtlCol="0" anchor="ctr"/>
          <a:lstStyle/>
          <a:p>
            <a:pPr algn="ctr" indent="0" marL="0">
              <a:buNone/>
            </a:pPr>
            <a:r>
              <a:rPr lang="en-US" sz="1600" b="1" dirty="0">
                <a:solidFill>
                  <a:schemeClr val="accent1"/>
                </a:solidFill>
              </a:rPr>
              <a:t>Cyra</a:t>
            </a:r>
            <a:endParaRPr lang="en-US" sz="1600" dirty="0"/>
          </a:p>
        </p:txBody>
      </p:sp>
      <p:sp>
        <p:nvSpPr>
          <p:cNvPr id="13" name="Text 10"/>
          <p:cNvSpPr txBox="1"/>
          <p:nvPr/>
        </p:nvSpPr>
        <p:spPr>
          <a:xfrm>
            <a:off x="2926080" y="4928616"/>
            <a:ext cx="1188720"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14" name="Text 11"/>
          <p:cNvSpPr txBox="1"/>
          <p:nvPr/>
        </p:nvSpPr>
        <p:spPr>
          <a:xfrm>
            <a:off x="2926080" y="4050792"/>
            <a:ext cx="1188720" cy="274320"/>
          </a:xfrm>
          <a:prstGeom prst="rect">
            <a:avLst/>
          </a:prstGeom>
          <a:noFill/>
          <a:ln/>
        </p:spPr>
        <p:txBody>
          <a:bodyPr wrap="square" lIns="0" tIns="0" rIns="0" bIns="0" rtlCol="0" anchor="t"/>
          <a:lstStyle/>
          <a:p>
            <a:pPr algn="ctr" indent="0" marL="0">
              <a:buNone/>
            </a:pPr>
            <a:r>
              <a:rPr lang="en-US" sz="1600" b="1" dirty="0">
                <a:solidFill>
                  <a:schemeClr val="accent3"/>
                </a:solidFill>
              </a:rPr>
              <a:t>✓</a:t>
            </a:r>
            <a:endParaRPr lang="en-US" sz="1600" dirty="0"/>
          </a:p>
        </p:txBody>
      </p:sp>
      <p:sp>
        <p:nvSpPr>
          <p:cNvPr id="15" name="Text 12"/>
          <p:cNvSpPr txBox="1"/>
          <p:nvPr/>
        </p:nvSpPr>
        <p:spPr>
          <a:xfrm>
            <a:off x="4114800" y="4343400"/>
            <a:ext cx="1188720" cy="566928"/>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rgbClr val="8C8C8C"/>
                </a:solidFill>
              </a:rPr>
              <a:t>Dorn</a:t>
            </a:r>
            <a:endParaRPr lang="en-US" sz="1600" dirty="0"/>
          </a:p>
        </p:txBody>
      </p:sp>
      <p:sp>
        <p:nvSpPr>
          <p:cNvPr id="16" name="Text 13"/>
          <p:cNvSpPr txBox="1"/>
          <p:nvPr/>
        </p:nvSpPr>
        <p:spPr>
          <a:xfrm>
            <a:off x="4114800" y="4928616"/>
            <a:ext cx="1188720"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17" name="Text 14"/>
          <p:cNvSpPr txBox="1"/>
          <p:nvPr/>
        </p:nvSpPr>
        <p:spPr>
          <a:xfrm>
            <a:off x="5303520" y="4343400"/>
            <a:ext cx="1188720" cy="566928"/>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rgbClr val="8C8C8C"/>
                </a:solidFill>
              </a:rPr>
              <a:t>Eda</a:t>
            </a:r>
            <a:endParaRPr lang="en-US" sz="1600" dirty="0"/>
          </a:p>
        </p:txBody>
      </p:sp>
      <p:sp>
        <p:nvSpPr>
          <p:cNvPr id="18" name="Text 15"/>
          <p:cNvSpPr txBox="1"/>
          <p:nvPr/>
        </p:nvSpPr>
        <p:spPr>
          <a:xfrm>
            <a:off x="5303520" y="4928616"/>
            <a:ext cx="1188720"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19" name="Text 16"/>
          <p:cNvSpPr txBox="1"/>
          <p:nvPr/>
        </p:nvSpPr>
        <p:spPr>
          <a:xfrm>
            <a:off x="6583680" y="4343400"/>
            <a:ext cx="1828800" cy="822960"/>
          </a:xfrm>
          <a:prstGeom prst="rect">
            <a:avLst/>
          </a:prstGeom>
          <a:noFill/>
          <a:ln/>
        </p:spPr>
        <p:txBody>
          <a:bodyPr wrap="square" lIns="0" tIns="0" rIns="0" bIns="0" rtlCol="0" anchor="t"/>
          <a:lstStyle/>
          <a:p>
            <a:pPr indent="0" marL="0">
              <a:buNone/>
            </a:pPr>
            <a:r>
              <a:rPr lang="en-US" sz="1600" b="1" dirty="0">
                <a:solidFill>
                  <a:schemeClr val="accent3"/>
                </a:solidFill>
              </a:rPr>
              <a:t>→ gib 2 zurück</a:t>
            </a:r>
            <a:endParaRPr lang="en-US" sz="1600" dirty="0"/>
          </a:p>
          <a:p>
            <a:pPr indent="0" marL="0">
              <a:buNone/>
            </a:pPr>
            <a:r>
              <a:rPr lang="en-US" sz="1600" dirty="0">
                <a:solidFill>
                  <a:schemeClr val="tx1"/>
                </a:solidFill>
              </a:rPr>
              <a:t>nach 3 Prüfungen</a:t>
            </a:r>
            <a:endParaRPr lang="en-US" sz="1600" dirty="0"/>
          </a:p>
        </p:txBody>
      </p:sp>
      <p:sp>
        <p:nvSpPr>
          <p:cNvPr id="20" name="Achtung equals"/>
          <p:cNvSpPr/>
          <p:nvPr/>
        </p:nvSpPr>
        <p:spPr>
          <a:xfrm>
            <a:off x="548640" y="5349240"/>
            <a:ext cx="5486400" cy="777240"/>
          </a:xfrm>
          <a:prstGeom prst="roundRect">
            <a:avLst>
              <a:gd name="adj" fmla="val 14118"/>
            </a:avLst>
          </a:prstGeom>
          <a:solidFill>
            <a:schemeClr val="bg1"/>
          </a:solidFill>
          <a:ln w="25400">
            <a:solidFill>
              <a:schemeClr val="accent4"/>
            </a:solidFill>
            <a:prstDash val="solid"/>
          </a:ln>
        </p:spPr>
      </p:sp>
      <p:sp>
        <p:nvSpPr>
          <p:cNvPr id="21" name="Text 18"/>
          <p:cNvSpPr txBox="1"/>
          <p:nvPr/>
        </p:nvSpPr>
        <p:spPr>
          <a:xfrm>
            <a:off x="749808" y="5349240"/>
            <a:ext cx="5120640" cy="777240"/>
          </a:xfrm>
          <a:prstGeom prst="rect">
            <a:avLst/>
          </a:prstGeom>
          <a:noFill/>
          <a:ln/>
        </p:spPr>
        <p:txBody>
          <a:bodyPr wrap="square" lIns="0" tIns="0" rIns="0" bIns="0" rtlCol="0" anchor="ctr"/>
          <a:lstStyle/>
          <a:p>
            <a:pPr indent="0" marL="0">
              <a:buNone/>
            </a:pPr>
            <a:r>
              <a:rPr lang="en-US" sz="1600" b="1" dirty="0">
                <a:solidFill>
                  <a:schemeClr val="accent4"/>
                </a:solidFill>
              </a:rPr>
              <a:t>Achtung Abi: </a:t>
            </a:r>
            <a:pPr indent="0" marL="0">
              <a:buNone/>
            </a:pPr>
            <a:r>
              <a:rPr lang="en-US" sz="1600" dirty="0">
                <a:solidFill>
                  <a:schemeClr val="tx1"/>
                </a:solidFill>
              </a:rPr>
              <a:t>Zeichenketten mit </a:t>
            </a:r>
            <a:pPr indent="0" marL="0">
              <a:buNone/>
            </a:pPr>
            <a:r>
              <a:rPr lang="en-US" sz="1600" b="1" dirty="0">
                <a:solidFill>
                  <a:schemeClr val="tx1"/>
                </a:solidFill>
                <a:latin typeface="Consolas" pitchFamily="34" charset="0"/>
                <a:ea typeface="Consolas" pitchFamily="34" charset="-122"/>
                <a:cs typeface="Consolas" pitchFamily="34" charset="-120"/>
              </a:rPr>
              <a:t>equals</a:t>
            </a:r>
            <a:pPr indent="0" marL="0">
              <a:buNone/>
            </a:pPr>
            <a:r>
              <a:rPr lang="en-US" sz="1600" dirty="0">
                <a:solidFill>
                  <a:schemeClr val="tx1"/>
                </a:solidFill>
              </a:rPr>
              <a:t> vergleichen, nie mit </a:t>
            </a:r>
            <a:pPr indent="0" marL="0">
              <a:buNone/>
            </a:pPr>
            <a:r>
              <a:rPr lang="en-US" sz="1600" b="1" dirty="0">
                <a:solidFill>
                  <a:schemeClr val="tx1"/>
                </a:solidFill>
                <a:latin typeface="Consolas" pitchFamily="34" charset="0"/>
                <a:ea typeface="Consolas" pitchFamily="34" charset="-122"/>
                <a:cs typeface="Consolas" pitchFamily="34" charset="-120"/>
              </a:rPr>
              <a:t>==</a:t>
            </a:r>
            <a:pPr indent="0" marL="0">
              <a:buNone/>
            </a:pPr>
            <a:r>
              <a:rPr lang="en-US" sz="1600" dirty="0">
                <a:solidFill>
                  <a:schemeClr val="tx1"/>
                </a:solidFill>
              </a:rPr>
              <a:t>. Die Online-IDE verzeiht ==, echtes Java nicht.</a:t>
            </a:r>
            <a:endParaRPr lang="en-US" sz="1600" dirty="0"/>
          </a:p>
        </p:txBody>
      </p:sp>
      <p:sp>
        <p:nvSpPr>
          <p:cNvPr id="22" name="Merke return"/>
          <p:cNvSpPr/>
          <p:nvPr/>
        </p:nvSpPr>
        <p:spPr>
          <a:xfrm>
            <a:off x="6309360" y="5349240"/>
            <a:ext cx="5303520" cy="777240"/>
          </a:xfrm>
          <a:prstGeom prst="roundRect">
            <a:avLst>
              <a:gd name="adj" fmla="val 14118"/>
            </a:avLst>
          </a:prstGeom>
          <a:solidFill>
            <a:schemeClr val="bg2"/>
          </a:solidFill>
          <a:ln/>
        </p:spPr>
      </p:sp>
      <p:sp>
        <p:nvSpPr>
          <p:cNvPr id="23" name="Text 20"/>
          <p:cNvSpPr txBox="1"/>
          <p:nvPr/>
        </p:nvSpPr>
        <p:spPr>
          <a:xfrm>
            <a:off x="6510528" y="5349240"/>
            <a:ext cx="4937760" cy="777240"/>
          </a:xfrm>
          <a:prstGeom prst="rect">
            <a:avLst/>
          </a:prstGeom>
          <a:noFill/>
          <a:ln/>
        </p:spPr>
        <p:txBody>
          <a:bodyPr wrap="square" lIns="0" tIns="0" rIns="0" bIns="0" rtlCol="0" anchor="ctr"/>
          <a:lstStyle/>
          <a:p>
            <a:pPr indent="0" marL="0">
              <a:buNone/>
            </a:pPr>
            <a:r>
              <a:rPr lang="en-US" sz="1600" b="1" dirty="0">
                <a:solidFill>
                  <a:schemeClr val="accent1"/>
                </a:solidFill>
              </a:rPr>
              <a:t>Merke: </a:t>
            </a:r>
            <a:pPr indent="0" marL="0">
              <a:buNone/>
            </a:pPr>
            <a:r>
              <a:rPr lang="en-US" sz="1600" b="1" dirty="0">
                <a:solidFill>
                  <a:schemeClr val="tx1"/>
                </a:solidFill>
                <a:latin typeface="Consolas" pitchFamily="34" charset="0"/>
                <a:ea typeface="Consolas" pitchFamily="34" charset="-122"/>
                <a:cs typeface="Consolas" pitchFamily="34" charset="-120"/>
              </a:rPr>
              <a:t>return -1</a:t>
            </a:r>
            <a:pPr indent="0" marL="0">
              <a:buNone/>
            </a:pPr>
            <a:r>
              <a:rPr lang="en-US" sz="1600" dirty="0">
                <a:solidFill>
                  <a:schemeClr val="tx1"/>
                </a:solidFill>
              </a:rPr>
              <a:t> steht nach der Schleife – nicht im else. Sonst wird nur der erste Eintrag geprüft.</a:t>
            </a:r>
            <a:endParaRPr lang="en-US" sz="16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Baustein 4: Duplikate – jeder mit jedem</a:t>
            </a:r>
            <a:endParaRPr lang="en-US" sz="3600" dirty="0"/>
          </a:p>
        </p:txBody>
      </p:sp>
      <p:sp>
        <p:nvSpPr>
          <p:cNvPr id="3" name="Code"/>
          <p:cNvSpPr txBox="1"/>
          <p:nvPr/>
        </p:nvSpPr>
        <p:spPr>
          <a:xfrm>
            <a:off x="548640" y="1325880"/>
            <a:ext cx="5852160" cy="25369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boolean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hatDoppelteNamen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for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0;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&lt;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anzahl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- 1;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for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j</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+ 1;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j</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&lt;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anzahl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j</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eintraege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getName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equals</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eintraege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j</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getName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true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return</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false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pic>
        <p:nvPicPr>
          <p:cNvPr id="4" name="Struktogramm sg_doppelt" descr="Struktogramm sg_doppelt">    </p:cNvPr>
          <p:cNvPicPr>
            <a:picLocks noChangeAspect="1"/>
          </p:cNvPicPr>
          <p:nvPr/>
        </p:nvPicPr>
        <p:blipFill>
          <a:blip r:embed="rId1"/>
          <a:stretch>
            <a:fillRect/>
          </a:stretch>
        </p:blipFill>
        <p:spPr>
          <a:xfrm>
            <a:off x="6720840" y="1325880"/>
            <a:ext cx="4892040" cy="1941422"/>
          </a:xfrm>
          <a:prstGeom prst="rect">
            <a:avLst/>
          </a:prstGeom>
        </p:spPr>
      </p:pic>
      <p:sp>
        <p:nvSpPr>
          <p:cNvPr id="5" name="Text 2"/>
          <p:cNvSpPr txBox="1"/>
          <p:nvPr/>
        </p:nvSpPr>
        <p:spPr>
          <a:xfrm>
            <a:off x="7223760" y="3410712"/>
            <a:ext cx="1828800" cy="256032"/>
          </a:xfrm>
          <a:prstGeom prst="rect">
            <a:avLst/>
          </a:prstGeom>
          <a:noFill/>
          <a:ln/>
        </p:spPr>
        <p:txBody>
          <a:bodyPr wrap="square" lIns="0" tIns="0" rIns="0" bIns="0" rtlCol="0" anchor="t"/>
          <a:lstStyle/>
          <a:p>
            <a:pPr algn="ctr" indent="0" marL="0">
              <a:buNone/>
            </a:pPr>
            <a:r>
              <a:rPr lang="en-US" sz="1300" b="1" dirty="0">
                <a:solidFill>
                  <a:schemeClr val="accent6"/>
                </a:solidFill>
              </a:rPr>
              <a:t>j →</a:t>
            </a:r>
            <a:endParaRPr lang="en-US" sz="1300" dirty="0"/>
          </a:p>
        </p:txBody>
      </p:sp>
      <p:sp>
        <p:nvSpPr>
          <p:cNvPr id="6" name="Text 3"/>
          <p:cNvSpPr txBox="1"/>
          <p:nvPr/>
        </p:nvSpPr>
        <p:spPr>
          <a:xfrm>
            <a:off x="7223760" y="3685032"/>
            <a:ext cx="365760"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7" name="Text 4"/>
          <p:cNvSpPr txBox="1"/>
          <p:nvPr/>
        </p:nvSpPr>
        <p:spPr>
          <a:xfrm>
            <a:off x="7589520" y="3685032"/>
            <a:ext cx="365760"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8" name="Text 5"/>
          <p:cNvSpPr txBox="1"/>
          <p:nvPr/>
        </p:nvSpPr>
        <p:spPr>
          <a:xfrm>
            <a:off x="7955280" y="3685032"/>
            <a:ext cx="365760"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9" name="Text 6"/>
          <p:cNvSpPr txBox="1"/>
          <p:nvPr/>
        </p:nvSpPr>
        <p:spPr>
          <a:xfrm>
            <a:off x="8321040" y="3685032"/>
            <a:ext cx="365760"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10" name="Text 7"/>
          <p:cNvSpPr txBox="1"/>
          <p:nvPr/>
        </p:nvSpPr>
        <p:spPr>
          <a:xfrm>
            <a:off x="8686800" y="3685032"/>
            <a:ext cx="365760"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11" name="Text 8"/>
          <p:cNvSpPr txBox="1"/>
          <p:nvPr/>
        </p:nvSpPr>
        <p:spPr>
          <a:xfrm>
            <a:off x="6903720" y="3977640"/>
            <a:ext cx="274320" cy="365760"/>
          </a:xfrm>
          <a:prstGeom prst="rect">
            <a:avLst/>
          </a:prstGeom>
          <a:noFill/>
          <a:ln/>
        </p:spPr>
        <p:txBody>
          <a:bodyPr wrap="square" lIns="0" tIns="0" rIns="0" bIns="0" rtlCol="0" anchor="ctr"/>
          <a:lstStyle/>
          <a:p>
            <a:pPr algn="ctr" indent="0" marL="0">
              <a:buNone/>
            </a:pPr>
            <a:r>
              <a:rPr lang="en-US" sz="1300" dirty="0">
                <a:solidFill>
                  <a:schemeClr val="accent6"/>
                </a:solidFill>
              </a:rPr>
              <a:t>0</a:t>
            </a:r>
            <a:endParaRPr lang="en-US" sz="1300" dirty="0"/>
          </a:p>
        </p:txBody>
      </p:sp>
      <p:sp>
        <p:nvSpPr>
          <p:cNvPr id="12" name="Paar 0-0"/>
          <p:cNvSpPr/>
          <p:nvPr/>
        </p:nvSpPr>
        <p:spPr>
          <a:xfrm>
            <a:off x="7223760" y="3977640"/>
            <a:ext cx="365760" cy="365760"/>
          </a:xfrm>
          <a:prstGeom prst="rect">
            <a:avLst/>
          </a:prstGeom>
          <a:solidFill>
            <a:srgbClr val="D9D9D9"/>
          </a:solidFill>
          <a:ln w="9525">
            <a:solidFill>
              <a:srgbClr val="A6A6A6"/>
            </a:solidFill>
            <a:prstDash val="solid"/>
          </a:ln>
        </p:spPr>
      </p:sp>
      <p:sp>
        <p:nvSpPr>
          <p:cNvPr id="13" name="Paar 0-1"/>
          <p:cNvSpPr/>
          <p:nvPr/>
        </p:nvSpPr>
        <p:spPr>
          <a:xfrm>
            <a:off x="7589520" y="3977640"/>
            <a:ext cx="365760" cy="365760"/>
          </a:xfrm>
          <a:prstGeom prst="rect">
            <a:avLst/>
          </a:prstGeom>
          <a:solidFill>
            <a:schemeClr val="accent2"/>
          </a:solidFill>
          <a:ln w="9525">
            <a:solidFill>
              <a:srgbClr val="A6A6A6"/>
            </a:solidFill>
            <a:prstDash val="solid"/>
          </a:ln>
        </p:spPr>
      </p:sp>
      <p:sp>
        <p:nvSpPr>
          <p:cNvPr id="14" name="Paar 0-2"/>
          <p:cNvSpPr/>
          <p:nvPr/>
        </p:nvSpPr>
        <p:spPr>
          <a:xfrm>
            <a:off x="7955280" y="3977640"/>
            <a:ext cx="365760" cy="365760"/>
          </a:xfrm>
          <a:prstGeom prst="rect">
            <a:avLst/>
          </a:prstGeom>
          <a:solidFill>
            <a:schemeClr val="accent2"/>
          </a:solidFill>
          <a:ln w="9525">
            <a:solidFill>
              <a:srgbClr val="A6A6A6"/>
            </a:solidFill>
            <a:prstDash val="solid"/>
          </a:ln>
        </p:spPr>
      </p:sp>
      <p:sp>
        <p:nvSpPr>
          <p:cNvPr id="15" name="Paar 0-3"/>
          <p:cNvSpPr/>
          <p:nvPr/>
        </p:nvSpPr>
        <p:spPr>
          <a:xfrm>
            <a:off x="8321040" y="3977640"/>
            <a:ext cx="365760" cy="365760"/>
          </a:xfrm>
          <a:prstGeom prst="rect">
            <a:avLst/>
          </a:prstGeom>
          <a:solidFill>
            <a:schemeClr val="accent2"/>
          </a:solidFill>
          <a:ln w="9525">
            <a:solidFill>
              <a:srgbClr val="A6A6A6"/>
            </a:solidFill>
            <a:prstDash val="solid"/>
          </a:ln>
        </p:spPr>
      </p:sp>
      <p:sp>
        <p:nvSpPr>
          <p:cNvPr id="16" name="Paar 0-4"/>
          <p:cNvSpPr/>
          <p:nvPr/>
        </p:nvSpPr>
        <p:spPr>
          <a:xfrm>
            <a:off x="8686800" y="3977640"/>
            <a:ext cx="365760" cy="365760"/>
          </a:xfrm>
          <a:prstGeom prst="rect">
            <a:avLst/>
          </a:prstGeom>
          <a:solidFill>
            <a:schemeClr val="accent2"/>
          </a:solidFill>
          <a:ln w="9525">
            <a:solidFill>
              <a:srgbClr val="A6A6A6"/>
            </a:solidFill>
            <a:prstDash val="solid"/>
          </a:ln>
        </p:spPr>
      </p:sp>
      <p:sp>
        <p:nvSpPr>
          <p:cNvPr id="17" name="Text 14"/>
          <p:cNvSpPr txBox="1"/>
          <p:nvPr/>
        </p:nvSpPr>
        <p:spPr>
          <a:xfrm>
            <a:off x="6903720" y="4343400"/>
            <a:ext cx="274320" cy="365760"/>
          </a:xfrm>
          <a:prstGeom prst="rect">
            <a:avLst/>
          </a:prstGeom>
          <a:noFill/>
          <a:ln/>
        </p:spPr>
        <p:txBody>
          <a:bodyPr wrap="square" lIns="0" tIns="0" rIns="0" bIns="0" rtlCol="0" anchor="ctr"/>
          <a:lstStyle/>
          <a:p>
            <a:pPr algn="ctr" indent="0" marL="0">
              <a:buNone/>
            </a:pPr>
            <a:r>
              <a:rPr lang="en-US" sz="1300" dirty="0">
                <a:solidFill>
                  <a:schemeClr val="accent6"/>
                </a:solidFill>
              </a:rPr>
              <a:t>1</a:t>
            </a:r>
            <a:endParaRPr lang="en-US" sz="1300" dirty="0"/>
          </a:p>
        </p:txBody>
      </p:sp>
      <p:sp>
        <p:nvSpPr>
          <p:cNvPr id="18" name="Paar 1-0"/>
          <p:cNvSpPr/>
          <p:nvPr/>
        </p:nvSpPr>
        <p:spPr>
          <a:xfrm>
            <a:off x="7223760" y="4343400"/>
            <a:ext cx="365760" cy="365760"/>
          </a:xfrm>
          <a:prstGeom prst="rect">
            <a:avLst/>
          </a:prstGeom>
          <a:solidFill>
            <a:schemeClr val="bg1"/>
          </a:solidFill>
          <a:ln w="9525">
            <a:solidFill>
              <a:srgbClr val="A6A6A6"/>
            </a:solidFill>
            <a:prstDash val="solid"/>
          </a:ln>
        </p:spPr>
      </p:sp>
      <p:sp>
        <p:nvSpPr>
          <p:cNvPr id="19" name="Paar 1-1"/>
          <p:cNvSpPr/>
          <p:nvPr/>
        </p:nvSpPr>
        <p:spPr>
          <a:xfrm>
            <a:off x="7589520" y="4343400"/>
            <a:ext cx="365760" cy="365760"/>
          </a:xfrm>
          <a:prstGeom prst="rect">
            <a:avLst/>
          </a:prstGeom>
          <a:solidFill>
            <a:srgbClr val="D9D9D9"/>
          </a:solidFill>
          <a:ln w="9525">
            <a:solidFill>
              <a:srgbClr val="A6A6A6"/>
            </a:solidFill>
            <a:prstDash val="solid"/>
          </a:ln>
        </p:spPr>
      </p:sp>
      <p:sp>
        <p:nvSpPr>
          <p:cNvPr id="20" name="Paar 1-2"/>
          <p:cNvSpPr/>
          <p:nvPr/>
        </p:nvSpPr>
        <p:spPr>
          <a:xfrm>
            <a:off x="7955280" y="4343400"/>
            <a:ext cx="365760" cy="365760"/>
          </a:xfrm>
          <a:prstGeom prst="rect">
            <a:avLst/>
          </a:prstGeom>
          <a:solidFill>
            <a:schemeClr val="accent2"/>
          </a:solidFill>
          <a:ln w="9525">
            <a:solidFill>
              <a:srgbClr val="A6A6A6"/>
            </a:solidFill>
            <a:prstDash val="solid"/>
          </a:ln>
        </p:spPr>
      </p:sp>
      <p:sp>
        <p:nvSpPr>
          <p:cNvPr id="21" name="Paar 1-3"/>
          <p:cNvSpPr/>
          <p:nvPr/>
        </p:nvSpPr>
        <p:spPr>
          <a:xfrm>
            <a:off x="8321040" y="4343400"/>
            <a:ext cx="365760" cy="365760"/>
          </a:xfrm>
          <a:prstGeom prst="rect">
            <a:avLst/>
          </a:prstGeom>
          <a:solidFill>
            <a:schemeClr val="accent2"/>
          </a:solidFill>
          <a:ln w="9525">
            <a:solidFill>
              <a:srgbClr val="A6A6A6"/>
            </a:solidFill>
            <a:prstDash val="solid"/>
          </a:ln>
        </p:spPr>
      </p:sp>
      <p:sp>
        <p:nvSpPr>
          <p:cNvPr id="22" name="Paar 1-4"/>
          <p:cNvSpPr/>
          <p:nvPr/>
        </p:nvSpPr>
        <p:spPr>
          <a:xfrm>
            <a:off x="8686800" y="4343400"/>
            <a:ext cx="365760" cy="365760"/>
          </a:xfrm>
          <a:prstGeom prst="rect">
            <a:avLst/>
          </a:prstGeom>
          <a:solidFill>
            <a:schemeClr val="accent2"/>
          </a:solidFill>
          <a:ln w="9525">
            <a:solidFill>
              <a:srgbClr val="A6A6A6"/>
            </a:solidFill>
            <a:prstDash val="solid"/>
          </a:ln>
        </p:spPr>
      </p:sp>
      <p:sp>
        <p:nvSpPr>
          <p:cNvPr id="23" name="Text 20"/>
          <p:cNvSpPr txBox="1"/>
          <p:nvPr/>
        </p:nvSpPr>
        <p:spPr>
          <a:xfrm>
            <a:off x="6903720" y="4709160"/>
            <a:ext cx="274320" cy="365760"/>
          </a:xfrm>
          <a:prstGeom prst="rect">
            <a:avLst/>
          </a:prstGeom>
          <a:noFill/>
          <a:ln/>
        </p:spPr>
        <p:txBody>
          <a:bodyPr wrap="square" lIns="0" tIns="0" rIns="0" bIns="0" rtlCol="0" anchor="ctr"/>
          <a:lstStyle/>
          <a:p>
            <a:pPr algn="ctr" indent="0" marL="0">
              <a:buNone/>
            </a:pPr>
            <a:r>
              <a:rPr lang="en-US" sz="1300" dirty="0">
                <a:solidFill>
                  <a:schemeClr val="accent6"/>
                </a:solidFill>
              </a:rPr>
              <a:t>2</a:t>
            </a:r>
            <a:endParaRPr lang="en-US" sz="1300" dirty="0"/>
          </a:p>
        </p:txBody>
      </p:sp>
      <p:sp>
        <p:nvSpPr>
          <p:cNvPr id="24" name="Paar 2-0"/>
          <p:cNvSpPr/>
          <p:nvPr/>
        </p:nvSpPr>
        <p:spPr>
          <a:xfrm>
            <a:off x="7223760" y="4709160"/>
            <a:ext cx="365760" cy="365760"/>
          </a:xfrm>
          <a:prstGeom prst="rect">
            <a:avLst/>
          </a:prstGeom>
          <a:solidFill>
            <a:schemeClr val="bg1"/>
          </a:solidFill>
          <a:ln w="9525">
            <a:solidFill>
              <a:srgbClr val="A6A6A6"/>
            </a:solidFill>
            <a:prstDash val="solid"/>
          </a:ln>
        </p:spPr>
      </p:sp>
      <p:sp>
        <p:nvSpPr>
          <p:cNvPr id="25" name="Paar 2-1"/>
          <p:cNvSpPr/>
          <p:nvPr/>
        </p:nvSpPr>
        <p:spPr>
          <a:xfrm>
            <a:off x="7589520" y="4709160"/>
            <a:ext cx="365760" cy="365760"/>
          </a:xfrm>
          <a:prstGeom prst="rect">
            <a:avLst/>
          </a:prstGeom>
          <a:solidFill>
            <a:schemeClr val="bg1"/>
          </a:solidFill>
          <a:ln w="9525">
            <a:solidFill>
              <a:srgbClr val="A6A6A6"/>
            </a:solidFill>
            <a:prstDash val="solid"/>
          </a:ln>
        </p:spPr>
      </p:sp>
      <p:sp>
        <p:nvSpPr>
          <p:cNvPr id="26" name="Paar 2-2"/>
          <p:cNvSpPr/>
          <p:nvPr/>
        </p:nvSpPr>
        <p:spPr>
          <a:xfrm>
            <a:off x="7955280" y="4709160"/>
            <a:ext cx="365760" cy="365760"/>
          </a:xfrm>
          <a:prstGeom prst="rect">
            <a:avLst/>
          </a:prstGeom>
          <a:solidFill>
            <a:srgbClr val="D9D9D9"/>
          </a:solidFill>
          <a:ln w="9525">
            <a:solidFill>
              <a:srgbClr val="A6A6A6"/>
            </a:solidFill>
            <a:prstDash val="solid"/>
          </a:ln>
        </p:spPr>
      </p:sp>
      <p:sp>
        <p:nvSpPr>
          <p:cNvPr id="27" name="Paar 2-3"/>
          <p:cNvSpPr/>
          <p:nvPr/>
        </p:nvSpPr>
        <p:spPr>
          <a:xfrm>
            <a:off x="8321040" y="4709160"/>
            <a:ext cx="365760" cy="365760"/>
          </a:xfrm>
          <a:prstGeom prst="rect">
            <a:avLst/>
          </a:prstGeom>
          <a:solidFill>
            <a:schemeClr val="accent2"/>
          </a:solidFill>
          <a:ln w="9525">
            <a:solidFill>
              <a:srgbClr val="A6A6A6"/>
            </a:solidFill>
            <a:prstDash val="solid"/>
          </a:ln>
        </p:spPr>
      </p:sp>
      <p:sp>
        <p:nvSpPr>
          <p:cNvPr id="28" name="Paar 2-4"/>
          <p:cNvSpPr/>
          <p:nvPr/>
        </p:nvSpPr>
        <p:spPr>
          <a:xfrm>
            <a:off x="8686800" y="4709160"/>
            <a:ext cx="365760" cy="365760"/>
          </a:xfrm>
          <a:prstGeom prst="rect">
            <a:avLst/>
          </a:prstGeom>
          <a:solidFill>
            <a:schemeClr val="accent2"/>
          </a:solidFill>
          <a:ln w="9525">
            <a:solidFill>
              <a:srgbClr val="A6A6A6"/>
            </a:solidFill>
            <a:prstDash val="solid"/>
          </a:ln>
        </p:spPr>
      </p:sp>
      <p:sp>
        <p:nvSpPr>
          <p:cNvPr id="29" name="Text 26"/>
          <p:cNvSpPr txBox="1"/>
          <p:nvPr/>
        </p:nvSpPr>
        <p:spPr>
          <a:xfrm>
            <a:off x="6903720" y="5074920"/>
            <a:ext cx="274320" cy="365760"/>
          </a:xfrm>
          <a:prstGeom prst="rect">
            <a:avLst/>
          </a:prstGeom>
          <a:noFill/>
          <a:ln/>
        </p:spPr>
        <p:txBody>
          <a:bodyPr wrap="square" lIns="0" tIns="0" rIns="0" bIns="0" rtlCol="0" anchor="ctr"/>
          <a:lstStyle/>
          <a:p>
            <a:pPr algn="ctr" indent="0" marL="0">
              <a:buNone/>
            </a:pPr>
            <a:r>
              <a:rPr lang="en-US" sz="1300" dirty="0">
                <a:solidFill>
                  <a:schemeClr val="accent6"/>
                </a:solidFill>
              </a:rPr>
              <a:t>3</a:t>
            </a:r>
            <a:endParaRPr lang="en-US" sz="1300" dirty="0"/>
          </a:p>
        </p:txBody>
      </p:sp>
      <p:sp>
        <p:nvSpPr>
          <p:cNvPr id="30" name="Paar 3-0"/>
          <p:cNvSpPr/>
          <p:nvPr/>
        </p:nvSpPr>
        <p:spPr>
          <a:xfrm>
            <a:off x="7223760" y="5074920"/>
            <a:ext cx="365760" cy="365760"/>
          </a:xfrm>
          <a:prstGeom prst="rect">
            <a:avLst/>
          </a:prstGeom>
          <a:solidFill>
            <a:schemeClr val="bg1"/>
          </a:solidFill>
          <a:ln w="9525">
            <a:solidFill>
              <a:srgbClr val="A6A6A6"/>
            </a:solidFill>
            <a:prstDash val="solid"/>
          </a:ln>
        </p:spPr>
      </p:sp>
      <p:sp>
        <p:nvSpPr>
          <p:cNvPr id="31" name="Paar 3-1"/>
          <p:cNvSpPr/>
          <p:nvPr/>
        </p:nvSpPr>
        <p:spPr>
          <a:xfrm>
            <a:off x="7589520" y="5074920"/>
            <a:ext cx="365760" cy="365760"/>
          </a:xfrm>
          <a:prstGeom prst="rect">
            <a:avLst/>
          </a:prstGeom>
          <a:solidFill>
            <a:schemeClr val="bg1"/>
          </a:solidFill>
          <a:ln w="9525">
            <a:solidFill>
              <a:srgbClr val="A6A6A6"/>
            </a:solidFill>
            <a:prstDash val="solid"/>
          </a:ln>
        </p:spPr>
      </p:sp>
      <p:sp>
        <p:nvSpPr>
          <p:cNvPr id="32" name="Paar 3-2"/>
          <p:cNvSpPr/>
          <p:nvPr/>
        </p:nvSpPr>
        <p:spPr>
          <a:xfrm>
            <a:off x="7955280" y="5074920"/>
            <a:ext cx="365760" cy="365760"/>
          </a:xfrm>
          <a:prstGeom prst="rect">
            <a:avLst/>
          </a:prstGeom>
          <a:solidFill>
            <a:schemeClr val="bg1"/>
          </a:solidFill>
          <a:ln w="9525">
            <a:solidFill>
              <a:srgbClr val="A6A6A6"/>
            </a:solidFill>
            <a:prstDash val="solid"/>
          </a:ln>
        </p:spPr>
      </p:sp>
      <p:sp>
        <p:nvSpPr>
          <p:cNvPr id="33" name="Paar 3-3"/>
          <p:cNvSpPr/>
          <p:nvPr/>
        </p:nvSpPr>
        <p:spPr>
          <a:xfrm>
            <a:off x="8321040" y="5074920"/>
            <a:ext cx="365760" cy="365760"/>
          </a:xfrm>
          <a:prstGeom prst="rect">
            <a:avLst/>
          </a:prstGeom>
          <a:solidFill>
            <a:srgbClr val="D9D9D9"/>
          </a:solidFill>
          <a:ln w="9525">
            <a:solidFill>
              <a:srgbClr val="A6A6A6"/>
            </a:solidFill>
            <a:prstDash val="solid"/>
          </a:ln>
        </p:spPr>
      </p:sp>
      <p:sp>
        <p:nvSpPr>
          <p:cNvPr id="34" name="Paar 3-4"/>
          <p:cNvSpPr/>
          <p:nvPr/>
        </p:nvSpPr>
        <p:spPr>
          <a:xfrm>
            <a:off x="8686800" y="5074920"/>
            <a:ext cx="365760" cy="365760"/>
          </a:xfrm>
          <a:prstGeom prst="rect">
            <a:avLst/>
          </a:prstGeom>
          <a:solidFill>
            <a:schemeClr val="accent2"/>
          </a:solidFill>
          <a:ln w="9525">
            <a:solidFill>
              <a:srgbClr val="A6A6A6"/>
            </a:solidFill>
            <a:prstDash val="solid"/>
          </a:ln>
        </p:spPr>
      </p:sp>
      <p:sp>
        <p:nvSpPr>
          <p:cNvPr id="35" name="Text 32"/>
          <p:cNvSpPr txBox="1"/>
          <p:nvPr/>
        </p:nvSpPr>
        <p:spPr>
          <a:xfrm>
            <a:off x="6903720" y="5440680"/>
            <a:ext cx="274320" cy="365760"/>
          </a:xfrm>
          <a:prstGeom prst="rect">
            <a:avLst/>
          </a:prstGeom>
          <a:noFill/>
          <a:ln/>
        </p:spPr>
        <p:txBody>
          <a:bodyPr wrap="square" lIns="0" tIns="0" rIns="0" bIns="0" rtlCol="0" anchor="ctr"/>
          <a:lstStyle/>
          <a:p>
            <a:pPr algn="ctr" indent="0" marL="0">
              <a:buNone/>
            </a:pPr>
            <a:r>
              <a:rPr lang="en-US" sz="1300" dirty="0">
                <a:solidFill>
                  <a:schemeClr val="accent6"/>
                </a:solidFill>
              </a:rPr>
              <a:t>4</a:t>
            </a:r>
            <a:endParaRPr lang="en-US" sz="1300" dirty="0"/>
          </a:p>
        </p:txBody>
      </p:sp>
      <p:sp>
        <p:nvSpPr>
          <p:cNvPr id="36" name="Paar 4-0"/>
          <p:cNvSpPr/>
          <p:nvPr/>
        </p:nvSpPr>
        <p:spPr>
          <a:xfrm>
            <a:off x="7223760" y="5440680"/>
            <a:ext cx="365760" cy="365760"/>
          </a:xfrm>
          <a:prstGeom prst="rect">
            <a:avLst/>
          </a:prstGeom>
          <a:solidFill>
            <a:schemeClr val="bg1"/>
          </a:solidFill>
          <a:ln w="9525">
            <a:solidFill>
              <a:srgbClr val="A6A6A6"/>
            </a:solidFill>
            <a:prstDash val="solid"/>
          </a:ln>
        </p:spPr>
      </p:sp>
      <p:sp>
        <p:nvSpPr>
          <p:cNvPr id="37" name="Paar 4-1"/>
          <p:cNvSpPr/>
          <p:nvPr/>
        </p:nvSpPr>
        <p:spPr>
          <a:xfrm>
            <a:off x="7589520" y="5440680"/>
            <a:ext cx="365760" cy="365760"/>
          </a:xfrm>
          <a:prstGeom prst="rect">
            <a:avLst/>
          </a:prstGeom>
          <a:solidFill>
            <a:schemeClr val="bg1"/>
          </a:solidFill>
          <a:ln w="9525">
            <a:solidFill>
              <a:srgbClr val="A6A6A6"/>
            </a:solidFill>
            <a:prstDash val="solid"/>
          </a:ln>
        </p:spPr>
      </p:sp>
      <p:sp>
        <p:nvSpPr>
          <p:cNvPr id="38" name="Paar 4-2"/>
          <p:cNvSpPr/>
          <p:nvPr/>
        </p:nvSpPr>
        <p:spPr>
          <a:xfrm>
            <a:off x="7955280" y="5440680"/>
            <a:ext cx="365760" cy="365760"/>
          </a:xfrm>
          <a:prstGeom prst="rect">
            <a:avLst/>
          </a:prstGeom>
          <a:solidFill>
            <a:schemeClr val="bg1"/>
          </a:solidFill>
          <a:ln w="9525">
            <a:solidFill>
              <a:srgbClr val="A6A6A6"/>
            </a:solidFill>
            <a:prstDash val="solid"/>
          </a:ln>
        </p:spPr>
      </p:sp>
      <p:sp>
        <p:nvSpPr>
          <p:cNvPr id="39" name="Paar 4-3"/>
          <p:cNvSpPr/>
          <p:nvPr/>
        </p:nvSpPr>
        <p:spPr>
          <a:xfrm>
            <a:off x="8321040" y="5440680"/>
            <a:ext cx="365760" cy="365760"/>
          </a:xfrm>
          <a:prstGeom prst="rect">
            <a:avLst/>
          </a:prstGeom>
          <a:solidFill>
            <a:schemeClr val="bg1"/>
          </a:solidFill>
          <a:ln w="9525">
            <a:solidFill>
              <a:srgbClr val="A6A6A6"/>
            </a:solidFill>
            <a:prstDash val="solid"/>
          </a:ln>
        </p:spPr>
      </p:sp>
      <p:sp>
        <p:nvSpPr>
          <p:cNvPr id="40" name="Paar 4-4"/>
          <p:cNvSpPr/>
          <p:nvPr/>
        </p:nvSpPr>
        <p:spPr>
          <a:xfrm>
            <a:off x="8686800" y="5440680"/>
            <a:ext cx="365760" cy="365760"/>
          </a:xfrm>
          <a:prstGeom prst="rect">
            <a:avLst/>
          </a:prstGeom>
          <a:solidFill>
            <a:srgbClr val="D9D9D9"/>
          </a:solidFill>
          <a:ln w="9525">
            <a:solidFill>
              <a:srgbClr val="A6A6A6"/>
            </a:solidFill>
            <a:prstDash val="solid"/>
          </a:ln>
        </p:spPr>
      </p:sp>
      <p:sp>
        <p:nvSpPr>
          <p:cNvPr id="41" name="Text 38"/>
          <p:cNvSpPr txBox="1"/>
          <p:nvPr/>
        </p:nvSpPr>
        <p:spPr>
          <a:xfrm>
            <a:off x="6492240" y="4343400"/>
            <a:ext cx="411480" cy="274320"/>
          </a:xfrm>
          <a:prstGeom prst="rect">
            <a:avLst/>
          </a:prstGeom>
          <a:noFill/>
          <a:ln/>
        </p:spPr>
        <p:txBody>
          <a:bodyPr wrap="square" lIns="0" tIns="0" rIns="0" bIns="0" rtlCol="0" anchor="t"/>
          <a:lstStyle/>
          <a:p>
            <a:pPr indent="0" marL="0">
              <a:buNone/>
            </a:pPr>
            <a:r>
              <a:rPr lang="en-US" sz="1300" b="1" dirty="0">
                <a:solidFill>
                  <a:schemeClr val="accent6"/>
                </a:solidFill>
              </a:rPr>
              <a:t>i ↓</a:t>
            </a:r>
            <a:endParaRPr lang="en-US" sz="1300" dirty="0"/>
          </a:p>
        </p:txBody>
      </p:sp>
      <p:sp>
        <p:nvSpPr>
          <p:cNvPr id="42" name="Text 39"/>
          <p:cNvSpPr txBox="1"/>
          <p:nvPr/>
        </p:nvSpPr>
        <p:spPr>
          <a:xfrm>
            <a:off x="9281160" y="3931920"/>
            <a:ext cx="2331720" cy="1463040"/>
          </a:xfrm>
          <a:prstGeom prst="rect">
            <a:avLst/>
          </a:prstGeom>
          <a:noFill/>
          <a:ln/>
        </p:spPr>
        <p:txBody>
          <a:bodyPr wrap="square" lIns="0" tIns="0" rIns="0" bIns="0" rtlCol="0" anchor="t"/>
          <a:lstStyle/>
          <a:p>
            <a:pPr indent="0" marL="0">
              <a:buNone/>
            </a:pPr>
            <a:r>
              <a:rPr lang="en-US" sz="1700" b="1" dirty="0">
                <a:solidFill>
                  <a:schemeClr val="accent1"/>
                </a:solidFill>
              </a:rPr>
              <a:t>Jedes Paar einmal</a:t>
            </a:r>
            <a:endParaRPr lang="en-US" sz="1700" dirty="0"/>
          </a:p>
          <a:p>
            <a:pPr indent="0" marL="0">
              <a:buNone/>
            </a:pPr>
            <a:r>
              <a:rPr lang="en-US" sz="1700" dirty="0">
                <a:solidFill>
                  <a:schemeClr val="tx1"/>
                </a:solidFill>
              </a:rPr>
              <a:t>n = 5:  4 + 3 + 2 + 1 = 10</a:t>
            </a:r>
            <a:endParaRPr lang="en-US" sz="1700" dirty="0"/>
          </a:p>
          <a:p>
            <a:pPr indent="0" marL="0">
              <a:buNone/>
            </a:pPr>
            <a:r>
              <a:rPr lang="en-US" sz="1500" dirty="0">
                <a:solidFill>
                  <a:schemeClr val="accent6"/>
                </a:solidFill>
              </a:rPr>
              <a:t>Vergleiche im schlechtesten Fall</a:t>
            </a:r>
            <a:endParaRPr lang="en-US" sz="1700" dirty="0"/>
          </a:p>
        </p:txBody>
      </p:sp>
      <p:sp>
        <p:nvSpPr>
          <p:cNvPr id="43" name="Tipp i+1"/>
          <p:cNvSpPr/>
          <p:nvPr/>
        </p:nvSpPr>
        <p:spPr>
          <a:xfrm>
            <a:off x="548640" y="4137152"/>
            <a:ext cx="5852160" cy="1005840"/>
          </a:xfrm>
          <a:prstGeom prst="roundRect">
            <a:avLst>
              <a:gd name="adj" fmla="val 10909"/>
            </a:avLst>
          </a:prstGeom>
          <a:solidFill>
            <a:schemeClr val="bg2"/>
          </a:solidFill>
          <a:ln/>
        </p:spPr>
      </p:sp>
      <p:sp>
        <p:nvSpPr>
          <p:cNvPr id="44" name="Text 41"/>
          <p:cNvSpPr txBox="1"/>
          <p:nvPr/>
        </p:nvSpPr>
        <p:spPr>
          <a:xfrm>
            <a:off x="749808" y="4137152"/>
            <a:ext cx="5486400" cy="1005840"/>
          </a:xfrm>
          <a:prstGeom prst="rect">
            <a:avLst/>
          </a:prstGeom>
          <a:noFill/>
          <a:ln/>
        </p:spPr>
        <p:txBody>
          <a:bodyPr wrap="square" lIns="0" tIns="0" rIns="0" bIns="0" rtlCol="0" anchor="ctr"/>
          <a:lstStyle/>
          <a:p>
            <a:pPr indent="0" marL="0">
              <a:buNone/>
            </a:pPr>
            <a:r>
              <a:rPr lang="en-US" sz="1600" b="1" dirty="0">
                <a:solidFill>
                  <a:schemeClr val="accent1"/>
                </a:solidFill>
              </a:rPr>
              <a:t>Tipp: </a:t>
            </a:r>
            <a:pPr indent="0" marL="0">
              <a:buNone/>
            </a:pPr>
            <a:r>
              <a:rPr lang="en-US" sz="1600" dirty="0">
                <a:solidFill>
                  <a:schemeClr val="tx1"/>
                </a:solidFill>
              </a:rPr>
              <a:t>Die innere Schleife beginnt bei </a:t>
            </a:r>
            <a:pPr indent="0" marL="0">
              <a:buNone/>
            </a:pPr>
            <a:r>
              <a:rPr lang="en-US" sz="1600" b="1" dirty="0">
                <a:solidFill>
                  <a:schemeClr val="tx1"/>
                </a:solidFill>
                <a:latin typeface="Consolas" pitchFamily="34" charset="0"/>
                <a:ea typeface="Consolas" pitchFamily="34" charset="-122"/>
                <a:cs typeface="Consolas" pitchFamily="34" charset="-120"/>
              </a:rPr>
              <a:t>i + 1</a:t>
            </a:r>
            <a:pPr indent="0" marL="0">
              <a:buNone/>
            </a:pPr>
            <a:r>
              <a:rPr lang="en-US" sz="1600" dirty="0">
                <a:solidFill>
                  <a:schemeClr val="tx1"/>
                </a:solidFill>
              </a:rPr>
              <a:t>: kein Eintrag wird mit sich selbst verglichen, kein Paar doppelt.</a:t>
            </a:r>
            <a:endParaRPr lang="en-US" sz="1600" dirty="0"/>
          </a:p>
        </p:txBody>
      </p:sp>
      <p:sp>
        <p:nvSpPr>
          <p:cNvPr id="45" name="Text 42"/>
          <p:cNvSpPr txBox="1"/>
          <p:nvPr/>
        </p:nvSpPr>
        <p:spPr>
          <a:xfrm>
            <a:off x="548640" y="5325872"/>
            <a:ext cx="5852160" cy="320040"/>
          </a:xfrm>
          <a:prstGeom prst="rect">
            <a:avLst/>
          </a:prstGeom>
          <a:noFill/>
          <a:ln/>
        </p:spPr>
        <p:txBody>
          <a:bodyPr wrap="square" lIns="0" tIns="0" rIns="0" bIns="0" rtlCol="0" anchor="t"/>
          <a:lstStyle/>
          <a:p>
            <a:pPr indent="0" marL="0">
              <a:buNone/>
            </a:pPr>
            <a:r>
              <a:rPr lang="en-US" sz="1500" b="1" i="1" dirty="0">
                <a:solidFill>
                  <a:schemeClr val="accent2"/>
                </a:solidFill>
              </a:rPr>
              <a:t>→ Diese Dreieckszahl begegnet uns beim Sortieren wieder.</a:t>
            </a:r>
            <a:endParaRPr lang="en-US" sz="15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Abi-Check: Leerabfrage, equals, Grenzen</a:t>
            </a:r>
            <a:endParaRPr lang="en-US" sz="3600" dirty="0"/>
          </a:p>
        </p:txBody>
      </p:sp>
      <p:sp>
        <p:nvSpPr>
          <p:cNvPr id="3" name="Chip"/>
          <p:cNvSpPr txBox="1"/>
          <p:nvPr/>
        </p:nvSpPr>
        <p:spPr>
          <a:xfrm>
            <a:off x="2743200" y="1325880"/>
            <a:ext cx="128016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500" b="1" dirty="0">
                <a:solidFill>
                  <a:schemeClr val="bg1"/>
                </a:solidFill>
              </a:rPr>
              <a:t>FALSCH</a:t>
            </a:r>
            <a:endParaRPr lang="en-US" sz="1500" dirty="0"/>
          </a:p>
        </p:txBody>
      </p:sp>
      <p:sp>
        <p:nvSpPr>
          <p:cNvPr id="4" name="Chip"/>
          <p:cNvSpPr txBox="1"/>
          <p:nvPr/>
        </p:nvSpPr>
        <p:spPr>
          <a:xfrm>
            <a:off x="7360920" y="1325880"/>
            <a:ext cx="137160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500" b="1" dirty="0">
                <a:solidFill>
                  <a:schemeClr val="bg1"/>
                </a:solidFill>
              </a:rPr>
              <a:t>RICHTIG</a:t>
            </a:r>
            <a:endParaRPr lang="en-US" sz="1500" dirty="0"/>
          </a:p>
        </p:txBody>
      </p:sp>
      <p:sp>
        <p:nvSpPr>
          <p:cNvPr id="5" name="Text 3"/>
          <p:cNvSpPr txBox="1"/>
          <p:nvPr/>
        </p:nvSpPr>
        <p:spPr>
          <a:xfrm>
            <a:off x="548640" y="1828800"/>
            <a:ext cx="2057400" cy="960120"/>
          </a:xfrm>
          <a:prstGeom prst="rect">
            <a:avLst/>
          </a:prstGeom>
          <a:noFill/>
          <a:ln/>
        </p:spPr>
        <p:txBody>
          <a:bodyPr wrap="square" lIns="0" tIns="0" rIns="0" bIns="0" rtlCol="0" anchor="ctr"/>
          <a:lstStyle/>
          <a:p>
            <a:pPr indent="0" marL="0">
              <a:buNone/>
            </a:pPr>
            <a:r>
              <a:rPr lang="en-US" sz="1700" b="1" dirty="0">
                <a:solidFill>
                  <a:schemeClr val="accent1"/>
                </a:solidFill>
              </a:rPr>
              <a:t>Leerabfrage</a:t>
            </a:r>
            <a:endParaRPr lang="en-US" sz="1700" dirty="0"/>
          </a:p>
          <a:p>
            <a:pPr indent="0" marL="0">
              <a:buNone/>
            </a:pPr>
            <a:r>
              <a:rPr lang="en-US" sz="1400" dirty="0">
                <a:solidFill>
                  <a:schemeClr val="accent6"/>
                </a:solidFill>
              </a:rPr>
              <a:t>leere Liste: eintraege[0] ist null → Absturz</a:t>
            </a:r>
            <a:endParaRPr lang="en-US" sz="1700" dirty="0"/>
          </a:p>
        </p:txBody>
      </p:sp>
      <p:sp>
        <p:nvSpPr>
          <p:cNvPr id="6" name="Text 4"/>
          <p:cNvSpPr txBox="1"/>
          <p:nvPr/>
        </p:nvSpPr>
        <p:spPr>
          <a:xfrm>
            <a:off x="2743200" y="1828800"/>
            <a:ext cx="4343400" cy="960120"/>
          </a:xfrm>
          <a:prstGeom prst="rect">
            <a:avLst/>
          </a:prstGeom>
          <a:solidFill>
            <a:srgbClr val="FBE5E5"/>
          </a:solidFill>
          <a:ln w="19050">
            <a:solidFill>
              <a:schemeClr val="accent4"/>
            </a:solidFill>
          </a:ln>
        </p:spPr>
        <p:txBody>
          <a:bodyPr wrap="square" lIns="127000" tIns="25400" rIns="76200" bIns="2540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int max = eintraege[0]</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        .getPunkte();</a:t>
            </a:r>
            <a:endParaRPr lang="en-US" sz="1400" dirty="0"/>
          </a:p>
        </p:txBody>
      </p:sp>
      <p:sp>
        <p:nvSpPr>
          <p:cNvPr id="7" name="Text 5"/>
          <p:cNvSpPr txBox="1"/>
          <p:nvPr/>
        </p:nvSpPr>
        <p:spPr>
          <a:xfrm>
            <a:off x="7360920" y="1828800"/>
            <a:ext cx="4251960" cy="960120"/>
          </a:xfrm>
          <a:prstGeom prst="rect">
            <a:avLst/>
          </a:prstGeom>
          <a:solidFill>
            <a:srgbClr val="E2EFDA"/>
          </a:solidFill>
          <a:ln w="19050">
            <a:solidFill>
              <a:schemeClr val="accent3"/>
            </a:solidFill>
          </a:ln>
        </p:spPr>
        <p:txBody>
          <a:bodyPr wrap="square" lIns="127000" tIns="25400" rIns="76200" bIns="2540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if (anzahl == 0) {</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    return -1;</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8" name="Linie"/>
          <p:cNvSpPr/>
          <p:nvPr/>
        </p:nvSpPr>
        <p:spPr>
          <a:xfrm>
            <a:off x="7132320" y="2304288"/>
            <a:ext cx="182880" cy="91"/>
          </a:xfrm>
          <a:prstGeom prst="line">
            <a:avLst/>
          </a:prstGeom>
          <a:noFill/>
          <a:ln w="31750">
            <a:solidFill>
              <a:schemeClr val="accent2"/>
            </a:solidFill>
            <a:prstDash val="solid"/>
            <a:tailEnd type="triangle"/>
          </a:ln>
        </p:spPr>
      </p:sp>
      <p:sp>
        <p:nvSpPr>
          <p:cNvPr id="9" name="Text 7"/>
          <p:cNvSpPr txBox="1"/>
          <p:nvPr/>
        </p:nvSpPr>
        <p:spPr>
          <a:xfrm>
            <a:off x="548640" y="2907792"/>
            <a:ext cx="2057400" cy="960120"/>
          </a:xfrm>
          <a:prstGeom prst="rect">
            <a:avLst/>
          </a:prstGeom>
          <a:noFill/>
          <a:ln/>
        </p:spPr>
        <p:txBody>
          <a:bodyPr wrap="square" lIns="0" tIns="0" rIns="0" bIns="0" rtlCol="0" anchor="ctr"/>
          <a:lstStyle/>
          <a:p>
            <a:pPr indent="0" marL="0">
              <a:buNone/>
            </a:pPr>
            <a:r>
              <a:rPr lang="en-US" sz="1700" b="1" dirty="0">
                <a:solidFill>
                  <a:schemeClr val="accent1"/>
                </a:solidFill>
              </a:rPr>
              <a:t>Zeichenketten</a:t>
            </a:r>
            <a:endParaRPr lang="en-US" sz="1700" dirty="0"/>
          </a:p>
          <a:p>
            <a:pPr indent="0" marL="0">
              <a:buNone/>
            </a:pPr>
            <a:r>
              <a:rPr lang="en-US" sz="1400" dirty="0">
                <a:solidFill>
                  <a:schemeClr val="accent6"/>
                </a:solidFill>
              </a:rPr>
              <a:t>== vergleicht Referenzen, nicht den Inhalt</a:t>
            </a:r>
            <a:endParaRPr lang="en-US" sz="1700" dirty="0"/>
          </a:p>
        </p:txBody>
      </p:sp>
      <p:sp>
        <p:nvSpPr>
          <p:cNvPr id="10" name="Text 8"/>
          <p:cNvSpPr txBox="1"/>
          <p:nvPr/>
        </p:nvSpPr>
        <p:spPr>
          <a:xfrm>
            <a:off x="2743200" y="2907792"/>
            <a:ext cx="4343400" cy="960120"/>
          </a:xfrm>
          <a:prstGeom prst="rect">
            <a:avLst/>
          </a:prstGeom>
          <a:solidFill>
            <a:srgbClr val="FBE5E5"/>
          </a:solidFill>
          <a:ln w="19050">
            <a:solidFill>
              <a:schemeClr val="accent4"/>
            </a:solidFill>
          </a:ln>
        </p:spPr>
        <p:txBody>
          <a:bodyPr wrap="square" lIns="127000" tIns="25400" rIns="76200" bIns="2540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if (e.getName() == name)</a:t>
            </a:r>
            <a:endParaRPr lang="en-US" sz="1400" dirty="0"/>
          </a:p>
        </p:txBody>
      </p:sp>
      <p:sp>
        <p:nvSpPr>
          <p:cNvPr id="11" name="Text 9"/>
          <p:cNvSpPr txBox="1"/>
          <p:nvPr/>
        </p:nvSpPr>
        <p:spPr>
          <a:xfrm>
            <a:off x="7360920" y="2907792"/>
            <a:ext cx="4251960" cy="960120"/>
          </a:xfrm>
          <a:prstGeom prst="rect">
            <a:avLst/>
          </a:prstGeom>
          <a:solidFill>
            <a:srgbClr val="E2EFDA"/>
          </a:solidFill>
          <a:ln w="19050">
            <a:solidFill>
              <a:schemeClr val="accent3"/>
            </a:solidFill>
          </a:ln>
        </p:spPr>
        <p:txBody>
          <a:bodyPr wrap="square" lIns="127000" tIns="25400" rIns="76200" bIns="2540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if (e.getName().equals(name))</a:t>
            </a:r>
            <a:endParaRPr lang="en-US" sz="1400" dirty="0"/>
          </a:p>
        </p:txBody>
      </p:sp>
      <p:sp>
        <p:nvSpPr>
          <p:cNvPr id="12" name="Linie"/>
          <p:cNvSpPr/>
          <p:nvPr/>
        </p:nvSpPr>
        <p:spPr>
          <a:xfrm>
            <a:off x="7132320" y="3383280"/>
            <a:ext cx="182880" cy="91"/>
          </a:xfrm>
          <a:prstGeom prst="line">
            <a:avLst/>
          </a:prstGeom>
          <a:noFill/>
          <a:ln w="31750">
            <a:solidFill>
              <a:schemeClr val="accent2"/>
            </a:solidFill>
            <a:prstDash val="solid"/>
            <a:tailEnd type="triangle"/>
          </a:ln>
        </p:spPr>
      </p:sp>
      <p:sp>
        <p:nvSpPr>
          <p:cNvPr id="13" name="Text 11"/>
          <p:cNvSpPr txBox="1"/>
          <p:nvPr/>
        </p:nvSpPr>
        <p:spPr>
          <a:xfrm>
            <a:off x="548640" y="3986784"/>
            <a:ext cx="2057400" cy="960120"/>
          </a:xfrm>
          <a:prstGeom prst="rect">
            <a:avLst/>
          </a:prstGeom>
          <a:noFill/>
          <a:ln/>
        </p:spPr>
        <p:txBody>
          <a:bodyPr wrap="square" lIns="0" tIns="0" rIns="0" bIns="0" rtlCol="0" anchor="ctr"/>
          <a:lstStyle/>
          <a:p>
            <a:pPr indent="0" marL="0">
              <a:buNone/>
            </a:pPr>
            <a:r>
              <a:rPr lang="en-US" sz="1700" b="1" dirty="0">
                <a:solidFill>
                  <a:schemeClr val="accent1"/>
                </a:solidFill>
              </a:rPr>
              <a:t>Schleifengrenze</a:t>
            </a:r>
            <a:endParaRPr lang="en-US" sz="1700" dirty="0"/>
          </a:p>
          <a:p>
            <a:pPr indent="0" marL="0">
              <a:buNone/>
            </a:pPr>
            <a:r>
              <a:rPr lang="en-US" sz="1400" dirty="0">
                <a:solidFill>
                  <a:schemeClr val="accent6"/>
                </a:solidFill>
              </a:rPr>
              <a:t>hinter anzahl − 1 steht null</a:t>
            </a:r>
            <a:endParaRPr lang="en-US" sz="1700" dirty="0"/>
          </a:p>
        </p:txBody>
      </p:sp>
      <p:sp>
        <p:nvSpPr>
          <p:cNvPr id="14" name="Text 12"/>
          <p:cNvSpPr txBox="1"/>
          <p:nvPr/>
        </p:nvSpPr>
        <p:spPr>
          <a:xfrm>
            <a:off x="2743200" y="3986784"/>
            <a:ext cx="4343400" cy="960120"/>
          </a:xfrm>
          <a:prstGeom prst="rect">
            <a:avLst/>
          </a:prstGeom>
          <a:solidFill>
            <a:srgbClr val="FBE5E5"/>
          </a:solidFill>
          <a:ln w="19050">
            <a:solidFill>
              <a:schemeClr val="accent4"/>
            </a:solidFill>
          </a:ln>
        </p:spPr>
        <p:txBody>
          <a:bodyPr wrap="square" lIns="127000" tIns="25400" rIns="76200" bIns="2540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for (int i = 0; i &lt;= anzahl; i++)</a:t>
            </a:r>
            <a:endParaRPr lang="en-US" sz="1400" dirty="0"/>
          </a:p>
        </p:txBody>
      </p:sp>
      <p:sp>
        <p:nvSpPr>
          <p:cNvPr id="15" name="Text 13"/>
          <p:cNvSpPr txBox="1"/>
          <p:nvPr/>
        </p:nvSpPr>
        <p:spPr>
          <a:xfrm>
            <a:off x="7360920" y="3986784"/>
            <a:ext cx="4251960" cy="960120"/>
          </a:xfrm>
          <a:prstGeom prst="rect">
            <a:avLst/>
          </a:prstGeom>
          <a:solidFill>
            <a:srgbClr val="E2EFDA"/>
          </a:solidFill>
          <a:ln w="19050">
            <a:solidFill>
              <a:schemeClr val="accent3"/>
            </a:solidFill>
          </a:ln>
        </p:spPr>
        <p:txBody>
          <a:bodyPr wrap="square" lIns="127000" tIns="25400" rIns="76200" bIns="2540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for (int i = 0; i &lt; anzahl; i++)</a:t>
            </a:r>
            <a:endParaRPr lang="en-US" sz="1400" dirty="0"/>
          </a:p>
        </p:txBody>
      </p:sp>
      <p:sp>
        <p:nvSpPr>
          <p:cNvPr id="16" name="Linie"/>
          <p:cNvSpPr/>
          <p:nvPr/>
        </p:nvSpPr>
        <p:spPr>
          <a:xfrm>
            <a:off x="7132320" y="4462272"/>
            <a:ext cx="182880" cy="91"/>
          </a:xfrm>
          <a:prstGeom prst="line">
            <a:avLst/>
          </a:prstGeom>
          <a:noFill/>
          <a:ln w="31750">
            <a:solidFill>
              <a:schemeClr val="accent2"/>
            </a:solidFill>
            <a:prstDash val="solid"/>
            <a:tailEnd type="triangle"/>
          </a:ln>
        </p:spPr>
      </p:sp>
      <p:sp>
        <p:nvSpPr>
          <p:cNvPr id="17" name="Text 15"/>
          <p:cNvSpPr txBox="1"/>
          <p:nvPr/>
        </p:nvSpPr>
        <p:spPr>
          <a:xfrm>
            <a:off x="548640" y="5065776"/>
            <a:ext cx="2057400" cy="960120"/>
          </a:xfrm>
          <a:prstGeom prst="rect">
            <a:avLst/>
          </a:prstGeom>
          <a:noFill/>
          <a:ln/>
        </p:spPr>
        <p:txBody>
          <a:bodyPr wrap="square" lIns="0" tIns="0" rIns="0" bIns="0" rtlCol="0" anchor="ctr"/>
          <a:lstStyle/>
          <a:p>
            <a:pPr indent="0" marL="0">
              <a:buNone/>
            </a:pPr>
            <a:r>
              <a:rPr lang="en-US" sz="1700" b="1" dirty="0">
                <a:solidFill>
                  <a:schemeClr val="accent1"/>
                </a:solidFill>
              </a:rPr>
              <a:t>Rückgabe</a:t>
            </a:r>
            <a:endParaRPr lang="en-US" sz="1700" dirty="0"/>
          </a:p>
          <a:p>
            <a:pPr indent="0" marL="0">
              <a:buNone/>
            </a:pPr>
            <a:r>
              <a:rPr lang="en-US" sz="1400" dirty="0">
                <a:solidFill>
                  <a:schemeClr val="accent6"/>
                </a:solidFill>
              </a:rPr>
              <a:t>return −1 erst nach der Schleife</a:t>
            </a:r>
            <a:endParaRPr lang="en-US" sz="1700" dirty="0"/>
          </a:p>
        </p:txBody>
      </p:sp>
      <p:sp>
        <p:nvSpPr>
          <p:cNvPr id="18" name="Text 16"/>
          <p:cNvSpPr txBox="1"/>
          <p:nvPr/>
        </p:nvSpPr>
        <p:spPr>
          <a:xfrm>
            <a:off x="2743200" y="5065776"/>
            <a:ext cx="4343400" cy="960120"/>
          </a:xfrm>
          <a:prstGeom prst="rect">
            <a:avLst/>
          </a:prstGeom>
          <a:solidFill>
            <a:srgbClr val="FBE5E5"/>
          </a:solidFill>
          <a:ln w="19050">
            <a:solidFill>
              <a:schemeClr val="accent4"/>
            </a:solidFill>
          </a:ln>
        </p:spPr>
        <p:txBody>
          <a:bodyPr wrap="square" lIns="127000" tIns="25400" rIns="76200" bIns="2540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if (…) { return i; }</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else { return -1; }</a:t>
            </a:r>
            <a:endParaRPr lang="en-US" sz="1400" dirty="0"/>
          </a:p>
        </p:txBody>
      </p:sp>
      <p:sp>
        <p:nvSpPr>
          <p:cNvPr id="19" name="Text 17"/>
          <p:cNvSpPr txBox="1"/>
          <p:nvPr/>
        </p:nvSpPr>
        <p:spPr>
          <a:xfrm>
            <a:off x="7360920" y="5065776"/>
            <a:ext cx="4251960" cy="960120"/>
          </a:xfrm>
          <a:prstGeom prst="rect">
            <a:avLst/>
          </a:prstGeom>
          <a:solidFill>
            <a:srgbClr val="E2EFDA"/>
          </a:solidFill>
          <a:ln w="19050">
            <a:solidFill>
              <a:schemeClr val="accent3"/>
            </a:solidFill>
          </a:ln>
        </p:spPr>
        <p:txBody>
          <a:bodyPr wrap="square" lIns="127000" tIns="25400" rIns="76200" bIns="25400" rtlCol="0" anchor="ctr"/>
          <a:lstStyle/>
          <a:p>
            <a:pPr indent="0" marL="0">
              <a:buNone/>
            </a:pPr>
            <a:r>
              <a:rPr lang="en-US" sz="1400" dirty="0">
                <a:solidFill>
                  <a:schemeClr val="tx1"/>
                </a:solidFill>
                <a:latin typeface="Consolas" pitchFamily="34" charset="0"/>
                <a:ea typeface="Consolas" pitchFamily="34" charset="-122"/>
                <a:cs typeface="Consolas" pitchFamily="34" charset="-120"/>
              </a:rPr>
              <a:t>for (…) { if (…) { return i; } }</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return -1;</a:t>
            </a:r>
            <a:endParaRPr lang="en-US" sz="1400" dirty="0"/>
          </a:p>
        </p:txBody>
      </p:sp>
      <p:sp>
        <p:nvSpPr>
          <p:cNvPr id="20" name="Linie"/>
          <p:cNvSpPr/>
          <p:nvPr/>
        </p:nvSpPr>
        <p:spPr>
          <a:xfrm>
            <a:off x="7132320" y="5541264"/>
            <a:ext cx="182880" cy="91"/>
          </a:xfrm>
          <a:prstGeom prst="line">
            <a:avLst/>
          </a:prstGeom>
          <a:noFill/>
          <a:ln w="31750">
            <a:solidFill>
              <a:schemeClr val="accent2"/>
            </a:solidFill>
            <a:prstDash val="solid"/>
            <a:tailEnd type="triangle"/>
          </a:ln>
        </p:spPr>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Sortieren unplugged: das Karten-Turnier</a:t>
            </a:r>
            <a:endParaRPr lang="en-US" sz="3600" dirty="0"/>
          </a:p>
        </p:txBody>
      </p:sp>
      <p:sp>
        <p:nvSpPr>
          <p:cNvPr id="3" name="Spielkarte 0"/>
          <p:cNvSpPr/>
          <p:nvPr/>
        </p:nvSpPr>
        <p:spPr>
          <a:xfrm>
            <a:off x="685800" y="1737360"/>
            <a:ext cx="914400" cy="1280160"/>
          </a:xfrm>
          <a:prstGeom prst="roundRect">
            <a:avLst>
              <a:gd name="adj" fmla="val 12000"/>
            </a:avLst>
          </a:prstGeom>
          <a:solidFill>
            <a:schemeClr val="accent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685800" y="1737360"/>
            <a:ext cx="914400" cy="1280160"/>
          </a:xfrm>
          <a:prstGeom prst="rect">
            <a:avLst/>
          </a:prstGeom>
          <a:noFill/>
          <a:ln/>
        </p:spPr>
        <p:txBody>
          <a:bodyPr wrap="square" lIns="0" tIns="0" rIns="0" bIns="0" rtlCol="0" anchor="ctr"/>
          <a:lstStyle/>
          <a:p>
            <a:pPr algn="ctr" indent="0" marL="0">
              <a:buNone/>
            </a:pPr>
            <a:r>
              <a:rPr lang="en-US" sz="3400" b="1" dirty="0">
                <a:solidFill>
                  <a:schemeClr val="accent2"/>
                </a:solidFill>
              </a:rPr>
              <a:t>?</a:t>
            </a:r>
            <a:endParaRPr lang="en-US" sz="3400" dirty="0"/>
          </a:p>
        </p:txBody>
      </p:sp>
      <p:sp>
        <p:nvSpPr>
          <p:cNvPr id="5" name="Spielkarte 1"/>
          <p:cNvSpPr/>
          <p:nvPr/>
        </p:nvSpPr>
        <p:spPr>
          <a:xfrm>
            <a:off x="1783080" y="1508760"/>
            <a:ext cx="914400" cy="1280160"/>
          </a:xfrm>
          <a:prstGeom prst="roundRect">
            <a:avLst>
              <a:gd name="adj" fmla="val 12000"/>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6" name="Text 4"/>
          <p:cNvSpPr txBox="1"/>
          <p:nvPr/>
        </p:nvSpPr>
        <p:spPr>
          <a:xfrm>
            <a:off x="1783080" y="1508760"/>
            <a:ext cx="914400" cy="1280160"/>
          </a:xfrm>
          <a:prstGeom prst="rect">
            <a:avLst/>
          </a:prstGeom>
          <a:noFill/>
          <a:ln/>
        </p:spPr>
        <p:txBody>
          <a:bodyPr wrap="square" lIns="0" tIns="0" rIns="0" bIns="0" rtlCol="0" anchor="ctr"/>
          <a:lstStyle/>
          <a:p>
            <a:pPr algn="ctr" indent="0" marL="0">
              <a:buNone/>
            </a:pPr>
            <a:r>
              <a:rPr lang="en-US" sz="2600" b="1" dirty="0">
                <a:solidFill>
                  <a:schemeClr val="accent1"/>
                </a:solidFill>
              </a:rPr>
              <a:t>80</a:t>
            </a:r>
            <a:endParaRPr lang="en-US" sz="2600" dirty="0"/>
          </a:p>
        </p:txBody>
      </p:sp>
      <p:sp>
        <p:nvSpPr>
          <p:cNvPr id="7" name="Spielkarte 2"/>
          <p:cNvSpPr/>
          <p:nvPr/>
        </p:nvSpPr>
        <p:spPr>
          <a:xfrm>
            <a:off x="2880360" y="1737360"/>
            <a:ext cx="914400" cy="1280160"/>
          </a:xfrm>
          <a:prstGeom prst="roundRect">
            <a:avLst>
              <a:gd name="adj" fmla="val 12000"/>
            </a:avLst>
          </a:prstGeom>
          <a:solidFill>
            <a:schemeClr val="accent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2880360" y="1737360"/>
            <a:ext cx="914400" cy="1280160"/>
          </a:xfrm>
          <a:prstGeom prst="rect">
            <a:avLst/>
          </a:prstGeom>
          <a:noFill/>
          <a:ln/>
        </p:spPr>
        <p:txBody>
          <a:bodyPr wrap="square" lIns="0" tIns="0" rIns="0" bIns="0" rtlCol="0" anchor="ctr"/>
          <a:lstStyle/>
          <a:p>
            <a:pPr algn="ctr" indent="0" marL="0">
              <a:buNone/>
            </a:pPr>
            <a:r>
              <a:rPr lang="en-US" sz="3400" b="1" dirty="0">
                <a:solidFill>
                  <a:schemeClr val="accent2"/>
                </a:solidFill>
              </a:rPr>
              <a:t>?</a:t>
            </a:r>
            <a:endParaRPr lang="en-US" sz="3400" dirty="0"/>
          </a:p>
        </p:txBody>
      </p:sp>
      <p:sp>
        <p:nvSpPr>
          <p:cNvPr id="9" name="Spielkarte 3"/>
          <p:cNvSpPr/>
          <p:nvPr/>
        </p:nvSpPr>
        <p:spPr>
          <a:xfrm>
            <a:off x="3977640" y="1508760"/>
            <a:ext cx="914400" cy="1280160"/>
          </a:xfrm>
          <a:prstGeom prst="roundRect">
            <a:avLst>
              <a:gd name="adj" fmla="val 12000"/>
            </a:avLst>
          </a:prstGeom>
          <a:solidFill>
            <a:schemeClr val="bg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0" name="Text 8"/>
          <p:cNvSpPr txBox="1"/>
          <p:nvPr/>
        </p:nvSpPr>
        <p:spPr>
          <a:xfrm>
            <a:off x="3977640" y="1508760"/>
            <a:ext cx="914400" cy="1280160"/>
          </a:xfrm>
          <a:prstGeom prst="rect">
            <a:avLst/>
          </a:prstGeom>
          <a:noFill/>
          <a:ln/>
        </p:spPr>
        <p:txBody>
          <a:bodyPr wrap="square" lIns="0" tIns="0" rIns="0" bIns="0" rtlCol="0" anchor="ctr"/>
          <a:lstStyle/>
          <a:p>
            <a:pPr algn="ctr" indent="0" marL="0">
              <a:buNone/>
            </a:pPr>
            <a:r>
              <a:rPr lang="en-US" sz="2600" b="1" dirty="0">
                <a:solidFill>
                  <a:schemeClr val="accent1"/>
                </a:solidFill>
              </a:rPr>
              <a:t>90</a:t>
            </a:r>
            <a:endParaRPr lang="en-US" sz="2600" dirty="0"/>
          </a:p>
        </p:txBody>
      </p:sp>
      <p:sp>
        <p:nvSpPr>
          <p:cNvPr id="11" name="Spielkarte 4"/>
          <p:cNvSpPr/>
          <p:nvPr/>
        </p:nvSpPr>
        <p:spPr>
          <a:xfrm>
            <a:off x="5074920" y="1737360"/>
            <a:ext cx="914400" cy="1280160"/>
          </a:xfrm>
          <a:prstGeom prst="roundRect">
            <a:avLst>
              <a:gd name="adj" fmla="val 12000"/>
            </a:avLst>
          </a:prstGeom>
          <a:solidFill>
            <a:schemeClr val="accent1"/>
          </a:solidFill>
          <a:ln w="31750">
            <a:solidFill>
              <a:schemeClr val="accent2"/>
            </a:solidFill>
            <a:prstDash val="solid"/>
          </a:ln>
          <a:effectLst>
            <a:outerShdw sx="100000" sy="100000" kx="0" ky="0" algn="bl" rotWithShape="0" blurRad="76200" dist="25400" dir="5400000">
              <a:srgbClr val="000000">
                <a:alpha val="18000"/>
              </a:srgbClr>
            </a:outerShdw>
          </a:effectLst>
        </p:spPr>
      </p:sp>
      <p:sp>
        <p:nvSpPr>
          <p:cNvPr id="12" name="Text 10"/>
          <p:cNvSpPr txBox="1"/>
          <p:nvPr/>
        </p:nvSpPr>
        <p:spPr>
          <a:xfrm>
            <a:off x="5074920" y="1737360"/>
            <a:ext cx="914400" cy="1280160"/>
          </a:xfrm>
          <a:prstGeom prst="rect">
            <a:avLst/>
          </a:prstGeom>
          <a:noFill/>
          <a:ln/>
        </p:spPr>
        <p:txBody>
          <a:bodyPr wrap="square" lIns="0" tIns="0" rIns="0" bIns="0" rtlCol="0" anchor="ctr"/>
          <a:lstStyle/>
          <a:p>
            <a:pPr algn="ctr" indent="0" marL="0">
              <a:buNone/>
            </a:pPr>
            <a:r>
              <a:rPr lang="en-US" sz="3400" b="1" dirty="0">
                <a:solidFill>
                  <a:schemeClr val="accent2"/>
                </a:solidFill>
              </a:rPr>
              <a:t>?</a:t>
            </a:r>
            <a:endParaRPr lang="en-US" sz="3400" dirty="0"/>
          </a:p>
        </p:txBody>
      </p:sp>
      <p:sp>
        <p:nvSpPr>
          <p:cNvPr id="13" name="Text 11"/>
          <p:cNvSpPr txBox="1"/>
          <p:nvPr/>
        </p:nvSpPr>
        <p:spPr>
          <a:xfrm>
            <a:off x="548640" y="3154680"/>
            <a:ext cx="5669280" cy="320040"/>
          </a:xfrm>
          <a:prstGeom prst="rect">
            <a:avLst/>
          </a:prstGeom>
          <a:noFill/>
          <a:ln/>
        </p:spPr>
        <p:txBody>
          <a:bodyPr wrap="square" lIns="0" tIns="0" rIns="0" bIns="0" rtlCol="0" anchor="t"/>
          <a:lstStyle/>
          <a:p>
            <a:pPr indent="0" marL="0">
              <a:buNone/>
            </a:pPr>
            <a:r>
              <a:rPr lang="en-US" sz="1500" i="1" dirty="0">
                <a:solidFill>
                  <a:schemeClr val="accent6"/>
                </a:solidFill>
              </a:rPr>
              <a:t>verdeckt – nur zwei Karten dürfen gleichzeitig aufgedeckt werden</a:t>
            </a:r>
            <a:endParaRPr lang="en-US" sz="1500" dirty="0"/>
          </a:p>
        </p:txBody>
      </p:sp>
      <p:sp>
        <p:nvSpPr>
          <p:cNvPr id="14" name="Icon-Kreis"/>
          <p:cNvSpPr/>
          <p:nvPr/>
        </p:nvSpPr>
        <p:spPr>
          <a:xfrm>
            <a:off x="548640" y="3657600"/>
            <a:ext cx="658368" cy="658368"/>
          </a:xfrm>
          <a:prstGeom prst="ellipse">
            <a:avLst/>
          </a:prstGeom>
          <a:solidFill>
            <a:schemeClr val="accent1"/>
          </a:solidFill>
          <a:ln/>
        </p:spPr>
      </p:sp>
      <p:pic>
        <p:nvPicPr>
          <p:cNvPr id="15" name="Icon GiScales" descr="preencoded.png">    </p:cNvPr>
          <p:cNvPicPr>
            <a:picLocks noChangeAspect="1"/>
          </p:cNvPicPr>
          <p:nvPr/>
        </p:nvPicPr>
        <p:blipFill>
          <a:blip r:embed="rId1"/>
          <a:stretch>
            <a:fillRect/>
          </a:stretch>
        </p:blipFill>
        <p:spPr>
          <a:xfrm>
            <a:off x="693481" y="3802441"/>
            <a:ext cx="368686" cy="368686"/>
          </a:xfrm>
          <a:prstGeom prst="rect">
            <a:avLst/>
          </a:prstGeom>
        </p:spPr>
      </p:pic>
      <p:sp>
        <p:nvSpPr>
          <p:cNvPr id="16" name="Text 13"/>
          <p:cNvSpPr txBox="1"/>
          <p:nvPr/>
        </p:nvSpPr>
        <p:spPr>
          <a:xfrm>
            <a:off x="1371600" y="3657600"/>
            <a:ext cx="4846320" cy="713232"/>
          </a:xfrm>
          <a:prstGeom prst="rect">
            <a:avLst/>
          </a:prstGeom>
          <a:noFill/>
          <a:ln/>
        </p:spPr>
        <p:txBody>
          <a:bodyPr wrap="square" lIns="0" tIns="0" rIns="0" bIns="0" rtlCol="0" anchor="ctr"/>
          <a:lstStyle/>
          <a:p>
            <a:pPr indent="0" marL="0">
              <a:buNone/>
            </a:pPr>
            <a:r>
              <a:rPr lang="en-US" sz="1600" b="1" dirty="0">
                <a:solidFill>
                  <a:schemeClr val="accent1"/>
                </a:solidFill>
              </a:rPr>
              <a:t>Schiedsrichter: </a:t>
            </a:r>
            <a:pPr indent="0" marL="0">
              <a:buNone/>
            </a:pPr>
            <a:r>
              <a:rPr lang="en-US" sz="1600" dirty="0">
                <a:solidFill>
                  <a:schemeClr val="tx1"/>
                </a:solidFill>
              </a:rPr>
              <a:t>deckt zwei Karten auf, sagt, welche besser ist → Strich bei Vergleiche</a:t>
            </a:r>
            <a:endParaRPr lang="en-US" sz="1600" dirty="0"/>
          </a:p>
        </p:txBody>
      </p:sp>
      <p:sp>
        <p:nvSpPr>
          <p:cNvPr id="17" name="Icon-Kreis"/>
          <p:cNvSpPr/>
          <p:nvPr/>
        </p:nvSpPr>
        <p:spPr>
          <a:xfrm>
            <a:off x="548640" y="4498848"/>
            <a:ext cx="658368" cy="658368"/>
          </a:xfrm>
          <a:prstGeom prst="ellipse">
            <a:avLst/>
          </a:prstGeom>
          <a:solidFill>
            <a:schemeClr val="accent1"/>
          </a:solidFill>
          <a:ln/>
        </p:spPr>
      </p:sp>
      <p:pic>
        <p:nvPicPr>
          <p:cNvPr id="18" name="Icon GiCardExchange" descr="preencoded.png">    </p:cNvPr>
          <p:cNvPicPr>
            <a:picLocks noChangeAspect="1"/>
          </p:cNvPicPr>
          <p:nvPr/>
        </p:nvPicPr>
        <p:blipFill>
          <a:blip r:embed="rId2"/>
          <a:stretch>
            <a:fillRect/>
          </a:stretch>
        </p:blipFill>
        <p:spPr>
          <a:xfrm>
            <a:off x="693481" y="4643689"/>
            <a:ext cx="368686" cy="368686"/>
          </a:xfrm>
          <a:prstGeom prst="rect">
            <a:avLst/>
          </a:prstGeom>
        </p:spPr>
      </p:pic>
      <p:sp>
        <p:nvSpPr>
          <p:cNvPr id="19" name="Text 15"/>
          <p:cNvSpPr txBox="1"/>
          <p:nvPr/>
        </p:nvSpPr>
        <p:spPr>
          <a:xfrm>
            <a:off x="1371600" y="4498848"/>
            <a:ext cx="4846320" cy="713232"/>
          </a:xfrm>
          <a:prstGeom prst="rect">
            <a:avLst/>
          </a:prstGeom>
          <a:noFill/>
          <a:ln/>
        </p:spPr>
        <p:txBody>
          <a:bodyPr wrap="square" lIns="0" tIns="0" rIns="0" bIns="0" rtlCol="0" anchor="ctr"/>
          <a:lstStyle/>
          <a:p>
            <a:pPr indent="0" marL="0">
              <a:buNone/>
            </a:pPr>
            <a:r>
              <a:rPr lang="en-US" sz="1600" b="1" dirty="0">
                <a:solidFill>
                  <a:schemeClr val="accent1"/>
                </a:solidFill>
              </a:rPr>
              <a:t>Tauscher: </a:t>
            </a:r>
            <a:pPr indent="0" marL="0">
              <a:buNone/>
            </a:pPr>
            <a:r>
              <a:rPr lang="en-US" sz="1600" dirty="0">
                <a:solidFill>
                  <a:schemeClr val="tx1"/>
                </a:solidFill>
              </a:rPr>
              <a:t>vertauscht zwei Karten → Strich bei Vertauschungen</a:t>
            </a:r>
            <a:endParaRPr lang="en-US" sz="1600" dirty="0"/>
          </a:p>
        </p:txBody>
      </p:sp>
      <p:sp>
        <p:nvSpPr>
          <p:cNvPr id="20" name="Icon-Kreis"/>
          <p:cNvSpPr/>
          <p:nvPr/>
        </p:nvSpPr>
        <p:spPr>
          <a:xfrm>
            <a:off x="548640" y="5340096"/>
            <a:ext cx="658368" cy="658368"/>
          </a:xfrm>
          <a:prstGeom prst="ellipse">
            <a:avLst/>
          </a:prstGeom>
          <a:solidFill>
            <a:schemeClr val="accent1"/>
          </a:solidFill>
          <a:ln/>
        </p:spPr>
      </p:sp>
      <p:pic>
        <p:nvPicPr>
          <p:cNvPr id="21" name="Icon GiBrain" descr="preencoded.png">    </p:cNvPr>
          <p:cNvPicPr>
            <a:picLocks noChangeAspect="1"/>
          </p:cNvPicPr>
          <p:nvPr/>
        </p:nvPicPr>
        <p:blipFill>
          <a:blip r:embed="rId3"/>
          <a:stretch>
            <a:fillRect/>
          </a:stretch>
        </p:blipFill>
        <p:spPr>
          <a:xfrm>
            <a:off x="693481" y="5484937"/>
            <a:ext cx="368686" cy="368686"/>
          </a:xfrm>
          <a:prstGeom prst="rect">
            <a:avLst/>
          </a:prstGeom>
        </p:spPr>
      </p:pic>
      <p:sp>
        <p:nvSpPr>
          <p:cNvPr id="22" name="Text 17"/>
          <p:cNvSpPr txBox="1"/>
          <p:nvPr/>
        </p:nvSpPr>
        <p:spPr>
          <a:xfrm>
            <a:off x="1371600" y="5340096"/>
            <a:ext cx="4846320" cy="713232"/>
          </a:xfrm>
          <a:prstGeom prst="rect">
            <a:avLst/>
          </a:prstGeom>
          <a:noFill/>
          <a:ln/>
        </p:spPr>
        <p:txBody>
          <a:bodyPr wrap="square" lIns="0" tIns="0" rIns="0" bIns="0" rtlCol="0" anchor="ctr"/>
          <a:lstStyle/>
          <a:p>
            <a:pPr indent="0" marL="0">
              <a:buNone/>
            </a:pPr>
            <a:r>
              <a:rPr lang="en-US" sz="1600" b="1" dirty="0">
                <a:solidFill>
                  <a:schemeClr val="accent1"/>
                </a:solidFill>
              </a:rPr>
              <a:t>Stratege: </a:t>
            </a:r>
            <a:pPr indent="0" marL="0">
              <a:buNone/>
            </a:pPr>
            <a:r>
              <a:rPr lang="en-US" sz="1600" dirty="0">
                <a:solidFill>
                  <a:schemeClr val="tx1"/>
                </a:solidFill>
              </a:rPr>
              <a:t>entscheidet, welche zwei Karten als Nächstes verglichen werden</a:t>
            </a:r>
            <a:endParaRPr lang="en-US" sz="1600" dirty="0"/>
          </a:p>
        </p:txBody>
      </p:sp>
      <p:sp>
        <p:nvSpPr>
          <p:cNvPr id="23" name="Ablauf"/>
          <p:cNvSpPr/>
          <p:nvPr/>
        </p:nvSpPr>
        <p:spPr>
          <a:xfrm>
            <a:off x="6675120" y="1371600"/>
            <a:ext cx="4937760" cy="4754880"/>
          </a:xfrm>
          <a:prstGeom prst="roundRect">
            <a:avLst>
              <a:gd name="adj" fmla="val 2308"/>
            </a:avLst>
          </a:prstGeom>
          <a:solidFill>
            <a:schemeClr val="bg2"/>
          </a:solidFill>
          <a:ln/>
        </p:spPr>
      </p:sp>
      <p:sp>
        <p:nvSpPr>
          <p:cNvPr id="24" name="Text 19"/>
          <p:cNvSpPr txBox="1"/>
          <p:nvPr/>
        </p:nvSpPr>
        <p:spPr>
          <a:xfrm>
            <a:off x="6903720" y="1508760"/>
            <a:ext cx="4572000" cy="411480"/>
          </a:xfrm>
          <a:prstGeom prst="rect">
            <a:avLst/>
          </a:prstGeom>
          <a:noFill/>
          <a:ln/>
        </p:spPr>
        <p:txBody>
          <a:bodyPr wrap="square" lIns="0" tIns="0" rIns="0" bIns="0" rtlCol="0" anchor="t"/>
          <a:lstStyle/>
          <a:p>
            <a:pPr indent="0" marL="0">
              <a:buNone/>
            </a:pPr>
            <a:r>
              <a:rPr lang="en-US" sz="2100" b="1" dirty="0">
                <a:solidFill>
                  <a:schemeClr val="accent1"/>
                </a:solidFill>
              </a:rPr>
              <a:t>So läuft die Runde</a:t>
            </a:r>
            <a:endParaRPr lang="en-US" sz="2100" dirty="0"/>
          </a:p>
        </p:txBody>
      </p:sp>
      <p:sp>
        <p:nvSpPr>
          <p:cNvPr id="25" name="Text 20"/>
          <p:cNvSpPr txBox="1"/>
          <p:nvPr/>
        </p:nvSpPr>
        <p:spPr>
          <a:xfrm>
            <a:off x="6903720" y="2148840"/>
            <a:ext cx="438912" cy="438912"/>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26" name="Text 21"/>
          <p:cNvSpPr txBox="1"/>
          <p:nvPr/>
        </p:nvSpPr>
        <p:spPr>
          <a:xfrm>
            <a:off x="7498080" y="2103120"/>
            <a:ext cx="3931920" cy="868680"/>
          </a:xfrm>
          <a:prstGeom prst="rect">
            <a:avLst/>
          </a:prstGeom>
          <a:noFill/>
          <a:ln/>
        </p:spPr>
        <p:txBody>
          <a:bodyPr wrap="square" lIns="0" tIns="0" rIns="0" bIns="0" rtlCol="0" anchor="t"/>
          <a:lstStyle/>
          <a:p>
            <a:pPr indent="0" marL="0">
              <a:buNone/>
            </a:pPr>
            <a:r>
              <a:rPr lang="en-US" sz="1700" dirty="0">
                <a:solidFill>
                  <a:schemeClr val="tx1"/>
                </a:solidFill>
              </a:rPr>
              <a:t>Jedes Team zieht eine Strategie-Karte: Auswahl, Einfügen oder Blasen.</a:t>
            </a:r>
            <a:endParaRPr lang="en-US" sz="1700" dirty="0"/>
          </a:p>
        </p:txBody>
      </p:sp>
      <p:sp>
        <p:nvSpPr>
          <p:cNvPr id="27" name="Text 22"/>
          <p:cNvSpPr txBox="1"/>
          <p:nvPr/>
        </p:nvSpPr>
        <p:spPr>
          <a:xfrm>
            <a:off x="6903720" y="3108960"/>
            <a:ext cx="438912" cy="438912"/>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28" name="Text 23"/>
          <p:cNvSpPr txBox="1"/>
          <p:nvPr/>
        </p:nvSpPr>
        <p:spPr>
          <a:xfrm>
            <a:off x="7498080" y="3063240"/>
            <a:ext cx="3931920" cy="868680"/>
          </a:xfrm>
          <a:prstGeom prst="rect">
            <a:avLst/>
          </a:prstGeom>
          <a:noFill/>
          <a:ln/>
        </p:spPr>
        <p:txBody>
          <a:bodyPr wrap="square" lIns="0" tIns="0" rIns="0" bIns="0" rtlCol="0" anchor="t"/>
          <a:lstStyle/>
          <a:p>
            <a:pPr indent="0" marL="0">
              <a:buNone/>
            </a:pPr>
            <a:r>
              <a:rPr lang="en-US" sz="1700" dirty="0">
                <a:solidFill>
                  <a:schemeClr val="tx1"/>
                </a:solidFill>
              </a:rPr>
              <a:t>Fünf Karten verdeckt mischen, dann absteigend sortieren: meiste Punkte links.</a:t>
            </a:r>
            <a:endParaRPr lang="en-US" sz="1700" dirty="0"/>
          </a:p>
        </p:txBody>
      </p:sp>
      <p:sp>
        <p:nvSpPr>
          <p:cNvPr id="29" name="Text 24"/>
          <p:cNvSpPr txBox="1"/>
          <p:nvPr/>
        </p:nvSpPr>
        <p:spPr>
          <a:xfrm>
            <a:off x="6903720" y="4069080"/>
            <a:ext cx="438912" cy="438912"/>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30" name="Text 25"/>
          <p:cNvSpPr txBox="1"/>
          <p:nvPr/>
        </p:nvSpPr>
        <p:spPr>
          <a:xfrm>
            <a:off x="7498080" y="4023360"/>
            <a:ext cx="3931920" cy="868680"/>
          </a:xfrm>
          <a:prstGeom prst="rect">
            <a:avLst/>
          </a:prstGeom>
          <a:noFill/>
          <a:ln/>
        </p:spPr>
        <p:txBody>
          <a:bodyPr wrap="square" lIns="0" tIns="0" rIns="0" bIns="0" rtlCol="0" anchor="t"/>
          <a:lstStyle/>
          <a:p>
            <a:pPr indent="0" marL="0">
              <a:buNone/>
            </a:pPr>
            <a:r>
              <a:rPr lang="en-US" sz="1700" dirty="0">
                <a:solidFill>
                  <a:schemeClr val="tx1"/>
                </a:solidFill>
              </a:rPr>
              <a:t>Jeder Vergleich und jede Vertauschung bekommt einen Strich.</a:t>
            </a:r>
            <a:endParaRPr lang="en-US" sz="1700" dirty="0"/>
          </a:p>
        </p:txBody>
      </p:sp>
      <p:sp>
        <p:nvSpPr>
          <p:cNvPr id="31" name="Text 26"/>
          <p:cNvSpPr txBox="1"/>
          <p:nvPr/>
        </p:nvSpPr>
        <p:spPr>
          <a:xfrm>
            <a:off x="6903720" y="5029200"/>
            <a:ext cx="438912" cy="438912"/>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32" name="Text 27"/>
          <p:cNvSpPr txBox="1"/>
          <p:nvPr/>
        </p:nvSpPr>
        <p:spPr>
          <a:xfrm>
            <a:off x="7498080" y="4983480"/>
            <a:ext cx="3931920" cy="868680"/>
          </a:xfrm>
          <a:prstGeom prst="rect">
            <a:avLst/>
          </a:prstGeom>
          <a:noFill/>
          <a:ln/>
        </p:spPr>
        <p:txBody>
          <a:bodyPr wrap="square" lIns="0" tIns="0" rIns="0" bIns="0" rtlCol="0" anchor="t"/>
          <a:lstStyle/>
          <a:p>
            <a:pPr indent="0" marL="0">
              <a:buNone/>
            </a:pPr>
            <a:r>
              <a:rPr lang="en-US" sz="1700" dirty="0">
                <a:solidFill>
                  <a:schemeClr val="tx1"/>
                </a:solidFill>
              </a:rPr>
              <a:t>Danach Karten tauschen, Strategie wechseln – wer braucht am wenigsten?</a:t>
            </a:r>
            <a:endParaRPr lang="en-US" sz="17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Selectionsort: das Beste nach vorn</a:t>
            </a:r>
            <a:endParaRPr lang="en-US" sz="3600" dirty="0"/>
          </a:p>
        </p:txBody>
      </p:sp>
      <p:sp>
        <p:nvSpPr>
          <p:cNvPr id="3" name="Idee"/>
          <p:cNvSpPr/>
          <p:nvPr/>
        </p:nvSpPr>
        <p:spPr>
          <a:xfrm>
            <a:off x="548640" y="1325880"/>
            <a:ext cx="5943600" cy="1234440"/>
          </a:xfrm>
          <a:prstGeom prst="roundRect">
            <a:avLst>
              <a:gd name="adj" fmla="val 8889"/>
            </a:avLst>
          </a:prstGeom>
          <a:solidFill>
            <a:schemeClr val="bg2"/>
          </a:solidFill>
          <a:ln/>
        </p:spPr>
      </p:sp>
      <p:sp>
        <p:nvSpPr>
          <p:cNvPr id="4" name="Text 2"/>
          <p:cNvSpPr txBox="1"/>
          <p:nvPr/>
        </p:nvSpPr>
        <p:spPr>
          <a:xfrm>
            <a:off x="777240" y="1325880"/>
            <a:ext cx="5577840" cy="1234440"/>
          </a:xfrm>
          <a:prstGeom prst="rect">
            <a:avLst/>
          </a:prstGeom>
          <a:noFill/>
          <a:ln/>
        </p:spPr>
        <p:txBody>
          <a:bodyPr wrap="square" lIns="0" tIns="0" rIns="0" bIns="0" rtlCol="0" anchor="ctr"/>
          <a:lstStyle/>
          <a:p>
            <a:pPr indent="0" marL="0">
              <a:buNone/>
            </a:pPr>
            <a:r>
              <a:rPr lang="en-US" sz="1700" b="1" dirty="0">
                <a:solidFill>
                  <a:schemeClr val="accent1"/>
                </a:solidFill>
              </a:rPr>
              <a:t>Idee: </a:t>
            </a:r>
            <a:pPr indent="0" marL="0">
              <a:buNone/>
            </a:pPr>
            <a:r>
              <a:rPr lang="en-US" sz="1700" dirty="0">
                <a:solidFill>
                  <a:schemeClr val="tx1"/>
                </a:solidFill>
              </a:rPr>
              <a:t>Suche im unsortierten Rest den besten Eintrag und tausche ihn an die erste Stelle des Rests. Der sortierte Bereich wächst von links.</a:t>
            </a:r>
            <a:endParaRPr lang="en-US" sz="1700" dirty="0"/>
          </a:p>
        </p:txBody>
      </p:sp>
      <p:sp>
        <p:nvSpPr>
          <p:cNvPr id="5" name="Code"/>
          <p:cNvSpPr txBox="1"/>
          <p:nvPr/>
        </p:nvSpPr>
        <p:spPr>
          <a:xfrm>
            <a:off x="548640" y="2724912"/>
            <a:ext cx="5943600" cy="31465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public</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void</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selectionSort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for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0;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&lt;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anzahl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- 1;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maxIndex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for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int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j</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+ 1;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j</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&lt;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anzahl</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j</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besser</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eintraege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j</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eintraege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maxIndex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maxIndex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j</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b="1" dirty="0">
                <a:solidFill>
                  <a:schemeClr val="accent1"/>
                </a:solidFill>
                <a:latin typeface="Consolas" pitchFamily="34" charset="0"/>
                <a:ea typeface="Consolas" pitchFamily="34" charset="-122"/>
                <a:cs typeface="Consolas" pitchFamily="34" charset="-120"/>
              </a:rPr>
              <a:t>if</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maxIndex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vertausche</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i</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maxIndex</a:t>
            </a:r>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    }</a:t>
            </a:r>
            <a:endParaRPr lang="en-US" sz="1300" dirty="0"/>
          </a:p>
          <a:p>
            <a:pPr algn="l" indent="0" marL="0">
              <a:lnSpc>
                <a:spcPts val="16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sp>
        <p:nvSpPr>
          <p:cNvPr id="6" name="Text 4"/>
          <p:cNvSpPr txBox="1"/>
          <p:nvPr/>
        </p:nvSpPr>
        <p:spPr>
          <a:xfrm>
            <a:off x="6812280" y="1325880"/>
            <a:ext cx="4800600" cy="365760"/>
          </a:xfrm>
          <a:prstGeom prst="rect">
            <a:avLst/>
          </a:prstGeom>
          <a:noFill/>
          <a:ln/>
        </p:spPr>
        <p:txBody>
          <a:bodyPr wrap="square" lIns="0" tIns="0" rIns="0" bIns="0" rtlCol="0" anchor="ctr"/>
          <a:lstStyle/>
          <a:p>
            <a:pPr indent="0" marL="0">
              <a:buNone/>
            </a:pPr>
            <a:r>
              <a:rPr lang="en-US" sz="1800" b="1" dirty="0">
                <a:solidFill>
                  <a:schemeClr val="accent1"/>
                </a:solidFill>
              </a:rPr>
              <a:t>Beispiel: 50, 80, 30, 90, 70</a:t>
            </a:r>
            <a:pPr indent="0" marL="0">
              <a:buNone/>
            </a:pPr>
            <a:r>
              <a:rPr lang="en-US" sz="1800" dirty="0">
                <a:solidFill>
                  <a:schemeClr val="accent6"/>
                </a:solidFill>
              </a:rPr>
              <a:t>  absteigend</a:t>
            </a:r>
            <a:endParaRPr lang="en-US" sz="1800" dirty="0"/>
          </a:p>
        </p:txBody>
      </p:sp>
      <p:sp>
        <p:nvSpPr>
          <p:cNvPr id="7" name="Text 5"/>
          <p:cNvSpPr txBox="1"/>
          <p:nvPr/>
        </p:nvSpPr>
        <p:spPr>
          <a:xfrm>
            <a:off x="6812280" y="1783080"/>
            <a:ext cx="1143000" cy="274320"/>
          </a:xfrm>
          <a:prstGeom prst="rect">
            <a:avLst/>
          </a:prstGeom>
          <a:noFill/>
          <a:ln/>
        </p:spPr>
        <p:txBody>
          <a:bodyPr wrap="square" lIns="0" tIns="0" rIns="0" bIns="0" rtlCol="0" anchor="t"/>
          <a:lstStyle/>
          <a:p>
            <a:pPr indent="0" marL="0">
              <a:buNone/>
            </a:pPr>
            <a:r>
              <a:rPr lang="en-US" sz="1400" b="1" dirty="0">
                <a:solidFill>
                  <a:schemeClr val="accent6"/>
                </a:solidFill>
              </a:rPr>
              <a:t>Zustand</a:t>
            </a:r>
            <a:endParaRPr lang="en-US" sz="1400" dirty="0"/>
          </a:p>
        </p:txBody>
      </p:sp>
      <p:sp>
        <p:nvSpPr>
          <p:cNvPr id="8" name="Text 6"/>
          <p:cNvSpPr txBox="1"/>
          <p:nvPr/>
        </p:nvSpPr>
        <p:spPr>
          <a:xfrm>
            <a:off x="7955280"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9" name="Text 7"/>
          <p:cNvSpPr txBox="1"/>
          <p:nvPr/>
        </p:nvSpPr>
        <p:spPr>
          <a:xfrm>
            <a:off x="8522208"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10" name="Text 8"/>
          <p:cNvSpPr txBox="1"/>
          <p:nvPr/>
        </p:nvSpPr>
        <p:spPr>
          <a:xfrm>
            <a:off x="9089136"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11" name="Text 9"/>
          <p:cNvSpPr txBox="1"/>
          <p:nvPr/>
        </p:nvSpPr>
        <p:spPr>
          <a:xfrm>
            <a:off x="9656064"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12" name="Text 10"/>
          <p:cNvSpPr txBox="1"/>
          <p:nvPr/>
        </p:nvSpPr>
        <p:spPr>
          <a:xfrm>
            <a:off x="10222992"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13" name="Text 11"/>
          <p:cNvSpPr txBox="1"/>
          <p:nvPr/>
        </p:nvSpPr>
        <p:spPr>
          <a:xfrm>
            <a:off x="10881360" y="1783080"/>
            <a:ext cx="822960" cy="274320"/>
          </a:xfrm>
          <a:prstGeom prst="rect">
            <a:avLst/>
          </a:prstGeom>
          <a:noFill/>
          <a:ln/>
        </p:spPr>
        <p:txBody>
          <a:bodyPr wrap="square" lIns="0" tIns="0" rIns="0" bIns="0" rtlCol="0" anchor="t"/>
          <a:lstStyle/>
          <a:p>
            <a:pPr algn="ctr" indent="0" marL="0">
              <a:buNone/>
            </a:pPr>
            <a:r>
              <a:rPr lang="en-US" sz="1400" b="1" dirty="0">
                <a:solidFill>
                  <a:schemeClr val="accent6"/>
                </a:solidFill>
              </a:rPr>
              <a:t>V / T</a:t>
            </a:r>
            <a:endParaRPr lang="en-US" sz="1400" dirty="0"/>
          </a:p>
        </p:txBody>
      </p:sp>
      <p:sp>
        <p:nvSpPr>
          <p:cNvPr id="14" name="Text 12"/>
          <p:cNvSpPr txBox="1"/>
          <p:nvPr/>
        </p:nvSpPr>
        <p:spPr>
          <a:xfrm>
            <a:off x="6812280" y="2112264"/>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Start</a:t>
            </a:r>
            <a:endParaRPr lang="en-US" sz="1500" dirty="0"/>
          </a:p>
        </p:txBody>
      </p:sp>
      <p:sp>
        <p:nvSpPr>
          <p:cNvPr id="15" name="Zustand Start 0"/>
          <p:cNvSpPr txBox="1"/>
          <p:nvPr/>
        </p:nvSpPr>
        <p:spPr>
          <a:xfrm>
            <a:off x="7955280"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50</a:t>
            </a:r>
            <a:endParaRPr lang="en-US" sz="1600" dirty="0"/>
          </a:p>
        </p:txBody>
      </p:sp>
      <p:sp>
        <p:nvSpPr>
          <p:cNvPr id="16" name="Zustand Start 1"/>
          <p:cNvSpPr txBox="1"/>
          <p:nvPr/>
        </p:nvSpPr>
        <p:spPr>
          <a:xfrm>
            <a:off x="8522208"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80</a:t>
            </a:r>
            <a:endParaRPr lang="en-US" sz="1600" dirty="0"/>
          </a:p>
        </p:txBody>
      </p:sp>
      <p:sp>
        <p:nvSpPr>
          <p:cNvPr id="17" name="Zustand Start 2"/>
          <p:cNvSpPr txBox="1"/>
          <p:nvPr/>
        </p:nvSpPr>
        <p:spPr>
          <a:xfrm>
            <a:off x="9089136"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30</a:t>
            </a:r>
            <a:endParaRPr lang="en-US" sz="1600" dirty="0"/>
          </a:p>
        </p:txBody>
      </p:sp>
      <p:sp>
        <p:nvSpPr>
          <p:cNvPr id="18" name="Zustand Start 3"/>
          <p:cNvSpPr txBox="1"/>
          <p:nvPr/>
        </p:nvSpPr>
        <p:spPr>
          <a:xfrm>
            <a:off x="9656064"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90</a:t>
            </a:r>
            <a:endParaRPr lang="en-US" sz="1600" dirty="0"/>
          </a:p>
        </p:txBody>
      </p:sp>
      <p:sp>
        <p:nvSpPr>
          <p:cNvPr id="19" name="Zustand Start 4"/>
          <p:cNvSpPr txBox="1"/>
          <p:nvPr/>
        </p:nvSpPr>
        <p:spPr>
          <a:xfrm>
            <a:off x="10222992"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70</a:t>
            </a:r>
            <a:endParaRPr lang="en-US" sz="1600" dirty="0"/>
          </a:p>
        </p:txBody>
      </p:sp>
      <p:sp>
        <p:nvSpPr>
          <p:cNvPr id="20" name="Text 18"/>
          <p:cNvSpPr txBox="1"/>
          <p:nvPr/>
        </p:nvSpPr>
        <p:spPr>
          <a:xfrm>
            <a:off x="10881360" y="2112264"/>
            <a:ext cx="822960" cy="420624"/>
          </a:xfrm>
          <a:prstGeom prst="rect">
            <a:avLst/>
          </a:prstGeom>
          <a:noFill/>
          <a:ln/>
        </p:spPr>
        <p:txBody>
          <a:bodyPr wrap="square" lIns="0" tIns="0" rIns="0" bIns="0" rtlCol="0" anchor="ctr"/>
          <a:lstStyle/>
          <a:p>
            <a:pPr algn="ctr" indent="0" marL="0">
              <a:buNone/>
            </a:pPr>
            <a:endParaRPr lang="en-US" sz="1500" dirty="0"/>
          </a:p>
        </p:txBody>
      </p:sp>
      <p:sp>
        <p:nvSpPr>
          <p:cNvPr id="21" name="Text 19"/>
          <p:cNvSpPr txBox="1"/>
          <p:nvPr/>
        </p:nvSpPr>
        <p:spPr>
          <a:xfrm>
            <a:off x="6812280" y="2642616"/>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i = 0</a:t>
            </a:r>
            <a:endParaRPr lang="en-US" sz="1500" dirty="0"/>
          </a:p>
        </p:txBody>
      </p:sp>
      <p:sp>
        <p:nvSpPr>
          <p:cNvPr id="22" name="Zustand i = 0 1"/>
          <p:cNvSpPr txBox="1"/>
          <p:nvPr/>
        </p:nvSpPr>
        <p:spPr>
          <a:xfrm>
            <a:off x="8522208" y="2642616"/>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80</a:t>
            </a:r>
            <a:endParaRPr lang="en-US" sz="1600" dirty="0"/>
          </a:p>
        </p:txBody>
      </p:sp>
      <p:sp>
        <p:nvSpPr>
          <p:cNvPr id="23" name="Zustand i = 0 2"/>
          <p:cNvSpPr txBox="1"/>
          <p:nvPr/>
        </p:nvSpPr>
        <p:spPr>
          <a:xfrm>
            <a:off x="9089136" y="2642616"/>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30</a:t>
            </a:r>
            <a:endParaRPr lang="en-US" sz="1600" dirty="0"/>
          </a:p>
        </p:txBody>
      </p:sp>
      <p:sp>
        <p:nvSpPr>
          <p:cNvPr id="24" name="Zustand i = 0 4"/>
          <p:cNvSpPr txBox="1"/>
          <p:nvPr/>
        </p:nvSpPr>
        <p:spPr>
          <a:xfrm>
            <a:off x="10222992" y="2642616"/>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70</a:t>
            </a:r>
            <a:endParaRPr lang="en-US" sz="1600" dirty="0"/>
          </a:p>
        </p:txBody>
      </p:sp>
      <p:sp>
        <p:nvSpPr>
          <p:cNvPr id="25" name="Zustand i = 0 0"/>
          <p:cNvSpPr txBox="1"/>
          <p:nvPr/>
        </p:nvSpPr>
        <p:spPr>
          <a:xfrm>
            <a:off x="7955280" y="2642616"/>
            <a:ext cx="566928" cy="420624"/>
          </a:xfrm>
          <a:prstGeom prst="rect">
            <a:avLst/>
          </a:prstGeom>
          <a:solidFill>
            <a:schemeClr val="accent1"/>
          </a:solidFill>
          <a:ln w="38100">
            <a:solidFill>
              <a:schemeClr val="accent2"/>
            </a:solidFill>
          </a:ln>
        </p:spPr>
        <p:txBody>
          <a:bodyPr wrap="square" lIns="0" tIns="0" rIns="0" bIns="0" rtlCol="0" anchor="ctr"/>
          <a:lstStyle/>
          <a:p>
            <a:pPr algn="ctr" indent="0" marL="0">
              <a:buNone/>
            </a:pPr>
            <a:r>
              <a:rPr lang="en-US" sz="1600" b="1" dirty="0">
                <a:solidFill>
                  <a:schemeClr val="bg1"/>
                </a:solidFill>
              </a:rPr>
              <a:t>90</a:t>
            </a:r>
            <a:endParaRPr lang="en-US" sz="1600" dirty="0"/>
          </a:p>
        </p:txBody>
      </p:sp>
      <p:sp>
        <p:nvSpPr>
          <p:cNvPr id="26" name="Zustand i = 0 3"/>
          <p:cNvSpPr txBox="1"/>
          <p:nvPr/>
        </p:nvSpPr>
        <p:spPr>
          <a:xfrm>
            <a:off x="9656064" y="2642616"/>
            <a:ext cx="566928" cy="420624"/>
          </a:xfrm>
          <a:prstGeom prst="rect">
            <a:avLst/>
          </a:prstGeom>
          <a:solidFill>
            <a:srgbClr val="FFF2CC"/>
          </a:solidFill>
          <a:ln w="38100">
            <a:solidFill>
              <a:schemeClr val="accent2"/>
            </a:solidFill>
          </a:ln>
        </p:spPr>
        <p:txBody>
          <a:bodyPr wrap="square" lIns="0" tIns="0" rIns="0" bIns="0" rtlCol="0" anchor="ctr"/>
          <a:lstStyle/>
          <a:p>
            <a:pPr algn="ctr" indent="0" marL="0">
              <a:buNone/>
            </a:pPr>
            <a:r>
              <a:rPr lang="en-US" sz="1600" b="1" dirty="0">
                <a:solidFill>
                  <a:schemeClr val="accent1"/>
                </a:solidFill>
              </a:rPr>
              <a:t>50</a:t>
            </a:r>
            <a:endParaRPr lang="en-US" sz="1600" dirty="0"/>
          </a:p>
        </p:txBody>
      </p:sp>
      <p:sp>
        <p:nvSpPr>
          <p:cNvPr id="27" name="Text 25"/>
          <p:cNvSpPr txBox="1"/>
          <p:nvPr/>
        </p:nvSpPr>
        <p:spPr>
          <a:xfrm>
            <a:off x="10881360" y="2642616"/>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4 / 1</a:t>
            </a:r>
            <a:endParaRPr lang="en-US" sz="1500" dirty="0"/>
          </a:p>
        </p:txBody>
      </p:sp>
      <p:sp>
        <p:nvSpPr>
          <p:cNvPr id="28" name="Text 26"/>
          <p:cNvSpPr txBox="1"/>
          <p:nvPr/>
        </p:nvSpPr>
        <p:spPr>
          <a:xfrm>
            <a:off x="6812280" y="3172968"/>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i = 1</a:t>
            </a:r>
            <a:endParaRPr lang="en-US" sz="1500" dirty="0"/>
          </a:p>
        </p:txBody>
      </p:sp>
      <p:sp>
        <p:nvSpPr>
          <p:cNvPr id="29" name="Zustand i = 1 0"/>
          <p:cNvSpPr txBox="1"/>
          <p:nvPr/>
        </p:nvSpPr>
        <p:spPr>
          <a:xfrm>
            <a:off x="7955280" y="3172968"/>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90</a:t>
            </a:r>
            <a:endParaRPr lang="en-US" sz="1600" dirty="0"/>
          </a:p>
        </p:txBody>
      </p:sp>
      <p:sp>
        <p:nvSpPr>
          <p:cNvPr id="30" name="Zustand i = 1 1"/>
          <p:cNvSpPr txBox="1"/>
          <p:nvPr/>
        </p:nvSpPr>
        <p:spPr>
          <a:xfrm>
            <a:off x="8522208" y="3172968"/>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80</a:t>
            </a:r>
            <a:endParaRPr lang="en-US" sz="1600" dirty="0"/>
          </a:p>
        </p:txBody>
      </p:sp>
      <p:sp>
        <p:nvSpPr>
          <p:cNvPr id="31" name="Zustand i = 1 2"/>
          <p:cNvSpPr txBox="1"/>
          <p:nvPr/>
        </p:nvSpPr>
        <p:spPr>
          <a:xfrm>
            <a:off x="9089136" y="3172968"/>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30</a:t>
            </a:r>
            <a:endParaRPr lang="en-US" sz="1600" dirty="0"/>
          </a:p>
        </p:txBody>
      </p:sp>
      <p:sp>
        <p:nvSpPr>
          <p:cNvPr id="32" name="Zustand i = 1 3"/>
          <p:cNvSpPr txBox="1"/>
          <p:nvPr/>
        </p:nvSpPr>
        <p:spPr>
          <a:xfrm>
            <a:off x="9656064" y="3172968"/>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50</a:t>
            </a:r>
            <a:endParaRPr lang="en-US" sz="1600" dirty="0"/>
          </a:p>
        </p:txBody>
      </p:sp>
      <p:sp>
        <p:nvSpPr>
          <p:cNvPr id="33" name="Zustand i = 1 4"/>
          <p:cNvSpPr txBox="1"/>
          <p:nvPr/>
        </p:nvSpPr>
        <p:spPr>
          <a:xfrm>
            <a:off x="10222992" y="3172968"/>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70</a:t>
            </a:r>
            <a:endParaRPr lang="en-US" sz="1600" dirty="0"/>
          </a:p>
        </p:txBody>
      </p:sp>
      <p:sp>
        <p:nvSpPr>
          <p:cNvPr id="34" name="Text 32"/>
          <p:cNvSpPr txBox="1"/>
          <p:nvPr/>
        </p:nvSpPr>
        <p:spPr>
          <a:xfrm>
            <a:off x="10881360" y="3172968"/>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7 / 1</a:t>
            </a:r>
            <a:endParaRPr lang="en-US" sz="1500" dirty="0"/>
          </a:p>
        </p:txBody>
      </p:sp>
      <p:sp>
        <p:nvSpPr>
          <p:cNvPr id="35" name="Text 33"/>
          <p:cNvSpPr txBox="1"/>
          <p:nvPr/>
        </p:nvSpPr>
        <p:spPr>
          <a:xfrm>
            <a:off x="6812280" y="3703320"/>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i = 2</a:t>
            </a:r>
            <a:endParaRPr lang="en-US" sz="1500" dirty="0"/>
          </a:p>
        </p:txBody>
      </p:sp>
      <p:sp>
        <p:nvSpPr>
          <p:cNvPr id="36" name="Zustand i = 2 0"/>
          <p:cNvSpPr txBox="1"/>
          <p:nvPr/>
        </p:nvSpPr>
        <p:spPr>
          <a:xfrm>
            <a:off x="7955280" y="3703320"/>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90</a:t>
            </a:r>
            <a:endParaRPr lang="en-US" sz="1600" dirty="0"/>
          </a:p>
        </p:txBody>
      </p:sp>
      <p:sp>
        <p:nvSpPr>
          <p:cNvPr id="37" name="Zustand i = 2 1"/>
          <p:cNvSpPr txBox="1"/>
          <p:nvPr/>
        </p:nvSpPr>
        <p:spPr>
          <a:xfrm>
            <a:off x="8522208" y="3703320"/>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80</a:t>
            </a:r>
            <a:endParaRPr lang="en-US" sz="1600" dirty="0"/>
          </a:p>
        </p:txBody>
      </p:sp>
      <p:sp>
        <p:nvSpPr>
          <p:cNvPr id="38" name="Zustand i = 2 3"/>
          <p:cNvSpPr txBox="1"/>
          <p:nvPr/>
        </p:nvSpPr>
        <p:spPr>
          <a:xfrm>
            <a:off x="9656064" y="3703320"/>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50</a:t>
            </a:r>
            <a:endParaRPr lang="en-US" sz="1600" dirty="0"/>
          </a:p>
        </p:txBody>
      </p:sp>
      <p:sp>
        <p:nvSpPr>
          <p:cNvPr id="39" name="Zustand i = 2 2"/>
          <p:cNvSpPr txBox="1"/>
          <p:nvPr/>
        </p:nvSpPr>
        <p:spPr>
          <a:xfrm>
            <a:off x="9089136" y="3703320"/>
            <a:ext cx="566928" cy="420624"/>
          </a:xfrm>
          <a:prstGeom prst="rect">
            <a:avLst/>
          </a:prstGeom>
          <a:solidFill>
            <a:schemeClr val="accent1"/>
          </a:solidFill>
          <a:ln w="38100">
            <a:solidFill>
              <a:schemeClr val="accent2"/>
            </a:solidFill>
          </a:ln>
        </p:spPr>
        <p:txBody>
          <a:bodyPr wrap="square" lIns="0" tIns="0" rIns="0" bIns="0" rtlCol="0" anchor="ctr"/>
          <a:lstStyle/>
          <a:p>
            <a:pPr algn="ctr" indent="0" marL="0">
              <a:buNone/>
            </a:pPr>
            <a:r>
              <a:rPr lang="en-US" sz="1600" b="1" dirty="0">
                <a:solidFill>
                  <a:schemeClr val="bg1"/>
                </a:solidFill>
              </a:rPr>
              <a:t>70</a:t>
            </a:r>
            <a:endParaRPr lang="en-US" sz="1600" dirty="0"/>
          </a:p>
        </p:txBody>
      </p:sp>
      <p:sp>
        <p:nvSpPr>
          <p:cNvPr id="40" name="Zustand i = 2 4"/>
          <p:cNvSpPr txBox="1"/>
          <p:nvPr/>
        </p:nvSpPr>
        <p:spPr>
          <a:xfrm>
            <a:off x="10222992" y="3703320"/>
            <a:ext cx="566928" cy="420624"/>
          </a:xfrm>
          <a:prstGeom prst="rect">
            <a:avLst/>
          </a:prstGeom>
          <a:solidFill>
            <a:srgbClr val="FFF2CC"/>
          </a:solidFill>
          <a:ln w="38100">
            <a:solidFill>
              <a:schemeClr val="accent2"/>
            </a:solidFill>
          </a:ln>
        </p:spPr>
        <p:txBody>
          <a:bodyPr wrap="square" lIns="0" tIns="0" rIns="0" bIns="0" rtlCol="0" anchor="ctr"/>
          <a:lstStyle/>
          <a:p>
            <a:pPr algn="ctr" indent="0" marL="0">
              <a:buNone/>
            </a:pPr>
            <a:r>
              <a:rPr lang="en-US" sz="1600" b="1" dirty="0">
                <a:solidFill>
                  <a:schemeClr val="accent1"/>
                </a:solidFill>
              </a:rPr>
              <a:t>30</a:t>
            </a:r>
            <a:endParaRPr lang="en-US" sz="1600" dirty="0"/>
          </a:p>
        </p:txBody>
      </p:sp>
      <p:sp>
        <p:nvSpPr>
          <p:cNvPr id="41" name="Text 39"/>
          <p:cNvSpPr txBox="1"/>
          <p:nvPr/>
        </p:nvSpPr>
        <p:spPr>
          <a:xfrm>
            <a:off x="10881360" y="3703320"/>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9 / 2</a:t>
            </a:r>
            <a:endParaRPr lang="en-US" sz="1500" dirty="0"/>
          </a:p>
        </p:txBody>
      </p:sp>
      <p:sp>
        <p:nvSpPr>
          <p:cNvPr id="42" name="Text 40"/>
          <p:cNvSpPr txBox="1"/>
          <p:nvPr/>
        </p:nvSpPr>
        <p:spPr>
          <a:xfrm>
            <a:off x="6812280" y="4233672"/>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i = 3</a:t>
            </a:r>
            <a:endParaRPr lang="en-US" sz="1500" dirty="0"/>
          </a:p>
        </p:txBody>
      </p:sp>
      <p:sp>
        <p:nvSpPr>
          <p:cNvPr id="43" name="Zustand i = 3 0"/>
          <p:cNvSpPr txBox="1"/>
          <p:nvPr/>
        </p:nvSpPr>
        <p:spPr>
          <a:xfrm>
            <a:off x="7955280"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90</a:t>
            </a:r>
            <a:endParaRPr lang="en-US" sz="1600" dirty="0"/>
          </a:p>
        </p:txBody>
      </p:sp>
      <p:sp>
        <p:nvSpPr>
          <p:cNvPr id="44" name="Zustand i = 3 1"/>
          <p:cNvSpPr txBox="1"/>
          <p:nvPr/>
        </p:nvSpPr>
        <p:spPr>
          <a:xfrm>
            <a:off x="8522208"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80</a:t>
            </a:r>
            <a:endParaRPr lang="en-US" sz="1600" dirty="0"/>
          </a:p>
        </p:txBody>
      </p:sp>
      <p:sp>
        <p:nvSpPr>
          <p:cNvPr id="45" name="Zustand i = 3 2"/>
          <p:cNvSpPr txBox="1"/>
          <p:nvPr/>
        </p:nvSpPr>
        <p:spPr>
          <a:xfrm>
            <a:off x="9089136"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70</a:t>
            </a:r>
            <a:endParaRPr lang="en-US" sz="1600" dirty="0"/>
          </a:p>
        </p:txBody>
      </p:sp>
      <p:sp>
        <p:nvSpPr>
          <p:cNvPr id="46" name="Zustand i = 3 3"/>
          <p:cNvSpPr txBox="1"/>
          <p:nvPr/>
        </p:nvSpPr>
        <p:spPr>
          <a:xfrm>
            <a:off x="9656064"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50</a:t>
            </a:r>
            <a:endParaRPr lang="en-US" sz="1600" dirty="0"/>
          </a:p>
        </p:txBody>
      </p:sp>
      <p:sp>
        <p:nvSpPr>
          <p:cNvPr id="47" name="Zustand i = 3 4"/>
          <p:cNvSpPr txBox="1"/>
          <p:nvPr/>
        </p:nvSpPr>
        <p:spPr>
          <a:xfrm>
            <a:off x="10222992"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30</a:t>
            </a:r>
            <a:endParaRPr lang="en-US" sz="1600" dirty="0"/>
          </a:p>
        </p:txBody>
      </p:sp>
      <p:sp>
        <p:nvSpPr>
          <p:cNvPr id="48" name="Text 46"/>
          <p:cNvSpPr txBox="1"/>
          <p:nvPr/>
        </p:nvSpPr>
        <p:spPr>
          <a:xfrm>
            <a:off x="10881360" y="4233672"/>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10 / 2</a:t>
            </a:r>
            <a:endParaRPr lang="en-US" sz="1500" dirty="0"/>
          </a:p>
        </p:txBody>
      </p:sp>
      <p:sp>
        <p:nvSpPr>
          <p:cNvPr id="49" name="Legende sortiert"/>
          <p:cNvSpPr/>
          <p:nvPr/>
        </p:nvSpPr>
        <p:spPr>
          <a:xfrm>
            <a:off x="6812280" y="4782312"/>
            <a:ext cx="274320" cy="219456"/>
          </a:xfrm>
          <a:prstGeom prst="rect">
            <a:avLst/>
          </a:prstGeom>
          <a:solidFill>
            <a:schemeClr val="accent1"/>
          </a:solidFill>
          <a:ln w="12700">
            <a:solidFill>
              <a:schemeClr val="accent1"/>
            </a:solidFill>
            <a:prstDash val="solid"/>
          </a:ln>
        </p:spPr>
      </p:sp>
      <p:sp>
        <p:nvSpPr>
          <p:cNvPr id="50" name="Text 48"/>
          <p:cNvSpPr txBox="1"/>
          <p:nvPr/>
        </p:nvSpPr>
        <p:spPr>
          <a:xfrm>
            <a:off x="7159752" y="4745736"/>
            <a:ext cx="1600200" cy="292608"/>
          </a:xfrm>
          <a:prstGeom prst="rect">
            <a:avLst/>
          </a:prstGeom>
          <a:noFill/>
          <a:ln/>
        </p:spPr>
        <p:txBody>
          <a:bodyPr wrap="square" lIns="0" tIns="0" rIns="0" bIns="0" rtlCol="0" anchor="ctr"/>
          <a:lstStyle/>
          <a:p>
            <a:pPr indent="0" marL="0">
              <a:buNone/>
            </a:pPr>
            <a:r>
              <a:rPr lang="en-US" sz="1400" dirty="0">
                <a:solidFill>
                  <a:schemeClr val="tx1"/>
                </a:solidFill>
              </a:rPr>
              <a:t>sortierter Bereich</a:t>
            </a:r>
            <a:endParaRPr lang="en-US" sz="1400" dirty="0"/>
          </a:p>
        </p:txBody>
      </p:sp>
      <p:sp>
        <p:nvSpPr>
          <p:cNvPr id="51" name="Legende bewegt"/>
          <p:cNvSpPr/>
          <p:nvPr/>
        </p:nvSpPr>
        <p:spPr>
          <a:xfrm>
            <a:off x="8823960" y="4782312"/>
            <a:ext cx="274320" cy="219456"/>
          </a:xfrm>
          <a:prstGeom prst="rect">
            <a:avLst/>
          </a:prstGeom>
          <a:solidFill>
            <a:srgbClr val="FFF2CC"/>
          </a:solidFill>
          <a:ln w="31750">
            <a:solidFill>
              <a:schemeClr val="accent2"/>
            </a:solidFill>
            <a:prstDash val="solid"/>
          </a:ln>
        </p:spPr>
      </p:sp>
      <p:sp>
        <p:nvSpPr>
          <p:cNvPr id="52" name="Text 50"/>
          <p:cNvSpPr txBox="1"/>
          <p:nvPr/>
        </p:nvSpPr>
        <p:spPr>
          <a:xfrm>
            <a:off x="9171432" y="4745736"/>
            <a:ext cx="2377440" cy="292608"/>
          </a:xfrm>
          <a:prstGeom prst="rect">
            <a:avLst/>
          </a:prstGeom>
          <a:noFill/>
          <a:ln/>
        </p:spPr>
        <p:txBody>
          <a:bodyPr wrap="square" lIns="0" tIns="0" rIns="0" bIns="0" rtlCol="0" anchor="ctr"/>
          <a:lstStyle/>
          <a:p>
            <a:pPr indent="0" marL="0">
              <a:buNone/>
            </a:pPr>
            <a:r>
              <a:rPr lang="en-US" sz="1400" dirty="0">
                <a:solidFill>
                  <a:schemeClr val="tx1"/>
                </a:solidFill>
              </a:rPr>
              <a:t>getauscht</a:t>
            </a:r>
            <a:endParaRPr lang="en-US" sz="1400" dirty="0"/>
          </a:p>
        </p:txBody>
      </p:sp>
      <p:sp>
        <p:nvSpPr>
          <p:cNvPr id="53" name="Ergebnis"/>
          <p:cNvSpPr/>
          <p:nvPr/>
        </p:nvSpPr>
        <p:spPr>
          <a:xfrm>
            <a:off x="6812280" y="5193792"/>
            <a:ext cx="4800600" cy="932688"/>
          </a:xfrm>
          <a:prstGeom prst="roundRect">
            <a:avLst>
              <a:gd name="adj" fmla="val 11765"/>
            </a:avLst>
          </a:prstGeom>
          <a:solidFill>
            <a:schemeClr val="accent1"/>
          </a:solidFill>
          <a:ln/>
          <a:effectLst>
            <a:outerShdw sx="100000" sy="100000" kx="0" ky="0" algn="bl" rotWithShape="0" blurRad="76200" dist="25400" dir="5400000">
              <a:srgbClr val="000000">
                <a:alpha val="18000"/>
              </a:srgbClr>
            </a:outerShdw>
          </a:effectLst>
        </p:spPr>
      </p:sp>
      <p:sp>
        <p:nvSpPr>
          <p:cNvPr id="54" name="Text 52"/>
          <p:cNvSpPr txBox="1"/>
          <p:nvPr/>
        </p:nvSpPr>
        <p:spPr>
          <a:xfrm>
            <a:off x="6995160" y="5193792"/>
            <a:ext cx="4480560" cy="932688"/>
          </a:xfrm>
          <a:prstGeom prst="rect">
            <a:avLst/>
          </a:prstGeom>
          <a:noFill/>
          <a:ln/>
        </p:spPr>
        <p:txBody>
          <a:bodyPr wrap="square" lIns="0" tIns="0" rIns="0" bIns="0" rtlCol="0" anchor="ctr"/>
          <a:lstStyle/>
          <a:p>
            <a:pPr indent="0" marL="0">
              <a:buNone/>
            </a:pPr>
            <a:r>
              <a:rPr lang="en-US" sz="1800" b="1" dirty="0">
                <a:solidFill>
                  <a:schemeClr val="accent2"/>
                </a:solidFill>
              </a:rPr>
              <a:t>10 Vergleiche · 2 Vertauschungen</a:t>
            </a:r>
            <a:endParaRPr lang="en-US" sz="1800" dirty="0"/>
          </a:p>
          <a:p>
            <a:pPr indent="0" marL="0">
              <a:buNone/>
            </a:pPr>
            <a:r>
              <a:rPr lang="en-US" sz="1500" dirty="0">
                <a:solidFill>
                  <a:schemeClr val="bg1"/>
                </a:solidFill>
              </a:rPr>
              <a:t>Vergleiche: immer 4 + 3 + 2 + 1 – egal, wie die Daten liegen.</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Insertionsort: einsortieren wie Spielkarten</a:t>
            </a:r>
            <a:endParaRPr lang="en-US" sz="3600" dirty="0"/>
          </a:p>
        </p:txBody>
      </p:sp>
      <p:sp>
        <p:nvSpPr>
          <p:cNvPr id="3" name="Idee"/>
          <p:cNvSpPr/>
          <p:nvPr/>
        </p:nvSpPr>
        <p:spPr>
          <a:xfrm>
            <a:off x="548640" y="1325880"/>
            <a:ext cx="5943600" cy="1234440"/>
          </a:xfrm>
          <a:prstGeom prst="roundRect">
            <a:avLst>
              <a:gd name="adj" fmla="val 8889"/>
            </a:avLst>
          </a:prstGeom>
          <a:solidFill>
            <a:schemeClr val="bg2"/>
          </a:solidFill>
          <a:ln/>
        </p:spPr>
      </p:sp>
      <p:sp>
        <p:nvSpPr>
          <p:cNvPr id="4" name="Text 2"/>
          <p:cNvSpPr txBox="1"/>
          <p:nvPr/>
        </p:nvSpPr>
        <p:spPr>
          <a:xfrm>
            <a:off x="777240" y="1325880"/>
            <a:ext cx="5577840" cy="1234440"/>
          </a:xfrm>
          <a:prstGeom prst="rect">
            <a:avLst/>
          </a:prstGeom>
          <a:noFill/>
          <a:ln/>
        </p:spPr>
        <p:txBody>
          <a:bodyPr wrap="square" lIns="0" tIns="0" rIns="0" bIns="0" rtlCol="0" anchor="ctr"/>
          <a:lstStyle/>
          <a:p>
            <a:pPr indent="0" marL="0">
              <a:buNone/>
            </a:pPr>
            <a:r>
              <a:rPr lang="en-US" sz="1700" b="1" dirty="0">
                <a:solidFill>
                  <a:schemeClr val="accent1"/>
                </a:solidFill>
              </a:rPr>
              <a:t>Idee: </a:t>
            </a:r>
            <a:pPr indent="0" marL="0">
              <a:buNone/>
            </a:pPr>
            <a:r>
              <a:rPr lang="en-US" sz="1700" dirty="0">
                <a:solidFill>
                  <a:schemeClr val="tx1"/>
                </a:solidFill>
              </a:rPr>
              <a:t>Nimm den nächsten Eintrag und lass ihn nach links wandern, solange er besser ist als sein linker Nachbar.</a:t>
            </a:r>
            <a:endParaRPr lang="en-US" sz="1700" dirty="0"/>
          </a:p>
        </p:txBody>
      </p:sp>
      <p:sp>
        <p:nvSpPr>
          <p:cNvPr id="5" name="Code"/>
          <p:cNvSpPr txBox="1"/>
          <p:nvPr/>
        </p:nvSpPr>
        <p:spPr>
          <a:xfrm>
            <a:off x="548640" y="2724912"/>
            <a:ext cx="5943600" cy="2587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void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insertionSort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for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1;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&lt;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anzahl</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j</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while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j</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&gt; 0 &amp;&amp;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besser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eintraege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j</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eintraege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j</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- 1]))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vertausche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j</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j</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- 1);</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j</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6" name="Text 4"/>
          <p:cNvSpPr txBox="1"/>
          <p:nvPr/>
        </p:nvSpPr>
        <p:spPr>
          <a:xfrm>
            <a:off x="6812280" y="1325880"/>
            <a:ext cx="4800600" cy="365760"/>
          </a:xfrm>
          <a:prstGeom prst="rect">
            <a:avLst/>
          </a:prstGeom>
          <a:noFill/>
          <a:ln/>
        </p:spPr>
        <p:txBody>
          <a:bodyPr wrap="square" lIns="0" tIns="0" rIns="0" bIns="0" rtlCol="0" anchor="ctr"/>
          <a:lstStyle/>
          <a:p>
            <a:pPr indent="0" marL="0">
              <a:buNone/>
            </a:pPr>
            <a:r>
              <a:rPr lang="en-US" sz="1800" b="1" dirty="0">
                <a:solidFill>
                  <a:schemeClr val="accent1"/>
                </a:solidFill>
              </a:rPr>
              <a:t>Beispiel: 50, 80, 30, 90, 70</a:t>
            </a:r>
            <a:pPr indent="0" marL="0">
              <a:buNone/>
            </a:pPr>
            <a:r>
              <a:rPr lang="en-US" sz="1800" dirty="0">
                <a:solidFill>
                  <a:schemeClr val="accent6"/>
                </a:solidFill>
              </a:rPr>
              <a:t>  absteigend</a:t>
            </a:r>
            <a:endParaRPr lang="en-US" sz="1800" dirty="0"/>
          </a:p>
        </p:txBody>
      </p:sp>
      <p:sp>
        <p:nvSpPr>
          <p:cNvPr id="7" name="Text 5"/>
          <p:cNvSpPr txBox="1"/>
          <p:nvPr/>
        </p:nvSpPr>
        <p:spPr>
          <a:xfrm>
            <a:off x="6812280" y="1783080"/>
            <a:ext cx="1143000" cy="274320"/>
          </a:xfrm>
          <a:prstGeom prst="rect">
            <a:avLst/>
          </a:prstGeom>
          <a:noFill/>
          <a:ln/>
        </p:spPr>
        <p:txBody>
          <a:bodyPr wrap="square" lIns="0" tIns="0" rIns="0" bIns="0" rtlCol="0" anchor="t"/>
          <a:lstStyle/>
          <a:p>
            <a:pPr indent="0" marL="0">
              <a:buNone/>
            </a:pPr>
            <a:r>
              <a:rPr lang="en-US" sz="1400" b="1" dirty="0">
                <a:solidFill>
                  <a:schemeClr val="accent6"/>
                </a:solidFill>
              </a:rPr>
              <a:t>Zustand</a:t>
            </a:r>
            <a:endParaRPr lang="en-US" sz="1400" dirty="0"/>
          </a:p>
        </p:txBody>
      </p:sp>
      <p:sp>
        <p:nvSpPr>
          <p:cNvPr id="8" name="Text 6"/>
          <p:cNvSpPr txBox="1"/>
          <p:nvPr/>
        </p:nvSpPr>
        <p:spPr>
          <a:xfrm>
            <a:off x="7955280"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9" name="Text 7"/>
          <p:cNvSpPr txBox="1"/>
          <p:nvPr/>
        </p:nvSpPr>
        <p:spPr>
          <a:xfrm>
            <a:off x="8522208"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10" name="Text 8"/>
          <p:cNvSpPr txBox="1"/>
          <p:nvPr/>
        </p:nvSpPr>
        <p:spPr>
          <a:xfrm>
            <a:off x="9089136"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11" name="Text 9"/>
          <p:cNvSpPr txBox="1"/>
          <p:nvPr/>
        </p:nvSpPr>
        <p:spPr>
          <a:xfrm>
            <a:off x="9656064"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12" name="Text 10"/>
          <p:cNvSpPr txBox="1"/>
          <p:nvPr/>
        </p:nvSpPr>
        <p:spPr>
          <a:xfrm>
            <a:off x="10222992"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13" name="Text 11"/>
          <p:cNvSpPr txBox="1"/>
          <p:nvPr/>
        </p:nvSpPr>
        <p:spPr>
          <a:xfrm>
            <a:off x="10881360" y="1783080"/>
            <a:ext cx="822960" cy="274320"/>
          </a:xfrm>
          <a:prstGeom prst="rect">
            <a:avLst/>
          </a:prstGeom>
          <a:noFill/>
          <a:ln/>
        </p:spPr>
        <p:txBody>
          <a:bodyPr wrap="square" lIns="0" tIns="0" rIns="0" bIns="0" rtlCol="0" anchor="t"/>
          <a:lstStyle/>
          <a:p>
            <a:pPr algn="ctr" indent="0" marL="0">
              <a:buNone/>
            </a:pPr>
            <a:r>
              <a:rPr lang="en-US" sz="1400" b="1" dirty="0">
                <a:solidFill>
                  <a:schemeClr val="accent6"/>
                </a:solidFill>
              </a:rPr>
              <a:t>V / T</a:t>
            </a:r>
            <a:endParaRPr lang="en-US" sz="1400" dirty="0"/>
          </a:p>
        </p:txBody>
      </p:sp>
      <p:sp>
        <p:nvSpPr>
          <p:cNvPr id="14" name="Text 12"/>
          <p:cNvSpPr txBox="1"/>
          <p:nvPr/>
        </p:nvSpPr>
        <p:spPr>
          <a:xfrm>
            <a:off x="6812280" y="2112264"/>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Start</a:t>
            </a:r>
            <a:endParaRPr lang="en-US" sz="1500" dirty="0"/>
          </a:p>
        </p:txBody>
      </p:sp>
      <p:sp>
        <p:nvSpPr>
          <p:cNvPr id="15" name="Zustand Start 0"/>
          <p:cNvSpPr txBox="1"/>
          <p:nvPr/>
        </p:nvSpPr>
        <p:spPr>
          <a:xfrm>
            <a:off x="7955280" y="2112264"/>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50</a:t>
            </a:r>
            <a:endParaRPr lang="en-US" sz="1600" dirty="0"/>
          </a:p>
        </p:txBody>
      </p:sp>
      <p:sp>
        <p:nvSpPr>
          <p:cNvPr id="16" name="Zustand Start 1"/>
          <p:cNvSpPr txBox="1"/>
          <p:nvPr/>
        </p:nvSpPr>
        <p:spPr>
          <a:xfrm>
            <a:off x="8522208"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80</a:t>
            </a:r>
            <a:endParaRPr lang="en-US" sz="1600" dirty="0"/>
          </a:p>
        </p:txBody>
      </p:sp>
      <p:sp>
        <p:nvSpPr>
          <p:cNvPr id="17" name="Zustand Start 2"/>
          <p:cNvSpPr txBox="1"/>
          <p:nvPr/>
        </p:nvSpPr>
        <p:spPr>
          <a:xfrm>
            <a:off x="9089136"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30</a:t>
            </a:r>
            <a:endParaRPr lang="en-US" sz="1600" dirty="0"/>
          </a:p>
        </p:txBody>
      </p:sp>
      <p:sp>
        <p:nvSpPr>
          <p:cNvPr id="18" name="Zustand Start 3"/>
          <p:cNvSpPr txBox="1"/>
          <p:nvPr/>
        </p:nvSpPr>
        <p:spPr>
          <a:xfrm>
            <a:off x="9656064"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90</a:t>
            </a:r>
            <a:endParaRPr lang="en-US" sz="1600" dirty="0"/>
          </a:p>
        </p:txBody>
      </p:sp>
      <p:sp>
        <p:nvSpPr>
          <p:cNvPr id="19" name="Zustand Start 4"/>
          <p:cNvSpPr txBox="1"/>
          <p:nvPr/>
        </p:nvSpPr>
        <p:spPr>
          <a:xfrm>
            <a:off x="10222992"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70</a:t>
            </a:r>
            <a:endParaRPr lang="en-US" sz="1600" dirty="0"/>
          </a:p>
        </p:txBody>
      </p:sp>
      <p:sp>
        <p:nvSpPr>
          <p:cNvPr id="20" name="Text 18"/>
          <p:cNvSpPr txBox="1"/>
          <p:nvPr/>
        </p:nvSpPr>
        <p:spPr>
          <a:xfrm>
            <a:off x="10881360" y="2112264"/>
            <a:ext cx="822960" cy="420624"/>
          </a:xfrm>
          <a:prstGeom prst="rect">
            <a:avLst/>
          </a:prstGeom>
          <a:noFill/>
          <a:ln/>
        </p:spPr>
        <p:txBody>
          <a:bodyPr wrap="square" lIns="0" tIns="0" rIns="0" bIns="0" rtlCol="0" anchor="ctr"/>
          <a:lstStyle/>
          <a:p>
            <a:pPr algn="ctr" indent="0" marL="0">
              <a:buNone/>
            </a:pPr>
            <a:endParaRPr lang="en-US" sz="1500" dirty="0"/>
          </a:p>
        </p:txBody>
      </p:sp>
      <p:sp>
        <p:nvSpPr>
          <p:cNvPr id="21" name="Text 19"/>
          <p:cNvSpPr txBox="1"/>
          <p:nvPr/>
        </p:nvSpPr>
        <p:spPr>
          <a:xfrm>
            <a:off x="6812280" y="2642616"/>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i = 1</a:t>
            </a:r>
            <a:endParaRPr lang="en-US" sz="1500" dirty="0"/>
          </a:p>
        </p:txBody>
      </p:sp>
      <p:sp>
        <p:nvSpPr>
          <p:cNvPr id="22" name="Zustand i = 1 1"/>
          <p:cNvSpPr txBox="1"/>
          <p:nvPr/>
        </p:nvSpPr>
        <p:spPr>
          <a:xfrm>
            <a:off x="8522208" y="2642616"/>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50</a:t>
            </a:r>
            <a:endParaRPr lang="en-US" sz="1600" dirty="0"/>
          </a:p>
        </p:txBody>
      </p:sp>
      <p:sp>
        <p:nvSpPr>
          <p:cNvPr id="23" name="Zustand i = 1 2"/>
          <p:cNvSpPr txBox="1"/>
          <p:nvPr/>
        </p:nvSpPr>
        <p:spPr>
          <a:xfrm>
            <a:off x="9089136" y="2642616"/>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30</a:t>
            </a:r>
            <a:endParaRPr lang="en-US" sz="1600" dirty="0"/>
          </a:p>
        </p:txBody>
      </p:sp>
      <p:sp>
        <p:nvSpPr>
          <p:cNvPr id="24" name="Zustand i = 1 3"/>
          <p:cNvSpPr txBox="1"/>
          <p:nvPr/>
        </p:nvSpPr>
        <p:spPr>
          <a:xfrm>
            <a:off x="9656064" y="2642616"/>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90</a:t>
            </a:r>
            <a:endParaRPr lang="en-US" sz="1600" dirty="0"/>
          </a:p>
        </p:txBody>
      </p:sp>
      <p:sp>
        <p:nvSpPr>
          <p:cNvPr id="25" name="Zustand i = 1 4"/>
          <p:cNvSpPr txBox="1"/>
          <p:nvPr/>
        </p:nvSpPr>
        <p:spPr>
          <a:xfrm>
            <a:off x="10222992" y="2642616"/>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70</a:t>
            </a:r>
            <a:endParaRPr lang="en-US" sz="1600" dirty="0"/>
          </a:p>
        </p:txBody>
      </p:sp>
      <p:sp>
        <p:nvSpPr>
          <p:cNvPr id="26" name="Zustand i = 1 0"/>
          <p:cNvSpPr txBox="1"/>
          <p:nvPr/>
        </p:nvSpPr>
        <p:spPr>
          <a:xfrm>
            <a:off x="7955280" y="2642616"/>
            <a:ext cx="566928" cy="420624"/>
          </a:xfrm>
          <a:prstGeom prst="rect">
            <a:avLst/>
          </a:prstGeom>
          <a:solidFill>
            <a:schemeClr val="accent1"/>
          </a:solidFill>
          <a:ln w="38100">
            <a:solidFill>
              <a:schemeClr val="accent2"/>
            </a:solidFill>
          </a:ln>
        </p:spPr>
        <p:txBody>
          <a:bodyPr wrap="square" lIns="0" tIns="0" rIns="0" bIns="0" rtlCol="0" anchor="ctr"/>
          <a:lstStyle/>
          <a:p>
            <a:pPr algn="ctr" indent="0" marL="0">
              <a:buNone/>
            </a:pPr>
            <a:r>
              <a:rPr lang="en-US" sz="1600" b="1" dirty="0">
                <a:solidFill>
                  <a:schemeClr val="bg1"/>
                </a:solidFill>
              </a:rPr>
              <a:t>80</a:t>
            </a:r>
            <a:endParaRPr lang="en-US" sz="1600" dirty="0"/>
          </a:p>
        </p:txBody>
      </p:sp>
      <p:sp>
        <p:nvSpPr>
          <p:cNvPr id="27" name="Text 25"/>
          <p:cNvSpPr txBox="1"/>
          <p:nvPr/>
        </p:nvSpPr>
        <p:spPr>
          <a:xfrm>
            <a:off x="10881360" y="2642616"/>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1 / 1</a:t>
            </a:r>
            <a:endParaRPr lang="en-US" sz="1500" dirty="0"/>
          </a:p>
        </p:txBody>
      </p:sp>
      <p:sp>
        <p:nvSpPr>
          <p:cNvPr id="28" name="Text 26"/>
          <p:cNvSpPr txBox="1"/>
          <p:nvPr/>
        </p:nvSpPr>
        <p:spPr>
          <a:xfrm>
            <a:off x="6812280" y="3172968"/>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i = 2</a:t>
            </a:r>
            <a:endParaRPr lang="en-US" sz="1500" dirty="0"/>
          </a:p>
        </p:txBody>
      </p:sp>
      <p:sp>
        <p:nvSpPr>
          <p:cNvPr id="29" name="Zustand i = 2 0"/>
          <p:cNvSpPr txBox="1"/>
          <p:nvPr/>
        </p:nvSpPr>
        <p:spPr>
          <a:xfrm>
            <a:off x="7955280" y="3172968"/>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80</a:t>
            </a:r>
            <a:endParaRPr lang="en-US" sz="1600" dirty="0"/>
          </a:p>
        </p:txBody>
      </p:sp>
      <p:sp>
        <p:nvSpPr>
          <p:cNvPr id="30" name="Zustand i = 2 1"/>
          <p:cNvSpPr txBox="1"/>
          <p:nvPr/>
        </p:nvSpPr>
        <p:spPr>
          <a:xfrm>
            <a:off x="8522208" y="3172968"/>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50</a:t>
            </a:r>
            <a:endParaRPr lang="en-US" sz="1600" dirty="0"/>
          </a:p>
        </p:txBody>
      </p:sp>
      <p:sp>
        <p:nvSpPr>
          <p:cNvPr id="31" name="Zustand i = 2 2"/>
          <p:cNvSpPr txBox="1"/>
          <p:nvPr/>
        </p:nvSpPr>
        <p:spPr>
          <a:xfrm>
            <a:off x="9089136" y="3172968"/>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30</a:t>
            </a:r>
            <a:endParaRPr lang="en-US" sz="1600" dirty="0"/>
          </a:p>
        </p:txBody>
      </p:sp>
      <p:sp>
        <p:nvSpPr>
          <p:cNvPr id="32" name="Zustand i = 2 3"/>
          <p:cNvSpPr txBox="1"/>
          <p:nvPr/>
        </p:nvSpPr>
        <p:spPr>
          <a:xfrm>
            <a:off x="9656064" y="3172968"/>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90</a:t>
            </a:r>
            <a:endParaRPr lang="en-US" sz="1600" dirty="0"/>
          </a:p>
        </p:txBody>
      </p:sp>
      <p:sp>
        <p:nvSpPr>
          <p:cNvPr id="33" name="Zustand i = 2 4"/>
          <p:cNvSpPr txBox="1"/>
          <p:nvPr/>
        </p:nvSpPr>
        <p:spPr>
          <a:xfrm>
            <a:off x="10222992" y="3172968"/>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70</a:t>
            </a:r>
            <a:endParaRPr lang="en-US" sz="1600" dirty="0"/>
          </a:p>
        </p:txBody>
      </p:sp>
      <p:sp>
        <p:nvSpPr>
          <p:cNvPr id="34" name="Text 32"/>
          <p:cNvSpPr txBox="1"/>
          <p:nvPr/>
        </p:nvSpPr>
        <p:spPr>
          <a:xfrm>
            <a:off x="10881360" y="3172968"/>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2 / 1</a:t>
            </a:r>
            <a:endParaRPr lang="en-US" sz="1500" dirty="0"/>
          </a:p>
        </p:txBody>
      </p:sp>
      <p:sp>
        <p:nvSpPr>
          <p:cNvPr id="35" name="Text 33"/>
          <p:cNvSpPr txBox="1"/>
          <p:nvPr/>
        </p:nvSpPr>
        <p:spPr>
          <a:xfrm>
            <a:off x="6812280" y="3703320"/>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i = 3</a:t>
            </a:r>
            <a:endParaRPr lang="en-US" sz="1500" dirty="0"/>
          </a:p>
        </p:txBody>
      </p:sp>
      <p:sp>
        <p:nvSpPr>
          <p:cNvPr id="36" name="Zustand i = 3 1"/>
          <p:cNvSpPr txBox="1"/>
          <p:nvPr/>
        </p:nvSpPr>
        <p:spPr>
          <a:xfrm>
            <a:off x="8522208" y="3703320"/>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80</a:t>
            </a:r>
            <a:endParaRPr lang="en-US" sz="1600" dirty="0"/>
          </a:p>
        </p:txBody>
      </p:sp>
      <p:sp>
        <p:nvSpPr>
          <p:cNvPr id="37" name="Zustand i = 3 2"/>
          <p:cNvSpPr txBox="1"/>
          <p:nvPr/>
        </p:nvSpPr>
        <p:spPr>
          <a:xfrm>
            <a:off x="9089136" y="3703320"/>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50</a:t>
            </a:r>
            <a:endParaRPr lang="en-US" sz="1600" dirty="0"/>
          </a:p>
        </p:txBody>
      </p:sp>
      <p:sp>
        <p:nvSpPr>
          <p:cNvPr id="38" name="Zustand i = 3 3"/>
          <p:cNvSpPr txBox="1"/>
          <p:nvPr/>
        </p:nvSpPr>
        <p:spPr>
          <a:xfrm>
            <a:off x="9656064" y="3703320"/>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30</a:t>
            </a:r>
            <a:endParaRPr lang="en-US" sz="1600" dirty="0"/>
          </a:p>
        </p:txBody>
      </p:sp>
      <p:sp>
        <p:nvSpPr>
          <p:cNvPr id="39" name="Zustand i = 3 4"/>
          <p:cNvSpPr txBox="1"/>
          <p:nvPr/>
        </p:nvSpPr>
        <p:spPr>
          <a:xfrm>
            <a:off x="10222992" y="3703320"/>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70</a:t>
            </a:r>
            <a:endParaRPr lang="en-US" sz="1600" dirty="0"/>
          </a:p>
        </p:txBody>
      </p:sp>
      <p:sp>
        <p:nvSpPr>
          <p:cNvPr id="40" name="Zustand i = 3 0"/>
          <p:cNvSpPr txBox="1"/>
          <p:nvPr/>
        </p:nvSpPr>
        <p:spPr>
          <a:xfrm>
            <a:off x="7955280" y="3703320"/>
            <a:ext cx="566928" cy="420624"/>
          </a:xfrm>
          <a:prstGeom prst="rect">
            <a:avLst/>
          </a:prstGeom>
          <a:solidFill>
            <a:schemeClr val="accent1"/>
          </a:solidFill>
          <a:ln w="38100">
            <a:solidFill>
              <a:schemeClr val="accent2"/>
            </a:solidFill>
          </a:ln>
        </p:spPr>
        <p:txBody>
          <a:bodyPr wrap="square" lIns="0" tIns="0" rIns="0" bIns="0" rtlCol="0" anchor="ctr"/>
          <a:lstStyle/>
          <a:p>
            <a:pPr algn="ctr" indent="0" marL="0">
              <a:buNone/>
            </a:pPr>
            <a:r>
              <a:rPr lang="en-US" sz="1600" b="1" dirty="0">
                <a:solidFill>
                  <a:schemeClr val="bg1"/>
                </a:solidFill>
              </a:rPr>
              <a:t>90</a:t>
            </a:r>
            <a:endParaRPr lang="en-US" sz="1600" dirty="0"/>
          </a:p>
        </p:txBody>
      </p:sp>
      <p:sp>
        <p:nvSpPr>
          <p:cNvPr id="41" name="Text 39"/>
          <p:cNvSpPr txBox="1"/>
          <p:nvPr/>
        </p:nvSpPr>
        <p:spPr>
          <a:xfrm>
            <a:off x="10881360" y="3703320"/>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5 / 4</a:t>
            </a:r>
            <a:endParaRPr lang="en-US" sz="1500" dirty="0"/>
          </a:p>
        </p:txBody>
      </p:sp>
      <p:sp>
        <p:nvSpPr>
          <p:cNvPr id="42" name="Text 40"/>
          <p:cNvSpPr txBox="1"/>
          <p:nvPr/>
        </p:nvSpPr>
        <p:spPr>
          <a:xfrm>
            <a:off x="6812280" y="4233672"/>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i = 4</a:t>
            </a:r>
            <a:endParaRPr lang="en-US" sz="1500" dirty="0"/>
          </a:p>
        </p:txBody>
      </p:sp>
      <p:sp>
        <p:nvSpPr>
          <p:cNvPr id="43" name="Zustand i = 4 0"/>
          <p:cNvSpPr txBox="1"/>
          <p:nvPr/>
        </p:nvSpPr>
        <p:spPr>
          <a:xfrm>
            <a:off x="7955280"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90</a:t>
            </a:r>
            <a:endParaRPr lang="en-US" sz="1600" dirty="0"/>
          </a:p>
        </p:txBody>
      </p:sp>
      <p:sp>
        <p:nvSpPr>
          <p:cNvPr id="44" name="Zustand i = 4 1"/>
          <p:cNvSpPr txBox="1"/>
          <p:nvPr/>
        </p:nvSpPr>
        <p:spPr>
          <a:xfrm>
            <a:off x="8522208"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80</a:t>
            </a:r>
            <a:endParaRPr lang="en-US" sz="1600" dirty="0"/>
          </a:p>
        </p:txBody>
      </p:sp>
      <p:sp>
        <p:nvSpPr>
          <p:cNvPr id="45" name="Zustand i = 4 3"/>
          <p:cNvSpPr txBox="1"/>
          <p:nvPr/>
        </p:nvSpPr>
        <p:spPr>
          <a:xfrm>
            <a:off x="9656064"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50</a:t>
            </a:r>
            <a:endParaRPr lang="en-US" sz="1600" dirty="0"/>
          </a:p>
        </p:txBody>
      </p:sp>
      <p:sp>
        <p:nvSpPr>
          <p:cNvPr id="46" name="Zustand i = 4 4"/>
          <p:cNvSpPr txBox="1"/>
          <p:nvPr/>
        </p:nvSpPr>
        <p:spPr>
          <a:xfrm>
            <a:off x="10222992"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30</a:t>
            </a:r>
            <a:endParaRPr lang="en-US" sz="1600" dirty="0"/>
          </a:p>
        </p:txBody>
      </p:sp>
      <p:sp>
        <p:nvSpPr>
          <p:cNvPr id="47" name="Zustand i = 4 2"/>
          <p:cNvSpPr txBox="1"/>
          <p:nvPr/>
        </p:nvSpPr>
        <p:spPr>
          <a:xfrm>
            <a:off x="9089136" y="4233672"/>
            <a:ext cx="566928" cy="420624"/>
          </a:xfrm>
          <a:prstGeom prst="rect">
            <a:avLst/>
          </a:prstGeom>
          <a:solidFill>
            <a:schemeClr val="accent1"/>
          </a:solidFill>
          <a:ln w="38100">
            <a:solidFill>
              <a:schemeClr val="accent2"/>
            </a:solidFill>
          </a:ln>
        </p:spPr>
        <p:txBody>
          <a:bodyPr wrap="square" lIns="0" tIns="0" rIns="0" bIns="0" rtlCol="0" anchor="ctr"/>
          <a:lstStyle/>
          <a:p>
            <a:pPr algn="ctr" indent="0" marL="0">
              <a:buNone/>
            </a:pPr>
            <a:r>
              <a:rPr lang="en-US" sz="1600" b="1" dirty="0">
                <a:solidFill>
                  <a:schemeClr val="bg1"/>
                </a:solidFill>
              </a:rPr>
              <a:t>70</a:t>
            </a:r>
            <a:endParaRPr lang="en-US" sz="1600" dirty="0"/>
          </a:p>
        </p:txBody>
      </p:sp>
      <p:sp>
        <p:nvSpPr>
          <p:cNvPr id="48" name="Text 46"/>
          <p:cNvSpPr txBox="1"/>
          <p:nvPr/>
        </p:nvSpPr>
        <p:spPr>
          <a:xfrm>
            <a:off x="10881360" y="4233672"/>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8 / 6</a:t>
            </a:r>
            <a:endParaRPr lang="en-US" sz="1500" dirty="0"/>
          </a:p>
        </p:txBody>
      </p:sp>
      <p:sp>
        <p:nvSpPr>
          <p:cNvPr id="49" name="Legende sortiert"/>
          <p:cNvSpPr/>
          <p:nvPr/>
        </p:nvSpPr>
        <p:spPr>
          <a:xfrm>
            <a:off x="6812280" y="4782312"/>
            <a:ext cx="274320" cy="219456"/>
          </a:xfrm>
          <a:prstGeom prst="rect">
            <a:avLst/>
          </a:prstGeom>
          <a:solidFill>
            <a:schemeClr val="accent1"/>
          </a:solidFill>
          <a:ln w="12700">
            <a:solidFill>
              <a:schemeClr val="accent1"/>
            </a:solidFill>
            <a:prstDash val="solid"/>
          </a:ln>
        </p:spPr>
      </p:sp>
      <p:sp>
        <p:nvSpPr>
          <p:cNvPr id="50" name="Text 48"/>
          <p:cNvSpPr txBox="1"/>
          <p:nvPr/>
        </p:nvSpPr>
        <p:spPr>
          <a:xfrm>
            <a:off x="7159752" y="4745736"/>
            <a:ext cx="1600200" cy="292608"/>
          </a:xfrm>
          <a:prstGeom prst="rect">
            <a:avLst/>
          </a:prstGeom>
          <a:noFill/>
          <a:ln/>
        </p:spPr>
        <p:txBody>
          <a:bodyPr wrap="square" lIns="0" tIns="0" rIns="0" bIns="0" rtlCol="0" anchor="ctr"/>
          <a:lstStyle/>
          <a:p>
            <a:pPr indent="0" marL="0">
              <a:buNone/>
            </a:pPr>
            <a:r>
              <a:rPr lang="en-US" sz="1400" dirty="0">
                <a:solidFill>
                  <a:schemeClr val="tx1"/>
                </a:solidFill>
              </a:rPr>
              <a:t>sortierter Bereich</a:t>
            </a:r>
            <a:endParaRPr lang="en-US" sz="1400" dirty="0"/>
          </a:p>
        </p:txBody>
      </p:sp>
      <p:sp>
        <p:nvSpPr>
          <p:cNvPr id="51" name="Legende bewegt"/>
          <p:cNvSpPr/>
          <p:nvPr/>
        </p:nvSpPr>
        <p:spPr>
          <a:xfrm>
            <a:off x="8823960" y="4782312"/>
            <a:ext cx="274320" cy="219456"/>
          </a:xfrm>
          <a:prstGeom prst="rect">
            <a:avLst/>
          </a:prstGeom>
          <a:solidFill>
            <a:srgbClr val="FFF2CC"/>
          </a:solidFill>
          <a:ln w="31750">
            <a:solidFill>
              <a:schemeClr val="accent2"/>
            </a:solidFill>
            <a:prstDash val="solid"/>
          </a:ln>
        </p:spPr>
      </p:sp>
      <p:sp>
        <p:nvSpPr>
          <p:cNvPr id="52" name="Text 50"/>
          <p:cNvSpPr txBox="1"/>
          <p:nvPr/>
        </p:nvSpPr>
        <p:spPr>
          <a:xfrm>
            <a:off x="9171432" y="4745736"/>
            <a:ext cx="2377440" cy="292608"/>
          </a:xfrm>
          <a:prstGeom prst="rect">
            <a:avLst/>
          </a:prstGeom>
          <a:noFill/>
          <a:ln/>
        </p:spPr>
        <p:txBody>
          <a:bodyPr wrap="square" lIns="0" tIns="0" rIns="0" bIns="0" rtlCol="0" anchor="ctr"/>
          <a:lstStyle/>
          <a:p>
            <a:pPr indent="0" marL="0">
              <a:buNone/>
            </a:pPr>
            <a:r>
              <a:rPr lang="en-US" sz="1400" dirty="0">
                <a:solidFill>
                  <a:schemeClr val="tx1"/>
                </a:solidFill>
              </a:rPr>
              <a:t>eingefügter Eintrag</a:t>
            </a:r>
            <a:endParaRPr lang="en-US" sz="1400" dirty="0"/>
          </a:p>
        </p:txBody>
      </p:sp>
      <p:sp>
        <p:nvSpPr>
          <p:cNvPr id="53" name="Ergebnis"/>
          <p:cNvSpPr/>
          <p:nvPr/>
        </p:nvSpPr>
        <p:spPr>
          <a:xfrm>
            <a:off x="6812280" y="5193792"/>
            <a:ext cx="4800600" cy="932688"/>
          </a:xfrm>
          <a:prstGeom prst="roundRect">
            <a:avLst>
              <a:gd name="adj" fmla="val 11765"/>
            </a:avLst>
          </a:prstGeom>
          <a:solidFill>
            <a:schemeClr val="accent1"/>
          </a:solidFill>
          <a:ln/>
          <a:effectLst>
            <a:outerShdw sx="100000" sy="100000" kx="0" ky="0" algn="bl" rotWithShape="0" blurRad="76200" dist="25400" dir="5400000">
              <a:srgbClr val="000000">
                <a:alpha val="18000"/>
              </a:srgbClr>
            </a:outerShdw>
          </a:effectLst>
        </p:spPr>
      </p:sp>
      <p:sp>
        <p:nvSpPr>
          <p:cNvPr id="54" name="Text 52"/>
          <p:cNvSpPr txBox="1"/>
          <p:nvPr/>
        </p:nvSpPr>
        <p:spPr>
          <a:xfrm>
            <a:off x="6995160" y="5193792"/>
            <a:ext cx="4480560" cy="932688"/>
          </a:xfrm>
          <a:prstGeom prst="rect">
            <a:avLst/>
          </a:prstGeom>
          <a:noFill/>
          <a:ln/>
        </p:spPr>
        <p:txBody>
          <a:bodyPr wrap="square" lIns="0" tIns="0" rIns="0" bIns="0" rtlCol="0" anchor="ctr"/>
          <a:lstStyle/>
          <a:p>
            <a:pPr indent="0" marL="0">
              <a:buNone/>
            </a:pPr>
            <a:r>
              <a:rPr lang="en-US" sz="1800" b="1" dirty="0">
                <a:solidFill>
                  <a:schemeClr val="accent2"/>
                </a:solidFill>
              </a:rPr>
              <a:t>8 Vergleiche · 6 Vertauschungen</a:t>
            </a:r>
            <a:endParaRPr lang="en-US" sz="1800" dirty="0"/>
          </a:p>
          <a:p>
            <a:pPr indent="0" marL="0">
              <a:buNone/>
            </a:pPr>
            <a:r>
              <a:rPr lang="en-US" sz="1500" dirty="0">
                <a:solidFill>
                  <a:schemeClr val="bg1"/>
                </a:solidFill>
              </a:rPr>
              <a:t>Abbruch beim ersten „nicht besser“ – sortierte Daten sind billig.</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Bubblesort: Nachbarn tauschen</a:t>
            </a:r>
            <a:endParaRPr lang="en-US" sz="3600" dirty="0"/>
          </a:p>
        </p:txBody>
      </p:sp>
      <p:sp>
        <p:nvSpPr>
          <p:cNvPr id="3" name="Idee"/>
          <p:cNvSpPr/>
          <p:nvPr/>
        </p:nvSpPr>
        <p:spPr>
          <a:xfrm>
            <a:off x="548640" y="1325880"/>
            <a:ext cx="5943600" cy="1234440"/>
          </a:xfrm>
          <a:prstGeom prst="roundRect">
            <a:avLst>
              <a:gd name="adj" fmla="val 8889"/>
            </a:avLst>
          </a:prstGeom>
          <a:solidFill>
            <a:schemeClr val="bg2"/>
          </a:solidFill>
          <a:ln/>
        </p:spPr>
      </p:sp>
      <p:sp>
        <p:nvSpPr>
          <p:cNvPr id="4" name="Text 2"/>
          <p:cNvSpPr txBox="1"/>
          <p:nvPr/>
        </p:nvSpPr>
        <p:spPr>
          <a:xfrm>
            <a:off x="777240" y="1325880"/>
            <a:ext cx="5577840" cy="1234440"/>
          </a:xfrm>
          <a:prstGeom prst="rect">
            <a:avLst/>
          </a:prstGeom>
          <a:noFill/>
          <a:ln/>
        </p:spPr>
        <p:txBody>
          <a:bodyPr wrap="square" lIns="0" tIns="0" rIns="0" bIns="0" rtlCol="0" anchor="ctr"/>
          <a:lstStyle/>
          <a:p>
            <a:pPr indent="0" marL="0">
              <a:buNone/>
            </a:pPr>
            <a:r>
              <a:rPr lang="en-US" sz="1700" b="1" dirty="0">
                <a:solidFill>
                  <a:schemeClr val="accent1"/>
                </a:solidFill>
              </a:rPr>
              <a:t>Idee: </a:t>
            </a:r>
            <a:pPr indent="0" marL="0">
              <a:buNone/>
            </a:pPr>
            <a:r>
              <a:rPr lang="en-US" sz="1700" dirty="0">
                <a:solidFill>
                  <a:schemeClr val="tx1"/>
                </a:solidFill>
              </a:rPr>
              <a:t>Vergleiche Nachbarn von links nach rechts und tausche, wenn der rechte besser ist. Der Schlechteste sinkt nach hinten. Abbruch, wenn ein Durchlauf ohne Tausch bleibt.</a:t>
            </a:r>
            <a:endParaRPr lang="en-US" sz="1700" dirty="0"/>
          </a:p>
        </p:txBody>
      </p:sp>
      <p:sp>
        <p:nvSpPr>
          <p:cNvPr id="5" name="Code"/>
          <p:cNvSpPr txBox="1"/>
          <p:nvPr/>
        </p:nvSpPr>
        <p:spPr>
          <a:xfrm>
            <a:off x="548640" y="2724912"/>
            <a:ext cx="5943600" cy="29687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void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bubbleSort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boolean</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getauscht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true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durchlauf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while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getauscht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getauscht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false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for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anzahl</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durchlauf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besser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eintraege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eintraege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vertausche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getauscht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true</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durchlauf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6" name="Text 4"/>
          <p:cNvSpPr txBox="1"/>
          <p:nvPr/>
        </p:nvSpPr>
        <p:spPr>
          <a:xfrm>
            <a:off x="6812280" y="1325880"/>
            <a:ext cx="4800600" cy="365760"/>
          </a:xfrm>
          <a:prstGeom prst="rect">
            <a:avLst/>
          </a:prstGeom>
          <a:noFill/>
          <a:ln/>
        </p:spPr>
        <p:txBody>
          <a:bodyPr wrap="square" lIns="0" tIns="0" rIns="0" bIns="0" rtlCol="0" anchor="ctr"/>
          <a:lstStyle/>
          <a:p>
            <a:pPr indent="0" marL="0">
              <a:buNone/>
            </a:pPr>
            <a:r>
              <a:rPr lang="en-US" sz="1800" b="1" dirty="0">
                <a:solidFill>
                  <a:schemeClr val="accent1"/>
                </a:solidFill>
              </a:rPr>
              <a:t>Beispiel: 50, 80, 30, 90, 70</a:t>
            </a:r>
            <a:pPr indent="0" marL="0">
              <a:buNone/>
            </a:pPr>
            <a:r>
              <a:rPr lang="en-US" sz="1800" dirty="0">
                <a:solidFill>
                  <a:schemeClr val="accent6"/>
                </a:solidFill>
              </a:rPr>
              <a:t>  absteigend</a:t>
            </a:r>
            <a:endParaRPr lang="en-US" sz="1800" dirty="0"/>
          </a:p>
        </p:txBody>
      </p:sp>
      <p:sp>
        <p:nvSpPr>
          <p:cNvPr id="7" name="Text 5"/>
          <p:cNvSpPr txBox="1"/>
          <p:nvPr/>
        </p:nvSpPr>
        <p:spPr>
          <a:xfrm>
            <a:off x="6812280" y="1783080"/>
            <a:ext cx="1143000" cy="274320"/>
          </a:xfrm>
          <a:prstGeom prst="rect">
            <a:avLst/>
          </a:prstGeom>
          <a:noFill/>
          <a:ln/>
        </p:spPr>
        <p:txBody>
          <a:bodyPr wrap="square" lIns="0" tIns="0" rIns="0" bIns="0" rtlCol="0" anchor="t"/>
          <a:lstStyle/>
          <a:p>
            <a:pPr indent="0" marL="0">
              <a:buNone/>
            </a:pPr>
            <a:r>
              <a:rPr lang="en-US" sz="1400" b="1" dirty="0">
                <a:solidFill>
                  <a:schemeClr val="accent6"/>
                </a:solidFill>
              </a:rPr>
              <a:t>Zustand</a:t>
            </a:r>
            <a:endParaRPr lang="en-US" sz="1400" dirty="0"/>
          </a:p>
        </p:txBody>
      </p:sp>
      <p:sp>
        <p:nvSpPr>
          <p:cNvPr id="8" name="Text 6"/>
          <p:cNvSpPr txBox="1"/>
          <p:nvPr/>
        </p:nvSpPr>
        <p:spPr>
          <a:xfrm>
            <a:off x="7955280"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9" name="Text 7"/>
          <p:cNvSpPr txBox="1"/>
          <p:nvPr/>
        </p:nvSpPr>
        <p:spPr>
          <a:xfrm>
            <a:off x="8522208"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10" name="Text 8"/>
          <p:cNvSpPr txBox="1"/>
          <p:nvPr/>
        </p:nvSpPr>
        <p:spPr>
          <a:xfrm>
            <a:off x="9089136"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11" name="Text 9"/>
          <p:cNvSpPr txBox="1"/>
          <p:nvPr/>
        </p:nvSpPr>
        <p:spPr>
          <a:xfrm>
            <a:off x="9656064"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12" name="Text 10"/>
          <p:cNvSpPr txBox="1"/>
          <p:nvPr/>
        </p:nvSpPr>
        <p:spPr>
          <a:xfrm>
            <a:off x="10222992" y="1783080"/>
            <a:ext cx="566928"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13" name="Text 11"/>
          <p:cNvSpPr txBox="1"/>
          <p:nvPr/>
        </p:nvSpPr>
        <p:spPr>
          <a:xfrm>
            <a:off x="10881360" y="1783080"/>
            <a:ext cx="822960" cy="274320"/>
          </a:xfrm>
          <a:prstGeom prst="rect">
            <a:avLst/>
          </a:prstGeom>
          <a:noFill/>
          <a:ln/>
        </p:spPr>
        <p:txBody>
          <a:bodyPr wrap="square" lIns="0" tIns="0" rIns="0" bIns="0" rtlCol="0" anchor="t"/>
          <a:lstStyle/>
          <a:p>
            <a:pPr algn="ctr" indent="0" marL="0">
              <a:buNone/>
            </a:pPr>
            <a:r>
              <a:rPr lang="en-US" sz="1400" b="1" dirty="0">
                <a:solidFill>
                  <a:schemeClr val="accent6"/>
                </a:solidFill>
              </a:rPr>
              <a:t>V / T</a:t>
            </a:r>
            <a:endParaRPr lang="en-US" sz="1400" dirty="0"/>
          </a:p>
        </p:txBody>
      </p:sp>
      <p:sp>
        <p:nvSpPr>
          <p:cNvPr id="14" name="Text 12"/>
          <p:cNvSpPr txBox="1"/>
          <p:nvPr/>
        </p:nvSpPr>
        <p:spPr>
          <a:xfrm>
            <a:off x="6812280" y="2112264"/>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Start</a:t>
            </a:r>
            <a:endParaRPr lang="en-US" sz="1500" dirty="0"/>
          </a:p>
        </p:txBody>
      </p:sp>
      <p:sp>
        <p:nvSpPr>
          <p:cNvPr id="15" name="Zustand Start 0"/>
          <p:cNvSpPr txBox="1"/>
          <p:nvPr/>
        </p:nvSpPr>
        <p:spPr>
          <a:xfrm>
            <a:off x="7955280"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50</a:t>
            </a:r>
            <a:endParaRPr lang="en-US" sz="1600" dirty="0"/>
          </a:p>
        </p:txBody>
      </p:sp>
      <p:sp>
        <p:nvSpPr>
          <p:cNvPr id="16" name="Zustand Start 1"/>
          <p:cNvSpPr txBox="1"/>
          <p:nvPr/>
        </p:nvSpPr>
        <p:spPr>
          <a:xfrm>
            <a:off x="8522208"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80</a:t>
            </a:r>
            <a:endParaRPr lang="en-US" sz="1600" dirty="0"/>
          </a:p>
        </p:txBody>
      </p:sp>
      <p:sp>
        <p:nvSpPr>
          <p:cNvPr id="17" name="Zustand Start 2"/>
          <p:cNvSpPr txBox="1"/>
          <p:nvPr/>
        </p:nvSpPr>
        <p:spPr>
          <a:xfrm>
            <a:off x="9089136"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30</a:t>
            </a:r>
            <a:endParaRPr lang="en-US" sz="1600" dirty="0"/>
          </a:p>
        </p:txBody>
      </p:sp>
      <p:sp>
        <p:nvSpPr>
          <p:cNvPr id="18" name="Zustand Start 3"/>
          <p:cNvSpPr txBox="1"/>
          <p:nvPr/>
        </p:nvSpPr>
        <p:spPr>
          <a:xfrm>
            <a:off x="9656064"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90</a:t>
            </a:r>
            <a:endParaRPr lang="en-US" sz="1600" dirty="0"/>
          </a:p>
        </p:txBody>
      </p:sp>
      <p:sp>
        <p:nvSpPr>
          <p:cNvPr id="19" name="Zustand Start 4"/>
          <p:cNvSpPr txBox="1"/>
          <p:nvPr/>
        </p:nvSpPr>
        <p:spPr>
          <a:xfrm>
            <a:off x="10222992" y="2112264"/>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70</a:t>
            </a:r>
            <a:endParaRPr lang="en-US" sz="1600" dirty="0"/>
          </a:p>
        </p:txBody>
      </p:sp>
      <p:sp>
        <p:nvSpPr>
          <p:cNvPr id="20" name="Text 18"/>
          <p:cNvSpPr txBox="1"/>
          <p:nvPr/>
        </p:nvSpPr>
        <p:spPr>
          <a:xfrm>
            <a:off x="10881360" y="2112264"/>
            <a:ext cx="822960" cy="420624"/>
          </a:xfrm>
          <a:prstGeom prst="rect">
            <a:avLst/>
          </a:prstGeom>
          <a:noFill/>
          <a:ln/>
        </p:spPr>
        <p:txBody>
          <a:bodyPr wrap="square" lIns="0" tIns="0" rIns="0" bIns="0" rtlCol="0" anchor="ctr"/>
          <a:lstStyle/>
          <a:p>
            <a:pPr algn="ctr" indent="0" marL="0">
              <a:buNone/>
            </a:pPr>
            <a:endParaRPr lang="en-US" sz="1500" dirty="0"/>
          </a:p>
        </p:txBody>
      </p:sp>
      <p:sp>
        <p:nvSpPr>
          <p:cNvPr id="21" name="Text 19"/>
          <p:cNvSpPr txBox="1"/>
          <p:nvPr/>
        </p:nvSpPr>
        <p:spPr>
          <a:xfrm>
            <a:off x="6812280" y="2642616"/>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Lauf 1</a:t>
            </a:r>
            <a:endParaRPr lang="en-US" sz="1500" dirty="0"/>
          </a:p>
        </p:txBody>
      </p:sp>
      <p:sp>
        <p:nvSpPr>
          <p:cNvPr id="22" name="Zustand Lauf 1 0"/>
          <p:cNvSpPr txBox="1"/>
          <p:nvPr/>
        </p:nvSpPr>
        <p:spPr>
          <a:xfrm>
            <a:off x="7955280" y="2642616"/>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80</a:t>
            </a:r>
            <a:endParaRPr lang="en-US" sz="1600" dirty="0"/>
          </a:p>
        </p:txBody>
      </p:sp>
      <p:sp>
        <p:nvSpPr>
          <p:cNvPr id="23" name="Zustand Lauf 1 1"/>
          <p:cNvSpPr txBox="1"/>
          <p:nvPr/>
        </p:nvSpPr>
        <p:spPr>
          <a:xfrm>
            <a:off x="8522208" y="2642616"/>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50</a:t>
            </a:r>
            <a:endParaRPr lang="en-US" sz="1600" dirty="0"/>
          </a:p>
        </p:txBody>
      </p:sp>
      <p:sp>
        <p:nvSpPr>
          <p:cNvPr id="24" name="Zustand Lauf 1 2"/>
          <p:cNvSpPr txBox="1"/>
          <p:nvPr/>
        </p:nvSpPr>
        <p:spPr>
          <a:xfrm>
            <a:off x="9089136" y="2642616"/>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90</a:t>
            </a:r>
            <a:endParaRPr lang="en-US" sz="1600" dirty="0"/>
          </a:p>
        </p:txBody>
      </p:sp>
      <p:sp>
        <p:nvSpPr>
          <p:cNvPr id="25" name="Zustand Lauf 1 3"/>
          <p:cNvSpPr txBox="1"/>
          <p:nvPr/>
        </p:nvSpPr>
        <p:spPr>
          <a:xfrm>
            <a:off x="9656064" y="2642616"/>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70</a:t>
            </a:r>
            <a:endParaRPr lang="en-US" sz="1600" dirty="0"/>
          </a:p>
        </p:txBody>
      </p:sp>
      <p:sp>
        <p:nvSpPr>
          <p:cNvPr id="26" name="Zustand Lauf 1 4"/>
          <p:cNvSpPr txBox="1"/>
          <p:nvPr/>
        </p:nvSpPr>
        <p:spPr>
          <a:xfrm>
            <a:off x="10222992" y="2642616"/>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30</a:t>
            </a:r>
            <a:endParaRPr lang="en-US" sz="1600" dirty="0"/>
          </a:p>
        </p:txBody>
      </p:sp>
      <p:sp>
        <p:nvSpPr>
          <p:cNvPr id="27" name="Text 25"/>
          <p:cNvSpPr txBox="1"/>
          <p:nvPr/>
        </p:nvSpPr>
        <p:spPr>
          <a:xfrm>
            <a:off x="10881360" y="2642616"/>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4 / 3</a:t>
            </a:r>
            <a:endParaRPr lang="en-US" sz="1500" dirty="0"/>
          </a:p>
        </p:txBody>
      </p:sp>
      <p:sp>
        <p:nvSpPr>
          <p:cNvPr id="28" name="Text 26"/>
          <p:cNvSpPr txBox="1"/>
          <p:nvPr/>
        </p:nvSpPr>
        <p:spPr>
          <a:xfrm>
            <a:off x="6812280" y="3172968"/>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Lauf 2</a:t>
            </a:r>
            <a:endParaRPr lang="en-US" sz="1500" dirty="0"/>
          </a:p>
        </p:txBody>
      </p:sp>
      <p:sp>
        <p:nvSpPr>
          <p:cNvPr id="29" name="Zustand Lauf 2 0"/>
          <p:cNvSpPr txBox="1"/>
          <p:nvPr/>
        </p:nvSpPr>
        <p:spPr>
          <a:xfrm>
            <a:off x="7955280" y="3172968"/>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80</a:t>
            </a:r>
            <a:endParaRPr lang="en-US" sz="1600" dirty="0"/>
          </a:p>
        </p:txBody>
      </p:sp>
      <p:sp>
        <p:nvSpPr>
          <p:cNvPr id="30" name="Zustand Lauf 2 1"/>
          <p:cNvSpPr txBox="1"/>
          <p:nvPr/>
        </p:nvSpPr>
        <p:spPr>
          <a:xfrm>
            <a:off x="8522208" y="3172968"/>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90</a:t>
            </a:r>
            <a:endParaRPr lang="en-US" sz="1600" dirty="0"/>
          </a:p>
        </p:txBody>
      </p:sp>
      <p:sp>
        <p:nvSpPr>
          <p:cNvPr id="31" name="Zustand Lauf 2 2"/>
          <p:cNvSpPr txBox="1"/>
          <p:nvPr/>
        </p:nvSpPr>
        <p:spPr>
          <a:xfrm>
            <a:off x="9089136" y="3172968"/>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70</a:t>
            </a:r>
            <a:endParaRPr lang="en-US" sz="1600" dirty="0"/>
          </a:p>
        </p:txBody>
      </p:sp>
      <p:sp>
        <p:nvSpPr>
          <p:cNvPr id="32" name="Zustand Lauf 2 3"/>
          <p:cNvSpPr txBox="1"/>
          <p:nvPr/>
        </p:nvSpPr>
        <p:spPr>
          <a:xfrm>
            <a:off x="9656064" y="3172968"/>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50</a:t>
            </a:r>
            <a:endParaRPr lang="en-US" sz="1600" dirty="0"/>
          </a:p>
        </p:txBody>
      </p:sp>
      <p:sp>
        <p:nvSpPr>
          <p:cNvPr id="33" name="Zustand Lauf 2 4"/>
          <p:cNvSpPr txBox="1"/>
          <p:nvPr/>
        </p:nvSpPr>
        <p:spPr>
          <a:xfrm>
            <a:off x="10222992" y="3172968"/>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30</a:t>
            </a:r>
            <a:endParaRPr lang="en-US" sz="1600" dirty="0"/>
          </a:p>
        </p:txBody>
      </p:sp>
      <p:sp>
        <p:nvSpPr>
          <p:cNvPr id="34" name="Text 32"/>
          <p:cNvSpPr txBox="1"/>
          <p:nvPr/>
        </p:nvSpPr>
        <p:spPr>
          <a:xfrm>
            <a:off x="10881360" y="3172968"/>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7 / 5</a:t>
            </a:r>
            <a:endParaRPr lang="en-US" sz="1500" dirty="0"/>
          </a:p>
        </p:txBody>
      </p:sp>
      <p:sp>
        <p:nvSpPr>
          <p:cNvPr id="35" name="Text 33"/>
          <p:cNvSpPr txBox="1"/>
          <p:nvPr/>
        </p:nvSpPr>
        <p:spPr>
          <a:xfrm>
            <a:off x="6812280" y="3703320"/>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Lauf 3</a:t>
            </a:r>
            <a:endParaRPr lang="en-US" sz="1500" dirty="0"/>
          </a:p>
        </p:txBody>
      </p:sp>
      <p:sp>
        <p:nvSpPr>
          <p:cNvPr id="36" name="Zustand Lauf 3 0"/>
          <p:cNvSpPr txBox="1"/>
          <p:nvPr/>
        </p:nvSpPr>
        <p:spPr>
          <a:xfrm>
            <a:off x="7955280" y="3703320"/>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90</a:t>
            </a:r>
            <a:endParaRPr lang="en-US" sz="1600" dirty="0"/>
          </a:p>
        </p:txBody>
      </p:sp>
      <p:sp>
        <p:nvSpPr>
          <p:cNvPr id="37" name="Zustand Lauf 3 1"/>
          <p:cNvSpPr txBox="1"/>
          <p:nvPr/>
        </p:nvSpPr>
        <p:spPr>
          <a:xfrm>
            <a:off x="8522208" y="3703320"/>
            <a:ext cx="566928" cy="420624"/>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600" b="1" dirty="0">
                <a:solidFill>
                  <a:schemeClr val="accent1"/>
                </a:solidFill>
              </a:rPr>
              <a:t>80</a:t>
            </a:r>
            <a:endParaRPr lang="en-US" sz="1600" dirty="0"/>
          </a:p>
        </p:txBody>
      </p:sp>
      <p:sp>
        <p:nvSpPr>
          <p:cNvPr id="38" name="Zustand Lauf 3 2"/>
          <p:cNvSpPr txBox="1"/>
          <p:nvPr/>
        </p:nvSpPr>
        <p:spPr>
          <a:xfrm>
            <a:off x="9089136" y="3703320"/>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70</a:t>
            </a:r>
            <a:endParaRPr lang="en-US" sz="1600" dirty="0"/>
          </a:p>
        </p:txBody>
      </p:sp>
      <p:sp>
        <p:nvSpPr>
          <p:cNvPr id="39" name="Zustand Lauf 3 3"/>
          <p:cNvSpPr txBox="1"/>
          <p:nvPr/>
        </p:nvSpPr>
        <p:spPr>
          <a:xfrm>
            <a:off x="9656064" y="3703320"/>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50</a:t>
            </a:r>
            <a:endParaRPr lang="en-US" sz="1600" dirty="0"/>
          </a:p>
        </p:txBody>
      </p:sp>
      <p:sp>
        <p:nvSpPr>
          <p:cNvPr id="40" name="Zustand Lauf 3 4"/>
          <p:cNvSpPr txBox="1"/>
          <p:nvPr/>
        </p:nvSpPr>
        <p:spPr>
          <a:xfrm>
            <a:off x="10222992" y="3703320"/>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30</a:t>
            </a:r>
            <a:endParaRPr lang="en-US" sz="1600" dirty="0"/>
          </a:p>
        </p:txBody>
      </p:sp>
      <p:sp>
        <p:nvSpPr>
          <p:cNvPr id="41" name="Text 39"/>
          <p:cNvSpPr txBox="1"/>
          <p:nvPr/>
        </p:nvSpPr>
        <p:spPr>
          <a:xfrm>
            <a:off x="10881360" y="3703320"/>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9 / 6</a:t>
            </a:r>
            <a:endParaRPr lang="en-US" sz="1500" dirty="0"/>
          </a:p>
        </p:txBody>
      </p:sp>
      <p:sp>
        <p:nvSpPr>
          <p:cNvPr id="42" name="Text 40"/>
          <p:cNvSpPr txBox="1"/>
          <p:nvPr/>
        </p:nvSpPr>
        <p:spPr>
          <a:xfrm>
            <a:off x="6812280" y="4233672"/>
            <a:ext cx="1069848" cy="420624"/>
          </a:xfrm>
          <a:prstGeom prst="rect">
            <a:avLst/>
          </a:prstGeom>
          <a:noFill/>
          <a:ln/>
        </p:spPr>
        <p:txBody>
          <a:bodyPr wrap="square" lIns="0" tIns="0" rIns="0" bIns="0" rtlCol="0" anchor="ctr"/>
          <a:lstStyle/>
          <a:p>
            <a:pPr indent="0" marL="0">
              <a:buNone/>
            </a:pPr>
            <a:r>
              <a:rPr lang="en-US" sz="1500" b="1" dirty="0">
                <a:solidFill>
                  <a:schemeClr val="accent1"/>
                </a:solidFill>
              </a:rPr>
              <a:t>Lauf 4</a:t>
            </a:r>
            <a:endParaRPr lang="en-US" sz="1500" dirty="0"/>
          </a:p>
        </p:txBody>
      </p:sp>
      <p:sp>
        <p:nvSpPr>
          <p:cNvPr id="43" name="Zustand Lauf 4 0"/>
          <p:cNvSpPr txBox="1"/>
          <p:nvPr/>
        </p:nvSpPr>
        <p:spPr>
          <a:xfrm>
            <a:off x="7955280"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90</a:t>
            </a:r>
            <a:endParaRPr lang="en-US" sz="1600" dirty="0"/>
          </a:p>
        </p:txBody>
      </p:sp>
      <p:sp>
        <p:nvSpPr>
          <p:cNvPr id="44" name="Zustand Lauf 4 1"/>
          <p:cNvSpPr txBox="1"/>
          <p:nvPr/>
        </p:nvSpPr>
        <p:spPr>
          <a:xfrm>
            <a:off x="8522208"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80</a:t>
            </a:r>
            <a:endParaRPr lang="en-US" sz="1600" dirty="0"/>
          </a:p>
        </p:txBody>
      </p:sp>
      <p:sp>
        <p:nvSpPr>
          <p:cNvPr id="45" name="Zustand Lauf 4 2"/>
          <p:cNvSpPr txBox="1"/>
          <p:nvPr/>
        </p:nvSpPr>
        <p:spPr>
          <a:xfrm>
            <a:off x="9089136"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70</a:t>
            </a:r>
            <a:endParaRPr lang="en-US" sz="1600" dirty="0"/>
          </a:p>
        </p:txBody>
      </p:sp>
      <p:sp>
        <p:nvSpPr>
          <p:cNvPr id="46" name="Zustand Lauf 4 3"/>
          <p:cNvSpPr txBox="1"/>
          <p:nvPr/>
        </p:nvSpPr>
        <p:spPr>
          <a:xfrm>
            <a:off x="9656064"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50</a:t>
            </a:r>
            <a:endParaRPr lang="en-US" sz="1600" dirty="0"/>
          </a:p>
        </p:txBody>
      </p:sp>
      <p:sp>
        <p:nvSpPr>
          <p:cNvPr id="47" name="Zustand Lauf 4 4"/>
          <p:cNvSpPr txBox="1"/>
          <p:nvPr/>
        </p:nvSpPr>
        <p:spPr>
          <a:xfrm>
            <a:off x="10222992" y="4233672"/>
            <a:ext cx="566928" cy="420624"/>
          </a:xfrm>
          <a:prstGeom prst="rect">
            <a:avLst/>
          </a:prstGeom>
          <a:solidFill>
            <a:schemeClr val="accent1"/>
          </a:solidFill>
          <a:ln w="15875">
            <a:solidFill>
              <a:schemeClr val="accent1"/>
            </a:solidFill>
          </a:ln>
        </p:spPr>
        <p:txBody>
          <a:bodyPr wrap="square" lIns="0" tIns="0" rIns="0" bIns="0" rtlCol="0" anchor="ctr"/>
          <a:lstStyle/>
          <a:p>
            <a:pPr algn="ctr" indent="0" marL="0">
              <a:buNone/>
            </a:pPr>
            <a:r>
              <a:rPr lang="en-US" sz="1600" b="1" dirty="0">
                <a:solidFill>
                  <a:schemeClr val="bg1"/>
                </a:solidFill>
              </a:rPr>
              <a:t>30</a:t>
            </a:r>
            <a:endParaRPr lang="en-US" sz="1600" dirty="0"/>
          </a:p>
        </p:txBody>
      </p:sp>
      <p:sp>
        <p:nvSpPr>
          <p:cNvPr id="48" name="Text 46"/>
          <p:cNvSpPr txBox="1"/>
          <p:nvPr/>
        </p:nvSpPr>
        <p:spPr>
          <a:xfrm>
            <a:off x="10881360" y="4233672"/>
            <a:ext cx="822960" cy="420624"/>
          </a:xfrm>
          <a:prstGeom prst="rect">
            <a:avLst/>
          </a:prstGeom>
          <a:noFill/>
          <a:ln/>
        </p:spPr>
        <p:txBody>
          <a:bodyPr wrap="square" lIns="0" tIns="0" rIns="0" bIns="0" rtlCol="0" anchor="ctr"/>
          <a:lstStyle/>
          <a:p>
            <a:pPr algn="ctr" indent="0" marL="0">
              <a:buNone/>
            </a:pPr>
            <a:r>
              <a:rPr lang="en-US" sz="1500" b="1" dirty="0">
                <a:solidFill>
                  <a:schemeClr val="tx1"/>
                </a:solidFill>
              </a:rPr>
              <a:t>10 / 6</a:t>
            </a:r>
            <a:endParaRPr lang="en-US" sz="1500" dirty="0"/>
          </a:p>
        </p:txBody>
      </p:sp>
      <p:sp>
        <p:nvSpPr>
          <p:cNvPr id="49" name="Legende sortiert"/>
          <p:cNvSpPr/>
          <p:nvPr/>
        </p:nvSpPr>
        <p:spPr>
          <a:xfrm>
            <a:off x="6812280" y="4782312"/>
            <a:ext cx="274320" cy="219456"/>
          </a:xfrm>
          <a:prstGeom prst="rect">
            <a:avLst/>
          </a:prstGeom>
          <a:solidFill>
            <a:schemeClr val="accent1"/>
          </a:solidFill>
          <a:ln w="12700">
            <a:solidFill>
              <a:schemeClr val="accent1"/>
            </a:solidFill>
            <a:prstDash val="solid"/>
          </a:ln>
        </p:spPr>
      </p:sp>
      <p:sp>
        <p:nvSpPr>
          <p:cNvPr id="50" name="Text 48"/>
          <p:cNvSpPr txBox="1"/>
          <p:nvPr/>
        </p:nvSpPr>
        <p:spPr>
          <a:xfrm>
            <a:off x="7159752" y="4745736"/>
            <a:ext cx="1600200" cy="292608"/>
          </a:xfrm>
          <a:prstGeom prst="rect">
            <a:avLst/>
          </a:prstGeom>
          <a:noFill/>
          <a:ln/>
        </p:spPr>
        <p:txBody>
          <a:bodyPr wrap="square" lIns="0" tIns="0" rIns="0" bIns="0" rtlCol="0" anchor="ctr"/>
          <a:lstStyle/>
          <a:p>
            <a:pPr indent="0" marL="0">
              <a:buNone/>
            </a:pPr>
            <a:r>
              <a:rPr lang="en-US" sz="1400" dirty="0">
                <a:solidFill>
                  <a:schemeClr val="tx1"/>
                </a:solidFill>
              </a:rPr>
              <a:t>sortierter Bereich</a:t>
            </a:r>
            <a:endParaRPr lang="en-US" sz="1400" dirty="0"/>
          </a:p>
        </p:txBody>
      </p:sp>
      <p:sp>
        <p:nvSpPr>
          <p:cNvPr id="51" name="Ergebnis"/>
          <p:cNvSpPr/>
          <p:nvPr/>
        </p:nvSpPr>
        <p:spPr>
          <a:xfrm>
            <a:off x="6812280" y="5193792"/>
            <a:ext cx="4800600" cy="932688"/>
          </a:xfrm>
          <a:prstGeom prst="roundRect">
            <a:avLst>
              <a:gd name="adj" fmla="val 11765"/>
            </a:avLst>
          </a:prstGeom>
          <a:solidFill>
            <a:schemeClr val="accent1"/>
          </a:solidFill>
          <a:ln/>
          <a:effectLst>
            <a:outerShdw sx="100000" sy="100000" kx="0" ky="0" algn="bl" rotWithShape="0" blurRad="76200" dist="25400" dir="5400000">
              <a:srgbClr val="000000">
                <a:alpha val="18000"/>
              </a:srgbClr>
            </a:outerShdw>
          </a:effectLst>
        </p:spPr>
      </p:sp>
      <p:sp>
        <p:nvSpPr>
          <p:cNvPr id="52" name="Text 50"/>
          <p:cNvSpPr txBox="1"/>
          <p:nvPr/>
        </p:nvSpPr>
        <p:spPr>
          <a:xfrm>
            <a:off x="6995160" y="5193792"/>
            <a:ext cx="4480560" cy="932688"/>
          </a:xfrm>
          <a:prstGeom prst="rect">
            <a:avLst/>
          </a:prstGeom>
          <a:noFill/>
          <a:ln/>
        </p:spPr>
        <p:txBody>
          <a:bodyPr wrap="square" lIns="0" tIns="0" rIns="0" bIns="0" rtlCol="0" anchor="ctr"/>
          <a:lstStyle/>
          <a:p>
            <a:pPr indent="0" marL="0">
              <a:buNone/>
            </a:pPr>
            <a:r>
              <a:rPr lang="en-US" sz="1800" b="1" dirty="0">
                <a:solidFill>
                  <a:schemeClr val="accent2"/>
                </a:solidFill>
              </a:rPr>
              <a:t>10 Vergleiche · 6 Vertauschungen</a:t>
            </a:r>
            <a:endParaRPr lang="en-US" sz="1800" dirty="0"/>
          </a:p>
          <a:p>
            <a:pPr indent="0" marL="0">
              <a:buNone/>
            </a:pPr>
            <a:r>
              <a:rPr lang="en-US" sz="1500" dirty="0">
                <a:solidFill>
                  <a:schemeClr val="bg1"/>
                </a:solidFill>
              </a:rPr>
              <a:t>Lauf 4 ohne Tausch → Abbruch. Sortierte Daten: nur 4 Vergleiche.</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Drei Verfahren im Vergleich (n = 5)</a:t>
            </a:r>
            <a:endParaRPr lang="en-US" sz="3600" dirty="0"/>
          </a:p>
        </p:txBody>
      </p:sp>
      <p:graphicFrame>
        <p:nvGraphicFramePr>
          <p:cNvPr id="14" name="Vergleichstabel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2743200"/>
                <a:gridCol w="2743200"/>
                <a:gridCol w="2926080"/>
              </a:tblGrid>
              <a:tr h="457200">
                <a:tc>
                  <a:txBody>
                    <a:bodyPr/>
                    <a:lstStyle/>
                    <a:p>
                      <a:pPr indent="0" marL="0">
                        <a:buNone/>
                      </a:pPr>
                      <a:endParaRPr lang="en-US" sz="12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bg1"/>
                          </a:solidFill>
                          <a:latin typeface="Calibri" pitchFamily="34" charset="0"/>
                          <a:ea typeface="Calibri" pitchFamily="34" charset="-122"/>
                          <a:cs typeface="Calibri" pitchFamily="34" charset="-120"/>
                        </a:rPr>
                        <a:t>Selectionsort</a:t>
                      </a:r>
                      <a:endParaRPr lang="en-US" sz="17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700" b="1" dirty="0">
                          <a:solidFill>
                            <a:schemeClr val="bg1"/>
                          </a:solidFill>
                          <a:latin typeface="Calibri" pitchFamily="34" charset="0"/>
                          <a:ea typeface="Calibri" pitchFamily="34" charset="-122"/>
                          <a:cs typeface="Calibri" pitchFamily="34" charset="-120"/>
                        </a:rPr>
                        <a:t>Insertionsort</a:t>
                      </a:r>
                      <a:endParaRPr lang="en-US" sz="17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700" b="1" dirty="0">
                          <a:solidFill>
                            <a:schemeClr val="bg1"/>
                          </a:solidFill>
                          <a:latin typeface="Calibri" pitchFamily="34" charset="0"/>
                          <a:ea typeface="Calibri" pitchFamily="34" charset="-122"/>
                          <a:cs typeface="Calibri" pitchFamily="34" charset="-120"/>
                        </a:rPr>
                        <a:t>Bubblesort (mit Abbruch)</a:t>
                      </a:r>
                      <a:endParaRPr lang="en-US" sz="17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777240">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Idee</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Bestes des Rests nach vorn tauschen</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nächsten Eintrag links einsortieren</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Nachbarn tauschen, Schlechtester sinkt nach hinten</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02920">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Beispiel 50, 80, 30, 90, 70</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10 V · 2 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8 V · 6 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tx1"/>
                          </a:solidFill>
                          <a:latin typeface="Calibri" pitchFamily="34" charset="0"/>
                          <a:ea typeface="Calibri" pitchFamily="34" charset="-122"/>
                          <a:cs typeface="Calibri" pitchFamily="34" charset="-120"/>
                        </a:rPr>
                        <a:t>10 V · 6 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02920">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bereits sortiert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10 V · 0 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4 V · 0 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4 V · 0 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502920">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umgekehrt sortiert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10 V · 2 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10 V · 10 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10 V · 10 T</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57200">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stabil?</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nein</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ja</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ja</a:t>
                      </a:r>
                      <a:endParaRPr lang="en-US" sz="16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709160"/>
            <a:ext cx="11064240" cy="292608"/>
          </a:xfrm>
          <a:prstGeom prst="rect">
            <a:avLst/>
          </a:prstGeom>
          <a:noFill/>
          <a:ln/>
        </p:spPr>
        <p:txBody>
          <a:bodyPr wrap="square" lIns="0" tIns="0" rIns="0" bIns="0" rtlCol="0" anchor="t"/>
          <a:lstStyle/>
          <a:p>
            <a:pPr indent="0" marL="0">
              <a:buNone/>
            </a:pPr>
            <a:r>
              <a:rPr lang="en-US" sz="1400" i="1" dirty="0">
                <a:solidFill>
                  <a:schemeClr val="accent6"/>
                </a:solidFill>
              </a:rPr>
              <a:t>V = Vergleiche (Aufrufe von besser) · T = Vertauschungen (Aufrufe von vertausche) – gezählt mit der Musterlösung</a:t>
            </a:r>
            <a:endParaRPr lang="en-US" sz="1400" dirty="0"/>
          </a:p>
        </p:txBody>
      </p:sp>
      <p:sp>
        <p:nvSpPr>
          <p:cNvPr id="5" name="Erkenntnis 1"/>
          <p:cNvSpPr/>
          <p:nvPr/>
        </p:nvSpPr>
        <p:spPr>
          <a:xfrm>
            <a:off x="548640" y="5120640"/>
            <a:ext cx="5394960" cy="1005840"/>
          </a:xfrm>
          <a:prstGeom prst="roundRect">
            <a:avLst>
              <a:gd name="adj" fmla="val 10909"/>
            </a:avLst>
          </a:prstGeom>
          <a:solidFill>
            <a:schemeClr val="bg1"/>
          </a:solidFill>
          <a:ln/>
          <a:effectLst>
            <a:outerShdw sx="100000" sy="100000" kx="0" ky="0" algn="bl" rotWithShape="0" blurRad="76200" dist="25400" dir="5400000">
              <a:srgbClr val="000000">
                <a:alpha val="18000"/>
              </a:srgbClr>
            </a:outerShdw>
          </a:effectLst>
        </p:spPr>
      </p:sp>
      <p:sp>
        <p:nvSpPr>
          <p:cNvPr id="6" name="Text 3"/>
          <p:cNvSpPr txBox="1"/>
          <p:nvPr/>
        </p:nvSpPr>
        <p:spPr>
          <a:xfrm>
            <a:off x="777240" y="5120640"/>
            <a:ext cx="5029200" cy="1005840"/>
          </a:xfrm>
          <a:prstGeom prst="rect">
            <a:avLst/>
          </a:prstGeom>
          <a:noFill/>
          <a:ln/>
        </p:spPr>
        <p:txBody>
          <a:bodyPr wrap="square" lIns="0" tIns="0" rIns="0" bIns="0" rtlCol="0" anchor="ctr"/>
          <a:lstStyle/>
          <a:p>
            <a:pPr indent="0" marL="0">
              <a:buNone/>
            </a:pPr>
            <a:r>
              <a:rPr lang="en-US" sz="1700" b="1" dirty="0">
                <a:solidFill>
                  <a:schemeClr val="accent1"/>
                </a:solidFill>
              </a:rPr>
              <a:t>Selectionsort </a:t>
            </a:r>
            <a:pPr indent="0" marL="0">
              <a:buNone/>
            </a:pPr>
            <a:r>
              <a:rPr lang="en-US" sz="1700" dirty="0">
                <a:solidFill>
                  <a:schemeClr val="tx1"/>
                </a:solidFill>
              </a:rPr>
              <a:t>vergleicht immer gleich oft, tauscht aber am wenigsten.</a:t>
            </a:r>
            <a:endParaRPr lang="en-US" sz="1700" dirty="0"/>
          </a:p>
        </p:txBody>
      </p:sp>
      <p:sp>
        <p:nvSpPr>
          <p:cNvPr id="7" name="Erkenntnis 2"/>
          <p:cNvSpPr/>
          <p:nvPr/>
        </p:nvSpPr>
        <p:spPr>
          <a:xfrm>
            <a:off x="6217920" y="5120640"/>
            <a:ext cx="5394960" cy="1005840"/>
          </a:xfrm>
          <a:prstGeom prst="roundRect">
            <a:avLst>
              <a:gd name="adj" fmla="val 10909"/>
            </a:avLst>
          </a:prstGeom>
          <a:solidFill>
            <a:schemeClr val="bg1"/>
          </a:solidFill>
          <a:ln/>
          <a:effectLst>
            <a:outerShdw sx="100000" sy="100000" kx="0" ky="0" algn="bl" rotWithShape="0" blurRad="76200" dist="25400" dir="5400000">
              <a:srgbClr val="000000">
                <a:alpha val="18000"/>
              </a:srgbClr>
            </a:outerShdw>
          </a:effectLst>
        </p:spPr>
      </p:sp>
      <p:sp>
        <p:nvSpPr>
          <p:cNvPr id="8" name="Text 5"/>
          <p:cNvSpPr txBox="1"/>
          <p:nvPr/>
        </p:nvSpPr>
        <p:spPr>
          <a:xfrm>
            <a:off x="6446520" y="5120640"/>
            <a:ext cx="5029200" cy="1005840"/>
          </a:xfrm>
          <a:prstGeom prst="rect">
            <a:avLst/>
          </a:prstGeom>
          <a:noFill/>
          <a:ln/>
        </p:spPr>
        <p:txBody>
          <a:bodyPr wrap="square" lIns="0" tIns="0" rIns="0" bIns="0" rtlCol="0" anchor="ctr"/>
          <a:lstStyle/>
          <a:p>
            <a:pPr indent="0" marL="0">
              <a:buNone/>
            </a:pPr>
            <a:r>
              <a:rPr lang="en-US" sz="1700" b="1" dirty="0">
                <a:solidFill>
                  <a:schemeClr val="accent1"/>
                </a:solidFill>
              </a:rPr>
              <a:t>Insertion- und Bubblesort </a:t>
            </a:r>
            <a:pPr indent="0" marL="0">
              <a:buNone/>
            </a:pPr>
            <a:r>
              <a:rPr lang="en-US" sz="1700" dirty="0">
                <a:solidFill>
                  <a:schemeClr val="tx1"/>
                </a:solidFill>
              </a:rPr>
              <a:t>hängen von den Daten ab: bester Fall sortiert, schlechtester umgekehrt.</a:t>
            </a:r>
            <a:endParaRPr lang="en-US" sz="17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Sortiert einfügen: Platz schaffen von hinten</a:t>
            </a:r>
            <a:endParaRPr lang="en-US" sz="3600" dirty="0"/>
          </a:p>
        </p:txBody>
      </p:sp>
      <p:sp>
        <p:nvSpPr>
          <p:cNvPr id="3" name="Code"/>
          <p:cNvSpPr txBox="1"/>
          <p:nvPr/>
        </p:nvSpPr>
        <p:spPr>
          <a:xfrm>
            <a:off x="548640" y="1325880"/>
            <a:ext cx="5943600" cy="32735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boolean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einfuegenSortiert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Eintrag</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if</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null</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anzahl</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&gt;=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eintraege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length</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false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anzahl</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while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&gt; 0 &amp;&amp;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besser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eintraege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- 1]))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eintraege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eintraege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- 1];</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eintraege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anzahl</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true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4" name="Text 2"/>
          <p:cNvSpPr txBox="1"/>
          <p:nvPr/>
        </p:nvSpPr>
        <p:spPr>
          <a:xfrm>
            <a:off x="6812280" y="1325880"/>
            <a:ext cx="4800600" cy="365760"/>
          </a:xfrm>
          <a:prstGeom prst="rect">
            <a:avLst/>
          </a:prstGeom>
          <a:noFill/>
          <a:ln/>
        </p:spPr>
        <p:txBody>
          <a:bodyPr wrap="square" lIns="0" tIns="0" rIns="0" bIns="0" rtlCol="0" anchor="ctr"/>
          <a:lstStyle/>
          <a:p>
            <a:pPr indent="0" marL="0">
              <a:buNone/>
            </a:pPr>
            <a:r>
              <a:rPr lang="en-US" sz="1800" b="1" dirty="0">
                <a:solidFill>
                  <a:schemeClr val="accent1"/>
                </a:solidFill>
              </a:rPr>
              <a:t>Neuer Eintrag mit 60 Punkten</a:t>
            </a:r>
            <a:endParaRPr lang="en-US" sz="1800" dirty="0"/>
          </a:p>
        </p:txBody>
      </p:sp>
      <p:sp>
        <p:nvSpPr>
          <p:cNvPr id="5" name="Text 3"/>
          <p:cNvSpPr txBox="1"/>
          <p:nvPr/>
        </p:nvSpPr>
        <p:spPr>
          <a:xfrm>
            <a:off x="7452360" y="1755648"/>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6" name="Text 4"/>
          <p:cNvSpPr txBox="1"/>
          <p:nvPr/>
        </p:nvSpPr>
        <p:spPr>
          <a:xfrm>
            <a:off x="7955280" y="1755648"/>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7" name="Text 5"/>
          <p:cNvSpPr txBox="1"/>
          <p:nvPr/>
        </p:nvSpPr>
        <p:spPr>
          <a:xfrm>
            <a:off x="8458200" y="1755648"/>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8" name="Text 6"/>
          <p:cNvSpPr txBox="1"/>
          <p:nvPr/>
        </p:nvSpPr>
        <p:spPr>
          <a:xfrm>
            <a:off x="8961120" y="1755648"/>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9" name="Text 7"/>
          <p:cNvSpPr txBox="1"/>
          <p:nvPr/>
        </p:nvSpPr>
        <p:spPr>
          <a:xfrm>
            <a:off x="9464040" y="1755648"/>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10" name="Text 8"/>
          <p:cNvSpPr txBox="1"/>
          <p:nvPr/>
        </p:nvSpPr>
        <p:spPr>
          <a:xfrm>
            <a:off x="9966960" y="1755648"/>
            <a:ext cx="502920" cy="256032"/>
          </a:xfrm>
          <a:prstGeom prst="rect">
            <a:avLst/>
          </a:prstGeom>
          <a:noFill/>
          <a:ln/>
        </p:spPr>
        <p:txBody>
          <a:bodyPr wrap="square" lIns="0" tIns="0" rIns="0" bIns="0" rtlCol="0" anchor="t"/>
          <a:lstStyle/>
          <a:p>
            <a:pPr algn="ctr" indent="0" marL="0">
              <a:buNone/>
            </a:pPr>
            <a:r>
              <a:rPr lang="en-US" sz="1300" dirty="0">
                <a:solidFill>
                  <a:schemeClr val="accent6"/>
                </a:solidFill>
              </a:rPr>
              <a:t>5</a:t>
            </a:r>
            <a:endParaRPr lang="en-US" sz="1300" dirty="0"/>
          </a:p>
        </p:txBody>
      </p:sp>
      <p:sp>
        <p:nvSpPr>
          <p:cNvPr id="11" name="Text 9"/>
          <p:cNvSpPr txBox="1"/>
          <p:nvPr/>
        </p:nvSpPr>
        <p:spPr>
          <a:xfrm>
            <a:off x="6812280" y="2057400"/>
            <a:ext cx="594360" cy="502920"/>
          </a:xfrm>
          <a:prstGeom prst="rect">
            <a:avLst/>
          </a:prstGeom>
          <a:noFill/>
          <a:ln/>
        </p:spPr>
        <p:txBody>
          <a:bodyPr wrap="square" lIns="0" tIns="0" rIns="0" bIns="0" rtlCol="0" anchor="ctr"/>
          <a:lstStyle/>
          <a:p>
            <a:pPr indent="0" marL="0">
              <a:buNone/>
            </a:pPr>
            <a:r>
              <a:rPr lang="en-US" sz="1500" b="1" dirty="0">
                <a:solidFill>
                  <a:schemeClr val="accent1"/>
                </a:solidFill>
              </a:rPr>
              <a:t>Start</a:t>
            </a:r>
            <a:endParaRPr lang="en-US" sz="1500" dirty="0"/>
          </a:p>
        </p:txBody>
      </p:sp>
      <p:sp>
        <p:nvSpPr>
          <p:cNvPr id="12" name="Einfuegen Start 0"/>
          <p:cNvSpPr txBox="1"/>
          <p:nvPr/>
        </p:nvSpPr>
        <p:spPr>
          <a:xfrm>
            <a:off x="7452360" y="2057400"/>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90</a:t>
            </a:r>
            <a:endParaRPr lang="en-US" sz="1500" dirty="0"/>
          </a:p>
        </p:txBody>
      </p:sp>
      <p:sp>
        <p:nvSpPr>
          <p:cNvPr id="13" name="Einfuegen Start 1"/>
          <p:cNvSpPr txBox="1"/>
          <p:nvPr/>
        </p:nvSpPr>
        <p:spPr>
          <a:xfrm>
            <a:off x="7955280" y="2057400"/>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80</a:t>
            </a:r>
            <a:endParaRPr lang="en-US" sz="1500" dirty="0"/>
          </a:p>
        </p:txBody>
      </p:sp>
      <p:sp>
        <p:nvSpPr>
          <p:cNvPr id="14" name="Einfuegen Start 2"/>
          <p:cNvSpPr txBox="1"/>
          <p:nvPr/>
        </p:nvSpPr>
        <p:spPr>
          <a:xfrm>
            <a:off x="8458200" y="2057400"/>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70</a:t>
            </a:r>
            <a:endParaRPr lang="en-US" sz="1500" dirty="0"/>
          </a:p>
        </p:txBody>
      </p:sp>
      <p:sp>
        <p:nvSpPr>
          <p:cNvPr id="15" name="Einfuegen Start 3"/>
          <p:cNvSpPr txBox="1"/>
          <p:nvPr/>
        </p:nvSpPr>
        <p:spPr>
          <a:xfrm>
            <a:off x="8961120" y="2057400"/>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50</a:t>
            </a:r>
            <a:endParaRPr lang="en-US" sz="1500" dirty="0"/>
          </a:p>
        </p:txBody>
      </p:sp>
      <p:sp>
        <p:nvSpPr>
          <p:cNvPr id="16" name="Einfuegen Start 4"/>
          <p:cNvSpPr txBox="1"/>
          <p:nvPr/>
        </p:nvSpPr>
        <p:spPr>
          <a:xfrm>
            <a:off x="9464040" y="2057400"/>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30</a:t>
            </a:r>
            <a:endParaRPr lang="en-US" sz="1500" dirty="0"/>
          </a:p>
        </p:txBody>
      </p:sp>
      <p:sp>
        <p:nvSpPr>
          <p:cNvPr id="17" name="Einfuegen Start 5"/>
          <p:cNvSpPr txBox="1"/>
          <p:nvPr/>
        </p:nvSpPr>
        <p:spPr>
          <a:xfrm>
            <a:off x="9966960" y="2057400"/>
            <a:ext cx="502920" cy="502920"/>
          </a:xfrm>
          <a:prstGeom prst="rect">
            <a:avLst/>
          </a:prstGeom>
          <a:solidFill>
            <a:schemeClr val="accent5"/>
          </a:solidFill>
          <a:ln w="15875">
            <a:solidFill>
              <a:srgbClr val="BFBFBF"/>
            </a:solidFill>
          </a:ln>
        </p:spPr>
        <p:txBody>
          <a:bodyPr wrap="square" lIns="0" tIns="0" rIns="0" bIns="0" rtlCol="0" anchor="ctr"/>
          <a:lstStyle/>
          <a:p>
            <a:pPr algn="ctr" indent="0" marL="0">
              <a:buNone/>
            </a:pPr>
            <a:endParaRPr lang="en-US" sz="1500" dirty="0"/>
          </a:p>
        </p:txBody>
      </p:sp>
      <p:sp>
        <p:nvSpPr>
          <p:cNvPr id="18" name="Text 16"/>
          <p:cNvSpPr txBox="1"/>
          <p:nvPr/>
        </p:nvSpPr>
        <p:spPr>
          <a:xfrm>
            <a:off x="7452360" y="2569464"/>
            <a:ext cx="4160520" cy="219456"/>
          </a:xfrm>
          <a:prstGeom prst="rect">
            <a:avLst/>
          </a:prstGeom>
          <a:noFill/>
          <a:ln/>
        </p:spPr>
        <p:txBody>
          <a:bodyPr wrap="square" lIns="0" tIns="0" rIns="0" bIns="0" rtlCol="0" anchor="t"/>
          <a:lstStyle/>
          <a:p>
            <a:pPr indent="0" marL="0">
              <a:buNone/>
            </a:pPr>
            <a:r>
              <a:rPr lang="en-US" sz="1300" i="1" dirty="0">
                <a:solidFill>
                  <a:schemeClr val="accent6"/>
                </a:solidFill>
              </a:rPr>
              <a:t>i = 5</a:t>
            </a:r>
            <a:endParaRPr lang="en-US" sz="1300" dirty="0"/>
          </a:p>
        </p:txBody>
      </p:sp>
      <p:sp>
        <p:nvSpPr>
          <p:cNvPr id="19" name="Text 17"/>
          <p:cNvSpPr txBox="1"/>
          <p:nvPr/>
        </p:nvSpPr>
        <p:spPr>
          <a:xfrm>
            <a:off x="6812280" y="2807208"/>
            <a:ext cx="594360" cy="502920"/>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20" name="Einfuegen 1 0"/>
          <p:cNvSpPr txBox="1"/>
          <p:nvPr/>
        </p:nvSpPr>
        <p:spPr>
          <a:xfrm>
            <a:off x="7452360" y="2807208"/>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90</a:t>
            </a:r>
            <a:endParaRPr lang="en-US" sz="1500" dirty="0"/>
          </a:p>
        </p:txBody>
      </p:sp>
      <p:sp>
        <p:nvSpPr>
          <p:cNvPr id="21" name="Einfuegen 1 1"/>
          <p:cNvSpPr txBox="1"/>
          <p:nvPr/>
        </p:nvSpPr>
        <p:spPr>
          <a:xfrm>
            <a:off x="7955280" y="2807208"/>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80</a:t>
            </a:r>
            <a:endParaRPr lang="en-US" sz="1500" dirty="0"/>
          </a:p>
        </p:txBody>
      </p:sp>
      <p:sp>
        <p:nvSpPr>
          <p:cNvPr id="22" name="Einfuegen 1 2"/>
          <p:cNvSpPr txBox="1"/>
          <p:nvPr/>
        </p:nvSpPr>
        <p:spPr>
          <a:xfrm>
            <a:off x="8458200" y="2807208"/>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70</a:t>
            </a:r>
            <a:endParaRPr lang="en-US" sz="1500" dirty="0"/>
          </a:p>
        </p:txBody>
      </p:sp>
      <p:sp>
        <p:nvSpPr>
          <p:cNvPr id="23" name="Einfuegen 1 3"/>
          <p:cNvSpPr txBox="1"/>
          <p:nvPr/>
        </p:nvSpPr>
        <p:spPr>
          <a:xfrm>
            <a:off x="8961120" y="2807208"/>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50</a:t>
            </a:r>
            <a:endParaRPr lang="en-US" sz="1500" dirty="0"/>
          </a:p>
        </p:txBody>
      </p:sp>
      <p:sp>
        <p:nvSpPr>
          <p:cNvPr id="24" name="Einfuegen 1 4"/>
          <p:cNvSpPr txBox="1"/>
          <p:nvPr/>
        </p:nvSpPr>
        <p:spPr>
          <a:xfrm>
            <a:off x="9464040" y="2807208"/>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30</a:t>
            </a:r>
            <a:endParaRPr lang="en-US" sz="1500" dirty="0"/>
          </a:p>
        </p:txBody>
      </p:sp>
      <p:sp>
        <p:nvSpPr>
          <p:cNvPr id="25" name="Einfuegen 1 5"/>
          <p:cNvSpPr txBox="1"/>
          <p:nvPr/>
        </p:nvSpPr>
        <p:spPr>
          <a:xfrm>
            <a:off x="9966960" y="2807208"/>
            <a:ext cx="502920" cy="502920"/>
          </a:xfrm>
          <a:prstGeom prst="rect">
            <a:avLst/>
          </a:prstGeom>
          <a:solidFill>
            <a:srgbClr val="FFF2CC"/>
          </a:solidFill>
          <a:ln w="38100">
            <a:solidFill>
              <a:schemeClr val="accent2"/>
            </a:solidFill>
          </a:ln>
        </p:spPr>
        <p:txBody>
          <a:bodyPr wrap="square" lIns="0" tIns="0" rIns="0" bIns="0" rtlCol="0" anchor="ctr"/>
          <a:lstStyle/>
          <a:p>
            <a:pPr algn="ctr" indent="0" marL="0">
              <a:buNone/>
            </a:pPr>
            <a:r>
              <a:rPr lang="en-US" sz="1500" b="1" dirty="0">
                <a:solidFill>
                  <a:schemeClr val="accent1"/>
                </a:solidFill>
              </a:rPr>
              <a:t>30</a:t>
            </a:r>
            <a:endParaRPr lang="en-US" sz="1500" dirty="0"/>
          </a:p>
        </p:txBody>
      </p:sp>
      <p:sp>
        <p:nvSpPr>
          <p:cNvPr id="26" name="Text 24"/>
          <p:cNvSpPr txBox="1"/>
          <p:nvPr/>
        </p:nvSpPr>
        <p:spPr>
          <a:xfrm>
            <a:off x="7452360" y="3319272"/>
            <a:ext cx="4160520" cy="219456"/>
          </a:xfrm>
          <a:prstGeom prst="rect">
            <a:avLst/>
          </a:prstGeom>
          <a:noFill/>
          <a:ln/>
        </p:spPr>
        <p:txBody>
          <a:bodyPr wrap="square" lIns="0" tIns="0" rIns="0" bIns="0" rtlCol="0" anchor="t"/>
          <a:lstStyle/>
          <a:p>
            <a:pPr indent="0" marL="0">
              <a:buNone/>
            </a:pPr>
            <a:r>
              <a:rPr lang="en-US" sz="1300" i="1" dirty="0">
                <a:solidFill>
                  <a:schemeClr val="accent6"/>
                </a:solidFill>
              </a:rPr>
              <a:t>60 &gt; 30 → schieben</a:t>
            </a:r>
            <a:endParaRPr lang="en-US" sz="1300" dirty="0"/>
          </a:p>
        </p:txBody>
      </p:sp>
      <p:sp>
        <p:nvSpPr>
          <p:cNvPr id="27" name="Text 25"/>
          <p:cNvSpPr txBox="1"/>
          <p:nvPr/>
        </p:nvSpPr>
        <p:spPr>
          <a:xfrm>
            <a:off x="6812280" y="3557016"/>
            <a:ext cx="594360" cy="502920"/>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28" name="Einfuegen 2 0"/>
          <p:cNvSpPr txBox="1"/>
          <p:nvPr/>
        </p:nvSpPr>
        <p:spPr>
          <a:xfrm>
            <a:off x="7452360" y="3557016"/>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90</a:t>
            </a:r>
            <a:endParaRPr lang="en-US" sz="1500" dirty="0"/>
          </a:p>
        </p:txBody>
      </p:sp>
      <p:sp>
        <p:nvSpPr>
          <p:cNvPr id="29" name="Einfuegen 2 1"/>
          <p:cNvSpPr txBox="1"/>
          <p:nvPr/>
        </p:nvSpPr>
        <p:spPr>
          <a:xfrm>
            <a:off x="7955280" y="3557016"/>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80</a:t>
            </a:r>
            <a:endParaRPr lang="en-US" sz="1500" dirty="0"/>
          </a:p>
        </p:txBody>
      </p:sp>
      <p:sp>
        <p:nvSpPr>
          <p:cNvPr id="30" name="Einfuegen 2 2"/>
          <p:cNvSpPr txBox="1"/>
          <p:nvPr/>
        </p:nvSpPr>
        <p:spPr>
          <a:xfrm>
            <a:off x="8458200" y="3557016"/>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70</a:t>
            </a:r>
            <a:endParaRPr lang="en-US" sz="1500" dirty="0"/>
          </a:p>
        </p:txBody>
      </p:sp>
      <p:sp>
        <p:nvSpPr>
          <p:cNvPr id="31" name="Einfuegen 2 3"/>
          <p:cNvSpPr txBox="1"/>
          <p:nvPr/>
        </p:nvSpPr>
        <p:spPr>
          <a:xfrm>
            <a:off x="8961120" y="3557016"/>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50</a:t>
            </a:r>
            <a:endParaRPr lang="en-US" sz="1500" dirty="0"/>
          </a:p>
        </p:txBody>
      </p:sp>
      <p:sp>
        <p:nvSpPr>
          <p:cNvPr id="32" name="Einfuegen 2 5"/>
          <p:cNvSpPr txBox="1"/>
          <p:nvPr/>
        </p:nvSpPr>
        <p:spPr>
          <a:xfrm>
            <a:off x="9966960" y="3557016"/>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30</a:t>
            </a:r>
            <a:endParaRPr lang="en-US" sz="1500" dirty="0"/>
          </a:p>
        </p:txBody>
      </p:sp>
      <p:sp>
        <p:nvSpPr>
          <p:cNvPr id="33" name="Einfuegen 2 4"/>
          <p:cNvSpPr txBox="1"/>
          <p:nvPr/>
        </p:nvSpPr>
        <p:spPr>
          <a:xfrm>
            <a:off x="9464040" y="3557016"/>
            <a:ext cx="502920" cy="502920"/>
          </a:xfrm>
          <a:prstGeom prst="rect">
            <a:avLst/>
          </a:prstGeom>
          <a:solidFill>
            <a:srgbClr val="FFF2CC"/>
          </a:solidFill>
          <a:ln w="38100">
            <a:solidFill>
              <a:schemeClr val="accent2"/>
            </a:solidFill>
          </a:ln>
        </p:spPr>
        <p:txBody>
          <a:bodyPr wrap="square" lIns="0" tIns="0" rIns="0" bIns="0" rtlCol="0" anchor="ctr"/>
          <a:lstStyle/>
          <a:p>
            <a:pPr algn="ctr" indent="0" marL="0">
              <a:buNone/>
            </a:pPr>
            <a:r>
              <a:rPr lang="en-US" sz="1500" b="1" dirty="0">
                <a:solidFill>
                  <a:schemeClr val="accent1"/>
                </a:solidFill>
              </a:rPr>
              <a:t>50</a:t>
            </a:r>
            <a:endParaRPr lang="en-US" sz="1500" dirty="0"/>
          </a:p>
        </p:txBody>
      </p:sp>
      <p:sp>
        <p:nvSpPr>
          <p:cNvPr id="34" name="Text 32"/>
          <p:cNvSpPr txBox="1"/>
          <p:nvPr/>
        </p:nvSpPr>
        <p:spPr>
          <a:xfrm>
            <a:off x="7452360" y="4069080"/>
            <a:ext cx="4160520" cy="219456"/>
          </a:xfrm>
          <a:prstGeom prst="rect">
            <a:avLst/>
          </a:prstGeom>
          <a:noFill/>
          <a:ln/>
        </p:spPr>
        <p:txBody>
          <a:bodyPr wrap="square" lIns="0" tIns="0" rIns="0" bIns="0" rtlCol="0" anchor="t"/>
          <a:lstStyle/>
          <a:p>
            <a:pPr indent="0" marL="0">
              <a:buNone/>
            </a:pPr>
            <a:r>
              <a:rPr lang="en-US" sz="1300" i="1" dirty="0">
                <a:solidFill>
                  <a:schemeClr val="accent6"/>
                </a:solidFill>
              </a:rPr>
              <a:t>60 &gt; 50 → schieben</a:t>
            </a:r>
            <a:endParaRPr lang="en-US" sz="1300" dirty="0"/>
          </a:p>
        </p:txBody>
      </p:sp>
      <p:sp>
        <p:nvSpPr>
          <p:cNvPr id="35" name="Text 33"/>
          <p:cNvSpPr txBox="1"/>
          <p:nvPr/>
        </p:nvSpPr>
        <p:spPr>
          <a:xfrm>
            <a:off x="6812280" y="4306824"/>
            <a:ext cx="594360" cy="502920"/>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36" name="Einfuegen 3 0"/>
          <p:cNvSpPr txBox="1"/>
          <p:nvPr/>
        </p:nvSpPr>
        <p:spPr>
          <a:xfrm>
            <a:off x="7452360" y="4306824"/>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90</a:t>
            </a:r>
            <a:endParaRPr lang="en-US" sz="1500" dirty="0"/>
          </a:p>
        </p:txBody>
      </p:sp>
      <p:sp>
        <p:nvSpPr>
          <p:cNvPr id="37" name="Einfuegen 3 1"/>
          <p:cNvSpPr txBox="1"/>
          <p:nvPr/>
        </p:nvSpPr>
        <p:spPr>
          <a:xfrm>
            <a:off x="7955280" y="4306824"/>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80</a:t>
            </a:r>
            <a:endParaRPr lang="en-US" sz="1500" dirty="0"/>
          </a:p>
        </p:txBody>
      </p:sp>
      <p:sp>
        <p:nvSpPr>
          <p:cNvPr id="38" name="Einfuegen 3 2"/>
          <p:cNvSpPr txBox="1"/>
          <p:nvPr/>
        </p:nvSpPr>
        <p:spPr>
          <a:xfrm>
            <a:off x="8458200" y="4306824"/>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70</a:t>
            </a:r>
            <a:endParaRPr lang="en-US" sz="1500" dirty="0"/>
          </a:p>
        </p:txBody>
      </p:sp>
      <p:sp>
        <p:nvSpPr>
          <p:cNvPr id="39" name="Einfuegen 3 4"/>
          <p:cNvSpPr txBox="1"/>
          <p:nvPr/>
        </p:nvSpPr>
        <p:spPr>
          <a:xfrm>
            <a:off x="9464040" y="4306824"/>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50</a:t>
            </a:r>
            <a:endParaRPr lang="en-US" sz="1500" dirty="0"/>
          </a:p>
        </p:txBody>
      </p:sp>
      <p:sp>
        <p:nvSpPr>
          <p:cNvPr id="40" name="Einfuegen 3 5"/>
          <p:cNvSpPr txBox="1"/>
          <p:nvPr/>
        </p:nvSpPr>
        <p:spPr>
          <a:xfrm>
            <a:off x="9966960" y="4306824"/>
            <a:ext cx="502920" cy="50292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30</a:t>
            </a:r>
            <a:endParaRPr lang="en-US" sz="1500" dirty="0"/>
          </a:p>
        </p:txBody>
      </p:sp>
      <p:sp>
        <p:nvSpPr>
          <p:cNvPr id="41" name="Einfuegen 3 3"/>
          <p:cNvSpPr txBox="1"/>
          <p:nvPr/>
        </p:nvSpPr>
        <p:spPr>
          <a:xfrm>
            <a:off x="8961120" y="4306824"/>
            <a:ext cx="502920" cy="502920"/>
          </a:xfrm>
          <a:prstGeom prst="rect">
            <a:avLst/>
          </a:prstGeom>
          <a:solidFill>
            <a:srgbClr val="FFF2CC"/>
          </a:solidFill>
          <a:ln w="38100">
            <a:solidFill>
              <a:schemeClr val="accent2"/>
            </a:solidFill>
          </a:ln>
        </p:spPr>
        <p:txBody>
          <a:bodyPr wrap="square" lIns="0" tIns="0" rIns="0" bIns="0" rtlCol="0" anchor="ctr"/>
          <a:lstStyle/>
          <a:p>
            <a:pPr algn="ctr" indent="0" marL="0">
              <a:buNone/>
            </a:pPr>
            <a:r>
              <a:rPr lang="en-US" sz="1500" b="1" dirty="0">
                <a:solidFill>
                  <a:schemeClr val="accent1"/>
                </a:solidFill>
              </a:rPr>
              <a:t>60</a:t>
            </a:r>
            <a:endParaRPr lang="en-US" sz="1500" dirty="0"/>
          </a:p>
        </p:txBody>
      </p:sp>
      <p:sp>
        <p:nvSpPr>
          <p:cNvPr id="42" name="Text 40"/>
          <p:cNvSpPr txBox="1"/>
          <p:nvPr/>
        </p:nvSpPr>
        <p:spPr>
          <a:xfrm>
            <a:off x="7452360" y="4818888"/>
            <a:ext cx="4160520" cy="219456"/>
          </a:xfrm>
          <a:prstGeom prst="rect">
            <a:avLst/>
          </a:prstGeom>
          <a:noFill/>
          <a:ln/>
        </p:spPr>
        <p:txBody>
          <a:bodyPr wrap="square" lIns="0" tIns="0" rIns="0" bIns="0" rtlCol="0" anchor="t"/>
          <a:lstStyle/>
          <a:p>
            <a:pPr indent="0" marL="0">
              <a:buNone/>
            </a:pPr>
            <a:r>
              <a:rPr lang="en-US" sz="1300" i="1" dirty="0">
                <a:solidFill>
                  <a:schemeClr val="accent6"/>
                </a:solidFill>
              </a:rPr>
              <a:t>60 &gt; 70? nein → e an i = 3</a:t>
            </a:r>
            <a:endParaRPr lang="en-US" sz="1300" dirty="0"/>
          </a:p>
        </p:txBody>
      </p:sp>
      <p:sp>
        <p:nvSpPr>
          <p:cNvPr id="43" name="Ergebnis Einfuegen"/>
          <p:cNvSpPr/>
          <p:nvPr/>
        </p:nvSpPr>
        <p:spPr>
          <a:xfrm>
            <a:off x="6812280" y="5074920"/>
            <a:ext cx="4800600" cy="1051560"/>
          </a:xfrm>
          <a:prstGeom prst="roundRect">
            <a:avLst>
              <a:gd name="adj" fmla="val 10435"/>
            </a:avLst>
          </a:prstGeom>
          <a:solidFill>
            <a:schemeClr val="accent1"/>
          </a:solidFill>
          <a:ln/>
          <a:effectLst>
            <a:outerShdw sx="100000" sy="100000" kx="0" ky="0" algn="bl" rotWithShape="0" blurRad="76200" dist="25400" dir="5400000">
              <a:srgbClr val="000000">
                <a:alpha val="18000"/>
              </a:srgbClr>
            </a:outerShdw>
          </a:effectLst>
        </p:spPr>
      </p:sp>
      <p:sp>
        <p:nvSpPr>
          <p:cNvPr id="44" name="Text 42"/>
          <p:cNvSpPr txBox="1"/>
          <p:nvPr/>
        </p:nvSpPr>
        <p:spPr>
          <a:xfrm>
            <a:off x="6995160" y="5074920"/>
            <a:ext cx="4480560" cy="1051560"/>
          </a:xfrm>
          <a:prstGeom prst="rect">
            <a:avLst/>
          </a:prstGeom>
          <a:noFill/>
          <a:ln/>
        </p:spPr>
        <p:txBody>
          <a:bodyPr wrap="square" lIns="0" tIns="0" rIns="0" bIns="0" rtlCol="0" anchor="ctr"/>
          <a:lstStyle/>
          <a:p>
            <a:pPr indent="0" marL="0">
              <a:buNone/>
            </a:pPr>
            <a:r>
              <a:rPr lang="en-US" sz="1800" b="1" dirty="0">
                <a:solidFill>
                  <a:schemeClr val="accent2"/>
                </a:solidFill>
              </a:rPr>
              <a:t>3 Vergleiche · 0 Vertauschungen</a:t>
            </a:r>
            <a:endParaRPr lang="en-US" sz="1800" dirty="0"/>
          </a:p>
          <a:p>
            <a:pPr indent="0" marL="0">
              <a:buNone/>
            </a:pPr>
            <a:r>
              <a:rPr lang="en-US" sz="1500" dirty="0">
                <a:solidFill>
                  <a:schemeClr val="bg1"/>
                </a:solidFill>
              </a:rPr>
              <a:t>Verschieben statt Tauschen. Bei Gleichstand stoppen → stabil.</a:t>
            </a:r>
            <a:endParaRPr lang="en-US" sz="1800" dirty="0"/>
          </a:p>
        </p:txBody>
      </p:sp>
      <p:sp>
        <p:nvSpPr>
          <p:cNvPr id="45" name="Achtung einfuegen"/>
          <p:cNvSpPr/>
          <p:nvPr/>
        </p:nvSpPr>
        <p:spPr>
          <a:xfrm>
            <a:off x="548640" y="5074920"/>
            <a:ext cx="5943600" cy="1051560"/>
          </a:xfrm>
          <a:prstGeom prst="roundRect">
            <a:avLst>
              <a:gd name="adj" fmla="val 10435"/>
            </a:avLst>
          </a:prstGeom>
          <a:solidFill>
            <a:schemeClr val="bg1"/>
          </a:solidFill>
          <a:ln w="25400">
            <a:solidFill>
              <a:schemeClr val="accent4"/>
            </a:solidFill>
            <a:prstDash val="solid"/>
          </a:ln>
        </p:spPr>
      </p:sp>
      <p:sp>
        <p:nvSpPr>
          <p:cNvPr id="46" name="Text 44"/>
          <p:cNvSpPr txBox="1"/>
          <p:nvPr/>
        </p:nvSpPr>
        <p:spPr>
          <a:xfrm>
            <a:off x="749808" y="5074920"/>
            <a:ext cx="5577840" cy="1051560"/>
          </a:xfrm>
          <a:prstGeom prst="rect">
            <a:avLst/>
          </a:prstGeom>
          <a:noFill/>
          <a:ln/>
        </p:spPr>
        <p:txBody>
          <a:bodyPr wrap="square" lIns="0" tIns="0" rIns="0" bIns="0" rtlCol="0" anchor="ctr"/>
          <a:lstStyle/>
          <a:p>
            <a:pPr indent="0" marL="0">
              <a:buNone/>
            </a:pPr>
            <a:r>
              <a:rPr lang="en-US" sz="1600" b="1" dirty="0">
                <a:solidFill>
                  <a:schemeClr val="accent4"/>
                </a:solidFill>
              </a:rPr>
              <a:t>Achtung: </a:t>
            </a:r>
            <a:pPr indent="0" marL="0">
              <a:buNone/>
            </a:pPr>
            <a:r>
              <a:rPr lang="en-US" sz="1600" dirty="0">
                <a:solidFill>
                  <a:schemeClr val="tx1"/>
                </a:solidFill>
              </a:rPr>
              <a:t>erst null und „voll“ prüfen – sonst greift </a:t>
            </a:r>
            <a:pPr indent="0" marL="0">
              <a:buNone/>
            </a:pPr>
            <a:r>
              <a:rPr lang="en-US" sz="1500" b="1" dirty="0">
                <a:solidFill>
                  <a:schemeClr val="tx1"/>
                </a:solidFill>
                <a:latin typeface="Consolas" pitchFamily="34" charset="0"/>
                <a:ea typeface="Consolas" pitchFamily="34" charset="-122"/>
                <a:cs typeface="Consolas" pitchFamily="34" charset="-120"/>
              </a:rPr>
              <a:t>eintraege[anzahl]</a:t>
            </a:r>
            <a:pPr indent="0" marL="0">
              <a:buNone/>
            </a:pPr>
            <a:r>
              <a:rPr lang="en-US" sz="1600" dirty="0">
                <a:solidFill>
                  <a:schemeClr val="tx1"/>
                </a:solidFill>
              </a:rPr>
              <a:t> hinter das Ende der Reihung.</a:t>
            </a:r>
            <a:endParaRPr lang="en-US" sz="16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Vergleiche zählen: n(n − 1) / 2</a:t>
            </a:r>
            <a:endParaRPr lang="en-US" sz="3600" dirty="0"/>
          </a:p>
        </p:txBody>
      </p:sp>
      <p:sp>
        <p:nvSpPr>
          <p:cNvPr id="3" name="Text 1"/>
          <p:cNvSpPr txBox="1"/>
          <p:nvPr/>
        </p:nvSpPr>
        <p:spPr>
          <a:xfrm>
            <a:off x="548640" y="1325880"/>
            <a:ext cx="5943600" cy="365760"/>
          </a:xfrm>
          <a:prstGeom prst="rect">
            <a:avLst/>
          </a:prstGeom>
          <a:noFill/>
          <a:ln/>
        </p:spPr>
        <p:txBody>
          <a:bodyPr wrap="square" lIns="0" tIns="0" rIns="0" bIns="0" rtlCol="0" anchor="t"/>
          <a:lstStyle/>
          <a:p>
            <a:pPr indent="0" marL="0">
              <a:buNone/>
            </a:pPr>
            <a:r>
              <a:rPr lang="en-US" sz="1700" b="1" dirty="0">
                <a:solidFill>
                  <a:schemeClr val="accent1"/>
                </a:solidFill>
              </a:rPr>
              <a:t>Selectionsort mit n = 5: Vergleiche je Durchlauf</a:t>
            </a:r>
            <a:endParaRPr lang="en-US" sz="1700" dirty="0"/>
          </a:p>
        </p:txBody>
      </p:sp>
      <p:sp>
        <p:nvSpPr>
          <p:cNvPr id="4" name="Text 2"/>
          <p:cNvSpPr txBox="1"/>
          <p:nvPr/>
        </p:nvSpPr>
        <p:spPr>
          <a:xfrm>
            <a:off x="548640" y="1828800"/>
            <a:ext cx="960120" cy="566928"/>
          </a:xfrm>
          <a:prstGeom prst="rect">
            <a:avLst/>
          </a:prstGeom>
          <a:noFill/>
          <a:ln/>
        </p:spPr>
        <p:txBody>
          <a:bodyPr wrap="square" lIns="0" tIns="0" rIns="0" bIns="0" rtlCol="0" anchor="ctr"/>
          <a:lstStyle/>
          <a:p>
            <a:pPr indent="0" marL="0">
              <a:buNone/>
            </a:pPr>
            <a:r>
              <a:rPr lang="en-US" sz="1500" b="1" dirty="0">
                <a:solidFill>
                  <a:schemeClr val="accent1"/>
                </a:solidFill>
              </a:rPr>
              <a:t>i = 0</a:t>
            </a:r>
            <a:endParaRPr lang="en-US" sz="1500" dirty="0"/>
          </a:p>
        </p:txBody>
      </p:sp>
      <p:sp>
        <p:nvSpPr>
          <p:cNvPr id="5" name="Dreieck 0-0"/>
          <p:cNvSpPr/>
          <p:nvPr/>
        </p:nvSpPr>
        <p:spPr>
          <a:xfrm>
            <a:off x="1600200" y="1828800"/>
            <a:ext cx="566928" cy="566928"/>
          </a:xfrm>
          <a:prstGeom prst="rect">
            <a:avLst/>
          </a:prstGeom>
          <a:solidFill>
            <a:schemeClr val="accent1"/>
          </a:solidFill>
          <a:ln w="19050">
            <a:solidFill>
              <a:schemeClr val="bg1"/>
            </a:solidFill>
            <a:prstDash val="solid"/>
          </a:ln>
        </p:spPr>
      </p:sp>
      <p:sp>
        <p:nvSpPr>
          <p:cNvPr id="6" name="Dreieck 0-1"/>
          <p:cNvSpPr/>
          <p:nvPr/>
        </p:nvSpPr>
        <p:spPr>
          <a:xfrm>
            <a:off x="2167128" y="1828800"/>
            <a:ext cx="566928" cy="566928"/>
          </a:xfrm>
          <a:prstGeom prst="rect">
            <a:avLst/>
          </a:prstGeom>
          <a:solidFill>
            <a:schemeClr val="accent1"/>
          </a:solidFill>
          <a:ln w="19050">
            <a:solidFill>
              <a:schemeClr val="bg1"/>
            </a:solidFill>
            <a:prstDash val="solid"/>
          </a:ln>
        </p:spPr>
      </p:sp>
      <p:sp>
        <p:nvSpPr>
          <p:cNvPr id="7" name="Dreieck 0-2"/>
          <p:cNvSpPr/>
          <p:nvPr/>
        </p:nvSpPr>
        <p:spPr>
          <a:xfrm>
            <a:off x="2734056" y="1828800"/>
            <a:ext cx="566928" cy="566928"/>
          </a:xfrm>
          <a:prstGeom prst="rect">
            <a:avLst/>
          </a:prstGeom>
          <a:solidFill>
            <a:schemeClr val="accent1"/>
          </a:solidFill>
          <a:ln w="19050">
            <a:solidFill>
              <a:schemeClr val="bg1"/>
            </a:solidFill>
            <a:prstDash val="solid"/>
          </a:ln>
        </p:spPr>
      </p:sp>
      <p:sp>
        <p:nvSpPr>
          <p:cNvPr id="8" name="Dreieck 0-3"/>
          <p:cNvSpPr/>
          <p:nvPr/>
        </p:nvSpPr>
        <p:spPr>
          <a:xfrm>
            <a:off x="3300984" y="1828800"/>
            <a:ext cx="566928" cy="566928"/>
          </a:xfrm>
          <a:prstGeom prst="rect">
            <a:avLst/>
          </a:prstGeom>
          <a:solidFill>
            <a:schemeClr val="accent1"/>
          </a:solidFill>
          <a:ln w="19050">
            <a:solidFill>
              <a:schemeClr val="bg1"/>
            </a:solidFill>
            <a:prstDash val="solid"/>
          </a:ln>
        </p:spPr>
      </p:sp>
      <p:sp>
        <p:nvSpPr>
          <p:cNvPr id="9" name="Dreieck 0-4"/>
          <p:cNvSpPr/>
          <p:nvPr/>
        </p:nvSpPr>
        <p:spPr>
          <a:xfrm>
            <a:off x="3867912" y="1828800"/>
            <a:ext cx="566928" cy="566928"/>
          </a:xfrm>
          <a:prstGeom prst="rect">
            <a:avLst/>
          </a:prstGeom>
          <a:solidFill>
            <a:srgbClr val="FFF2CC"/>
          </a:solidFill>
          <a:ln w="19050">
            <a:solidFill>
              <a:schemeClr val="accent2"/>
            </a:solidFill>
            <a:prstDash val="dash"/>
          </a:ln>
        </p:spPr>
      </p:sp>
      <p:sp>
        <p:nvSpPr>
          <p:cNvPr id="10" name="Text 8"/>
          <p:cNvSpPr txBox="1"/>
          <p:nvPr/>
        </p:nvSpPr>
        <p:spPr>
          <a:xfrm>
            <a:off x="4572000" y="1828800"/>
            <a:ext cx="457200" cy="566928"/>
          </a:xfrm>
          <a:prstGeom prst="rect">
            <a:avLst/>
          </a:prstGeom>
          <a:noFill/>
          <a:ln/>
        </p:spPr>
        <p:txBody>
          <a:bodyPr wrap="square" lIns="0" tIns="0" rIns="0" bIns="0" rtlCol="0" anchor="ctr"/>
          <a:lstStyle/>
          <a:p>
            <a:pPr indent="0" marL="0">
              <a:buNone/>
            </a:pPr>
            <a:r>
              <a:rPr lang="en-US" sz="1800" b="1" dirty="0">
                <a:solidFill>
                  <a:schemeClr val="accent1"/>
                </a:solidFill>
              </a:rPr>
              <a:t>4</a:t>
            </a:r>
            <a:endParaRPr lang="en-US" sz="1800" dirty="0"/>
          </a:p>
        </p:txBody>
      </p:sp>
      <p:sp>
        <p:nvSpPr>
          <p:cNvPr id="11" name="Text 9"/>
          <p:cNvSpPr txBox="1"/>
          <p:nvPr/>
        </p:nvSpPr>
        <p:spPr>
          <a:xfrm>
            <a:off x="548640" y="2395728"/>
            <a:ext cx="960120" cy="566928"/>
          </a:xfrm>
          <a:prstGeom prst="rect">
            <a:avLst/>
          </a:prstGeom>
          <a:noFill/>
          <a:ln/>
        </p:spPr>
        <p:txBody>
          <a:bodyPr wrap="square" lIns="0" tIns="0" rIns="0" bIns="0" rtlCol="0" anchor="ctr"/>
          <a:lstStyle/>
          <a:p>
            <a:pPr indent="0" marL="0">
              <a:buNone/>
            </a:pPr>
            <a:r>
              <a:rPr lang="en-US" sz="1500" b="1" dirty="0">
                <a:solidFill>
                  <a:schemeClr val="accent1"/>
                </a:solidFill>
              </a:rPr>
              <a:t>i = 1</a:t>
            </a:r>
            <a:endParaRPr lang="en-US" sz="1500" dirty="0"/>
          </a:p>
        </p:txBody>
      </p:sp>
      <p:sp>
        <p:nvSpPr>
          <p:cNvPr id="12" name="Dreieck 1-0"/>
          <p:cNvSpPr/>
          <p:nvPr/>
        </p:nvSpPr>
        <p:spPr>
          <a:xfrm>
            <a:off x="1600200" y="2395728"/>
            <a:ext cx="566928" cy="566928"/>
          </a:xfrm>
          <a:prstGeom prst="rect">
            <a:avLst/>
          </a:prstGeom>
          <a:solidFill>
            <a:schemeClr val="accent1"/>
          </a:solidFill>
          <a:ln w="19050">
            <a:solidFill>
              <a:schemeClr val="bg1"/>
            </a:solidFill>
            <a:prstDash val="solid"/>
          </a:ln>
        </p:spPr>
      </p:sp>
      <p:sp>
        <p:nvSpPr>
          <p:cNvPr id="13" name="Dreieck 1-1"/>
          <p:cNvSpPr/>
          <p:nvPr/>
        </p:nvSpPr>
        <p:spPr>
          <a:xfrm>
            <a:off x="2167128" y="2395728"/>
            <a:ext cx="566928" cy="566928"/>
          </a:xfrm>
          <a:prstGeom prst="rect">
            <a:avLst/>
          </a:prstGeom>
          <a:solidFill>
            <a:schemeClr val="accent1"/>
          </a:solidFill>
          <a:ln w="19050">
            <a:solidFill>
              <a:schemeClr val="bg1"/>
            </a:solidFill>
            <a:prstDash val="solid"/>
          </a:ln>
        </p:spPr>
      </p:sp>
      <p:sp>
        <p:nvSpPr>
          <p:cNvPr id="14" name="Dreieck 1-2"/>
          <p:cNvSpPr/>
          <p:nvPr/>
        </p:nvSpPr>
        <p:spPr>
          <a:xfrm>
            <a:off x="2734056" y="2395728"/>
            <a:ext cx="566928" cy="566928"/>
          </a:xfrm>
          <a:prstGeom prst="rect">
            <a:avLst/>
          </a:prstGeom>
          <a:solidFill>
            <a:schemeClr val="accent1"/>
          </a:solidFill>
          <a:ln w="19050">
            <a:solidFill>
              <a:schemeClr val="bg1"/>
            </a:solidFill>
            <a:prstDash val="solid"/>
          </a:ln>
        </p:spPr>
      </p:sp>
      <p:sp>
        <p:nvSpPr>
          <p:cNvPr id="15" name="Dreieck 1-3"/>
          <p:cNvSpPr/>
          <p:nvPr/>
        </p:nvSpPr>
        <p:spPr>
          <a:xfrm>
            <a:off x="3300984" y="2395728"/>
            <a:ext cx="566928" cy="566928"/>
          </a:xfrm>
          <a:prstGeom prst="rect">
            <a:avLst/>
          </a:prstGeom>
          <a:solidFill>
            <a:srgbClr val="FFF2CC"/>
          </a:solidFill>
          <a:ln w="19050">
            <a:solidFill>
              <a:schemeClr val="accent2"/>
            </a:solidFill>
            <a:prstDash val="dash"/>
          </a:ln>
        </p:spPr>
      </p:sp>
      <p:sp>
        <p:nvSpPr>
          <p:cNvPr id="16" name="Dreieck 1-4"/>
          <p:cNvSpPr/>
          <p:nvPr/>
        </p:nvSpPr>
        <p:spPr>
          <a:xfrm>
            <a:off x="3867912" y="2395728"/>
            <a:ext cx="566928" cy="566928"/>
          </a:xfrm>
          <a:prstGeom prst="rect">
            <a:avLst/>
          </a:prstGeom>
          <a:solidFill>
            <a:srgbClr val="FFF2CC"/>
          </a:solidFill>
          <a:ln w="19050">
            <a:solidFill>
              <a:schemeClr val="accent2"/>
            </a:solidFill>
            <a:prstDash val="dash"/>
          </a:ln>
        </p:spPr>
      </p:sp>
      <p:sp>
        <p:nvSpPr>
          <p:cNvPr id="17" name="Text 15"/>
          <p:cNvSpPr txBox="1"/>
          <p:nvPr/>
        </p:nvSpPr>
        <p:spPr>
          <a:xfrm>
            <a:off x="4572000" y="2395728"/>
            <a:ext cx="457200" cy="566928"/>
          </a:xfrm>
          <a:prstGeom prst="rect">
            <a:avLst/>
          </a:prstGeom>
          <a:noFill/>
          <a:ln/>
        </p:spPr>
        <p:txBody>
          <a:bodyPr wrap="square" lIns="0" tIns="0" rIns="0" bIns="0" rtlCol="0" anchor="ctr"/>
          <a:lstStyle/>
          <a:p>
            <a:pPr indent="0" marL="0">
              <a:buNone/>
            </a:pPr>
            <a:r>
              <a:rPr lang="en-US" sz="1800" b="1" dirty="0">
                <a:solidFill>
                  <a:schemeClr val="accent1"/>
                </a:solidFill>
              </a:rPr>
              <a:t>3</a:t>
            </a:r>
            <a:endParaRPr lang="en-US" sz="1800" dirty="0"/>
          </a:p>
        </p:txBody>
      </p:sp>
      <p:sp>
        <p:nvSpPr>
          <p:cNvPr id="18" name="Text 16"/>
          <p:cNvSpPr txBox="1"/>
          <p:nvPr/>
        </p:nvSpPr>
        <p:spPr>
          <a:xfrm>
            <a:off x="548640" y="2962656"/>
            <a:ext cx="960120" cy="566928"/>
          </a:xfrm>
          <a:prstGeom prst="rect">
            <a:avLst/>
          </a:prstGeom>
          <a:noFill/>
          <a:ln/>
        </p:spPr>
        <p:txBody>
          <a:bodyPr wrap="square" lIns="0" tIns="0" rIns="0" bIns="0" rtlCol="0" anchor="ctr"/>
          <a:lstStyle/>
          <a:p>
            <a:pPr indent="0" marL="0">
              <a:buNone/>
            </a:pPr>
            <a:r>
              <a:rPr lang="en-US" sz="1500" b="1" dirty="0">
                <a:solidFill>
                  <a:schemeClr val="accent1"/>
                </a:solidFill>
              </a:rPr>
              <a:t>i = 2</a:t>
            </a:r>
            <a:endParaRPr lang="en-US" sz="1500" dirty="0"/>
          </a:p>
        </p:txBody>
      </p:sp>
      <p:sp>
        <p:nvSpPr>
          <p:cNvPr id="19" name="Dreieck 2-0"/>
          <p:cNvSpPr/>
          <p:nvPr/>
        </p:nvSpPr>
        <p:spPr>
          <a:xfrm>
            <a:off x="1600200" y="2962656"/>
            <a:ext cx="566928" cy="566928"/>
          </a:xfrm>
          <a:prstGeom prst="rect">
            <a:avLst/>
          </a:prstGeom>
          <a:solidFill>
            <a:schemeClr val="accent1"/>
          </a:solidFill>
          <a:ln w="19050">
            <a:solidFill>
              <a:schemeClr val="bg1"/>
            </a:solidFill>
            <a:prstDash val="solid"/>
          </a:ln>
        </p:spPr>
      </p:sp>
      <p:sp>
        <p:nvSpPr>
          <p:cNvPr id="20" name="Dreieck 2-1"/>
          <p:cNvSpPr/>
          <p:nvPr/>
        </p:nvSpPr>
        <p:spPr>
          <a:xfrm>
            <a:off x="2167128" y="2962656"/>
            <a:ext cx="566928" cy="566928"/>
          </a:xfrm>
          <a:prstGeom prst="rect">
            <a:avLst/>
          </a:prstGeom>
          <a:solidFill>
            <a:schemeClr val="accent1"/>
          </a:solidFill>
          <a:ln w="19050">
            <a:solidFill>
              <a:schemeClr val="bg1"/>
            </a:solidFill>
            <a:prstDash val="solid"/>
          </a:ln>
        </p:spPr>
      </p:sp>
      <p:sp>
        <p:nvSpPr>
          <p:cNvPr id="21" name="Dreieck 2-2"/>
          <p:cNvSpPr/>
          <p:nvPr/>
        </p:nvSpPr>
        <p:spPr>
          <a:xfrm>
            <a:off x="2734056" y="2962656"/>
            <a:ext cx="566928" cy="566928"/>
          </a:xfrm>
          <a:prstGeom prst="rect">
            <a:avLst/>
          </a:prstGeom>
          <a:solidFill>
            <a:srgbClr val="FFF2CC"/>
          </a:solidFill>
          <a:ln w="19050">
            <a:solidFill>
              <a:schemeClr val="accent2"/>
            </a:solidFill>
            <a:prstDash val="dash"/>
          </a:ln>
        </p:spPr>
      </p:sp>
      <p:sp>
        <p:nvSpPr>
          <p:cNvPr id="22" name="Dreieck 2-3"/>
          <p:cNvSpPr/>
          <p:nvPr/>
        </p:nvSpPr>
        <p:spPr>
          <a:xfrm>
            <a:off x="3300984" y="2962656"/>
            <a:ext cx="566928" cy="566928"/>
          </a:xfrm>
          <a:prstGeom prst="rect">
            <a:avLst/>
          </a:prstGeom>
          <a:solidFill>
            <a:srgbClr val="FFF2CC"/>
          </a:solidFill>
          <a:ln w="19050">
            <a:solidFill>
              <a:schemeClr val="accent2"/>
            </a:solidFill>
            <a:prstDash val="dash"/>
          </a:ln>
        </p:spPr>
      </p:sp>
      <p:sp>
        <p:nvSpPr>
          <p:cNvPr id="23" name="Dreieck 2-4"/>
          <p:cNvSpPr/>
          <p:nvPr/>
        </p:nvSpPr>
        <p:spPr>
          <a:xfrm>
            <a:off x="3867912" y="2962656"/>
            <a:ext cx="566928" cy="566928"/>
          </a:xfrm>
          <a:prstGeom prst="rect">
            <a:avLst/>
          </a:prstGeom>
          <a:solidFill>
            <a:srgbClr val="FFF2CC"/>
          </a:solidFill>
          <a:ln w="19050">
            <a:solidFill>
              <a:schemeClr val="accent2"/>
            </a:solidFill>
            <a:prstDash val="dash"/>
          </a:ln>
        </p:spPr>
      </p:sp>
      <p:sp>
        <p:nvSpPr>
          <p:cNvPr id="24" name="Text 22"/>
          <p:cNvSpPr txBox="1"/>
          <p:nvPr/>
        </p:nvSpPr>
        <p:spPr>
          <a:xfrm>
            <a:off x="4572000" y="2962656"/>
            <a:ext cx="457200" cy="566928"/>
          </a:xfrm>
          <a:prstGeom prst="rect">
            <a:avLst/>
          </a:prstGeom>
          <a:noFill/>
          <a:ln/>
        </p:spPr>
        <p:txBody>
          <a:bodyPr wrap="square" lIns="0" tIns="0" rIns="0" bIns="0" rtlCol="0" anchor="ctr"/>
          <a:lstStyle/>
          <a:p>
            <a:pPr indent="0" marL="0">
              <a:buNone/>
            </a:pPr>
            <a:r>
              <a:rPr lang="en-US" sz="1800" b="1" dirty="0">
                <a:solidFill>
                  <a:schemeClr val="accent1"/>
                </a:solidFill>
              </a:rPr>
              <a:t>2</a:t>
            </a:r>
            <a:endParaRPr lang="en-US" sz="1800" dirty="0"/>
          </a:p>
        </p:txBody>
      </p:sp>
      <p:sp>
        <p:nvSpPr>
          <p:cNvPr id="25" name="Text 23"/>
          <p:cNvSpPr txBox="1"/>
          <p:nvPr/>
        </p:nvSpPr>
        <p:spPr>
          <a:xfrm>
            <a:off x="548640" y="3529584"/>
            <a:ext cx="960120" cy="566928"/>
          </a:xfrm>
          <a:prstGeom prst="rect">
            <a:avLst/>
          </a:prstGeom>
          <a:noFill/>
          <a:ln/>
        </p:spPr>
        <p:txBody>
          <a:bodyPr wrap="square" lIns="0" tIns="0" rIns="0" bIns="0" rtlCol="0" anchor="ctr"/>
          <a:lstStyle/>
          <a:p>
            <a:pPr indent="0" marL="0">
              <a:buNone/>
            </a:pPr>
            <a:r>
              <a:rPr lang="en-US" sz="1500" b="1" dirty="0">
                <a:solidFill>
                  <a:schemeClr val="accent1"/>
                </a:solidFill>
              </a:rPr>
              <a:t>i = 3</a:t>
            </a:r>
            <a:endParaRPr lang="en-US" sz="1500" dirty="0"/>
          </a:p>
        </p:txBody>
      </p:sp>
      <p:sp>
        <p:nvSpPr>
          <p:cNvPr id="26" name="Dreieck 3-0"/>
          <p:cNvSpPr/>
          <p:nvPr/>
        </p:nvSpPr>
        <p:spPr>
          <a:xfrm>
            <a:off x="1600200" y="3529584"/>
            <a:ext cx="566928" cy="566928"/>
          </a:xfrm>
          <a:prstGeom prst="rect">
            <a:avLst/>
          </a:prstGeom>
          <a:solidFill>
            <a:schemeClr val="accent1"/>
          </a:solidFill>
          <a:ln w="19050">
            <a:solidFill>
              <a:schemeClr val="bg1"/>
            </a:solidFill>
            <a:prstDash val="solid"/>
          </a:ln>
        </p:spPr>
      </p:sp>
      <p:sp>
        <p:nvSpPr>
          <p:cNvPr id="27" name="Dreieck 3-1"/>
          <p:cNvSpPr/>
          <p:nvPr/>
        </p:nvSpPr>
        <p:spPr>
          <a:xfrm>
            <a:off x="2167128" y="3529584"/>
            <a:ext cx="566928" cy="566928"/>
          </a:xfrm>
          <a:prstGeom prst="rect">
            <a:avLst/>
          </a:prstGeom>
          <a:solidFill>
            <a:srgbClr val="FFF2CC"/>
          </a:solidFill>
          <a:ln w="19050">
            <a:solidFill>
              <a:schemeClr val="accent2"/>
            </a:solidFill>
            <a:prstDash val="dash"/>
          </a:ln>
        </p:spPr>
      </p:sp>
      <p:sp>
        <p:nvSpPr>
          <p:cNvPr id="28" name="Dreieck 3-2"/>
          <p:cNvSpPr/>
          <p:nvPr/>
        </p:nvSpPr>
        <p:spPr>
          <a:xfrm>
            <a:off x="2734056" y="3529584"/>
            <a:ext cx="566928" cy="566928"/>
          </a:xfrm>
          <a:prstGeom prst="rect">
            <a:avLst/>
          </a:prstGeom>
          <a:solidFill>
            <a:srgbClr val="FFF2CC"/>
          </a:solidFill>
          <a:ln w="19050">
            <a:solidFill>
              <a:schemeClr val="accent2"/>
            </a:solidFill>
            <a:prstDash val="dash"/>
          </a:ln>
        </p:spPr>
      </p:sp>
      <p:sp>
        <p:nvSpPr>
          <p:cNvPr id="29" name="Dreieck 3-3"/>
          <p:cNvSpPr/>
          <p:nvPr/>
        </p:nvSpPr>
        <p:spPr>
          <a:xfrm>
            <a:off x="3300984" y="3529584"/>
            <a:ext cx="566928" cy="566928"/>
          </a:xfrm>
          <a:prstGeom prst="rect">
            <a:avLst/>
          </a:prstGeom>
          <a:solidFill>
            <a:srgbClr val="FFF2CC"/>
          </a:solidFill>
          <a:ln w="19050">
            <a:solidFill>
              <a:schemeClr val="accent2"/>
            </a:solidFill>
            <a:prstDash val="dash"/>
          </a:ln>
        </p:spPr>
      </p:sp>
      <p:sp>
        <p:nvSpPr>
          <p:cNvPr id="30" name="Dreieck 3-4"/>
          <p:cNvSpPr/>
          <p:nvPr/>
        </p:nvSpPr>
        <p:spPr>
          <a:xfrm>
            <a:off x="3867912" y="3529584"/>
            <a:ext cx="566928" cy="566928"/>
          </a:xfrm>
          <a:prstGeom prst="rect">
            <a:avLst/>
          </a:prstGeom>
          <a:solidFill>
            <a:srgbClr val="FFF2CC"/>
          </a:solidFill>
          <a:ln w="19050">
            <a:solidFill>
              <a:schemeClr val="accent2"/>
            </a:solidFill>
            <a:prstDash val="dash"/>
          </a:ln>
        </p:spPr>
      </p:sp>
      <p:sp>
        <p:nvSpPr>
          <p:cNvPr id="31" name="Text 29"/>
          <p:cNvSpPr txBox="1"/>
          <p:nvPr/>
        </p:nvSpPr>
        <p:spPr>
          <a:xfrm>
            <a:off x="4572000" y="3529584"/>
            <a:ext cx="457200" cy="566928"/>
          </a:xfrm>
          <a:prstGeom prst="rect">
            <a:avLst/>
          </a:prstGeom>
          <a:noFill/>
          <a:ln/>
        </p:spPr>
        <p:txBody>
          <a:bodyPr wrap="square" lIns="0" tIns="0" rIns="0" bIns="0" rtlCol="0" anchor="ctr"/>
          <a:lstStyle/>
          <a:p>
            <a:pPr indent="0" marL="0">
              <a:buNone/>
            </a:pPr>
            <a:r>
              <a:rPr lang="en-US" sz="1800" b="1" dirty="0">
                <a:solidFill>
                  <a:schemeClr val="accent1"/>
                </a:solidFill>
              </a:rPr>
              <a:t>1</a:t>
            </a:r>
            <a:endParaRPr lang="en-US" sz="1800" dirty="0"/>
          </a:p>
        </p:txBody>
      </p:sp>
      <p:sp>
        <p:nvSpPr>
          <p:cNvPr id="32" name="Text 30"/>
          <p:cNvSpPr txBox="1"/>
          <p:nvPr/>
        </p:nvSpPr>
        <p:spPr>
          <a:xfrm>
            <a:off x="4480560" y="4142232"/>
            <a:ext cx="914400" cy="365760"/>
          </a:xfrm>
          <a:prstGeom prst="rect">
            <a:avLst/>
          </a:prstGeom>
          <a:noFill/>
          <a:ln/>
        </p:spPr>
        <p:txBody>
          <a:bodyPr wrap="square" lIns="0" tIns="0" rIns="0" bIns="0" rtlCol="0" anchor="t"/>
          <a:lstStyle/>
          <a:p>
            <a:pPr indent="0" marL="0">
              <a:buNone/>
            </a:pPr>
            <a:r>
              <a:rPr lang="en-US" sz="2000" b="1" dirty="0">
                <a:solidFill>
                  <a:schemeClr val="accent2"/>
                </a:solidFill>
              </a:rPr>
              <a:t>= 10</a:t>
            </a:r>
            <a:endParaRPr lang="en-US" sz="2000" dirty="0"/>
          </a:p>
        </p:txBody>
      </p:sp>
      <p:sp>
        <p:nvSpPr>
          <p:cNvPr id="33" name="Text 31"/>
          <p:cNvSpPr txBox="1"/>
          <p:nvPr/>
        </p:nvSpPr>
        <p:spPr>
          <a:xfrm>
            <a:off x="548640" y="4343400"/>
            <a:ext cx="5486400" cy="685800"/>
          </a:xfrm>
          <a:prstGeom prst="rect">
            <a:avLst/>
          </a:prstGeom>
          <a:noFill/>
          <a:ln/>
        </p:spPr>
        <p:txBody>
          <a:bodyPr wrap="square" lIns="0" tIns="0" rIns="0" bIns="0" rtlCol="0" anchor="t"/>
          <a:lstStyle/>
          <a:p>
            <a:pPr indent="0" marL="0">
              <a:buNone/>
            </a:pPr>
            <a:r>
              <a:rPr lang="en-US" sz="1600" b="1" dirty="0">
                <a:solidFill>
                  <a:schemeClr val="tx1"/>
                </a:solidFill>
              </a:rPr>
              <a:t>Blau + Gold = Rechteck 4 × 5 = 20</a:t>
            </a:r>
            <a:endParaRPr lang="en-US" sz="1600" dirty="0"/>
          </a:p>
          <a:p>
            <a:pPr indent="0" marL="0">
              <a:buNone/>
            </a:pPr>
            <a:r>
              <a:rPr lang="en-US" sz="1600" dirty="0">
                <a:solidFill>
                  <a:schemeClr val="tx1"/>
                </a:solidFill>
              </a:rPr>
              <a:t>Blau ist genau die Hälfte: 20 / 2 = 10</a:t>
            </a:r>
            <a:endParaRPr lang="en-US" sz="1600" dirty="0"/>
          </a:p>
        </p:txBody>
      </p:sp>
      <p:sp>
        <p:nvSpPr>
          <p:cNvPr id="34" name="Formel"/>
          <p:cNvSpPr/>
          <p:nvPr/>
        </p:nvSpPr>
        <p:spPr>
          <a:xfrm>
            <a:off x="6675120" y="1325880"/>
            <a:ext cx="4937760" cy="2240280"/>
          </a:xfrm>
          <a:prstGeom prst="roundRect">
            <a:avLst>
              <a:gd name="adj" fmla="val 4898"/>
            </a:avLst>
          </a:prstGeom>
          <a:solidFill>
            <a:schemeClr val="accent1"/>
          </a:solidFill>
          <a:ln/>
          <a:effectLst>
            <a:outerShdw sx="100000" sy="100000" kx="0" ky="0" algn="bl" rotWithShape="0" blurRad="76200" dist="25400" dir="5400000">
              <a:srgbClr val="000000">
                <a:alpha val="18000"/>
              </a:srgbClr>
            </a:outerShdw>
          </a:effectLst>
        </p:spPr>
      </p:sp>
      <p:sp>
        <p:nvSpPr>
          <p:cNvPr id="35" name="Text 33"/>
          <p:cNvSpPr txBox="1"/>
          <p:nvPr/>
        </p:nvSpPr>
        <p:spPr>
          <a:xfrm>
            <a:off x="6903720" y="1463040"/>
            <a:ext cx="4572000" cy="1188720"/>
          </a:xfrm>
          <a:prstGeom prst="rect">
            <a:avLst/>
          </a:prstGeom>
          <a:noFill/>
          <a:ln/>
        </p:spPr>
        <p:txBody>
          <a:bodyPr wrap="square" lIns="0" tIns="0" rIns="0" bIns="0" rtlCol="0" anchor="ctr"/>
          <a:lstStyle/>
          <a:p>
            <a:pPr indent="0" marL="0">
              <a:buNone/>
            </a:pPr>
            <a:r>
              <a:rPr lang="en-US" sz="2200" dirty="0">
                <a:solidFill>
                  <a:schemeClr val="bg1"/>
                </a:solidFill>
              </a:rPr>
              <a:t>(n − 1) + (n − 2) + … + 1</a:t>
            </a:r>
            <a:endParaRPr lang="en-US" sz="1800" dirty="0"/>
          </a:p>
          <a:p>
            <a:pPr indent="0" marL="0">
              <a:buNone/>
            </a:pPr>
            <a:r>
              <a:rPr lang="en-US" sz="3200" b="1" dirty="0">
                <a:solidFill>
                  <a:schemeClr val="accent2"/>
                </a:solidFill>
              </a:rPr>
              <a:t>= n · (n − 1) / 2</a:t>
            </a:r>
            <a:endParaRPr lang="en-US" sz="1800" dirty="0"/>
          </a:p>
        </p:txBody>
      </p:sp>
      <p:sp>
        <p:nvSpPr>
          <p:cNvPr id="36" name="Text 34"/>
          <p:cNvSpPr txBox="1"/>
          <p:nvPr/>
        </p:nvSpPr>
        <p:spPr>
          <a:xfrm>
            <a:off x="6903720" y="2697480"/>
            <a:ext cx="4572000" cy="777240"/>
          </a:xfrm>
          <a:prstGeom prst="rect">
            <a:avLst/>
          </a:prstGeom>
          <a:noFill/>
          <a:ln/>
        </p:spPr>
        <p:txBody>
          <a:bodyPr wrap="square" lIns="0" tIns="0" rIns="0" bIns="0" rtlCol="0" anchor="ctr"/>
          <a:lstStyle/>
          <a:p>
            <a:pPr indent="0" marL="0">
              <a:buNone/>
            </a:pPr>
            <a:r>
              <a:rPr lang="en-US" sz="1800" b="1" dirty="0">
                <a:solidFill>
                  <a:schemeClr val="bg2"/>
                </a:solidFill>
              </a:rPr>
              <a:t>n = 5 → 10    n = 40 → 780</a:t>
            </a:r>
            <a:endParaRPr lang="en-US" sz="1800" dirty="0"/>
          </a:p>
          <a:p>
            <a:pPr indent="0" marL="0">
              <a:buNone/>
            </a:pPr>
            <a:r>
              <a:rPr lang="en-US" sz="1800" b="1" dirty="0">
                <a:solidFill>
                  <a:schemeClr val="bg2"/>
                </a:solidFill>
              </a:rPr>
              <a:t>n = 100 → 4 950</a:t>
            </a:r>
            <a:endParaRPr lang="en-US" sz="1800" dirty="0"/>
          </a:p>
        </p:txBody>
      </p:sp>
      <p:graphicFrame>
        <p:nvGraphicFramePr>
          <p:cNvPr id="16" name="Bester schlechtester Fall"/>
          <p:cNvGraphicFramePr>
            <a:graphicFrameLocks noGrp="1"/>
          </p:cNvGraphicFramePr>
          <p:nvPr>
            <p:extLst>
              <p:ext uri="{D42A27DB-BD31-4B8C-83A1-F6EECF244321}">
                <p14:modId xmlns:p14="http://schemas.microsoft.com/office/powerpoint/2010/main" val="1579011935"/>
              </p:ext>
            </p:extLst>
          </p:nvPr>
        </p:nvGraphicFramePr>
        <p:xfrm>
          <a:off x="6675120" y="3749040"/>
          <a:ext cx="4937760" cy="914400"/>
        </p:xfrm>
        <a:graphic>
          <a:graphicData uri="http://schemas.openxmlformats.org/drawingml/2006/table">
            <a:tbl>
              <a:tblPr/>
              <a:tblGrid>
                <a:gridCol w="1188720"/>
                <a:gridCol w="1691640"/>
                <a:gridCol w="2057400"/>
              </a:tblGrid>
              <a:tr h="438912">
                <a:tc>
                  <a:txBody>
                    <a:bodyPr/>
                    <a:lstStyle/>
                    <a:p>
                      <a:pPr algn="ctr" indent="0" marL="0">
                        <a:buNone/>
                      </a:pPr>
                      <a:r>
                        <a:rPr lang="en-US" sz="1700" b="1" dirty="0">
                          <a:solidFill>
                            <a:schemeClr val="bg1"/>
                          </a:solidFill>
                          <a:latin typeface="Calibri" pitchFamily="34" charset="0"/>
                          <a:ea typeface="Calibri" pitchFamily="34" charset="-122"/>
                          <a:cs typeface="Calibri" pitchFamily="34" charset="-120"/>
                        </a:rPr>
                        <a:t>Verfahren</a:t>
                      </a:r>
                      <a:endParaRPr lang="en-US" sz="17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700" b="1" dirty="0">
                          <a:solidFill>
                            <a:schemeClr val="bg1"/>
                          </a:solidFill>
                          <a:latin typeface="Calibri" pitchFamily="34" charset="0"/>
                          <a:ea typeface="Calibri" pitchFamily="34" charset="-122"/>
                          <a:cs typeface="Calibri" pitchFamily="34" charset="-120"/>
                        </a:rPr>
                        <a:t>bester Fall</a:t>
                      </a:r>
                      <a:endParaRPr lang="en-US" sz="17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700" b="1" dirty="0">
                          <a:solidFill>
                            <a:schemeClr val="bg1"/>
                          </a:solidFill>
                          <a:latin typeface="Calibri" pitchFamily="34" charset="0"/>
                          <a:ea typeface="Calibri" pitchFamily="34" charset="-122"/>
                          <a:cs typeface="Calibri" pitchFamily="34" charset="-120"/>
                        </a:rPr>
                        <a:t>schlechtester Fall</a:t>
                      </a:r>
                      <a:endParaRPr lang="en-US" sz="1700" dirty="0">
                        <a:latin typeface="Calibri" charset="0"/>
                        <a:ea typeface="Calibri" charset="0"/>
                        <a:cs typeface="Calibri" charset="0"/>
                      </a:endParaRPr>
                    </a:p>
                  </a:txBody>
                  <a:tcPr marL="91440" marR="91440"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38912">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Selection</a:t>
                      </a:r>
                      <a:endParaRPr lang="en-US" sz="1600" dirty="0">
                        <a:latin typeface="Calibri" charset="0"/>
                        <a:ea typeface="Calibri" charset="0"/>
                        <a:cs typeface="Calibri" charset="0"/>
                      </a:endParaRPr>
                    </a:p>
                  </a:txBody>
                  <a:tcPr marL="54864" marR="54864"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n(n − 1)/2</a:t>
                      </a:r>
                      <a:endParaRPr lang="en-US" sz="1600" dirty="0">
                        <a:latin typeface="Calibri" charset="0"/>
                        <a:ea typeface="Calibri" charset="0"/>
                        <a:cs typeface="Calibri" charset="0"/>
                      </a:endParaRPr>
                    </a:p>
                  </a:txBody>
                  <a:tcPr marL="54864" marR="54864"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latin typeface="Calibri" pitchFamily="34" charset="0"/>
                          <a:ea typeface="Calibri" pitchFamily="34" charset="-122"/>
                          <a:cs typeface="Calibri" pitchFamily="34" charset="-120"/>
                        </a:rPr>
                        <a:t>n(n − 1)/2</a:t>
                      </a:r>
                      <a:endParaRPr lang="en-US" sz="1600" dirty="0">
                        <a:latin typeface="Calibri" charset="0"/>
                        <a:ea typeface="Calibri" charset="0"/>
                        <a:cs typeface="Calibri" charset="0"/>
                      </a:endParaRPr>
                    </a:p>
                  </a:txBody>
                  <a:tcPr marL="54864" marR="54864"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Insertion</a:t>
                      </a:r>
                      <a:endParaRPr lang="en-US" sz="1600" dirty="0">
                        <a:latin typeface="Calibri" charset="0"/>
                        <a:ea typeface="Calibri" charset="0"/>
                        <a:cs typeface="Calibri" charset="0"/>
                      </a:endParaRPr>
                    </a:p>
                  </a:txBody>
                  <a:tcPr marL="54864" marR="54864"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n − 1  (sortiert)</a:t>
                      </a:r>
                      <a:endParaRPr lang="en-US" sz="1600" dirty="0">
                        <a:latin typeface="Calibri" charset="0"/>
                        <a:ea typeface="Calibri" charset="0"/>
                        <a:cs typeface="Calibri" charset="0"/>
                      </a:endParaRPr>
                    </a:p>
                  </a:txBody>
                  <a:tcPr marL="54864" marR="54864"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n(n − 1)/2  (umgekehrt)</a:t>
                      </a:r>
                      <a:endParaRPr lang="en-US" sz="1600" dirty="0">
                        <a:latin typeface="Calibri" charset="0"/>
                        <a:ea typeface="Calibri" charset="0"/>
                        <a:cs typeface="Calibri" charset="0"/>
                      </a:endParaRPr>
                    </a:p>
                  </a:txBody>
                  <a:tcPr marL="54864" marR="54864"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38912">
                <a:tc>
                  <a:txBody>
                    <a:bodyPr/>
                    <a:lstStyle/>
                    <a:p>
                      <a:pPr indent="0" marL="0">
                        <a:buNone/>
                      </a:pPr>
                      <a:r>
                        <a:rPr lang="en-US" sz="1600" b="1" dirty="0">
                          <a:solidFill>
                            <a:schemeClr val="accent1"/>
                          </a:solidFill>
                          <a:latin typeface="Calibri" pitchFamily="34" charset="0"/>
                          <a:ea typeface="Calibri" pitchFamily="34" charset="-122"/>
                          <a:cs typeface="Calibri" pitchFamily="34" charset="-120"/>
                        </a:rPr>
                        <a:t>Bubble</a:t>
                      </a:r>
                      <a:endParaRPr lang="en-US" sz="1600" dirty="0">
                        <a:latin typeface="Calibri" charset="0"/>
                        <a:ea typeface="Calibri" charset="0"/>
                        <a:cs typeface="Calibri" charset="0"/>
                      </a:endParaRPr>
                    </a:p>
                  </a:txBody>
                  <a:tcPr marL="54864" marR="54864"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3"/>
                          </a:solidFill>
                          <a:latin typeface="Calibri" pitchFamily="34" charset="0"/>
                          <a:ea typeface="Calibri" pitchFamily="34" charset="-122"/>
                          <a:cs typeface="Calibri" pitchFamily="34" charset="-120"/>
                        </a:rPr>
                        <a:t>n − 1  (sortiert)</a:t>
                      </a:r>
                      <a:endParaRPr lang="en-US" sz="1600" dirty="0">
                        <a:latin typeface="Calibri" charset="0"/>
                        <a:ea typeface="Calibri" charset="0"/>
                        <a:cs typeface="Calibri" charset="0"/>
                      </a:endParaRPr>
                    </a:p>
                  </a:txBody>
                  <a:tcPr marL="54864" marR="54864"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4"/>
                          </a:solidFill>
                          <a:latin typeface="Calibri" pitchFamily="34" charset="0"/>
                          <a:ea typeface="Calibri" pitchFamily="34" charset="-122"/>
                          <a:cs typeface="Calibri" pitchFamily="34" charset="-120"/>
                        </a:rPr>
                        <a:t>n(n − 1)/2  (umgekehrt)</a:t>
                      </a:r>
                      <a:endParaRPr lang="en-US" sz="1600" dirty="0">
                        <a:latin typeface="Calibri" charset="0"/>
                        <a:ea typeface="Calibri" charset="0"/>
                        <a:cs typeface="Calibri" charset="0"/>
                      </a:endParaRPr>
                    </a:p>
                  </a:txBody>
                  <a:tcPr marL="54864" marR="54864"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38" name="Achtung worst case"/>
          <p:cNvSpPr/>
          <p:nvPr/>
        </p:nvSpPr>
        <p:spPr>
          <a:xfrm>
            <a:off x="548640" y="5212080"/>
            <a:ext cx="5852160" cy="914400"/>
          </a:xfrm>
          <a:prstGeom prst="roundRect">
            <a:avLst>
              <a:gd name="adj" fmla="val 12000"/>
            </a:avLst>
          </a:prstGeom>
          <a:solidFill>
            <a:schemeClr val="bg1"/>
          </a:solidFill>
          <a:ln w="25400">
            <a:solidFill>
              <a:schemeClr val="accent4"/>
            </a:solidFill>
            <a:prstDash val="solid"/>
          </a:ln>
        </p:spPr>
      </p:sp>
      <p:sp>
        <p:nvSpPr>
          <p:cNvPr id="39" name="Text 36"/>
          <p:cNvSpPr txBox="1"/>
          <p:nvPr/>
        </p:nvSpPr>
        <p:spPr>
          <a:xfrm>
            <a:off x="749808" y="5212080"/>
            <a:ext cx="5486400" cy="914400"/>
          </a:xfrm>
          <a:prstGeom prst="rect">
            <a:avLst/>
          </a:prstGeom>
          <a:noFill/>
          <a:ln/>
        </p:spPr>
        <p:txBody>
          <a:bodyPr wrap="square" lIns="0" tIns="0" rIns="0" bIns="0" rtlCol="0" anchor="ctr"/>
          <a:lstStyle/>
          <a:p>
            <a:pPr indent="0" marL="0">
              <a:buNone/>
            </a:pPr>
            <a:r>
              <a:rPr lang="en-US" sz="1600" b="1" dirty="0">
                <a:solidFill>
                  <a:schemeClr val="accent4"/>
                </a:solidFill>
              </a:rPr>
              <a:t>Achtung Abi: </a:t>
            </a:r>
            <a:pPr indent="0" marL="0">
              <a:buNone/>
            </a:pPr>
            <a:r>
              <a:rPr lang="en-US" sz="1600" dirty="0">
                <a:solidFill>
                  <a:schemeClr val="tx1"/>
                </a:solidFill>
              </a:rPr>
              <a:t>Zum schlechtesten Fall immer eine konkrete Eingabe angeben, z. B. „aufsteigend sortiert“.</a:t>
            </a:r>
            <a:endParaRPr lang="en-US" sz="16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Doppelt so viele Einträge – viermal so viel Arbeit</a:t>
            </a:r>
            <a:endParaRPr lang="en-US" sz="3600" dirty="0"/>
          </a:p>
        </p:txBody>
      </p:sp>
      <p:graphicFrame>
        <p:nvGraphicFramePr>
          <p:cNvPr id="3" name="Diagramm Verdopplung" descr=""/>
          <p:cNvGraphicFramePr/>
          <p:nvPr/>
        </p:nvGraphicFramePr>
        <p:xfrm>
          <a:off x="548640" y="1280160"/>
          <a:ext cx="6766560" cy="3886200"/>
        </p:xfrm>
        <a:graphic xmlns:a="http://schemas.openxmlformats.org/drawingml/2006/main">
          <a:graphicData uri="http://schemas.openxmlformats.org/drawingml/2006/chart">
            <c:chart xmlns:c="http://schemas.openxmlformats.org/drawingml/2006/chart" r:id="rId1"/>
          </a:graphicData>
        </a:graphic>
      </p:graphicFrame>
      <p:sp>
        <p:nvSpPr>
          <p:cNvPr id="4" name="Faktor schlechtester Fall"/>
          <p:cNvSpPr/>
          <p:nvPr/>
        </p:nvSpPr>
        <p:spPr>
          <a:xfrm>
            <a:off x="7635240" y="1325880"/>
            <a:ext cx="3977640" cy="1143000"/>
          </a:xfrm>
          <a:prstGeom prst="roundRect">
            <a:avLst>
              <a:gd name="adj" fmla="val 9600"/>
            </a:avLst>
          </a:prstGeom>
          <a:solidFill>
            <a:schemeClr val="bg1"/>
          </a:solidFill>
          <a:ln/>
          <a:effectLst>
            <a:outerShdw sx="100000" sy="100000" kx="0" ky="0" algn="bl" rotWithShape="0" blurRad="76200" dist="25400" dir="5400000">
              <a:srgbClr val="000000">
                <a:alpha val="18000"/>
              </a:srgbClr>
            </a:outerShdw>
          </a:effectLst>
        </p:spPr>
      </p:sp>
      <p:sp>
        <p:nvSpPr>
          <p:cNvPr id="5" name="Text 2"/>
          <p:cNvSpPr txBox="1"/>
          <p:nvPr/>
        </p:nvSpPr>
        <p:spPr>
          <a:xfrm>
            <a:off x="7772400" y="1325880"/>
            <a:ext cx="1280160" cy="1143000"/>
          </a:xfrm>
          <a:prstGeom prst="rect">
            <a:avLst/>
          </a:prstGeom>
          <a:noFill/>
          <a:ln/>
        </p:spPr>
        <p:txBody>
          <a:bodyPr wrap="square" lIns="0" tIns="0" rIns="0" bIns="0" rtlCol="0" anchor="ctr"/>
          <a:lstStyle/>
          <a:p>
            <a:pPr algn="ctr" indent="0" marL="0">
              <a:buNone/>
            </a:pPr>
            <a:r>
              <a:rPr lang="en-US" sz="3600" b="1" dirty="0">
                <a:solidFill>
                  <a:schemeClr val="accent1"/>
                </a:solidFill>
              </a:rPr>
              <a:t>× 4</a:t>
            </a:r>
            <a:endParaRPr lang="en-US" sz="3600" dirty="0"/>
          </a:p>
        </p:txBody>
      </p:sp>
      <p:sp>
        <p:nvSpPr>
          <p:cNvPr id="6" name="Text 3"/>
          <p:cNvSpPr txBox="1"/>
          <p:nvPr/>
        </p:nvSpPr>
        <p:spPr>
          <a:xfrm>
            <a:off x="9098280" y="1325880"/>
            <a:ext cx="2423160" cy="1143000"/>
          </a:xfrm>
          <a:prstGeom prst="rect">
            <a:avLst/>
          </a:prstGeom>
          <a:noFill/>
          <a:ln/>
        </p:spPr>
        <p:txBody>
          <a:bodyPr wrap="square" lIns="0" tIns="0" rIns="0" bIns="0" rtlCol="0" anchor="ctr"/>
          <a:lstStyle/>
          <a:p>
            <a:pPr indent="0" marL="0">
              <a:buNone/>
            </a:pPr>
            <a:r>
              <a:rPr lang="en-US" sz="1700" b="1" dirty="0">
                <a:solidFill>
                  <a:schemeClr val="accent1"/>
                </a:solidFill>
              </a:rPr>
              <a:t>schlechtester Fall</a:t>
            </a:r>
            <a:endParaRPr lang="en-US" sz="1700" dirty="0"/>
          </a:p>
          <a:p>
            <a:pPr indent="0" marL="0">
              <a:buNone/>
            </a:pPr>
            <a:r>
              <a:rPr lang="en-US" sz="1500" dirty="0">
                <a:solidFill>
                  <a:schemeClr val="tx1"/>
                </a:solidFill>
              </a:rPr>
              <a:t>190 → 780 → 3 160 → 12 720</a:t>
            </a:r>
            <a:endParaRPr lang="en-US" sz="1700" dirty="0"/>
          </a:p>
        </p:txBody>
      </p:sp>
      <p:sp>
        <p:nvSpPr>
          <p:cNvPr id="7" name="Faktor zufällige Daten"/>
          <p:cNvSpPr/>
          <p:nvPr/>
        </p:nvSpPr>
        <p:spPr>
          <a:xfrm>
            <a:off x="7635240" y="2624328"/>
            <a:ext cx="3977640" cy="1143000"/>
          </a:xfrm>
          <a:prstGeom prst="roundRect">
            <a:avLst>
              <a:gd name="adj" fmla="val 9600"/>
            </a:avLst>
          </a:prstGeom>
          <a:solidFill>
            <a:schemeClr val="bg1"/>
          </a:solidFill>
          <a:ln/>
          <a:effectLst>
            <a:outerShdw sx="100000" sy="100000" kx="0" ky="0" algn="bl" rotWithShape="0" blurRad="76200" dist="25400" dir="5400000">
              <a:srgbClr val="000000">
                <a:alpha val="18000"/>
              </a:srgbClr>
            </a:outerShdw>
          </a:effectLst>
        </p:spPr>
      </p:sp>
      <p:sp>
        <p:nvSpPr>
          <p:cNvPr id="8" name="Text 5"/>
          <p:cNvSpPr txBox="1"/>
          <p:nvPr/>
        </p:nvSpPr>
        <p:spPr>
          <a:xfrm>
            <a:off x="7772400" y="2624328"/>
            <a:ext cx="1280160" cy="1143000"/>
          </a:xfrm>
          <a:prstGeom prst="rect">
            <a:avLst/>
          </a:prstGeom>
          <a:noFill/>
          <a:ln/>
        </p:spPr>
        <p:txBody>
          <a:bodyPr wrap="square" lIns="0" tIns="0" rIns="0" bIns="0" rtlCol="0" anchor="ctr"/>
          <a:lstStyle/>
          <a:p>
            <a:pPr algn="ctr" indent="0" marL="0">
              <a:buNone/>
            </a:pPr>
            <a:r>
              <a:rPr lang="en-US" sz="3600" b="1" dirty="0">
                <a:solidFill>
                  <a:schemeClr val="accent2"/>
                </a:solidFill>
              </a:rPr>
              <a:t>× 4</a:t>
            </a:r>
            <a:endParaRPr lang="en-US" sz="3600" dirty="0"/>
          </a:p>
        </p:txBody>
      </p:sp>
      <p:sp>
        <p:nvSpPr>
          <p:cNvPr id="9" name="Text 6"/>
          <p:cNvSpPr txBox="1"/>
          <p:nvPr/>
        </p:nvSpPr>
        <p:spPr>
          <a:xfrm>
            <a:off x="9098280" y="2624328"/>
            <a:ext cx="2423160" cy="1143000"/>
          </a:xfrm>
          <a:prstGeom prst="rect">
            <a:avLst/>
          </a:prstGeom>
          <a:noFill/>
          <a:ln/>
        </p:spPr>
        <p:txBody>
          <a:bodyPr wrap="square" lIns="0" tIns="0" rIns="0" bIns="0" rtlCol="0" anchor="ctr"/>
          <a:lstStyle/>
          <a:p>
            <a:pPr indent="0" marL="0">
              <a:buNone/>
            </a:pPr>
            <a:r>
              <a:rPr lang="en-US" sz="1700" b="1" dirty="0">
                <a:solidFill>
                  <a:schemeClr val="accent1"/>
                </a:solidFill>
              </a:rPr>
              <a:t>zufällige Daten</a:t>
            </a:r>
            <a:endParaRPr lang="en-US" sz="1700" dirty="0"/>
          </a:p>
          <a:p>
            <a:pPr indent="0" marL="0">
              <a:buNone/>
            </a:pPr>
            <a:r>
              <a:rPr lang="en-US" sz="1500" dirty="0">
                <a:solidFill>
                  <a:schemeClr val="tx1"/>
                </a:solidFill>
              </a:rPr>
              <a:t>391 → 1 629 → 6 544</a:t>
            </a:r>
            <a:endParaRPr lang="en-US" sz="1700" dirty="0"/>
          </a:p>
        </p:txBody>
      </p:sp>
      <p:sp>
        <p:nvSpPr>
          <p:cNvPr id="10" name="Faktor bester Fall: n − 1"/>
          <p:cNvSpPr/>
          <p:nvPr/>
        </p:nvSpPr>
        <p:spPr>
          <a:xfrm>
            <a:off x="7635240" y="3922776"/>
            <a:ext cx="3977640" cy="1143000"/>
          </a:xfrm>
          <a:prstGeom prst="roundRect">
            <a:avLst>
              <a:gd name="adj" fmla="val 9600"/>
            </a:avLst>
          </a:prstGeom>
          <a:solidFill>
            <a:schemeClr val="bg1"/>
          </a:solidFill>
          <a:ln/>
          <a:effectLst>
            <a:outerShdw sx="100000" sy="100000" kx="0" ky="0" algn="bl" rotWithShape="0" blurRad="76200" dist="25400" dir="5400000">
              <a:srgbClr val="000000">
                <a:alpha val="18000"/>
              </a:srgbClr>
            </a:outerShdw>
          </a:effectLst>
        </p:spPr>
      </p:sp>
      <p:sp>
        <p:nvSpPr>
          <p:cNvPr id="11" name="Text 8"/>
          <p:cNvSpPr txBox="1"/>
          <p:nvPr/>
        </p:nvSpPr>
        <p:spPr>
          <a:xfrm>
            <a:off x="7772400" y="3922776"/>
            <a:ext cx="1280160" cy="1143000"/>
          </a:xfrm>
          <a:prstGeom prst="rect">
            <a:avLst/>
          </a:prstGeom>
          <a:noFill/>
          <a:ln/>
        </p:spPr>
        <p:txBody>
          <a:bodyPr wrap="square" lIns="0" tIns="0" rIns="0" bIns="0" rtlCol="0" anchor="ctr"/>
          <a:lstStyle/>
          <a:p>
            <a:pPr algn="ctr" indent="0" marL="0">
              <a:buNone/>
            </a:pPr>
            <a:r>
              <a:rPr lang="en-US" sz="3600" b="1" dirty="0">
                <a:solidFill>
                  <a:schemeClr val="accent3"/>
                </a:solidFill>
              </a:rPr>
              <a:t>× 2</a:t>
            </a:r>
            <a:endParaRPr lang="en-US" sz="3600" dirty="0"/>
          </a:p>
        </p:txBody>
      </p:sp>
      <p:sp>
        <p:nvSpPr>
          <p:cNvPr id="12" name="Text 9"/>
          <p:cNvSpPr txBox="1"/>
          <p:nvPr/>
        </p:nvSpPr>
        <p:spPr>
          <a:xfrm>
            <a:off x="9098280" y="3922776"/>
            <a:ext cx="2423160" cy="1143000"/>
          </a:xfrm>
          <a:prstGeom prst="rect">
            <a:avLst/>
          </a:prstGeom>
          <a:noFill/>
          <a:ln/>
        </p:spPr>
        <p:txBody>
          <a:bodyPr wrap="square" lIns="0" tIns="0" rIns="0" bIns="0" rtlCol="0" anchor="ctr"/>
          <a:lstStyle/>
          <a:p>
            <a:pPr indent="0" marL="0">
              <a:buNone/>
            </a:pPr>
            <a:r>
              <a:rPr lang="en-US" sz="1700" b="1" dirty="0">
                <a:solidFill>
                  <a:schemeClr val="accent1"/>
                </a:solidFill>
              </a:rPr>
              <a:t>bester Fall: n − 1</a:t>
            </a:r>
            <a:endParaRPr lang="en-US" sz="1700" dirty="0"/>
          </a:p>
          <a:p>
            <a:pPr indent="0" marL="0">
              <a:buNone/>
            </a:pPr>
            <a:r>
              <a:rPr lang="en-US" sz="1500" dirty="0">
                <a:solidFill>
                  <a:schemeClr val="tx1"/>
                </a:solidFill>
              </a:rPr>
              <a:t>19 → 39 → 79 → 159</a:t>
            </a:r>
            <a:endParaRPr lang="en-US" sz="1700" dirty="0"/>
          </a:p>
        </p:txBody>
      </p:sp>
      <p:sp>
        <p:nvSpPr>
          <p:cNvPr id="13" name="Abi-Formulierung"/>
          <p:cNvSpPr/>
          <p:nvPr/>
        </p:nvSpPr>
        <p:spPr>
          <a:xfrm>
            <a:off x="548640" y="5349240"/>
            <a:ext cx="11064240" cy="777240"/>
          </a:xfrm>
          <a:prstGeom prst="roundRect">
            <a:avLst>
              <a:gd name="adj" fmla="val 14118"/>
            </a:avLst>
          </a:prstGeom>
          <a:solidFill>
            <a:schemeClr val="bg2"/>
          </a:solidFill>
          <a:ln/>
        </p:spPr>
      </p:sp>
      <p:sp>
        <p:nvSpPr>
          <p:cNvPr id="14" name="Text 11"/>
          <p:cNvSpPr txBox="1"/>
          <p:nvPr/>
        </p:nvSpPr>
        <p:spPr>
          <a:xfrm>
            <a:off x="777240" y="5349240"/>
            <a:ext cx="10698480" cy="777240"/>
          </a:xfrm>
          <a:prstGeom prst="rect">
            <a:avLst/>
          </a:prstGeom>
          <a:noFill/>
          <a:ln/>
        </p:spPr>
        <p:txBody>
          <a:bodyPr wrap="square" lIns="0" tIns="0" rIns="0" bIns="0" rtlCol="0" anchor="ctr"/>
          <a:lstStyle/>
          <a:p>
            <a:pPr indent="0" marL="0">
              <a:buNone/>
            </a:pPr>
            <a:r>
              <a:rPr lang="en-US" sz="1700" b="1" dirty="0">
                <a:solidFill>
                  <a:schemeClr val="accent1"/>
                </a:solidFill>
              </a:rPr>
              <a:t>Abi-Formulierung: </a:t>
            </a:r>
            <a:pPr indent="0" marL="0">
              <a:buNone/>
            </a:pPr>
            <a:r>
              <a:rPr lang="en-US" sz="1700" dirty="0">
                <a:solidFill>
                  <a:schemeClr val="tx1"/>
                </a:solidFill>
              </a:rPr>
              <a:t>Verdoppelt man n, vervierfacht sich die Anzahl der Vergleiche ungefähr, da sie quadratisch von n abhängt.</a:t>
            </a:r>
            <a:endParaRPr lang="en-US" sz="17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Das Sortier-Duell: Wer sortiert am sparsamsten?</a:t>
            </a:r>
            <a:endParaRPr lang="en-US" sz="3600" dirty="0"/>
          </a:p>
        </p:txBody>
      </p:sp>
      <p:sp>
        <p:nvSpPr>
          <p:cNvPr id="3" name="Runde 1"/>
          <p:cNvSpPr/>
          <p:nvPr/>
        </p:nvSpPr>
        <p:spPr>
          <a:xfrm>
            <a:off x="548640" y="1325880"/>
            <a:ext cx="2615184" cy="1874520"/>
          </a:xfrm>
          <a:prstGeom prst="roundRect">
            <a:avLst>
              <a:gd name="adj" fmla="val 5854"/>
            </a:avLst>
          </a:prstGeom>
          <a:solidFill>
            <a:schemeClr val="bg1"/>
          </a:solidFill>
          <a:ln/>
          <a:effectLst>
            <a:outerShdw sx="100000" sy="100000" kx="0" ky="0" algn="bl" rotWithShape="0" blurRad="76200" dist="25400" dir="5400000">
              <a:srgbClr val="000000">
                <a:alpha val="18000"/>
              </a:srgbClr>
            </a:outerShdw>
          </a:effectLst>
        </p:spPr>
      </p:sp>
      <p:sp>
        <p:nvSpPr>
          <p:cNvPr id="4" name="Text 2"/>
          <p:cNvSpPr txBox="1"/>
          <p:nvPr/>
        </p:nvSpPr>
        <p:spPr>
          <a:xfrm>
            <a:off x="685800" y="1417320"/>
            <a:ext cx="2340864" cy="329184"/>
          </a:xfrm>
          <a:prstGeom prst="rect">
            <a:avLst/>
          </a:prstGeom>
          <a:noFill/>
          <a:ln/>
        </p:spPr>
        <p:txBody>
          <a:bodyPr wrap="square" lIns="0" tIns="0" rIns="0" bIns="0" rtlCol="0" anchor="t"/>
          <a:lstStyle/>
          <a:p>
            <a:pPr indent="0" marL="0">
              <a:buNone/>
            </a:pPr>
            <a:r>
              <a:rPr lang="en-US" sz="1600" b="1" dirty="0">
                <a:solidFill>
                  <a:schemeClr val="accent6"/>
                </a:solidFill>
              </a:rPr>
              <a:t>Runde 1 · </a:t>
            </a:r>
            <a:pPr indent="0" marL="0">
              <a:buNone/>
            </a:pPr>
            <a:r>
              <a:rPr lang="en-US" sz="1600" b="1" dirty="0">
                <a:solidFill>
                  <a:schemeClr val="accent1"/>
                </a:solidFill>
              </a:rPr>
              <a:t>zufall</a:t>
            </a:r>
            <a:endParaRPr lang="en-US" sz="1600" dirty="0"/>
          </a:p>
        </p:txBody>
      </p:sp>
      <p:sp>
        <p:nvSpPr>
          <p:cNvPr id="5" name="zufall Balken 0"/>
          <p:cNvSpPr/>
          <p:nvPr/>
        </p:nvSpPr>
        <p:spPr>
          <a:xfrm>
            <a:off x="731520" y="2245766"/>
            <a:ext cx="40490" cy="790042"/>
          </a:xfrm>
          <a:prstGeom prst="rect">
            <a:avLst/>
          </a:prstGeom>
          <a:solidFill>
            <a:schemeClr val="accent1"/>
          </a:solidFill>
          <a:ln/>
        </p:spPr>
      </p:sp>
      <p:sp>
        <p:nvSpPr>
          <p:cNvPr id="6" name="zufall Balken 1"/>
          <p:cNvSpPr/>
          <p:nvPr/>
        </p:nvSpPr>
        <p:spPr>
          <a:xfrm>
            <a:off x="787756" y="2667945"/>
            <a:ext cx="40490" cy="367863"/>
          </a:xfrm>
          <a:prstGeom prst="rect">
            <a:avLst/>
          </a:prstGeom>
          <a:solidFill>
            <a:schemeClr val="accent1"/>
          </a:solidFill>
          <a:ln/>
        </p:spPr>
      </p:sp>
      <p:sp>
        <p:nvSpPr>
          <p:cNvPr id="7" name="zufall Balken 2"/>
          <p:cNvSpPr/>
          <p:nvPr/>
        </p:nvSpPr>
        <p:spPr>
          <a:xfrm>
            <a:off x="843991" y="1891482"/>
            <a:ext cx="40490" cy="1144326"/>
          </a:xfrm>
          <a:prstGeom prst="rect">
            <a:avLst/>
          </a:prstGeom>
          <a:solidFill>
            <a:schemeClr val="accent1"/>
          </a:solidFill>
          <a:ln/>
        </p:spPr>
      </p:sp>
      <p:sp>
        <p:nvSpPr>
          <p:cNvPr id="8" name="zufall Balken 3"/>
          <p:cNvSpPr/>
          <p:nvPr/>
        </p:nvSpPr>
        <p:spPr>
          <a:xfrm>
            <a:off x="900227" y="2240829"/>
            <a:ext cx="40490" cy="794979"/>
          </a:xfrm>
          <a:prstGeom prst="rect">
            <a:avLst/>
          </a:prstGeom>
          <a:solidFill>
            <a:schemeClr val="accent1"/>
          </a:solidFill>
          <a:ln/>
        </p:spPr>
      </p:sp>
      <p:sp>
        <p:nvSpPr>
          <p:cNvPr id="9" name="zufall Balken 4"/>
          <p:cNvSpPr/>
          <p:nvPr/>
        </p:nvSpPr>
        <p:spPr>
          <a:xfrm>
            <a:off x="956462" y="2811140"/>
            <a:ext cx="40490" cy="224668"/>
          </a:xfrm>
          <a:prstGeom prst="rect">
            <a:avLst/>
          </a:prstGeom>
          <a:solidFill>
            <a:schemeClr val="accent1"/>
          </a:solidFill>
          <a:ln/>
        </p:spPr>
      </p:sp>
      <p:sp>
        <p:nvSpPr>
          <p:cNvPr id="10" name="zufall Balken 5"/>
          <p:cNvSpPr/>
          <p:nvPr/>
        </p:nvSpPr>
        <p:spPr>
          <a:xfrm>
            <a:off x="1012698" y="2648194"/>
            <a:ext cx="40490" cy="387614"/>
          </a:xfrm>
          <a:prstGeom prst="rect">
            <a:avLst/>
          </a:prstGeom>
          <a:solidFill>
            <a:schemeClr val="accent1"/>
          </a:solidFill>
          <a:ln/>
        </p:spPr>
      </p:sp>
      <p:sp>
        <p:nvSpPr>
          <p:cNvPr id="11" name="zufall Balken 6"/>
          <p:cNvSpPr/>
          <p:nvPr/>
        </p:nvSpPr>
        <p:spPr>
          <a:xfrm>
            <a:off x="1068934" y="2688930"/>
            <a:ext cx="40490" cy="346878"/>
          </a:xfrm>
          <a:prstGeom prst="rect">
            <a:avLst/>
          </a:prstGeom>
          <a:solidFill>
            <a:schemeClr val="accent1"/>
          </a:solidFill>
          <a:ln/>
        </p:spPr>
      </p:sp>
      <p:sp>
        <p:nvSpPr>
          <p:cNvPr id="12" name="zufall Balken 7"/>
          <p:cNvSpPr/>
          <p:nvPr/>
        </p:nvSpPr>
        <p:spPr>
          <a:xfrm>
            <a:off x="1125169" y="2759293"/>
            <a:ext cx="40490" cy="276515"/>
          </a:xfrm>
          <a:prstGeom prst="rect">
            <a:avLst/>
          </a:prstGeom>
          <a:solidFill>
            <a:schemeClr val="accent1"/>
          </a:solidFill>
          <a:ln/>
        </p:spPr>
      </p:sp>
      <p:sp>
        <p:nvSpPr>
          <p:cNvPr id="13" name="zufall Balken 8"/>
          <p:cNvSpPr/>
          <p:nvPr/>
        </p:nvSpPr>
        <p:spPr>
          <a:xfrm>
            <a:off x="1181405" y="2284034"/>
            <a:ext cx="40490" cy="751774"/>
          </a:xfrm>
          <a:prstGeom prst="rect">
            <a:avLst/>
          </a:prstGeom>
          <a:solidFill>
            <a:schemeClr val="accent1"/>
          </a:solidFill>
          <a:ln/>
        </p:spPr>
      </p:sp>
      <p:sp>
        <p:nvSpPr>
          <p:cNvPr id="14" name="zufall Balken 9"/>
          <p:cNvSpPr/>
          <p:nvPr/>
        </p:nvSpPr>
        <p:spPr>
          <a:xfrm>
            <a:off x="1237640" y="2224781"/>
            <a:ext cx="40490" cy="811027"/>
          </a:xfrm>
          <a:prstGeom prst="rect">
            <a:avLst/>
          </a:prstGeom>
          <a:solidFill>
            <a:schemeClr val="accent1"/>
          </a:solidFill>
          <a:ln/>
        </p:spPr>
      </p:sp>
      <p:sp>
        <p:nvSpPr>
          <p:cNvPr id="15" name="zufall Balken 10"/>
          <p:cNvSpPr/>
          <p:nvPr/>
        </p:nvSpPr>
        <p:spPr>
          <a:xfrm>
            <a:off x="1293876" y="2080351"/>
            <a:ext cx="40490" cy="955457"/>
          </a:xfrm>
          <a:prstGeom prst="rect">
            <a:avLst/>
          </a:prstGeom>
          <a:solidFill>
            <a:schemeClr val="accent1"/>
          </a:solidFill>
          <a:ln/>
        </p:spPr>
      </p:sp>
      <p:sp>
        <p:nvSpPr>
          <p:cNvPr id="16" name="zufall Balken 11"/>
          <p:cNvSpPr/>
          <p:nvPr/>
        </p:nvSpPr>
        <p:spPr>
          <a:xfrm>
            <a:off x="1350112" y="1829760"/>
            <a:ext cx="40490" cy="1206048"/>
          </a:xfrm>
          <a:prstGeom prst="rect">
            <a:avLst/>
          </a:prstGeom>
          <a:solidFill>
            <a:schemeClr val="accent1"/>
          </a:solidFill>
          <a:ln/>
        </p:spPr>
      </p:sp>
      <p:sp>
        <p:nvSpPr>
          <p:cNvPr id="17" name="zufall Balken 12"/>
          <p:cNvSpPr/>
          <p:nvPr/>
        </p:nvSpPr>
        <p:spPr>
          <a:xfrm>
            <a:off x="1406347" y="2635849"/>
            <a:ext cx="40490" cy="399959"/>
          </a:xfrm>
          <a:prstGeom prst="rect">
            <a:avLst/>
          </a:prstGeom>
          <a:solidFill>
            <a:schemeClr val="accent1"/>
          </a:solidFill>
          <a:ln/>
        </p:spPr>
      </p:sp>
      <p:sp>
        <p:nvSpPr>
          <p:cNvPr id="18" name="zufall Balken 13"/>
          <p:cNvSpPr/>
          <p:nvPr/>
        </p:nvSpPr>
        <p:spPr>
          <a:xfrm>
            <a:off x="1462583" y="2612395"/>
            <a:ext cx="40490" cy="423413"/>
          </a:xfrm>
          <a:prstGeom prst="rect">
            <a:avLst/>
          </a:prstGeom>
          <a:solidFill>
            <a:schemeClr val="accent1"/>
          </a:solidFill>
          <a:ln/>
        </p:spPr>
      </p:sp>
      <p:sp>
        <p:nvSpPr>
          <p:cNvPr id="19" name="zufall Balken 14"/>
          <p:cNvSpPr/>
          <p:nvPr/>
        </p:nvSpPr>
        <p:spPr>
          <a:xfrm>
            <a:off x="1518818" y="2466731"/>
            <a:ext cx="40490" cy="569077"/>
          </a:xfrm>
          <a:prstGeom prst="rect">
            <a:avLst/>
          </a:prstGeom>
          <a:solidFill>
            <a:schemeClr val="accent1"/>
          </a:solidFill>
          <a:ln/>
        </p:spPr>
      </p:sp>
      <p:sp>
        <p:nvSpPr>
          <p:cNvPr id="20" name="zufall Balken 15"/>
          <p:cNvSpPr/>
          <p:nvPr/>
        </p:nvSpPr>
        <p:spPr>
          <a:xfrm>
            <a:off x="1575054" y="2506233"/>
            <a:ext cx="40490" cy="529575"/>
          </a:xfrm>
          <a:prstGeom prst="rect">
            <a:avLst/>
          </a:prstGeom>
          <a:solidFill>
            <a:schemeClr val="accent1"/>
          </a:solidFill>
          <a:ln/>
        </p:spPr>
      </p:sp>
      <p:sp>
        <p:nvSpPr>
          <p:cNvPr id="21" name="zufall Balken 16"/>
          <p:cNvSpPr/>
          <p:nvPr/>
        </p:nvSpPr>
        <p:spPr>
          <a:xfrm>
            <a:off x="1631290" y="2105040"/>
            <a:ext cx="40490" cy="930768"/>
          </a:xfrm>
          <a:prstGeom prst="rect">
            <a:avLst/>
          </a:prstGeom>
          <a:solidFill>
            <a:schemeClr val="accent1"/>
          </a:solidFill>
          <a:ln/>
        </p:spPr>
      </p:sp>
      <p:sp>
        <p:nvSpPr>
          <p:cNvPr id="22" name="zufall Balken 17"/>
          <p:cNvSpPr/>
          <p:nvPr/>
        </p:nvSpPr>
        <p:spPr>
          <a:xfrm>
            <a:off x="1687525" y="2879034"/>
            <a:ext cx="40490" cy="156774"/>
          </a:xfrm>
          <a:prstGeom prst="rect">
            <a:avLst/>
          </a:prstGeom>
          <a:solidFill>
            <a:schemeClr val="accent1"/>
          </a:solidFill>
          <a:ln/>
        </p:spPr>
      </p:sp>
      <p:sp>
        <p:nvSpPr>
          <p:cNvPr id="23" name="zufall Balken 18"/>
          <p:cNvSpPr/>
          <p:nvPr/>
        </p:nvSpPr>
        <p:spPr>
          <a:xfrm>
            <a:off x="1743761" y="1984065"/>
            <a:ext cx="40490" cy="1051743"/>
          </a:xfrm>
          <a:prstGeom prst="rect">
            <a:avLst/>
          </a:prstGeom>
          <a:solidFill>
            <a:schemeClr val="accent1"/>
          </a:solidFill>
          <a:ln/>
        </p:spPr>
      </p:sp>
      <p:sp>
        <p:nvSpPr>
          <p:cNvPr id="24" name="zufall Balken 19"/>
          <p:cNvSpPr/>
          <p:nvPr/>
        </p:nvSpPr>
        <p:spPr>
          <a:xfrm>
            <a:off x="1799996" y="2700040"/>
            <a:ext cx="40490" cy="335768"/>
          </a:xfrm>
          <a:prstGeom prst="rect">
            <a:avLst/>
          </a:prstGeom>
          <a:solidFill>
            <a:schemeClr val="accent1"/>
          </a:solidFill>
          <a:ln/>
        </p:spPr>
      </p:sp>
      <p:sp>
        <p:nvSpPr>
          <p:cNvPr id="25" name="zufall Balken 20"/>
          <p:cNvSpPr/>
          <p:nvPr/>
        </p:nvSpPr>
        <p:spPr>
          <a:xfrm>
            <a:off x="1856232" y="2787686"/>
            <a:ext cx="40490" cy="248122"/>
          </a:xfrm>
          <a:prstGeom prst="rect">
            <a:avLst/>
          </a:prstGeom>
          <a:solidFill>
            <a:schemeClr val="accent1"/>
          </a:solidFill>
          <a:ln/>
        </p:spPr>
      </p:sp>
      <p:sp>
        <p:nvSpPr>
          <p:cNvPr id="26" name="zufall Balken 21"/>
          <p:cNvSpPr/>
          <p:nvPr/>
        </p:nvSpPr>
        <p:spPr>
          <a:xfrm>
            <a:off x="1912468" y="2602520"/>
            <a:ext cx="40490" cy="433288"/>
          </a:xfrm>
          <a:prstGeom prst="rect">
            <a:avLst/>
          </a:prstGeom>
          <a:solidFill>
            <a:schemeClr val="accent1"/>
          </a:solidFill>
          <a:ln/>
        </p:spPr>
      </p:sp>
      <p:sp>
        <p:nvSpPr>
          <p:cNvPr id="27" name="zufall Balken 22"/>
          <p:cNvSpPr/>
          <p:nvPr/>
        </p:nvSpPr>
        <p:spPr>
          <a:xfrm>
            <a:off x="1968703" y="2097634"/>
            <a:ext cx="40490" cy="938174"/>
          </a:xfrm>
          <a:prstGeom prst="rect">
            <a:avLst/>
          </a:prstGeom>
          <a:solidFill>
            <a:schemeClr val="accent1"/>
          </a:solidFill>
          <a:ln/>
        </p:spPr>
      </p:sp>
      <p:sp>
        <p:nvSpPr>
          <p:cNvPr id="28" name="zufall Balken 23"/>
          <p:cNvSpPr/>
          <p:nvPr/>
        </p:nvSpPr>
        <p:spPr>
          <a:xfrm>
            <a:off x="2024939" y="2766700"/>
            <a:ext cx="40490" cy="269108"/>
          </a:xfrm>
          <a:prstGeom prst="rect">
            <a:avLst/>
          </a:prstGeom>
          <a:solidFill>
            <a:schemeClr val="accent1"/>
          </a:solidFill>
          <a:ln/>
        </p:spPr>
      </p:sp>
      <p:sp>
        <p:nvSpPr>
          <p:cNvPr id="29" name="zufall Balken 24"/>
          <p:cNvSpPr/>
          <p:nvPr/>
        </p:nvSpPr>
        <p:spPr>
          <a:xfrm>
            <a:off x="2081174" y="2164293"/>
            <a:ext cx="40490" cy="871515"/>
          </a:xfrm>
          <a:prstGeom prst="rect">
            <a:avLst/>
          </a:prstGeom>
          <a:solidFill>
            <a:schemeClr val="accent1"/>
          </a:solidFill>
          <a:ln/>
        </p:spPr>
      </p:sp>
      <p:sp>
        <p:nvSpPr>
          <p:cNvPr id="30" name="zufall Balken 25"/>
          <p:cNvSpPr/>
          <p:nvPr/>
        </p:nvSpPr>
        <p:spPr>
          <a:xfrm>
            <a:off x="2137410" y="2035912"/>
            <a:ext cx="40490" cy="999896"/>
          </a:xfrm>
          <a:prstGeom prst="rect">
            <a:avLst/>
          </a:prstGeom>
          <a:solidFill>
            <a:schemeClr val="accent1"/>
          </a:solidFill>
          <a:ln/>
        </p:spPr>
      </p:sp>
      <p:sp>
        <p:nvSpPr>
          <p:cNvPr id="31" name="zufall Balken 26"/>
          <p:cNvSpPr/>
          <p:nvPr/>
        </p:nvSpPr>
        <p:spPr>
          <a:xfrm>
            <a:off x="2193646" y="2839532"/>
            <a:ext cx="40490" cy="196276"/>
          </a:xfrm>
          <a:prstGeom prst="rect">
            <a:avLst/>
          </a:prstGeom>
          <a:solidFill>
            <a:schemeClr val="accent1"/>
          </a:solidFill>
          <a:ln/>
        </p:spPr>
      </p:sp>
      <p:sp>
        <p:nvSpPr>
          <p:cNvPr id="32" name="zufall Balken 27"/>
          <p:cNvSpPr/>
          <p:nvPr/>
        </p:nvSpPr>
        <p:spPr>
          <a:xfrm>
            <a:off x="2249881" y="1979127"/>
            <a:ext cx="40490" cy="1056681"/>
          </a:xfrm>
          <a:prstGeom prst="rect">
            <a:avLst/>
          </a:prstGeom>
          <a:solidFill>
            <a:schemeClr val="accent1"/>
          </a:solidFill>
          <a:ln/>
        </p:spPr>
      </p:sp>
      <p:sp>
        <p:nvSpPr>
          <p:cNvPr id="33" name="zufall Balken 28"/>
          <p:cNvSpPr/>
          <p:nvPr/>
        </p:nvSpPr>
        <p:spPr>
          <a:xfrm>
            <a:off x="2306117" y="1930984"/>
            <a:ext cx="40490" cy="1104824"/>
          </a:xfrm>
          <a:prstGeom prst="rect">
            <a:avLst/>
          </a:prstGeom>
          <a:solidFill>
            <a:schemeClr val="accent1"/>
          </a:solidFill>
          <a:ln/>
        </p:spPr>
      </p:sp>
      <p:sp>
        <p:nvSpPr>
          <p:cNvPr id="34" name="zufall Balken 29"/>
          <p:cNvSpPr/>
          <p:nvPr/>
        </p:nvSpPr>
        <p:spPr>
          <a:xfrm>
            <a:off x="2362352" y="2295144"/>
            <a:ext cx="40490" cy="740664"/>
          </a:xfrm>
          <a:prstGeom prst="rect">
            <a:avLst/>
          </a:prstGeom>
          <a:solidFill>
            <a:schemeClr val="accent1"/>
          </a:solidFill>
          <a:ln/>
        </p:spPr>
      </p:sp>
      <p:sp>
        <p:nvSpPr>
          <p:cNvPr id="35" name="zufall Balken 30"/>
          <p:cNvSpPr/>
          <p:nvPr/>
        </p:nvSpPr>
        <p:spPr>
          <a:xfrm>
            <a:off x="2418588" y="2974086"/>
            <a:ext cx="40490" cy="61722"/>
          </a:xfrm>
          <a:prstGeom prst="rect">
            <a:avLst/>
          </a:prstGeom>
          <a:solidFill>
            <a:schemeClr val="accent1"/>
          </a:solidFill>
          <a:ln/>
        </p:spPr>
      </p:sp>
      <p:sp>
        <p:nvSpPr>
          <p:cNvPr id="36" name="zufall Balken 31"/>
          <p:cNvSpPr/>
          <p:nvPr/>
        </p:nvSpPr>
        <p:spPr>
          <a:xfrm>
            <a:off x="2474824" y="2408712"/>
            <a:ext cx="40490" cy="627096"/>
          </a:xfrm>
          <a:prstGeom prst="rect">
            <a:avLst/>
          </a:prstGeom>
          <a:solidFill>
            <a:schemeClr val="accent1"/>
          </a:solidFill>
          <a:ln/>
        </p:spPr>
      </p:sp>
      <p:sp>
        <p:nvSpPr>
          <p:cNvPr id="37" name="zufall Balken 32"/>
          <p:cNvSpPr/>
          <p:nvPr/>
        </p:nvSpPr>
        <p:spPr>
          <a:xfrm>
            <a:off x="2531059" y="1989003"/>
            <a:ext cx="40490" cy="1046805"/>
          </a:xfrm>
          <a:prstGeom prst="rect">
            <a:avLst/>
          </a:prstGeom>
          <a:solidFill>
            <a:schemeClr val="accent1"/>
          </a:solidFill>
          <a:ln/>
        </p:spPr>
      </p:sp>
      <p:sp>
        <p:nvSpPr>
          <p:cNvPr id="38" name="zufall Balken 33"/>
          <p:cNvSpPr/>
          <p:nvPr/>
        </p:nvSpPr>
        <p:spPr>
          <a:xfrm>
            <a:off x="2587295" y="1818650"/>
            <a:ext cx="40490" cy="1217158"/>
          </a:xfrm>
          <a:prstGeom prst="rect">
            <a:avLst/>
          </a:prstGeom>
          <a:solidFill>
            <a:schemeClr val="accent1"/>
          </a:solidFill>
          <a:ln/>
        </p:spPr>
      </p:sp>
      <p:sp>
        <p:nvSpPr>
          <p:cNvPr id="39" name="zufall Balken 34"/>
          <p:cNvSpPr/>
          <p:nvPr/>
        </p:nvSpPr>
        <p:spPr>
          <a:xfrm>
            <a:off x="2643530" y="2658069"/>
            <a:ext cx="40490" cy="377739"/>
          </a:xfrm>
          <a:prstGeom prst="rect">
            <a:avLst/>
          </a:prstGeom>
          <a:solidFill>
            <a:schemeClr val="accent1"/>
          </a:solidFill>
          <a:ln/>
        </p:spPr>
      </p:sp>
      <p:sp>
        <p:nvSpPr>
          <p:cNvPr id="40" name="zufall Balken 35"/>
          <p:cNvSpPr/>
          <p:nvPr/>
        </p:nvSpPr>
        <p:spPr>
          <a:xfrm>
            <a:off x="2699766" y="2923474"/>
            <a:ext cx="40490" cy="112334"/>
          </a:xfrm>
          <a:prstGeom prst="rect">
            <a:avLst/>
          </a:prstGeom>
          <a:solidFill>
            <a:schemeClr val="accent1"/>
          </a:solidFill>
          <a:ln/>
        </p:spPr>
      </p:sp>
      <p:sp>
        <p:nvSpPr>
          <p:cNvPr id="41" name="zufall Balken 36"/>
          <p:cNvSpPr/>
          <p:nvPr/>
        </p:nvSpPr>
        <p:spPr>
          <a:xfrm>
            <a:off x="2756002" y="1861856"/>
            <a:ext cx="40490" cy="1173952"/>
          </a:xfrm>
          <a:prstGeom prst="rect">
            <a:avLst/>
          </a:prstGeom>
          <a:solidFill>
            <a:schemeClr val="accent1"/>
          </a:solidFill>
          <a:ln/>
        </p:spPr>
      </p:sp>
      <p:sp>
        <p:nvSpPr>
          <p:cNvPr id="42" name="zufall Balken 37"/>
          <p:cNvSpPr/>
          <p:nvPr/>
        </p:nvSpPr>
        <p:spPr>
          <a:xfrm>
            <a:off x="2812237" y="2728432"/>
            <a:ext cx="40490" cy="307376"/>
          </a:xfrm>
          <a:prstGeom prst="rect">
            <a:avLst/>
          </a:prstGeom>
          <a:solidFill>
            <a:schemeClr val="accent1"/>
          </a:solidFill>
          <a:ln/>
        </p:spPr>
      </p:sp>
      <p:sp>
        <p:nvSpPr>
          <p:cNvPr id="43" name="zufall Balken 38"/>
          <p:cNvSpPr/>
          <p:nvPr/>
        </p:nvSpPr>
        <p:spPr>
          <a:xfrm>
            <a:off x="2868473" y="2375383"/>
            <a:ext cx="40490" cy="660425"/>
          </a:xfrm>
          <a:prstGeom prst="rect">
            <a:avLst/>
          </a:prstGeom>
          <a:solidFill>
            <a:schemeClr val="accent1"/>
          </a:solidFill>
          <a:ln/>
        </p:spPr>
      </p:sp>
      <p:sp>
        <p:nvSpPr>
          <p:cNvPr id="44" name="zufall Balken 39"/>
          <p:cNvSpPr/>
          <p:nvPr/>
        </p:nvSpPr>
        <p:spPr>
          <a:xfrm>
            <a:off x="2924708" y="1839636"/>
            <a:ext cx="40490" cy="1196172"/>
          </a:xfrm>
          <a:prstGeom prst="rect">
            <a:avLst/>
          </a:prstGeom>
          <a:solidFill>
            <a:schemeClr val="accent1"/>
          </a:solidFill>
          <a:ln/>
        </p:spPr>
      </p:sp>
      <p:sp>
        <p:nvSpPr>
          <p:cNvPr id="45" name="Runde 2"/>
          <p:cNvSpPr/>
          <p:nvPr/>
        </p:nvSpPr>
        <p:spPr>
          <a:xfrm>
            <a:off x="3364992" y="1325880"/>
            <a:ext cx="2615184" cy="1874520"/>
          </a:xfrm>
          <a:prstGeom prst="roundRect">
            <a:avLst>
              <a:gd name="adj" fmla="val 5854"/>
            </a:avLst>
          </a:prstGeom>
          <a:solidFill>
            <a:schemeClr val="bg1"/>
          </a:solidFill>
          <a:ln/>
          <a:effectLst>
            <a:outerShdw sx="100000" sy="100000" kx="0" ky="0" algn="bl" rotWithShape="0" blurRad="76200" dist="25400" dir="5400000">
              <a:srgbClr val="000000">
                <a:alpha val="18000"/>
              </a:srgbClr>
            </a:outerShdw>
          </a:effectLst>
        </p:spPr>
      </p:sp>
      <p:sp>
        <p:nvSpPr>
          <p:cNvPr id="46" name="Text 44"/>
          <p:cNvSpPr txBox="1"/>
          <p:nvPr/>
        </p:nvSpPr>
        <p:spPr>
          <a:xfrm>
            <a:off x="3502152" y="1417320"/>
            <a:ext cx="2340864" cy="329184"/>
          </a:xfrm>
          <a:prstGeom prst="rect">
            <a:avLst/>
          </a:prstGeom>
          <a:noFill/>
          <a:ln/>
        </p:spPr>
        <p:txBody>
          <a:bodyPr wrap="square" lIns="0" tIns="0" rIns="0" bIns="0" rtlCol="0" anchor="t"/>
          <a:lstStyle/>
          <a:p>
            <a:pPr indent="0" marL="0">
              <a:buNone/>
            </a:pPr>
            <a:r>
              <a:rPr lang="en-US" sz="1600" b="1" dirty="0">
                <a:solidFill>
                  <a:schemeClr val="accent6"/>
                </a:solidFill>
              </a:rPr>
              <a:t>Runde 2 · </a:t>
            </a:r>
            <a:pPr indent="0" marL="0">
              <a:buNone/>
            </a:pPr>
            <a:r>
              <a:rPr lang="en-US" sz="1600" b="1" dirty="0">
                <a:solidFill>
                  <a:schemeClr val="accent1"/>
                </a:solidFill>
              </a:rPr>
              <a:t>fast sortiert</a:t>
            </a:r>
            <a:endParaRPr lang="en-US" sz="1600" dirty="0"/>
          </a:p>
        </p:txBody>
      </p:sp>
      <p:sp>
        <p:nvSpPr>
          <p:cNvPr id="47" name="fast sortiert Balken 0"/>
          <p:cNvSpPr/>
          <p:nvPr/>
        </p:nvSpPr>
        <p:spPr>
          <a:xfrm>
            <a:off x="3547872" y="3004947"/>
            <a:ext cx="40490" cy="30861"/>
          </a:xfrm>
          <a:prstGeom prst="rect">
            <a:avLst/>
          </a:prstGeom>
          <a:solidFill>
            <a:schemeClr val="accent1"/>
          </a:solidFill>
          <a:ln/>
        </p:spPr>
      </p:sp>
      <p:sp>
        <p:nvSpPr>
          <p:cNvPr id="48" name="fast sortiert Balken 1"/>
          <p:cNvSpPr/>
          <p:nvPr/>
        </p:nvSpPr>
        <p:spPr>
          <a:xfrm>
            <a:off x="3604108" y="2974086"/>
            <a:ext cx="40490" cy="61722"/>
          </a:xfrm>
          <a:prstGeom prst="rect">
            <a:avLst/>
          </a:prstGeom>
          <a:solidFill>
            <a:schemeClr val="accent1"/>
          </a:solidFill>
          <a:ln/>
        </p:spPr>
      </p:sp>
      <p:sp>
        <p:nvSpPr>
          <p:cNvPr id="49" name="fast sortiert Balken 2"/>
          <p:cNvSpPr/>
          <p:nvPr/>
        </p:nvSpPr>
        <p:spPr>
          <a:xfrm>
            <a:off x="3660343" y="2912364"/>
            <a:ext cx="40490" cy="123444"/>
          </a:xfrm>
          <a:prstGeom prst="rect">
            <a:avLst/>
          </a:prstGeom>
          <a:solidFill>
            <a:schemeClr val="accent1"/>
          </a:solidFill>
          <a:ln/>
        </p:spPr>
      </p:sp>
      <p:sp>
        <p:nvSpPr>
          <p:cNvPr id="50" name="fast sortiert Balken 3"/>
          <p:cNvSpPr/>
          <p:nvPr/>
        </p:nvSpPr>
        <p:spPr>
          <a:xfrm>
            <a:off x="3716579" y="2943225"/>
            <a:ext cx="40490" cy="92583"/>
          </a:xfrm>
          <a:prstGeom prst="rect">
            <a:avLst/>
          </a:prstGeom>
          <a:solidFill>
            <a:schemeClr val="accent1"/>
          </a:solidFill>
          <a:ln/>
        </p:spPr>
      </p:sp>
      <p:sp>
        <p:nvSpPr>
          <p:cNvPr id="51" name="fast sortiert Balken 4"/>
          <p:cNvSpPr/>
          <p:nvPr/>
        </p:nvSpPr>
        <p:spPr>
          <a:xfrm>
            <a:off x="3772814" y="2881503"/>
            <a:ext cx="40490" cy="154305"/>
          </a:xfrm>
          <a:prstGeom prst="rect">
            <a:avLst/>
          </a:prstGeom>
          <a:solidFill>
            <a:schemeClr val="accent1"/>
          </a:solidFill>
          <a:ln/>
        </p:spPr>
      </p:sp>
      <p:sp>
        <p:nvSpPr>
          <p:cNvPr id="52" name="fast sortiert Balken 5"/>
          <p:cNvSpPr/>
          <p:nvPr/>
        </p:nvSpPr>
        <p:spPr>
          <a:xfrm>
            <a:off x="3829050" y="2850642"/>
            <a:ext cx="40490" cy="185166"/>
          </a:xfrm>
          <a:prstGeom prst="rect">
            <a:avLst/>
          </a:prstGeom>
          <a:solidFill>
            <a:schemeClr val="accent1"/>
          </a:solidFill>
          <a:ln/>
        </p:spPr>
      </p:sp>
      <p:sp>
        <p:nvSpPr>
          <p:cNvPr id="53" name="fast sortiert Balken 6"/>
          <p:cNvSpPr/>
          <p:nvPr/>
        </p:nvSpPr>
        <p:spPr>
          <a:xfrm>
            <a:off x="3885286" y="2819781"/>
            <a:ext cx="40490" cy="216027"/>
          </a:xfrm>
          <a:prstGeom prst="rect">
            <a:avLst/>
          </a:prstGeom>
          <a:solidFill>
            <a:schemeClr val="accent1"/>
          </a:solidFill>
          <a:ln/>
        </p:spPr>
      </p:sp>
      <p:sp>
        <p:nvSpPr>
          <p:cNvPr id="54" name="fast sortiert Balken 7"/>
          <p:cNvSpPr/>
          <p:nvPr/>
        </p:nvSpPr>
        <p:spPr>
          <a:xfrm>
            <a:off x="3941521" y="2788920"/>
            <a:ext cx="40490" cy="246888"/>
          </a:xfrm>
          <a:prstGeom prst="rect">
            <a:avLst/>
          </a:prstGeom>
          <a:solidFill>
            <a:schemeClr val="accent1"/>
          </a:solidFill>
          <a:ln/>
        </p:spPr>
      </p:sp>
      <p:sp>
        <p:nvSpPr>
          <p:cNvPr id="55" name="fast sortiert Balken 8"/>
          <p:cNvSpPr/>
          <p:nvPr/>
        </p:nvSpPr>
        <p:spPr>
          <a:xfrm>
            <a:off x="3997757" y="2758059"/>
            <a:ext cx="40490" cy="277749"/>
          </a:xfrm>
          <a:prstGeom prst="rect">
            <a:avLst/>
          </a:prstGeom>
          <a:solidFill>
            <a:schemeClr val="accent1"/>
          </a:solidFill>
          <a:ln/>
        </p:spPr>
      </p:sp>
      <p:sp>
        <p:nvSpPr>
          <p:cNvPr id="56" name="fast sortiert Balken 9"/>
          <p:cNvSpPr/>
          <p:nvPr/>
        </p:nvSpPr>
        <p:spPr>
          <a:xfrm>
            <a:off x="4053992" y="2727198"/>
            <a:ext cx="40490" cy="308610"/>
          </a:xfrm>
          <a:prstGeom prst="rect">
            <a:avLst/>
          </a:prstGeom>
          <a:solidFill>
            <a:schemeClr val="accent1"/>
          </a:solidFill>
          <a:ln/>
        </p:spPr>
      </p:sp>
      <p:sp>
        <p:nvSpPr>
          <p:cNvPr id="57" name="fast sortiert Balken 10"/>
          <p:cNvSpPr/>
          <p:nvPr/>
        </p:nvSpPr>
        <p:spPr>
          <a:xfrm>
            <a:off x="4110228" y="2233422"/>
            <a:ext cx="40490" cy="802386"/>
          </a:xfrm>
          <a:prstGeom prst="rect">
            <a:avLst/>
          </a:prstGeom>
          <a:solidFill>
            <a:schemeClr val="accent1"/>
          </a:solidFill>
          <a:ln/>
        </p:spPr>
      </p:sp>
      <p:sp>
        <p:nvSpPr>
          <p:cNvPr id="58" name="fast sortiert Balken 11"/>
          <p:cNvSpPr/>
          <p:nvPr/>
        </p:nvSpPr>
        <p:spPr>
          <a:xfrm>
            <a:off x="4166464" y="2665476"/>
            <a:ext cx="40490" cy="370332"/>
          </a:xfrm>
          <a:prstGeom prst="rect">
            <a:avLst/>
          </a:prstGeom>
          <a:solidFill>
            <a:schemeClr val="accent1"/>
          </a:solidFill>
          <a:ln/>
        </p:spPr>
      </p:sp>
      <p:sp>
        <p:nvSpPr>
          <p:cNvPr id="59" name="fast sortiert Balken 12"/>
          <p:cNvSpPr/>
          <p:nvPr/>
        </p:nvSpPr>
        <p:spPr>
          <a:xfrm>
            <a:off x="4222699" y="2634615"/>
            <a:ext cx="40490" cy="401193"/>
          </a:xfrm>
          <a:prstGeom prst="rect">
            <a:avLst/>
          </a:prstGeom>
          <a:solidFill>
            <a:schemeClr val="accent1"/>
          </a:solidFill>
          <a:ln/>
        </p:spPr>
      </p:sp>
      <p:sp>
        <p:nvSpPr>
          <p:cNvPr id="60" name="fast sortiert Balken 13"/>
          <p:cNvSpPr/>
          <p:nvPr/>
        </p:nvSpPr>
        <p:spPr>
          <a:xfrm>
            <a:off x="4278935" y="2603754"/>
            <a:ext cx="40490" cy="432054"/>
          </a:xfrm>
          <a:prstGeom prst="rect">
            <a:avLst/>
          </a:prstGeom>
          <a:solidFill>
            <a:schemeClr val="accent1"/>
          </a:solidFill>
          <a:ln/>
        </p:spPr>
      </p:sp>
      <p:sp>
        <p:nvSpPr>
          <p:cNvPr id="61" name="fast sortiert Balken 14"/>
          <p:cNvSpPr/>
          <p:nvPr/>
        </p:nvSpPr>
        <p:spPr>
          <a:xfrm>
            <a:off x="4335170" y="2572893"/>
            <a:ext cx="40490" cy="462915"/>
          </a:xfrm>
          <a:prstGeom prst="rect">
            <a:avLst/>
          </a:prstGeom>
          <a:solidFill>
            <a:schemeClr val="accent1"/>
          </a:solidFill>
          <a:ln/>
        </p:spPr>
      </p:sp>
      <p:sp>
        <p:nvSpPr>
          <p:cNvPr id="62" name="fast sortiert Balken 15"/>
          <p:cNvSpPr/>
          <p:nvPr/>
        </p:nvSpPr>
        <p:spPr>
          <a:xfrm>
            <a:off x="4391406" y="2542032"/>
            <a:ext cx="40490" cy="493776"/>
          </a:xfrm>
          <a:prstGeom prst="rect">
            <a:avLst/>
          </a:prstGeom>
          <a:solidFill>
            <a:schemeClr val="accent1"/>
          </a:solidFill>
          <a:ln/>
        </p:spPr>
      </p:sp>
      <p:sp>
        <p:nvSpPr>
          <p:cNvPr id="63" name="fast sortiert Balken 16"/>
          <p:cNvSpPr/>
          <p:nvPr/>
        </p:nvSpPr>
        <p:spPr>
          <a:xfrm>
            <a:off x="4447642" y="2511171"/>
            <a:ext cx="40490" cy="524637"/>
          </a:xfrm>
          <a:prstGeom prst="rect">
            <a:avLst/>
          </a:prstGeom>
          <a:solidFill>
            <a:schemeClr val="accent1"/>
          </a:solidFill>
          <a:ln/>
        </p:spPr>
      </p:sp>
      <p:sp>
        <p:nvSpPr>
          <p:cNvPr id="64" name="fast sortiert Balken 17"/>
          <p:cNvSpPr/>
          <p:nvPr/>
        </p:nvSpPr>
        <p:spPr>
          <a:xfrm>
            <a:off x="4503877" y="2480310"/>
            <a:ext cx="40490" cy="555498"/>
          </a:xfrm>
          <a:prstGeom prst="rect">
            <a:avLst/>
          </a:prstGeom>
          <a:solidFill>
            <a:schemeClr val="accent1"/>
          </a:solidFill>
          <a:ln/>
        </p:spPr>
      </p:sp>
      <p:sp>
        <p:nvSpPr>
          <p:cNvPr id="65" name="fast sortiert Balken 18"/>
          <p:cNvSpPr/>
          <p:nvPr/>
        </p:nvSpPr>
        <p:spPr>
          <a:xfrm>
            <a:off x="4560113" y="2418588"/>
            <a:ext cx="40490" cy="617220"/>
          </a:xfrm>
          <a:prstGeom prst="rect">
            <a:avLst/>
          </a:prstGeom>
          <a:solidFill>
            <a:schemeClr val="accent1"/>
          </a:solidFill>
          <a:ln/>
        </p:spPr>
      </p:sp>
      <p:sp>
        <p:nvSpPr>
          <p:cNvPr id="66" name="fast sortiert Balken 19"/>
          <p:cNvSpPr/>
          <p:nvPr/>
        </p:nvSpPr>
        <p:spPr>
          <a:xfrm>
            <a:off x="4616348" y="2449449"/>
            <a:ext cx="40490" cy="586359"/>
          </a:xfrm>
          <a:prstGeom prst="rect">
            <a:avLst/>
          </a:prstGeom>
          <a:solidFill>
            <a:schemeClr val="accent1"/>
          </a:solidFill>
          <a:ln/>
        </p:spPr>
      </p:sp>
      <p:sp>
        <p:nvSpPr>
          <p:cNvPr id="67" name="fast sortiert Balken 20"/>
          <p:cNvSpPr/>
          <p:nvPr/>
        </p:nvSpPr>
        <p:spPr>
          <a:xfrm>
            <a:off x="4672584" y="2387727"/>
            <a:ext cx="40490" cy="648081"/>
          </a:xfrm>
          <a:prstGeom prst="rect">
            <a:avLst/>
          </a:prstGeom>
          <a:solidFill>
            <a:schemeClr val="accent1"/>
          </a:solidFill>
          <a:ln/>
        </p:spPr>
      </p:sp>
      <p:sp>
        <p:nvSpPr>
          <p:cNvPr id="68" name="fast sortiert Balken 21"/>
          <p:cNvSpPr/>
          <p:nvPr/>
        </p:nvSpPr>
        <p:spPr>
          <a:xfrm>
            <a:off x="4728820" y="2356866"/>
            <a:ext cx="40490" cy="678942"/>
          </a:xfrm>
          <a:prstGeom prst="rect">
            <a:avLst/>
          </a:prstGeom>
          <a:solidFill>
            <a:schemeClr val="accent1"/>
          </a:solidFill>
          <a:ln/>
        </p:spPr>
      </p:sp>
      <p:sp>
        <p:nvSpPr>
          <p:cNvPr id="69" name="fast sortiert Balken 22"/>
          <p:cNvSpPr/>
          <p:nvPr/>
        </p:nvSpPr>
        <p:spPr>
          <a:xfrm>
            <a:off x="4785055" y="2326005"/>
            <a:ext cx="40490" cy="709803"/>
          </a:xfrm>
          <a:prstGeom prst="rect">
            <a:avLst/>
          </a:prstGeom>
          <a:solidFill>
            <a:schemeClr val="accent1"/>
          </a:solidFill>
          <a:ln/>
        </p:spPr>
      </p:sp>
      <p:sp>
        <p:nvSpPr>
          <p:cNvPr id="70" name="fast sortiert Balken 23"/>
          <p:cNvSpPr/>
          <p:nvPr/>
        </p:nvSpPr>
        <p:spPr>
          <a:xfrm>
            <a:off x="4841291" y="2295144"/>
            <a:ext cx="40490" cy="740664"/>
          </a:xfrm>
          <a:prstGeom prst="rect">
            <a:avLst/>
          </a:prstGeom>
          <a:solidFill>
            <a:schemeClr val="accent1"/>
          </a:solidFill>
          <a:ln/>
        </p:spPr>
      </p:sp>
      <p:sp>
        <p:nvSpPr>
          <p:cNvPr id="71" name="fast sortiert Balken 24"/>
          <p:cNvSpPr/>
          <p:nvPr/>
        </p:nvSpPr>
        <p:spPr>
          <a:xfrm>
            <a:off x="4897526" y="2264283"/>
            <a:ext cx="40490" cy="771525"/>
          </a:xfrm>
          <a:prstGeom prst="rect">
            <a:avLst/>
          </a:prstGeom>
          <a:solidFill>
            <a:schemeClr val="accent1"/>
          </a:solidFill>
          <a:ln/>
        </p:spPr>
      </p:sp>
      <p:sp>
        <p:nvSpPr>
          <p:cNvPr id="72" name="fast sortiert Balken 25"/>
          <p:cNvSpPr/>
          <p:nvPr/>
        </p:nvSpPr>
        <p:spPr>
          <a:xfrm>
            <a:off x="4953762" y="2696337"/>
            <a:ext cx="40490" cy="339471"/>
          </a:xfrm>
          <a:prstGeom prst="rect">
            <a:avLst/>
          </a:prstGeom>
          <a:solidFill>
            <a:schemeClr val="accent1"/>
          </a:solidFill>
          <a:ln/>
        </p:spPr>
      </p:sp>
      <p:sp>
        <p:nvSpPr>
          <p:cNvPr id="73" name="fast sortiert Balken 26"/>
          <p:cNvSpPr/>
          <p:nvPr/>
        </p:nvSpPr>
        <p:spPr>
          <a:xfrm>
            <a:off x="5009998" y="2202561"/>
            <a:ext cx="40490" cy="833247"/>
          </a:xfrm>
          <a:prstGeom prst="rect">
            <a:avLst/>
          </a:prstGeom>
          <a:solidFill>
            <a:schemeClr val="accent1"/>
          </a:solidFill>
          <a:ln/>
        </p:spPr>
      </p:sp>
      <p:sp>
        <p:nvSpPr>
          <p:cNvPr id="74" name="fast sortiert Balken 27"/>
          <p:cNvSpPr/>
          <p:nvPr/>
        </p:nvSpPr>
        <p:spPr>
          <a:xfrm>
            <a:off x="5066233" y="2171700"/>
            <a:ext cx="40490" cy="864108"/>
          </a:xfrm>
          <a:prstGeom prst="rect">
            <a:avLst/>
          </a:prstGeom>
          <a:solidFill>
            <a:schemeClr val="accent1"/>
          </a:solidFill>
          <a:ln/>
        </p:spPr>
      </p:sp>
      <p:sp>
        <p:nvSpPr>
          <p:cNvPr id="75" name="fast sortiert Balken 28"/>
          <p:cNvSpPr/>
          <p:nvPr/>
        </p:nvSpPr>
        <p:spPr>
          <a:xfrm>
            <a:off x="5122469" y="2140839"/>
            <a:ext cx="40490" cy="894969"/>
          </a:xfrm>
          <a:prstGeom prst="rect">
            <a:avLst/>
          </a:prstGeom>
          <a:solidFill>
            <a:schemeClr val="accent1"/>
          </a:solidFill>
          <a:ln/>
        </p:spPr>
      </p:sp>
      <p:sp>
        <p:nvSpPr>
          <p:cNvPr id="76" name="fast sortiert Balken 29"/>
          <p:cNvSpPr/>
          <p:nvPr/>
        </p:nvSpPr>
        <p:spPr>
          <a:xfrm>
            <a:off x="5178704" y="2109978"/>
            <a:ext cx="40490" cy="925830"/>
          </a:xfrm>
          <a:prstGeom prst="rect">
            <a:avLst/>
          </a:prstGeom>
          <a:solidFill>
            <a:schemeClr val="accent1"/>
          </a:solidFill>
          <a:ln/>
        </p:spPr>
      </p:sp>
      <p:sp>
        <p:nvSpPr>
          <p:cNvPr id="77" name="fast sortiert Balken 30"/>
          <p:cNvSpPr/>
          <p:nvPr/>
        </p:nvSpPr>
        <p:spPr>
          <a:xfrm>
            <a:off x="5234940" y="2079117"/>
            <a:ext cx="40490" cy="956691"/>
          </a:xfrm>
          <a:prstGeom prst="rect">
            <a:avLst/>
          </a:prstGeom>
          <a:solidFill>
            <a:schemeClr val="accent1"/>
          </a:solidFill>
          <a:ln/>
        </p:spPr>
      </p:sp>
      <p:sp>
        <p:nvSpPr>
          <p:cNvPr id="78" name="fast sortiert Balken 31"/>
          <p:cNvSpPr/>
          <p:nvPr/>
        </p:nvSpPr>
        <p:spPr>
          <a:xfrm>
            <a:off x="5291176" y="2048256"/>
            <a:ext cx="40490" cy="987552"/>
          </a:xfrm>
          <a:prstGeom prst="rect">
            <a:avLst/>
          </a:prstGeom>
          <a:solidFill>
            <a:schemeClr val="accent1"/>
          </a:solidFill>
          <a:ln/>
        </p:spPr>
      </p:sp>
      <p:sp>
        <p:nvSpPr>
          <p:cNvPr id="79" name="fast sortiert Balken 32"/>
          <p:cNvSpPr/>
          <p:nvPr/>
        </p:nvSpPr>
        <p:spPr>
          <a:xfrm>
            <a:off x="5347411" y="2017395"/>
            <a:ext cx="40490" cy="1018413"/>
          </a:xfrm>
          <a:prstGeom prst="rect">
            <a:avLst/>
          </a:prstGeom>
          <a:solidFill>
            <a:schemeClr val="accent1"/>
          </a:solidFill>
          <a:ln/>
        </p:spPr>
      </p:sp>
      <p:sp>
        <p:nvSpPr>
          <p:cNvPr id="80" name="fast sortiert Balken 33"/>
          <p:cNvSpPr/>
          <p:nvPr/>
        </p:nvSpPr>
        <p:spPr>
          <a:xfrm>
            <a:off x="5403647" y="1832229"/>
            <a:ext cx="40490" cy="1203579"/>
          </a:xfrm>
          <a:prstGeom prst="rect">
            <a:avLst/>
          </a:prstGeom>
          <a:solidFill>
            <a:schemeClr val="accent1"/>
          </a:solidFill>
          <a:ln/>
        </p:spPr>
      </p:sp>
      <p:sp>
        <p:nvSpPr>
          <p:cNvPr id="81" name="fast sortiert Balken 34"/>
          <p:cNvSpPr/>
          <p:nvPr/>
        </p:nvSpPr>
        <p:spPr>
          <a:xfrm>
            <a:off x="5459882" y="1955673"/>
            <a:ext cx="40490" cy="1080135"/>
          </a:xfrm>
          <a:prstGeom prst="rect">
            <a:avLst/>
          </a:prstGeom>
          <a:solidFill>
            <a:schemeClr val="accent1"/>
          </a:solidFill>
          <a:ln/>
        </p:spPr>
      </p:sp>
      <p:sp>
        <p:nvSpPr>
          <p:cNvPr id="82" name="fast sortiert Balken 35"/>
          <p:cNvSpPr/>
          <p:nvPr/>
        </p:nvSpPr>
        <p:spPr>
          <a:xfrm>
            <a:off x="5516118" y="1924812"/>
            <a:ext cx="40490" cy="1110996"/>
          </a:xfrm>
          <a:prstGeom prst="rect">
            <a:avLst/>
          </a:prstGeom>
          <a:solidFill>
            <a:schemeClr val="accent1"/>
          </a:solidFill>
          <a:ln/>
        </p:spPr>
      </p:sp>
      <p:sp>
        <p:nvSpPr>
          <p:cNvPr id="83" name="fast sortiert Balken 36"/>
          <p:cNvSpPr/>
          <p:nvPr/>
        </p:nvSpPr>
        <p:spPr>
          <a:xfrm>
            <a:off x="5572354" y="1893951"/>
            <a:ext cx="40490" cy="1141857"/>
          </a:xfrm>
          <a:prstGeom prst="rect">
            <a:avLst/>
          </a:prstGeom>
          <a:solidFill>
            <a:schemeClr val="accent1"/>
          </a:solidFill>
          <a:ln/>
        </p:spPr>
      </p:sp>
      <p:sp>
        <p:nvSpPr>
          <p:cNvPr id="84" name="fast sortiert Balken 37"/>
          <p:cNvSpPr/>
          <p:nvPr/>
        </p:nvSpPr>
        <p:spPr>
          <a:xfrm>
            <a:off x="5628589" y="1863090"/>
            <a:ext cx="40490" cy="1172718"/>
          </a:xfrm>
          <a:prstGeom prst="rect">
            <a:avLst/>
          </a:prstGeom>
          <a:solidFill>
            <a:schemeClr val="accent1"/>
          </a:solidFill>
          <a:ln/>
        </p:spPr>
      </p:sp>
      <p:sp>
        <p:nvSpPr>
          <p:cNvPr id="85" name="fast sortiert Balken 38"/>
          <p:cNvSpPr/>
          <p:nvPr/>
        </p:nvSpPr>
        <p:spPr>
          <a:xfrm>
            <a:off x="5684825" y="1986534"/>
            <a:ext cx="40490" cy="1049274"/>
          </a:xfrm>
          <a:prstGeom prst="rect">
            <a:avLst/>
          </a:prstGeom>
          <a:solidFill>
            <a:schemeClr val="accent1"/>
          </a:solidFill>
          <a:ln/>
        </p:spPr>
      </p:sp>
      <p:sp>
        <p:nvSpPr>
          <p:cNvPr id="86" name="fast sortiert Balken 39"/>
          <p:cNvSpPr/>
          <p:nvPr/>
        </p:nvSpPr>
        <p:spPr>
          <a:xfrm>
            <a:off x="5741060" y="1801368"/>
            <a:ext cx="40490" cy="1234440"/>
          </a:xfrm>
          <a:prstGeom prst="rect">
            <a:avLst/>
          </a:prstGeom>
          <a:solidFill>
            <a:schemeClr val="accent1"/>
          </a:solidFill>
          <a:ln/>
        </p:spPr>
      </p:sp>
      <p:sp>
        <p:nvSpPr>
          <p:cNvPr id="87" name="Runde 3"/>
          <p:cNvSpPr/>
          <p:nvPr/>
        </p:nvSpPr>
        <p:spPr>
          <a:xfrm>
            <a:off x="6181344" y="1325880"/>
            <a:ext cx="2615184" cy="1874520"/>
          </a:xfrm>
          <a:prstGeom prst="roundRect">
            <a:avLst>
              <a:gd name="adj" fmla="val 5854"/>
            </a:avLst>
          </a:prstGeom>
          <a:solidFill>
            <a:schemeClr val="bg1"/>
          </a:solidFill>
          <a:ln/>
          <a:effectLst>
            <a:outerShdw sx="100000" sy="100000" kx="0" ky="0" algn="bl" rotWithShape="0" blurRad="76200" dist="25400" dir="5400000">
              <a:srgbClr val="000000">
                <a:alpha val="18000"/>
              </a:srgbClr>
            </a:outerShdw>
          </a:effectLst>
        </p:spPr>
      </p:sp>
      <p:sp>
        <p:nvSpPr>
          <p:cNvPr id="88" name="Text 86"/>
          <p:cNvSpPr txBox="1"/>
          <p:nvPr/>
        </p:nvSpPr>
        <p:spPr>
          <a:xfrm>
            <a:off x="6318504" y="1417320"/>
            <a:ext cx="2340864" cy="329184"/>
          </a:xfrm>
          <a:prstGeom prst="rect">
            <a:avLst/>
          </a:prstGeom>
          <a:noFill/>
          <a:ln/>
        </p:spPr>
        <p:txBody>
          <a:bodyPr wrap="square" lIns="0" tIns="0" rIns="0" bIns="0" rtlCol="0" anchor="t"/>
          <a:lstStyle/>
          <a:p>
            <a:pPr indent="0" marL="0">
              <a:buNone/>
            </a:pPr>
            <a:r>
              <a:rPr lang="en-US" sz="1600" b="1" dirty="0">
                <a:solidFill>
                  <a:schemeClr val="accent6"/>
                </a:solidFill>
              </a:rPr>
              <a:t>Runde 3 · </a:t>
            </a:r>
            <a:pPr indent="0" marL="0">
              <a:buNone/>
            </a:pPr>
            <a:r>
              <a:rPr lang="en-US" sz="1600" b="1" dirty="0">
                <a:solidFill>
                  <a:schemeClr val="accent1"/>
                </a:solidFill>
              </a:rPr>
              <a:t>umgekehrt</a:t>
            </a:r>
            <a:endParaRPr lang="en-US" sz="1600" dirty="0"/>
          </a:p>
        </p:txBody>
      </p:sp>
      <p:sp>
        <p:nvSpPr>
          <p:cNvPr id="89" name="umgekehrt Balken 0"/>
          <p:cNvSpPr/>
          <p:nvPr/>
        </p:nvSpPr>
        <p:spPr>
          <a:xfrm>
            <a:off x="6364224" y="1801368"/>
            <a:ext cx="40490" cy="1234440"/>
          </a:xfrm>
          <a:prstGeom prst="rect">
            <a:avLst/>
          </a:prstGeom>
          <a:solidFill>
            <a:schemeClr val="accent1"/>
          </a:solidFill>
          <a:ln/>
        </p:spPr>
      </p:sp>
      <p:sp>
        <p:nvSpPr>
          <p:cNvPr id="90" name="umgekehrt Balken 1"/>
          <p:cNvSpPr/>
          <p:nvPr/>
        </p:nvSpPr>
        <p:spPr>
          <a:xfrm>
            <a:off x="6420460" y="1832229"/>
            <a:ext cx="40490" cy="1203579"/>
          </a:xfrm>
          <a:prstGeom prst="rect">
            <a:avLst/>
          </a:prstGeom>
          <a:solidFill>
            <a:schemeClr val="accent1"/>
          </a:solidFill>
          <a:ln/>
        </p:spPr>
      </p:sp>
      <p:sp>
        <p:nvSpPr>
          <p:cNvPr id="91" name="umgekehrt Balken 2"/>
          <p:cNvSpPr/>
          <p:nvPr/>
        </p:nvSpPr>
        <p:spPr>
          <a:xfrm>
            <a:off x="6476695" y="1863090"/>
            <a:ext cx="40490" cy="1172718"/>
          </a:xfrm>
          <a:prstGeom prst="rect">
            <a:avLst/>
          </a:prstGeom>
          <a:solidFill>
            <a:schemeClr val="accent1"/>
          </a:solidFill>
          <a:ln/>
        </p:spPr>
      </p:sp>
      <p:sp>
        <p:nvSpPr>
          <p:cNvPr id="92" name="umgekehrt Balken 3"/>
          <p:cNvSpPr/>
          <p:nvPr/>
        </p:nvSpPr>
        <p:spPr>
          <a:xfrm>
            <a:off x="6532931" y="1893951"/>
            <a:ext cx="40490" cy="1141857"/>
          </a:xfrm>
          <a:prstGeom prst="rect">
            <a:avLst/>
          </a:prstGeom>
          <a:solidFill>
            <a:schemeClr val="accent1"/>
          </a:solidFill>
          <a:ln/>
        </p:spPr>
      </p:sp>
      <p:sp>
        <p:nvSpPr>
          <p:cNvPr id="93" name="umgekehrt Balken 4"/>
          <p:cNvSpPr/>
          <p:nvPr/>
        </p:nvSpPr>
        <p:spPr>
          <a:xfrm>
            <a:off x="6589166" y="1924812"/>
            <a:ext cx="40490" cy="1110996"/>
          </a:xfrm>
          <a:prstGeom prst="rect">
            <a:avLst/>
          </a:prstGeom>
          <a:solidFill>
            <a:schemeClr val="accent1"/>
          </a:solidFill>
          <a:ln/>
        </p:spPr>
      </p:sp>
      <p:sp>
        <p:nvSpPr>
          <p:cNvPr id="94" name="umgekehrt Balken 5"/>
          <p:cNvSpPr/>
          <p:nvPr/>
        </p:nvSpPr>
        <p:spPr>
          <a:xfrm>
            <a:off x="6645402" y="1955673"/>
            <a:ext cx="40490" cy="1080135"/>
          </a:xfrm>
          <a:prstGeom prst="rect">
            <a:avLst/>
          </a:prstGeom>
          <a:solidFill>
            <a:schemeClr val="accent1"/>
          </a:solidFill>
          <a:ln/>
        </p:spPr>
      </p:sp>
      <p:sp>
        <p:nvSpPr>
          <p:cNvPr id="95" name="umgekehrt Balken 6"/>
          <p:cNvSpPr/>
          <p:nvPr/>
        </p:nvSpPr>
        <p:spPr>
          <a:xfrm>
            <a:off x="6701638" y="1986534"/>
            <a:ext cx="40490" cy="1049274"/>
          </a:xfrm>
          <a:prstGeom prst="rect">
            <a:avLst/>
          </a:prstGeom>
          <a:solidFill>
            <a:schemeClr val="accent1"/>
          </a:solidFill>
          <a:ln/>
        </p:spPr>
      </p:sp>
      <p:sp>
        <p:nvSpPr>
          <p:cNvPr id="96" name="umgekehrt Balken 7"/>
          <p:cNvSpPr/>
          <p:nvPr/>
        </p:nvSpPr>
        <p:spPr>
          <a:xfrm>
            <a:off x="6757873" y="2017395"/>
            <a:ext cx="40490" cy="1018413"/>
          </a:xfrm>
          <a:prstGeom prst="rect">
            <a:avLst/>
          </a:prstGeom>
          <a:solidFill>
            <a:schemeClr val="accent1"/>
          </a:solidFill>
          <a:ln/>
        </p:spPr>
      </p:sp>
      <p:sp>
        <p:nvSpPr>
          <p:cNvPr id="97" name="umgekehrt Balken 8"/>
          <p:cNvSpPr/>
          <p:nvPr/>
        </p:nvSpPr>
        <p:spPr>
          <a:xfrm>
            <a:off x="6814109" y="2048256"/>
            <a:ext cx="40490" cy="987552"/>
          </a:xfrm>
          <a:prstGeom prst="rect">
            <a:avLst/>
          </a:prstGeom>
          <a:solidFill>
            <a:schemeClr val="accent1"/>
          </a:solidFill>
          <a:ln/>
        </p:spPr>
      </p:sp>
      <p:sp>
        <p:nvSpPr>
          <p:cNvPr id="98" name="umgekehrt Balken 9"/>
          <p:cNvSpPr/>
          <p:nvPr/>
        </p:nvSpPr>
        <p:spPr>
          <a:xfrm>
            <a:off x="6870344" y="2079117"/>
            <a:ext cx="40490" cy="956691"/>
          </a:xfrm>
          <a:prstGeom prst="rect">
            <a:avLst/>
          </a:prstGeom>
          <a:solidFill>
            <a:schemeClr val="accent1"/>
          </a:solidFill>
          <a:ln/>
        </p:spPr>
      </p:sp>
      <p:sp>
        <p:nvSpPr>
          <p:cNvPr id="99" name="umgekehrt Balken 10"/>
          <p:cNvSpPr/>
          <p:nvPr/>
        </p:nvSpPr>
        <p:spPr>
          <a:xfrm>
            <a:off x="6926580" y="2109978"/>
            <a:ext cx="40490" cy="925830"/>
          </a:xfrm>
          <a:prstGeom prst="rect">
            <a:avLst/>
          </a:prstGeom>
          <a:solidFill>
            <a:schemeClr val="accent1"/>
          </a:solidFill>
          <a:ln/>
        </p:spPr>
      </p:sp>
      <p:sp>
        <p:nvSpPr>
          <p:cNvPr id="100" name="umgekehrt Balken 11"/>
          <p:cNvSpPr/>
          <p:nvPr/>
        </p:nvSpPr>
        <p:spPr>
          <a:xfrm>
            <a:off x="6982816" y="2140839"/>
            <a:ext cx="40490" cy="894969"/>
          </a:xfrm>
          <a:prstGeom prst="rect">
            <a:avLst/>
          </a:prstGeom>
          <a:solidFill>
            <a:schemeClr val="accent1"/>
          </a:solidFill>
          <a:ln/>
        </p:spPr>
      </p:sp>
      <p:sp>
        <p:nvSpPr>
          <p:cNvPr id="101" name="umgekehrt Balken 12"/>
          <p:cNvSpPr/>
          <p:nvPr/>
        </p:nvSpPr>
        <p:spPr>
          <a:xfrm>
            <a:off x="7039051" y="2171700"/>
            <a:ext cx="40490" cy="864108"/>
          </a:xfrm>
          <a:prstGeom prst="rect">
            <a:avLst/>
          </a:prstGeom>
          <a:solidFill>
            <a:schemeClr val="accent1"/>
          </a:solidFill>
          <a:ln/>
        </p:spPr>
      </p:sp>
      <p:sp>
        <p:nvSpPr>
          <p:cNvPr id="102" name="umgekehrt Balken 13"/>
          <p:cNvSpPr/>
          <p:nvPr/>
        </p:nvSpPr>
        <p:spPr>
          <a:xfrm>
            <a:off x="7095287" y="2202561"/>
            <a:ext cx="40490" cy="833247"/>
          </a:xfrm>
          <a:prstGeom prst="rect">
            <a:avLst/>
          </a:prstGeom>
          <a:solidFill>
            <a:schemeClr val="accent1"/>
          </a:solidFill>
          <a:ln/>
        </p:spPr>
      </p:sp>
      <p:sp>
        <p:nvSpPr>
          <p:cNvPr id="103" name="umgekehrt Balken 14"/>
          <p:cNvSpPr/>
          <p:nvPr/>
        </p:nvSpPr>
        <p:spPr>
          <a:xfrm>
            <a:off x="7151522" y="2233422"/>
            <a:ext cx="40490" cy="802386"/>
          </a:xfrm>
          <a:prstGeom prst="rect">
            <a:avLst/>
          </a:prstGeom>
          <a:solidFill>
            <a:schemeClr val="accent1"/>
          </a:solidFill>
          <a:ln/>
        </p:spPr>
      </p:sp>
      <p:sp>
        <p:nvSpPr>
          <p:cNvPr id="104" name="umgekehrt Balken 15"/>
          <p:cNvSpPr/>
          <p:nvPr/>
        </p:nvSpPr>
        <p:spPr>
          <a:xfrm>
            <a:off x="7207758" y="2264283"/>
            <a:ext cx="40490" cy="771525"/>
          </a:xfrm>
          <a:prstGeom prst="rect">
            <a:avLst/>
          </a:prstGeom>
          <a:solidFill>
            <a:schemeClr val="accent1"/>
          </a:solidFill>
          <a:ln/>
        </p:spPr>
      </p:sp>
      <p:sp>
        <p:nvSpPr>
          <p:cNvPr id="105" name="umgekehrt Balken 16"/>
          <p:cNvSpPr/>
          <p:nvPr/>
        </p:nvSpPr>
        <p:spPr>
          <a:xfrm>
            <a:off x="7263994" y="2295144"/>
            <a:ext cx="40490" cy="740664"/>
          </a:xfrm>
          <a:prstGeom prst="rect">
            <a:avLst/>
          </a:prstGeom>
          <a:solidFill>
            <a:schemeClr val="accent1"/>
          </a:solidFill>
          <a:ln/>
        </p:spPr>
      </p:sp>
      <p:sp>
        <p:nvSpPr>
          <p:cNvPr id="106" name="umgekehrt Balken 17"/>
          <p:cNvSpPr/>
          <p:nvPr/>
        </p:nvSpPr>
        <p:spPr>
          <a:xfrm>
            <a:off x="7320229" y="2326005"/>
            <a:ext cx="40490" cy="709803"/>
          </a:xfrm>
          <a:prstGeom prst="rect">
            <a:avLst/>
          </a:prstGeom>
          <a:solidFill>
            <a:schemeClr val="accent1"/>
          </a:solidFill>
          <a:ln/>
        </p:spPr>
      </p:sp>
      <p:sp>
        <p:nvSpPr>
          <p:cNvPr id="107" name="umgekehrt Balken 18"/>
          <p:cNvSpPr/>
          <p:nvPr/>
        </p:nvSpPr>
        <p:spPr>
          <a:xfrm>
            <a:off x="7376465" y="2356866"/>
            <a:ext cx="40490" cy="678942"/>
          </a:xfrm>
          <a:prstGeom prst="rect">
            <a:avLst/>
          </a:prstGeom>
          <a:solidFill>
            <a:schemeClr val="accent1"/>
          </a:solidFill>
          <a:ln/>
        </p:spPr>
      </p:sp>
      <p:sp>
        <p:nvSpPr>
          <p:cNvPr id="108" name="umgekehrt Balken 19"/>
          <p:cNvSpPr/>
          <p:nvPr/>
        </p:nvSpPr>
        <p:spPr>
          <a:xfrm>
            <a:off x="7432700" y="2387727"/>
            <a:ext cx="40490" cy="648081"/>
          </a:xfrm>
          <a:prstGeom prst="rect">
            <a:avLst/>
          </a:prstGeom>
          <a:solidFill>
            <a:schemeClr val="accent1"/>
          </a:solidFill>
          <a:ln/>
        </p:spPr>
      </p:sp>
      <p:sp>
        <p:nvSpPr>
          <p:cNvPr id="109" name="umgekehrt Balken 20"/>
          <p:cNvSpPr/>
          <p:nvPr/>
        </p:nvSpPr>
        <p:spPr>
          <a:xfrm>
            <a:off x="7488936" y="2418588"/>
            <a:ext cx="40490" cy="617220"/>
          </a:xfrm>
          <a:prstGeom prst="rect">
            <a:avLst/>
          </a:prstGeom>
          <a:solidFill>
            <a:schemeClr val="accent1"/>
          </a:solidFill>
          <a:ln/>
        </p:spPr>
      </p:sp>
      <p:sp>
        <p:nvSpPr>
          <p:cNvPr id="110" name="umgekehrt Balken 21"/>
          <p:cNvSpPr/>
          <p:nvPr/>
        </p:nvSpPr>
        <p:spPr>
          <a:xfrm>
            <a:off x="7545172" y="2449449"/>
            <a:ext cx="40490" cy="586359"/>
          </a:xfrm>
          <a:prstGeom prst="rect">
            <a:avLst/>
          </a:prstGeom>
          <a:solidFill>
            <a:schemeClr val="accent1"/>
          </a:solidFill>
          <a:ln/>
        </p:spPr>
      </p:sp>
      <p:sp>
        <p:nvSpPr>
          <p:cNvPr id="111" name="umgekehrt Balken 22"/>
          <p:cNvSpPr/>
          <p:nvPr/>
        </p:nvSpPr>
        <p:spPr>
          <a:xfrm>
            <a:off x="7601407" y="2480310"/>
            <a:ext cx="40490" cy="555498"/>
          </a:xfrm>
          <a:prstGeom prst="rect">
            <a:avLst/>
          </a:prstGeom>
          <a:solidFill>
            <a:schemeClr val="accent1"/>
          </a:solidFill>
          <a:ln/>
        </p:spPr>
      </p:sp>
      <p:sp>
        <p:nvSpPr>
          <p:cNvPr id="112" name="umgekehrt Balken 23"/>
          <p:cNvSpPr/>
          <p:nvPr/>
        </p:nvSpPr>
        <p:spPr>
          <a:xfrm>
            <a:off x="7657643" y="2511171"/>
            <a:ext cx="40490" cy="524637"/>
          </a:xfrm>
          <a:prstGeom prst="rect">
            <a:avLst/>
          </a:prstGeom>
          <a:solidFill>
            <a:schemeClr val="accent1"/>
          </a:solidFill>
          <a:ln/>
        </p:spPr>
      </p:sp>
      <p:sp>
        <p:nvSpPr>
          <p:cNvPr id="113" name="umgekehrt Balken 24"/>
          <p:cNvSpPr/>
          <p:nvPr/>
        </p:nvSpPr>
        <p:spPr>
          <a:xfrm>
            <a:off x="7713878" y="2542032"/>
            <a:ext cx="40490" cy="493776"/>
          </a:xfrm>
          <a:prstGeom prst="rect">
            <a:avLst/>
          </a:prstGeom>
          <a:solidFill>
            <a:schemeClr val="accent1"/>
          </a:solidFill>
          <a:ln/>
        </p:spPr>
      </p:sp>
      <p:sp>
        <p:nvSpPr>
          <p:cNvPr id="114" name="umgekehrt Balken 25"/>
          <p:cNvSpPr/>
          <p:nvPr/>
        </p:nvSpPr>
        <p:spPr>
          <a:xfrm>
            <a:off x="7770114" y="2572893"/>
            <a:ext cx="40490" cy="462915"/>
          </a:xfrm>
          <a:prstGeom prst="rect">
            <a:avLst/>
          </a:prstGeom>
          <a:solidFill>
            <a:schemeClr val="accent1"/>
          </a:solidFill>
          <a:ln/>
        </p:spPr>
      </p:sp>
      <p:sp>
        <p:nvSpPr>
          <p:cNvPr id="115" name="umgekehrt Balken 26"/>
          <p:cNvSpPr/>
          <p:nvPr/>
        </p:nvSpPr>
        <p:spPr>
          <a:xfrm>
            <a:off x="7826350" y="2603754"/>
            <a:ext cx="40490" cy="432054"/>
          </a:xfrm>
          <a:prstGeom prst="rect">
            <a:avLst/>
          </a:prstGeom>
          <a:solidFill>
            <a:schemeClr val="accent1"/>
          </a:solidFill>
          <a:ln/>
        </p:spPr>
      </p:sp>
      <p:sp>
        <p:nvSpPr>
          <p:cNvPr id="116" name="umgekehrt Balken 27"/>
          <p:cNvSpPr/>
          <p:nvPr/>
        </p:nvSpPr>
        <p:spPr>
          <a:xfrm>
            <a:off x="7882585" y="2634615"/>
            <a:ext cx="40490" cy="401193"/>
          </a:xfrm>
          <a:prstGeom prst="rect">
            <a:avLst/>
          </a:prstGeom>
          <a:solidFill>
            <a:schemeClr val="accent1"/>
          </a:solidFill>
          <a:ln/>
        </p:spPr>
      </p:sp>
      <p:sp>
        <p:nvSpPr>
          <p:cNvPr id="117" name="umgekehrt Balken 28"/>
          <p:cNvSpPr/>
          <p:nvPr/>
        </p:nvSpPr>
        <p:spPr>
          <a:xfrm>
            <a:off x="7938821" y="2665476"/>
            <a:ext cx="40490" cy="370332"/>
          </a:xfrm>
          <a:prstGeom prst="rect">
            <a:avLst/>
          </a:prstGeom>
          <a:solidFill>
            <a:schemeClr val="accent1"/>
          </a:solidFill>
          <a:ln/>
        </p:spPr>
      </p:sp>
      <p:sp>
        <p:nvSpPr>
          <p:cNvPr id="118" name="umgekehrt Balken 29"/>
          <p:cNvSpPr/>
          <p:nvPr/>
        </p:nvSpPr>
        <p:spPr>
          <a:xfrm>
            <a:off x="7995056" y="2696337"/>
            <a:ext cx="40490" cy="339471"/>
          </a:xfrm>
          <a:prstGeom prst="rect">
            <a:avLst/>
          </a:prstGeom>
          <a:solidFill>
            <a:schemeClr val="accent1"/>
          </a:solidFill>
          <a:ln/>
        </p:spPr>
      </p:sp>
      <p:sp>
        <p:nvSpPr>
          <p:cNvPr id="119" name="umgekehrt Balken 30"/>
          <p:cNvSpPr/>
          <p:nvPr/>
        </p:nvSpPr>
        <p:spPr>
          <a:xfrm>
            <a:off x="8051292" y="2727198"/>
            <a:ext cx="40490" cy="308610"/>
          </a:xfrm>
          <a:prstGeom prst="rect">
            <a:avLst/>
          </a:prstGeom>
          <a:solidFill>
            <a:schemeClr val="accent1"/>
          </a:solidFill>
          <a:ln/>
        </p:spPr>
      </p:sp>
      <p:sp>
        <p:nvSpPr>
          <p:cNvPr id="120" name="umgekehrt Balken 31"/>
          <p:cNvSpPr/>
          <p:nvPr/>
        </p:nvSpPr>
        <p:spPr>
          <a:xfrm>
            <a:off x="8107528" y="2758059"/>
            <a:ext cx="40490" cy="277749"/>
          </a:xfrm>
          <a:prstGeom prst="rect">
            <a:avLst/>
          </a:prstGeom>
          <a:solidFill>
            <a:schemeClr val="accent1"/>
          </a:solidFill>
          <a:ln/>
        </p:spPr>
      </p:sp>
      <p:sp>
        <p:nvSpPr>
          <p:cNvPr id="121" name="umgekehrt Balken 32"/>
          <p:cNvSpPr/>
          <p:nvPr/>
        </p:nvSpPr>
        <p:spPr>
          <a:xfrm>
            <a:off x="8163763" y="2788920"/>
            <a:ext cx="40490" cy="246888"/>
          </a:xfrm>
          <a:prstGeom prst="rect">
            <a:avLst/>
          </a:prstGeom>
          <a:solidFill>
            <a:schemeClr val="accent1"/>
          </a:solidFill>
          <a:ln/>
        </p:spPr>
      </p:sp>
      <p:sp>
        <p:nvSpPr>
          <p:cNvPr id="122" name="umgekehrt Balken 33"/>
          <p:cNvSpPr/>
          <p:nvPr/>
        </p:nvSpPr>
        <p:spPr>
          <a:xfrm>
            <a:off x="8219999" y="2819781"/>
            <a:ext cx="40490" cy="216027"/>
          </a:xfrm>
          <a:prstGeom prst="rect">
            <a:avLst/>
          </a:prstGeom>
          <a:solidFill>
            <a:schemeClr val="accent1"/>
          </a:solidFill>
          <a:ln/>
        </p:spPr>
      </p:sp>
      <p:sp>
        <p:nvSpPr>
          <p:cNvPr id="123" name="umgekehrt Balken 34"/>
          <p:cNvSpPr/>
          <p:nvPr/>
        </p:nvSpPr>
        <p:spPr>
          <a:xfrm>
            <a:off x="8276234" y="2850642"/>
            <a:ext cx="40490" cy="185166"/>
          </a:xfrm>
          <a:prstGeom prst="rect">
            <a:avLst/>
          </a:prstGeom>
          <a:solidFill>
            <a:schemeClr val="accent1"/>
          </a:solidFill>
          <a:ln/>
        </p:spPr>
      </p:sp>
      <p:sp>
        <p:nvSpPr>
          <p:cNvPr id="124" name="umgekehrt Balken 35"/>
          <p:cNvSpPr/>
          <p:nvPr/>
        </p:nvSpPr>
        <p:spPr>
          <a:xfrm>
            <a:off x="8332470" y="2881503"/>
            <a:ext cx="40490" cy="154305"/>
          </a:xfrm>
          <a:prstGeom prst="rect">
            <a:avLst/>
          </a:prstGeom>
          <a:solidFill>
            <a:schemeClr val="accent1"/>
          </a:solidFill>
          <a:ln/>
        </p:spPr>
      </p:sp>
      <p:sp>
        <p:nvSpPr>
          <p:cNvPr id="125" name="umgekehrt Balken 36"/>
          <p:cNvSpPr/>
          <p:nvPr/>
        </p:nvSpPr>
        <p:spPr>
          <a:xfrm>
            <a:off x="8388706" y="2912364"/>
            <a:ext cx="40490" cy="123444"/>
          </a:xfrm>
          <a:prstGeom prst="rect">
            <a:avLst/>
          </a:prstGeom>
          <a:solidFill>
            <a:schemeClr val="accent1"/>
          </a:solidFill>
          <a:ln/>
        </p:spPr>
      </p:sp>
      <p:sp>
        <p:nvSpPr>
          <p:cNvPr id="126" name="umgekehrt Balken 37"/>
          <p:cNvSpPr/>
          <p:nvPr/>
        </p:nvSpPr>
        <p:spPr>
          <a:xfrm>
            <a:off x="8444941" y="2943225"/>
            <a:ext cx="40490" cy="92583"/>
          </a:xfrm>
          <a:prstGeom prst="rect">
            <a:avLst/>
          </a:prstGeom>
          <a:solidFill>
            <a:schemeClr val="accent1"/>
          </a:solidFill>
          <a:ln/>
        </p:spPr>
      </p:sp>
      <p:sp>
        <p:nvSpPr>
          <p:cNvPr id="127" name="umgekehrt Balken 38"/>
          <p:cNvSpPr/>
          <p:nvPr/>
        </p:nvSpPr>
        <p:spPr>
          <a:xfrm>
            <a:off x="8501177" y="2974086"/>
            <a:ext cx="40490" cy="61722"/>
          </a:xfrm>
          <a:prstGeom prst="rect">
            <a:avLst/>
          </a:prstGeom>
          <a:solidFill>
            <a:schemeClr val="accent1"/>
          </a:solidFill>
          <a:ln/>
        </p:spPr>
      </p:sp>
      <p:sp>
        <p:nvSpPr>
          <p:cNvPr id="128" name="umgekehrt Balken 39"/>
          <p:cNvSpPr/>
          <p:nvPr/>
        </p:nvSpPr>
        <p:spPr>
          <a:xfrm>
            <a:off x="8557412" y="3004947"/>
            <a:ext cx="40490" cy="30861"/>
          </a:xfrm>
          <a:prstGeom prst="rect">
            <a:avLst/>
          </a:prstGeom>
          <a:solidFill>
            <a:schemeClr val="accent1"/>
          </a:solidFill>
          <a:ln/>
        </p:spPr>
      </p:sp>
      <p:sp>
        <p:nvSpPr>
          <p:cNvPr id="129" name="Runde 4"/>
          <p:cNvSpPr/>
          <p:nvPr/>
        </p:nvSpPr>
        <p:spPr>
          <a:xfrm>
            <a:off x="8997696" y="1325880"/>
            <a:ext cx="2615184" cy="1874520"/>
          </a:xfrm>
          <a:prstGeom prst="roundRect">
            <a:avLst>
              <a:gd name="adj" fmla="val 5854"/>
            </a:avLst>
          </a:prstGeom>
          <a:solidFill>
            <a:schemeClr val="bg1"/>
          </a:solidFill>
          <a:ln/>
          <a:effectLst>
            <a:outerShdw sx="100000" sy="100000" kx="0" ky="0" algn="bl" rotWithShape="0" blurRad="76200" dist="25400" dir="5400000">
              <a:srgbClr val="000000">
                <a:alpha val="18000"/>
              </a:srgbClr>
            </a:outerShdw>
          </a:effectLst>
        </p:spPr>
      </p:sp>
      <p:sp>
        <p:nvSpPr>
          <p:cNvPr id="130" name="Text 128"/>
          <p:cNvSpPr txBox="1"/>
          <p:nvPr/>
        </p:nvSpPr>
        <p:spPr>
          <a:xfrm>
            <a:off x="9134856" y="1417320"/>
            <a:ext cx="2340864" cy="329184"/>
          </a:xfrm>
          <a:prstGeom prst="rect">
            <a:avLst/>
          </a:prstGeom>
          <a:noFill/>
          <a:ln/>
        </p:spPr>
        <p:txBody>
          <a:bodyPr wrap="square" lIns="0" tIns="0" rIns="0" bIns="0" rtlCol="0" anchor="t"/>
          <a:lstStyle/>
          <a:p>
            <a:pPr indent="0" marL="0">
              <a:buNone/>
            </a:pPr>
            <a:r>
              <a:rPr lang="en-US" sz="1600" b="1" dirty="0">
                <a:solidFill>
                  <a:schemeClr val="accent6"/>
                </a:solidFill>
              </a:rPr>
              <a:t>Runde 4 · </a:t>
            </a:r>
            <a:pPr indent="0" marL="0">
              <a:buNone/>
            </a:pPr>
            <a:r>
              <a:rPr lang="en-US" sz="1600" b="1" dirty="0">
                <a:solidFill>
                  <a:schemeClr val="accent1"/>
                </a:solidFill>
              </a:rPr>
              <a:t>viele gleiche</a:t>
            </a:r>
            <a:endParaRPr lang="en-US" sz="1600" dirty="0"/>
          </a:p>
        </p:txBody>
      </p:sp>
      <p:sp>
        <p:nvSpPr>
          <p:cNvPr id="131" name="viele gleiche Balken 0"/>
          <p:cNvSpPr/>
          <p:nvPr/>
        </p:nvSpPr>
        <p:spPr>
          <a:xfrm>
            <a:off x="9180576" y="2542032"/>
            <a:ext cx="40490" cy="493776"/>
          </a:xfrm>
          <a:prstGeom prst="rect">
            <a:avLst/>
          </a:prstGeom>
          <a:solidFill>
            <a:schemeClr val="accent1"/>
          </a:solidFill>
          <a:ln/>
        </p:spPr>
      </p:sp>
      <p:sp>
        <p:nvSpPr>
          <p:cNvPr id="132" name="viele gleiche Balken 1"/>
          <p:cNvSpPr/>
          <p:nvPr/>
        </p:nvSpPr>
        <p:spPr>
          <a:xfrm>
            <a:off x="9236812" y="2542032"/>
            <a:ext cx="40490" cy="493776"/>
          </a:xfrm>
          <a:prstGeom prst="rect">
            <a:avLst/>
          </a:prstGeom>
          <a:solidFill>
            <a:schemeClr val="accent1"/>
          </a:solidFill>
          <a:ln/>
        </p:spPr>
      </p:sp>
      <p:sp>
        <p:nvSpPr>
          <p:cNvPr id="133" name="viele gleiche Balken 2"/>
          <p:cNvSpPr/>
          <p:nvPr/>
        </p:nvSpPr>
        <p:spPr>
          <a:xfrm>
            <a:off x="9293047" y="2542032"/>
            <a:ext cx="40490" cy="493776"/>
          </a:xfrm>
          <a:prstGeom prst="rect">
            <a:avLst/>
          </a:prstGeom>
          <a:solidFill>
            <a:schemeClr val="accent1"/>
          </a:solidFill>
          <a:ln/>
        </p:spPr>
      </p:sp>
      <p:sp>
        <p:nvSpPr>
          <p:cNvPr id="134" name="viele gleiche Balken 3"/>
          <p:cNvSpPr/>
          <p:nvPr/>
        </p:nvSpPr>
        <p:spPr>
          <a:xfrm>
            <a:off x="9349283" y="2542032"/>
            <a:ext cx="40490" cy="493776"/>
          </a:xfrm>
          <a:prstGeom prst="rect">
            <a:avLst/>
          </a:prstGeom>
          <a:solidFill>
            <a:schemeClr val="accent1"/>
          </a:solidFill>
          <a:ln/>
        </p:spPr>
      </p:sp>
      <p:sp>
        <p:nvSpPr>
          <p:cNvPr id="135" name="viele gleiche Balken 4"/>
          <p:cNvSpPr/>
          <p:nvPr/>
        </p:nvSpPr>
        <p:spPr>
          <a:xfrm>
            <a:off x="9405518" y="2788920"/>
            <a:ext cx="40490" cy="246888"/>
          </a:xfrm>
          <a:prstGeom prst="rect">
            <a:avLst/>
          </a:prstGeom>
          <a:solidFill>
            <a:schemeClr val="accent1"/>
          </a:solidFill>
          <a:ln/>
        </p:spPr>
      </p:sp>
      <p:sp>
        <p:nvSpPr>
          <p:cNvPr id="136" name="viele gleiche Balken 5"/>
          <p:cNvSpPr/>
          <p:nvPr/>
        </p:nvSpPr>
        <p:spPr>
          <a:xfrm>
            <a:off x="9461754" y="2542032"/>
            <a:ext cx="40490" cy="493776"/>
          </a:xfrm>
          <a:prstGeom prst="rect">
            <a:avLst/>
          </a:prstGeom>
          <a:solidFill>
            <a:schemeClr val="accent1"/>
          </a:solidFill>
          <a:ln/>
        </p:spPr>
      </p:sp>
      <p:sp>
        <p:nvSpPr>
          <p:cNvPr id="137" name="viele gleiche Balken 6"/>
          <p:cNvSpPr/>
          <p:nvPr/>
        </p:nvSpPr>
        <p:spPr>
          <a:xfrm>
            <a:off x="9517990" y="2418588"/>
            <a:ext cx="40490" cy="617220"/>
          </a:xfrm>
          <a:prstGeom prst="rect">
            <a:avLst/>
          </a:prstGeom>
          <a:solidFill>
            <a:schemeClr val="accent1"/>
          </a:solidFill>
          <a:ln/>
        </p:spPr>
      </p:sp>
      <p:sp>
        <p:nvSpPr>
          <p:cNvPr id="138" name="viele gleiche Balken 7"/>
          <p:cNvSpPr/>
          <p:nvPr/>
        </p:nvSpPr>
        <p:spPr>
          <a:xfrm>
            <a:off x="9574225" y="2912364"/>
            <a:ext cx="40490" cy="123444"/>
          </a:xfrm>
          <a:prstGeom prst="rect">
            <a:avLst/>
          </a:prstGeom>
          <a:solidFill>
            <a:schemeClr val="accent1"/>
          </a:solidFill>
          <a:ln/>
        </p:spPr>
      </p:sp>
      <p:sp>
        <p:nvSpPr>
          <p:cNvPr id="139" name="viele gleiche Balken 8"/>
          <p:cNvSpPr/>
          <p:nvPr/>
        </p:nvSpPr>
        <p:spPr>
          <a:xfrm>
            <a:off x="9630461" y="2912364"/>
            <a:ext cx="40490" cy="123444"/>
          </a:xfrm>
          <a:prstGeom prst="rect">
            <a:avLst/>
          </a:prstGeom>
          <a:solidFill>
            <a:schemeClr val="accent1"/>
          </a:solidFill>
          <a:ln/>
        </p:spPr>
      </p:sp>
      <p:sp>
        <p:nvSpPr>
          <p:cNvPr id="140" name="viele gleiche Balken 9"/>
          <p:cNvSpPr/>
          <p:nvPr/>
        </p:nvSpPr>
        <p:spPr>
          <a:xfrm>
            <a:off x="9686696" y="2665476"/>
            <a:ext cx="40490" cy="370332"/>
          </a:xfrm>
          <a:prstGeom prst="rect">
            <a:avLst/>
          </a:prstGeom>
          <a:solidFill>
            <a:schemeClr val="accent1"/>
          </a:solidFill>
          <a:ln/>
        </p:spPr>
      </p:sp>
      <p:sp>
        <p:nvSpPr>
          <p:cNvPr id="141" name="viele gleiche Balken 10"/>
          <p:cNvSpPr/>
          <p:nvPr/>
        </p:nvSpPr>
        <p:spPr>
          <a:xfrm>
            <a:off x="9742932" y="2665476"/>
            <a:ext cx="40490" cy="370332"/>
          </a:xfrm>
          <a:prstGeom prst="rect">
            <a:avLst/>
          </a:prstGeom>
          <a:solidFill>
            <a:schemeClr val="accent1"/>
          </a:solidFill>
          <a:ln/>
        </p:spPr>
      </p:sp>
      <p:sp>
        <p:nvSpPr>
          <p:cNvPr id="142" name="viele gleiche Balken 11"/>
          <p:cNvSpPr/>
          <p:nvPr/>
        </p:nvSpPr>
        <p:spPr>
          <a:xfrm>
            <a:off x="9799168" y="2788920"/>
            <a:ext cx="40490" cy="246888"/>
          </a:xfrm>
          <a:prstGeom prst="rect">
            <a:avLst/>
          </a:prstGeom>
          <a:solidFill>
            <a:schemeClr val="accent1"/>
          </a:solidFill>
          <a:ln/>
        </p:spPr>
      </p:sp>
      <p:sp>
        <p:nvSpPr>
          <p:cNvPr id="143" name="viele gleiche Balken 12"/>
          <p:cNvSpPr/>
          <p:nvPr/>
        </p:nvSpPr>
        <p:spPr>
          <a:xfrm>
            <a:off x="9855403" y="2665476"/>
            <a:ext cx="40490" cy="370332"/>
          </a:xfrm>
          <a:prstGeom prst="rect">
            <a:avLst/>
          </a:prstGeom>
          <a:solidFill>
            <a:schemeClr val="accent1"/>
          </a:solidFill>
          <a:ln/>
        </p:spPr>
      </p:sp>
      <p:sp>
        <p:nvSpPr>
          <p:cNvPr id="144" name="viele gleiche Balken 13"/>
          <p:cNvSpPr/>
          <p:nvPr/>
        </p:nvSpPr>
        <p:spPr>
          <a:xfrm>
            <a:off x="9911639" y="2788920"/>
            <a:ext cx="40490" cy="246888"/>
          </a:xfrm>
          <a:prstGeom prst="rect">
            <a:avLst/>
          </a:prstGeom>
          <a:solidFill>
            <a:schemeClr val="accent1"/>
          </a:solidFill>
          <a:ln/>
        </p:spPr>
      </p:sp>
      <p:sp>
        <p:nvSpPr>
          <p:cNvPr id="145" name="viele gleiche Balken 14"/>
          <p:cNvSpPr/>
          <p:nvPr/>
        </p:nvSpPr>
        <p:spPr>
          <a:xfrm>
            <a:off x="9967874" y="2418588"/>
            <a:ext cx="40490" cy="617220"/>
          </a:xfrm>
          <a:prstGeom prst="rect">
            <a:avLst/>
          </a:prstGeom>
          <a:solidFill>
            <a:schemeClr val="accent1"/>
          </a:solidFill>
          <a:ln/>
        </p:spPr>
      </p:sp>
      <p:sp>
        <p:nvSpPr>
          <p:cNvPr id="146" name="viele gleiche Balken 15"/>
          <p:cNvSpPr/>
          <p:nvPr/>
        </p:nvSpPr>
        <p:spPr>
          <a:xfrm>
            <a:off x="10024110" y="2665476"/>
            <a:ext cx="40490" cy="370332"/>
          </a:xfrm>
          <a:prstGeom prst="rect">
            <a:avLst/>
          </a:prstGeom>
          <a:solidFill>
            <a:schemeClr val="accent1"/>
          </a:solidFill>
          <a:ln/>
        </p:spPr>
      </p:sp>
      <p:sp>
        <p:nvSpPr>
          <p:cNvPr id="147" name="viele gleiche Balken 16"/>
          <p:cNvSpPr/>
          <p:nvPr/>
        </p:nvSpPr>
        <p:spPr>
          <a:xfrm>
            <a:off x="10080346" y="2912364"/>
            <a:ext cx="40490" cy="123444"/>
          </a:xfrm>
          <a:prstGeom prst="rect">
            <a:avLst/>
          </a:prstGeom>
          <a:solidFill>
            <a:schemeClr val="accent1"/>
          </a:solidFill>
          <a:ln/>
        </p:spPr>
      </p:sp>
      <p:sp>
        <p:nvSpPr>
          <p:cNvPr id="148" name="viele gleiche Balken 17"/>
          <p:cNvSpPr/>
          <p:nvPr/>
        </p:nvSpPr>
        <p:spPr>
          <a:xfrm>
            <a:off x="10136581" y="2912364"/>
            <a:ext cx="40490" cy="123444"/>
          </a:xfrm>
          <a:prstGeom prst="rect">
            <a:avLst/>
          </a:prstGeom>
          <a:solidFill>
            <a:schemeClr val="accent1"/>
          </a:solidFill>
          <a:ln/>
        </p:spPr>
      </p:sp>
      <p:sp>
        <p:nvSpPr>
          <p:cNvPr id="149" name="viele gleiche Balken 18"/>
          <p:cNvSpPr/>
          <p:nvPr/>
        </p:nvSpPr>
        <p:spPr>
          <a:xfrm>
            <a:off x="10192817" y="2912364"/>
            <a:ext cx="40490" cy="123444"/>
          </a:xfrm>
          <a:prstGeom prst="rect">
            <a:avLst/>
          </a:prstGeom>
          <a:solidFill>
            <a:schemeClr val="accent1"/>
          </a:solidFill>
          <a:ln/>
        </p:spPr>
      </p:sp>
      <p:sp>
        <p:nvSpPr>
          <p:cNvPr id="150" name="viele gleiche Balken 19"/>
          <p:cNvSpPr/>
          <p:nvPr/>
        </p:nvSpPr>
        <p:spPr>
          <a:xfrm>
            <a:off x="10249052" y="2418588"/>
            <a:ext cx="40490" cy="617220"/>
          </a:xfrm>
          <a:prstGeom prst="rect">
            <a:avLst/>
          </a:prstGeom>
          <a:solidFill>
            <a:schemeClr val="accent1"/>
          </a:solidFill>
          <a:ln/>
        </p:spPr>
      </p:sp>
      <p:sp>
        <p:nvSpPr>
          <p:cNvPr id="151" name="viele gleiche Balken 20"/>
          <p:cNvSpPr/>
          <p:nvPr/>
        </p:nvSpPr>
        <p:spPr>
          <a:xfrm>
            <a:off x="10305288" y="2418588"/>
            <a:ext cx="40490" cy="617220"/>
          </a:xfrm>
          <a:prstGeom prst="rect">
            <a:avLst/>
          </a:prstGeom>
          <a:solidFill>
            <a:schemeClr val="accent1"/>
          </a:solidFill>
          <a:ln/>
        </p:spPr>
      </p:sp>
      <p:sp>
        <p:nvSpPr>
          <p:cNvPr id="152" name="viele gleiche Balken 21"/>
          <p:cNvSpPr/>
          <p:nvPr/>
        </p:nvSpPr>
        <p:spPr>
          <a:xfrm>
            <a:off x="10361524" y="2418588"/>
            <a:ext cx="40490" cy="617220"/>
          </a:xfrm>
          <a:prstGeom prst="rect">
            <a:avLst/>
          </a:prstGeom>
          <a:solidFill>
            <a:schemeClr val="accent1"/>
          </a:solidFill>
          <a:ln/>
        </p:spPr>
      </p:sp>
      <p:sp>
        <p:nvSpPr>
          <p:cNvPr id="153" name="viele gleiche Balken 22"/>
          <p:cNvSpPr/>
          <p:nvPr/>
        </p:nvSpPr>
        <p:spPr>
          <a:xfrm>
            <a:off x="10417759" y="2418588"/>
            <a:ext cx="40490" cy="617220"/>
          </a:xfrm>
          <a:prstGeom prst="rect">
            <a:avLst/>
          </a:prstGeom>
          <a:solidFill>
            <a:schemeClr val="accent1"/>
          </a:solidFill>
          <a:ln/>
        </p:spPr>
      </p:sp>
      <p:sp>
        <p:nvSpPr>
          <p:cNvPr id="154" name="viele gleiche Balken 23"/>
          <p:cNvSpPr/>
          <p:nvPr/>
        </p:nvSpPr>
        <p:spPr>
          <a:xfrm>
            <a:off x="10473995" y="2665476"/>
            <a:ext cx="40490" cy="370332"/>
          </a:xfrm>
          <a:prstGeom prst="rect">
            <a:avLst/>
          </a:prstGeom>
          <a:solidFill>
            <a:schemeClr val="accent1"/>
          </a:solidFill>
          <a:ln/>
        </p:spPr>
      </p:sp>
      <p:sp>
        <p:nvSpPr>
          <p:cNvPr id="155" name="viele gleiche Balken 24"/>
          <p:cNvSpPr/>
          <p:nvPr/>
        </p:nvSpPr>
        <p:spPr>
          <a:xfrm>
            <a:off x="10530230" y="2665476"/>
            <a:ext cx="40490" cy="370332"/>
          </a:xfrm>
          <a:prstGeom prst="rect">
            <a:avLst/>
          </a:prstGeom>
          <a:solidFill>
            <a:schemeClr val="accent1"/>
          </a:solidFill>
          <a:ln/>
        </p:spPr>
      </p:sp>
      <p:sp>
        <p:nvSpPr>
          <p:cNvPr id="156" name="viele gleiche Balken 25"/>
          <p:cNvSpPr/>
          <p:nvPr/>
        </p:nvSpPr>
        <p:spPr>
          <a:xfrm>
            <a:off x="10586466" y="2542032"/>
            <a:ext cx="40490" cy="493776"/>
          </a:xfrm>
          <a:prstGeom prst="rect">
            <a:avLst/>
          </a:prstGeom>
          <a:solidFill>
            <a:schemeClr val="accent1"/>
          </a:solidFill>
          <a:ln/>
        </p:spPr>
      </p:sp>
      <p:sp>
        <p:nvSpPr>
          <p:cNvPr id="157" name="viele gleiche Balken 26"/>
          <p:cNvSpPr/>
          <p:nvPr/>
        </p:nvSpPr>
        <p:spPr>
          <a:xfrm>
            <a:off x="10642702" y="2418588"/>
            <a:ext cx="40490" cy="617220"/>
          </a:xfrm>
          <a:prstGeom prst="rect">
            <a:avLst/>
          </a:prstGeom>
          <a:solidFill>
            <a:schemeClr val="accent1"/>
          </a:solidFill>
          <a:ln/>
        </p:spPr>
      </p:sp>
      <p:sp>
        <p:nvSpPr>
          <p:cNvPr id="158" name="viele gleiche Balken 27"/>
          <p:cNvSpPr/>
          <p:nvPr/>
        </p:nvSpPr>
        <p:spPr>
          <a:xfrm>
            <a:off x="10698937" y="2418588"/>
            <a:ext cx="40490" cy="617220"/>
          </a:xfrm>
          <a:prstGeom prst="rect">
            <a:avLst/>
          </a:prstGeom>
          <a:solidFill>
            <a:schemeClr val="accent1"/>
          </a:solidFill>
          <a:ln/>
        </p:spPr>
      </p:sp>
      <p:sp>
        <p:nvSpPr>
          <p:cNvPr id="159" name="viele gleiche Balken 28"/>
          <p:cNvSpPr/>
          <p:nvPr/>
        </p:nvSpPr>
        <p:spPr>
          <a:xfrm>
            <a:off x="10755173" y="2418588"/>
            <a:ext cx="40490" cy="617220"/>
          </a:xfrm>
          <a:prstGeom prst="rect">
            <a:avLst/>
          </a:prstGeom>
          <a:solidFill>
            <a:schemeClr val="accent1"/>
          </a:solidFill>
          <a:ln/>
        </p:spPr>
      </p:sp>
      <p:sp>
        <p:nvSpPr>
          <p:cNvPr id="160" name="viele gleiche Balken 29"/>
          <p:cNvSpPr/>
          <p:nvPr/>
        </p:nvSpPr>
        <p:spPr>
          <a:xfrm>
            <a:off x="10811408" y="2665476"/>
            <a:ext cx="40490" cy="370332"/>
          </a:xfrm>
          <a:prstGeom prst="rect">
            <a:avLst/>
          </a:prstGeom>
          <a:solidFill>
            <a:schemeClr val="accent1"/>
          </a:solidFill>
          <a:ln/>
        </p:spPr>
      </p:sp>
      <p:sp>
        <p:nvSpPr>
          <p:cNvPr id="161" name="viele gleiche Balken 30"/>
          <p:cNvSpPr/>
          <p:nvPr/>
        </p:nvSpPr>
        <p:spPr>
          <a:xfrm>
            <a:off x="10867644" y="2418588"/>
            <a:ext cx="40490" cy="617220"/>
          </a:xfrm>
          <a:prstGeom prst="rect">
            <a:avLst/>
          </a:prstGeom>
          <a:solidFill>
            <a:schemeClr val="accent1"/>
          </a:solidFill>
          <a:ln/>
        </p:spPr>
      </p:sp>
      <p:sp>
        <p:nvSpPr>
          <p:cNvPr id="162" name="viele gleiche Balken 31"/>
          <p:cNvSpPr/>
          <p:nvPr/>
        </p:nvSpPr>
        <p:spPr>
          <a:xfrm>
            <a:off x="10923880" y="2542032"/>
            <a:ext cx="40490" cy="493776"/>
          </a:xfrm>
          <a:prstGeom prst="rect">
            <a:avLst/>
          </a:prstGeom>
          <a:solidFill>
            <a:schemeClr val="accent1"/>
          </a:solidFill>
          <a:ln/>
        </p:spPr>
      </p:sp>
      <p:sp>
        <p:nvSpPr>
          <p:cNvPr id="163" name="viele gleiche Balken 32"/>
          <p:cNvSpPr/>
          <p:nvPr/>
        </p:nvSpPr>
        <p:spPr>
          <a:xfrm>
            <a:off x="10980115" y="2542032"/>
            <a:ext cx="40490" cy="493776"/>
          </a:xfrm>
          <a:prstGeom prst="rect">
            <a:avLst/>
          </a:prstGeom>
          <a:solidFill>
            <a:schemeClr val="accent1"/>
          </a:solidFill>
          <a:ln/>
        </p:spPr>
      </p:sp>
      <p:sp>
        <p:nvSpPr>
          <p:cNvPr id="164" name="viele gleiche Balken 33"/>
          <p:cNvSpPr/>
          <p:nvPr/>
        </p:nvSpPr>
        <p:spPr>
          <a:xfrm>
            <a:off x="11036351" y="2788920"/>
            <a:ext cx="40490" cy="246888"/>
          </a:xfrm>
          <a:prstGeom prst="rect">
            <a:avLst/>
          </a:prstGeom>
          <a:solidFill>
            <a:schemeClr val="accent1"/>
          </a:solidFill>
          <a:ln/>
        </p:spPr>
      </p:sp>
      <p:sp>
        <p:nvSpPr>
          <p:cNvPr id="165" name="viele gleiche Balken 34"/>
          <p:cNvSpPr/>
          <p:nvPr/>
        </p:nvSpPr>
        <p:spPr>
          <a:xfrm>
            <a:off x="11092586" y="2788920"/>
            <a:ext cx="40490" cy="246888"/>
          </a:xfrm>
          <a:prstGeom prst="rect">
            <a:avLst/>
          </a:prstGeom>
          <a:solidFill>
            <a:schemeClr val="accent1"/>
          </a:solidFill>
          <a:ln/>
        </p:spPr>
      </p:sp>
      <p:sp>
        <p:nvSpPr>
          <p:cNvPr id="166" name="viele gleiche Balken 35"/>
          <p:cNvSpPr/>
          <p:nvPr/>
        </p:nvSpPr>
        <p:spPr>
          <a:xfrm>
            <a:off x="11148822" y="2788920"/>
            <a:ext cx="40490" cy="246888"/>
          </a:xfrm>
          <a:prstGeom prst="rect">
            <a:avLst/>
          </a:prstGeom>
          <a:solidFill>
            <a:schemeClr val="accent1"/>
          </a:solidFill>
          <a:ln/>
        </p:spPr>
      </p:sp>
      <p:sp>
        <p:nvSpPr>
          <p:cNvPr id="167" name="viele gleiche Balken 36"/>
          <p:cNvSpPr/>
          <p:nvPr/>
        </p:nvSpPr>
        <p:spPr>
          <a:xfrm>
            <a:off x="11205058" y="2912364"/>
            <a:ext cx="40490" cy="123444"/>
          </a:xfrm>
          <a:prstGeom prst="rect">
            <a:avLst/>
          </a:prstGeom>
          <a:solidFill>
            <a:schemeClr val="accent1"/>
          </a:solidFill>
          <a:ln/>
        </p:spPr>
      </p:sp>
      <p:sp>
        <p:nvSpPr>
          <p:cNvPr id="168" name="viele gleiche Balken 37"/>
          <p:cNvSpPr/>
          <p:nvPr/>
        </p:nvSpPr>
        <p:spPr>
          <a:xfrm>
            <a:off x="11261293" y="2788920"/>
            <a:ext cx="40490" cy="246888"/>
          </a:xfrm>
          <a:prstGeom prst="rect">
            <a:avLst/>
          </a:prstGeom>
          <a:solidFill>
            <a:schemeClr val="accent1"/>
          </a:solidFill>
          <a:ln/>
        </p:spPr>
      </p:sp>
      <p:sp>
        <p:nvSpPr>
          <p:cNvPr id="169" name="viele gleiche Balken 38"/>
          <p:cNvSpPr/>
          <p:nvPr/>
        </p:nvSpPr>
        <p:spPr>
          <a:xfrm>
            <a:off x="11317529" y="2542032"/>
            <a:ext cx="40490" cy="493776"/>
          </a:xfrm>
          <a:prstGeom prst="rect">
            <a:avLst/>
          </a:prstGeom>
          <a:solidFill>
            <a:schemeClr val="accent1"/>
          </a:solidFill>
          <a:ln/>
        </p:spPr>
      </p:sp>
      <p:sp>
        <p:nvSpPr>
          <p:cNvPr id="170" name="viele gleiche Balken 39"/>
          <p:cNvSpPr/>
          <p:nvPr/>
        </p:nvSpPr>
        <p:spPr>
          <a:xfrm>
            <a:off x="11373764" y="2665476"/>
            <a:ext cx="40490" cy="370332"/>
          </a:xfrm>
          <a:prstGeom prst="rect">
            <a:avLst/>
          </a:prstGeom>
          <a:solidFill>
            <a:schemeClr val="accent1"/>
          </a:solidFill>
          <a:ln/>
        </p:spPr>
      </p:sp>
      <p:sp>
        <p:nvSpPr>
          <p:cNvPr id="171" name="Text 169"/>
          <p:cNvSpPr txBox="1"/>
          <p:nvPr/>
        </p:nvSpPr>
        <p:spPr>
          <a:xfrm>
            <a:off x="548640" y="3273552"/>
            <a:ext cx="11064240" cy="292608"/>
          </a:xfrm>
          <a:prstGeom prst="rect">
            <a:avLst/>
          </a:prstGeom>
          <a:noFill/>
          <a:ln/>
        </p:spPr>
        <p:txBody>
          <a:bodyPr wrap="square" lIns="0" tIns="0" rIns="0" bIns="0" rtlCol="0" anchor="t"/>
          <a:lstStyle/>
          <a:p>
            <a:pPr indent="0" marL="0">
              <a:buNone/>
            </a:pPr>
            <a:r>
              <a:rPr lang="en-US" sz="1400" i="1" dirty="0">
                <a:solidFill>
                  <a:schemeClr val="accent6"/>
                </a:solidFill>
              </a:rPr>
              <a:t>je 40 Balken, aufsteigend sortieren · für alle Teams exakt gleiche Daten · danach Kontrollrunde mit 37 unbekannten Werten</a:t>
            </a:r>
            <a:endParaRPr lang="en-US" sz="1400" dirty="0"/>
          </a:p>
        </p:txBody>
      </p:sp>
      <p:sp>
        <p:nvSpPr>
          <p:cNvPr id="172" name="Erlaubt"/>
          <p:cNvSpPr/>
          <p:nvPr/>
        </p:nvSpPr>
        <p:spPr>
          <a:xfrm>
            <a:off x="548640" y="3657600"/>
            <a:ext cx="3566160" cy="1938528"/>
          </a:xfrm>
          <a:prstGeom prst="roundRect">
            <a:avLst>
              <a:gd name="adj" fmla="val 5660"/>
            </a:avLst>
          </a:prstGeom>
          <a:solidFill>
            <a:schemeClr val="bg1"/>
          </a:solidFill>
          <a:ln w="25400">
            <a:solidFill>
              <a:schemeClr val="accent3"/>
            </a:solidFill>
            <a:prstDash val="solid"/>
          </a:ln>
        </p:spPr>
      </p:sp>
      <p:sp>
        <p:nvSpPr>
          <p:cNvPr id="173" name="Text 171"/>
          <p:cNvSpPr txBox="1"/>
          <p:nvPr/>
        </p:nvSpPr>
        <p:spPr>
          <a:xfrm>
            <a:off x="731520" y="3749040"/>
            <a:ext cx="3246120" cy="1801368"/>
          </a:xfrm>
          <a:prstGeom prst="rect">
            <a:avLst/>
          </a:prstGeom>
          <a:noFill/>
          <a:ln/>
        </p:spPr>
        <p:txBody>
          <a:bodyPr wrap="square" lIns="0" tIns="0" rIns="0" bIns="0" rtlCol="0" anchor="t"/>
          <a:lstStyle/>
          <a:p>
            <a:pPr indent="0" marL="0">
              <a:spcAft>
                <a:spcPts val="200"/>
              </a:spcAft>
              <a:buNone/>
            </a:pPr>
            <a:r>
              <a:rPr lang="en-US" sz="1900" b="1" dirty="0">
                <a:solidFill>
                  <a:schemeClr val="accent3"/>
                </a:solidFill>
              </a:rPr>
              <a:t>Erlaubt</a:t>
            </a:r>
            <a:endParaRPr lang="en-US" sz="1500" dirty="0"/>
          </a:p>
          <a:p>
            <a:pPr marL="342900" indent="-342900">
              <a:spcAft>
                <a:spcPts val="200"/>
              </a:spcAft>
              <a:buSzPct val="100000"/>
              <a:buChar char="•"/>
            </a:pPr>
            <a:r>
              <a:rPr lang="en-US" sz="1500" dirty="0">
                <a:solidFill>
                  <a:schemeClr val="tx1"/>
                </a:solidFill>
              </a:rPr>
              <a:t>Vis.laenge()</a:t>
            </a:r>
            <a:endParaRPr lang="en-US" sz="1500" dirty="0"/>
          </a:p>
          <a:p>
            <a:pPr marL="342900" indent="-342900">
              <a:spcAft>
                <a:spcPts val="200"/>
              </a:spcAft>
              <a:buSzPct val="100000"/>
              <a:buChar char="•"/>
            </a:pPr>
            <a:r>
              <a:rPr lang="en-US" sz="1500" dirty="0">
                <a:solidFill>
                  <a:schemeClr val="tx1"/>
                </a:solidFill>
              </a:rPr>
              <a:t>Vis.kleiner(i, j)  zählt 1 Vergleich</a:t>
            </a:r>
            <a:endParaRPr lang="en-US" sz="1500" dirty="0"/>
          </a:p>
          <a:p>
            <a:pPr marL="342900" indent="-342900">
              <a:spcAft>
                <a:spcPts val="200"/>
              </a:spcAft>
              <a:buSzPct val="100000"/>
              <a:buChar char="•"/>
            </a:pPr>
            <a:r>
              <a:rPr lang="en-US" sz="1500" dirty="0">
                <a:solidFill>
                  <a:schemeClr val="tx1"/>
                </a:solidFill>
              </a:rPr>
              <a:t>Vis.vertausche(i, j)  zählt 1 Tausch</a:t>
            </a:r>
            <a:endParaRPr lang="en-US" sz="1500" dirty="0"/>
          </a:p>
          <a:p>
            <a:pPr marL="342900" indent="-342900">
              <a:spcAft>
                <a:spcPts val="200"/>
              </a:spcAft>
              <a:buSzPct val="100000"/>
              <a:buChar char="•"/>
            </a:pPr>
            <a:r>
              <a:rPr lang="en-US" sz="1500" dirty="0">
                <a:solidFill>
                  <a:schemeClr val="tx1"/>
                </a:solidFill>
              </a:rPr>
              <a:t>eigene Variablen und Hilfsmethoden</a:t>
            </a:r>
            <a:endParaRPr lang="en-US" sz="1500" dirty="0"/>
          </a:p>
        </p:txBody>
      </p:sp>
      <p:sp>
        <p:nvSpPr>
          <p:cNvPr id="174" name="Verboten → ungültig"/>
          <p:cNvSpPr/>
          <p:nvPr/>
        </p:nvSpPr>
        <p:spPr>
          <a:xfrm>
            <a:off x="4297680" y="3657600"/>
            <a:ext cx="3566160" cy="1938528"/>
          </a:xfrm>
          <a:prstGeom prst="roundRect">
            <a:avLst>
              <a:gd name="adj" fmla="val 5660"/>
            </a:avLst>
          </a:prstGeom>
          <a:solidFill>
            <a:schemeClr val="bg1"/>
          </a:solidFill>
          <a:ln w="25400">
            <a:solidFill>
              <a:schemeClr val="accent4"/>
            </a:solidFill>
            <a:prstDash val="solid"/>
          </a:ln>
        </p:spPr>
      </p:sp>
      <p:sp>
        <p:nvSpPr>
          <p:cNvPr id="175" name="Text 173"/>
          <p:cNvSpPr txBox="1"/>
          <p:nvPr/>
        </p:nvSpPr>
        <p:spPr>
          <a:xfrm>
            <a:off x="4480560" y="3749040"/>
            <a:ext cx="3246120" cy="1801368"/>
          </a:xfrm>
          <a:prstGeom prst="rect">
            <a:avLst/>
          </a:prstGeom>
          <a:noFill/>
          <a:ln/>
        </p:spPr>
        <p:txBody>
          <a:bodyPr wrap="square" lIns="0" tIns="0" rIns="0" bIns="0" rtlCol="0" anchor="t"/>
          <a:lstStyle/>
          <a:p>
            <a:pPr indent="0" marL="0">
              <a:spcAft>
                <a:spcPts val="200"/>
              </a:spcAft>
              <a:buNone/>
            </a:pPr>
            <a:r>
              <a:rPr lang="en-US" sz="1900" b="1" dirty="0">
                <a:solidFill>
                  <a:schemeClr val="accent4"/>
                </a:solidFill>
              </a:rPr>
              <a:t>Verboten → ungültig</a:t>
            </a:r>
            <a:endParaRPr lang="en-US" sz="1500" dirty="0"/>
          </a:p>
          <a:p>
            <a:pPr marL="342900" indent="-342900">
              <a:spcAft>
                <a:spcPts val="200"/>
              </a:spcAft>
              <a:buSzPct val="100000"/>
              <a:buChar char="•"/>
            </a:pPr>
            <a:r>
              <a:rPr lang="en-US" sz="1500" dirty="0">
                <a:solidFill>
                  <a:schemeClr val="tx1"/>
                </a:solidFill>
              </a:rPr>
              <a:t>Vis.wert(i)  liefert im Duell −1</a:t>
            </a:r>
            <a:endParaRPr lang="en-US" sz="1500" dirty="0"/>
          </a:p>
          <a:p>
            <a:pPr marL="342900" indent="-342900">
              <a:spcAft>
                <a:spcPts val="200"/>
              </a:spcAft>
              <a:buSzPct val="100000"/>
              <a:buChar char="•"/>
            </a:pPr>
            <a:r>
              <a:rPr lang="en-US" sz="1500" dirty="0">
                <a:solidFill>
                  <a:schemeClr val="tx1"/>
                </a:solidFill>
              </a:rPr>
              <a:t>feste Tauschfolgen, 40 statt Vis.laenge()</a:t>
            </a:r>
            <a:endParaRPr lang="en-US" sz="1500" dirty="0"/>
          </a:p>
          <a:p>
            <a:pPr marL="342900" indent="-342900">
              <a:spcAft>
                <a:spcPts val="200"/>
              </a:spcAft>
              <a:buSzPct val="100000"/>
              <a:buChar char="•"/>
            </a:pPr>
            <a:r>
              <a:rPr lang="en-US" sz="1500" dirty="0">
                <a:solidFill>
                  <a:schemeClr val="tx1"/>
                </a:solidFill>
              </a:rPr>
              <a:t>Vis.starten, Vis.fertig, Vis verändern</a:t>
            </a:r>
            <a:endParaRPr lang="en-US" sz="1500" dirty="0"/>
          </a:p>
        </p:txBody>
      </p:sp>
      <p:sp>
        <p:nvSpPr>
          <p:cNvPr id="176" name="Wertung"/>
          <p:cNvSpPr/>
          <p:nvPr/>
        </p:nvSpPr>
        <p:spPr>
          <a:xfrm>
            <a:off x="8046720" y="3657600"/>
            <a:ext cx="3566160" cy="1938528"/>
          </a:xfrm>
          <a:prstGeom prst="roundRect">
            <a:avLst>
              <a:gd name="adj" fmla="val 5660"/>
            </a:avLst>
          </a:prstGeom>
          <a:solidFill>
            <a:schemeClr val="bg1"/>
          </a:solidFill>
          <a:ln w="25400">
            <a:solidFill>
              <a:schemeClr val="accent2"/>
            </a:solidFill>
            <a:prstDash val="solid"/>
          </a:ln>
        </p:spPr>
      </p:sp>
      <p:sp>
        <p:nvSpPr>
          <p:cNvPr id="177" name="Text 175"/>
          <p:cNvSpPr txBox="1"/>
          <p:nvPr/>
        </p:nvSpPr>
        <p:spPr>
          <a:xfrm>
            <a:off x="8229600" y="3749040"/>
            <a:ext cx="3246120" cy="1801368"/>
          </a:xfrm>
          <a:prstGeom prst="rect">
            <a:avLst/>
          </a:prstGeom>
          <a:noFill/>
          <a:ln/>
        </p:spPr>
        <p:txBody>
          <a:bodyPr wrap="square" lIns="0" tIns="0" rIns="0" bIns="0" rtlCol="0" anchor="t"/>
          <a:lstStyle/>
          <a:p>
            <a:pPr indent="0" marL="0">
              <a:spcAft>
                <a:spcPts val="200"/>
              </a:spcAft>
              <a:buNone/>
            </a:pPr>
            <a:r>
              <a:rPr lang="en-US" sz="1900" b="1" dirty="0">
                <a:solidFill>
                  <a:schemeClr val="accent2"/>
                </a:solidFill>
              </a:rPr>
              <a:t>Wertung</a:t>
            </a:r>
            <a:endParaRPr lang="en-US" sz="1500" dirty="0"/>
          </a:p>
          <a:p>
            <a:pPr marL="342900" indent="-342900">
              <a:spcAft>
                <a:spcPts val="200"/>
              </a:spcAft>
              <a:buSzPct val="100000"/>
              <a:buChar char="•"/>
            </a:pPr>
            <a:r>
              <a:rPr lang="en-US" sz="1500" dirty="0">
                <a:solidFill>
                  <a:schemeClr val="tx1"/>
                </a:solidFill>
              </a:rPr>
              <a:t>Summe der Vergleiche aus 4 Runden</a:t>
            </a:r>
            <a:endParaRPr lang="en-US" sz="1500" dirty="0"/>
          </a:p>
          <a:p>
            <a:pPr marL="342900" indent="-342900">
              <a:spcAft>
                <a:spcPts val="200"/>
              </a:spcAft>
              <a:buSzPct val="100000"/>
              <a:buChar char="•"/>
            </a:pPr>
            <a:r>
              <a:rPr lang="en-US" sz="1500" dirty="0">
                <a:solidFill>
                  <a:schemeClr val="tx1"/>
                </a:solidFill>
              </a:rPr>
              <a:t>weniger ist besser</a:t>
            </a:r>
            <a:endParaRPr lang="en-US" sz="1500" dirty="0"/>
          </a:p>
          <a:p>
            <a:pPr marL="342900" indent="-342900">
              <a:spcAft>
                <a:spcPts val="200"/>
              </a:spcAft>
              <a:buSzPct val="100000"/>
              <a:buChar char="•"/>
            </a:pPr>
            <a:r>
              <a:rPr lang="en-US" sz="1500" dirty="0">
                <a:solidFill>
                  <a:schemeClr val="tx1"/>
                </a:solidFill>
              </a:rPr>
              <a:t>Gleichstand: weniger Vertauschungen</a:t>
            </a:r>
            <a:endParaRPr lang="en-US" sz="1500" dirty="0"/>
          </a:p>
          <a:p>
            <a:pPr marL="342900" indent="-342900">
              <a:spcAft>
                <a:spcPts val="200"/>
              </a:spcAft>
              <a:buSzPct val="100000"/>
              <a:buChar char="•"/>
            </a:pPr>
            <a:r>
              <a:rPr lang="en-US" sz="1500" dirty="0">
                <a:solidFill>
                  <a:schemeClr val="tx1"/>
                </a:solidFill>
              </a:rPr>
              <a:t>gültig nur, wenn alle 5 Runden sortiert</a:t>
            </a:r>
            <a:endParaRPr lang="en-US" sz="1500" dirty="0"/>
          </a:p>
        </p:txBody>
      </p:sp>
      <p:sp>
        <p:nvSpPr>
          <p:cNvPr id="178" name="Marke"/>
          <p:cNvSpPr/>
          <p:nvPr/>
        </p:nvSpPr>
        <p:spPr>
          <a:xfrm>
            <a:off x="548640" y="5733288"/>
            <a:ext cx="11064240" cy="411480"/>
          </a:xfrm>
          <a:prstGeom prst="roundRect">
            <a:avLst>
              <a:gd name="adj" fmla="val 26667"/>
            </a:avLst>
          </a:prstGeom>
          <a:solidFill>
            <a:schemeClr val="bg2"/>
          </a:solidFill>
          <a:ln/>
        </p:spPr>
      </p:sp>
      <p:sp>
        <p:nvSpPr>
          <p:cNvPr id="179" name="Text 177"/>
          <p:cNvSpPr txBox="1"/>
          <p:nvPr/>
        </p:nvSpPr>
        <p:spPr>
          <a:xfrm>
            <a:off x="777240" y="5733288"/>
            <a:ext cx="10698480" cy="411480"/>
          </a:xfrm>
          <a:prstGeom prst="rect">
            <a:avLst/>
          </a:prstGeom>
          <a:noFill/>
          <a:ln/>
        </p:spPr>
        <p:txBody>
          <a:bodyPr wrap="square" lIns="0" tIns="0" rIns="0" bIns="0" rtlCol="0" anchor="ctr"/>
          <a:lstStyle/>
          <a:p>
            <a:pPr indent="0" marL="0">
              <a:buNone/>
            </a:pPr>
            <a:r>
              <a:rPr lang="en-US" sz="1700" b="1" dirty="0">
                <a:solidFill>
                  <a:schemeClr val="accent1"/>
                </a:solidFill>
              </a:rPr>
              <a:t>Die Marke zum Schlagen: </a:t>
            </a:r>
            <a:pPr indent="0" marL="0">
              <a:buNone/>
            </a:pPr>
            <a:r>
              <a:rPr lang="en-US" sz="1700" dirty="0">
                <a:solidFill>
                  <a:schemeClr val="tx1"/>
                </a:solidFill>
              </a:rPr>
              <a:t>Das Gerüst-duellSort (Insertionsort) braucht </a:t>
            </a:r>
            <a:pPr indent="0" marL="0">
              <a:buNone/>
            </a:pPr>
            <a:r>
              <a:rPr lang="en-US" sz="1700" b="1" dirty="0">
                <a:solidFill>
                  <a:schemeClr val="accent2"/>
                </a:solidFill>
              </a:rPr>
              <a:t>1612 Vergleiche</a:t>
            </a:r>
            <a:pPr indent="0" marL="0">
              <a:buNone/>
            </a:pPr>
            <a:r>
              <a:rPr lang="en-US" sz="1700" dirty="0">
                <a:solidFill>
                  <a:schemeClr val="tx1"/>
                </a:solidFill>
              </a:rPr>
              <a:t>. Geht es sparsamer?</a:t>
            </a:r>
            <a:endParaRPr lang="en-US" sz="17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Das Duell auswerten: Team-Wertung an der Tafel</a:t>
            </a:r>
            <a:endParaRPr lang="en-US" sz="3600" dirty="0"/>
          </a:p>
        </p:txBody>
      </p:sp>
      <p:graphicFrame>
        <p:nvGraphicFramePr>
          <p:cNvPr id="19" name="Duell-Tabelle"/>
          <p:cNvGraphicFramePr>
            <a:graphicFrameLocks noGrp="1"/>
          </p:cNvGraphicFramePr>
          <p:nvPr>
            <p:extLst>
              <p:ext uri="{D42A27DB-BD31-4B8C-83A1-F6EECF244321}">
                <p14:modId xmlns:p14="http://schemas.microsoft.com/office/powerpoint/2010/main" val="1579011935"/>
              </p:ext>
            </p:extLst>
          </p:nvPr>
        </p:nvGraphicFramePr>
        <p:xfrm>
          <a:off x="548640" y="1371600"/>
          <a:ext cx="5760720" cy="914400"/>
        </p:xfrm>
        <a:graphic>
          <a:graphicData uri="http://schemas.openxmlformats.org/drawingml/2006/table">
            <a:tbl>
              <a:tblPr/>
              <a:tblGrid>
                <a:gridCol w="1554480"/>
                <a:gridCol w="1371600"/>
                <a:gridCol w="1645920"/>
                <a:gridCol w="1188720"/>
              </a:tblGrid>
              <a:tr h="411480">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Team</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Vergleiche</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Vertauschungen</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gültig?</a:t>
                      </a:r>
                      <a:endParaRPr lang="en-US" sz="15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11480">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indent="0" marL="0">
                        <a:buNone/>
                      </a:pPr>
                      <a:endParaRPr lang="en-US" sz="12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297680"/>
            <a:ext cx="5760720" cy="274320"/>
          </a:xfrm>
          <a:prstGeom prst="rect">
            <a:avLst/>
          </a:prstGeom>
          <a:noFill/>
          <a:ln/>
        </p:spPr>
        <p:txBody>
          <a:bodyPr wrap="square" lIns="0" tIns="0" rIns="0" bIns="0" rtlCol="0" anchor="t"/>
          <a:lstStyle/>
          <a:p>
            <a:pPr indent="0" marL="0">
              <a:buNone/>
            </a:pPr>
            <a:r>
              <a:rPr lang="en-US" sz="1300" i="1" dirty="0">
                <a:solidFill>
                  <a:schemeClr val="accent6"/>
                </a:solidFill>
              </a:rPr>
              <a:t>Vorlage für Tafel oder Beamer – Unterrichtsspiel ohne Lab-Wertung</a:t>
            </a:r>
            <a:endParaRPr lang="en-US" sz="1300" dirty="0"/>
          </a:p>
        </p:txBody>
      </p:sp>
      <p:sp>
        <p:nvSpPr>
          <p:cNvPr id="5" name="Text 2"/>
          <p:cNvSpPr txBox="1"/>
          <p:nvPr/>
        </p:nvSpPr>
        <p:spPr>
          <a:xfrm>
            <a:off x="548640" y="4983480"/>
            <a:ext cx="5760720" cy="548640"/>
          </a:xfrm>
          <a:prstGeom prst="rect">
            <a:avLst/>
          </a:prstGeom>
          <a:solidFill>
            <a:schemeClr val="accent5"/>
          </a:solidFill>
          <a:ln w="9525">
            <a:solidFill>
              <a:srgbClr val="D0D0D0"/>
            </a:solidFill>
          </a:ln>
        </p:spPr>
        <p:txBody>
          <a:bodyPr wrap="square" lIns="127000" tIns="0" rIns="76200" bIns="0" rtlCol="0" anchor="ctr"/>
          <a:lstStyle/>
          <a:p>
            <a:pPr indent="0" marL="0">
              <a:buNone/>
            </a:pPr>
            <a:r>
              <a:rPr lang="en-US" sz="1100" dirty="0">
                <a:solidFill>
                  <a:schemeClr val="tx1"/>
                </a:solidFill>
                <a:latin typeface="Consolas" pitchFamily="34" charset="0"/>
                <a:ea typeface="Consolas" pitchFamily="34" charset="-122"/>
                <a:cs typeface="Consolas" pitchFamily="34" charset="-120"/>
              </a:rPr>
              <a:t>DUELL-ERGEBNIS: Vergleiche = …, Vertauschungen = …, gueltig = ja</a:t>
            </a:r>
            <a:endParaRPr lang="en-US" sz="1100" dirty="0"/>
          </a:p>
        </p:txBody>
      </p:sp>
      <p:sp>
        <p:nvSpPr>
          <p:cNvPr id="6" name="Text 3"/>
          <p:cNvSpPr txBox="1"/>
          <p:nvPr/>
        </p:nvSpPr>
        <p:spPr>
          <a:xfrm>
            <a:off x="548640" y="5577840"/>
            <a:ext cx="5760720" cy="274320"/>
          </a:xfrm>
          <a:prstGeom prst="rect">
            <a:avLst/>
          </a:prstGeom>
          <a:noFill/>
          <a:ln/>
        </p:spPr>
        <p:txBody>
          <a:bodyPr wrap="square" lIns="0" tIns="0" rIns="0" bIns="0" rtlCol="0" anchor="t"/>
          <a:lstStyle/>
          <a:p>
            <a:pPr indent="0" marL="0">
              <a:buNone/>
            </a:pPr>
            <a:r>
              <a:rPr lang="en-US" sz="1300" i="1" dirty="0">
                <a:solidFill>
                  <a:schemeClr val="accent6"/>
                </a:solidFill>
              </a:rPr>
              <a:t>letzte Zeile der Konsole nach Duell.starten()</a:t>
            </a:r>
            <a:endParaRPr lang="en-US" sz="1300" dirty="0"/>
          </a:p>
        </p:txBody>
      </p:sp>
      <p:sp>
        <p:nvSpPr>
          <p:cNvPr id="7" name="Text 4"/>
          <p:cNvSpPr txBox="1"/>
          <p:nvPr/>
        </p:nvSpPr>
        <p:spPr>
          <a:xfrm>
            <a:off x="6720840" y="1444752"/>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8" name="Text 5"/>
          <p:cNvSpPr txBox="1"/>
          <p:nvPr/>
        </p:nvSpPr>
        <p:spPr>
          <a:xfrm>
            <a:off x="7360920" y="1371600"/>
            <a:ext cx="4251960" cy="777240"/>
          </a:xfrm>
          <a:prstGeom prst="rect">
            <a:avLst/>
          </a:prstGeom>
          <a:noFill/>
          <a:ln/>
        </p:spPr>
        <p:txBody>
          <a:bodyPr wrap="square" lIns="0" tIns="0" rIns="0" bIns="0" rtlCol="0" anchor="t"/>
          <a:lstStyle/>
          <a:p>
            <a:pPr indent="0" marL="0">
              <a:buNone/>
            </a:pPr>
            <a:r>
              <a:rPr lang="en-US" sz="1700" b="1" dirty="0">
                <a:solidFill>
                  <a:schemeClr val="accent1"/>
                </a:solidFill>
              </a:rPr>
              <a:t>Duell.starten()</a:t>
            </a:r>
            <a:endParaRPr lang="en-US" sz="1700" dirty="0"/>
          </a:p>
          <a:p>
            <a:pPr indent="0" marL="0">
              <a:buNone/>
            </a:pPr>
            <a:r>
              <a:rPr lang="en-US" sz="1500" dirty="0">
                <a:solidFill>
                  <a:schemeClr val="tx1"/>
                </a:solidFill>
              </a:rPr>
              <a:t>vier Runden + Kontrollrunde, am Ende die Ergebniszeile</a:t>
            </a:r>
            <a:endParaRPr lang="en-US" sz="1700" dirty="0"/>
          </a:p>
        </p:txBody>
      </p:sp>
      <p:sp>
        <p:nvSpPr>
          <p:cNvPr id="9" name="Text 6"/>
          <p:cNvSpPr txBox="1"/>
          <p:nvPr/>
        </p:nvSpPr>
        <p:spPr>
          <a:xfrm>
            <a:off x="6720840" y="2313432"/>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0" name="Text 7"/>
          <p:cNvSpPr txBox="1"/>
          <p:nvPr/>
        </p:nvSpPr>
        <p:spPr>
          <a:xfrm>
            <a:off x="7360920" y="2240280"/>
            <a:ext cx="4251960" cy="777240"/>
          </a:xfrm>
          <a:prstGeom prst="rect">
            <a:avLst/>
          </a:prstGeom>
          <a:noFill/>
          <a:ln/>
        </p:spPr>
        <p:txBody>
          <a:bodyPr wrap="square" lIns="0" tIns="0" rIns="0" bIns="0" rtlCol="0" anchor="t"/>
          <a:lstStyle/>
          <a:p>
            <a:pPr indent="0" marL="0">
              <a:buNone/>
            </a:pPr>
            <a:r>
              <a:rPr lang="en-US" sz="1700" b="1" dirty="0">
                <a:solidFill>
                  <a:schemeClr val="accent1"/>
                </a:solidFill>
              </a:rPr>
              <a:t>Ein Ergebnis je Team</a:t>
            </a:r>
            <a:endParaRPr lang="en-US" sz="1700" dirty="0"/>
          </a:p>
          <a:p>
            <a:pPr indent="0" marL="0">
              <a:buNone/>
            </a:pPr>
            <a:r>
              <a:rPr lang="en-US" sz="1500" dirty="0">
                <a:solidFill>
                  <a:schemeClr val="tx1"/>
                </a:solidFill>
              </a:rPr>
              <a:t>das Team entscheidet, welche Version antritt</a:t>
            </a:r>
            <a:endParaRPr lang="en-US" sz="1700" dirty="0"/>
          </a:p>
        </p:txBody>
      </p:sp>
      <p:sp>
        <p:nvSpPr>
          <p:cNvPr id="11" name="Text 8"/>
          <p:cNvSpPr txBox="1"/>
          <p:nvPr/>
        </p:nvSpPr>
        <p:spPr>
          <a:xfrm>
            <a:off x="6720840" y="3182112"/>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2" name="Text 9"/>
          <p:cNvSpPr txBox="1"/>
          <p:nvPr/>
        </p:nvSpPr>
        <p:spPr>
          <a:xfrm>
            <a:off x="7360920" y="3108960"/>
            <a:ext cx="4251960" cy="777240"/>
          </a:xfrm>
          <a:prstGeom prst="rect">
            <a:avLst/>
          </a:prstGeom>
          <a:noFill/>
          <a:ln/>
        </p:spPr>
        <p:txBody>
          <a:bodyPr wrap="square" lIns="0" tIns="0" rIns="0" bIns="0" rtlCol="0" anchor="t"/>
          <a:lstStyle/>
          <a:p>
            <a:pPr indent="0" marL="0">
              <a:buNone/>
            </a:pPr>
            <a:r>
              <a:rPr lang="en-US" sz="1700" b="1" dirty="0">
                <a:solidFill>
                  <a:schemeClr val="accent1"/>
                </a:solidFill>
              </a:rPr>
              <a:t>Eintrag in die Tabelle</a:t>
            </a:r>
            <a:endParaRPr lang="en-US" sz="1700" dirty="0"/>
          </a:p>
          <a:p>
            <a:pPr indent="0" marL="0">
              <a:buNone/>
            </a:pPr>
            <a:r>
              <a:rPr lang="en-US" sz="1500" dirty="0">
                <a:solidFill>
                  <a:schemeClr val="tx1"/>
                </a:solidFill>
              </a:rPr>
              <a:t>Vergleiche, Vertauschungen, gültig – an der Tafel oder am Beamer</a:t>
            </a:r>
            <a:endParaRPr lang="en-US" sz="1700" dirty="0"/>
          </a:p>
        </p:txBody>
      </p:sp>
      <p:sp>
        <p:nvSpPr>
          <p:cNvPr id="13" name="Text 10"/>
          <p:cNvSpPr txBox="1"/>
          <p:nvPr/>
        </p:nvSpPr>
        <p:spPr>
          <a:xfrm>
            <a:off x="6720840" y="4050792"/>
            <a:ext cx="457200" cy="457200"/>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4" name="Text 11"/>
          <p:cNvSpPr txBox="1"/>
          <p:nvPr/>
        </p:nvSpPr>
        <p:spPr>
          <a:xfrm>
            <a:off x="7360920" y="3977640"/>
            <a:ext cx="4251960" cy="777240"/>
          </a:xfrm>
          <a:prstGeom prst="rect">
            <a:avLst/>
          </a:prstGeom>
          <a:noFill/>
          <a:ln/>
        </p:spPr>
        <p:txBody>
          <a:bodyPr wrap="square" lIns="0" tIns="0" rIns="0" bIns="0" rtlCol="0" anchor="t"/>
          <a:lstStyle/>
          <a:p>
            <a:pPr indent="0" marL="0">
              <a:buNone/>
            </a:pPr>
            <a:r>
              <a:rPr lang="en-US" sz="1700" b="1" dirty="0">
                <a:solidFill>
                  <a:schemeClr val="accent1"/>
                </a:solidFill>
              </a:rPr>
              <a:t>Sieger</a:t>
            </a:r>
            <a:endParaRPr lang="en-US" sz="1700" dirty="0"/>
          </a:p>
          <a:p>
            <a:pPr indent="0" marL="0">
              <a:buNone/>
            </a:pPr>
            <a:r>
              <a:rPr lang="en-US" sz="1500" dirty="0">
                <a:solidFill>
                  <a:schemeClr val="tx1"/>
                </a:solidFill>
              </a:rPr>
              <a:t>wenigste Vergleiche; ungültige Ergebnisse werden gestrichen</a:t>
            </a:r>
            <a:endParaRPr lang="en-US" sz="1700" dirty="0"/>
          </a:p>
        </p:txBody>
      </p:sp>
      <p:sp>
        <p:nvSpPr>
          <p:cNvPr id="15" name="Siegerlösung"/>
          <p:cNvSpPr/>
          <p:nvPr/>
        </p:nvSpPr>
        <p:spPr>
          <a:xfrm>
            <a:off x="6720840" y="4983480"/>
            <a:ext cx="4892040" cy="1143000"/>
          </a:xfrm>
          <a:prstGeom prst="roundRect">
            <a:avLst>
              <a:gd name="adj" fmla="val 9600"/>
            </a:avLst>
          </a:prstGeom>
          <a:solidFill>
            <a:schemeClr val="accent1"/>
          </a:solidFill>
          <a:ln/>
          <a:effectLst>
            <a:outerShdw sx="100000" sy="100000" kx="0" ky="0" algn="bl" rotWithShape="0" blurRad="76200" dist="25400" dir="5400000">
              <a:srgbClr val="000000">
                <a:alpha val="18000"/>
              </a:srgbClr>
            </a:outerShdw>
          </a:effectLst>
        </p:spPr>
      </p:sp>
      <p:sp>
        <p:nvSpPr>
          <p:cNvPr id="16" name="Icon-Kreis"/>
          <p:cNvSpPr/>
          <p:nvPr/>
        </p:nvSpPr>
        <p:spPr>
          <a:xfrm>
            <a:off x="6903720" y="5120640"/>
            <a:ext cx="868680" cy="868680"/>
          </a:xfrm>
          <a:prstGeom prst="ellipse">
            <a:avLst/>
          </a:prstGeom>
          <a:solidFill>
            <a:schemeClr val="accent2"/>
          </a:solidFill>
          <a:ln/>
        </p:spPr>
      </p:sp>
      <p:pic>
        <p:nvPicPr>
          <p:cNvPr id="17" name="Icon GiSprint" descr="preencoded.png">    </p:cNvPr>
          <p:cNvPicPr>
            <a:picLocks noChangeAspect="1"/>
          </p:cNvPicPr>
          <p:nvPr/>
        </p:nvPicPr>
        <p:blipFill>
          <a:blip r:embed="rId1"/>
          <a:stretch>
            <a:fillRect/>
          </a:stretch>
        </p:blipFill>
        <p:spPr>
          <a:xfrm>
            <a:off x="7094830" y="5311750"/>
            <a:ext cx="486461" cy="486461"/>
          </a:xfrm>
          <a:prstGeom prst="rect">
            <a:avLst/>
          </a:prstGeom>
        </p:spPr>
      </p:pic>
      <p:sp>
        <p:nvSpPr>
          <p:cNvPr id="18" name="Text 14"/>
          <p:cNvSpPr txBox="1"/>
          <p:nvPr/>
        </p:nvSpPr>
        <p:spPr>
          <a:xfrm>
            <a:off x="7955280" y="4983480"/>
            <a:ext cx="3566160" cy="1143000"/>
          </a:xfrm>
          <a:prstGeom prst="rect">
            <a:avLst/>
          </a:prstGeom>
          <a:noFill/>
          <a:ln/>
        </p:spPr>
        <p:txBody>
          <a:bodyPr wrap="square" lIns="0" tIns="0" rIns="0" bIns="0" rtlCol="0" anchor="ctr"/>
          <a:lstStyle/>
          <a:p>
            <a:pPr indent="0" marL="0">
              <a:buNone/>
            </a:pPr>
            <a:r>
              <a:rPr lang="en-US" sz="2000" b="1" dirty="0">
                <a:solidFill>
                  <a:schemeClr val="accent2"/>
                </a:solidFill>
              </a:rPr>
              <a:t>Siegerlösung vorstellen</a:t>
            </a:r>
            <a:endParaRPr lang="en-US" sz="1800" dirty="0"/>
          </a:p>
          <a:p>
            <a:pPr indent="0" marL="0">
              <a:buNone/>
            </a:pPr>
            <a:r>
              <a:rPr lang="en-US" sz="1500" dirty="0">
                <a:solidFill>
                  <a:schemeClr val="bg1"/>
                </a:solidFill>
              </a:rPr>
              <a:t>Ruhm statt Punkte – Punkte gibt es nur im Lab</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Binäre Suche: halbieren statt durchlaufen</a:t>
            </a:r>
            <a:endParaRPr lang="en-US" sz="3600" dirty="0"/>
          </a:p>
        </p:txBody>
      </p:sp>
      <p:sp>
        <p:nvSpPr>
          <p:cNvPr id="3" name="Code"/>
          <p:cNvSpPr txBox="1"/>
          <p:nvPr/>
        </p:nvSpPr>
        <p:spPr>
          <a:xfrm>
            <a:off x="548640" y="1325880"/>
            <a:ext cx="5943600" cy="39593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public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static</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binaer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x</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lo</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0;</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length</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- 1;</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while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lo</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&lt;=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int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mid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lo</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2;</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if</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mid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x</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mid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if</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r</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mid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&lt;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x</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lo</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mid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+ 1;</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else</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hi</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mid</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- 1;</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a:t>
            </a:r>
            <a:pPr algn="l" indent="0" marL="0">
              <a:lnSpc>
                <a:spcPts val="1800"/>
              </a:lnSpc>
              <a:buNone/>
            </a:pPr>
            <a:r>
              <a:rPr lang="en-US" sz="1400" b="1" dirty="0">
                <a:solidFill>
                  <a:schemeClr val="accent1"/>
                </a:solidFill>
                <a:latin typeface="Consolas" pitchFamily="34" charset="0"/>
                <a:ea typeface="Consolas" pitchFamily="34" charset="-122"/>
                <a:cs typeface="Consolas" pitchFamily="34" charset="-120"/>
              </a:rPr>
              <a:t>return</a:t>
            </a:r>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 -1;</a:t>
            </a:r>
            <a:endParaRPr lang="en-US" sz="1400" dirty="0"/>
          </a:p>
          <a:p>
            <a:pPr algn="l" indent="0" marL="0">
              <a:lnSpc>
                <a:spcPts val="1800"/>
              </a:lnSpc>
              <a:buNone/>
            </a:pPr>
            <a:r>
              <a:rPr lang="en-US" sz="1400" dirty="0">
                <a:solidFill>
                  <a:schemeClr val="tx1"/>
                </a:solidFill>
                <a:latin typeface="Consolas" pitchFamily="34" charset="0"/>
                <a:ea typeface="Consolas" pitchFamily="34" charset="-122"/>
                <a:cs typeface="Consolas" pitchFamily="34" charset="-120"/>
              </a:rPr>
              <a:t>}</a:t>
            </a:r>
            <a:endParaRPr lang="en-US" sz="1400" dirty="0"/>
          </a:p>
        </p:txBody>
      </p:sp>
      <p:sp>
        <p:nvSpPr>
          <p:cNvPr id="4" name="Text 2"/>
          <p:cNvSpPr txBox="1"/>
          <p:nvPr/>
        </p:nvSpPr>
        <p:spPr>
          <a:xfrm>
            <a:off x="548640" y="5340096"/>
            <a:ext cx="5943600" cy="274320"/>
          </a:xfrm>
          <a:prstGeom prst="rect">
            <a:avLst/>
          </a:prstGeom>
          <a:noFill/>
          <a:ln/>
        </p:spPr>
        <p:txBody>
          <a:bodyPr wrap="square" lIns="0" tIns="0" rIns="0" bIns="0" rtlCol="0" anchor="t"/>
          <a:lstStyle/>
          <a:p>
            <a:pPr indent="0" marL="0">
              <a:buNone/>
            </a:pPr>
            <a:r>
              <a:rPr lang="en-US" sz="1300" i="1" dirty="0">
                <a:solidFill>
                  <a:schemeClr val="accent6"/>
                </a:solidFill>
              </a:rPr>
              <a:t>aus IDE-Level 2.3 (Klasse Suche), ohne Zähler</a:t>
            </a:r>
            <a:endParaRPr lang="en-US" sz="1300" dirty="0"/>
          </a:p>
        </p:txBody>
      </p:sp>
      <p:sp>
        <p:nvSpPr>
          <p:cNvPr id="5" name="Icon-Kreis"/>
          <p:cNvSpPr/>
          <p:nvPr/>
        </p:nvSpPr>
        <p:spPr>
          <a:xfrm>
            <a:off x="6812280" y="1371600"/>
            <a:ext cx="731520" cy="731520"/>
          </a:xfrm>
          <a:prstGeom prst="ellipse">
            <a:avLst/>
          </a:prstGeom>
          <a:solidFill>
            <a:schemeClr val="accent1"/>
          </a:solidFill>
          <a:ln/>
        </p:spPr>
      </p:sp>
      <p:pic>
        <p:nvPicPr>
          <p:cNvPr id="6" name="Icon GiMagnifyingGlass" descr="preencoded.png">    </p:cNvPr>
          <p:cNvPicPr>
            <a:picLocks noChangeAspect="1"/>
          </p:cNvPicPr>
          <p:nvPr/>
        </p:nvPicPr>
        <p:blipFill>
          <a:blip r:embed="rId1"/>
          <a:stretch>
            <a:fillRect/>
          </a:stretch>
        </p:blipFill>
        <p:spPr>
          <a:xfrm>
            <a:off x="6973214" y="1532534"/>
            <a:ext cx="409651" cy="409651"/>
          </a:xfrm>
          <a:prstGeom prst="rect">
            <a:avLst/>
          </a:prstGeom>
        </p:spPr>
      </p:pic>
      <p:sp>
        <p:nvSpPr>
          <p:cNvPr id="7" name="Text 4"/>
          <p:cNvSpPr txBox="1"/>
          <p:nvPr/>
        </p:nvSpPr>
        <p:spPr>
          <a:xfrm>
            <a:off x="7726680" y="1325880"/>
            <a:ext cx="3886200" cy="914400"/>
          </a:xfrm>
          <a:prstGeom prst="rect">
            <a:avLst/>
          </a:prstGeom>
          <a:noFill/>
          <a:ln/>
        </p:spPr>
        <p:txBody>
          <a:bodyPr wrap="square" lIns="0" tIns="0" rIns="0" bIns="0" rtlCol="0" anchor="t"/>
          <a:lstStyle/>
          <a:p>
            <a:pPr indent="0" marL="0">
              <a:buNone/>
            </a:pPr>
            <a:r>
              <a:rPr lang="en-US" sz="1800" b="1" dirty="0">
                <a:solidFill>
                  <a:schemeClr val="accent1"/>
                </a:solidFill>
              </a:rPr>
              <a:t>Mitte ansehen</a:t>
            </a:r>
            <a:endParaRPr lang="en-US" sz="1800" dirty="0"/>
          </a:p>
          <a:p>
            <a:pPr indent="0" marL="0">
              <a:buNone/>
            </a:pPr>
            <a:r>
              <a:rPr lang="en-US" sz="1500" dirty="0">
                <a:solidFill>
                  <a:schemeClr val="tx1"/>
                </a:solidFill>
              </a:rPr>
              <a:t>mid = (lo + hi) / 2 – ganzzahlig geteilt</a:t>
            </a:r>
            <a:endParaRPr lang="en-US" sz="1800" dirty="0"/>
          </a:p>
        </p:txBody>
      </p:sp>
      <p:sp>
        <p:nvSpPr>
          <p:cNvPr id="8" name="Icon-Kreis"/>
          <p:cNvSpPr/>
          <p:nvPr/>
        </p:nvSpPr>
        <p:spPr>
          <a:xfrm>
            <a:off x="6812280" y="2395728"/>
            <a:ext cx="731520" cy="731520"/>
          </a:xfrm>
          <a:prstGeom prst="ellipse">
            <a:avLst/>
          </a:prstGeom>
          <a:solidFill>
            <a:schemeClr val="accent1"/>
          </a:solidFill>
          <a:ln/>
        </p:spPr>
      </p:sp>
      <p:pic>
        <p:nvPicPr>
          <p:cNvPr id="9" name="Icon GiSplitArrows" descr="preencoded.png">    </p:cNvPr>
          <p:cNvPicPr>
            <a:picLocks noChangeAspect="1"/>
          </p:cNvPicPr>
          <p:nvPr/>
        </p:nvPicPr>
        <p:blipFill>
          <a:blip r:embed="rId2"/>
          <a:stretch>
            <a:fillRect/>
          </a:stretch>
        </p:blipFill>
        <p:spPr>
          <a:xfrm>
            <a:off x="6973214" y="2556662"/>
            <a:ext cx="409651" cy="409651"/>
          </a:xfrm>
          <a:prstGeom prst="rect">
            <a:avLst/>
          </a:prstGeom>
        </p:spPr>
      </p:pic>
      <p:sp>
        <p:nvSpPr>
          <p:cNvPr id="10" name="Text 6"/>
          <p:cNvSpPr txBox="1"/>
          <p:nvPr/>
        </p:nvSpPr>
        <p:spPr>
          <a:xfrm>
            <a:off x="7726680" y="2350008"/>
            <a:ext cx="3886200" cy="914400"/>
          </a:xfrm>
          <a:prstGeom prst="rect">
            <a:avLst/>
          </a:prstGeom>
          <a:noFill/>
          <a:ln/>
        </p:spPr>
        <p:txBody>
          <a:bodyPr wrap="square" lIns="0" tIns="0" rIns="0" bIns="0" rtlCol="0" anchor="t"/>
          <a:lstStyle/>
          <a:p>
            <a:pPr indent="0" marL="0">
              <a:buNone/>
            </a:pPr>
            <a:r>
              <a:rPr lang="en-US" sz="1800" b="1" dirty="0">
                <a:solidFill>
                  <a:schemeClr val="accent1"/>
                </a:solidFill>
              </a:rPr>
              <a:t>Hälfte verwerfen</a:t>
            </a:r>
            <a:endParaRPr lang="en-US" sz="1800" dirty="0"/>
          </a:p>
          <a:p>
            <a:pPr indent="0" marL="0">
              <a:buNone/>
            </a:pPr>
            <a:r>
              <a:rPr lang="en-US" sz="1500" dirty="0">
                <a:solidFill>
                  <a:schemeClr val="tx1"/>
                </a:solidFill>
              </a:rPr>
              <a:t>r[mid] &lt; x: rechts weiter (lo = mid + 1), sonst links (hi = mid − 1)</a:t>
            </a:r>
            <a:endParaRPr lang="en-US" sz="1800" dirty="0"/>
          </a:p>
        </p:txBody>
      </p:sp>
      <p:sp>
        <p:nvSpPr>
          <p:cNvPr id="11" name="Icon-Kreis"/>
          <p:cNvSpPr/>
          <p:nvPr/>
        </p:nvSpPr>
        <p:spPr>
          <a:xfrm>
            <a:off x="6812280" y="3419856"/>
            <a:ext cx="731520" cy="731520"/>
          </a:xfrm>
          <a:prstGeom prst="ellipse">
            <a:avLst/>
          </a:prstGeom>
          <a:solidFill>
            <a:schemeClr val="accent1"/>
          </a:solidFill>
          <a:ln/>
        </p:spPr>
      </p:sp>
      <p:pic>
        <p:nvPicPr>
          <p:cNvPr id="12" name="Icon GiStopwatch" descr="preencoded.png">    </p:cNvPr>
          <p:cNvPicPr>
            <a:picLocks noChangeAspect="1"/>
          </p:cNvPicPr>
          <p:nvPr/>
        </p:nvPicPr>
        <p:blipFill>
          <a:blip r:embed="rId3"/>
          <a:stretch>
            <a:fillRect/>
          </a:stretch>
        </p:blipFill>
        <p:spPr>
          <a:xfrm>
            <a:off x="6973214" y="3580790"/>
            <a:ext cx="409651" cy="409651"/>
          </a:xfrm>
          <a:prstGeom prst="rect">
            <a:avLst/>
          </a:prstGeom>
        </p:spPr>
      </p:pic>
      <p:sp>
        <p:nvSpPr>
          <p:cNvPr id="13" name="Text 8"/>
          <p:cNvSpPr txBox="1"/>
          <p:nvPr/>
        </p:nvSpPr>
        <p:spPr>
          <a:xfrm>
            <a:off x="7726680" y="3374136"/>
            <a:ext cx="3886200" cy="914400"/>
          </a:xfrm>
          <a:prstGeom prst="rect">
            <a:avLst/>
          </a:prstGeom>
          <a:noFill/>
          <a:ln/>
        </p:spPr>
        <p:txBody>
          <a:bodyPr wrap="square" lIns="0" tIns="0" rIns="0" bIns="0" rtlCol="0" anchor="t"/>
          <a:lstStyle/>
          <a:p>
            <a:pPr indent="0" marL="0">
              <a:buNone/>
            </a:pPr>
            <a:r>
              <a:rPr lang="en-US" sz="1800" b="1" dirty="0">
                <a:solidFill>
                  <a:schemeClr val="accent1"/>
                </a:solidFill>
              </a:rPr>
              <a:t>Ende</a:t>
            </a:r>
            <a:endParaRPr lang="en-US" sz="1800" dirty="0"/>
          </a:p>
          <a:p>
            <a:pPr indent="0" marL="0">
              <a:buNone/>
            </a:pPr>
            <a:r>
              <a:rPr lang="en-US" sz="1500" dirty="0">
                <a:solidFill>
                  <a:schemeClr val="tx1"/>
                </a:solidFill>
              </a:rPr>
              <a:t>Treffer → mid; lo &gt; hi → −1</a:t>
            </a:r>
            <a:endParaRPr lang="en-US" sz="1800" dirty="0"/>
          </a:p>
        </p:txBody>
      </p:sp>
      <p:sp>
        <p:nvSpPr>
          <p:cNvPr id="14" name="Voraussetzung"/>
          <p:cNvSpPr/>
          <p:nvPr/>
        </p:nvSpPr>
        <p:spPr>
          <a:xfrm>
            <a:off x="6812280" y="4480560"/>
            <a:ext cx="4800600" cy="777240"/>
          </a:xfrm>
          <a:prstGeom prst="roundRect">
            <a:avLst>
              <a:gd name="adj" fmla="val 14118"/>
            </a:avLst>
          </a:prstGeom>
          <a:solidFill>
            <a:schemeClr val="bg1"/>
          </a:solidFill>
          <a:ln w="25400">
            <a:solidFill>
              <a:schemeClr val="accent4"/>
            </a:solidFill>
            <a:prstDash val="solid"/>
          </a:ln>
        </p:spPr>
      </p:sp>
      <p:sp>
        <p:nvSpPr>
          <p:cNvPr id="15" name="Text 10"/>
          <p:cNvSpPr txBox="1"/>
          <p:nvPr/>
        </p:nvSpPr>
        <p:spPr>
          <a:xfrm>
            <a:off x="7013448" y="4480560"/>
            <a:ext cx="4434840" cy="777240"/>
          </a:xfrm>
          <a:prstGeom prst="rect">
            <a:avLst/>
          </a:prstGeom>
          <a:noFill/>
          <a:ln/>
        </p:spPr>
        <p:txBody>
          <a:bodyPr wrap="square" lIns="0" tIns="0" rIns="0" bIns="0" rtlCol="0" anchor="ctr"/>
          <a:lstStyle/>
          <a:p>
            <a:pPr indent="0" marL="0">
              <a:buNone/>
            </a:pPr>
            <a:r>
              <a:rPr lang="en-US" sz="1700" b="1" dirty="0">
                <a:solidFill>
                  <a:schemeClr val="accent4"/>
                </a:solidFill>
              </a:rPr>
              <a:t>Voraussetzung: </a:t>
            </a:r>
            <a:pPr indent="0" marL="0">
              <a:buNone/>
            </a:pPr>
            <a:r>
              <a:rPr lang="en-US" sz="1700" dirty="0">
                <a:solidFill>
                  <a:schemeClr val="tx1"/>
                </a:solidFill>
              </a:rPr>
              <a:t>Die Reihung ist aufsteigend sortiert!</a:t>
            </a:r>
            <a:endParaRPr lang="en-US" sz="1700" dirty="0"/>
          </a:p>
        </p:txBody>
      </p:sp>
      <p:sp>
        <p:nvSpPr>
          <p:cNvPr id="16" name="Zahlenraten"/>
          <p:cNvSpPr/>
          <p:nvPr/>
        </p:nvSpPr>
        <p:spPr>
          <a:xfrm>
            <a:off x="6812280" y="5440680"/>
            <a:ext cx="4800600" cy="685800"/>
          </a:xfrm>
          <a:prstGeom prst="roundRect">
            <a:avLst>
              <a:gd name="adj" fmla="val 16000"/>
            </a:avLst>
          </a:prstGeom>
          <a:solidFill>
            <a:schemeClr val="bg2"/>
          </a:solidFill>
          <a:ln/>
        </p:spPr>
      </p:sp>
      <p:sp>
        <p:nvSpPr>
          <p:cNvPr id="17" name="Text 12"/>
          <p:cNvSpPr txBox="1"/>
          <p:nvPr/>
        </p:nvSpPr>
        <p:spPr>
          <a:xfrm>
            <a:off x="6995160" y="5440680"/>
            <a:ext cx="4526280" cy="685800"/>
          </a:xfrm>
          <a:prstGeom prst="rect">
            <a:avLst/>
          </a:prstGeom>
          <a:noFill/>
          <a:ln/>
        </p:spPr>
        <p:txBody>
          <a:bodyPr wrap="square" lIns="0" tIns="0" rIns="0" bIns="0" rtlCol="0" anchor="ctr"/>
          <a:lstStyle/>
          <a:p>
            <a:pPr indent="0" marL="0">
              <a:buNone/>
            </a:pPr>
            <a:r>
              <a:rPr lang="en-US" sz="1600" b="1" dirty="0">
                <a:solidFill>
                  <a:schemeClr val="accent1"/>
                </a:solidFill>
              </a:rPr>
              <a:t>Wie beim Zahlenraten 1–100: </a:t>
            </a:r>
            <a:pPr indent="0" marL="0">
              <a:buNone/>
            </a:pPr>
            <a:r>
              <a:rPr lang="en-US" sz="1600" dirty="0">
                <a:solidFill>
                  <a:schemeClr val="tx1"/>
                </a:solidFill>
              </a:rPr>
              <a:t>immer die Mitte tippen.</a:t>
            </a:r>
            <a:endParaRPr lang="en-US" sz="16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Trace: lo, hi und mid Schritt für Schritt</a:t>
            </a:r>
            <a:endParaRPr lang="en-US" sz="3600" dirty="0"/>
          </a:p>
        </p:txBody>
      </p:sp>
      <p:sp>
        <p:nvSpPr>
          <p:cNvPr id="3" name="Text 1"/>
          <p:cNvSpPr txBox="1"/>
          <p:nvPr/>
        </p:nvSpPr>
        <p:spPr>
          <a:xfrm>
            <a:off x="548640" y="1280160"/>
            <a:ext cx="4572000" cy="329184"/>
          </a:xfrm>
          <a:prstGeom prst="rect">
            <a:avLst/>
          </a:prstGeom>
          <a:noFill/>
          <a:ln/>
        </p:spPr>
        <p:txBody>
          <a:bodyPr wrap="square" lIns="0" tIns="0" rIns="0" bIns="0" rtlCol="0" anchor="ctr"/>
          <a:lstStyle/>
          <a:p>
            <a:pPr indent="0" marL="0">
              <a:buNone/>
            </a:pPr>
            <a:r>
              <a:rPr lang="en-US" sz="1700" b="1" dirty="0">
                <a:solidFill>
                  <a:schemeClr val="accent1"/>
                </a:solidFill>
              </a:rPr>
              <a:t>Suche nach 67</a:t>
            </a:r>
            <a:pPr indent="0" marL="0">
              <a:buNone/>
            </a:pPr>
            <a:r>
              <a:rPr lang="en-US" sz="1700" dirty="0">
                <a:solidFill>
                  <a:schemeClr val="accent6"/>
                </a:solidFill>
              </a:rPr>
              <a:t>  in r (n = 12)</a:t>
            </a:r>
            <a:endParaRPr lang="en-US" sz="1700" dirty="0"/>
          </a:p>
        </p:txBody>
      </p:sp>
      <p:sp>
        <p:nvSpPr>
          <p:cNvPr id="4" name="Text 2"/>
          <p:cNvSpPr txBox="1"/>
          <p:nvPr/>
        </p:nvSpPr>
        <p:spPr>
          <a:xfrm>
            <a:off x="1783080"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0</a:t>
            </a:r>
            <a:endParaRPr lang="en-US" sz="1300" dirty="0"/>
          </a:p>
        </p:txBody>
      </p:sp>
      <p:sp>
        <p:nvSpPr>
          <p:cNvPr id="5" name="Text 3"/>
          <p:cNvSpPr txBox="1"/>
          <p:nvPr/>
        </p:nvSpPr>
        <p:spPr>
          <a:xfrm>
            <a:off x="2441448"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1</a:t>
            </a:r>
            <a:endParaRPr lang="en-US" sz="1300" dirty="0"/>
          </a:p>
        </p:txBody>
      </p:sp>
      <p:sp>
        <p:nvSpPr>
          <p:cNvPr id="6" name="Text 4"/>
          <p:cNvSpPr txBox="1"/>
          <p:nvPr/>
        </p:nvSpPr>
        <p:spPr>
          <a:xfrm>
            <a:off x="3099816"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2</a:t>
            </a:r>
            <a:endParaRPr lang="en-US" sz="1300" dirty="0"/>
          </a:p>
        </p:txBody>
      </p:sp>
      <p:sp>
        <p:nvSpPr>
          <p:cNvPr id="7" name="Text 5"/>
          <p:cNvSpPr txBox="1"/>
          <p:nvPr/>
        </p:nvSpPr>
        <p:spPr>
          <a:xfrm>
            <a:off x="3758184"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3</a:t>
            </a:r>
            <a:endParaRPr lang="en-US" sz="1300" dirty="0"/>
          </a:p>
        </p:txBody>
      </p:sp>
      <p:sp>
        <p:nvSpPr>
          <p:cNvPr id="8" name="Text 6"/>
          <p:cNvSpPr txBox="1"/>
          <p:nvPr/>
        </p:nvSpPr>
        <p:spPr>
          <a:xfrm>
            <a:off x="4416552"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4</a:t>
            </a:r>
            <a:endParaRPr lang="en-US" sz="1300" dirty="0"/>
          </a:p>
        </p:txBody>
      </p:sp>
      <p:sp>
        <p:nvSpPr>
          <p:cNvPr id="9" name="Text 7"/>
          <p:cNvSpPr txBox="1"/>
          <p:nvPr/>
        </p:nvSpPr>
        <p:spPr>
          <a:xfrm>
            <a:off x="5074920"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5</a:t>
            </a:r>
            <a:endParaRPr lang="en-US" sz="1300" dirty="0"/>
          </a:p>
        </p:txBody>
      </p:sp>
      <p:sp>
        <p:nvSpPr>
          <p:cNvPr id="10" name="Text 8"/>
          <p:cNvSpPr txBox="1"/>
          <p:nvPr/>
        </p:nvSpPr>
        <p:spPr>
          <a:xfrm>
            <a:off x="5733288"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6</a:t>
            </a:r>
            <a:endParaRPr lang="en-US" sz="1300" dirty="0"/>
          </a:p>
        </p:txBody>
      </p:sp>
      <p:sp>
        <p:nvSpPr>
          <p:cNvPr id="11" name="Text 9"/>
          <p:cNvSpPr txBox="1"/>
          <p:nvPr/>
        </p:nvSpPr>
        <p:spPr>
          <a:xfrm>
            <a:off x="6391656"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7</a:t>
            </a:r>
            <a:endParaRPr lang="en-US" sz="1300" dirty="0"/>
          </a:p>
        </p:txBody>
      </p:sp>
      <p:sp>
        <p:nvSpPr>
          <p:cNvPr id="12" name="Text 10"/>
          <p:cNvSpPr txBox="1"/>
          <p:nvPr/>
        </p:nvSpPr>
        <p:spPr>
          <a:xfrm>
            <a:off x="7050024"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8</a:t>
            </a:r>
            <a:endParaRPr lang="en-US" sz="1300" dirty="0"/>
          </a:p>
        </p:txBody>
      </p:sp>
      <p:sp>
        <p:nvSpPr>
          <p:cNvPr id="13" name="Text 11"/>
          <p:cNvSpPr txBox="1"/>
          <p:nvPr/>
        </p:nvSpPr>
        <p:spPr>
          <a:xfrm>
            <a:off x="7708392"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9</a:t>
            </a:r>
            <a:endParaRPr lang="en-US" sz="1300" dirty="0"/>
          </a:p>
        </p:txBody>
      </p:sp>
      <p:sp>
        <p:nvSpPr>
          <p:cNvPr id="14" name="Text 12"/>
          <p:cNvSpPr txBox="1"/>
          <p:nvPr/>
        </p:nvSpPr>
        <p:spPr>
          <a:xfrm>
            <a:off x="8366760"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10</a:t>
            </a:r>
            <a:endParaRPr lang="en-US" sz="1300" dirty="0"/>
          </a:p>
        </p:txBody>
      </p:sp>
      <p:sp>
        <p:nvSpPr>
          <p:cNvPr id="15" name="Text 13"/>
          <p:cNvSpPr txBox="1"/>
          <p:nvPr/>
        </p:nvSpPr>
        <p:spPr>
          <a:xfrm>
            <a:off x="9025128" y="1664208"/>
            <a:ext cx="658368" cy="256032"/>
          </a:xfrm>
          <a:prstGeom prst="rect">
            <a:avLst/>
          </a:prstGeom>
          <a:noFill/>
          <a:ln/>
        </p:spPr>
        <p:txBody>
          <a:bodyPr wrap="square" lIns="0" tIns="0" rIns="0" bIns="0" rtlCol="0" anchor="t"/>
          <a:lstStyle/>
          <a:p>
            <a:pPr algn="ctr" indent="0" marL="0">
              <a:buNone/>
            </a:pPr>
            <a:r>
              <a:rPr lang="en-US" sz="1300" dirty="0">
                <a:solidFill>
                  <a:schemeClr val="accent6"/>
                </a:solidFill>
              </a:rPr>
              <a:t>11</a:t>
            </a:r>
            <a:endParaRPr lang="en-US" sz="1300" dirty="0"/>
          </a:p>
        </p:txBody>
      </p:sp>
      <p:sp>
        <p:nvSpPr>
          <p:cNvPr id="16" name="Text 14"/>
          <p:cNvSpPr txBox="1"/>
          <p:nvPr/>
        </p:nvSpPr>
        <p:spPr>
          <a:xfrm>
            <a:off x="548640" y="1938528"/>
            <a:ext cx="1188720" cy="457200"/>
          </a:xfrm>
          <a:prstGeom prst="rect">
            <a:avLst/>
          </a:prstGeom>
          <a:noFill/>
          <a:ln/>
        </p:spPr>
        <p:txBody>
          <a:bodyPr wrap="square" lIns="0" tIns="0" rIns="0" bIns="0" rtlCol="0" anchor="ctr"/>
          <a:lstStyle/>
          <a:p>
            <a:pPr indent="0" marL="0">
              <a:buNone/>
            </a:pPr>
            <a:r>
              <a:rPr lang="en-US" sz="1400" b="1" dirty="0">
                <a:solidFill>
                  <a:schemeClr val="accent1"/>
                </a:solidFill>
              </a:rPr>
              <a:t>Durchlauf 1</a:t>
            </a:r>
            <a:endParaRPr lang="en-US" sz="1400" dirty="0"/>
          </a:p>
        </p:txBody>
      </p:sp>
      <p:sp>
        <p:nvSpPr>
          <p:cNvPr id="17" name="Trace67 0 0"/>
          <p:cNvSpPr txBox="1"/>
          <p:nvPr/>
        </p:nvSpPr>
        <p:spPr>
          <a:xfrm>
            <a:off x="1783080" y="1938528"/>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18" name="Trace67 0 1"/>
          <p:cNvSpPr txBox="1"/>
          <p:nvPr/>
        </p:nvSpPr>
        <p:spPr>
          <a:xfrm>
            <a:off x="2441448" y="1938528"/>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9</a:t>
            </a:r>
            <a:endParaRPr lang="en-US" sz="1500" dirty="0"/>
          </a:p>
        </p:txBody>
      </p:sp>
      <p:sp>
        <p:nvSpPr>
          <p:cNvPr id="19" name="Trace67 0 2"/>
          <p:cNvSpPr txBox="1"/>
          <p:nvPr/>
        </p:nvSpPr>
        <p:spPr>
          <a:xfrm>
            <a:off x="3099816" y="1938528"/>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15</a:t>
            </a:r>
            <a:endParaRPr lang="en-US" sz="1500" dirty="0"/>
          </a:p>
        </p:txBody>
      </p:sp>
      <p:sp>
        <p:nvSpPr>
          <p:cNvPr id="20" name="Trace67 0 3"/>
          <p:cNvSpPr txBox="1"/>
          <p:nvPr/>
        </p:nvSpPr>
        <p:spPr>
          <a:xfrm>
            <a:off x="3758184" y="1938528"/>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21</a:t>
            </a:r>
            <a:endParaRPr lang="en-US" sz="1500" dirty="0"/>
          </a:p>
        </p:txBody>
      </p:sp>
      <p:sp>
        <p:nvSpPr>
          <p:cNvPr id="21" name="Trace67 0 4"/>
          <p:cNvSpPr txBox="1"/>
          <p:nvPr/>
        </p:nvSpPr>
        <p:spPr>
          <a:xfrm>
            <a:off x="4416552" y="1938528"/>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26</a:t>
            </a:r>
            <a:endParaRPr lang="en-US" sz="1500" dirty="0"/>
          </a:p>
        </p:txBody>
      </p:sp>
      <p:sp>
        <p:nvSpPr>
          <p:cNvPr id="22" name="Trace67 0 6"/>
          <p:cNvSpPr txBox="1"/>
          <p:nvPr/>
        </p:nvSpPr>
        <p:spPr>
          <a:xfrm>
            <a:off x="5733288" y="1938528"/>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38</a:t>
            </a:r>
            <a:endParaRPr lang="en-US" sz="1500" dirty="0"/>
          </a:p>
        </p:txBody>
      </p:sp>
      <p:sp>
        <p:nvSpPr>
          <p:cNvPr id="23" name="Trace67 0 7"/>
          <p:cNvSpPr txBox="1"/>
          <p:nvPr/>
        </p:nvSpPr>
        <p:spPr>
          <a:xfrm>
            <a:off x="6391656" y="1938528"/>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45</a:t>
            </a:r>
            <a:endParaRPr lang="en-US" sz="1500" dirty="0"/>
          </a:p>
        </p:txBody>
      </p:sp>
      <p:sp>
        <p:nvSpPr>
          <p:cNvPr id="24" name="Trace67 0 8"/>
          <p:cNvSpPr txBox="1"/>
          <p:nvPr/>
        </p:nvSpPr>
        <p:spPr>
          <a:xfrm>
            <a:off x="7050024" y="1938528"/>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52</a:t>
            </a:r>
            <a:endParaRPr lang="en-US" sz="1500" dirty="0"/>
          </a:p>
        </p:txBody>
      </p:sp>
      <p:sp>
        <p:nvSpPr>
          <p:cNvPr id="25" name="Trace67 0 9"/>
          <p:cNvSpPr txBox="1"/>
          <p:nvPr/>
        </p:nvSpPr>
        <p:spPr>
          <a:xfrm>
            <a:off x="7708392" y="1938528"/>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60</a:t>
            </a:r>
            <a:endParaRPr lang="en-US" sz="1500" dirty="0"/>
          </a:p>
        </p:txBody>
      </p:sp>
      <p:sp>
        <p:nvSpPr>
          <p:cNvPr id="26" name="Trace67 0 10"/>
          <p:cNvSpPr txBox="1"/>
          <p:nvPr/>
        </p:nvSpPr>
        <p:spPr>
          <a:xfrm>
            <a:off x="8366760" y="1938528"/>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67</a:t>
            </a:r>
            <a:endParaRPr lang="en-US" sz="1500" dirty="0"/>
          </a:p>
        </p:txBody>
      </p:sp>
      <p:sp>
        <p:nvSpPr>
          <p:cNvPr id="27" name="Trace67 0 11"/>
          <p:cNvSpPr txBox="1"/>
          <p:nvPr/>
        </p:nvSpPr>
        <p:spPr>
          <a:xfrm>
            <a:off x="9025128" y="1938528"/>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74</a:t>
            </a:r>
            <a:endParaRPr lang="en-US" sz="1500" dirty="0"/>
          </a:p>
        </p:txBody>
      </p:sp>
      <p:sp>
        <p:nvSpPr>
          <p:cNvPr id="28" name="Trace67 0 5"/>
          <p:cNvSpPr txBox="1"/>
          <p:nvPr/>
        </p:nvSpPr>
        <p:spPr>
          <a:xfrm>
            <a:off x="5074920" y="1938528"/>
            <a:ext cx="658368" cy="457200"/>
          </a:xfrm>
          <a:prstGeom prst="rect">
            <a:avLst/>
          </a:prstGeom>
          <a:solidFill>
            <a:srgbClr val="FFF2CC"/>
          </a:solidFill>
          <a:ln w="38100">
            <a:solidFill>
              <a:schemeClr val="accent2"/>
            </a:solidFill>
          </a:ln>
        </p:spPr>
        <p:txBody>
          <a:bodyPr wrap="square" lIns="0" tIns="0" rIns="0" bIns="0" rtlCol="0" anchor="ctr"/>
          <a:lstStyle/>
          <a:p>
            <a:pPr algn="ctr" indent="0" marL="0">
              <a:buNone/>
            </a:pPr>
            <a:r>
              <a:rPr lang="en-US" sz="1500" b="1" dirty="0">
                <a:solidFill>
                  <a:schemeClr val="accent1"/>
                </a:solidFill>
              </a:rPr>
              <a:t>33</a:t>
            </a:r>
            <a:endParaRPr lang="en-US" sz="1500" dirty="0"/>
          </a:p>
        </p:txBody>
      </p:sp>
      <p:sp>
        <p:nvSpPr>
          <p:cNvPr id="29" name="Text 27"/>
          <p:cNvSpPr txBox="1"/>
          <p:nvPr/>
        </p:nvSpPr>
        <p:spPr>
          <a:xfrm>
            <a:off x="9820656" y="1938528"/>
            <a:ext cx="1792224" cy="457200"/>
          </a:xfrm>
          <a:prstGeom prst="rect">
            <a:avLst/>
          </a:prstGeom>
          <a:noFill/>
          <a:ln/>
        </p:spPr>
        <p:txBody>
          <a:bodyPr wrap="square" lIns="0" tIns="0" rIns="0" bIns="0" rtlCol="0" anchor="ctr"/>
          <a:lstStyle/>
          <a:p>
            <a:pPr indent="0" marL="0">
              <a:buNone/>
            </a:pPr>
            <a:r>
              <a:rPr lang="en-US" sz="1400" b="1" dirty="0">
                <a:solidFill>
                  <a:schemeClr val="tx1"/>
                </a:solidFill>
              </a:rPr>
              <a:t>33 &lt; 67 → lo = 6</a:t>
            </a:r>
            <a:endParaRPr lang="en-US" sz="1400" dirty="0"/>
          </a:p>
        </p:txBody>
      </p:sp>
      <p:sp>
        <p:nvSpPr>
          <p:cNvPr id="30" name="Text 28"/>
          <p:cNvSpPr txBox="1"/>
          <p:nvPr/>
        </p:nvSpPr>
        <p:spPr>
          <a:xfrm>
            <a:off x="548640" y="2505456"/>
            <a:ext cx="1188720" cy="457200"/>
          </a:xfrm>
          <a:prstGeom prst="rect">
            <a:avLst/>
          </a:prstGeom>
          <a:noFill/>
          <a:ln/>
        </p:spPr>
        <p:txBody>
          <a:bodyPr wrap="square" lIns="0" tIns="0" rIns="0" bIns="0" rtlCol="0" anchor="ctr"/>
          <a:lstStyle/>
          <a:p>
            <a:pPr indent="0" marL="0">
              <a:buNone/>
            </a:pPr>
            <a:r>
              <a:rPr lang="en-US" sz="1400" b="1" dirty="0">
                <a:solidFill>
                  <a:schemeClr val="accent1"/>
                </a:solidFill>
              </a:rPr>
              <a:t>Durchlauf 2</a:t>
            </a:r>
            <a:endParaRPr lang="en-US" sz="1400" dirty="0"/>
          </a:p>
        </p:txBody>
      </p:sp>
      <p:sp>
        <p:nvSpPr>
          <p:cNvPr id="31" name="Trace67 1 0"/>
          <p:cNvSpPr txBox="1"/>
          <p:nvPr/>
        </p:nvSpPr>
        <p:spPr>
          <a:xfrm>
            <a:off x="1783080" y="2505456"/>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4</a:t>
            </a:r>
            <a:endParaRPr lang="en-US" sz="1500" dirty="0"/>
          </a:p>
        </p:txBody>
      </p:sp>
      <p:sp>
        <p:nvSpPr>
          <p:cNvPr id="32" name="Trace67 1 1"/>
          <p:cNvSpPr txBox="1"/>
          <p:nvPr/>
        </p:nvSpPr>
        <p:spPr>
          <a:xfrm>
            <a:off x="2441448" y="2505456"/>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9</a:t>
            </a:r>
            <a:endParaRPr lang="en-US" sz="1500" dirty="0"/>
          </a:p>
        </p:txBody>
      </p:sp>
      <p:sp>
        <p:nvSpPr>
          <p:cNvPr id="33" name="Trace67 1 2"/>
          <p:cNvSpPr txBox="1"/>
          <p:nvPr/>
        </p:nvSpPr>
        <p:spPr>
          <a:xfrm>
            <a:off x="3099816" y="2505456"/>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15</a:t>
            </a:r>
            <a:endParaRPr lang="en-US" sz="1500" dirty="0"/>
          </a:p>
        </p:txBody>
      </p:sp>
      <p:sp>
        <p:nvSpPr>
          <p:cNvPr id="34" name="Trace67 1 3"/>
          <p:cNvSpPr txBox="1"/>
          <p:nvPr/>
        </p:nvSpPr>
        <p:spPr>
          <a:xfrm>
            <a:off x="3758184" y="2505456"/>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21</a:t>
            </a:r>
            <a:endParaRPr lang="en-US" sz="1500" dirty="0"/>
          </a:p>
        </p:txBody>
      </p:sp>
      <p:sp>
        <p:nvSpPr>
          <p:cNvPr id="35" name="Trace67 1 4"/>
          <p:cNvSpPr txBox="1"/>
          <p:nvPr/>
        </p:nvSpPr>
        <p:spPr>
          <a:xfrm>
            <a:off x="4416552" y="2505456"/>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26</a:t>
            </a:r>
            <a:endParaRPr lang="en-US" sz="1500" dirty="0"/>
          </a:p>
        </p:txBody>
      </p:sp>
      <p:sp>
        <p:nvSpPr>
          <p:cNvPr id="36" name="Trace67 1 5"/>
          <p:cNvSpPr txBox="1"/>
          <p:nvPr/>
        </p:nvSpPr>
        <p:spPr>
          <a:xfrm>
            <a:off x="5074920" y="2505456"/>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33</a:t>
            </a:r>
            <a:endParaRPr lang="en-US" sz="1500" dirty="0"/>
          </a:p>
        </p:txBody>
      </p:sp>
      <p:sp>
        <p:nvSpPr>
          <p:cNvPr id="37" name="Trace67 1 6"/>
          <p:cNvSpPr txBox="1"/>
          <p:nvPr/>
        </p:nvSpPr>
        <p:spPr>
          <a:xfrm>
            <a:off x="5733288" y="2505456"/>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38</a:t>
            </a:r>
            <a:endParaRPr lang="en-US" sz="1500" dirty="0"/>
          </a:p>
        </p:txBody>
      </p:sp>
      <p:sp>
        <p:nvSpPr>
          <p:cNvPr id="38" name="Trace67 1 7"/>
          <p:cNvSpPr txBox="1"/>
          <p:nvPr/>
        </p:nvSpPr>
        <p:spPr>
          <a:xfrm>
            <a:off x="6391656" y="2505456"/>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45</a:t>
            </a:r>
            <a:endParaRPr lang="en-US" sz="1500" dirty="0"/>
          </a:p>
        </p:txBody>
      </p:sp>
      <p:sp>
        <p:nvSpPr>
          <p:cNvPr id="39" name="Trace67 1 9"/>
          <p:cNvSpPr txBox="1"/>
          <p:nvPr/>
        </p:nvSpPr>
        <p:spPr>
          <a:xfrm>
            <a:off x="7708392" y="2505456"/>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60</a:t>
            </a:r>
            <a:endParaRPr lang="en-US" sz="1500" dirty="0"/>
          </a:p>
        </p:txBody>
      </p:sp>
      <p:sp>
        <p:nvSpPr>
          <p:cNvPr id="40" name="Trace67 1 10"/>
          <p:cNvSpPr txBox="1"/>
          <p:nvPr/>
        </p:nvSpPr>
        <p:spPr>
          <a:xfrm>
            <a:off x="8366760" y="2505456"/>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67</a:t>
            </a:r>
            <a:endParaRPr lang="en-US" sz="1500" dirty="0"/>
          </a:p>
        </p:txBody>
      </p:sp>
      <p:sp>
        <p:nvSpPr>
          <p:cNvPr id="41" name="Trace67 1 11"/>
          <p:cNvSpPr txBox="1"/>
          <p:nvPr/>
        </p:nvSpPr>
        <p:spPr>
          <a:xfrm>
            <a:off x="9025128" y="2505456"/>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74</a:t>
            </a:r>
            <a:endParaRPr lang="en-US" sz="1500" dirty="0"/>
          </a:p>
        </p:txBody>
      </p:sp>
      <p:sp>
        <p:nvSpPr>
          <p:cNvPr id="42" name="Trace67 1 8"/>
          <p:cNvSpPr txBox="1"/>
          <p:nvPr/>
        </p:nvSpPr>
        <p:spPr>
          <a:xfrm>
            <a:off x="7050024" y="2505456"/>
            <a:ext cx="658368" cy="457200"/>
          </a:xfrm>
          <a:prstGeom prst="rect">
            <a:avLst/>
          </a:prstGeom>
          <a:solidFill>
            <a:srgbClr val="FFF2CC"/>
          </a:solidFill>
          <a:ln w="38100">
            <a:solidFill>
              <a:schemeClr val="accent2"/>
            </a:solidFill>
          </a:ln>
        </p:spPr>
        <p:txBody>
          <a:bodyPr wrap="square" lIns="0" tIns="0" rIns="0" bIns="0" rtlCol="0" anchor="ctr"/>
          <a:lstStyle/>
          <a:p>
            <a:pPr algn="ctr" indent="0" marL="0">
              <a:buNone/>
            </a:pPr>
            <a:r>
              <a:rPr lang="en-US" sz="1500" b="1" dirty="0">
                <a:solidFill>
                  <a:schemeClr val="accent1"/>
                </a:solidFill>
              </a:rPr>
              <a:t>52</a:t>
            </a:r>
            <a:endParaRPr lang="en-US" sz="1500" dirty="0"/>
          </a:p>
        </p:txBody>
      </p:sp>
      <p:sp>
        <p:nvSpPr>
          <p:cNvPr id="43" name="Text 41"/>
          <p:cNvSpPr txBox="1"/>
          <p:nvPr/>
        </p:nvSpPr>
        <p:spPr>
          <a:xfrm>
            <a:off x="9820656" y="2505456"/>
            <a:ext cx="1792224" cy="457200"/>
          </a:xfrm>
          <a:prstGeom prst="rect">
            <a:avLst/>
          </a:prstGeom>
          <a:noFill/>
          <a:ln/>
        </p:spPr>
        <p:txBody>
          <a:bodyPr wrap="square" lIns="0" tIns="0" rIns="0" bIns="0" rtlCol="0" anchor="ctr"/>
          <a:lstStyle/>
          <a:p>
            <a:pPr indent="0" marL="0">
              <a:buNone/>
            </a:pPr>
            <a:r>
              <a:rPr lang="en-US" sz="1400" b="1" dirty="0">
                <a:solidFill>
                  <a:schemeClr val="tx1"/>
                </a:solidFill>
              </a:rPr>
              <a:t>52 &lt; 67 → lo = 9</a:t>
            </a:r>
            <a:endParaRPr lang="en-US" sz="1400" dirty="0"/>
          </a:p>
        </p:txBody>
      </p:sp>
      <p:sp>
        <p:nvSpPr>
          <p:cNvPr id="44" name="Text 42"/>
          <p:cNvSpPr txBox="1"/>
          <p:nvPr/>
        </p:nvSpPr>
        <p:spPr>
          <a:xfrm>
            <a:off x="548640" y="3072384"/>
            <a:ext cx="1188720" cy="457200"/>
          </a:xfrm>
          <a:prstGeom prst="rect">
            <a:avLst/>
          </a:prstGeom>
          <a:noFill/>
          <a:ln/>
        </p:spPr>
        <p:txBody>
          <a:bodyPr wrap="square" lIns="0" tIns="0" rIns="0" bIns="0" rtlCol="0" anchor="ctr"/>
          <a:lstStyle/>
          <a:p>
            <a:pPr indent="0" marL="0">
              <a:buNone/>
            </a:pPr>
            <a:r>
              <a:rPr lang="en-US" sz="1400" b="1" dirty="0">
                <a:solidFill>
                  <a:schemeClr val="accent1"/>
                </a:solidFill>
              </a:rPr>
              <a:t>Durchlauf 3</a:t>
            </a:r>
            <a:endParaRPr lang="en-US" sz="1400" dirty="0"/>
          </a:p>
        </p:txBody>
      </p:sp>
      <p:sp>
        <p:nvSpPr>
          <p:cNvPr id="45" name="Trace67 2 0"/>
          <p:cNvSpPr txBox="1"/>
          <p:nvPr/>
        </p:nvSpPr>
        <p:spPr>
          <a:xfrm>
            <a:off x="1783080" y="3072384"/>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4</a:t>
            </a:r>
            <a:endParaRPr lang="en-US" sz="1500" dirty="0"/>
          </a:p>
        </p:txBody>
      </p:sp>
      <p:sp>
        <p:nvSpPr>
          <p:cNvPr id="46" name="Trace67 2 1"/>
          <p:cNvSpPr txBox="1"/>
          <p:nvPr/>
        </p:nvSpPr>
        <p:spPr>
          <a:xfrm>
            <a:off x="2441448" y="3072384"/>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9</a:t>
            </a:r>
            <a:endParaRPr lang="en-US" sz="1500" dirty="0"/>
          </a:p>
        </p:txBody>
      </p:sp>
      <p:sp>
        <p:nvSpPr>
          <p:cNvPr id="47" name="Trace67 2 2"/>
          <p:cNvSpPr txBox="1"/>
          <p:nvPr/>
        </p:nvSpPr>
        <p:spPr>
          <a:xfrm>
            <a:off x="3099816" y="3072384"/>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15</a:t>
            </a:r>
            <a:endParaRPr lang="en-US" sz="1500" dirty="0"/>
          </a:p>
        </p:txBody>
      </p:sp>
      <p:sp>
        <p:nvSpPr>
          <p:cNvPr id="48" name="Trace67 2 3"/>
          <p:cNvSpPr txBox="1"/>
          <p:nvPr/>
        </p:nvSpPr>
        <p:spPr>
          <a:xfrm>
            <a:off x="3758184" y="3072384"/>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21</a:t>
            </a:r>
            <a:endParaRPr lang="en-US" sz="1500" dirty="0"/>
          </a:p>
        </p:txBody>
      </p:sp>
      <p:sp>
        <p:nvSpPr>
          <p:cNvPr id="49" name="Trace67 2 4"/>
          <p:cNvSpPr txBox="1"/>
          <p:nvPr/>
        </p:nvSpPr>
        <p:spPr>
          <a:xfrm>
            <a:off x="4416552" y="3072384"/>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26</a:t>
            </a:r>
            <a:endParaRPr lang="en-US" sz="1500" dirty="0"/>
          </a:p>
        </p:txBody>
      </p:sp>
      <p:sp>
        <p:nvSpPr>
          <p:cNvPr id="50" name="Trace67 2 5"/>
          <p:cNvSpPr txBox="1"/>
          <p:nvPr/>
        </p:nvSpPr>
        <p:spPr>
          <a:xfrm>
            <a:off x="5074920" y="3072384"/>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33</a:t>
            </a:r>
            <a:endParaRPr lang="en-US" sz="1500" dirty="0"/>
          </a:p>
        </p:txBody>
      </p:sp>
      <p:sp>
        <p:nvSpPr>
          <p:cNvPr id="51" name="Trace67 2 6"/>
          <p:cNvSpPr txBox="1"/>
          <p:nvPr/>
        </p:nvSpPr>
        <p:spPr>
          <a:xfrm>
            <a:off x="5733288" y="3072384"/>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38</a:t>
            </a:r>
            <a:endParaRPr lang="en-US" sz="1500" dirty="0"/>
          </a:p>
        </p:txBody>
      </p:sp>
      <p:sp>
        <p:nvSpPr>
          <p:cNvPr id="52" name="Trace67 2 7"/>
          <p:cNvSpPr txBox="1"/>
          <p:nvPr/>
        </p:nvSpPr>
        <p:spPr>
          <a:xfrm>
            <a:off x="6391656" y="3072384"/>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45</a:t>
            </a:r>
            <a:endParaRPr lang="en-US" sz="1500" dirty="0"/>
          </a:p>
        </p:txBody>
      </p:sp>
      <p:sp>
        <p:nvSpPr>
          <p:cNvPr id="53" name="Trace67 2 8"/>
          <p:cNvSpPr txBox="1"/>
          <p:nvPr/>
        </p:nvSpPr>
        <p:spPr>
          <a:xfrm>
            <a:off x="7050024" y="3072384"/>
            <a:ext cx="658368" cy="457200"/>
          </a:xfrm>
          <a:prstGeom prst="rect">
            <a:avLst/>
          </a:prstGeom>
          <a:solidFill>
            <a:schemeClr val="accent5"/>
          </a:solidFill>
          <a:ln w="15875">
            <a:solidFill>
              <a:srgbClr val="BFBFBF"/>
            </a:solidFill>
          </a:ln>
        </p:spPr>
        <p:txBody>
          <a:bodyPr wrap="square" lIns="0" tIns="0" rIns="0" bIns="0" rtlCol="0" anchor="ctr"/>
          <a:lstStyle/>
          <a:p>
            <a:pPr algn="ctr" indent="0" marL="0">
              <a:buNone/>
            </a:pPr>
            <a:r>
              <a:rPr lang="en-US" sz="1500" dirty="0">
                <a:solidFill>
                  <a:srgbClr val="8C8C8C"/>
                </a:solidFill>
              </a:rPr>
              <a:t>52</a:t>
            </a:r>
            <a:endParaRPr lang="en-US" sz="1500" dirty="0"/>
          </a:p>
        </p:txBody>
      </p:sp>
      <p:sp>
        <p:nvSpPr>
          <p:cNvPr id="54" name="Trace67 2 9"/>
          <p:cNvSpPr txBox="1"/>
          <p:nvPr/>
        </p:nvSpPr>
        <p:spPr>
          <a:xfrm>
            <a:off x="7708392" y="3072384"/>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60</a:t>
            </a:r>
            <a:endParaRPr lang="en-US" sz="1500" dirty="0"/>
          </a:p>
        </p:txBody>
      </p:sp>
      <p:sp>
        <p:nvSpPr>
          <p:cNvPr id="55" name="Trace67 2 11"/>
          <p:cNvSpPr txBox="1"/>
          <p:nvPr/>
        </p:nvSpPr>
        <p:spPr>
          <a:xfrm>
            <a:off x="9025128" y="3072384"/>
            <a:ext cx="658368" cy="457200"/>
          </a:xfrm>
          <a:prstGeom prst="rect">
            <a:avLst/>
          </a:prstGeom>
          <a:solidFill>
            <a:schemeClr val="bg1"/>
          </a:solidFill>
          <a:ln w="15875">
            <a:solidFill>
              <a:schemeClr val="accent1"/>
            </a:solidFill>
          </a:ln>
        </p:spPr>
        <p:txBody>
          <a:bodyPr wrap="square" lIns="0" tIns="0" rIns="0" bIns="0" rtlCol="0" anchor="ctr"/>
          <a:lstStyle/>
          <a:p>
            <a:pPr algn="ctr" indent="0" marL="0">
              <a:buNone/>
            </a:pPr>
            <a:r>
              <a:rPr lang="en-US" sz="1500" b="1" dirty="0">
                <a:solidFill>
                  <a:schemeClr val="accent1"/>
                </a:solidFill>
              </a:rPr>
              <a:t>74</a:t>
            </a:r>
            <a:endParaRPr lang="en-US" sz="1500" dirty="0"/>
          </a:p>
        </p:txBody>
      </p:sp>
      <p:sp>
        <p:nvSpPr>
          <p:cNvPr id="56" name="Trace67 2 10"/>
          <p:cNvSpPr txBox="1"/>
          <p:nvPr/>
        </p:nvSpPr>
        <p:spPr>
          <a:xfrm>
            <a:off x="8366760" y="3072384"/>
            <a:ext cx="658368" cy="457200"/>
          </a:xfrm>
          <a:prstGeom prst="rect">
            <a:avLst/>
          </a:prstGeom>
          <a:solidFill>
            <a:srgbClr val="FFF2CC"/>
          </a:solidFill>
          <a:ln w="38100">
            <a:solidFill>
              <a:schemeClr val="accent2"/>
            </a:solidFill>
          </a:ln>
        </p:spPr>
        <p:txBody>
          <a:bodyPr wrap="square" lIns="0" tIns="0" rIns="0" bIns="0" rtlCol="0" anchor="ctr"/>
          <a:lstStyle/>
          <a:p>
            <a:pPr algn="ctr" indent="0" marL="0">
              <a:buNone/>
            </a:pPr>
            <a:r>
              <a:rPr lang="en-US" sz="1500" b="1" dirty="0">
                <a:solidFill>
                  <a:schemeClr val="accent1"/>
                </a:solidFill>
              </a:rPr>
              <a:t>67</a:t>
            </a:r>
            <a:endParaRPr lang="en-US" sz="1500" dirty="0"/>
          </a:p>
        </p:txBody>
      </p:sp>
      <p:sp>
        <p:nvSpPr>
          <p:cNvPr id="57" name="Text 55"/>
          <p:cNvSpPr txBox="1"/>
          <p:nvPr/>
        </p:nvSpPr>
        <p:spPr>
          <a:xfrm>
            <a:off x="9820656" y="3072384"/>
            <a:ext cx="1792224" cy="457200"/>
          </a:xfrm>
          <a:prstGeom prst="rect">
            <a:avLst/>
          </a:prstGeom>
          <a:noFill/>
          <a:ln/>
        </p:spPr>
        <p:txBody>
          <a:bodyPr wrap="square" lIns="0" tIns="0" rIns="0" bIns="0" rtlCol="0" anchor="ctr"/>
          <a:lstStyle/>
          <a:p>
            <a:pPr indent="0" marL="0">
              <a:buNone/>
            </a:pPr>
            <a:r>
              <a:rPr lang="en-US" sz="1400" b="1" dirty="0">
                <a:solidFill>
                  <a:schemeClr val="accent3"/>
                </a:solidFill>
              </a:rPr>
              <a:t>67 gefunden → 10</a:t>
            </a:r>
            <a:endParaRPr lang="en-US" sz="1400" dirty="0"/>
          </a:p>
        </p:txBody>
      </p:sp>
      <p:sp>
        <p:nvSpPr>
          <p:cNvPr id="58" name="Text 56"/>
          <p:cNvSpPr txBox="1"/>
          <p:nvPr/>
        </p:nvSpPr>
        <p:spPr>
          <a:xfrm>
            <a:off x="548640" y="3730752"/>
            <a:ext cx="7315200" cy="329184"/>
          </a:xfrm>
          <a:prstGeom prst="rect">
            <a:avLst/>
          </a:prstGeom>
          <a:noFill/>
          <a:ln/>
        </p:spPr>
        <p:txBody>
          <a:bodyPr wrap="square" lIns="0" tIns="0" rIns="0" bIns="0" rtlCol="0" anchor="ctr"/>
          <a:lstStyle/>
          <a:p>
            <a:pPr indent="0" marL="0">
              <a:buNone/>
            </a:pPr>
            <a:r>
              <a:rPr lang="en-US" sz="1700" b="1" dirty="0">
                <a:solidFill>
                  <a:schemeClr val="accent1"/>
                </a:solidFill>
              </a:rPr>
              <a:t>Suche nach 30</a:t>
            </a:r>
            <a:pPr indent="0" marL="0">
              <a:buNone/>
            </a:pPr>
            <a:r>
              <a:rPr lang="en-US" sz="1700" dirty="0">
                <a:solidFill>
                  <a:schemeClr val="accent6"/>
                </a:solidFill>
              </a:rPr>
              <a:t>  (nicht enthalten) als Tracetabelle</a:t>
            </a:r>
            <a:endParaRPr lang="en-US" sz="1700" dirty="0"/>
          </a:p>
        </p:txBody>
      </p:sp>
      <p:graphicFrame>
        <p:nvGraphicFramePr>
          <p:cNvPr id="21" name="Tracetabelle 30"/>
          <p:cNvGraphicFramePr>
            <a:graphicFrameLocks noGrp="1"/>
          </p:cNvGraphicFramePr>
          <p:nvPr>
            <p:extLst>
              <p:ext uri="{D42A27DB-BD31-4B8C-83A1-F6EECF244321}">
                <p14:modId xmlns:p14="http://schemas.microsoft.com/office/powerpoint/2010/main" val="1579011935"/>
              </p:ext>
            </p:extLst>
          </p:nvPr>
        </p:nvGraphicFramePr>
        <p:xfrm>
          <a:off x="548640" y="4114800"/>
          <a:ext cx="7498080" cy="914400"/>
        </p:xfrm>
        <a:graphic>
          <a:graphicData uri="http://schemas.openxmlformats.org/drawingml/2006/table">
            <a:tbl>
              <a:tblPr/>
              <a:tblGrid>
                <a:gridCol w="1143000"/>
                <a:gridCol w="731520"/>
                <a:gridCol w="731520"/>
                <a:gridCol w="731520"/>
                <a:gridCol w="960120"/>
                <a:gridCol w="3200400"/>
              </a:tblGrid>
              <a:tr h="329184">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Durchlauf</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lo</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hi</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mid</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r[mid]</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bg1"/>
                          </a:solidFill>
                          <a:latin typeface="Calibri" pitchFamily="34" charset="0"/>
                          <a:ea typeface="Calibri" pitchFamily="34" charset="-122"/>
                          <a:cs typeface="Calibri" pitchFamily="34" charset="-120"/>
                        </a:rPr>
                        <a:t>Entscheidung</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329184">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33</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33 &gt; 30 → hi = 4</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29184">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15 &lt; 30 → lo = 3</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29184">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21 &lt; 30 → lo = 4</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29184">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26</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26 &lt; 30 → lo = 5</a:t>
                      </a:r>
                      <a:endParaRPr lang="en-US" sz="1500" dirty="0">
                        <a:latin typeface="Calibri" charset="0"/>
                        <a:ea typeface="Calibri" charset="0"/>
                        <a:cs typeface="Calibri" charset="0"/>
                      </a:endParaRPr>
                    </a:p>
                  </a:txBody>
                  <a:tcPr marL="54864" marR="54864" marT="18288" marB="1828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0" name="Ende 30"/>
          <p:cNvSpPr/>
          <p:nvPr/>
        </p:nvSpPr>
        <p:spPr>
          <a:xfrm>
            <a:off x="8321040" y="4114800"/>
            <a:ext cx="3291840" cy="1645920"/>
          </a:xfrm>
          <a:prstGeom prst="roundRect">
            <a:avLst>
              <a:gd name="adj" fmla="val 6667"/>
            </a:avLst>
          </a:prstGeom>
          <a:solidFill>
            <a:schemeClr val="accent1"/>
          </a:solidFill>
          <a:ln/>
          <a:effectLst>
            <a:outerShdw sx="100000" sy="100000" kx="0" ky="0" algn="bl" rotWithShape="0" blurRad="76200" dist="25400" dir="5400000">
              <a:srgbClr val="000000">
                <a:alpha val="18000"/>
              </a:srgbClr>
            </a:outerShdw>
          </a:effectLst>
        </p:spPr>
      </p:sp>
      <p:sp>
        <p:nvSpPr>
          <p:cNvPr id="61" name="Text 58"/>
          <p:cNvSpPr txBox="1"/>
          <p:nvPr/>
        </p:nvSpPr>
        <p:spPr>
          <a:xfrm>
            <a:off x="8503920" y="4114800"/>
            <a:ext cx="2971800" cy="1645920"/>
          </a:xfrm>
          <a:prstGeom prst="rect">
            <a:avLst/>
          </a:prstGeom>
          <a:noFill/>
          <a:ln/>
        </p:spPr>
        <p:txBody>
          <a:bodyPr wrap="square" lIns="0" tIns="0" rIns="0" bIns="0" rtlCol="0" anchor="ctr"/>
          <a:lstStyle/>
          <a:p>
            <a:pPr indent="0" marL="0">
              <a:buNone/>
            </a:pPr>
            <a:r>
              <a:rPr lang="en-US" sz="1900" b="1" dirty="0">
                <a:solidFill>
                  <a:schemeClr val="accent2"/>
                </a:solidFill>
              </a:rPr>
              <a:t>lo = 5 &gt; hi = 4</a:t>
            </a:r>
            <a:endParaRPr lang="en-US" sz="1800" dirty="0"/>
          </a:p>
          <a:p>
            <a:pPr indent="0" marL="0">
              <a:buNone/>
            </a:pPr>
            <a:r>
              <a:rPr lang="en-US" sz="1500" dirty="0">
                <a:solidFill>
                  <a:schemeClr val="bg1"/>
                </a:solidFill>
              </a:rPr>
              <a:t>Schleife endet → gib −1 zurück. 4 Durchläufe = Maximum bei n = 12.</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Wie oft kann man 100 halbieren?</a:t>
            </a:r>
            <a:endParaRPr lang="en-US" sz="3600" dirty="0"/>
          </a:p>
        </p:txBody>
      </p:sp>
      <p:sp>
        <p:nvSpPr>
          <p:cNvPr id="3" name="Text 1"/>
          <p:cNvSpPr txBox="1"/>
          <p:nvPr/>
        </p:nvSpPr>
        <p:spPr>
          <a:xfrm>
            <a:off x="548640" y="1298448"/>
            <a:ext cx="6583680" cy="329184"/>
          </a:xfrm>
          <a:prstGeom prst="rect">
            <a:avLst/>
          </a:prstGeom>
          <a:noFill/>
          <a:ln/>
        </p:spPr>
        <p:txBody>
          <a:bodyPr wrap="square" lIns="0" tIns="0" rIns="0" bIns="0" rtlCol="0" anchor="t"/>
          <a:lstStyle/>
          <a:p>
            <a:pPr indent="0" marL="0">
              <a:buNone/>
            </a:pPr>
            <a:r>
              <a:rPr lang="en-US" sz="1600" b="1" dirty="0">
                <a:solidFill>
                  <a:schemeClr val="accent1"/>
                </a:solidFill>
              </a:rPr>
              <a:t>Kandidaten vor jedem Durchlauf (schlechtester Fall, n = 100)</a:t>
            </a:r>
            <a:endParaRPr lang="en-US" sz="1600" dirty="0"/>
          </a:p>
        </p:txBody>
      </p:sp>
      <p:sp>
        <p:nvSpPr>
          <p:cNvPr id="4" name="Text 2"/>
          <p:cNvSpPr txBox="1"/>
          <p:nvPr/>
        </p:nvSpPr>
        <p:spPr>
          <a:xfrm>
            <a:off x="548640" y="1737360"/>
            <a:ext cx="411480" cy="402336"/>
          </a:xfrm>
          <a:prstGeom prst="rect">
            <a:avLst/>
          </a:prstGeom>
          <a:noFill/>
          <a:ln/>
        </p:spPr>
        <p:txBody>
          <a:bodyPr wrap="square" lIns="0" tIns="0" rIns="0" bIns="0" rtlCol="0" anchor="ctr"/>
          <a:lstStyle/>
          <a:p>
            <a:pPr indent="0" marL="0">
              <a:buNone/>
            </a:pPr>
            <a:r>
              <a:rPr lang="en-US" sz="1500" b="1" dirty="0">
                <a:solidFill>
                  <a:schemeClr val="accent6"/>
                </a:solidFill>
              </a:rPr>
              <a:t>1.</a:t>
            </a:r>
            <a:endParaRPr lang="en-US" sz="1500" dirty="0"/>
          </a:p>
        </p:txBody>
      </p:sp>
      <p:sp>
        <p:nvSpPr>
          <p:cNvPr id="5" name="Halbierung 100"/>
          <p:cNvSpPr/>
          <p:nvPr/>
        </p:nvSpPr>
        <p:spPr>
          <a:xfrm>
            <a:off x="1005840" y="1737360"/>
            <a:ext cx="5120640" cy="402336"/>
          </a:xfrm>
          <a:prstGeom prst="rect">
            <a:avLst/>
          </a:prstGeom>
          <a:solidFill>
            <a:schemeClr val="accent1"/>
          </a:solidFill>
          <a:ln/>
        </p:spPr>
      </p:sp>
      <p:sp>
        <p:nvSpPr>
          <p:cNvPr id="6" name="Text 4"/>
          <p:cNvSpPr txBox="1"/>
          <p:nvPr/>
        </p:nvSpPr>
        <p:spPr>
          <a:xfrm>
            <a:off x="6217920" y="1737360"/>
            <a:ext cx="640080" cy="402336"/>
          </a:xfrm>
          <a:prstGeom prst="rect">
            <a:avLst/>
          </a:prstGeom>
          <a:noFill/>
          <a:ln/>
        </p:spPr>
        <p:txBody>
          <a:bodyPr wrap="square" lIns="0" tIns="0" rIns="0" bIns="0" rtlCol="0" anchor="ctr"/>
          <a:lstStyle/>
          <a:p>
            <a:pPr indent="0" marL="0">
              <a:buNone/>
            </a:pPr>
            <a:r>
              <a:rPr lang="en-US" sz="1600" b="1" dirty="0">
                <a:solidFill>
                  <a:schemeClr val="accent1"/>
                </a:solidFill>
              </a:rPr>
              <a:t>100</a:t>
            </a:r>
            <a:endParaRPr lang="en-US" sz="1600" dirty="0"/>
          </a:p>
        </p:txBody>
      </p:sp>
      <p:sp>
        <p:nvSpPr>
          <p:cNvPr id="7" name="Text 5"/>
          <p:cNvSpPr txBox="1"/>
          <p:nvPr/>
        </p:nvSpPr>
        <p:spPr>
          <a:xfrm>
            <a:off x="548640" y="2249424"/>
            <a:ext cx="411480" cy="402336"/>
          </a:xfrm>
          <a:prstGeom prst="rect">
            <a:avLst/>
          </a:prstGeom>
          <a:noFill/>
          <a:ln/>
        </p:spPr>
        <p:txBody>
          <a:bodyPr wrap="square" lIns="0" tIns="0" rIns="0" bIns="0" rtlCol="0" anchor="ctr"/>
          <a:lstStyle/>
          <a:p>
            <a:pPr indent="0" marL="0">
              <a:buNone/>
            </a:pPr>
            <a:r>
              <a:rPr lang="en-US" sz="1500" b="1" dirty="0">
                <a:solidFill>
                  <a:schemeClr val="accent6"/>
                </a:solidFill>
              </a:rPr>
              <a:t>2.</a:t>
            </a:r>
            <a:endParaRPr lang="en-US" sz="1500" dirty="0"/>
          </a:p>
        </p:txBody>
      </p:sp>
      <p:sp>
        <p:nvSpPr>
          <p:cNvPr id="8" name="Halbierung 50"/>
          <p:cNvSpPr/>
          <p:nvPr/>
        </p:nvSpPr>
        <p:spPr>
          <a:xfrm>
            <a:off x="1005840" y="2249424"/>
            <a:ext cx="2560320" cy="402336"/>
          </a:xfrm>
          <a:prstGeom prst="rect">
            <a:avLst/>
          </a:prstGeom>
          <a:solidFill>
            <a:schemeClr val="accent1"/>
          </a:solidFill>
          <a:ln/>
        </p:spPr>
      </p:sp>
      <p:sp>
        <p:nvSpPr>
          <p:cNvPr id="9" name="Text 7"/>
          <p:cNvSpPr txBox="1"/>
          <p:nvPr/>
        </p:nvSpPr>
        <p:spPr>
          <a:xfrm>
            <a:off x="3657600" y="2249424"/>
            <a:ext cx="640080" cy="402336"/>
          </a:xfrm>
          <a:prstGeom prst="rect">
            <a:avLst/>
          </a:prstGeom>
          <a:noFill/>
          <a:ln/>
        </p:spPr>
        <p:txBody>
          <a:bodyPr wrap="square" lIns="0" tIns="0" rIns="0" bIns="0" rtlCol="0" anchor="ctr"/>
          <a:lstStyle/>
          <a:p>
            <a:pPr indent="0" marL="0">
              <a:buNone/>
            </a:pPr>
            <a:r>
              <a:rPr lang="en-US" sz="1600" b="1" dirty="0">
                <a:solidFill>
                  <a:schemeClr val="accent1"/>
                </a:solidFill>
              </a:rPr>
              <a:t>50</a:t>
            </a:r>
            <a:endParaRPr lang="en-US" sz="1600" dirty="0"/>
          </a:p>
        </p:txBody>
      </p:sp>
      <p:sp>
        <p:nvSpPr>
          <p:cNvPr id="10" name="Text 8"/>
          <p:cNvSpPr txBox="1"/>
          <p:nvPr/>
        </p:nvSpPr>
        <p:spPr>
          <a:xfrm>
            <a:off x="548640" y="2761488"/>
            <a:ext cx="411480" cy="402336"/>
          </a:xfrm>
          <a:prstGeom prst="rect">
            <a:avLst/>
          </a:prstGeom>
          <a:noFill/>
          <a:ln/>
        </p:spPr>
        <p:txBody>
          <a:bodyPr wrap="square" lIns="0" tIns="0" rIns="0" bIns="0" rtlCol="0" anchor="ctr"/>
          <a:lstStyle/>
          <a:p>
            <a:pPr indent="0" marL="0">
              <a:buNone/>
            </a:pPr>
            <a:r>
              <a:rPr lang="en-US" sz="1500" b="1" dirty="0">
                <a:solidFill>
                  <a:schemeClr val="accent6"/>
                </a:solidFill>
              </a:rPr>
              <a:t>3.</a:t>
            </a:r>
            <a:endParaRPr lang="en-US" sz="1500" dirty="0"/>
          </a:p>
        </p:txBody>
      </p:sp>
      <p:sp>
        <p:nvSpPr>
          <p:cNvPr id="11" name="Halbierung 25"/>
          <p:cNvSpPr/>
          <p:nvPr/>
        </p:nvSpPr>
        <p:spPr>
          <a:xfrm>
            <a:off x="1005840" y="2761488"/>
            <a:ext cx="1280160" cy="402336"/>
          </a:xfrm>
          <a:prstGeom prst="rect">
            <a:avLst/>
          </a:prstGeom>
          <a:solidFill>
            <a:schemeClr val="accent1"/>
          </a:solidFill>
          <a:ln/>
        </p:spPr>
      </p:sp>
      <p:sp>
        <p:nvSpPr>
          <p:cNvPr id="12" name="Text 10"/>
          <p:cNvSpPr txBox="1"/>
          <p:nvPr/>
        </p:nvSpPr>
        <p:spPr>
          <a:xfrm>
            <a:off x="2377440" y="2761488"/>
            <a:ext cx="640080" cy="402336"/>
          </a:xfrm>
          <a:prstGeom prst="rect">
            <a:avLst/>
          </a:prstGeom>
          <a:noFill/>
          <a:ln/>
        </p:spPr>
        <p:txBody>
          <a:bodyPr wrap="square" lIns="0" tIns="0" rIns="0" bIns="0" rtlCol="0" anchor="ctr"/>
          <a:lstStyle/>
          <a:p>
            <a:pPr indent="0" marL="0">
              <a:buNone/>
            </a:pPr>
            <a:r>
              <a:rPr lang="en-US" sz="1600" b="1" dirty="0">
                <a:solidFill>
                  <a:schemeClr val="accent1"/>
                </a:solidFill>
              </a:rPr>
              <a:t>25</a:t>
            </a:r>
            <a:endParaRPr lang="en-US" sz="1600" dirty="0"/>
          </a:p>
        </p:txBody>
      </p:sp>
      <p:sp>
        <p:nvSpPr>
          <p:cNvPr id="13" name="Text 11"/>
          <p:cNvSpPr txBox="1"/>
          <p:nvPr/>
        </p:nvSpPr>
        <p:spPr>
          <a:xfrm>
            <a:off x="548640" y="3273552"/>
            <a:ext cx="411480" cy="402336"/>
          </a:xfrm>
          <a:prstGeom prst="rect">
            <a:avLst/>
          </a:prstGeom>
          <a:noFill/>
          <a:ln/>
        </p:spPr>
        <p:txBody>
          <a:bodyPr wrap="square" lIns="0" tIns="0" rIns="0" bIns="0" rtlCol="0" anchor="ctr"/>
          <a:lstStyle/>
          <a:p>
            <a:pPr indent="0" marL="0">
              <a:buNone/>
            </a:pPr>
            <a:r>
              <a:rPr lang="en-US" sz="1500" b="1" dirty="0">
                <a:solidFill>
                  <a:schemeClr val="accent6"/>
                </a:solidFill>
              </a:rPr>
              <a:t>4.</a:t>
            </a:r>
            <a:endParaRPr lang="en-US" sz="1500" dirty="0"/>
          </a:p>
        </p:txBody>
      </p:sp>
      <p:sp>
        <p:nvSpPr>
          <p:cNvPr id="14" name="Halbierung 12"/>
          <p:cNvSpPr/>
          <p:nvPr/>
        </p:nvSpPr>
        <p:spPr>
          <a:xfrm>
            <a:off x="1005840" y="3273552"/>
            <a:ext cx="614477" cy="402336"/>
          </a:xfrm>
          <a:prstGeom prst="rect">
            <a:avLst/>
          </a:prstGeom>
          <a:solidFill>
            <a:schemeClr val="accent1"/>
          </a:solidFill>
          <a:ln/>
        </p:spPr>
      </p:sp>
      <p:sp>
        <p:nvSpPr>
          <p:cNvPr id="15" name="Text 13"/>
          <p:cNvSpPr txBox="1"/>
          <p:nvPr/>
        </p:nvSpPr>
        <p:spPr>
          <a:xfrm>
            <a:off x="1711757" y="3273552"/>
            <a:ext cx="640080" cy="402336"/>
          </a:xfrm>
          <a:prstGeom prst="rect">
            <a:avLst/>
          </a:prstGeom>
          <a:noFill/>
          <a:ln/>
        </p:spPr>
        <p:txBody>
          <a:bodyPr wrap="square" lIns="0" tIns="0" rIns="0" bIns="0" rtlCol="0" anchor="ctr"/>
          <a:lstStyle/>
          <a:p>
            <a:pPr indent="0" marL="0">
              <a:buNone/>
            </a:pPr>
            <a:r>
              <a:rPr lang="en-US" sz="1600" b="1" dirty="0">
                <a:solidFill>
                  <a:schemeClr val="accent1"/>
                </a:solidFill>
              </a:rPr>
              <a:t>12</a:t>
            </a:r>
            <a:endParaRPr lang="en-US" sz="1600" dirty="0"/>
          </a:p>
        </p:txBody>
      </p:sp>
      <p:sp>
        <p:nvSpPr>
          <p:cNvPr id="16" name="Text 14"/>
          <p:cNvSpPr txBox="1"/>
          <p:nvPr/>
        </p:nvSpPr>
        <p:spPr>
          <a:xfrm>
            <a:off x="548640" y="3785616"/>
            <a:ext cx="411480" cy="402336"/>
          </a:xfrm>
          <a:prstGeom prst="rect">
            <a:avLst/>
          </a:prstGeom>
          <a:noFill/>
          <a:ln/>
        </p:spPr>
        <p:txBody>
          <a:bodyPr wrap="square" lIns="0" tIns="0" rIns="0" bIns="0" rtlCol="0" anchor="ctr"/>
          <a:lstStyle/>
          <a:p>
            <a:pPr indent="0" marL="0">
              <a:buNone/>
            </a:pPr>
            <a:r>
              <a:rPr lang="en-US" sz="1500" b="1" dirty="0">
                <a:solidFill>
                  <a:schemeClr val="accent6"/>
                </a:solidFill>
              </a:rPr>
              <a:t>5.</a:t>
            </a:r>
            <a:endParaRPr lang="en-US" sz="1500" dirty="0"/>
          </a:p>
        </p:txBody>
      </p:sp>
      <p:sp>
        <p:nvSpPr>
          <p:cNvPr id="17" name="Halbierung 6"/>
          <p:cNvSpPr/>
          <p:nvPr/>
        </p:nvSpPr>
        <p:spPr>
          <a:xfrm>
            <a:off x="1005840" y="3785616"/>
            <a:ext cx="307238" cy="402336"/>
          </a:xfrm>
          <a:prstGeom prst="rect">
            <a:avLst/>
          </a:prstGeom>
          <a:solidFill>
            <a:schemeClr val="accent1"/>
          </a:solidFill>
          <a:ln/>
        </p:spPr>
      </p:sp>
      <p:sp>
        <p:nvSpPr>
          <p:cNvPr id="18" name="Text 16"/>
          <p:cNvSpPr txBox="1"/>
          <p:nvPr/>
        </p:nvSpPr>
        <p:spPr>
          <a:xfrm>
            <a:off x="1404518" y="3785616"/>
            <a:ext cx="640080" cy="402336"/>
          </a:xfrm>
          <a:prstGeom prst="rect">
            <a:avLst/>
          </a:prstGeom>
          <a:noFill/>
          <a:ln/>
        </p:spPr>
        <p:txBody>
          <a:bodyPr wrap="square" lIns="0" tIns="0" rIns="0" bIns="0" rtlCol="0" anchor="ctr"/>
          <a:lstStyle/>
          <a:p>
            <a:pPr indent="0" marL="0">
              <a:buNone/>
            </a:pPr>
            <a:r>
              <a:rPr lang="en-US" sz="1600" b="1" dirty="0">
                <a:solidFill>
                  <a:schemeClr val="accent1"/>
                </a:solidFill>
              </a:rPr>
              <a:t>6</a:t>
            </a:r>
            <a:endParaRPr lang="en-US" sz="1600" dirty="0"/>
          </a:p>
        </p:txBody>
      </p:sp>
      <p:sp>
        <p:nvSpPr>
          <p:cNvPr id="19" name="Text 17"/>
          <p:cNvSpPr txBox="1"/>
          <p:nvPr/>
        </p:nvSpPr>
        <p:spPr>
          <a:xfrm>
            <a:off x="548640" y="4297680"/>
            <a:ext cx="411480" cy="402336"/>
          </a:xfrm>
          <a:prstGeom prst="rect">
            <a:avLst/>
          </a:prstGeom>
          <a:noFill/>
          <a:ln/>
        </p:spPr>
        <p:txBody>
          <a:bodyPr wrap="square" lIns="0" tIns="0" rIns="0" bIns="0" rtlCol="0" anchor="ctr"/>
          <a:lstStyle/>
          <a:p>
            <a:pPr indent="0" marL="0">
              <a:buNone/>
            </a:pPr>
            <a:r>
              <a:rPr lang="en-US" sz="1500" b="1" dirty="0">
                <a:solidFill>
                  <a:schemeClr val="accent6"/>
                </a:solidFill>
              </a:rPr>
              <a:t>6.</a:t>
            </a:r>
            <a:endParaRPr lang="en-US" sz="1500" dirty="0"/>
          </a:p>
        </p:txBody>
      </p:sp>
      <p:sp>
        <p:nvSpPr>
          <p:cNvPr id="20" name="Halbierung 3"/>
          <p:cNvSpPr/>
          <p:nvPr/>
        </p:nvSpPr>
        <p:spPr>
          <a:xfrm>
            <a:off x="1005840" y="4297680"/>
            <a:ext cx="153619" cy="402336"/>
          </a:xfrm>
          <a:prstGeom prst="rect">
            <a:avLst/>
          </a:prstGeom>
          <a:solidFill>
            <a:schemeClr val="accent1"/>
          </a:solidFill>
          <a:ln/>
        </p:spPr>
      </p:sp>
      <p:sp>
        <p:nvSpPr>
          <p:cNvPr id="21" name="Text 19"/>
          <p:cNvSpPr txBox="1"/>
          <p:nvPr/>
        </p:nvSpPr>
        <p:spPr>
          <a:xfrm>
            <a:off x="1250899" y="4297680"/>
            <a:ext cx="640080" cy="402336"/>
          </a:xfrm>
          <a:prstGeom prst="rect">
            <a:avLst/>
          </a:prstGeom>
          <a:noFill/>
          <a:ln/>
        </p:spPr>
        <p:txBody>
          <a:bodyPr wrap="square" lIns="0" tIns="0" rIns="0" bIns="0" rtlCol="0" anchor="ctr"/>
          <a:lstStyle/>
          <a:p>
            <a:pPr indent="0" marL="0">
              <a:buNone/>
            </a:pPr>
            <a:r>
              <a:rPr lang="en-US" sz="1600" b="1" dirty="0">
                <a:solidFill>
                  <a:schemeClr val="accent1"/>
                </a:solidFill>
              </a:rPr>
              <a:t>3</a:t>
            </a:r>
            <a:endParaRPr lang="en-US" sz="1600" dirty="0"/>
          </a:p>
        </p:txBody>
      </p:sp>
      <p:sp>
        <p:nvSpPr>
          <p:cNvPr id="22" name="Text 20"/>
          <p:cNvSpPr txBox="1"/>
          <p:nvPr/>
        </p:nvSpPr>
        <p:spPr>
          <a:xfrm>
            <a:off x="548640" y="4809744"/>
            <a:ext cx="411480" cy="402336"/>
          </a:xfrm>
          <a:prstGeom prst="rect">
            <a:avLst/>
          </a:prstGeom>
          <a:noFill/>
          <a:ln/>
        </p:spPr>
        <p:txBody>
          <a:bodyPr wrap="square" lIns="0" tIns="0" rIns="0" bIns="0" rtlCol="0" anchor="ctr"/>
          <a:lstStyle/>
          <a:p>
            <a:pPr indent="0" marL="0">
              <a:buNone/>
            </a:pPr>
            <a:r>
              <a:rPr lang="en-US" sz="1500" b="1" dirty="0">
                <a:solidFill>
                  <a:schemeClr val="accent6"/>
                </a:solidFill>
              </a:rPr>
              <a:t>7.</a:t>
            </a:r>
            <a:endParaRPr lang="en-US" sz="1500" dirty="0"/>
          </a:p>
        </p:txBody>
      </p:sp>
      <p:sp>
        <p:nvSpPr>
          <p:cNvPr id="23" name="Halbierung 1"/>
          <p:cNvSpPr/>
          <p:nvPr/>
        </p:nvSpPr>
        <p:spPr>
          <a:xfrm>
            <a:off x="1005840" y="4809744"/>
            <a:ext cx="109728" cy="402336"/>
          </a:xfrm>
          <a:prstGeom prst="rect">
            <a:avLst/>
          </a:prstGeom>
          <a:solidFill>
            <a:schemeClr val="accent2"/>
          </a:solidFill>
          <a:ln/>
        </p:spPr>
      </p:sp>
      <p:sp>
        <p:nvSpPr>
          <p:cNvPr id="24" name="Text 22"/>
          <p:cNvSpPr txBox="1"/>
          <p:nvPr/>
        </p:nvSpPr>
        <p:spPr>
          <a:xfrm>
            <a:off x="1207008" y="4809744"/>
            <a:ext cx="640080" cy="402336"/>
          </a:xfrm>
          <a:prstGeom prst="rect">
            <a:avLst/>
          </a:prstGeom>
          <a:noFill/>
          <a:ln/>
        </p:spPr>
        <p:txBody>
          <a:bodyPr wrap="square" lIns="0" tIns="0" rIns="0" bIns="0" rtlCol="0" anchor="ctr"/>
          <a:lstStyle/>
          <a:p>
            <a:pPr indent="0" marL="0">
              <a:buNone/>
            </a:pPr>
            <a:r>
              <a:rPr lang="en-US" sz="1600" b="1" dirty="0">
                <a:solidFill>
                  <a:schemeClr val="accent1"/>
                </a:solidFill>
              </a:rPr>
              <a:t>1</a:t>
            </a:r>
            <a:endParaRPr lang="en-US" sz="1600" dirty="0"/>
          </a:p>
        </p:txBody>
      </p:sp>
      <p:sp>
        <p:nvSpPr>
          <p:cNvPr id="25" name="Ergebnis 7"/>
          <p:cNvSpPr/>
          <p:nvPr/>
        </p:nvSpPr>
        <p:spPr>
          <a:xfrm>
            <a:off x="548640" y="5440680"/>
            <a:ext cx="6583680" cy="685800"/>
          </a:xfrm>
          <a:prstGeom prst="roundRect">
            <a:avLst>
              <a:gd name="adj" fmla="val 16000"/>
            </a:avLst>
          </a:prstGeom>
          <a:solidFill>
            <a:schemeClr val="bg2"/>
          </a:solidFill>
          <a:ln/>
        </p:spPr>
      </p:sp>
      <p:sp>
        <p:nvSpPr>
          <p:cNvPr id="26" name="Text 24"/>
          <p:cNvSpPr txBox="1"/>
          <p:nvPr/>
        </p:nvSpPr>
        <p:spPr>
          <a:xfrm>
            <a:off x="777240" y="5440680"/>
            <a:ext cx="6217920" cy="685800"/>
          </a:xfrm>
          <a:prstGeom prst="rect">
            <a:avLst/>
          </a:prstGeom>
          <a:noFill/>
          <a:ln/>
        </p:spPr>
        <p:txBody>
          <a:bodyPr wrap="square" lIns="0" tIns="0" rIns="0" bIns="0" rtlCol="0" anchor="ctr"/>
          <a:lstStyle/>
          <a:p>
            <a:pPr indent="0" marL="0">
              <a:buNone/>
            </a:pPr>
            <a:r>
              <a:rPr lang="en-US" sz="1700" b="1" dirty="0">
                <a:solidFill>
                  <a:schemeClr val="accent1"/>
                </a:solidFill>
              </a:rPr>
              <a:t>n = 100 → höchstens 7 Durchläufe, </a:t>
            </a:r>
            <a:pPr indent="0" marL="0">
              <a:buNone/>
            </a:pPr>
            <a:r>
              <a:rPr lang="en-US" sz="1700" dirty="0">
                <a:solidFill>
                  <a:schemeClr val="tx1"/>
                </a:solidFill>
              </a:rPr>
              <a:t>denn 2⁶ = 64 ≤ 100 &lt; 128 = 2⁷</a:t>
            </a:r>
            <a:endParaRPr lang="en-US" sz="1700" dirty="0"/>
          </a:p>
        </p:txBody>
      </p:sp>
      <p:graphicFrame>
        <p:nvGraphicFramePr>
          <p:cNvPr id="22" name="Tabelle Durchlaeufe"/>
          <p:cNvGraphicFramePr>
            <a:graphicFrameLocks noGrp="1"/>
          </p:cNvGraphicFramePr>
          <p:nvPr>
            <p:extLst>
              <p:ext uri="{D42A27DB-BD31-4B8C-83A1-F6EECF244321}">
                <p14:modId xmlns:p14="http://schemas.microsoft.com/office/powerpoint/2010/main" val="1579011935"/>
              </p:ext>
            </p:extLst>
          </p:nvPr>
        </p:nvGraphicFramePr>
        <p:xfrm>
          <a:off x="7589520" y="1325880"/>
          <a:ext cx="4023360" cy="914400"/>
        </p:xfrm>
        <a:graphic>
          <a:graphicData uri="http://schemas.openxmlformats.org/drawingml/2006/table">
            <a:tbl>
              <a:tblPr/>
              <a:tblGrid>
                <a:gridCol w="2011680"/>
                <a:gridCol w="2011680"/>
              </a:tblGrid>
              <a:tr h="411480">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max. Durchläufe</a:t>
                      </a:r>
                      <a:endParaRPr lang="en-US" sz="16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1"/>
                    </a:solidFill>
                  </a:tcPr>
                </a:tc>
              </a:tr>
              <a:tr h="411480">
                <a:tc>
                  <a:txBody>
                    <a:bodyPr/>
                    <a:lstStyle/>
                    <a:p>
                      <a:pPr algn="ctr" indent="0" marL="0">
                        <a:buNone/>
                      </a:pPr>
                      <a:r>
                        <a:rPr lang="en-US" sz="1700" b="1" dirty="0">
                          <a:solidFill>
                            <a:schemeClr val="tx1"/>
                          </a:solidFill>
                          <a:latin typeface="Calibri" pitchFamily="34" charset="0"/>
                          <a:ea typeface="Calibri" pitchFamily="34" charset="-122"/>
                          <a:cs typeface="Calibri" pitchFamily="34" charset="-120"/>
                        </a:rPr>
                        <a:t>100</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algn="ctr" indent="0" marL="0">
                        <a:buNone/>
                      </a:pPr>
                      <a:r>
                        <a:rPr lang="en-US" sz="1700" b="1" dirty="0">
                          <a:solidFill>
                            <a:schemeClr val="accent2"/>
                          </a:solidFill>
                          <a:latin typeface="Calibri" pitchFamily="34" charset="0"/>
                          <a:ea typeface="Calibri" pitchFamily="34" charset="-122"/>
                          <a:cs typeface="Calibri" pitchFamily="34" charset="-120"/>
                        </a:rPr>
                        <a:t>7</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r>
              <a:tr h="411480">
                <a:tc>
                  <a:txBody>
                    <a:bodyPr/>
                    <a:lstStyle/>
                    <a:p>
                      <a:pPr algn="ctr" indent="0" marL="0">
                        <a:buNone/>
                      </a:pPr>
                      <a:r>
                        <a:rPr lang="en-US" sz="1700" b="1" dirty="0">
                          <a:solidFill>
                            <a:schemeClr val="tx1"/>
                          </a:solidFill>
                          <a:latin typeface="Calibri" pitchFamily="34" charset="0"/>
                          <a:ea typeface="Calibri" pitchFamily="34" charset="-122"/>
                          <a:cs typeface="Calibri" pitchFamily="34" charset="-120"/>
                        </a:rPr>
                        <a:t>200</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2"/>
                          </a:solidFill>
                          <a:latin typeface="Calibri" pitchFamily="34" charset="0"/>
                          <a:ea typeface="Calibri" pitchFamily="34" charset="-122"/>
                          <a:cs typeface="Calibri" pitchFamily="34" charset="-120"/>
                        </a:rPr>
                        <a:t>8</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algn="ctr" indent="0" marL="0">
                        <a:buNone/>
                      </a:pPr>
                      <a:r>
                        <a:rPr lang="en-US" sz="1700" b="1" dirty="0">
                          <a:solidFill>
                            <a:schemeClr val="tx1"/>
                          </a:solidFill>
                          <a:latin typeface="Calibri" pitchFamily="34" charset="0"/>
                          <a:ea typeface="Calibri" pitchFamily="34" charset="-122"/>
                          <a:cs typeface="Calibri" pitchFamily="34" charset="-120"/>
                        </a:rPr>
                        <a:t>1 000</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algn="ctr" indent="0" marL="0">
                        <a:buNone/>
                      </a:pPr>
                      <a:r>
                        <a:rPr lang="en-US" sz="1700" b="1" dirty="0">
                          <a:solidFill>
                            <a:schemeClr val="accent2"/>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r>
              <a:tr h="411480">
                <a:tc>
                  <a:txBody>
                    <a:bodyPr/>
                    <a:lstStyle/>
                    <a:p>
                      <a:pPr algn="ctr" indent="0" marL="0">
                        <a:buNone/>
                      </a:pPr>
                      <a:r>
                        <a:rPr lang="en-US" sz="1700" b="1" dirty="0">
                          <a:solidFill>
                            <a:schemeClr val="tx1"/>
                          </a:solidFill>
                          <a:latin typeface="Calibri" pitchFamily="34" charset="0"/>
                          <a:ea typeface="Calibri" pitchFamily="34" charset="-122"/>
                          <a:cs typeface="Calibri" pitchFamily="34" charset="-120"/>
                        </a:rPr>
                        <a:t>2 000</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2"/>
                          </a:solidFill>
                          <a:latin typeface="Calibri" pitchFamily="34" charset="0"/>
                          <a:ea typeface="Calibri" pitchFamily="34" charset="-122"/>
                          <a:cs typeface="Calibri" pitchFamily="34" charset="-120"/>
                        </a:rPr>
                        <a:t>11</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bg1"/>
                    </a:solidFill>
                  </a:tcPr>
                </a:tc>
              </a:tr>
              <a:tr h="411480">
                <a:tc>
                  <a:txBody>
                    <a:bodyPr/>
                    <a:lstStyle/>
                    <a:p>
                      <a:pPr algn="ctr" indent="0" marL="0">
                        <a:buNone/>
                      </a:pPr>
                      <a:r>
                        <a:rPr lang="en-US" sz="1700" b="1" dirty="0">
                          <a:solidFill>
                            <a:schemeClr val="tx1"/>
                          </a:solidFill>
                          <a:latin typeface="Calibri" pitchFamily="34" charset="0"/>
                          <a:ea typeface="Calibri" pitchFamily="34" charset="-122"/>
                          <a:cs typeface="Calibri" pitchFamily="34" charset="-120"/>
                        </a:rPr>
                        <a:t>1 000 000</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c>
                  <a:txBody>
                    <a:bodyPr/>
                    <a:lstStyle/>
                    <a:p>
                      <a:pPr algn="ctr" indent="0" marL="0">
                        <a:buNone/>
                      </a:pPr>
                      <a:r>
                        <a:rPr lang="en-US" sz="1700" b="1" dirty="0">
                          <a:solidFill>
                            <a:schemeClr val="accent2"/>
                          </a:solidFill>
                          <a:latin typeface="Calibri" pitchFamily="34" charset="0"/>
                          <a:ea typeface="Calibri" pitchFamily="34" charset="-122"/>
                          <a:cs typeface="Calibri" pitchFamily="34" charset="-120"/>
                        </a:rPr>
                        <a:t>20</a:t>
                      </a:r>
                      <a:endParaRPr lang="en-US" sz="1700" dirty="0">
                        <a:latin typeface="Calibri" charset="0"/>
                        <a:ea typeface="Calibri" charset="0"/>
                        <a:cs typeface="Calibri" charset="0"/>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chemeClr val="accent5"/>
                    </a:solidFill>
                  </a:tcPr>
                </a:tc>
              </a:tr>
            </a:tbl>
          </a:graphicData>
        </a:graphic>
      </p:graphicFrame>
      <p:sp>
        <p:nvSpPr>
          <p:cNvPr id="28" name="Verdopplung +1"/>
          <p:cNvSpPr/>
          <p:nvPr/>
        </p:nvSpPr>
        <p:spPr>
          <a:xfrm>
            <a:off x="7589520" y="4023360"/>
            <a:ext cx="4023360" cy="2103120"/>
          </a:xfrm>
          <a:prstGeom prst="roundRect">
            <a:avLst>
              <a:gd name="adj" fmla="val 5217"/>
            </a:avLst>
          </a:prstGeom>
          <a:solidFill>
            <a:schemeClr val="accent1"/>
          </a:solidFill>
          <a:ln/>
          <a:effectLst>
            <a:outerShdw sx="100000" sy="100000" kx="0" ky="0" algn="bl" rotWithShape="0" blurRad="76200" dist="25400" dir="5400000">
              <a:srgbClr val="000000">
                <a:alpha val="18000"/>
              </a:srgbClr>
            </a:outerShdw>
          </a:effectLst>
        </p:spPr>
      </p:sp>
      <p:sp>
        <p:nvSpPr>
          <p:cNvPr id="29" name="Text 26"/>
          <p:cNvSpPr txBox="1"/>
          <p:nvPr/>
        </p:nvSpPr>
        <p:spPr>
          <a:xfrm>
            <a:off x="7772400" y="4023360"/>
            <a:ext cx="3657600" cy="2103120"/>
          </a:xfrm>
          <a:prstGeom prst="rect">
            <a:avLst/>
          </a:prstGeom>
          <a:noFill/>
          <a:ln/>
        </p:spPr>
        <p:txBody>
          <a:bodyPr wrap="square" lIns="0" tIns="0" rIns="0" bIns="0" rtlCol="0" anchor="ctr"/>
          <a:lstStyle/>
          <a:p>
            <a:pPr indent="0" marL="0">
              <a:buNone/>
            </a:pPr>
            <a:r>
              <a:rPr lang="en-US" sz="2400" b="1" dirty="0">
                <a:solidFill>
                  <a:schemeClr val="accent2"/>
                </a:solidFill>
              </a:rPr>
              <a:t>n verdoppeln → + 1</a:t>
            </a:r>
            <a:endParaRPr lang="en-US" sz="1800" dirty="0"/>
          </a:p>
          <a:p>
            <a:pPr indent="0" marL="0">
              <a:buNone/>
            </a:pPr>
            <a:r>
              <a:rPr lang="en-US" sz="1600" dirty="0">
                <a:solidFill>
                  <a:schemeClr val="bg1"/>
                </a:solidFill>
              </a:rPr>
              <a:t>Der erste zusätzliche Durchlauf halbiert 2n wieder auf n – danach geht es weiter wie vorher.</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Linear oder binär?</a:t>
            </a:r>
            <a:endParaRPr lang="en-US" sz="3600" dirty="0"/>
          </a:p>
        </p:txBody>
      </p:sp>
      <p:sp>
        <p:nvSpPr>
          <p:cNvPr id="3" name="Text 1"/>
          <p:cNvSpPr txBox="1"/>
          <p:nvPr/>
        </p:nvSpPr>
        <p:spPr>
          <a:xfrm>
            <a:off x="548640" y="1298448"/>
            <a:ext cx="6400800" cy="329184"/>
          </a:xfrm>
          <a:prstGeom prst="rect">
            <a:avLst/>
          </a:prstGeom>
          <a:noFill/>
          <a:ln/>
        </p:spPr>
        <p:txBody>
          <a:bodyPr wrap="square" lIns="0" tIns="0" rIns="0" bIns="0" rtlCol="0" anchor="t"/>
          <a:lstStyle/>
          <a:p>
            <a:pPr indent="0" marL="0">
              <a:buNone/>
            </a:pPr>
            <a:r>
              <a:rPr lang="en-US" sz="1600" b="1" dirty="0">
                <a:solidFill>
                  <a:schemeClr val="accent1"/>
                </a:solidFill>
              </a:rPr>
              <a:t>Durchläufe im schlechtesten Fall</a:t>
            </a:r>
            <a:endParaRPr lang="en-US" sz="1600" dirty="0"/>
          </a:p>
        </p:txBody>
      </p:sp>
      <p:sp>
        <p:nvSpPr>
          <p:cNvPr id="4" name="Vergleich n=100"/>
          <p:cNvSpPr/>
          <p:nvPr/>
        </p:nvSpPr>
        <p:spPr>
          <a:xfrm>
            <a:off x="548640" y="1783080"/>
            <a:ext cx="6400800" cy="841248"/>
          </a:xfrm>
          <a:prstGeom prst="roundRect">
            <a:avLst>
              <a:gd name="adj" fmla="val 13043"/>
            </a:avLst>
          </a:prstGeom>
          <a:solidFill>
            <a:schemeClr val="bg1"/>
          </a:solidFill>
          <a:ln/>
          <a:effectLst>
            <a:outerShdw sx="100000" sy="100000" kx="0" ky="0" algn="bl" rotWithShape="0" blurRad="76200" dist="25400" dir="5400000">
              <a:srgbClr val="000000">
                <a:alpha val="18000"/>
              </a:srgbClr>
            </a:outerShdw>
          </a:effectLst>
        </p:spPr>
      </p:sp>
      <p:sp>
        <p:nvSpPr>
          <p:cNvPr id="5" name="Text 3"/>
          <p:cNvSpPr txBox="1"/>
          <p:nvPr/>
        </p:nvSpPr>
        <p:spPr>
          <a:xfrm>
            <a:off x="731520" y="1783080"/>
            <a:ext cx="2011680" cy="841248"/>
          </a:xfrm>
          <a:prstGeom prst="rect">
            <a:avLst/>
          </a:prstGeom>
          <a:noFill/>
          <a:ln/>
        </p:spPr>
        <p:txBody>
          <a:bodyPr wrap="square" lIns="0" tIns="0" rIns="0" bIns="0" rtlCol="0" anchor="ctr"/>
          <a:lstStyle/>
          <a:p>
            <a:pPr indent="0" marL="0">
              <a:buNone/>
            </a:pPr>
            <a:r>
              <a:rPr lang="en-US" sz="1900" dirty="0">
                <a:solidFill>
                  <a:schemeClr val="accent6"/>
                </a:solidFill>
              </a:rPr>
              <a:t>n = </a:t>
            </a:r>
            <a:pPr indent="0" marL="0">
              <a:buNone/>
            </a:pPr>
            <a:r>
              <a:rPr lang="en-US" sz="1900" b="1" dirty="0">
                <a:solidFill>
                  <a:schemeClr val="accent1"/>
                </a:solidFill>
              </a:rPr>
              <a:t>100</a:t>
            </a:r>
            <a:endParaRPr lang="en-US" sz="1900" dirty="0"/>
          </a:p>
        </p:txBody>
      </p:sp>
      <p:sp>
        <p:nvSpPr>
          <p:cNvPr id="6" name="Text 4"/>
          <p:cNvSpPr txBox="1"/>
          <p:nvPr/>
        </p:nvSpPr>
        <p:spPr>
          <a:xfrm>
            <a:off x="2743200" y="1783080"/>
            <a:ext cx="2286000" cy="841248"/>
          </a:xfrm>
          <a:prstGeom prst="rect">
            <a:avLst/>
          </a:prstGeom>
          <a:noFill/>
          <a:ln/>
        </p:spPr>
        <p:txBody>
          <a:bodyPr wrap="square" lIns="0" tIns="0" rIns="0" bIns="0" rtlCol="0" anchor="ctr"/>
          <a:lstStyle/>
          <a:p>
            <a:pPr indent="0" marL="0">
              <a:buNone/>
            </a:pPr>
            <a:r>
              <a:rPr lang="en-US" sz="1400" dirty="0">
                <a:solidFill>
                  <a:schemeClr val="accent6"/>
                </a:solidFill>
              </a:rPr>
              <a:t>linear  </a:t>
            </a:r>
            <a:pPr indent="0" marL="0">
              <a:buNone/>
            </a:pPr>
            <a:r>
              <a:rPr lang="en-US" sz="2100" b="1" dirty="0">
                <a:solidFill>
                  <a:schemeClr val="accent4"/>
                </a:solidFill>
              </a:rPr>
              <a:t>100</a:t>
            </a:r>
            <a:endParaRPr lang="en-US" sz="2100" dirty="0"/>
          </a:p>
        </p:txBody>
      </p:sp>
      <p:sp>
        <p:nvSpPr>
          <p:cNvPr id="7" name="Text 5"/>
          <p:cNvSpPr txBox="1"/>
          <p:nvPr/>
        </p:nvSpPr>
        <p:spPr>
          <a:xfrm>
            <a:off x="5120640" y="1783080"/>
            <a:ext cx="1737360" cy="841248"/>
          </a:xfrm>
          <a:prstGeom prst="rect">
            <a:avLst/>
          </a:prstGeom>
          <a:noFill/>
          <a:ln/>
        </p:spPr>
        <p:txBody>
          <a:bodyPr wrap="square" lIns="0" tIns="0" rIns="0" bIns="0" rtlCol="0" anchor="ctr"/>
          <a:lstStyle/>
          <a:p>
            <a:pPr indent="0" marL="0">
              <a:buNone/>
            </a:pPr>
            <a:r>
              <a:rPr lang="en-US" sz="1400" dirty="0">
                <a:solidFill>
                  <a:schemeClr val="accent6"/>
                </a:solidFill>
              </a:rPr>
              <a:t>binär  </a:t>
            </a:r>
            <a:pPr indent="0" marL="0">
              <a:buNone/>
            </a:pPr>
            <a:r>
              <a:rPr lang="en-US" sz="2100" b="1" dirty="0">
                <a:solidFill>
                  <a:schemeClr val="accent3"/>
                </a:solidFill>
              </a:rPr>
              <a:t>7</a:t>
            </a:r>
            <a:endParaRPr lang="en-US" sz="2100" dirty="0"/>
          </a:p>
        </p:txBody>
      </p:sp>
      <p:sp>
        <p:nvSpPr>
          <p:cNvPr id="8" name="Vergleich n=1 000"/>
          <p:cNvSpPr/>
          <p:nvPr/>
        </p:nvSpPr>
        <p:spPr>
          <a:xfrm>
            <a:off x="548640" y="2770632"/>
            <a:ext cx="6400800" cy="841248"/>
          </a:xfrm>
          <a:prstGeom prst="roundRect">
            <a:avLst>
              <a:gd name="adj" fmla="val 13043"/>
            </a:avLst>
          </a:prstGeom>
          <a:solidFill>
            <a:schemeClr val="bg1"/>
          </a:solidFill>
          <a:ln/>
          <a:effectLst>
            <a:outerShdw sx="100000" sy="100000" kx="0" ky="0" algn="bl" rotWithShape="0" blurRad="76200" dist="25400" dir="5400000">
              <a:srgbClr val="000000">
                <a:alpha val="18000"/>
              </a:srgbClr>
            </a:outerShdw>
          </a:effectLst>
        </p:spPr>
      </p:sp>
      <p:sp>
        <p:nvSpPr>
          <p:cNvPr id="9" name="Text 7"/>
          <p:cNvSpPr txBox="1"/>
          <p:nvPr/>
        </p:nvSpPr>
        <p:spPr>
          <a:xfrm>
            <a:off x="731520" y="2770632"/>
            <a:ext cx="2011680" cy="841248"/>
          </a:xfrm>
          <a:prstGeom prst="rect">
            <a:avLst/>
          </a:prstGeom>
          <a:noFill/>
          <a:ln/>
        </p:spPr>
        <p:txBody>
          <a:bodyPr wrap="square" lIns="0" tIns="0" rIns="0" bIns="0" rtlCol="0" anchor="ctr"/>
          <a:lstStyle/>
          <a:p>
            <a:pPr indent="0" marL="0">
              <a:buNone/>
            </a:pPr>
            <a:r>
              <a:rPr lang="en-US" sz="1900" dirty="0">
                <a:solidFill>
                  <a:schemeClr val="accent6"/>
                </a:solidFill>
              </a:rPr>
              <a:t>n = </a:t>
            </a:r>
            <a:pPr indent="0" marL="0">
              <a:buNone/>
            </a:pPr>
            <a:r>
              <a:rPr lang="en-US" sz="1900" b="1" dirty="0">
                <a:solidFill>
                  <a:schemeClr val="accent1"/>
                </a:solidFill>
              </a:rPr>
              <a:t>1 000</a:t>
            </a:r>
            <a:endParaRPr lang="en-US" sz="1900" dirty="0"/>
          </a:p>
        </p:txBody>
      </p:sp>
      <p:sp>
        <p:nvSpPr>
          <p:cNvPr id="10" name="Text 8"/>
          <p:cNvSpPr txBox="1"/>
          <p:nvPr/>
        </p:nvSpPr>
        <p:spPr>
          <a:xfrm>
            <a:off x="2743200" y="2770632"/>
            <a:ext cx="2286000" cy="841248"/>
          </a:xfrm>
          <a:prstGeom prst="rect">
            <a:avLst/>
          </a:prstGeom>
          <a:noFill/>
          <a:ln/>
        </p:spPr>
        <p:txBody>
          <a:bodyPr wrap="square" lIns="0" tIns="0" rIns="0" bIns="0" rtlCol="0" anchor="ctr"/>
          <a:lstStyle/>
          <a:p>
            <a:pPr indent="0" marL="0">
              <a:buNone/>
            </a:pPr>
            <a:r>
              <a:rPr lang="en-US" sz="1400" dirty="0">
                <a:solidFill>
                  <a:schemeClr val="accent6"/>
                </a:solidFill>
              </a:rPr>
              <a:t>linear  </a:t>
            </a:r>
            <a:pPr indent="0" marL="0">
              <a:buNone/>
            </a:pPr>
            <a:r>
              <a:rPr lang="en-US" sz="2100" b="1" dirty="0">
                <a:solidFill>
                  <a:schemeClr val="accent4"/>
                </a:solidFill>
              </a:rPr>
              <a:t>1 000</a:t>
            </a:r>
            <a:endParaRPr lang="en-US" sz="2100" dirty="0"/>
          </a:p>
        </p:txBody>
      </p:sp>
      <p:sp>
        <p:nvSpPr>
          <p:cNvPr id="11" name="Text 9"/>
          <p:cNvSpPr txBox="1"/>
          <p:nvPr/>
        </p:nvSpPr>
        <p:spPr>
          <a:xfrm>
            <a:off x="5120640" y="2770632"/>
            <a:ext cx="1737360" cy="841248"/>
          </a:xfrm>
          <a:prstGeom prst="rect">
            <a:avLst/>
          </a:prstGeom>
          <a:noFill/>
          <a:ln/>
        </p:spPr>
        <p:txBody>
          <a:bodyPr wrap="square" lIns="0" tIns="0" rIns="0" bIns="0" rtlCol="0" anchor="ctr"/>
          <a:lstStyle/>
          <a:p>
            <a:pPr indent="0" marL="0">
              <a:buNone/>
            </a:pPr>
            <a:r>
              <a:rPr lang="en-US" sz="1400" dirty="0">
                <a:solidFill>
                  <a:schemeClr val="accent6"/>
                </a:solidFill>
              </a:rPr>
              <a:t>binär  </a:t>
            </a:r>
            <a:pPr indent="0" marL="0">
              <a:buNone/>
            </a:pPr>
            <a:r>
              <a:rPr lang="en-US" sz="2100" b="1" dirty="0">
                <a:solidFill>
                  <a:schemeClr val="accent3"/>
                </a:solidFill>
              </a:rPr>
              <a:t>10</a:t>
            </a:r>
            <a:endParaRPr lang="en-US" sz="2100" dirty="0"/>
          </a:p>
        </p:txBody>
      </p:sp>
      <p:sp>
        <p:nvSpPr>
          <p:cNvPr id="12" name="Vergleich n=1 000 000"/>
          <p:cNvSpPr/>
          <p:nvPr/>
        </p:nvSpPr>
        <p:spPr>
          <a:xfrm>
            <a:off x="548640" y="3758184"/>
            <a:ext cx="6400800" cy="841248"/>
          </a:xfrm>
          <a:prstGeom prst="roundRect">
            <a:avLst>
              <a:gd name="adj" fmla="val 13043"/>
            </a:avLst>
          </a:prstGeom>
          <a:solidFill>
            <a:schemeClr val="bg1"/>
          </a:solidFill>
          <a:ln/>
          <a:effectLst>
            <a:outerShdw sx="100000" sy="100000" kx="0" ky="0" algn="bl" rotWithShape="0" blurRad="76200" dist="25400" dir="5400000">
              <a:srgbClr val="000000">
                <a:alpha val="18000"/>
              </a:srgbClr>
            </a:outerShdw>
          </a:effectLst>
        </p:spPr>
      </p:sp>
      <p:sp>
        <p:nvSpPr>
          <p:cNvPr id="13" name="Text 11"/>
          <p:cNvSpPr txBox="1"/>
          <p:nvPr/>
        </p:nvSpPr>
        <p:spPr>
          <a:xfrm>
            <a:off x="731520" y="3758184"/>
            <a:ext cx="2011680" cy="841248"/>
          </a:xfrm>
          <a:prstGeom prst="rect">
            <a:avLst/>
          </a:prstGeom>
          <a:noFill/>
          <a:ln/>
        </p:spPr>
        <p:txBody>
          <a:bodyPr wrap="square" lIns="0" tIns="0" rIns="0" bIns="0" rtlCol="0" anchor="ctr"/>
          <a:lstStyle/>
          <a:p>
            <a:pPr indent="0" marL="0">
              <a:buNone/>
            </a:pPr>
            <a:r>
              <a:rPr lang="en-US" sz="1900" dirty="0">
                <a:solidFill>
                  <a:schemeClr val="accent6"/>
                </a:solidFill>
              </a:rPr>
              <a:t>n = </a:t>
            </a:r>
            <a:pPr indent="0" marL="0">
              <a:buNone/>
            </a:pPr>
            <a:r>
              <a:rPr lang="en-US" sz="1900" b="1" dirty="0">
                <a:solidFill>
                  <a:schemeClr val="accent1"/>
                </a:solidFill>
              </a:rPr>
              <a:t>1 000 000</a:t>
            </a:r>
            <a:endParaRPr lang="en-US" sz="1900" dirty="0"/>
          </a:p>
        </p:txBody>
      </p:sp>
      <p:sp>
        <p:nvSpPr>
          <p:cNvPr id="14" name="Text 12"/>
          <p:cNvSpPr txBox="1"/>
          <p:nvPr/>
        </p:nvSpPr>
        <p:spPr>
          <a:xfrm>
            <a:off x="2743200" y="3758184"/>
            <a:ext cx="2286000" cy="841248"/>
          </a:xfrm>
          <a:prstGeom prst="rect">
            <a:avLst/>
          </a:prstGeom>
          <a:noFill/>
          <a:ln/>
        </p:spPr>
        <p:txBody>
          <a:bodyPr wrap="square" lIns="0" tIns="0" rIns="0" bIns="0" rtlCol="0" anchor="ctr"/>
          <a:lstStyle/>
          <a:p>
            <a:pPr indent="0" marL="0">
              <a:buNone/>
            </a:pPr>
            <a:r>
              <a:rPr lang="en-US" sz="1400" dirty="0">
                <a:solidFill>
                  <a:schemeClr val="accent6"/>
                </a:solidFill>
              </a:rPr>
              <a:t>linear  </a:t>
            </a:r>
            <a:pPr indent="0" marL="0">
              <a:buNone/>
            </a:pPr>
            <a:r>
              <a:rPr lang="en-US" sz="2100" b="1" dirty="0">
                <a:solidFill>
                  <a:schemeClr val="accent4"/>
                </a:solidFill>
              </a:rPr>
              <a:t>1 000 000</a:t>
            </a:r>
            <a:endParaRPr lang="en-US" sz="2100" dirty="0"/>
          </a:p>
        </p:txBody>
      </p:sp>
      <p:sp>
        <p:nvSpPr>
          <p:cNvPr id="15" name="Text 13"/>
          <p:cNvSpPr txBox="1"/>
          <p:nvPr/>
        </p:nvSpPr>
        <p:spPr>
          <a:xfrm>
            <a:off x="5120640" y="3758184"/>
            <a:ext cx="1737360" cy="841248"/>
          </a:xfrm>
          <a:prstGeom prst="rect">
            <a:avLst/>
          </a:prstGeom>
          <a:noFill/>
          <a:ln/>
        </p:spPr>
        <p:txBody>
          <a:bodyPr wrap="square" lIns="0" tIns="0" rIns="0" bIns="0" rtlCol="0" anchor="ctr"/>
          <a:lstStyle/>
          <a:p>
            <a:pPr indent="0" marL="0">
              <a:buNone/>
            </a:pPr>
            <a:r>
              <a:rPr lang="en-US" sz="1400" dirty="0">
                <a:solidFill>
                  <a:schemeClr val="accent6"/>
                </a:solidFill>
              </a:rPr>
              <a:t>binär  </a:t>
            </a:r>
            <a:pPr indent="0" marL="0">
              <a:buNone/>
            </a:pPr>
            <a:r>
              <a:rPr lang="en-US" sz="2100" b="1" dirty="0">
                <a:solidFill>
                  <a:schemeClr val="accent3"/>
                </a:solidFill>
              </a:rPr>
              <a:t>20</a:t>
            </a:r>
            <a:endParaRPr lang="en-US" sz="2100" dirty="0"/>
          </a:p>
        </p:txBody>
      </p:sp>
      <p:sp>
        <p:nvSpPr>
          <p:cNvPr id="16" name="Aber sortiert"/>
          <p:cNvSpPr/>
          <p:nvPr/>
        </p:nvSpPr>
        <p:spPr>
          <a:xfrm>
            <a:off x="548640" y="4846320"/>
            <a:ext cx="6400800" cy="1280160"/>
          </a:xfrm>
          <a:prstGeom prst="roundRect">
            <a:avLst>
              <a:gd name="adj" fmla="val 8571"/>
            </a:avLst>
          </a:prstGeom>
          <a:solidFill>
            <a:schemeClr val="bg2"/>
          </a:solidFill>
          <a:ln/>
        </p:spPr>
      </p:sp>
      <p:sp>
        <p:nvSpPr>
          <p:cNvPr id="17" name="Text 15"/>
          <p:cNvSpPr txBox="1"/>
          <p:nvPr/>
        </p:nvSpPr>
        <p:spPr>
          <a:xfrm>
            <a:off x="749808" y="4846320"/>
            <a:ext cx="6035040" cy="1280160"/>
          </a:xfrm>
          <a:prstGeom prst="rect">
            <a:avLst/>
          </a:prstGeom>
          <a:noFill/>
          <a:ln/>
        </p:spPr>
        <p:txBody>
          <a:bodyPr wrap="square" lIns="0" tIns="0" rIns="0" bIns="0" rtlCol="0" anchor="ctr"/>
          <a:lstStyle/>
          <a:p>
            <a:pPr indent="0" marL="0">
              <a:buNone/>
            </a:pPr>
            <a:r>
              <a:rPr lang="en-US" sz="1600" b="1" dirty="0">
                <a:solidFill>
                  <a:schemeClr val="accent1"/>
                </a:solidFill>
              </a:rPr>
              <a:t>Aber: </a:t>
            </a:r>
            <a:pPr indent="0" marL="0">
              <a:buNone/>
            </a:pPr>
            <a:r>
              <a:rPr lang="en-US" sz="1600" dirty="0">
                <a:solidFill>
                  <a:schemeClr val="tx1"/>
                </a:solidFill>
              </a:rPr>
              <a:t>binär nur auf sortierten Daten. Wer nur einmal sucht, sortiert nicht extra – Sortieren kostet bis zu n(n − 1)/2 Vergleiche.</a:t>
            </a:r>
            <a:endParaRPr lang="en-US" sz="1600" dirty="0"/>
          </a:p>
        </p:txBody>
      </p:sp>
      <p:sp>
        <p:nvSpPr>
          <p:cNvPr id="18" name="Ausblick O-Notation"/>
          <p:cNvSpPr/>
          <p:nvPr/>
        </p:nvSpPr>
        <p:spPr>
          <a:xfrm>
            <a:off x="7315200" y="1325880"/>
            <a:ext cx="4297680" cy="4800600"/>
          </a:xfrm>
          <a:prstGeom prst="roundRect">
            <a:avLst>
              <a:gd name="adj" fmla="val 2553"/>
            </a:avLst>
          </a:prstGeom>
          <a:solidFill>
            <a:schemeClr val="bg1"/>
          </a:solidFill>
          <a:ln w="25400">
            <a:solidFill>
              <a:schemeClr val="accent6"/>
            </a:solidFill>
            <a:prstDash val="dash"/>
          </a:ln>
        </p:spPr>
      </p:sp>
      <p:sp>
        <p:nvSpPr>
          <p:cNvPr id="19" name="Chip"/>
          <p:cNvSpPr txBox="1"/>
          <p:nvPr/>
        </p:nvSpPr>
        <p:spPr>
          <a:xfrm>
            <a:off x="7543800" y="1536192"/>
            <a:ext cx="3840480" cy="384048"/>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AUSBLICK · NICHT ABITURRELEVANT</a:t>
            </a:r>
            <a:endParaRPr lang="en-US" sz="1400" dirty="0"/>
          </a:p>
        </p:txBody>
      </p:sp>
      <p:sp>
        <p:nvSpPr>
          <p:cNvPr id="20" name="Text 18"/>
          <p:cNvSpPr txBox="1"/>
          <p:nvPr/>
        </p:nvSpPr>
        <p:spPr>
          <a:xfrm>
            <a:off x="7543800" y="2057400"/>
            <a:ext cx="3840480" cy="411480"/>
          </a:xfrm>
          <a:prstGeom prst="rect">
            <a:avLst/>
          </a:prstGeom>
          <a:noFill/>
          <a:ln/>
        </p:spPr>
        <p:txBody>
          <a:bodyPr wrap="square" lIns="0" tIns="0" rIns="0" bIns="0" rtlCol="0" anchor="t"/>
          <a:lstStyle/>
          <a:p>
            <a:pPr indent="0" marL="0">
              <a:buNone/>
            </a:pPr>
            <a:r>
              <a:rPr lang="en-US" sz="2100" b="1" dirty="0">
                <a:solidFill>
                  <a:schemeClr val="accent1"/>
                </a:solidFill>
              </a:rPr>
              <a:t>O-Notation</a:t>
            </a:r>
            <a:endParaRPr lang="en-US" sz="2100" dirty="0"/>
          </a:p>
        </p:txBody>
      </p:sp>
      <p:sp>
        <p:nvSpPr>
          <p:cNvPr id="21" name="Text 19"/>
          <p:cNvSpPr txBox="1"/>
          <p:nvPr/>
        </p:nvSpPr>
        <p:spPr>
          <a:xfrm>
            <a:off x="7543800" y="2606040"/>
            <a:ext cx="1508760" cy="438912"/>
          </a:xfrm>
          <a:prstGeom prst="rect">
            <a:avLst/>
          </a:prstGeom>
          <a:noFill/>
          <a:ln/>
        </p:spPr>
        <p:txBody>
          <a:bodyPr wrap="square" lIns="0" tIns="0" rIns="0" bIns="0" rtlCol="0" anchor="ctr"/>
          <a:lstStyle/>
          <a:p>
            <a:pPr indent="0" marL="0">
              <a:buNone/>
            </a:pPr>
            <a:r>
              <a:rPr lang="en-US" sz="1600" b="1" dirty="0">
                <a:solidFill>
                  <a:schemeClr val="accent6"/>
                </a:solidFill>
                <a:latin typeface="Consolas" pitchFamily="34" charset="0"/>
                <a:ea typeface="Consolas" pitchFamily="34" charset="-122"/>
                <a:cs typeface="Consolas" pitchFamily="34" charset="-120"/>
              </a:rPr>
              <a:t>O(log n)</a:t>
            </a:r>
            <a:endParaRPr lang="en-US" sz="1600" dirty="0"/>
          </a:p>
        </p:txBody>
      </p:sp>
      <p:sp>
        <p:nvSpPr>
          <p:cNvPr id="22" name="Text 20"/>
          <p:cNvSpPr txBox="1"/>
          <p:nvPr/>
        </p:nvSpPr>
        <p:spPr>
          <a:xfrm>
            <a:off x="9098280" y="2606040"/>
            <a:ext cx="2377440" cy="438912"/>
          </a:xfrm>
          <a:prstGeom prst="rect">
            <a:avLst/>
          </a:prstGeom>
          <a:noFill/>
          <a:ln/>
        </p:spPr>
        <p:txBody>
          <a:bodyPr wrap="square" lIns="0" tIns="0" rIns="0" bIns="0" rtlCol="0" anchor="ctr"/>
          <a:lstStyle/>
          <a:p>
            <a:pPr indent="0" marL="0">
              <a:buNone/>
            </a:pPr>
            <a:r>
              <a:rPr lang="en-US" sz="1600" dirty="0">
                <a:solidFill>
                  <a:schemeClr val="tx1"/>
                </a:solidFill>
              </a:rPr>
              <a:t>binäre Suche</a:t>
            </a:r>
            <a:endParaRPr lang="en-US" sz="1600" dirty="0"/>
          </a:p>
        </p:txBody>
      </p:sp>
      <p:sp>
        <p:nvSpPr>
          <p:cNvPr id="23" name="Text 21"/>
          <p:cNvSpPr txBox="1"/>
          <p:nvPr/>
        </p:nvSpPr>
        <p:spPr>
          <a:xfrm>
            <a:off x="7543800" y="3154680"/>
            <a:ext cx="1508760" cy="438912"/>
          </a:xfrm>
          <a:prstGeom prst="rect">
            <a:avLst/>
          </a:prstGeom>
          <a:noFill/>
          <a:ln/>
        </p:spPr>
        <p:txBody>
          <a:bodyPr wrap="square" lIns="0" tIns="0" rIns="0" bIns="0" rtlCol="0" anchor="ctr"/>
          <a:lstStyle/>
          <a:p>
            <a:pPr indent="0" marL="0">
              <a:buNone/>
            </a:pPr>
            <a:r>
              <a:rPr lang="en-US" sz="1600" b="1" dirty="0">
                <a:solidFill>
                  <a:schemeClr val="accent6"/>
                </a:solidFill>
                <a:latin typeface="Consolas" pitchFamily="34" charset="0"/>
                <a:ea typeface="Consolas" pitchFamily="34" charset="-122"/>
                <a:cs typeface="Consolas" pitchFamily="34" charset="-120"/>
              </a:rPr>
              <a:t>O(n)</a:t>
            </a:r>
            <a:endParaRPr lang="en-US" sz="1600" dirty="0"/>
          </a:p>
        </p:txBody>
      </p:sp>
      <p:sp>
        <p:nvSpPr>
          <p:cNvPr id="24" name="Text 22"/>
          <p:cNvSpPr txBox="1"/>
          <p:nvPr/>
        </p:nvSpPr>
        <p:spPr>
          <a:xfrm>
            <a:off x="9098280" y="3154680"/>
            <a:ext cx="2377440" cy="438912"/>
          </a:xfrm>
          <a:prstGeom prst="rect">
            <a:avLst/>
          </a:prstGeom>
          <a:noFill/>
          <a:ln/>
        </p:spPr>
        <p:txBody>
          <a:bodyPr wrap="square" lIns="0" tIns="0" rIns="0" bIns="0" rtlCol="0" anchor="ctr"/>
          <a:lstStyle/>
          <a:p>
            <a:pPr indent="0" marL="0">
              <a:buNone/>
            </a:pPr>
            <a:r>
              <a:rPr lang="en-US" sz="1600" dirty="0">
                <a:solidFill>
                  <a:schemeClr val="tx1"/>
                </a:solidFill>
              </a:rPr>
              <a:t>lineare Suche</a:t>
            </a:r>
            <a:endParaRPr lang="en-US" sz="1600" dirty="0"/>
          </a:p>
        </p:txBody>
      </p:sp>
      <p:sp>
        <p:nvSpPr>
          <p:cNvPr id="25" name="Text 23"/>
          <p:cNvSpPr txBox="1"/>
          <p:nvPr/>
        </p:nvSpPr>
        <p:spPr>
          <a:xfrm>
            <a:off x="7543800" y="3703320"/>
            <a:ext cx="1508760" cy="438912"/>
          </a:xfrm>
          <a:prstGeom prst="rect">
            <a:avLst/>
          </a:prstGeom>
          <a:noFill/>
          <a:ln/>
        </p:spPr>
        <p:txBody>
          <a:bodyPr wrap="square" lIns="0" tIns="0" rIns="0" bIns="0" rtlCol="0" anchor="ctr"/>
          <a:lstStyle/>
          <a:p>
            <a:pPr indent="0" marL="0">
              <a:buNone/>
            </a:pPr>
            <a:r>
              <a:rPr lang="en-US" sz="1600" b="1" dirty="0">
                <a:solidFill>
                  <a:schemeClr val="accent6"/>
                </a:solidFill>
                <a:latin typeface="Consolas" pitchFamily="34" charset="0"/>
                <a:ea typeface="Consolas" pitchFamily="34" charset="-122"/>
                <a:cs typeface="Consolas" pitchFamily="34" charset="-120"/>
              </a:rPr>
              <a:t>O(n log n)</a:t>
            </a:r>
            <a:endParaRPr lang="en-US" sz="1600" dirty="0"/>
          </a:p>
        </p:txBody>
      </p:sp>
      <p:sp>
        <p:nvSpPr>
          <p:cNvPr id="26" name="Text 24"/>
          <p:cNvSpPr txBox="1"/>
          <p:nvPr/>
        </p:nvSpPr>
        <p:spPr>
          <a:xfrm>
            <a:off x="9098280" y="3703320"/>
            <a:ext cx="2377440" cy="438912"/>
          </a:xfrm>
          <a:prstGeom prst="rect">
            <a:avLst/>
          </a:prstGeom>
          <a:noFill/>
          <a:ln/>
        </p:spPr>
        <p:txBody>
          <a:bodyPr wrap="square" lIns="0" tIns="0" rIns="0" bIns="0" rtlCol="0" anchor="ctr"/>
          <a:lstStyle/>
          <a:p>
            <a:pPr indent="0" marL="0">
              <a:buNone/>
            </a:pPr>
            <a:r>
              <a:rPr lang="en-US" sz="1600" dirty="0">
                <a:solidFill>
                  <a:schemeClr val="tx1"/>
                </a:solidFill>
              </a:rPr>
              <a:t>Mergesort (Welt 3)</a:t>
            </a:r>
            <a:endParaRPr lang="en-US" sz="1600" dirty="0"/>
          </a:p>
        </p:txBody>
      </p:sp>
      <p:sp>
        <p:nvSpPr>
          <p:cNvPr id="27" name="Text 25"/>
          <p:cNvSpPr txBox="1"/>
          <p:nvPr/>
        </p:nvSpPr>
        <p:spPr>
          <a:xfrm>
            <a:off x="7543800" y="4251960"/>
            <a:ext cx="1508760" cy="438912"/>
          </a:xfrm>
          <a:prstGeom prst="rect">
            <a:avLst/>
          </a:prstGeom>
          <a:noFill/>
          <a:ln/>
        </p:spPr>
        <p:txBody>
          <a:bodyPr wrap="square" lIns="0" tIns="0" rIns="0" bIns="0" rtlCol="0" anchor="ctr"/>
          <a:lstStyle/>
          <a:p>
            <a:pPr indent="0" marL="0">
              <a:buNone/>
            </a:pPr>
            <a:r>
              <a:rPr lang="en-US" sz="1600" b="1" dirty="0">
                <a:solidFill>
                  <a:schemeClr val="accent6"/>
                </a:solidFill>
                <a:latin typeface="Consolas" pitchFamily="34" charset="0"/>
                <a:ea typeface="Consolas" pitchFamily="34" charset="-122"/>
                <a:cs typeface="Consolas" pitchFamily="34" charset="-120"/>
              </a:rPr>
              <a:t>O(n²)</a:t>
            </a:r>
            <a:endParaRPr lang="en-US" sz="1600" dirty="0"/>
          </a:p>
        </p:txBody>
      </p:sp>
      <p:sp>
        <p:nvSpPr>
          <p:cNvPr id="28" name="Text 26"/>
          <p:cNvSpPr txBox="1"/>
          <p:nvPr/>
        </p:nvSpPr>
        <p:spPr>
          <a:xfrm>
            <a:off x="9098280" y="4251960"/>
            <a:ext cx="2377440" cy="438912"/>
          </a:xfrm>
          <a:prstGeom prst="rect">
            <a:avLst/>
          </a:prstGeom>
          <a:noFill/>
          <a:ln/>
        </p:spPr>
        <p:txBody>
          <a:bodyPr wrap="square" lIns="0" tIns="0" rIns="0" bIns="0" rtlCol="0" anchor="ctr"/>
          <a:lstStyle/>
          <a:p>
            <a:pPr indent="0" marL="0">
              <a:buNone/>
            </a:pPr>
            <a:r>
              <a:rPr lang="en-US" sz="1600" dirty="0">
                <a:solidFill>
                  <a:schemeClr val="tx1"/>
                </a:solidFill>
              </a:rPr>
              <a:t>Selection, Insertion, Bubble</a:t>
            </a:r>
            <a:endParaRPr lang="en-US" sz="1600" dirty="0"/>
          </a:p>
        </p:txBody>
      </p:sp>
      <p:sp>
        <p:nvSpPr>
          <p:cNvPr id="29" name="Text 27"/>
          <p:cNvSpPr txBox="1"/>
          <p:nvPr/>
        </p:nvSpPr>
        <p:spPr>
          <a:xfrm>
            <a:off x="7543800" y="4937760"/>
            <a:ext cx="3886200" cy="1005840"/>
          </a:xfrm>
          <a:prstGeom prst="rect">
            <a:avLst/>
          </a:prstGeom>
          <a:noFill/>
          <a:ln/>
        </p:spPr>
        <p:txBody>
          <a:bodyPr wrap="square" lIns="0" tIns="0" rIns="0" bIns="0" rtlCol="0" anchor="ctr"/>
          <a:lstStyle/>
          <a:p>
            <a:pPr indent="0" marL="0">
              <a:buNone/>
            </a:pPr>
            <a:r>
              <a:rPr lang="en-US" sz="1600" b="1" dirty="0">
                <a:solidFill>
                  <a:schemeClr val="accent1"/>
                </a:solidFill>
              </a:rPr>
              <a:t>Im Abitur wird gezählt: </a:t>
            </a:r>
            <a:pPr indent="0" marL="0">
              <a:buNone/>
            </a:pPr>
            <a:r>
              <a:rPr lang="en-US" sz="1600" dirty="0">
                <a:solidFill>
                  <a:schemeClr val="tx1"/>
                </a:solidFill>
              </a:rPr>
              <a:t>Vergleiche, schlechteste Eingabe, Verdopplung.</a:t>
            </a:r>
            <a:endParaRPr lang="en-US" sz="16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accent1"/>
                </a:solidFill>
              </a:rPr>
              <a:t>Abi-Format: Verfahren erkennen, Vergleiche bestimmen</a:t>
            </a:r>
            <a:endParaRPr lang="en-US" sz="3600" dirty="0"/>
          </a:p>
        </p:txBody>
      </p:sp>
      <p:sp>
        <p:nvSpPr>
          <p:cNvPr id="3" name="Aufgabe"/>
          <p:cNvSpPr/>
          <p:nvPr/>
        </p:nvSpPr>
        <p:spPr>
          <a:xfrm>
            <a:off x="548640" y="1325880"/>
            <a:ext cx="5852160" cy="1691640"/>
          </a:xfrm>
          <a:prstGeom prst="roundRect">
            <a:avLst>
              <a:gd name="adj" fmla="val 6486"/>
            </a:avLst>
          </a:prstGeom>
          <a:solidFill>
            <a:schemeClr val="accent1"/>
          </a:solidFill>
          <a:ln/>
          <a:effectLst>
            <a:outerShdw sx="100000" sy="100000" kx="0" ky="0" algn="bl" rotWithShape="0" blurRad="76200" dist="25400" dir="5400000">
              <a:srgbClr val="000000">
                <a:alpha val="18000"/>
              </a:srgbClr>
            </a:outerShdw>
          </a:effectLst>
        </p:spPr>
      </p:sp>
      <p:sp>
        <p:nvSpPr>
          <p:cNvPr id="4" name="Chip"/>
          <p:cNvSpPr txBox="1"/>
          <p:nvPr/>
        </p:nvSpPr>
        <p:spPr>
          <a:xfrm>
            <a:off x="749808" y="1463040"/>
            <a:ext cx="356616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AUFGABE (Beispiel) · 6 BE ≈ 15 min</a:t>
            </a:r>
            <a:endParaRPr lang="en-US" sz="1400" dirty="0"/>
          </a:p>
        </p:txBody>
      </p:sp>
      <p:sp>
        <p:nvSpPr>
          <p:cNvPr id="5" name="Text 3"/>
          <p:cNvSpPr txBox="1"/>
          <p:nvPr/>
        </p:nvSpPr>
        <p:spPr>
          <a:xfrm>
            <a:off x="749808" y="1901952"/>
            <a:ext cx="5486400" cy="1051560"/>
          </a:xfrm>
          <a:prstGeom prst="rect">
            <a:avLst/>
          </a:prstGeom>
          <a:noFill/>
          <a:ln/>
        </p:spPr>
        <p:txBody>
          <a:bodyPr wrap="square" lIns="0" tIns="0" rIns="0" bIns="0" rtlCol="0" anchor="t"/>
          <a:lstStyle/>
          <a:p>
            <a:pPr indent="0" marL="0">
              <a:buNone/>
            </a:pPr>
            <a:r>
              <a:rPr lang="en-US" sz="1500" dirty="0">
                <a:solidFill>
                  <a:schemeClr val="bg1"/>
                </a:solidFill>
              </a:rPr>
              <a:t>Geben Sie an, welches Sortierverfahren die Methode geheim implementiert, und erläutern Sie seine Funktionsweise. Bestimmen Sie die Anzahl der Vergleiche r[j] &lt; r[k] für 8 Elemente und beurteilen Sie, wie sie sich bei 16 Elementen ändert.</a:t>
            </a:r>
            <a:endParaRPr lang="en-US" sz="1500" dirty="0"/>
          </a:p>
        </p:txBody>
      </p:sp>
      <p:sp>
        <p:nvSpPr>
          <p:cNvPr id="6" name="Code"/>
          <p:cNvSpPr txBox="1"/>
          <p:nvPr/>
        </p:nvSpPr>
        <p:spPr>
          <a:xfrm>
            <a:off x="548640" y="3154680"/>
            <a:ext cx="5852160" cy="2778252"/>
          </a:xfrm>
          <a:prstGeom prst="rect">
            <a:avLst/>
          </a:prstGeom>
          <a:solidFill>
            <a:schemeClr val="accent5"/>
          </a:solidFill>
          <a:ln w="9525">
            <a:solidFill>
              <a:srgbClr val="D0D0D0"/>
            </a:solidFill>
          </a:ln>
        </p:spPr>
        <p:txBody>
          <a:bodyPr wrap="square" lIns="164592" tIns="128016" rIns="164592" bIns="128016" rtlCol="0" anchor="t"/>
          <a:lstStyle/>
          <a:p>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public</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void</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geheim</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for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0;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length</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for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+ 1;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length</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&lt;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j</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b="1" dirty="0">
                <a:solidFill>
                  <a:schemeClr val="accent1"/>
                </a:solidFill>
                <a:latin typeface="Consolas" pitchFamily="34" charset="0"/>
                <a:ea typeface="Consolas" pitchFamily="34" charset="-122"/>
                <a:cs typeface="Consolas" pitchFamily="34" charset="-120"/>
              </a:rPr>
              <a:t>int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hilf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i</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r</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k</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 </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hilf</a:t>
            </a:r>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algn="l" indent="0" marL="0">
              <a:lnSpc>
                <a:spcPts val="1500"/>
              </a:lnSpc>
              <a:buNone/>
            </a:pPr>
            <a:r>
              <a:rPr lang="en-US" sz="1200" dirty="0">
                <a:solidFill>
                  <a:schemeClr val="tx1"/>
                </a:solidFill>
                <a:latin typeface="Consolas" pitchFamily="34" charset="0"/>
                <a:ea typeface="Consolas" pitchFamily="34" charset="-122"/>
                <a:cs typeface="Consolas" pitchFamily="34" charset="-120"/>
              </a:rPr>
              <a:t>}</a:t>
            </a:r>
            <a:endParaRPr lang="en-US" sz="1200" dirty="0"/>
          </a:p>
        </p:txBody>
      </p:sp>
      <p:sp>
        <p:nvSpPr>
          <p:cNvPr id="7" name="Musterantwort"/>
          <p:cNvSpPr/>
          <p:nvPr/>
        </p:nvSpPr>
        <p:spPr>
          <a:xfrm>
            <a:off x="6675120" y="1325880"/>
            <a:ext cx="4937760" cy="4800600"/>
          </a:xfrm>
          <a:prstGeom prst="roundRect">
            <a:avLst>
              <a:gd name="adj" fmla="val 2286"/>
            </a:avLst>
          </a:prstGeom>
          <a:solidFill>
            <a:schemeClr val="bg2"/>
          </a:solidFill>
          <a:ln/>
        </p:spPr>
      </p:sp>
      <p:sp>
        <p:nvSpPr>
          <p:cNvPr id="8" name="Text 6"/>
          <p:cNvSpPr txBox="1"/>
          <p:nvPr/>
        </p:nvSpPr>
        <p:spPr>
          <a:xfrm>
            <a:off x="6903720" y="1463040"/>
            <a:ext cx="4480560" cy="320040"/>
          </a:xfrm>
          <a:prstGeom prst="rect">
            <a:avLst/>
          </a:prstGeom>
          <a:noFill/>
          <a:ln/>
        </p:spPr>
        <p:txBody>
          <a:bodyPr wrap="square" lIns="0" tIns="0" rIns="0" bIns="0" rtlCol="0" anchor="t"/>
          <a:lstStyle/>
          <a:p>
            <a:pPr indent="0" marL="0">
              <a:buNone/>
            </a:pPr>
            <a:r>
              <a:rPr lang="en-US" sz="1500" b="1" dirty="0">
                <a:solidFill>
                  <a:schemeClr val="accent6"/>
                </a:solidFill>
              </a:rPr>
              <a:t>MUSTERANTWORT</a:t>
            </a:r>
            <a:endParaRPr lang="en-US" sz="1500" dirty="0"/>
          </a:p>
        </p:txBody>
      </p:sp>
      <p:sp>
        <p:nvSpPr>
          <p:cNvPr id="9" name="Text 7"/>
          <p:cNvSpPr txBox="1"/>
          <p:nvPr/>
        </p:nvSpPr>
        <p:spPr>
          <a:xfrm>
            <a:off x="6903720" y="1828800"/>
            <a:ext cx="4526280" cy="2514600"/>
          </a:xfrm>
          <a:prstGeom prst="rect">
            <a:avLst/>
          </a:prstGeom>
          <a:noFill/>
          <a:ln/>
        </p:spPr>
        <p:txBody>
          <a:bodyPr wrap="square" lIns="0" tIns="0" rIns="0" bIns="0" rtlCol="0" anchor="t"/>
          <a:lstStyle/>
          <a:p>
            <a:pPr indent="0" marL="0">
              <a:spcAft>
                <a:spcPts val="800"/>
              </a:spcAft>
              <a:buNone/>
            </a:pPr>
            <a:r>
              <a:rPr lang="en-US" sz="1600" b="1" dirty="0">
                <a:solidFill>
                  <a:schemeClr val="accent1"/>
                </a:solidFill>
              </a:rPr>
              <a:t>Selectionsort (Auswahl des Minimums): </a:t>
            </a:r>
            <a:pPr indent="0" marL="0">
              <a:spcAft>
                <a:spcPts val="800"/>
              </a:spcAft>
              <a:buNone/>
            </a:pPr>
            <a:r>
              <a:rPr lang="en-US" sz="1600" dirty="0">
                <a:solidFill>
                  <a:schemeClr val="tx1"/>
                </a:solidFill>
              </a:rPr>
              <a:t>Im Durchlauf i wird im unsortierten Rest r[i] … r[n − 1] der Index k des kleinsten Elements gesucht und dieses mit r[i] vertauscht. Danach ist r[0] … r[i] endgültig sortiert.</a:t>
            </a:r>
            <a:endParaRPr lang="en-US" sz="1600" dirty="0"/>
          </a:p>
          <a:p>
            <a:pPr indent="0" marL="0">
              <a:spcAft>
                <a:spcPts val="800"/>
              </a:spcAft>
              <a:buNone/>
            </a:pPr>
            <a:r>
              <a:rPr lang="en-US" sz="1600" dirty="0">
                <a:solidFill>
                  <a:schemeClr val="tx1"/>
                </a:solidFill>
              </a:rPr>
              <a:t>Durchlauf i vergleicht n − 1 − i Elemente, unabhängig von den Daten: 7 + 6 + … + 1 = 8 · 7 / 2 = 28 Vergleiche.</a:t>
            </a:r>
            <a:endParaRPr lang="en-US" sz="1600" dirty="0"/>
          </a:p>
          <a:p>
            <a:pPr indent="0" marL="0">
              <a:spcAft>
                <a:spcPts val="800"/>
              </a:spcAft>
              <a:buNone/>
            </a:pPr>
            <a:r>
              <a:rPr lang="en-US" sz="1600" dirty="0">
                <a:solidFill>
                  <a:schemeClr val="tx1"/>
                </a:solidFill>
              </a:rPr>
              <a:t>Bei 16 Elementen: 16 · 15 / 2 = 120, also etwa viermal so viele, weil die Anzahl quadratisch von n abhängt.</a:t>
            </a:r>
            <a:endParaRPr lang="en-US" sz="1600" dirty="0"/>
          </a:p>
        </p:txBody>
      </p:sp>
      <p:sp>
        <p:nvSpPr>
          <p:cNvPr id="10" name="Text 8"/>
          <p:cNvSpPr txBox="1"/>
          <p:nvPr/>
        </p:nvSpPr>
        <p:spPr>
          <a:xfrm>
            <a:off x="6903720" y="4434840"/>
            <a:ext cx="4480560" cy="292608"/>
          </a:xfrm>
          <a:prstGeom prst="rect">
            <a:avLst/>
          </a:prstGeom>
          <a:noFill/>
          <a:ln/>
        </p:spPr>
        <p:txBody>
          <a:bodyPr wrap="square" lIns="0" tIns="0" rIns="0" bIns="0" rtlCol="0" anchor="t"/>
          <a:lstStyle/>
          <a:p>
            <a:pPr indent="0" marL="0">
              <a:buNone/>
            </a:pPr>
            <a:r>
              <a:rPr lang="en-US" sz="1400" b="1" dirty="0">
                <a:solidFill>
                  <a:schemeClr val="accent6"/>
                </a:solidFill>
              </a:rPr>
              <a:t>DAS GIBT PUNKTE</a:t>
            </a:r>
            <a:endParaRPr lang="en-US" sz="1400" dirty="0"/>
          </a:p>
        </p:txBody>
      </p:sp>
      <p:sp>
        <p:nvSpPr>
          <p:cNvPr id="11" name="Icon-Kreis"/>
          <p:cNvSpPr/>
          <p:nvPr/>
        </p:nvSpPr>
        <p:spPr>
          <a:xfrm>
            <a:off x="6903720" y="4800600"/>
            <a:ext cx="256032" cy="256032"/>
          </a:xfrm>
          <a:prstGeom prst="ellipse">
            <a:avLst/>
          </a:prstGeom>
          <a:solidFill>
            <a:schemeClr val="accent3"/>
          </a:solidFill>
          <a:ln/>
        </p:spPr>
      </p:sp>
      <p:pic>
        <p:nvPicPr>
          <p:cNvPr id="12" name="Icon GiCheckMark" descr="preencoded.png">    </p:cNvPr>
          <p:cNvPicPr>
            <a:picLocks noChangeAspect="1"/>
          </p:cNvPicPr>
          <p:nvPr/>
        </p:nvPicPr>
        <p:blipFill>
          <a:blip r:embed="rId1"/>
          <a:stretch>
            <a:fillRect/>
          </a:stretch>
        </p:blipFill>
        <p:spPr>
          <a:xfrm>
            <a:off x="6949806" y="4846686"/>
            <a:ext cx="163860" cy="163860"/>
          </a:xfrm>
          <a:prstGeom prst="rect">
            <a:avLst/>
          </a:prstGeom>
        </p:spPr>
      </p:pic>
      <p:sp>
        <p:nvSpPr>
          <p:cNvPr id="13" name="Text 10"/>
          <p:cNvSpPr txBox="1"/>
          <p:nvPr/>
        </p:nvSpPr>
        <p:spPr>
          <a:xfrm>
            <a:off x="7269480" y="4773168"/>
            <a:ext cx="4206240" cy="310896"/>
          </a:xfrm>
          <a:prstGeom prst="rect">
            <a:avLst/>
          </a:prstGeom>
          <a:noFill/>
          <a:ln/>
        </p:spPr>
        <p:txBody>
          <a:bodyPr wrap="square" lIns="0" tIns="0" rIns="0" bIns="0" rtlCol="0" anchor="ctr"/>
          <a:lstStyle/>
          <a:p>
            <a:pPr indent="0" marL="0">
              <a:buNone/>
            </a:pPr>
            <a:r>
              <a:rPr lang="en-US" sz="1500" dirty="0">
                <a:solidFill>
                  <a:schemeClr val="tx1"/>
                </a:solidFill>
              </a:rPr>
              <a:t>Verfahren benennen</a:t>
            </a:r>
            <a:endParaRPr lang="en-US" sz="1500" dirty="0"/>
          </a:p>
        </p:txBody>
      </p:sp>
      <p:sp>
        <p:nvSpPr>
          <p:cNvPr id="14" name="Icon-Kreis"/>
          <p:cNvSpPr/>
          <p:nvPr/>
        </p:nvSpPr>
        <p:spPr>
          <a:xfrm>
            <a:off x="6903720" y="5129784"/>
            <a:ext cx="256032" cy="256032"/>
          </a:xfrm>
          <a:prstGeom prst="ellipse">
            <a:avLst/>
          </a:prstGeom>
          <a:solidFill>
            <a:schemeClr val="accent3"/>
          </a:solidFill>
          <a:ln/>
        </p:spPr>
      </p:sp>
      <p:pic>
        <p:nvPicPr>
          <p:cNvPr id="15" name="Icon GiCheckMark" descr="preencoded.png">    </p:cNvPr>
          <p:cNvPicPr>
            <a:picLocks noChangeAspect="1"/>
          </p:cNvPicPr>
          <p:nvPr/>
        </p:nvPicPr>
        <p:blipFill>
          <a:blip r:embed="rId2"/>
          <a:stretch>
            <a:fillRect/>
          </a:stretch>
        </p:blipFill>
        <p:spPr>
          <a:xfrm>
            <a:off x="6949806" y="5175870"/>
            <a:ext cx="163860" cy="163860"/>
          </a:xfrm>
          <a:prstGeom prst="rect">
            <a:avLst/>
          </a:prstGeom>
        </p:spPr>
      </p:pic>
      <p:sp>
        <p:nvSpPr>
          <p:cNvPr id="16" name="Text 12"/>
          <p:cNvSpPr txBox="1"/>
          <p:nvPr/>
        </p:nvSpPr>
        <p:spPr>
          <a:xfrm>
            <a:off x="7269480" y="5102352"/>
            <a:ext cx="4206240" cy="310896"/>
          </a:xfrm>
          <a:prstGeom prst="rect">
            <a:avLst/>
          </a:prstGeom>
          <a:noFill/>
          <a:ln/>
        </p:spPr>
        <p:txBody>
          <a:bodyPr wrap="square" lIns="0" tIns="0" rIns="0" bIns="0" rtlCol="0" anchor="ctr"/>
          <a:lstStyle/>
          <a:p>
            <a:pPr indent="0" marL="0">
              <a:buNone/>
            </a:pPr>
            <a:r>
              <a:rPr lang="en-US" sz="1500" dirty="0">
                <a:solidFill>
                  <a:schemeClr val="tx1"/>
                </a:solidFill>
              </a:rPr>
              <a:t>Funktionsweise erläutern: Rest, Minimum, Tausch</a:t>
            </a:r>
            <a:endParaRPr lang="en-US" sz="1500" dirty="0"/>
          </a:p>
        </p:txBody>
      </p:sp>
      <p:sp>
        <p:nvSpPr>
          <p:cNvPr id="17" name="Icon-Kreis"/>
          <p:cNvSpPr/>
          <p:nvPr/>
        </p:nvSpPr>
        <p:spPr>
          <a:xfrm>
            <a:off x="6903720" y="5458968"/>
            <a:ext cx="256032" cy="256032"/>
          </a:xfrm>
          <a:prstGeom prst="ellipse">
            <a:avLst/>
          </a:prstGeom>
          <a:solidFill>
            <a:schemeClr val="accent3"/>
          </a:solidFill>
          <a:ln/>
        </p:spPr>
      </p:sp>
      <p:pic>
        <p:nvPicPr>
          <p:cNvPr id="18" name="Icon GiCheckMark" descr="preencoded.png">    </p:cNvPr>
          <p:cNvPicPr>
            <a:picLocks noChangeAspect="1"/>
          </p:cNvPicPr>
          <p:nvPr/>
        </p:nvPicPr>
        <p:blipFill>
          <a:blip r:embed="rId3"/>
          <a:stretch>
            <a:fillRect/>
          </a:stretch>
        </p:blipFill>
        <p:spPr>
          <a:xfrm>
            <a:off x="6949806" y="5505054"/>
            <a:ext cx="163860" cy="163860"/>
          </a:xfrm>
          <a:prstGeom prst="rect">
            <a:avLst/>
          </a:prstGeom>
        </p:spPr>
      </p:pic>
      <p:sp>
        <p:nvSpPr>
          <p:cNvPr id="19" name="Text 14"/>
          <p:cNvSpPr txBox="1"/>
          <p:nvPr/>
        </p:nvSpPr>
        <p:spPr>
          <a:xfrm>
            <a:off x="7269480" y="5431536"/>
            <a:ext cx="4206240" cy="310896"/>
          </a:xfrm>
          <a:prstGeom prst="rect">
            <a:avLst/>
          </a:prstGeom>
          <a:noFill/>
          <a:ln/>
        </p:spPr>
        <p:txBody>
          <a:bodyPr wrap="square" lIns="0" tIns="0" rIns="0" bIns="0" rtlCol="0" anchor="ctr"/>
          <a:lstStyle/>
          <a:p>
            <a:pPr indent="0" marL="0">
              <a:buNone/>
            </a:pPr>
            <a:r>
              <a:rPr lang="en-US" sz="1500" dirty="0">
                <a:solidFill>
                  <a:schemeClr val="tx1"/>
                </a:solidFill>
              </a:rPr>
              <a:t>Anzahl mit Rechenweg</a:t>
            </a:r>
            <a:endParaRPr lang="en-US" sz="1500" dirty="0"/>
          </a:p>
        </p:txBody>
      </p:sp>
      <p:sp>
        <p:nvSpPr>
          <p:cNvPr id="20" name="Icon-Kreis"/>
          <p:cNvSpPr/>
          <p:nvPr/>
        </p:nvSpPr>
        <p:spPr>
          <a:xfrm>
            <a:off x="6903720" y="5788152"/>
            <a:ext cx="256032" cy="256032"/>
          </a:xfrm>
          <a:prstGeom prst="ellipse">
            <a:avLst/>
          </a:prstGeom>
          <a:solidFill>
            <a:schemeClr val="accent3"/>
          </a:solidFill>
          <a:ln/>
        </p:spPr>
      </p:sp>
      <p:pic>
        <p:nvPicPr>
          <p:cNvPr id="21" name="Icon GiCheckMark" descr="preencoded.png">    </p:cNvPr>
          <p:cNvPicPr>
            <a:picLocks noChangeAspect="1"/>
          </p:cNvPicPr>
          <p:nvPr/>
        </p:nvPicPr>
        <p:blipFill>
          <a:blip r:embed="rId4"/>
          <a:stretch>
            <a:fillRect/>
          </a:stretch>
        </p:blipFill>
        <p:spPr>
          <a:xfrm>
            <a:off x="6949806" y="5834238"/>
            <a:ext cx="163860" cy="163860"/>
          </a:xfrm>
          <a:prstGeom prst="rect">
            <a:avLst/>
          </a:prstGeom>
        </p:spPr>
      </p:pic>
      <p:sp>
        <p:nvSpPr>
          <p:cNvPr id="22" name="Text 16"/>
          <p:cNvSpPr txBox="1"/>
          <p:nvPr/>
        </p:nvSpPr>
        <p:spPr>
          <a:xfrm>
            <a:off x="7269480" y="5760720"/>
            <a:ext cx="4206240" cy="310896"/>
          </a:xfrm>
          <a:prstGeom prst="rect">
            <a:avLst/>
          </a:prstGeom>
          <a:noFill/>
          <a:ln/>
        </p:spPr>
        <p:txBody>
          <a:bodyPr wrap="square" lIns="0" tIns="0" rIns="0" bIns="0" rtlCol="0" anchor="ctr"/>
          <a:lstStyle/>
          <a:p>
            <a:pPr indent="0" marL="0">
              <a:buNone/>
            </a:pPr>
            <a:r>
              <a:rPr lang="en-US" sz="1500" dirty="0">
                <a:solidFill>
                  <a:schemeClr val="tx1"/>
                </a:solidFill>
              </a:rPr>
              <a:t>Verdopplung begründen (quadratisch)</a:t>
            </a:r>
            <a:endParaRPr lang="en-US" sz="15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77240"/>
          </a:xfrm>
          <a:prstGeom prst="rect">
            <a:avLst/>
          </a:prstGeom>
          <a:noFill/>
          <a:ln/>
        </p:spPr>
        <p:txBody>
          <a:bodyPr wrap="square" lIns="0" tIns="0" rIns="0" bIns="0" rtlCol="0" anchor="ctr"/>
          <a:lstStyle/>
          <a:p>
            <a:pPr indent="0" marL="0">
              <a:buNone/>
            </a:pPr>
            <a:r>
              <a:rPr lang="en-US" sz="3600" b="1" dirty="0">
                <a:solidFill>
                  <a:schemeClr val="bg1"/>
                </a:solidFill>
              </a:rPr>
              <a:t>Boss 2: Das Turnier der Bogenschützen</a:t>
            </a:r>
            <a:endParaRPr lang="en-US" sz="3600" dirty="0"/>
          </a:p>
        </p:txBody>
      </p:sp>
      <p:sp>
        <p:nvSpPr>
          <p:cNvPr id="3" name="Icon-Kreis"/>
          <p:cNvSpPr/>
          <p:nvPr/>
        </p:nvSpPr>
        <p:spPr>
          <a:xfrm>
            <a:off x="822960" y="1600200"/>
            <a:ext cx="2926080" cy="2926080"/>
          </a:xfrm>
          <a:prstGeom prst="ellipse">
            <a:avLst/>
          </a:prstGeom>
          <a:solidFill>
            <a:schemeClr val="accent4"/>
          </a:solidFill>
          <a:ln w="63500">
            <a:solidFill>
              <a:schemeClr val="accent2"/>
            </a:solidFill>
            <a:prstDash val="solid"/>
          </a:ln>
        </p:spPr>
      </p:sp>
      <p:pic>
        <p:nvPicPr>
          <p:cNvPr id="4" name="Icon GiArcheryTarget" descr="preencoded.png">    </p:cNvPr>
          <p:cNvPicPr>
            <a:picLocks noChangeAspect="1"/>
          </p:cNvPicPr>
          <p:nvPr/>
        </p:nvPicPr>
        <p:blipFill>
          <a:blip r:embed="rId1"/>
          <a:stretch>
            <a:fillRect/>
          </a:stretch>
        </p:blipFill>
        <p:spPr>
          <a:xfrm>
            <a:off x="1349654" y="2126894"/>
            <a:ext cx="1872691" cy="1872691"/>
          </a:xfrm>
          <a:prstGeom prst="rect">
            <a:avLst/>
          </a:prstGeom>
        </p:spPr>
      </p:pic>
      <p:sp>
        <p:nvSpPr>
          <p:cNvPr id="5" name="Chip"/>
          <p:cNvSpPr txBox="1"/>
          <p:nvPr/>
        </p:nvSpPr>
        <p:spPr>
          <a:xfrm>
            <a:off x="1600200" y="4754880"/>
            <a:ext cx="137160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2000" b="1" dirty="0">
                <a:solidFill>
                  <a:schemeClr val="bg1"/>
                </a:solidFill>
              </a:rPr>
              <a:t>DS 17</a:t>
            </a:r>
            <a:endParaRPr lang="en-US" sz="2000" dirty="0"/>
          </a:p>
        </p:txBody>
      </p:sp>
      <p:sp>
        <p:nvSpPr>
          <p:cNvPr id="6" name="Icon-Kreis"/>
          <p:cNvSpPr/>
          <p:nvPr/>
        </p:nvSpPr>
        <p:spPr>
          <a:xfrm>
            <a:off x="4480560" y="1325880"/>
            <a:ext cx="777240" cy="777240"/>
          </a:xfrm>
          <a:prstGeom prst="ellipse">
            <a:avLst/>
          </a:prstGeom>
          <a:solidFill>
            <a:schemeClr val="bg1"/>
          </a:solidFill>
          <a:ln/>
        </p:spPr>
      </p:sp>
      <p:pic>
        <p:nvPicPr>
          <p:cNvPr id="7" name="Icon GiHourglass" descr="preencoded.png">    </p:cNvPr>
          <p:cNvPicPr>
            <a:picLocks noChangeAspect="1"/>
          </p:cNvPicPr>
          <p:nvPr/>
        </p:nvPicPr>
        <p:blipFill>
          <a:blip r:embed="rId2"/>
          <a:stretch>
            <a:fillRect/>
          </a:stretch>
        </p:blipFill>
        <p:spPr>
          <a:xfrm>
            <a:off x="4651553" y="1496873"/>
            <a:ext cx="435254" cy="435254"/>
          </a:xfrm>
          <a:prstGeom prst="rect">
            <a:avLst/>
          </a:prstGeom>
        </p:spPr>
      </p:pic>
      <p:sp>
        <p:nvSpPr>
          <p:cNvPr id="8" name="Text 4"/>
          <p:cNvSpPr txBox="1"/>
          <p:nvPr/>
        </p:nvSpPr>
        <p:spPr>
          <a:xfrm>
            <a:off x="5486400" y="128016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60 Minuten · ≈ 24 BE</a:t>
            </a:r>
            <a:endParaRPr lang="en-US" sz="1800" dirty="0"/>
          </a:p>
          <a:p>
            <a:pPr indent="0" marL="0">
              <a:buNone/>
            </a:pPr>
            <a:r>
              <a:rPr lang="en-US" sz="1800" dirty="0">
                <a:solidFill>
                  <a:schemeClr val="bg1"/>
                </a:solidFill>
              </a:rPr>
              <a:t>Zeitbudget wie im Abi: ≈ 2,5 min pro BE</a:t>
            </a:r>
            <a:endParaRPr lang="en-US" sz="1800" dirty="0"/>
          </a:p>
        </p:txBody>
      </p:sp>
      <p:sp>
        <p:nvSpPr>
          <p:cNvPr id="9" name="Icon-Kreis"/>
          <p:cNvSpPr/>
          <p:nvPr/>
        </p:nvSpPr>
        <p:spPr>
          <a:xfrm>
            <a:off x="4480560" y="2331720"/>
            <a:ext cx="777240" cy="777240"/>
          </a:xfrm>
          <a:prstGeom prst="ellipse">
            <a:avLst/>
          </a:prstGeom>
          <a:solidFill>
            <a:schemeClr val="bg1"/>
          </a:solidFill>
          <a:ln/>
        </p:spPr>
      </p:sp>
      <p:pic>
        <p:nvPicPr>
          <p:cNvPr id="10" name="Icon GiQuillInk" descr="preencoded.png">    </p:cNvPr>
          <p:cNvPicPr>
            <a:picLocks noChangeAspect="1"/>
          </p:cNvPicPr>
          <p:nvPr/>
        </p:nvPicPr>
        <p:blipFill>
          <a:blip r:embed="rId3"/>
          <a:stretch>
            <a:fillRect/>
          </a:stretch>
        </p:blipFill>
        <p:spPr>
          <a:xfrm>
            <a:off x="4651553" y="2502713"/>
            <a:ext cx="435254" cy="435254"/>
          </a:xfrm>
          <a:prstGeom prst="rect">
            <a:avLst/>
          </a:prstGeom>
        </p:spPr>
      </p:pic>
      <p:sp>
        <p:nvSpPr>
          <p:cNvPr id="11" name="Text 6"/>
          <p:cNvSpPr txBox="1"/>
          <p:nvPr/>
        </p:nvSpPr>
        <p:spPr>
          <a:xfrm>
            <a:off x="5486400" y="228600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Papier, ohne Gerät</a:t>
            </a:r>
            <a:endParaRPr lang="en-US" sz="1800" dirty="0"/>
          </a:p>
          <a:p>
            <a:pPr indent="0" marL="0">
              <a:buNone/>
            </a:pPr>
            <a:r>
              <a:rPr lang="en-US" sz="1800" dirty="0">
                <a:solidFill>
                  <a:schemeClr val="bg1"/>
                </a:solidFill>
              </a:rPr>
              <a:t>Tracen, Zählen, Implementieren – alles aus Welt 2</a:t>
            </a:r>
            <a:endParaRPr lang="en-US" sz="1800" dirty="0"/>
          </a:p>
        </p:txBody>
      </p:sp>
      <p:sp>
        <p:nvSpPr>
          <p:cNvPr id="12" name="Icon-Kreis"/>
          <p:cNvSpPr/>
          <p:nvPr/>
        </p:nvSpPr>
        <p:spPr>
          <a:xfrm>
            <a:off x="4480560" y="3337560"/>
            <a:ext cx="777240" cy="777240"/>
          </a:xfrm>
          <a:prstGeom prst="ellipse">
            <a:avLst/>
          </a:prstGeom>
          <a:solidFill>
            <a:schemeClr val="bg1"/>
          </a:solidFill>
          <a:ln/>
        </p:spPr>
      </p:sp>
      <p:pic>
        <p:nvPicPr>
          <p:cNvPr id="13" name="Icon GiDungeonGate" descr="preencoded.png">    </p:cNvPr>
          <p:cNvPicPr>
            <a:picLocks noChangeAspect="1"/>
          </p:cNvPicPr>
          <p:nvPr/>
        </p:nvPicPr>
        <p:blipFill>
          <a:blip r:embed="rId4"/>
          <a:stretch>
            <a:fillRect/>
          </a:stretch>
        </p:blipFill>
        <p:spPr>
          <a:xfrm>
            <a:off x="4651553" y="3508553"/>
            <a:ext cx="435254" cy="435254"/>
          </a:xfrm>
          <a:prstGeom prst="rect">
            <a:avLst/>
          </a:prstGeom>
        </p:spPr>
      </p:pic>
      <p:sp>
        <p:nvSpPr>
          <p:cNvPr id="14" name="Text 8"/>
          <p:cNvSpPr txBox="1"/>
          <p:nvPr/>
        </p:nvSpPr>
        <p:spPr>
          <a:xfrm>
            <a:off x="5486400" y="329184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Neuer Kontext</a:t>
            </a:r>
            <a:endParaRPr lang="en-US" sz="1800" dirty="0"/>
          </a:p>
          <a:p>
            <a:pPr indent="0" marL="0">
              <a:buNone/>
            </a:pPr>
            <a:r>
              <a:rPr lang="en-US" sz="1800" dirty="0">
                <a:solidFill>
                  <a:schemeClr val="bg1"/>
                </a:solidFill>
              </a:rPr>
              <a:t>keine Highscore-Liste – gleiche Bausteine, Transfer</a:t>
            </a:r>
            <a:endParaRPr lang="en-US" sz="1800" dirty="0"/>
          </a:p>
        </p:txBody>
      </p:sp>
      <p:sp>
        <p:nvSpPr>
          <p:cNvPr id="15" name="Icon-Kreis"/>
          <p:cNvSpPr/>
          <p:nvPr/>
        </p:nvSpPr>
        <p:spPr>
          <a:xfrm>
            <a:off x="4480560" y="4343400"/>
            <a:ext cx="777240" cy="777240"/>
          </a:xfrm>
          <a:prstGeom prst="ellipse">
            <a:avLst/>
          </a:prstGeom>
          <a:solidFill>
            <a:schemeClr val="bg1"/>
          </a:solidFill>
          <a:ln/>
        </p:spPr>
      </p:sp>
      <p:pic>
        <p:nvPicPr>
          <p:cNvPr id="16" name="Icon GiTwoCoins" descr="preencoded.png">    </p:cNvPr>
          <p:cNvPicPr>
            <a:picLocks noChangeAspect="1"/>
          </p:cNvPicPr>
          <p:nvPr/>
        </p:nvPicPr>
        <p:blipFill>
          <a:blip r:embed="rId5"/>
          <a:stretch>
            <a:fillRect/>
          </a:stretch>
        </p:blipFill>
        <p:spPr>
          <a:xfrm>
            <a:off x="4651553" y="4514393"/>
            <a:ext cx="435254" cy="435254"/>
          </a:xfrm>
          <a:prstGeom prst="rect">
            <a:avLst/>
          </a:prstGeom>
        </p:spPr>
      </p:pic>
      <p:sp>
        <p:nvSpPr>
          <p:cNvPr id="17" name="Text 10"/>
          <p:cNvSpPr txBox="1"/>
          <p:nvPr/>
        </p:nvSpPr>
        <p:spPr>
          <a:xfrm>
            <a:off x="5486400" y="4297680"/>
            <a:ext cx="6126480" cy="868680"/>
          </a:xfrm>
          <a:prstGeom prst="rect">
            <a:avLst/>
          </a:prstGeom>
          <a:noFill/>
          <a:ln/>
        </p:spPr>
        <p:txBody>
          <a:bodyPr wrap="square" lIns="0" tIns="0" rIns="0" bIns="0" rtlCol="0" anchor="ctr"/>
          <a:lstStyle/>
          <a:p>
            <a:pPr indent="0" marL="0">
              <a:buNone/>
            </a:pPr>
            <a:r>
              <a:rPr lang="en-US" sz="2200" b="1" dirty="0">
                <a:solidFill>
                  <a:schemeClr val="accent2"/>
                </a:solidFill>
              </a:rPr>
              <a:t>Zusätzlich im Lab</a:t>
            </a:r>
            <a:endParaRPr lang="en-US" sz="1800" dirty="0"/>
          </a:p>
          <a:p>
            <a:pPr indent="0" marL="0">
              <a:buNone/>
            </a:pPr>
            <a:r>
              <a:rPr lang="en-US" sz="1800" dirty="0">
                <a:solidFill>
                  <a:schemeClr val="bg1"/>
                </a:solidFill>
              </a:rPr>
              <a:t>Online-Boss „Das Wettfischen am Drachensee“ · 25 min</a:t>
            </a:r>
            <a:endParaRPr lang="en-US" sz="1800" dirty="0"/>
          </a:p>
        </p:txBody>
      </p:sp>
      <p:sp>
        <p:nvSpPr>
          <p:cNvPr id="18" name="Text 11"/>
          <p:cNvSpPr txBox="1"/>
          <p:nvPr/>
        </p:nvSpPr>
        <p:spPr>
          <a:xfrm>
            <a:off x="4480560" y="5440680"/>
            <a:ext cx="7132320" cy="731520"/>
          </a:xfrm>
          <a:prstGeom prst="rect">
            <a:avLst/>
          </a:prstGeom>
          <a:noFill/>
          <a:ln/>
        </p:spPr>
        <p:txBody>
          <a:bodyPr wrap="square" lIns="0" tIns="0" rIns="0" bIns="0" rtlCol="0" anchor="ctr"/>
          <a:lstStyle/>
          <a:p>
            <a:pPr indent="0" marL="0">
              <a:buNone/>
            </a:pPr>
            <a:r>
              <a:rPr lang="en-US" sz="1800" b="1" dirty="0">
                <a:solidFill>
                  <a:schemeClr val="accent2"/>
                </a:solidFill>
              </a:rPr>
              <a:t>Vorbereitung: </a:t>
            </a:r>
            <a:pPr indent="0" marL="0">
              <a:buNone/>
            </a:pPr>
            <a:r>
              <a:rPr lang="en-US" sz="1800" dirty="0">
                <a:solidFill>
                  <a:schemeClr val="bg1"/>
                </a:solidFill>
              </a:rPr>
              <a:t>Lab-Level 2.1–2.4 · Trainingsplatz · Warm-up-Trainer · Tracetabellen · Abi-Check</a:t>
            </a:r>
            <a:endParaRPr lang="en-US" sz="18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lgo Quest">
  <a:themeElements>
    <a:clrScheme name="Algo Quest">
      <a:dk1>
        <a:srgbClr val="1A1A1A"/>
      </a:dk1>
      <a:lt1>
        <a:srgbClr val="FFFFFF"/>
      </a:lt1>
      <a:dk2>
        <a:srgbClr val="1F4E79"/>
      </a:dk2>
      <a:lt2>
        <a:srgbClr val="DBE7F5"/>
      </a:lt2>
      <a:accent1>
        <a:srgbClr val="1F4E79"/>
      </a:accent1>
      <a:accent2>
        <a:srgbClr val="B8860B"/>
      </a:accent2>
      <a:accent3>
        <a:srgbClr val="548235"/>
      </a:accent3>
      <a:accent4>
        <a:srgbClr val="C00000"/>
      </a:accent4>
      <a:accent5>
        <a:srgbClr val="F0F0F0"/>
      </a:accent5>
      <a:accent6>
        <a:srgbClr val="2E75B6"/>
      </a:accent6>
      <a:hlink>
        <a:srgbClr val="2E75B6"/>
      </a:hlink>
      <a:folHlink>
        <a:srgbClr val="7030A0"/>
      </a:folHlink>
    </a:clrScheme>
    <a:fontScheme name="Algo Ques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Max-Planck-Gymnasium Delmenhorst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 Quest – Welt 2: Die Rangliste</dc:title>
  <dc:subject>PptxGenJS Presentation</dc:subject>
  <dc:creator>Frank Juchim</dc:creator>
  <cp:lastModifiedBy>Frank Juchim</cp:lastModifiedBy>
  <cp:revision>1</cp:revision>
  <dcterms:created xsi:type="dcterms:W3CDTF">2026-10-08T18:26:51Z</dcterms:created>
  <dcterms:modified xsi:type="dcterms:W3CDTF">2026-10-08T18:26:51Z</dcterms:modified>
</cp:coreProperties>
</file>