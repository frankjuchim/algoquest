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206c503-05e6-fba0-cd6f-2e0b2b4ea558}">
          <p14:sldIdLst>
            <p14:sldId id="256"/>
            <p14:sldId id="257"/>
          </p14:sldIdLst>
        </p14:section>
        <p14:section name="DS 37 Briefing und Boss 6" id="{b6db6892-a00f-ef89-0f71-78ff6d2c5b80}">
          <p14:sldIdLst>
            <p14:sldId id="258"/>
            <p14:sldId id="259"/>
            <p14:sldId id="260"/>
            <p14:sldId id="261"/>
            <p14:sldId id="262"/>
          </p14:sldIdLst>
        </p14:section>
        <p14:section name="DS 38 Korrektur und Fehlerjagd" id="{ba404712-cdf6-33bb-7af6-ad38002aa520}">
          <p14:sldIdLst>
            <p14:sldId id="263"/>
            <p14:sldId id="264"/>
            <p14:sldId id="265"/>
            <p14:sldId id="266"/>
            <p14:sldId id="267"/>
            <p14:sldId id="268"/>
            <p14:sldId id="269"/>
            <p14:sldId id="270"/>
            <p14:sldId id="271"/>
            <p14:sldId id="272"/>
            <p14:sldId id="273"/>
            <p14:sldId id="274"/>
          </p14:sldIdLst>
        </p14:section>
        <p14:section name="DS 39–40 Klausur" id="{2cac6324-7500-2f10-3281-500cc92387ee}">
          <p14:sldIdLst>
            <p14:sldId id="275"/>
            <p14:sldId id="276"/>
          </p14:sldIdLst>
        </p14:section>
        <p14:section name="Abschluss" id="{77ef80e9-f98a-1a28-f7ce-88c58ef88cde}">
          <p14:sldIdLst>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4E79"/>
                </a:solidFill>
                <a:latin typeface="+mn-lt"/>
              </a:defRPr>
            </a:pPr>
            <a:r>
              <a:rPr sz="1500" b="0" i="0" u="none" strike="noStrike">
                <a:solidFill>
                  <a:srgbClr val="1F4E79"/>
                </a:solidFill>
                <a:latin typeface="+mn-lt"/>
              </a:rPr>
              <a:t>Strichliste eines Teams (Beispieldaten)</a:t>
            </a:r>
          </a:p>
        </c:rich>
      </c:tx>
      <c:layout/>
      <c:overlay val="0"/>
    </c:title>
    <c:autoTitleDeleted val="0"/>
    <c:plotArea>
      <c:layout/>
      <c:barChart>
        <c:barDir val="col"/>
        <c:grouping val="clustered"/>
        <c:varyColors val="0"/>
        <c:ser>
          <c:idx val="0"/>
          <c:order val="0"/>
          <c:tx>
            <c:strRef>
              <c:f>Sheet1!$B$1</c:f>
              <c:strCache>
                <c:ptCount val="1"/>
                <c:pt idx="0">
                  <c:v>Striche des Teams</c:v>
                </c:pt>
              </c:strCache>
            </c:strRef>
          </c:tx>
          <c:spPr>
            <a:solidFill>
              <a:srgbClr val="1F4E79"/>
            </a:solidFill>
            <a:effectLst/>
          </c:spPr>
          <c:invertIfNegative val="0"/>
          <c:dLbls>
            <c:numFmt formatCode="#,##0" sourceLinked="0"/>
            <c:txPr>
              <a:bodyPr/>
              <a:lstStyle/>
              <a:p>
                <a:pPr>
                  <a:defRPr b="0" i="0" strike="noStrike" sz="1300" u="none">
                    <a:solidFill>
                      <a:srgbClr val="1F4E79"/>
                    </a:solidFill>
                    <a:latin typeface="+mn-lt"/>
                  </a:defRPr>
                </a:pPr>
              </a:p>
            </c:txPr>
            <c:showLegendKey val="0"/>
            <c:showVal val="1"/>
            <c:showCatName val="0"/>
            <c:showSerName val="0"/>
            <c:showPercent val="0"/>
            <c:showBubbleSize val="0"/>
            <c:showLeaderLines val="0"/>
          </c:dLbls>
          <c:cat>
            <c:multiLvlStrRef>
              <c:f>Sheet1!$A$2:$A$11</c:f>
              <c:multiLvlStrCache>
                <c:ptCount val="10"/>
                <c:lvl>
                  <c:pt idx="0">
                    <c:v>P1</c:v>
                  </c:pt>
                  <c:pt idx="1">
                    <c:v>P2</c:v>
                  </c:pt>
                  <c:pt idx="2">
                    <c:v>P3</c:v>
                  </c:pt>
                  <c:pt idx="3">
                    <c:v>P4</c:v>
                  </c:pt>
                  <c:pt idx="4">
                    <c:v>P5</c:v>
                  </c:pt>
                  <c:pt idx="5">
                    <c:v>P6</c:v>
                  </c:pt>
                  <c:pt idx="6">
                    <c:v>P7</c:v>
                  </c:pt>
                  <c:pt idx="7">
                    <c:v>P8</c:v>
                  </c:pt>
                  <c:pt idx="8">
                    <c:v>P9</c:v>
                  </c:pt>
                  <c:pt idx="9">
                    <c:v>P10</c:v>
                  </c:pt>
                </c:lvl>
              </c:multiLvlStrCache>
            </c:multiLvlStrRef>
          </c:cat>
          <c:val>
            <c:numRef>
              <c:f>Sheet1!$B$2:$B$11</c:f>
              <c:numCache>
                <c:formatCode>General</c:formatCode>
                <c:ptCount val="10"/>
                <c:pt idx="0">
                  <c:v>6</c:v>
                </c:pt>
                <c:pt idx="1">
                  <c:v>3</c:v>
                </c:pt>
                <c:pt idx="2">
                  <c:v>4</c:v>
                </c:pt>
                <c:pt idx="3">
                  <c:v>5</c:v>
                </c:pt>
                <c:pt idx="4">
                  <c:v>2</c:v>
                </c:pt>
                <c:pt idx="5">
                  <c:v>3</c:v>
                </c:pt>
                <c:pt idx="6">
                  <c:v>4</c:v>
                </c:pt>
                <c:pt idx="7">
                  <c:v>2</c:v>
                </c:pt>
                <c:pt idx="8">
                  <c:v>3</c:v>
                </c:pt>
                <c:pt idx="9">
                  <c:v>7</c:v>
                </c:pt>
              </c:numCache>
            </c:numRef>
          </c:val>
        </c:ser>
        <c:dLbls>
          <c:numFmt formatCode="#,##0" sourceLinked="0"/>
          <c:txPr>
            <a:bodyPr/>
            <a:lstStyle/>
            <a:p>
              <a:pPr>
                <a:defRPr b="0" i="0" strike="noStrike" sz="1300" u="none">
                  <a:solidFill>
                    <a:srgbClr val="1F4E7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in Welt 6 (ca. 1 min, Beginn DS 37): Die letzte Welt – der Endgegner. Vier Stationen: In DS 37 die Probeklausur „Die Paketstation“ als Boss 6 unter Abiturbedingungen, in DS 38 Korrektur und Fehlerjagd mit den Top 10 Punktverlusten, in DS 39–40 die Klausur „Ladepark“ im Abitur-Format und danach das Finale mit Scoreboard, Urkunden aus dem Algo Quest Lab und Rückblick. Die Präsentation begleitet alle vier Doppelstunden; je Stunde nur die passenden Folien zeigen (DS-Angabe unten rechts). Alle Code-Beispiele auf den Folien wurden mit javac 21 und einem Nachbau der Bibliothek „Niedersachsen“ ausgeführt: Die falschen Fassungen zeigen den genannten Fehler wirklich, die richtigen laufen.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Weltkarte (ca. 3 min): Oben die Quest-Map – sechs Welten sind geschafft (grüner Ring), jetzt kommt der Endgegner. Vier Stationen: DS 37 Boss 6 als Generalprobe (Probeklausur „Die Paketstation“, 35 BE, 90 min), DS 38 Korrektur und Fehlerjagd mit dem AB „Korrektur und Fehlerjagd“, DS 39–40 die Klausur „Ladepark“ (60 BE, 180 min, Abitur-Format Block 1 ohne Zusatzthema) und das Finale. Algo Quest Lab in Welt 6: Lab-Level 6.1 „Fallenjagd I – P1 bis P5“ und 6.2 „Fallenjagd II – P6 bis P10“ (passend zu AB1 Teil 4), 6.3 „Abi-Mix I – Welten 0 bis 2“ und 6.4 „Abi-Mix II – Welten 3 bis 5“ (Abi-Fahrplan, Klausurvorbereitung) sowie der Online-Boss „Generalprobe online“ (30 min). Punkte, Ränge und Abzeichen vergibt das Lab automatisch – die Lehrkraft bucht nichts. Probeklausur, Fehlerjagd und Papier-Compiler auf Papier sind Abi-Training ohne Punkte. Ganz wichtig: Die Klausur wird benotet; Lab-Punkte und Note bleiben getrennt.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Ablauf Abitur Block 1 (ca. 4 min): Jede Wahlaufgabe in Block 1 hat 60 BE mit der festen AFB-Verteilung 18/32/10 (so in allen Erwartungshorizonten 2022–2026); etwa 12 BE davon gehören zum Zusatzthema des Jahrgangs (2022 Codierung, 2023 Automaten, 2024 Datenbanken, 2025 Codierung, 2026 formale Sprachen) – unsere Einheit deckt die übrigen rund 48 BE ab. Der Aufgabenkopf nennt für eA eine Prüfungszeit von 300 Minuten. Aufbau: Einleitungstext, Teilaufgaben mit Operator und BE, Material am Ende. Alles handschriftlich. Hilfsmittel sind die als Hilfsmittel zugelassenen Abschnitte der Ergänzenden Hinweise (Neufassung 2025) – genau so in Probeklausur und Klausur. Vor Einsatz prüfen: Prüfungszeit, Auswahlmodus der Aufgaben und Hilfsmittel jedes Jahr mit den aktuellen Hinweisen des Kultusministeriums abgleichen. Überleitung: Heute erleben wir das im Kleinen – 35 BE in 90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Operatoren (ca. 5 min): Die Definitionen in der mittleren Spalte sind der Operatorenliste des Kultusministeriums (Stand 2024) entnommen und gekürzt; „dokumentieren“ steht dort nicht eigens, wird aber in fast jeder Abituraufgabe für Trace- und Rekursionstabellen verwendet (Definition wie „darstellen“). Rechte Spalte = unsere Übersetzung in Kernpunkte: Was muss auf dem Papier stehen, damit die BE vergeben werden? Kurzer Test im Plenum: Was ist der Unterschied zwischen „Beschreiben Sie …“ und „Erläutern Sie …“? (Erläutern verlangt zusätzlich das Warum und einen Bezug zum Material.) Häufige Punktverluste, die wir in DS 38 als P10 zählen: nur nennen statt erläutern, begründen ohne Weil-Kette, kein Bezug zum Kontext der Aufgabe. Tipp für die Prüfung: Operatoren beim Überfliegen unterstreichen.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Zeitplanung (ca. 3 min): Faustregel aus der Abi-Analyse ≈ 2,5 Minuten je BE (Tabelle links wie im AB „Korrektur und Fehlerjagd“, Teil 5). Obere Leiste: die Probeklausur heute, Teilaufgaben a) bis h) mit 4, 7, 6, 4, 2, 5, 2 und 5 BE – maßstabsgetreu. 35 BE × 2,5 = 87,5 min, es bleiben nur 2,5 Minuten Puffer: Die Generalprobe ist bewusst knapp, deshalb die reinen AFB-I-Anteile (z. B. Konstruktoren erläutern, Trace-Durchläufe) zügig erledigen. Untere Leiste: Klausur „Ladepark“ (und Abitur-Format Block 1): 60 BE × 2,5 = 150 min von 180 – 30 Minuten für Einlesen, Planen und Prüfen. Tipp: Uhrzeiten statt Minuten an den Rand schreiben (z. B. „b) bis 8:52“).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Prüfungsstrategie (ca. 3 min), identisch mit dem Kasten auf dem Deckblatt der Probeklausur: 1. Überfliegen (3 min), 2. Material markieren, 3. BE-Plan mit 2,5 min je BE, 4. Reserve für den Abi-Check (Leer? Index? Cast? equals? return auf jedem Pfad?). Die blauen Kästen zeigen, wie das in der Probeklausur aussieht (Klassen Paket, Fach, Paketstation; Abbildungen 1 bis 8; Teilaufgabe b) mit 7 BE). Betonen: Im Abitur wird nach Kernpunkten bewertet – wer nicht fertig wird, verliert die Kernpunkte der nicht bearbeiteten Teile; wer eine Teilaufgabe halb löst, bekommt die erreichten Kernpunkte. Deshalb nie an einer Stelle festbeißen.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Boss-Briefing direkt vor der Probeklausur (ca. 3 min, dann 90 min schreiben): Probeklausur „Die Paketstation“ unter Abiturbedingungen – Einzeltische, Taschen nach vorn, Handys aus, nur der Auszug aus den Ergänzenden Hinweisen im Material, keine Werkzeugkarten. Gearbeitet wird auf eigenen Bögen; nur die Tabellen in den Abbildungen 4 (Tracetabelle) und 7 (Rekursionstabelle) werden direkt im Material ausgefüllt, das Material wird mit abgegeben. Die BE-Tabelle rechts entspricht dem Deckblatt; die Zeilen „selbst“ und „Peer“ werden in DS 38 ausgefüllt. Die Papier-Probe bringt keine Punkte – das hält die Korrektur in DS 38 ehrlich. Zusätzlich im Lab: Online-Boss „Generalprobe online“ (30 min, bester Versuch zählt; Freigabe in den Kurseinstellungen). Nach der Abgabe: kein Gespräch über Lösungen – die Auswertung ist DS 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Ablauf DS 38, Teile 1–3 des ABs „Korrektur und Fehlerjagd“ (ca. 3 min Erklärung, dann 45 min Arbeit): 1) Selbstkorrektur 20 min mit dem Korrekturbogen (Kernpunkte aus dem Erwartungshorizont der Probeklausur, ohne Musterlösungs-Code); für jeden nicht erreichten Kernpunkt ein Strich bei der angegebenen P-Nummer. 2) Peer-Check 15 min im Ring innerhalb des Teams; die Zweitkorrektur deckt die Häkchen „selbst“ ab und entscheidet nur mit dem Kernpunkt-Text; Streitfälle entscheidet die Lehrkraft (Stichprobe: mindestens eine Probeklausur je Team selbst zweitkorrigieren). 3) Team-Statistik 10 min. Es wird nichts gebucht – das Lab vergibt Punkte nur automatisch; zum Vergleich zeigt das Lab-Profil „Deine Fallen“ (je Person) und die Lehrkraft-Auswertung das Fallen-Profil des Kurses. Folgefehler-Regel wie im Abitur-Erwartungshorizont.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 einer Korrektur nach Kernpunkten (ca. 5 min), bevor die Selbstkorrektur startet. Die Schülerlösung ist erfunden; die Kernpunkte sind die sieben Kernpunkte von Teilaufgabe b) aus dem Korrekturbogen. Erst nur den Code zeigen und fragen: „Wie viele BE gibst du?“ Dann gemeinsam abhaken: Kopf, Schleifengrenzen und Cast stimmen; es fehlt die Abfrage istFrei() vor getInhalt() (P1), == statt equals (P5) und es wird der Index i statt f.getNummer() zurückgegeben (P3); die Rückgabe −1 nach der Schleife ist korrekt – auch für eine leere Station. Ergebnis 4 von 7 BE, drei Striche in der Fehlerliste. Mit javac und dem Nachbau der Bibliothek geprüft: Für die Station Wiesenau liefert sucheFach("P-2208") eine NullPointerException (Index 1 = Fach 102 ist frei), sucheFach("P-7310") liefert 0 statt 101, die leere Station −1. Zum ==: In echtem Java würde der Vergleich hier zufällig sogar funktionieren (gleiche String-Literale) – genau deshalb ist er tückisch; im Abitur zählt nur equals.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Team-Statistik (Teil 3 des ABs, ca. 10 min): Jedes Mitglied überträgt seine Striche aus dem Korrekturbogen in die Fehlerliste (Spalte „ich“), das Team bildet die Summe und zeichnet das Säulendiagramm auf der Vorlage. Das Diagramm auf der Folie zeigt erfundene Beispieldaten. Die Top 3 des Teams bestimmen die Reihenfolge der Fehlerjagd (Teil 4). Lehrkraft: Teamsummen an der Tafel zur Kursstatistik zusammenführen – die Kurs-Top-3 sind die Schwerpunkte für die Klausurvorbereitung. Zum Vergleich in der Lehrkraft-Auswertung des Lab das Fallen-Profil des Kurses zeigen (Fehlversuche je P1–P10 aus den Online-Aufgaben); jede Person sieht unter Profil → „Deine Fallen“ die eigenen Werte. Strichliste fotografieren: Sie ist die Vergleichsbasis für den Warm-up-Nachtest (die letzte Spalte füllt das Team nach dem Nachtest aus). Datenschutz: In der Kursstatistik tauchen nur Teams auf, keine Personen.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Top 10 Punktverluste (ca. 3 min): Diese zehn Fehlertypen mit genau diesen Nummern und Kurztiteln stehen überall gleich – im Korrekturbogen neben jedem Kernpunkt, im AB „Korrektur und Fehlerjagd“, auf den Warm-up-Karten W6, in den Lehrerhinweisen und in den Erwartungshorizonten der Klausuren. Zusammengestellt aus den Erwartungshorizonten der Abiturjahrgänge 2022–2026 und den Bossen 0–5: Die meisten Punkte gehen nicht durch fehlendes Wissen verloren, sondern durch immer dieselben handwerklichen Fehler. Auf den nächsten Folien zu jedem Fehler ein Bug-Hunt-Beispiel aus der Paketstation (falsch → richtig) mit Gegenmaßnahme; die Beispiele sind bewusst andere als die Fehlerjagd-Aufgaben im AB, damit die AB-Aufgaben nicht vorweggenommen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Bug-Hunt P1 und P2 (ca. 4 min; erst nur die roten Kästen zeigen, Teams suchen den Fehler, dann aufdecken). P1: naechsteGroesse ruft head() ohne Leerabfrage auf. Mit javac und NI-Nachbau geprüft: Für die Station Wiesenau liefert die falsche Fassung M, bei leerer Schlange bricht sie mit IllegalStateException ab; die richtige liefert M bzw. '-'. Abi-Hinweis: Die Rückgabe für den Sonderfall gibt immer die Aufgabe vor – hier '-'. P2: anzahlRuecksendungen zählt richtig (Ergebnis 3 für drei Rücksendungen), aber danach ist der Stapel leer – der Hilfsstapel wird nie zurückgefüllt. Richtige Fassung geprüft: Ergebnis 3, Stapel vorher und nachher „P-0412 P-8845 P-3089“ (oben zuerst). Warum stimmt die Reihenfolge? Zweimal umschichten dreht zweimal um. Bei einer Schlange dagegen: Hilfsschlange – ein Hilfsstapel würde die Reihenfolge umkehren.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Bug-Hunt P3 und P4 (ca. 4 min). P3: Zwei Abweichungen von der Vorgabe – falscher Name (freiesFach statt hatFreiesFach) und kein return nach der Schleife. javac meldet „missing return statement“; den falschen Namen merkt erst der Test bzw. der Korrektor. Richtige Fassung geprüft: Wiesenau, Größe S → true; volle Station → false; leere Station → false. P4: Zeile 4 ohne Cast kompiliert nicht („incompatible types: Object cannot be converted to Fach“). Ergänzt man nur den Cast, liefert die Methode für Wiesenau 0.0 statt 57,1 (4 von 7 Fächern frei; 4 / 7 ist ganzzahlig 0) und für eine Station ohne Fächer eine ArithmeticException (Division durch 0). Richtige Fassung: 57,14 bzw. 0.0. In der Online-IDE gilt dasselbe: / bei zwei Ganzzahlen ist ganzzahlig.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Bug-Hunt P5 und P6 (ca. 4 min). P5: Mit javac geprüft: istExpress(Paket "PX-4711") liefert mit == den Wert false, weil substring ein neues Objekt erzeugt und == in Java Referenzen vergleicht; bei der Nummer "PX" bricht substring(0, 3) mit StringIndexOutOfBoundsException ab. Die richtige Fassung liefert true / false (für "P-4127") / false (für "PX"). ACHTUNG Online-IDE: Dort vergleicht == Zeichenketten inhaltlich – die falsche Fassung liefert dort true, Tests werden grün. Im Abitur zählt Java-Semantik: equals. startsWith steht nicht in der Liste der erlaubten Zeichenketten-Operationen (Länge, Zeichen an Position, Teilzeichenkette, Verketten, Gleichheit, enthält, lexikographischer Vergleich, ASCII). P6: i &lt;= getLength() greift bei einer vollen Station auf getItem(getLength()) zu – IndexOutOfBoundsException (geprüft mit einer Station aus zwei belegten Fächern; ebenso bei der leeren Station). Richtige Fassung: Wiesenau freiAb(2) = 104, volle Station -1, leere Station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Bug-Hunt P7 und P8 (ca. 5 min). P7: Basisfall stimmt, aber das Ergebnis des rekursiven Aufrufs wird weggeworfen (Zeile 5) – mit javac geprüft: anzahlZiffern(4127) liefert 1. Richtig: return 1 + anzahlZiffern(n / 10); Ergebnis 4 (außerdem anzahlZiffern(0) = 1, anzahlZiffern(10) = 2). Rekursionstabelle aus einem instrumentierten Lauf: Tiefen 0 bis 3, also 4 Aufrufe; die Rückgaben entstehen von innen nach außen (1, 2, 3, 4). Häufigster Tabellenfehler: Erstaufruf mit Tiefe 1. P8: Die Tracetabelle aus einem Java-Lauf: vor der Schleife platz 6, i 0; Durchläufe mit vol[i] = 2, 3, 1 → platz 4, 1, 0 und i 1, 2, 3; danach ist vol[3] = 3 &gt; 0, die Bedingung ist falsch, Endwerte platz 0, i 3. Die falsche Tabelle hat drei Fehler: Startzeile fehlt, in Durchlauf 3 ist i nicht fortgeschrieben, und es gibt einen vierten Durchlauf, obwohl die Bedingung vor dem Durchlauf geprüft wird (3 &lt;= 0 ist falsch). Fehlende Endwerte kommen hinzu. Konvention: Tracetabellen enthalten nur Variablen, keine Bedingungen; Zeilen entstehen genau an den mit „// → Tabellenzeile“ markierten Stellen (Startwerte vor der Schleife, Ende jedes Durchlaufs, Endwerte nach der Schleife).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Bug-Hunt P9 (ca. 4 min). Links ein Struktogramm, das inhaltlich stimmt, aber in fast jeder Zeile Java enthält: Deklaration mit Typ und Semikolon, = statt ←, while mit Zähler statt Zählschleife „für i von 0 bis faecher.getLength() − 1“, Cast (im sprachunabhängigen Struktogramm überflüssig), ! statt „nicht“, += und ++, return mit Semikolon statt „gib summe zurück“. Rechts die Fassung nach den Ergänzenden Hinweisen §5 (gleicher Renderer wie in allen Algo-Quest-Materialien). Die Java-Entsprechung der rechten Fassung wurde mit javac geprüft: Wiesenau 6 Volumeneinheiten (1 + 2 + 3), leere Station 0. Hinweis: Die Fehlerjagd-Aufgabe P9 im AB nutzt ein anderes Struktogramm (zaehleFreie) – dort mindestens fünf Notationsfehler finden lassen. Weiteres Training zu P9 im Lab: Level 6.2 „Fallenjagd II – P6 bis P10“.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Bug-Hunt P10 (ca. 4 min): Erst die drei Antworten ohne BE-Angaben zeigen und die Teams 0, 1 oder 2 BE vergeben lassen (wie Fehlerjagd-Aufgabe P10 im AB, dort mit der Schlange als Datenstruktur). Der Code ist die richtige Fassung aus P1 (mit javac geprüft). Erwartung für 2 BE: (1) Ursache des möglichen Laufzeitfehlers benennen – head() auf leerer Schlange, (2) zeigen, dass dieser Fall durch die Abfrage vorher abgefangen wird, weil return die Methode beendet. Antwort B beschreibt nur, was die Methode tut, die Begründung, WARUM damit kein Fehler mehr auftreten kann, fehlt. Antwort A nennt nur ein Stichwort. Operator-Check links: Unterschied der vier häufigsten Text-Operatoren. Anschließend Fehlerjagd im AB (Teil 4, 25 min): Teams starten mit ihren Top 3; Vertiefung im Lab mit Level 6.1 „Fallenjagd I – P1 bis P5“ und 6.2 „Fallenjagd II – P6 bis P10“.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Mein Abi-Fahrplan (Teil 5 des ABs, ca. 10 min, Einzelarbeit): Der Fahrplan gehört nur der Schülerin bzw. dem Schüler und wird nicht eingesammelt. 1) Top-3-Fehler aus der eigenen Fehlerliste mit konkreter Gegenmaßnahme – „besser aufpassen“ ist keine Gegenmaßnahme, eine Handlung schon (Beispiel unten links aus dem AB). Training: Fehlerjagd-Aufgabe, Warm-up-Karten W6, passendes Video der Playlist. 2) Zeitplan für die Klausur „Ladepark“ (60 BE, 180 min). 3) Vorgehen in der Prüfung mit Ankreuzspalte – nach der Klausur ehrlich prüfen, ob es umgesetzt wurde. 4) Der persönliche Abi-Check: die Standardfragen der Abi-Check-Karte plus eigene Fragen zu den eigenen Top-3-Fehlern. Den Fahrplan in die Klausur „Ladepark“ im Kopf mitnehmen – nicht als Zettel.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Papier-Compiler (Teil 6 des ABs, 10 min in der Stunde, Rest zu Hause): Datei AQ_W6_Probeklausur_Papier-Compiler.txt als Workspace „W6 Papier-Compiler“ austeilen (Gerüst ohne Lösung; die LSG-Datei mit allen 17 grünen Tests bleibt bei der Lehrkraft). Pflicht ist b) sucheFach mit den Tests aufgabeB_ (6 Tests): unverändert abgetippt und alle grün – Ergebnis des ersten Laufs im AB notieren (ohne Punkte). Kür: c) das eigene Struktogramm in Java übersetzen (aufgabeC_, 5 Tests) und h) die eigene Korrektur (aufgabeH_, 6 Tests). Vor Einsatz prüfen: Bibliothek „Niedersachsen“ im Workspace aktiviert (Rechtsklick auf den Workspace → Einstellungen). Grenze der Tests: == statt equals fällt in der Online-IDE nicht auf (dort inhaltlicher Vergleich), ebenso eine Schleife statt Rekursion in h) – beides bleibt Sache des Korrekturbogens.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Letzte Runde vor der Klausur (ca. 3 min Erklärung): Warm-up-Nachtest etwa 10 Minuten auf Papier – laut AB „Korrektur und Fehlerjagd“ in DS 39; belegt die Klausur die ganze Doppelstunde 39–40, den Nachtest in die letzte Stunde davor legen (Lehrerhinweise W6). Inhalte: Warm-up-Karten zu den Kurs-Top-3 aus der Kursstatistik. Das Team trägt die Striche in die Spalte „Warm-up-Nachtest Σ“ ein und vergleicht mit DS 38 (Team Σ minus Nachtest Σ) – ohne Wertung. Im Lab: Level 6.1/6.2 (Fallenjagd), 6.3/6.4 (Abi-Mix) und der Online-Boss „Generalprobe online“ (in den Kurseinstellungen freischalten); das Fallen-Profil des Kurses in der Lehrkraft-Auswertung zeigt, welche Fallen noch häufig sind. Training bis zur Klausur: eigener Abi-Fahrplan, Warm-up-Karten W6 („Endgegner-Mix“, auch im Warm-up-Trainer des Lab), Videos der Playlist „Algo Quest“. Klar sagen: Die Klausur wird benotet, Lab-Punkte zählen dafür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Klausur-Briefing (ca. 3 min, am Ende von DS 38 oder direkt vor der Klausur). NUR Organisatorisches – keine Inhalte der Klausur „Ladepark“ und der Nachschreibklausur nennen. Rahmen laut Deckblatt: 180 Minuten einschließlich Einlesezeit, 60 BE (AFB 18/32/10), Abitur-Format Block 1 ohne Zusatzthema; Hilfsmittel sind ausschließlich die als Hilfsmittel zugelassenen Abschnitte der Ergänzenden Hinweise zum KC Informatik (Neufassung 2025), kein Taschenrechner, kein Computer. Bearbeitung handschriftlich auf ausgegebenem Papier; Tabellen werden im Material ausgefüllt, das Material wird mit abgegeben. Die Hinweise auf dem Deckblatt (Casts bei den nicht generischen Niedersachsen-Klassen, explizite Abfragen gegen Laufzeitfehler) entsprechen genau P1 und P4. Nachschreibtermin: eigene Nachschreibklausur im gleichen Format (siehe Lehrerhinweise W6). Organisation: Sitzordnung, Klausurbögen mit Namen vorbereiten, Uhr gut sichtbar. Die Klausur wird benotet; Lab-Punkte spielen dafür keine Rolle.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Rückblick (ca. 4 min, nach der Klausur in der Abschlussstunde): Sieben Welten in 40 Doppelstunden. Je Welt die Kernkompetenz und der Boss (Namen wie in den Boss-Materialien: Boss 0 Bibliothek der Akademie = Aufnahmeprüfung, Boss 1 Gildenhalle, Boss 2 Turnier der Bogenschützen, Boss 3 Kristallhöhle, Boss 4 Fähre von Nebelhafen, Boss 5 die drei Baumhüter, Boss 6 Generalprobe Paketstation). Impuls: Jedes Team nennt seine Lieblingswelt und den Boss, der am meisten gelehrt hat. Brücke zum Abitur: Alle Abituraufgaben 2022–2026 bestehen aus genau diesen Bausteinen – Implementieren und Tracen in allen 22 Wahlaufgaben, Rekursion in 19, Struktogramm in 18, dynamische Reihung in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Scoreboard (ca. 5 min): Platzhalter vor der Stunde ausfüllen – Namen (wie im Lab, z. B. „Lena S.“) und Punkte für Platz 1 bis 3 aus dem Lab-Scoreboard, die P-Nummer mit der größten Verbesserung im Kurs (Kursstatistik DS 38 ↔ Warm-up-Nachtest bzw. Fallen-Profil in der Lehrkraft-Auswertung) und die Zahl der gelösten Aufgaben des Kurses (Auswertung bzw. CSV-Export). Das Podest nur zeigen, wenn das Scoreboard im Kurs aktiviert ist und die drei einverstanden sind – sonst Podest leer lassen und nur die Kurswerte würdigen. Alternativ das Beamer-Board live zeigen (Einstellungen → Beamer-Board; Top 15, Weltfortschritt, letzte Erfolge). Punkte entstehen nur automatisch im Lab; nichts muss festgeschrieben werden – die Urkunden zeigen den Stand am Druckdatum.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Ränge (ca. 2 min): Die fünf Ränge vergibt das Lab automatisch nach dem Anteil der erreichten Level-Punkte aller freigeschalteten Welten: Novize ab 0 %, Lehrling ab 10 %, Geselle ab 30 %, Meister ab 55 %, Großmeister ab 80 % (Boss- und Trainingspunkte zählen für den Rang nicht). Jede und jeder sieht den eigenen Rang im Profil; er steht auch auf der Urkunde. Keine Ränge einzelner Personen öffentlich nennen; wer möchte, kann seinen Rang selbst zeigen. Großmeister heißt „abiturbereit“ – aber auch wer Geselle ist, hat alle Bausteine des Abiturs bearbeitet; der Abi-Fahrplan zeigt, was noch fehlt.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Abzeichen (ca. 3 min): Das Lab vergibt Abzeichen automatisch – Lehrkräfte vergeben keine. Auf der Folie die wichtigsten Gruppen; dazu kommen Trainingsprofi (100 Trainingsaufgaben) und Ohne Tipp (20 Aufgaben der Stufe 3 ohne Tipp). „… gemeistert“ und „… besiegt“ gibt es je Welt (z. B. „Der Wald gemeistert“, „Generalprobe online besiegt“). Optional vor der Stunde die Anzahlen eintragen (Platzhalter „____ ×“, z. B. aus der Urkunden-Vorschau abgezählt) – nur Anzahlen, keine Namen. Besonders würdigen: Fallensucher – wer zu jeder der zehn Abi-Fallen drei Aufgaben fehlerfrei gelöst hat, hat genau das trainiert, was im Abitur Punkte kostet. Auf den Urkunden stehen die Abzeichen der jeweiligen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Urkunden (ca. 5 min inkl. Übergabe): Die Urkunden druckt die Lehrkraft im Lab (Lehrkraft → Kurs → „🏅 Urkunden“): eine A4-Urkunde je Person mit Name (wie im Lab), Kurs, Rang, Punkten, gelösten Aufgaben, Abzeichen, Datum und Unterschriftslinie; Platzierung wahlweise überall, nur Platz 1–3 oder ausgeblendet; optional eine Leerzeile für den vollständigen Namen (das Lab speichert nur Vorname + Initial). Auswahl: alle oder einzelne Schüler. Die Grafik rechts ist ein Muster, nicht der echte Ausdruck. Vor Einsatz prüfen: Probedruck (Seitenränder, Farbe), Platzierungsoption bewusst wählen. Übergabe einzeln, Unterschrift vorher leisten.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Ausblick (ca. 4 min): Die Einheit ist vorbei, das Training nicht. Drei Werkzeuge: (1) Algo Quest Lab – Warm-up-Trainer mit Leitner-Prinzip (sichere Karten kommen seltener; ohne Punkte, zum ehrlichen Üben), Trainingsplatz mit Zufallsaufgaben (Welten 0, 2, 4, 5, 6) und die Level 6.3/6.4 (Abi-Mix I und II); der Zugang (Name und persönlicher Code) bleibt bis zum Abitur aktiv, solange der Kurs nicht gelöscht wird (vor Einsatz prüfen). (2) YouTube-Playlist „Algo Quest“ – Link bzw. QR-Code vor dem Einsatz ergänzen. (3) Echte Abituraufgaben 2022–2026 mit Erwartungshorizonten (liegen im Kursmaterial). Wiederholungsplan als Vorschlag – mit dem eigenen Abi-Fahrplan verbinden: erst die Top-3-Fehler, dann Teilaufgaben je Welt mit Selbstkorrektur nach Kernpunkten, dann ganze Block-1-Aufgaben unter Zeit (2,5 min je BE; Teile zum Zusatzthema je nach Unterricht auslassen oder mitbearbeiten), am Ende Fahrplan und Abi-Check aktualisieren.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Abi-Training (ca. 3 min): Zuordnung von Abituraufgaben zu unseren Welten als Startpunkt für das selbstständige Training (Kürzel wie in der Planung der Einheit; die Aufgaben und Erwartungshorizonte liegen im Kursmaterial bzw. Projektordner). Beispiele: 25H-B a „Erläutern Sie am Beispiel der Klasse Feld die Funktion der unterschiedlichen Konstruktoren“, 25H-B b/c Stapel und Schlange (getFruchtarten, ertragUpdate), 22H-A a Suchbaum der Sterne, 26H-A Max-Heap, 25H-A Huffman, 24N-A k/m B-Baum. Achtung: Ältere Erwartungshorizonte (2022–2025) nutzen teilweise alte BinTree-Methodennamen – beim Selbstkorrigieren auf die heutige Schnittstelle der Ergänzenden Hinweise (Neufassung 2025) übertragen. Die Zusatzthemen (Codierung, Automaten, Datenbanken, formale Sprachen) waren nicht Teil dieser Einheit.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Schluss (ca. 1 min): Alle sieben Welten geschafft (grün), der Endgegner (rot) ist besiegt. Dank an alle Teams; Hinweis auf Algo Quest Lab (Warm-up-Trainer, Trainingsplatz), Playlist und Abi-Aufgaben. Optional: kurze Feedbackrunde zur Einheit (Was hat beim Lernen am meisten geholfen – Warm-ups, IDE-Level, Bosse, Papier-Compiler?) für die Weiterentwicklung von Algo Quest im nächsten Jahrgang; Bug-Meldungen sammeln: Wer einen Fehler im Material findet, meldet ihn – ohne Punkte.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Q Titel">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rtlCol="0"/>
          <a:lstStyle>
            <a:lvl1pPr indent="0" marL="0">
              <a:buNone/>
              <a:defRPr lang="en-US" sz="3000" dirty="0">
                <a:solidFill>
                  <a:schemeClr val="bg2"/>
                </a:solidFill>
              </a:defRPr>
            </a:lvl1pPr>
          </a:lstStyle>
          <a:p>
            <a:pP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Q 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accent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accent6"/>
                </a:solidFill>
              </a:rPr>
              <a:t>Informatik LK · Algo Quest · Welt 6 – Der Endgegner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Q Dunkel">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bg2"/>
                </a:solidFill>
              </a:rPr>
              <a:t>Informatik LK · Algo Quest · Welt 6 – Der Endgegner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slideLayout" Target="../slideLayouts/slideLayout3.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3.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3.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3.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3.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3.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3.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lIns="0" tIns="0" rIns="0" bIns="0" rtlCol="0" anchor="t"/>
          <a:lstStyle/>
          <a:p>
            <a:pPr indent="0" marL="0">
              <a:buNone/>
            </a:pPr>
            <a:r>
              <a:rPr lang="en-US" sz="1800" b="1" spc="200" kern="0" dirty="0">
                <a:solidFill>
                  <a:schemeClr val="accent2"/>
                </a:solidFill>
              </a:rPr>
              <a:t>INFORMATIK LK · WELT 6 · DS 37–40</a:t>
            </a: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lIns="0" tIns="0" rIns="0" bIns="0" rtlCol="0" anchor="t"/>
          <a:lstStyle/>
          <a:p>
            <a:pPr algn="l" indent="0" marL="0">
              <a:buNone/>
            </a:pPr>
            <a:r>
              <a:rPr lang="en-US" sz="6000" b="1" dirty="0">
                <a:solidFill>
                  <a:schemeClr val="bg1"/>
                </a:solidFill>
              </a:rPr>
              <a:t>Der Endgegner</a:t>
            </a: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lIns="0" tIns="0" rIns="0" bIns="0" rtlCol="0" anchor="t"/>
          <a:lstStyle/>
          <a:p>
            <a:pPr indent="0" marL="0">
              <a:buNone/>
            </a:pPr>
            <a:r>
              <a:rPr lang="en-US" sz="3000" dirty="0">
                <a:solidFill>
                  <a:schemeClr val="bg2"/>
                </a:solidFill>
              </a:rPr>
              <a:t>Probeklausur, Fehlerjagd, Klausur, Abschluss</a:t>
            </a:r>
            <a:endParaRPr lang="en-US" sz="3000" dirty="0"/>
          </a:p>
        </p:txBody>
      </p:sp>
      <p:sp>
        <p:nvSpPr>
          <p:cNvPr id="5" name="Icon-Kreis"/>
          <p:cNvSpPr/>
          <p:nvPr/>
        </p:nvSpPr>
        <p:spPr>
          <a:xfrm>
            <a:off x="8229600" y="1325880"/>
            <a:ext cx="3200400" cy="3200400"/>
          </a:xfrm>
          <a:prstGeom prst="ellipse">
            <a:avLst/>
          </a:prstGeom>
          <a:solidFill>
            <a:schemeClr val="accent1"/>
          </a:solidFill>
          <a:ln w="63500">
            <a:solidFill>
              <a:schemeClr val="accent2"/>
            </a:solidFill>
            <a:prstDash val="solid"/>
          </a:ln>
        </p:spPr>
      </p:sp>
      <p:pic>
        <p:nvPicPr>
          <p:cNvPr id="6" name="Icon GiDragonHead" descr="preencoded.png">    </p:cNvPr>
          <p:cNvPicPr>
            <a:picLocks noChangeAspect="1"/>
          </p:cNvPicPr>
          <p:nvPr/>
        </p:nvPicPr>
        <p:blipFill>
          <a:blip r:embed="rId1"/>
          <a:stretch>
            <a:fillRect/>
          </a:stretch>
        </p:blipFill>
        <p:spPr>
          <a:xfrm>
            <a:off x="8869680" y="1965960"/>
            <a:ext cx="1920240" cy="1920240"/>
          </a:xfrm>
          <a:prstGeom prst="rect">
            <a:avLst/>
          </a:prstGeom>
        </p:spPr>
      </p:pic>
      <p:sp>
        <p:nvSpPr>
          <p:cNvPr id="7" name="Linie"/>
          <p:cNvSpPr/>
          <p:nvPr/>
        </p:nvSpPr>
        <p:spPr>
          <a:xfrm>
            <a:off x="2057400" y="4983480"/>
            <a:ext cx="274320" cy="91"/>
          </a:xfrm>
          <a:prstGeom prst="line">
            <a:avLst/>
          </a:prstGeom>
          <a:noFill/>
          <a:ln w="31750">
            <a:solidFill>
              <a:schemeClr val="accent2"/>
            </a:solidFill>
            <a:prstDash val="sysDot"/>
          </a:ln>
        </p:spPr>
      </p:sp>
      <p:sp>
        <p:nvSpPr>
          <p:cNvPr id="8" name="Chip"/>
          <p:cNvSpPr txBox="1"/>
          <p:nvPr/>
        </p:nvSpPr>
        <p:spPr>
          <a:xfrm>
            <a:off x="731520" y="4773168"/>
            <a:ext cx="1325880" cy="420624"/>
          </a:xfrm>
          <a:prstGeom prst="roundRect">
            <a:avLst>
              <a:gd name="adj" fmla="val 50000"/>
            </a:avLst>
          </a:prstGeom>
          <a:solidFill>
            <a:schemeClr val="accent4"/>
          </a:solidFill>
          <a:ln w="15875">
            <a:solidFill>
              <a:schemeClr val="accent2"/>
            </a:solidFill>
          </a:ln>
        </p:spPr>
        <p:txBody>
          <a:bodyPr wrap="square" lIns="0" tIns="0" rIns="0" bIns="0" rtlCol="0" anchor="ctr"/>
          <a:lstStyle/>
          <a:p>
            <a:pPr algn="ctr" indent="0" marL="0">
              <a:buNone/>
            </a:pPr>
            <a:r>
              <a:rPr lang="en-US" sz="1400" b="1" dirty="0">
                <a:solidFill>
                  <a:schemeClr val="bg1"/>
                </a:solidFill>
              </a:rPr>
              <a:t>BOSS 6</a:t>
            </a:r>
            <a:endParaRPr lang="en-US" sz="1400" dirty="0"/>
          </a:p>
        </p:txBody>
      </p:sp>
      <p:sp>
        <p:nvSpPr>
          <p:cNvPr id="9" name="Linie"/>
          <p:cNvSpPr/>
          <p:nvPr/>
        </p:nvSpPr>
        <p:spPr>
          <a:xfrm>
            <a:off x="3657600" y="4983480"/>
            <a:ext cx="274320" cy="91"/>
          </a:xfrm>
          <a:prstGeom prst="line">
            <a:avLst/>
          </a:prstGeom>
          <a:noFill/>
          <a:ln w="31750">
            <a:solidFill>
              <a:schemeClr val="accent2"/>
            </a:solidFill>
            <a:prstDash val="sysDot"/>
          </a:ln>
        </p:spPr>
      </p:sp>
      <p:sp>
        <p:nvSpPr>
          <p:cNvPr id="10" name="Chip"/>
          <p:cNvSpPr txBox="1"/>
          <p:nvPr/>
        </p:nvSpPr>
        <p:spPr>
          <a:xfrm>
            <a:off x="2331720" y="4773168"/>
            <a:ext cx="13258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400" b="1" dirty="0">
                <a:solidFill>
                  <a:schemeClr val="bg1"/>
                </a:solidFill>
              </a:rPr>
              <a:t>FEHLERJAGD</a:t>
            </a:r>
            <a:endParaRPr lang="en-US" sz="1400" dirty="0"/>
          </a:p>
        </p:txBody>
      </p:sp>
      <p:sp>
        <p:nvSpPr>
          <p:cNvPr id="11" name="Linie"/>
          <p:cNvSpPr/>
          <p:nvPr/>
        </p:nvSpPr>
        <p:spPr>
          <a:xfrm>
            <a:off x="5257800" y="4983480"/>
            <a:ext cx="274320" cy="91"/>
          </a:xfrm>
          <a:prstGeom prst="line">
            <a:avLst/>
          </a:prstGeom>
          <a:noFill/>
          <a:ln w="31750">
            <a:solidFill>
              <a:schemeClr val="accent2"/>
            </a:solidFill>
            <a:prstDash val="sysDot"/>
          </a:ln>
        </p:spPr>
      </p:sp>
      <p:sp>
        <p:nvSpPr>
          <p:cNvPr id="12" name="Chip"/>
          <p:cNvSpPr txBox="1"/>
          <p:nvPr/>
        </p:nvSpPr>
        <p:spPr>
          <a:xfrm>
            <a:off x="3931920" y="4773168"/>
            <a:ext cx="13258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400" b="1" dirty="0">
                <a:solidFill>
                  <a:schemeClr val="bg1"/>
                </a:solidFill>
              </a:rPr>
              <a:t>KLAUSUR</a:t>
            </a:r>
            <a:endParaRPr lang="en-US" sz="1400" dirty="0"/>
          </a:p>
        </p:txBody>
      </p:sp>
      <p:sp>
        <p:nvSpPr>
          <p:cNvPr id="13" name="Chip"/>
          <p:cNvSpPr txBox="1"/>
          <p:nvPr/>
        </p:nvSpPr>
        <p:spPr>
          <a:xfrm>
            <a:off x="5532120" y="4773168"/>
            <a:ext cx="1325880" cy="420624"/>
          </a:xfrm>
          <a:prstGeom prst="roundRect">
            <a:avLst>
              <a:gd name="adj" fmla="val 50000"/>
            </a:avLst>
          </a:prstGeom>
          <a:solidFill>
            <a:schemeClr val="accent2"/>
          </a:solidFill>
          <a:ln w="15875">
            <a:solidFill>
              <a:schemeClr val="accent2"/>
            </a:solidFill>
          </a:ln>
        </p:spPr>
        <p:txBody>
          <a:bodyPr wrap="square" lIns="0" tIns="0" rIns="0" bIns="0" rtlCol="0" anchor="ctr"/>
          <a:lstStyle/>
          <a:p>
            <a:pPr algn="ctr" indent="0" marL="0">
              <a:buNone/>
            </a:pPr>
            <a:r>
              <a:rPr lang="en-US" sz="1400" b="1" dirty="0">
                <a:solidFill>
                  <a:schemeClr val="bg1"/>
                </a:solidFill>
              </a:rPr>
              <a:t>FINALE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Weltkarte: Der Endgegner</a:t>
            </a:r>
            <a:endParaRPr lang="en-US" sz="3600" dirty="0"/>
          </a:p>
        </p:txBody>
      </p:sp>
      <p:sp>
        <p:nvSpPr>
          <p:cNvPr id="3" name="Weg"/>
          <p:cNvSpPr/>
          <p:nvPr/>
        </p:nvSpPr>
        <p:spPr>
          <a:xfrm>
            <a:off x="1632204" y="1627632"/>
            <a:ext cx="996696" cy="91"/>
          </a:xfrm>
          <a:prstGeom prst="line">
            <a:avLst/>
          </a:prstGeom>
          <a:noFill/>
          <a:ln w="31750">
            <a:solidFill>
              <a:schemeClr val="accent2"/>
            </a:solidFill>
            <a:prstDash val="sysDot"/>
          </a:ln>
        </p:spPr>
      </p:sp>
      <p:sp>
        <p:nvSpPr>
          <p:cNvPr id="4" name="Icon-Kreis"/>
          <p:cNvSpPr/>
          <p:nvPr/>
        </p:nvSpPr>
        <p:spPr>
          <a:xfrm>
            <a:off x="1065276" y="1353312"/>
            <a:ext cx="548640" cy="548640"/>
          </a:xfrm>
          <a:prstGeom prst="ellipse">
            <a:avLst/>
          </a:prstGeom>
          <a:solidFill>
            <a:schemeClr val="accent1"/>
          </a:solidFill>
          <a:ln w="31750">
            <a:solidFill>
              <a:schemeClr val="accent3"/>
            </a:solidFill>
            <a:prstDash val="solid"/>
          </a:ln>
        </p:spPr>
      </p:sp>
      <p:pic>
        <p:nvPicPr>
          <p:cNvPr id="5" name="Icon GiSpellBook" descr="preencoded.png">    </p:cNvPr>
          <p:cNvPicPr>
            <a:picLocks noChangeAspect="1"/>
          </p:cNvPicPr>
          <p:nvPr/>
        </p:nvPicPr>
        <p:blipFill>
          <a:blip r:embed="rId1"/>
          <a:stretch>
            <a:fillRect/>
          </a:stretch>
        </p:blipFill>
        <p:spPr>
          <a:xfrm>
            <a:off x="1185977" y="1474013"/>
            <a:ext cx="307238" cy="307238"/>
          </a:xfrm>
          <a:prstGeom prst="rect">
            <a:avLst/>
          </a:prstGeom>
        </p:spPr>
      </p:pic>
      <p:sp>
        <p:nvSpPr>
          <p:cNvPr id="6" name="Text 3"/>
          <p:cNvSpPr txBox="1"/>
          <p:nvPr/>
        </p:nvSpPr>
        <p:spPr>
          <a:xfrm>
            <a:off x="553212" y="2011680"/>
            <a:ext cx="1572768" cy="274320"/>
          </a:xfrm>
          <a:prstGeom prst="rect">
            <a:avLst/>
          </a:prstGeom>
          <a:noFill/>
          <a:ln/>
        </p:spPr>
        <p:txBody>
          <a:bodyPr wrap="square" lIns="0" tIns="0" rIns="0" bIns="0" rtlCol="0" anchor="t"/>
          <a:lstStyle/>
          <a:p>
            <a:pPr algn="ctr" indent="0" marL="0">
              <a:buNone/>
            </a:pPr>
            <a:r>
              <a:rPr lang="en-US" sz="1200" b="1" dirty="0">
                <a:solidFill>
                  <a:schemeClr val="accent6"/>
                </a:solidFill>
              </a:rPr>
              <a:t>0 · Akademie</a:t>
            </a:r>
            <a:endParaRPr lang="en-US" sz="1200" dirty="0"/>
          </a:p>
        </p:txBody>
      </p:sp>
      <p:sp>
        <p:nvSpPr>
          <p:cNvPr id="7" name="Weg"/>
          <p:cNvSpPr/>
          <p:nvPr/>
        </p:nvSpPr>
        <p:spPr>
          <a:xfrm>
            <a:off x="3214116" y="1627632"/>
            <a:ext cx="996696" cy="91"/>
          </a:xfrm>
          <a:prstGeom prst="line">
            <a:avLst/>
          </a:prstGeom>
          <a:noFill/>
          <a:ln w="31750">
            <a:solidFill>
              <a:schemeClr val="accent2"/>
            </a:solidFill>
            <a:prstDash val="sysDot"/>
          </a:ln>
        </p:spPr>
      </p:sp>
      <p:sp>
        <p:nvSpPr>
          <p:cNvPr id="8" name="Icon-Kreis"/>
          <p:cNvSpPr/>
          <p:nvPr/>
        </p:nvSpPr>
        <p:spPr>
          <a:xfrm>
            <a:off x="2647188" y="1353312"/>
            <a:ext cx="548640" cy="548640"/>
          </a:xfrm>
          <a:prstGeom prst="ellipse">
            <a:avLst/>
          </a:prstGeom>
          <a:solidFill>
            <a:schemeClr val="accent1"/>
          </a:solidFill>
          <a:ln w="31750">
            <a:solidFill>
              <a:schemeClr val="accent3"/>
            </a:solidFill>
            <a:prstDash val="solid"/>
          </a:ln>
        </p:spPr>
      </p:sp>
      <p:pic>
        <p:nvPicPr>
          <p:cNvPr id="9" name="Icon GiAnvil" descr="preencoded.png">    </p:cNvPr>
          <p:cNvPicPr>
            <a:picLocks noChangeAspect="1"/>
          </p:cNvPicPr>
          <p:nvPr/>
        </p:nvPicPr>
        <p:blipFill>
          <a:blip r:embed="rId2"/>
          <a:stretch>
            <a:fillRect/>
          </a:stretch>
        </p:blipFill>
        <p:spPr>
          <a:xfrm>
            <a:off x="2767889" y="1474013"/>
            <a:ext cx="307238" cy="307238"/>
          </a:xfrm>
          <a:prstGeom prst="rect">
            <a:avLst/>
          </a:prstGeom>
        </p:spPr>
      </p:pic>
      <p:sp>
        <p:nvSpPr>
          <p:cNvPr id="10" name="Text 6"/>
          <p:cNvSpPr txBox="1"/>
          <p:nvPr/>
        </p:nvSpPr>
        <p:spPr>
          <a:xfrm>
            <a:off x="2135124" y="2011680"/>
            <a:ext cx="1572768" cy="274320"/>
          </a:xfrm>
          <a:prstGeom prst="rect">
            <a:avLst/>
          </a:prstGeom>
          <a:noFill/>
          <a:ln/>
        </p:spPr>
        <p:txBody>
          <a:bodyPr wrap="square" lIns="0" tIns="0" rIns="0" bIns="0" rtlCol="0" anchor="t"/>
          <a:lstStyle/>
          <a:p>
            <a:pPr algn="ctr" indent="0" marL="0">
              <a:buNone/>
            </a:pPr>
            <a:r>
              <a:rPr lang="en-US" sz="1200" b="1" dirty="0">
                <a:solidFill>
                  <a:schemeClr val="accent6"/>
                </a:solidFill>
              </a:rPr>
              <a:t>1 · Heldenschmiede</a:t>
            </a:r>
            <a:endParaRPr lang="en-US" sz="1200" dirty="0"/>
          </a:p>
        </p:txBody>
      </p:sp>
      <p:sp>
        <p:nvSpPr>
          <p:cNvPr id="11" name="Weg"/>
          <p:cNvSpPr/>
          <p:nvPr/>
        </p:nvSpPr>
        <p:spPr>
          <a:xfrm>
            <a:off x="4796028" y="1627632"/>
            <a:ext cx="996696" cy="91"/>
          </a:xfrm>
          <a:prstGeom prst="line">
            <a:avLst/>
          </a:prstGeom>
          <a:noFill/>
          <a:ln w="31750">
            <a:solidFill>
              <a:schemeClr val="accent2"/>
            </a:solidFill>
            <a:prstDash val="sysDot"/>
          </a:ln>
        </p:spPr>
      </p:sp>
      <p:sp>
        <p:nvSpPr>
          <p:cNvPr id="12" name="Icon-Kreis"/>
          <p:cNvSpPr/>
          <p:nvPr/>
        </p:nvSpPr>
        <p:spPr>
          <a:xfrm>
            <a:off x="4229100" y="1353312"/>
            <a:ext cx="548640" cy="548640"/>
          </a:xfrm>
          <a:prstGeom prst="ellipse">
            <a:avLst/>
          </a:prstGeom>
          <a:solidFill>
            <a:schemeClr val="accent1"/>
          </a:solidFill>
          <a:ln w="31750">
            <a:solidFill>
              <a:schemeClr val="accent3"/>
            </a:solidFill>
            <a:prstDash val="solid"/>
          </a:ln>
        </p:spPr>
      </p:sp>
      <p:pic>
        <p:nvPicPr>
          <p:cNvPr id="13" name="Icon GiPodium" descr="preencoded.png">    </p:cNvPr>
          <p:cNvPicPr>
            <a:picLocks noChangeAspect="1"/>
          </p:cNvPicPr>
          <p:nvPr/>
        </p:nvPicPr>
        <p:blipFill>
          <a:blip r:embed="rId3"/>
          <a:stretch>
            <a:fillRect/>
          </a:stretch>
        </p:blipFill>
        <p:spPr>
          <a:xfrm>
            <a:off x="4349801" y="1474013"/>
            <a:ext cx="307238" cy="307238"/>
          </a:xfrm>
          <a:prstGeom prst="rect">
            <a:avLst/>
          </a:prstGeom>
        </p:spPr>
      </p:pic>
      <p:sp>
        <p:nvSpPr>
          <p:cNvPr id="14" name="Text 9"/>
          <p:cNvSpPr txBox="1"/>
          <p:nvPr/>
        </p:nvSpPr>
        <p:spPr>
          <a:xfrm>
            <a:off x="3717036" y="2011680"/>
            <a:ext cx="1572768" cy="274320"/>
          </a:xfrm>
          <a:prstGeom prst="rect">
            <a:avLst/>
          </a:prstGeom>
          <a:noFill/>
          <a:ln/>
        </p:spPr>
        <p:txBody>
          <a:bodyPr wrap="square" lIns="0" tIns="0" rIns="0" bIns="0" rtlCol="0" anchor="t"/>
          <a:lstStyle/>
          <a:p>
            <a:pPr algn="ctr" indent="0" marL="0">
              <a:buNone/>
            </a:pPr>
            <a:r>
              <a:rPr lang="en-US" sz="1200" b="1" dirty="0">
                <a:solidFill>
                  <a:schemeClr val="accent6"/>
                </a:solidFill>
              </a:rPr>
              <a:t>2 · Rangliste</a:t>
            </a:r>
            <a:endParaRPr lang="en-US" sz="1200" dirty="0"/>
          </a:p>
        </p:txBody>
      </p:sp>
      <p:sp>
        <p:nvSpPr>
          <p:cNvPr id="15" name="Weg"/>
          <p:cNvSpPr/>
          <p:nvPr/>
        </p:nvSpPr>
        <p:spPr>
          <a:xfrm>
            <a:off x="6377940" y="1627632"/>
            <a:ext cx="996696" cy="91"/>
          </a:xfrm>
          <a:prstGeom prst="line">
            <a:avLst/>
          </a:prstGeom>
          <a:noFill/>
          <a:ln w="31750">
            <a:solidFill>
              <a:schemeClr val="accent2"/>
            </a:solidFill>
            <a:prstDash val="sysDot"/>
          </a:ln>
        </p:spPr>
      </p:sp>
      <p:sp>
        <p:nvSpPr>
          <p:cNvPr id="16" name="Icon-Kreis"/>
          <p:cNvSpPr/>
          <p:nvPr/>
        </p:nvSpPr>
        <p:spPr>
          <a:xfrm>
            <a:off x="5811012" y="1353312"/>
            <a:ext cx="548640" cy="548640"/>
          </a:xfrm>
          <a:prstGeom prst="ellipse">
            <a:avLst/>
          </a:prstGeom>
          <a:solidFill>
            <a:schemeClr val="accent1"/>
          </a:solidFill>
          <a:ln w="31750">
            <a:solidFill>
              <a:schemeClr val="accent3"/>
            </a:solidFill>
            <a:prstDash val="solid"/>
          </a:ln>
        </p:spPr>
      </p:sp>
      <p:pic>
        <p:nvPicPr>
          <p:cNvPr id="17" name="Icon GiMaze" descr="preencoded.png">    </p:cNvPr>
          <p:cNvPicPr>
            <a:picLocks noChangeAspect="1"/>
          </p:cNvPicPr>
          <p:nvPr/>
        </p:nvPicPr>
        <p:blipFill>
          <a:blip r:embed="rId4"/>
          <a:stretch>
            <a:fillRect/>
          </a:stretch>
        </p:blipFill>
        <p:spPr>
          <a:xfrm>
            <a:off x="5931713" y="1474013"/>
            <a:ext cx="307238" cy="307238"/>
          </a:xfrm>
          <a:prstGeom prst="rect">
            <a:avLst/>
          </a:prstGeom>
        </p:spPr>
      </p:pic>
      <p:sp>
        <p:nvSpPr>
          <p:cNvPr id="18" name="Text 12"/>
          <p:cNvSpPr txBox="1"/>
          <p:nvPr/>
        </p:nvSpPr>
        <p:spPr>
          <a:xfrm>
            <a:off x="5298948" y="2011680"/>
            <a:ext cx="1572768" cy="274320"/>
          </a:xfrm>
          <a:prstGeom prst="rect">
            <a:avLst/>
          </a:prstGeom>
          <a:noFill/>
          <a:ln/>
        </p:spPr>
        <p:txBody>
          <a:bodyPr wrap="square" lIns="0" tIns="0" rIns="0" bIns="0" rtlCol="0" anchor="t"/>
          <a:lstStyle/>
          <a:p>
            <a:pPr algn="ctr" indent="0" marL="0">
              <a:buNone/>
            </a:pPr>
            <a:r>
              <a:rPr lang="en-US" sz="1200" b="1" dirty="0">
                <a:solidFill>
                  <a:schemeClr val="accent6"/>
                </a:solidFill>
              </a:rPr>
              <a:t>3 · Labyrinth</a:t>
            </a:r>
            <a:endParaRPr lang="en-US" sz="1200" dirty="0"/>
          </a:p>
        </p:txBody>
      </p:sp>
      <p:sp>
        <p:nvSpPr>
          <p:cNvPr id="19" name="Weg"/>
          <p:cNvSpPr/>
          <p:nvPr/>
        </p:nvSpPr>
        <p:spPr>
          <a:xfrm>
            <a:off x="7959852" y="1627632"/>
            <a:ext cx="996696" cy="91"/>
          </a:xfrm>
          <a:prstGeom prst="line">
            <a:avLst/>
          </a:prstGeom>
          <a:noFill/>
          <a:ln w="31750">
            <a:solidFill>
              <a:schemeClr val="accent2"/>
            </a:solidFill>
            <a:prstDash val="sysDot"/>
          </a:ln>
        </p:spPr>
      </p:sp>
      <p:sp>
        <p:nvSpPr>
          <p:cNvPr id="20" name="Icon-Kreis"/>
          <p:cNvSpPr/>
          <p:nvPr/>
        </p:nvSpPr>
        <p:spPr>
          <a:xfrm>
            <a:off x="7392924" y="1353312"/>
            <a:ext cx="548640" cy="548640"/>
          </a:xfrm>
          <a:prstGeom prst="ellipse">
            <a:avLst/>
          </a:prstGeom>
          <a:solidFill>
            <a:schemeClr val="accent1"/>
          </a:solidFill>
          <a:ln w="31750">
            <a:solidFill>
              <a:schemeClr val="accent3"/>
            </a:solidFill>
            <a:prstDash val="solid"/>
          </a:ln>
        </p:spPr>
      </p:sp>
      <p:pic>
        <p:nvPicPr>
          <p:cNvPr id="21" name="Icon GiAnchor" descr="preencoded.png">    </p:cNvPr>
          <p:cNvPicPr>
            <a:picLocks noChangeAspect="1"/>
          </p:cNvPicPr>
          <p:nvPr/>
        </p:nvPicPr>
        <p:blipFill>
          <a:blip r:embed="rId5"/>
          <a:stretch>
            <a:fillRect/>
          </a:stretch>
        </p:blipFill>
        <p:spPr>
          <a:xfrm>
            <a:off x="7513625" y="1474013"/>
            <a:ext cx="307238" cy="307238"/>
          </a:xfrm>
          <a:prstGeom prst="rect">
            <a:avLst/>
          </a:prstGeom>
        </p:spPr>
      </p:pic>
      <p:sp>
        <p:nvSpPr>
          <p:cNvPr id="22" name="Text 15"/>
          <p:cNvSpPr txBox="1"/>
          <p:nvPr/>
        </p:nvSpPr>
        <p:spPr>
          <a:xfrm>
            <a:off x="6880860" y="2011680"/>
            <a:ext cx="1572768" cy="274320"/>
          </a:xfrm>
          <a:prstGeom prst="rect">
            <a:avLst/>
          </a:prstGeom>
          <a:noFill/>
          <a:ln/>
        </p:spPr>
        <p:txBody>
          <a:bodyPr wrap="square" lIns="0" tIns="0" rIns="0" bIns="0" rtlCol="0" anchor="t"/>
          <a:lstStyle/>
          <a:p>
            <a:pPr algn="ctr" indent="0" marL="0">
              <a:buNone/>
            </a:pPr>
            <a:r>
              <a:rPr lang="en-US" sz="1200" b="1" dirty="0">
                <a:solidFill>
                  <a:schemeClr val="accent6"/>
                </a:solidFill>
              </a:rPr>
              <a:t>4 · Hafen</a:t>
            </a:r>
            <a:endParaRPr lang="en-US" sz="1200" dirty="0"/>
          </a:p>
        </p:txBody>
      </p:sp>
      <p:sp>
        <p:nvSpPr>
          <p:cNvPr id="23" name="Weg"/>
          <p:cNvSpPr/>
          <p:nvPr/>
        </p:nvSpPr>
        <p:spPr>
          <a:xfrm>
            <a:off x="9541764" y="1627632"/>
            <a:ext cx="941832" cy="91"/>
          </a:xfrm>
          <a:prstGeom prst="line">
            <a:avLst/>
          </a:prstGeom>
          <a:noFill/>
          <a:ln w="31750">
            <a:solidFill>
              <a:schemeClr val="accent2"/>
            </a:solidFill>
            <a:prstDash val="sysDot"/>
          </a:ln>
        </p:spPr>
      </p:sp>
      <p:sp>
        <p:nvSpPr>
          <p:cNvPr id="24" name="Icon-Kreis"/>
          <p:cNvSpPr/>
          <p:nvPr/>
        </p:nvSpPr>
        <p:spPr>
          <a:xfrm>
            <a:off x="8974836" y="1353312"/>
            <a:ext cx="548640" cy="548640"/>
          </a:xfrm>
          <a:prstGeom prst="ellipse">
            <a:avLst/>
          </a:prstGeom>
          <a:solidFill>
            <a:schemeClr val="accent1"/>
          </a:solidFill>
          <a:ln w="31750">
            <a:solidFill>
              <a:schemeClr val="accent3"/>
            </a:solidFill>
            <a:prstDash val="solid"/>
          </a:ln>
        </p:spPr>
      </p:sp>
      <p:pic>
        <p:nvPicPr>
          <p:cNvPr id="25" name="Icon GiPineTree" descr="preencoded.png">    </p:cNvPr>
          <p:cNvPicPr>
            <a:picLocks noChangeAspect="1"/>
          </p:cNvPicPr>
          <p:nvPr/>
        </p:nvPicPr>
        <p:blipFill>
          <a:blip r:embed="rId6"/>
          <a:stretch>
            <a:fillRect/>
          </a:stretch>
        </p:blipFill>
        <p:spPr>
          <a:xfrm>
            <a:off x="9095537" y="1474013"/>
            <a:ext cx="307238" cy="307238"/>
          </a:xfrm>
          <a:prstGeom prst="rect">
            <a:avLst/>
          </a:prstGeom>
        </p:spPr>
      </p:pic>
      <p:sp>
        <p:nvSpPr>
          <p:cNvPr id="26" name="Text 18"/>
          <p:cNvSpPr txBox="1"/>
          <p:nvPr/>
        </p:nvSpPr>
        <p:spPr>
          <a:xfrm>
            <a:off x="8462772" y="2011680"/>
            <a:ext cx="1572768" cy="274320"/>
          </a:xfrm>
          <a:prstGeom prst="rect">
            <a:avLst/>
          </a:prstGeom>
          <a:noFill/>
          <a:ln/>
        </p:spPr>
        <p:txBody>
          <a:bodyPr wrap="square" lIns="0" tIns="0" rIns="0" bIns="0" rtlCol="0" anchor="t"/>
          <a:lstStyle/>
          <a:p>
            <a:pPr algn="ctr" indent="0" marL="0">
              <a:buNone/>
            </a:pPr>
            <a:r>
              <a:rPr lang="en-US" sz="1200" b="1" dirty="0">
                <a:solidFill>
                  <a:schemeClr val="accent6"/>
                </a:solidFill>
              </a:rPr>
              <a:t>5 · Wald</a:t>
            </a:r>
            <a:endParaRPr lang="en-US" sz="1200" dirty="0"/>
          </a:p>
        </p:txBody>
      </p:sp>
      <p:sp>
        <p:nvSpPr>
          <p:cNvPr id="27" name="Icon-Kreis"/>
          <p:cNvSpPr/>
          <p:nvPr/>
        </p:nvSpPr>
        <p:spPr>
          <a:xfrm>
            <a:off x="10501884" y="1298448"/>
            <a:ext cx="658368" cy="658368"/>
          </a:xfrm>
          <a:prstGeom prst="ellipse">
            <a:avLst/>
          </a:prstGeom>
          <a:solidFill>
            <a:schemeClr val="accent4"/>
          </a:solidFill>
          <a:ln w="31750">
            <a:solidFill>
              <a:schemeClr val="accent2"/>
            </a:solidFill>
            <a:prstDash val="solid"/>
          </a:ln>
        </p:spPr>
      </p:sp>
      <p:pic>
        <p:nvPicPr>
          <p:cNvPr id="28" name="Icon GiDragonHead" descr="preencoded.png">    </p:cNvPr>
          <p:cNvPicPr>
            <a:picLocks noChangeAspect="1"/>
          </p:cNvPicPr>
          <p:nvPr/>
        </p:nvPicPr>
        <p:blipFill>
          <a:blip r:embed="rId7"/>
          <a:stretch>
            <a:fillRect/>
          </a:stretch>
        </p:blipFill>
        <p:spPr>
          <a:xfrm>
            <a:off x="10646725" y="1443289"/>
            <a:ext cx="368686" cy="368686"/>
          </a:xfrm>
          <a:prstGeom prst="rect">
            <a:avLst/>
          </a:prstGeom>
        </p:spPr>
      </p:pic>
      <p:sp>
        <p:nvSpPr>
          <p:cNvPr id="29" name="Text 20"/>
          <p:cNvSpPr txBox="1"/>
          <p:nvPr/>
        </p:nvSpPr>
        <p:spPr>
          <a:xfrm>
            <a:off x="10044684" y="2011680"/>
            <a:ext cx="1572768" cy="274320"/>
          </a:xfrm>
          <a:prstGeom prst="rect">
            <a:avLst/>
          </a:prstGeom>
          <a:noFill/>
          <a:ln/>
        </p:spPr>
        <p:txBody>
          <a:bodyPr wrap="square" lIns="0" tIns="0" rIns="0" bIns="0" rtlCol="0" anchor="t"/>
          <a:lstStyle/>
          <a:p>
            <a:pPr algn="ctr" indent="0" marL="0">
              <a:buNone/>
            </a:pPr>
            <a:r>
              <a:rPr lang="en-US" sz="1200" b="1" dirty="0">
                <a:solidFill>
                  <a:schemeClr val="accent4"/>
                </a:solidFill>
              </a:rPr>
              <a:t>6 · Endgegner</a:t>
            </a:r>
            <a:endParaRPr lang="en-US" sz="1200" dirty="0"/>
          </a:p>
        </p:txBody>
      </p:sp>
      <p:sp>
        <p:nvSpPr>
          <p:cNvPr id="30" name="Pfeil Station"/>
          <p:cNvSpPr/>
          <p:nvPr/>
        </p:nvSpPr>
        <p:spPr>
          <a:xfrm>
            <a:off x="3209544" y="3246120"/>
            <a:ext cx="146304" cy="91"/>
          </a:xfrm>
          <a:prstGeom prst="line">
            <a:avLst/>
          </a:prstGeom>
          <a:noFill/>
          <a:ln w="31750">
            <a:solidFill>
              <a:schemeClr val="accent2"/>
            </a:solidFill>
            <a:prstDash val="solid"/>
            <a:tailEnd type="triangle"/>
          </a:ln>
        </p:spPr>
      </p:sp>
      <p:sp>
        <p:nvSpPr>
          <p:cNvPr id="31" name="Station Boss 6"/>
          <p:cNvSpPr/>
          <p:nvPr/>
        </p:nvSpPr>
        <p:spPr>
          <a:xfrm>
            <a:off x="548640" y="2423160"/>
            <a:ext cx="2651760" cy="2011680"/>
          </a:xfrm>
          <a:prstGeom prst="roundRect">
            <a:avLst>
              <a:gd name="adj" fmla="val 5455"/>
            </a:avLst>
          </a:prstGeom>
          <a:solidFill>
            <a:schemeClr val="bg1"/>
          </a:solidFill>
          <a:ln w="31750">
            <a:solidFill>
              <a:schemeClr val="accent4"/>
            </a:solidFill>
            <a:prstDash val="solid"/>
          </a:ln>
          <a:effectLst>
            <a:outerShdw sx="100000" sy="100000" kx="0" ky="0" algn="bl" rotWithShape="0" blurRad="76200" dist="25400" dir="5400000">
              <a:srgbClr val="000000">
                <a:alpha val="18000"/>
              </a:srgbClr>
            </a:outerShdw>
          </a:effectLst>
        </p:spPr>
      </p:sp>
      <p:sp>
        <p:nvSpPr>
          <p:cNvPr id="32" name="Icon-Kreis"/>
          <p:cNvSpPr/>
          <p:nvPr/>
        </p:nvSpPr>
        <p:spPr>
          <a:xfrm>
            <a:off x="713232" y="2578608"/>
            <a:ext cx="640080" cy="640080"/>
          </a:xfrm>
          <a:prstGeom prst="ellipse">
            <a:avLst/>
          </a:prstGeom>
          <a:solidFill>
            <a:schemeClr val="accent4"/>
          </a:solidFill>
          <a:ln/>
        </p:spPr>
      </p:sp>
      <p:pic>
        <p:nvPicPr>
          <p:cNvPr id="33" name="Icon GiCrossedSwords" descr="preencoded.png">    </p:cNvPr>
          <p:cNvPicPr>
            <a:picLocks noChangeAspect="1"/>
          </p:cNvPicPr>
          <p:nvPr/>
        </p:nvPicPr>
        <p:blipFill>
          <a:blip r:embed="rId8"/>
          <a:stretch>
            <a:fillRect/>
          </a:stretch>
        </p:blipFill>
        <p:spPr>
          <a:xfrm>
            <a:off x="854050" y="2719426"/>
            <a:ext cx="358445" cy="358445"/>
          </a:xfrm>
          <a:prstGeom prst="rect">
            <a:avLst/>
          </a:prstGeom>
        </p:spPr>
      </p:pic>
      <p:sp>
        <p:nvSpPr>
          <p:cNvPr id="34" name="Chip"/>
          <p:cNvSpPr txBox="1"/>
          <p:nvPr/>
        </p:nvSpPr>
        <p:spPr>
          <a:xfrm>
            <a:off x="1508760" y="2615184"/>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DS 37</a:t>
            </a:r>
            <a:endParaRPr lang="en-US" sz="1300" dirty="0"/>
          </a:p>
        </p:txBody>
      </p:sp>
      <p:sp>
        <p:nvSpPr>
          <p:cNvPr id="35" name="Text 25"/>
          <p:cNvSpPr txBox="1"/>
          <p:nvPr/>
        </p:nvSpPr>
        <p:spPr>
          <a:xfrm>
            <a:off x="1508760" y="2944368"/>
            <a:ext cx="1600200" cy="274320"/>
          </a:xfrm>
          <a:prstGeom prst="rect">
            <a:avLst/>
          </a:prstGeom>
          <a:noFill/>
          <a:ln/>
        </p:spPr>
        <p:txBody>
          <a:bodyPr wrap="square" lIns="0" tIns="0" rIns="0" bIns="0" rtlCol="0" anchor="t"/>
          <a:lstStyle/>
          <a:p>
            <a:pPr indent="0" marL="0">
              <a:buNone/>
            </a:pPr>
            <a:r>
              <a:rPr lang="en-US" sz="1300" b="1" dirty="0">
                <a:solidFill>
                  <a:schemeClr val="accent6"/>
                </a:solidFill>
              </a:rPr>
              <a:t>Boss 6</a:t>
            </a:r>
            <a:endParaRPr lang="en-US" sz="1300" dirty="0"/>
          </a:p>
        </p:txBody>
      </p:sp>
      <p:sp>
        <p:nvSpPr>
          <p:cNvPr id="36" name="Text 26"/>
          <p:cNvSpPr txBox="1"/>
          <p:nvPr/>
        </p:nvSpPr>
        <p:spPr>
          <a:xfrm>
            <a:off x="713232" y="3291840"/>
            <a:ext cx="2377440" cy="329184"/>
          </a:xfrm>
          <a:prstGeom prst="rect">
            <a:avLst/>
          </a:prstGeom>
          <a:noFill/>
          <a:ln/>
        </p:spPr>
        <p:txBody>
          <a:bodyPr wrap="square" lIns="0" tIns="0" rIns="0" bIns="0" rtlCol="0" anchor="t"/>
          <a:lstStyle/>
          <a:p>
            <a:pPr indent="0" marL="0">
              <a:buNone/>
            </a:pPr>
            <a:r>
              <a:rPr lang="en-US" sz="1700" b="1" dirty="0">
                <a:solidFill>
                  <a:schemeClr val="accent1"/>
                </a:solidFill>
              </a:rPr>
              <a:t>Die Generalprobe</a:t>
            </a:r>
            <a:endParaRPr lang="en-US" sz="1700" dirty="0"/>
          </a:p>
        </p:txBody>
      </p:sp>
      <p:sp>
        <p:nvSpPr>
          <p:cNvPr id="37" name="Text 27"/>
          <p:cNvSpPr txBox="1"/>
          <p:nvPr/>
        </p:nvSpPr>
        <p:spPr>
          <a:xfrm>
            <a:off x="713232" y="3639312"/>
            <a:ext cx="2377440" cy="713232"/>
          </a:xfrm>
          <a:prstGeom prst="rect">
            <a:avLst/>
          </a:prstGeom>
          <a:noFill/>
          <a:ln/>
        </p:spPr>
        <p:txBody>
          <a:bodyPr wrap="square" lIns="0" tIns="0" rIns="0" bIns="0" rtlCol="0" anchor="t"/>
          <a:lstStyle/>
          <a:p>
            <a:pPr indent="0" marL="0">
              <a:buNone/>
            </a:pPr>
            <a:r>
              <a:rPr lang="en-US" sz="1300" dirty="0">
                <a:solidFill>
                  <a:schemeClr val="tx1"/>
                </a:solidFill>
              </a:rPr>
              <a:t>Probeklausur „Paketstation“: 35 BE in 90 min, Abi-Bedingungen</a:t>
            </a:r>
            <a:endParaRPr lang="en-US" sz="1300" dirty="0"/>
          </a:p>
        </p:txBody>
      </p:sp>
      <p:sp>
        <p:nvSpPr>
          <p:cNvPr id="38" name="Pfeil Station"/>
          <p:cNvSpPr/>
          <p:nvPr/>
        </p:nvSpPr>
        <p:spPr>
          <a:xfrm>
            <a:off x="6025896" y="3246120"/>
            <a:ext cx="146304" cy="91"/>
          </a:xfrm>
          <a:prstGeom prst="line">
            <a:avLst/>
          </a:prstGeom>
          <a:noFill/>
          <a:ln w="31750">
            <a:solidFill>
              <a:schemeClr val="accent2"/>
            </a:solidFill>
            <a:prstDash val="solid"/>
            <a:tailEnd type="triangle"/>
          </a:ln>
        </p:spPr>
      </p:sp>
      <p:sp>
        <p:nvSpPr>
          <p:cNvPr id="39" name="Station Fehlerjagd"/>
          <p:cNvSpPr/>
          <p:nvPr/>
        </p:nvSpPr>
        <p:spPr>
          <a:xfrm>
            <a:off x="3364992" y="2423160"/>
            <a:ext cx="2651760" cy="2011680"/>
          </a:xfrm>
          <a:prstGeom prst="roundRect">
            <a:avLst>
              <a:gd name="adj" fmla="val 5455"/>
            </a:avLst>
          </a:prstGeom>
          <a:solidFill>
            <a:schemeClr val="bg1"/>
          </a:solidFill>
          <a:ln w="31750">
            <a:solidFill>
              <a:schemeClr val="accent1"/>
            </a:solidFill>
            <a:prstDash val="solid"/>
          </a:ln>
          <a:effectLst>
            <a:outerShdw sx="100000" sy="100000" kx="0" ky="0" algn="bl" rotWithShape="0" blurRad="76200" dist="25400" dir="5400000">
              <a:srgbClr val="000000">
                <a:alpha val="18000"/>
              </a:srgbClr>
            </a:outerShdw>
          </a:effectLst>
        </p:spPr>
      </p:sp>
      <p:sp>
        <p:nvSpPr>
          <p:cNvPr id="40" name="Icon-Kreis"/>
          <p:cNvSpPr/>
          <p:nvPr/>
        </p:nvSpPr>
        <p:spPr>
          <a:xfrm>
            <a:off x="3529584" y="2578608"/>
            <a:ext cx="640080" cy="640080"/>
          </a:xfrm>
          <a:prstGeom prst="ellipse">
            <a:avLst/>
          </a:prstGeom>
          <a:solidFill>
            <a:schemeClr val="accent1"/>
          </a:solidFill>
          <a:ln/>
        </p:spPr>
      </p:sp>
      <p:pic>
        <p:nvPicPr>
          <p:cNvPr id="41" name="Icon GiBugNet" descr="preencoded.png">    </p:cNvPr>
          <p:cNvPicPr>
            <a:picLocks noChangeAspect="1"/>
          </p:cNvPicPr>
          <p:nvPr/>
        </p:nvPicPr>
        <p:blipFill>
          <a:blip r:embed="rId9"/>
          <a:stretch>
            <a:fillRect/>
          </a:stretch>
        </p:blipFill>
        <p:spPr>
          <a:xfrm>
            <a:off x="3670402" y="2719426"/>
            <a:ext cx="358445" cy="358445"/>
          </a:xfrm>
          <a:prstGeom prst="rect">
            <a:avLst/>
          </a:prstGeom>
        </p:spPr>
      </p:pic>
      <p:sp>
        <p:nvSpPr>
          <p:cNvPr id="42" name="Chip"/>
          <p:cNvSpPr txBox="1"/>
          <p:nvPr/>
        </p:nvSpPr>
        <p:spPr>
          <a:xfrm>
            <a:off x="4325112" y="2615184"/>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DS 38</a:t>
            </a:r>
            <a:endParaRPr lang="en-US" sz="1300" dirty="0"/>
          </a:p>
        </p:txBody>
      </p:sp>
      <p:sp>
        <p:nvSpPr>
          <p:cNvPr id="43" name="Text 32"/>
          <p:cNvSpPr txBox="1"/>
          <p:nvPr/>
        </p:nvSpPr>
        <p:spPr>
          <a:xfrm>
            <a:off x="4325112" y="2944368"/>
            <a:ext cx="1600200" cy="274320"/>
          </a:xfrm>
          <a:prstGeom prst="rect">
            <a:avLst/>
          </a:prstGeom>
          <a:noFill/>
          <a:ln/>
        </p:spPr>
        <p:txBody>
          <a:bodyPr wrap="square" lIns="0" tIns="0" rIns="0" bIns="0" rtlCol="0" anchor="t"/>
          <a:lstStyle/>
          <a:p>
            <a:pPr indent="0" marL="0">
              <a:buNone/>
            </a:pPr>
            <a:r>
              <a:rPr lang="en-US" sz="1300" b="1" dirty="0">
                <a:solidFill>
                  <a:schemeClr val="accent6"/>
                </a:solidFill>
              </a:rPr>
              <a:t>Fehlerjagd</a:t>
            </a:r>
            <a:endParaRPr lang="en-US" sz="1300" dirty="0"/>
          </a:p>
        </p:txBody>
      </p:sp>
      <p:sp>
        <p:nvSpPr>
          <p:cNvPr id="44" name="Text 33"/>
          <p:cNvSpPr txBox="1"/>
          <p:nvPr/>
        </p:nvSpPr>
        <p:spPr>
          <a:xfrm>
            <a:off x="3529584" y="3291840"/>
            <a:ext cx="2377440" cy="329184"/>
          </a:xfrm>
          <a:prstGeom prst="rect">
            <a:avLst/>
          </a:prstGeom>
          <a:noFill/>
          <a:ln/>
        </p:spPr>
        <p:txBody>
          <a:bodyPr wrap="square" lIns="0" tIns="0" rIns="0" bIns="0" rtlCol="0" anchor="t"/>
          <a:lstStyle/>
          <a:p>
            <a:pPr indent="0" marL="0">
              <a:buNone/>
            </a:pPr>
            <a:r>
              <a:rPr lang="en-US" sz="1700" b="1" dirty="0">
                <a:solidFill>
                  <a:schemeClr val="accent1"/>
                </a:solidFill>
              </a:rPr>
              <a:t>Korrektur &amp; Top 10</a:t>
            </a:r>
            <a:endParaRPr lang="en-US" sz="1700" dirty="0"/>
          </a:p>
        </p:txBody>
      </p:sp>
      <p:sp>
        <p:nvSpPr>
          <p:cNvPr id="45" name="Text 34"/>
          <p:cNvSpPr txBox="1"/>
          <p:nvPr/>
        </p:nvSpPr>
        <p:spPr>
          <a:xfrm>
            <a:off x="3529584" y="3639312"/>
            <a:ext cx="2377440" cy="713232"/>
          </a:xfrm>
          <a:prstGeom prst="rect">
            <a:avLst/>
          </a:prstGeom>
          <a:noFill/>
          <a:ln/>
        </p:spPr>
        <p:txBody>
          <a:bodyPr wrap="square" lIns="0" tIns="0" rIns="0" bIns="0" rtlCol="0" anchor="t"/>
          <a:lstStyle/>
          <a:p>
            <a:pPr indent="0" marL="0">
              <a:buNone/>
            </a:pPr>
            <a:r>
              <a:rPr lang="en-US" sz="1300" dirty="0">
                <a:solidFill>
                  <a:schemeClr val="tx1"/>
                </a:solidFill>
              </a:rPr>
              <a:t>Kernpunkte, Peer-Check, Team-Statistik, P1–P10 trainieren</a:t>
            </a:r>
            <a:endParaRPr lang="en-US" sz="1300" dirty="0"/>
          </a:p>
        </p:txBody>
      </p:sp>
      <p:sp>
        <p:nvSpPr>
          <p:cNvPr id="46" name="Pfeil Station"/>
          <p:cNvSpPr/>
          <p:nvPr/>
        </p:nvSpPr>
        <p:spPr>
          <a:xfrm>
            <a:off x="8842248" y="3246120"/>
            <a:ext cx="146304" cy="91"/>
          </a:xfrm>
          <a:prstGeom prst="line">
            <a:avLst/>
          </a:prstGeom>
          <a:noFill/>
          <a:ln w="31750">
            <a:solidFill>
              <a:schemeClr val="accent2"/>
            </a:solidFill>
            <a:prstDash val="solid"/>
            <a:tailEnd type="triangle"/>
          </a:ln>
        </p:spPr>
      </p:sp>
      <p:sp>
        <p:nvSpPr>
          <p:cNvPr id="47" name="Station Klausur"/>
          <p:cNvSpPr/>
          <p:nvPr/>
        </p:nvSpPr>
        <p:spPr>
          <a:xfrm>
            <a:off x="6181344" y="2423160"/>
            <a:ext cx="2651760" cy="2011680"/>
          </a:xfrm>
          <a:prstGeom prst="roundRect">
            <a:avLst>
              <a:gd name="adj" fmla="val 5455"/>
            </a:avLst>
          </a:prstGeom>
          <a:solidFill>
            <a:schemeClr val="bg1"/>
          </a:solidFill>
          <a:ln w="31750">
            <a:solidFill>
              <a:schemeClr val="accent1"/>
            </a:solidFill>
            <a:prstDash val="solid"/>
          </a:ln>
          <a:effectLst>
            <a:outerShdw sx="100000" sy="100000" kx="0" ky="0" algn="bl" rotWithShape="0" blurRad="76200" dist="25400" dir="5400000">
              <a:srgbClr val="000000">
                <a:alpha val="18000"/>
              </a:srgbClr>
            </a:outerShdw>
          </a:effectLst>
        </p:spPr>
      </p:sp>
      <p:sp>
        <p:nvSpPr>
          <p:cNvPr id="48" name="Icon-Kreis"/>
          <p:cNvSpPr/>
          <p:nvPr/>
        </p:nvSpPr>
        <p:spPr>
          <a:xfrm>
            <a:off x="6345936" y="2578608"/>
            <a:ext cx="640080" cy="640080"/>
          </a:xfrm>
          <a:prstGeom prst="ellipse">
            <a:avLst/>
          </a:prstGeom>
          <a:solidFill>
            <a:schemeClr val="accent1"/>
          </a:solidFill>
          <a:ln/>
        </p:spPr>
      </p:sp>
      <p:pic>
        <p:nvPicPr>
          <p:cNvPr id="49" name="Icon GiQuillInk" descr="preencoded.png">    </p:cNvPr>
          <p:cNvPicPr>
            <a:picLocks noChangeAspect="1"/>
          </p:cNvPicPr>
          <p:nvPr/>
        </p:nvPicPr>
        <p:blipFill>
          <a:blip r:embed="rId10"/>
          <a:stretch>
            <a:fillRect/>
          </a:stretch>
        </p:blipFill>
        <p:spPr>
          <a:xfrm>
            <a:off x="6486754" y="2719426"/>
            <a:ext cx="358445" cy="358445"/>
          </a:xfrm>
          <a:prstGeom prst="rect">
            <a:avLst/>
          </a:prstGeom>
        </p:spPr>
      </p:pic>
      <p:sp>
        <p:nvSpPr>
          <p:cNvPr id="50" name="Chip"/>
          <p:cNvSpPr txBox="1"/>
          <p:nvPr/>
        </p:nvSpPr>
        <p:spPr>
          <a:xfrm>
            <a:off x="7141464" y="2615184"/>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DS 39–40</a:t>
            </a:r>
            <a:endParaRPr lang="en-US" sz="1300" dirty="0"/>
          </a:p>
        </p:txBody>
      </p:sp>
      <p:sp>
        <p:nvSpPr>
          <p:cNvPr id="51" name="Text 39"/>
          <p:cNvSpPr txBox="1"/>
          <p:nvPr/>
        </p:nvSpPr>
        <p:spPr>
          <a:xfrm>
            <a:off x="7141464" y="2944368"/>
            <a:ext cx="1600200" cy="274320"/>
          </a:xfrm>
          <a:prstGeom prst="rect">
            <a:avLst/>
          </a:prstGeom>
          <a:noFill/>
          <a:ln/>
        </p:spPr>
        <p:txBody>
          <a:bodyPr wrap="square" lIns="0" tIns="0" rIns="0" bIns="0" rtlCol="0" anchor="t"/>
          <a:lstStyle/>
          <a:p>
            <a:pPr indent="0" marL="0">
              <a:buNone/>
            </a:pPr>
            <a:r>
              <a:rPr lang="en-US" sz="1300" b="1" dirty="0">
                <a:solidFill>
                  <a:schemeClr val="accent6"/>
                </a:solidFill>
              </a:rPr>
              <a:t>Klausur</a:t>
            </a:r>
            <a:endParaRPr lang="en-US" sz="1300" dirty="0"/>
          </a:p>
        </p:txBody>
      </p:sp>
      <p:sp>
        <p:nvSpPr>
          <p:cNvPr id="52" name="Text 40"/>
          <p:cNvSpPr txBox="1"/>
          <p:nvPr/>
        </p:nvSpPr>
        <p:spPr>
          <a:xfrm>
            <a:off x="6345936" y="3291840"/>
            <a:ext cx="2377440" cy="329184"/>
          </a:xfrm>
          <a:prstGeom prst="rect">
            <a:avLst/>
          </a:prstGeom>
          <a:noFill/>
          <a:ln/>
        </p:spPr>
        <p:txBody>
          <a:bodyPr wrap="square" lIns="0" tIns="0" rIns="0" bIns="0" rtlCol="0" anchor="t"/>
          <a:lstStyle/>
          <a:p>
            <a:pPr indent="0" marL="0">
              <a:buNone/>
            </a:pPr>
            <a:r>
              <a:rPr lang="en-US" sz="1700" b="1" dirty="0">
                <a:solidFill>
                  <a:schemeClr val="accent1"/>
                </a:solidFill>
              </a:rPr>
              <a:t>„Ladepark“</a:t>
            </a:r>
            <a:endParaRPr lang="en-US" sz="1700" dirty="0"/>
          </a:p>
        </p:txBody>
      </p:sp>
      <p:sp>
        <p:nvSpPr>
          <p:cNvPr id="53" name="Text 41"/>
          <p:cNvSpPr txBox="1"/>
          <p:nvPr/>
        </p:nvSpPr>
        <p:spPr>
          <a:xfrm>
            <a:off x="6345936" y="3639312"/>
            <a:ext cx="2377440" cy="713232"/>
          </a:xfrm>
          <a:prstGeom prst="rect">
            <a:avLst/>
          </a:prstGeom>
          <a:noFill/>
          <a:ln/>
        </p:spPr>
        <p:txBody>
          <a:bodyPr wrap="square" lIns="0" tIns="0" rIns="0" bIns="0" rtlCol="0" anchor="t"/>
          <a:lstStyle/>
          <a:p>
            <a:pPr indent="0" marL="0">
              <a:buNone/>
            </a:pPr>
            <a:r>
              <a:rPr lang="en-US" sz="1300" dirty="0">
                <a:solidFill>
                  <a:schemeClr val="tx1"/>
                </a:solidFill>
              </a:rPr>
              <a:t>Abitur-Format Block 1: 60 BE in 180 min – benotet</a:t>
            </a:r>
            <a:endParaRPr lang="en-US" sz="1300" dirty="0"/>
          </a:p>
        </p:txBody>
      </p:sp>
      <p:sp>
        <p:nvSpPr>
          <p:cNvPr id="54" name="Station Abschluss"/>
          <p:cNvSpPr/>
          <p:nvPr/>
        </p:nvSpPr>
        <p:spPr>
          <a:xfrm>
            <a:off x="8997696" y="2423160"/>
            <a:ext cx="2651760" cy="2011680"/>
          </a:xfrm>
          <a:prstGeom prst="roundRect">
            <a:avLst>
              <a:gd name="adj" fmla="val 5455"/>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55" name="Icon-Kreis"/>
          <p:cNvSpPr/>
          <p:nvPr/>
        </p:nvSpPr>
        <p:spPr>
          <a:xfrm>
            <a:off x="9162288" y="2578608"/>
            <a:ext cx="640080" cy="640080"/>
          </a:xfrm>
          <a:prstGeom prst="ellipse">
            <a:avLst/>
          </a:prstGeom>
          <a:solidFill>
            <a:schemeClr val="accent2"/>
          </a:solidFill>
          <a:ln/>
        </p:spPr>
      </p:sp>
      <p:pic>
        <p:nvPicPr>
          <p:cNvPr id="56" name="Icon GiLaurelsTrophy" descr="preencoded.png">    </p:cNvPr>
          <p:cNvPicPr>
            <a:picLocks noChangeAspect="1"/>
          </p:cNvPicPr>
          <p:nvPr/>
        </p:nvPicPr>
        <p:blipFill>
          <a:blip r:embed="rId11"/>
          <a:stretch>
            <a:fillRect/>
          </a:stretch>
        </p:blipFill>
        <p:spPr>
          <a:xfrm>
            <a:off x="9303106" y="2719426"/>
            <a:ext cx="358445" cy="358445"/>
          </a:xfrm>
          <a:prstGeom prst="rect">
            <a:avLst/>
          </a:prstGeom>
        </p:spPr>
      </p:pic>
      <p:sp>
        <p:nvSpPr>
          <p:cNvPr id="57" name="Chip"/>
          <p:cNvSpPr txBox="1"/>
          <p:nvPr/>
        </p:nvSpPr>
        <p:spPr>
          <a:xfrm>
            <a:off x="9957816" y="2615184"/>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Finale</a:t>
            </a:r>
            <a:endParaRPr lang="en-US" sz="1300" dirty="0"/>
          </a:p>
        </p:txBody>
      </p:sp>
      <p:sp>
        <p:nvSpPr>
          <p:cNvPr id="58" name="Text 45"/>
          <p:cNvSpPr txBox="1"/>
          <p:nvPr/>
        </p:nvSpPr>
        <p:spPr>
          <a:xfrm>
            <a:off x="9957816" y="2944368"/>
            <a:ext cx="1600200" cy="274320"/>
          </a:xfrm>
          <a:prstGeom prst="rect">
            <a:avLst/>
          </a:prstGeom>
          <a:noFill/>
          <a:ln/>
        </p:spPr>
        <p:txBody>
          <a:bodyPr wrap="square" lIns="0" tIns="0" rIns="0" bIns="0" rtlCol="0" anchor="t"/>
          <a:lstStyle/>
          <a:p>
            <a:pPr indent="0" marL="0">
              <a:buNone/>
            </a:pPr>
            <a:r>
              <a:rPr lang="en-US" sz="1300" b="1" dirty="0">
                <a:solidFill>
                  <a:schemeClr val="accent6"/>
                </a:solidFill>
              </a:rPr>
              <a:t>Abschluss</a:t>
            </a:r>
            <a:endParaRPr lang="en-US" sz="1300" dirty="0"/>
          </a:p>
        </p:txBody>
      </p:sp>
      <p:sp>
        <p:nvSpPr>
          <p:cNvPr id="59" name="Text 46"/>
          <p:cNvSpPr txBox="1"/>
          <p:nvPr/>
        </p:nvSpPr>
        <p:spPr>
          <a:xfrm>
            <a:off x="9162288" y="3291840"/>
            <a:ext cx="2377440" cy="329184"/>
          </a:xfrm>
          <a:prstGeom prst="rect">
            <a:avLst/>
          </a:prstGeom>
          <a:noFill/>
          <a:ln/>
        </p:spPr>
        <p:txBody>
          <a:bodyPr wrap="square" lIns="0" tIns="0" rIns="0" bIns="0" rtlCol="0" anchor="t"/>
          <a:lstStyle/>
          <a:p>
            <a:pPr indent="0" marL="0">
              <a:buNone/>
            </a:pPr>
            <a:r>
              <a:rPr lang="en-US" sz="1700" b="1" dirty="0">
                <a:solidFill>
                  <a:schemeClr val="accent1"/>
                </a:solidFill>
              </a:rPr>
              <a:t>Scoreboard &amp; Urkunden</a:t>
            </a:r>
            <a:endParaRPr lang="en-US" sz="1700" dirty="0"/>
          </a:p>
        </p:txBody>
      </p:sp>
      <p:sp>
        <p:nvSpPr>
          <p:cNvPr id="60" name="Text 47"/>
          <p:cNvSpPr txBox="1"/>
          <p:nvPr/>
        </p:nvSpPr>
        <p:spPr>
          <a:xfrm>
            <a:off x="9162288" y="3639312"/>
            <a:ext cx="2377440" cy="713232"/>
          </a:xfrm>
          <a:prstGeom prst="rect">
            <a:avLst/>
          </a:prstGeom>
          <a:noFill/>
          <a:ln/>
        </p:spPr>
        <p:txBody>
          <a:bodyPr wrap="square" lIns="0" tIns="0" rIns="0" bIns="0" rtlCol="0" anchor="t"/>
          <a:lstStyle/>
          <a:p>
            <a:pPr indent="0" marL="0">
              <a:buNone/>
            </a:pPr>
            <a:r>
              <a:rPr lang="en-US" sz="1300" dirty="0">
                <a:solidFill>
                  <a:schemeClr val="tx1"/>
                </a:solidFill>
              </a:rPr>
              <a:t>Rückblick, Ränge, Abzeichen, Ausblick Abitur</a:t>
            </a:r>
            <a:endParaRPr lang="en-US" sz="1300" dirty="0"/>
          </a:p>
        </p:txBody>
      </p:sp>
      <p:sp>
        <p:nvSpPr>
          <p:cNvPr id="61" name="Text 48"/>
          <p:cNvSpPr txBox="1"/>
          <p:nvPr/>
        </p:nvSpPr>
        <p:spPr>
          <a:xfrm>
            <a:off x="548640" y="4590288"/>
            <a:ext cx="6766560" cy="310896"/>
          </a:xfrm>
          <a:prstGeom prst="rect">
            <a:avLst/>
          </a:prstGeom>
          <a:noFill/>
          <a:ln/>
        </p:spPr>
        <p:txBody>
          <a:bodyPr wrap="square" lIns="0" tIns="0" rIns="0" bIns="0" rtlCol="0" anchor="t"/>
          <a:lstStyle/>
          <a:p>
            <a:pPr indent="0" marL="0">
              <a:buNone/>
            </a:pPr>
            <a:r>
              <a:rPr lang="en-US" sz="1800" b="1" dirty="0">
                <a:solidFill>
                  <a:schemeClr val="accent1"/>
                </a:solidFill>
              </a:rPr>
              <a:t>Am Ende von Welt 6 …</a:t>
            </a:r>
            <a:endParaRPr lang="en-US" sz="1800" dirty="0"/>
          </a:p>
        </p:txBody>
      </p:sp>
      <p:sp>
        <p:nvSpPr>
          <p:cNvPr id="62" name="Icon-Kreis"/>
          <p:cNvSpPr/>
          <p:nvPr/>
        </p:nvSpPr>
        <p:spPr>
          <a:xfrm>
            <a:off x="548640" y="4937760"/>
            <a:ext cx="274320" cy="274320"/>
          </a:xfrm>
          <a:prstGeom prst="ellipse">
            <a:avLst/>
          </a:prstGeom>
          <a:solidFill>
            <a:schemeClr val="accent3"/>
          </a:solidFill>
          <a:ln/>
        </p:spPr>
      </p:sp>
      <p:pic>
        <p:nvPicPr>
          <p:cNvPr id="63" name="Icon GiCheckMark" descr="preencoded.png">    </p:cNvPr>
          <p:cNvPicPr>
            <a:picLocks noChangeAspect="1"/>
          </p:cNvPicPr>
          <p:nvPr/>
        </p:nvPicPr>
        <p:blipFill>
          <a:blip r:embed="rId12"/>
          <a:stretch>
            <a:fillRect/>
          </a:stretch>
        </p:blipFill>
        <p:spPr>
          <a:xfrm>
            <a:off x="592531" y="4981651"/>
            <a:ext cx="186538" cy="186538"/>
          </a:xfrm>
          <a:prstGeom prst="rect">
            <a:avLst/>
          </a:prstGeom>
        </p:spPr>
      </p:pic>
      <p:sp>
        <p:nvSpPr>
          <p:cNvPr id="64" name="Text 50"/>
          <p:cNvSpPr txBox="1"/>
          <p:nvPr/>
        </p:nvSpPr>
        <p:spPr>
          <a:xfrm>
            <a:off x="960120" y="4919472"/>
            <a:ext cx="6446520" cy="292608"/>
          </a:xfrm>
          <a:prstGeom prst="rect">
            <a:avLst/>
          </a:prstGeom>
          <a:noFill/>
          <a:ln/>
        </p:spPr>
        <p:txBody>
          <a:bodyPr wrap="square" lIns="0" tIns="0" rIns="0" bIns="0" rtlCol="0" anchor="ctr"/>
          <a:lstStyle/>
          <a:p>
            <a:pPr indent="0" marL="0">
              <a:buNone/>
            </a:pPr>
            <a:r>
              <a:rPr lang="en-US" sz="1400" dirty="0">
                <a:solidFill>
                  <a:schemeClr val="tx1"/>
                </a:solidFill>
              </a:rPr>
              <a:t>hast du eine Abiturprüfung im Kleinen erlebt – auf Zeit und auf Papier</a:t>
            </a:r>
            <a:endParaRPr lang="en-US" sz="1400" dirty="0"/>
          </a:p>
        </p:txBody>
      </p:sp>
      <p:sp>
        <p:nvSpPr>
          <p:cNvPr id="65" name="Icon-Kreis"/>
          <p:cNvSpPr/>
          <p:nvPr/>
        </p:nvSpPr>
        <p:spPr>
          <a:xfrm>
            <a:off x="548640" y="5248656"/>
            <a:ext cx="274320" cy="274320"/>
          </a:xfrm>
          <a:prstGeom prst="ellipse">
            <a:avLst/>
          </a:prstGeom>
          <a:solidFill>
            <a:schemeClr val="accent3"/>
          </a:solidFill>
          <a:ln/>
        </p:spPr>
      </p:sp>
      <p:pic>
        <p:nvPicPr>
          <p:cNvPr id="66" name="Icon GiCheckMark" descr="preencoded.png">    </p:cNvPr>
          <p:cNvPicPr>
            <a:picLocks noChangeAspect="1"/>
          </p:cNvPicPr>
          <p:nvPr/>
        </p:nvPicPr>
        <p:blipFill>
          <a:blip r:embed="rId13"/>
          <a:stretch>
            <a:fillRect/>
          </a:stretch>
        </p:blipFill>
        <p:spPr>
          <a:xfrm>
            <a:off x="592531" y="5292547"/>
            <a:ext cx="186538" cy="186538"/>
          </a:xfrm>
          <a:prstGeom prst="rect">
            <a:avLst/>
          </a:prstGeom>
        </p:spPr>
      </p:pic>
      <p:sp>
        <p:nvSpPr>
          <p:cNvPr id="67" name="Text 52"/>
          <p:cNvSpPr txBox="1"/>
          <p:nvPr/>
        </p:nvSpPr>
        <p:spPr>
          <a:xfrm>
            <a:off x="960120" y="5230368"/>
            <a:ext cx="6446520" cy="292608"/>
          </a:xfrm>
          <a:prstGeom prst="rect">
            <a:avLst/>
          </a:prstGeom>
          <a:noFill/>
          <a:ln/>
        </p:spPr>
        <p:txBody>
          <a:bodyPr wrap="square" lIns="0" tIns="0" rIns="0" bIns="0" rtlCol="0" anchor="ctr"/>
          <a:lstStyle/>
          <a:p>
            <a:pPr indent="0" marL="0">
              <a:buNone/>
            </a:pPr>
            <a:r>
              <a:rPr lang="en-US" sz="1400" dirty="0">
                <a:solidFill>
                  <a:schemeClr val="tx1"/>
                </a:solidFill>
              </a:rPr>
              <a:t>kennst du deine persönlichen Top-3-Punktverluste und ihre Gegenmittel</a:t>
            </a:r>
            <a:endParaRPr lang="en-US" sz="1400" dirty="0"/>
          </a:p>
        </p:txBody>
      </p:sp>
      <p:sp>
        <p:nvSpPr>
          <p:cNvPr id="68" name="Icon-Kreis"/>
          <p:cNvSpPr/>
          <p:nvPr/>
        </p:nvSpPr>
        <p:spPr>
          <a:xfrm>
            <a:off x="548640" y="5559552"/>
            <a:ext cx="274320" cy="274320"/>
          </a:xfrm>
          <a:prstGeom prst="ellipse">
            <a:avLst/>
          </a:prstGeom>
          <a:solidFill>
            <a:schemeClr val="accent3"/>
          </a:solidFill>
          <a:ln/>
        </p:spPr>
      </p:sp>
      <p:pic>
        <p:nvPicPr>
          <p:cNvPr id="69" name="Icon GiCheckMark" descr="preencoded.png">    </p:cNvPr>
          <p:cNvPicPr>
            <a:picLocks noChangeAspect="1"/>
          </p:cNvPicPr>
          <p:nvPr/>
        </p:nvPicPr>
        <p:blipFill>
          <a:blip r:embed="rId14"/>
          <a:stretch>
            <a:fillRect/>
          </a:stretch>
        </p:blipFill>
        <p:spPr>
          <a:xfrm>
            <a:off x="592531" y="5603443"/>
            <a:ext cx="186538" cy="186538"/>
          </a:xfrm>
          <a:prstGeom prst="rect">
            <a:avLst/>
          </a:prstGeom>
        </p:spPr>
      </p:pic>
      <p:sp>
        <p:nvSpPr>
          <p:cNvPr id="70" name="Text 54"/>
          <p:cNvSpPr txBox="1"/>
          <p:nvPr/>
        </p:nvSpPr>
        <p:spPr>
          <a:xfrm>
            <a:off x="960120" y="5541264"/>
            <a:ext cx="6446520" cy="292608"/>
          </a:xfrm>
          <a:prstGeom prst="rect">
            <a:avLst/>
          </a:prstGeom>
          <a:noFill/>
          <a:ln/>
        </p:spPr>
        <p:txBody>
          <a:bodyPr wrap="square" lIns="0" tIns="0" rIns="0" bIns="0" rtlCol="0" anchor="ctr"/>
          <a:lstStyle/>
          <a:p>
            <a:pPr indent="0" marL="0">
              <a:buNone/>
            </a:pPr>
            <a:r>
              <a:rPr lang="en-US" sz="1400" dirty="0">
                <a:solidFill>
                  <a:schemeClr val="tx1"/>
                </a:solidFill>
              </a:rPr>
              <a:t>hast du einen Abi-Fahrplan: Zeitplan, Vorgehen, eigener Abi-Check</a:t>
            </a:r>
            <a:endParaRPr lang="en-US" sz="1400" dirty="0"/>
          </a:p>
        </p:txBody>
      </p:sp>
      <p:sp>
        <p:nvSpPr>
          <p:cNvPr id="71" name="Icon-Kreis"/>
          <p:cNvSpPr/>
          <p:nvPr/>
        </p:nvSpPr>
        <p:spPr>
          <a:xfrm>
            <a:off x="548640" y="5870448"/>
            <a:ext cx="274320" cy="274320"/>
          </a:xfrm>
          <a:prstGeom prst="ellipse">
            <a:avLst/>
          </a:prstGeom>
          <a:solidFill>
            <a:schemeClr val="accent3"/>
          </a:solidFill>
          <a:ln/>
        </p:spPr>
      </p:sp>
      <p:pic>
        <p:nvPicPr>
          <p:cNvPr id="72" name="Icon GiCheckMark" descr="preencoded.png">    </p:cNvPr>
          <p:cNvPicPr>
            <a:picLocks noChangeAspect="1"/>
          </p:cNvPicPr>
          <p:nvPr/>
        </p:nvPicPr>
        <p:blipFill>
          <a:blip r:embed="rId15"/>
          <a:stretch>
            <a:fillRect/>
          </a:stretch>
        </p:blipFill>
        <p:spPr>
          <a:xfrm>
            <a:off x="592531" y="5914339"/>
            <a:ext cx="186538" cy="186538"/>
          </a:xfrm>
          <a:prstGeom prst="rect">
            <a:avLst/>
          </a:prstGeom>
        </p:spPr>
      </p:pic>
      <p:sp>
        <p:nvSpPr>
          <p:cNvPr id="73" name="Text 56"/>
          <p:cNvSpPr txBox="1"/>
          <p:nvPr/>
        </p:nvSpPr>
        <p:spPr>
          <a:xfrm>
            <a:off x="960120" y="5852160"/>
            <a:ext cx="6446520" cy="292608"/>
          </a:xfrm>
          <a:prstGeom prst="rect">
            <a:avLst/>
          </a:prstGeom>
          <a:noFill/>
          <a:ln/>
        </p:spPr>
        <p:txBody>
          <a:bodyPr wrap="square" lIns="0" tIns="0" rIns="0" bIns="0" rtlCol="0" anchor="ctr"/>
          <a:lstStyle/>
          <a:p>
            <a:pPr indent="0" marL="0">
              <a:buNone/>
            </a:pPr>
            <a:r>
              <a:rPr lang="en-US" sz="1400" dirty="0">
                <a:solidFill>
                  <a:schemeClr val="tx1"/>
                </a:solidFill>
              </a:rPr>
              <a:t>weißt du, wie du bis zum Abitur weitertrainierst</a:t>
            </a:r>
            <a:endParaRPr lang="en-US" sz="1400" dirty="0"/>
          </a:p>
        </p:txBody>
      </p:sp>
      <p:sp>
        <p:nvSpPr>
          <p:cNvPr id="74" name="Lab-Uebersicht"/>
          <p:cNvSpPr/>
          <p:nvPr/>
        </p:nvSpPr>
        <p:spPr>
          <a:xfrm>
            <a:off x="7589520" y="4590288"/>
            <a:ext cx="4023360" cy="1554480"/>
          </a:xfrm>
          <a:prstGeom prst="roundRect">
            <a:avLst>
              <a:gd name="adj" fmla="val 7059"/>
            </a:avLst>
          </a:prstGeom>
          <a:solidFill>
            <a:schemeClr val="bg2"/>
          </a:solidFill>
          <a:ln/>
        </p:spPr>
      </p:sp>
      <p:sp>
        <p:nvSpPr>
          <p:cNvPr id="75" name="Text 58"/>
          <p:cNvSpPr txBox="1"/>
          <p:nvPr/>
        </p:nvSpPr>
        <p:spPr>
          <a:xfrm>
            <a:off x="7772400" y="4663440"/>
            <a:ext cx="3749040" cy="1417320"/>
          </a:xfrm>
          <a:prstGeom prst="rect">
            <a:avLst/>
          </a:prstGeom>
          <a:noFill/>
          <a:ln/>
        </p:spPr>
        <p:txBody>
          <a:bodyPr wrap="square" lIns="0" tIns="0" rIns="0" bIns="0" rtlCol="0" anchor="ctr"/>
          <a:lstStyle/>
          <a:p>
            <a:pPr indent="0" marL="0">
              <a:buNone/>
            </a:pPr>
            <a:r>
              <a:rPr lang="en-US" sz="1600" b="1" dirty="0">
                <a:solidFill>
                  <a:schemeClr val="accent2"/>
                </a:solidFill>
              </a:rPr>
              <a:t>Algo Quest Lab in Welt 6</a:t>
            </a:r>
            <a:endParaRPr lang="en-US" sz="1400" dirty="0"/>
          </a:p>
          <a:p>
            <a:pPr indent="0" marL="0">
              <a:buNone/>
            </a:pPr>
            <a:r>
              <a:rPr lang="en-US" sz="1400" b="1" dirty="0">
                <a:solidFill>
                  <a:schemeClr val="accent1"/>
                </a:solidFill>
              </a:rPr>
              <a:t>Fallenjagd: </a:t>
            </a:r>
            <a:pPr indent="0" marL="0">
              <a:buNone/>
            </a:pPr>
            <a:r>
              <a:rPr lang="en-US" sz="1400" dirty="0">
                <a:solidFill>
                  <a:schemeClr val="tx1"/>
                </a:solidFill>
              </a:rPr>
              <a:t>Level 6.1 · 6.2 (P1–P10)</a:t>
            </a:r>
            <a:endParaRPr lang="en-US" sz="1400" dirty="0"/>
          </a:p>
          <a:p>
            <a:pPr indent="0" marL="0">
              <a:buNone/>
            </a:pPr>
            <a:r>
              <a:rPr lang="en-US" sz="1400" b="1" dirty="0">
                <a:solidFill>
                  <a:schemeClr val="accent1"/>
                </a:solidFill>
              </a:rPr>
              <a:t>Abi-Mix: </a:t>
            </a:r>
            <a:pPr indent="0" marL="0">
              <a:buNone/>
            </a:pPr>
            <a:r>
              <a:rPr lang="en-US" sz="1400" dirty="0">
                <a:solidFill>
                  <a:schemeClr val="tx1"/>
                </a:solidFill>
              </a:rPr>
              <a:t>Level 6.3 · 6.4</a:t>
            </a:r>
            <a:endParaRPr lang="en-US" sz="1400" dirty="0"/>
          </a:p>
          <a:p>
            <a:pPr indent="0" marL="0">
              <a:buNone/>
            </a:pPr>
            <a:r>
              <a:rPr lang="en-US" sz="1400" b="1" dirty="0">
                <a:solidFill>
                  <a:schemeClr val="accent1"/>
                </a:solidFill>
              </a:rPr>
              <a:t>Online-Boss: </a:t>
            </a:r>
            <a:pPr indent="0" marL="0">
              <a:buNone/>
            </a:pPr>
            <a:r>
              <a:rPr lang="en-US" sz="1400" dirty="0">
                <a:solidFill>
                  <a:schemeClr val="tx1"/>
                </a:solidFill>
              </a:rPr>
              <a:t>Generalprobe online</a:t>
            </a:r>
            <a:endParaRPr lang="en-US" sz="1400" dirty="0"/>
          </a:p>
          <a:p>
            <a:pPr indent="0" marL="0">
              <a:buNone/>
            </a:pPr>
            <a:r>
              <a:rPr lang="en-US" sz="1400" b="1" dirty="0">
                <a:solidFill>
                  <a:schemeClr val="accent1"/>
                </a:solidFill>
              </a:rPr>
              <a:t>Klausur: </a:t>
            </a:r>
            <a:pPr indent="0" marL="0">
              <a:buNone/>
            </a:pPr>
            <a:r>
              <a:rPr lang="en-US" sz="1400" dirty="0">
                <a:solidFill>
                  <a:schemeClr val="tx1"/>
                </a:solidFill>
              </a:rPr>
              <a:t>benotet – ohne Lab-Punkte</a:t>
            </a:r>
            <a:endParaRPr lang="en-US" sz="1400" dirty="0"/>
          </a:p>
        </p:txBody>
      </p:sp>
      <p:sp>
        <p:nvSpPr>
          <p:cNvPr id="76" name="Text 59"/>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37 · Start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So läuft das Abitur ab: Block 1</a:t>
            </a:r>
            <a:endParaRPr lang="en-US" sz="3600" dirty="0"/>
          </a:p>
        </p:txBody>
      </p:sp>
      <p:sp>
        <p:nvSpPr>
          <p:cNvPr id="3" name="Kennzahl 60 BE"/>
          <p:cNvSpPr/>
          <p:nvPr/>
        </p:nvSpPr>
        <p:spPr>
          <a:xfrm>
            <a:off x="548640" y="1325880"/>
            <a:ext cx="2560320" cy="1463040"/>
          </a:xfrm>
          <a:prstGeom prst="roundRect">
            <a:avLst>
              <a:gd name="adj" fmla="val 7500"/>
            </a:avLst>
          </a:prstGeom>
          <a:solidFill>
            <a:schemeClr val="accent1"/>
          </a:solidFill>
          <a:ln/>
        </p:spPr>
      </p:sp>
      <p:sp>
        <p:nvSpPr>
          <p:cNvPr id="4" name="Text 2"/>
          <p:cNvSpPr txBox="1"/>
          <p:nvPr/>
        </p:nvSpPr>
        <p:spPr>
          <a:xfrm>
            <a:off x="685800" y="1463040"/>
            <a:ext cx="2286000" cy="594360"/>
          </a:xfrm>
          <a:prstGeom prst="rect">
            <a:avLst/>
          </a:prstGeom>
          <a:noFill/>
          <a:ln/>
        </p:spPr>
        <p:txBody>
          <a:bodyPr wrap="square" lIns="0" tIns="0" rIns="0" bIns="0" rtlCol="0" anchor="ctr"/>
          <a:lstStyle/>
          <a:p>
            <a:pPr algn="ctr" indent="0" marL="0">
              <a:buNone/>
            </a:pPr>
            <a:r>
              <a:rPr lang="en-US" sz="3000" b="1" dirty="0">
                <a:solidFill>
                  <a:schemeClr val="accent2"/>
                </a:solidFill>
              </a:rPr>
              <a:t>60 BE</a:t>
            </a:r>
            <a:endParaRPr lang="en-US" sz="3000" dirty="0"/>
          </a:p>
        </p:txBody>
      </p:sp>
      <p:sp>
        <p:nvSpPr>
          <p:cNvPr id="5" name="Text 3"/>
          <p:cNvSpPr txBox="1"/>
          <p:nvPr/>
        </p:nvSpPr>
        <p:spPr>
          <a:xfrm>
            <a:off x="685800" y="2075688"/>
            <a:ext cx="2286000" cy="594360"/>
          </a:xfrm>
          <a:prstGeom prst="rect">
            <a:avLst/>
          </a:prstGeom>
          <a:noFill/>
          <a:ln/>
        </p:spPr>
        <p:txBody>
          <a:bodyPr wrap="square" lIns="0" tIns="0" rIns="0" bIns="0" rtlCol="0" anchor="t"/>
          <a:lstStyle/>
          <a:p>
            <a:pPr algn="ctr" indent="0" marL="0">
              <a:buNone/>
            </a:pPr>
            <a:r>
              <a:rPr lang="en-US" sz="1400" dirty="0">
                <a:solidFill>
                  <a:schemeClr val="bg1"/>
                </a:solidFill>
              </a:rPr>
              <a:t>je Wahlaufgabe in Block 1</a:t>
            </a:r>
            <a:endParaRPr lang="en-US" sz="1400" dirty="0"/>
          </a:p>
        </p:txBody>
      </p:sp>
      <p:sp>
        <p:nvSpPr>
          <p:cNvPr id="6" name="Kennzahl 18 · 32 · 10"/>
          <p:cNvSpPr/>
          <p:nvPr/>
        </p:nvSpPr>
        <p:spPr>
          <a:xfrm>
            <a:off x="3246120" y="1325880"/>
            <a:ext cx="2560320" cy="1463040"/>
          </a:xfrm>
          <a:prstGeom prst="roundRect">
            <a:avLst>
              <a:gd name="adj" fmla="val 7500"/>
            </a:avLst>
          </a:prstGeom>
          <a:solidFill>
            <a:schemeClr val="bg2"/>
          </a:solidFill>
          <a:ln/>
        </p:spPr>
      </p:sp>
      <p:sp>
        <p:nvSpPr>
          <p:cNvPr id="7" name="Text 5"/>
          <p:cNvSpPr txBox="1"/>
          <p:nvPr/>
        </p:nvSpPr>
        <p:spPr>
          <a:xfrm>
            <a:off x="3383280" y="1463040"/>
            <a:ext cx="2286000" cy="594360"/>
          </a:xfrm>
          <a:prstGeom prst="rect">
            <a:avLst/>
          </a:prstGeom>
          <a:noFill/>
          <a:ln/>
        </p:spPr>
        <p:txBody>
          <a:bodyPr wrap="square" lIns="0" tIns="0" rIns="0" bIns="0" rtlCol="0" anchor="ctr"/>
          <a:lstStyle/>
          <a:p>
            <a:pPr algn="ctr" indent="0" marL="0">
              <a:buNone/>
            </a:pPr>
            <a:r>
              <a:rPr lang="en-US" sz="3000" b="1" dirty="0">
                <a:solidFill>
                  <a:schemeClr val="accent1"/>
                </a:solidFill>
              </a:rPr>
              <a:t>18 · 32 · 10</a:t>
            </a:r>
            <a:endParaRPr lang="en-US" sz="3000" dirty="0"/>
          </a:p>
        </p:txBody>
      </p:sp>
      <p:sp>
        <p:nvSpPr>
          <p:cNvPr id="8" name="Text 6"/>
          <p:cNvSpPr txBox="1"/>
          <p:nvPr/>
        </p:nvSpPr>
        <p:spPr>
          <a:xfrm>
            <a:off x="3383280" y="2075688"/>
            <a:ext cx="2286000" cy="594360"/>
          </a:xfrm>
          <a:prstGeom prst="rect">
            <a:avLst/>
          </a:prstGeom>
          <a:noFill/>
          <a:ln/>
        </p:spPr>
        <p:txBody>
          <a:bodyPr wrap="square" lIns="0" tIns="0" rIns="0" bIns="0" rtlCol="0" anchor="t"/>
          <a:lstStyle/>
          <a:p>
            <a:pPr algn="ctr" indent="0" marL="0">
              <a:buNone/>
            </a:pPr>
            <a:r>
              <a:rPr lang="en-US" sz="1400" dirty="0">
                <a:solidFill>
                  <a:schemeClr val="tx1"/>
                </a:solidFill>
              </a:rPr>
              <a:t>BE in den Anforderungsbereichen I · II · III</a:t>
            </a:r>
            <a:endParaRPr lang="en-US" sz="1400" dirty="0"/>
          </a:p>
        </p:txBody>
      </p:sp>
      <p:sp>
        <p:nvSpPr>
          <p:cNvPr id="9" name="Kennzahl ≈ 12 BE"/>
          <p:cNvSpPr/>
          <p:nvPr/>
        </p:nvSpPr>
        <p:spPr>
          <a:xfrm>
            <a:off x="548640" y="2926080"/>
            <a:ext cx="2560320" cy="1463040"/>
          </a:xfrm>
          <a:prstGeom prst="roundRect">
            <a:avLst>
              <a:gd name="adj" fmla="val 7500"/>
            </a:avLst>
          </a:prstGeom>
          <a:solidFill>
            <a:schemeClr val="bg2"/>
          </a:solidFill>
          <a:ln/>
        </p:spPr>
      </p:sp>
      <p:sp>
        <p:nvSpPr>
          <p:cNvPr id="10" name="Text 8"/>
          <p:cNvSpPr txBox="1"/>
          <p:nvPr/>
        </p:nvSpPr>
        <p:spPr>
          <a:xfrm>
            <a:off x="685800" y="3063240"/>
            <a:ext cx="2286000" cy="594360"/>
          </a:xfrm>
          <a:prstGeom prst="rect">
            <a:avLst/>
          </a:prstGeom>
          <a:noFill/>
          <a:ln/>
        </p:spPr>
        <p:txBody>
          <a:bodyPr wrap="square" lIns="0" tIns="0" rIns="0" bIns="0" rtlCol="0" anchor="ctr"/>
          <a:lstStyle/>
          <a:p>
            <a:pPr algn="ctr" indent="0" marL="0">
              <a:buNone/>
            </a:pPr>
            <a:r>
              <a:rPr lang="en-US" sz="3000" b="1" dirty="0">
                <a:solidFill>
                  <a:schemeClr val="accent1"/>
                </a:solidFill>
              </a:rPr>
              <a:t>≈ 12 BE</a:t>
            </a:r>
            <a:endParaRPr lang="en-US" sz="3000" dirty="0"/>
          </a:p>
        </p:txBody>
      </p:sp>
      <p:sp>
        <p:nvSpPr>
          <p:cNvPr id="11" name="Text 9"/>
          <p:cNvSpPr txBox="1"/>
          <p:nvPr/>
        </p:nvSpPr>
        <p:spPr>
          <a:xfrm>
            <a:off x="685800" y="3675888"/>
            <a:ext cx="2286000" cy="594360"/>
          </a:xfrm>
          <a:prstGeom prst="rect">
            <a:avLst/>
          </a:prstGeom>
          <a:noFill/>
          <a:ln/>
        </p:spPr>
        <p:txBody>
          <a:bodyPr wrap="square" lIns="0" tIns="0" rIns="0" bIns="0" rtlCol="0" anchor="t"/>
          <a:lstStyle/>
          <a:p>
            <a:pPr algn="ctr" indent="0" marL="0">
              <a:buNone/>
            </a:pPr>
            <a:r>
              <a:rPr lang="en-US" sz="1400" dirty="0">
                <a:solidFill>
                  <a:schemeClr val="tx1"/>
                </a:solidFill>
              </a:rPr>
              <a:t>davon Zusatzthema (z. B. Codierung, Automaten)</a:t>
            </a:r>
            <a:endParaRPr lang="en-US" sz="1400" dirty="0"/>
          </a:p>
        </p:txBody>
      </p:sp>
      <p:sp>
        <p:nvSpPr>
          <p:cNvPr id="12" name="Kennzahl 300 min"/>
          <p:cNvSpPr/>
          <p:nvPr/>
        </p:nvSpPr>
        <p:spPr>
          <a:xfrm>
            <a:off x="3246120" y="2926080"/>
            <a:ext cx="2560320" cy="1463040"/>
          </a:xfrm>
          <a:prstGeom prst="roundRect">
            <a:avLst>
              <a:gd name="adj" fmla="val 7500"/>
            </a:avLst>
          </a:prstGeom>
          <a:solidFill>
            <a:schemeClr val="bg2"/>
          </a:solidFill>
          <a:ln/>
        </p:spPr>
      </p:sp>
      <p:sp>
        <p:nvSpPr>
          <p:cNvPr id="13" name="Text 11"/>
          <p:cNvSpPr txBox="1"/>
          <p:nvPr/>
        </p:nvSpPr>
        <p:spPr>
          <a:xfrm>
            <a:off x="3383280" y="3063240"/>
            <a:ext cx="2286000" cy="594360"/>
          </a:xfrm>
          <a:prstGeom prst="rect">
            <a:avLst/>
          </a:prstGeom>
          <a:noFill/>
          <a:ln/>
        </p:spPr>
        <p:txBody>
          <a:bodyPr wrap="square" lIns="0" tIns="0" rIns="0" bIns="0" rtlCol="0" anchor="ctr"/>
          <a:lstStyle/>
          <a:p>
            <a:pPr algn="ctr" indent="0" marL="0">
              <a:buNone/>
            </a:pPr>
            <a:r>
              <a:rPr lang="en-US" sz="3000" b="1" dirty="0">
                <a:solidFill>
                  <a:schemeClr val="accent1"/>
                </a:solidFill>
              </a:rPr>
              <a:t>300 min</a:t>
            </a:r>
            <a:endParaRPr lang="en-US" sz="3000" dirty="0"/>
          </a:p>
        </p:txBody>
      </p:sp>
      <p:sp>
        <p:nvSpPr>
          <p:cNvPr id="14" name="Text 12"/>
          <p:cNvSpPr txBox="1"/>
          <p:nvPr/>
        </p:nvSpPr>
        <p:spPr>
          <a:xfrm>
            <a:off x="3383280" y="3675888"/>
            <a:ext cx="2286000" cy="594360"/>
          </a:xfrm>
          <a:prstGeom prst="rect">
            <a:avLst/>
          </a:prstGeom>
          <a:noFill/>
          <a:ln/>
        </p:spPr>
        <p:txBody>
          <a:bodyPr wrap="square" lIns="0" tIns="0" rIns="0" bIns="0" rtlCol="0" anchor="t"/>
          <a:lstStyle/>
          <a:p>
            <a:pPr algn="ctr" indent="0" marL="0">
              <a:buNone/>
            </a:pPr>
            <a:r>
              <a:rPr lang="en-US" sz="1400" dirty="0">
                <a:solidFill>
                  <a:schemeClr val="tx1"/>
                </a:solidFill>
              </a:rPr>
              <a:t>Prüfungszeit eA laut Aufgabenkopf</a:t>
            </a:r>
            <a:endParaRPr lang="en-US" sz="1400" dirty="0"/>
          </a:p>
        </p:txBody>
      </p:sp>
      <p:sp>
        <p:nvSpPr>
          <p:cNvPr id="15" name="Icon-Kreis"/>
          <p:cNvSpPr/>
          <p:nvPr/>
        </p:nvSpPr>
        <p:spPr>
          <a:xfrm>
            <a:off x="6172200" y="1371600"/>
            <a:ext cx="640080" cy="640080"/>
          </a:xfrm>
          <a:prstGeom prst="ellipse">
            <a:avLst/>
          </a:prstGeom>
          <a:solidFill>
            <a:schemeClr val="accent1"/>
          </a:solidFill>
          <a:ln/>
        </p:spPr>
      </p:sp>
      <p:pic>
        <p:nvPicPr>
          <p:cNvPr id="16" name="Icon GiScrollUnfurled" descr="preencoded.png">    </p:cNvPr>
          <p:cNvPicPr>
            <a:picLocks noChangeAspect="1"/>
          </p:cNvPicPr>
          <p:nvPr/>
        </p:nvPicPr>
        <p:blipFill>
          <a:blip r:embed="rId1"/>
          <a:stretch>
            <a:fillRect/>
          </a:stretch>
        </p:blipFill>
        <p:spPr>
          <a:xfrm>
            <a:off x="6313018" y="1512418"/>
            <a:ext cx="358445" cy="358445"/>
          </a:xfrm>
          <a:prstGeom prst="rect">
            <a:avLst/>
          </a:prstGeom>
        </p:spPr>
      </p:pic>
      <p:sp>
        <p:nvSpPr>
          <p:cNvPr id="17" name="Text 14"/>
          <p:cNvSpPr txBox="1"/>
          <p:nvPr/>
        </p:nvSpPr>
        <p:spPr>
          <a:xfrm>
            <a:off x="6949440" y="1325880"/>
            <a:ext cx="4663440" cy="749808"/>
          </a:xfrm>
          <a:prstGeom prst="rect">
            <a:avLst/>
          </a:prstGeom>
          <a:noFill/>
          <a:ln/>
        </p:spPr>
        <p:txBody>
          <a:bodyPr wrap="square" lIns="0" tIns="0" rIns="0" bIns="0" rtlCol="0" anchor="ctr"/>
          <a:lstStyle/>
          <a:p>
            <a:pPr indent="0" marL="0">
              <a:buNone/>
            </a:pPr>
            <a:r>
              <a:rPr lang="en-US" sz="1700" b="1" dirty="0">
                <a:solidFill>
                  <a:schemeClr val="accent1"/>
                </a:solidFill>
              </a:rPr>
              <a:t>Aufgabe lesen</a:t>
            </a:r>
            <a:endParaRPr lang="en-US" sz="1800" dirty="0"/>
          </a:p>
          <a:p>
            <a:pPr indent="0" marL="0">
              <a:buNone/>
            </a:pPr>
            <a:r>
              <a:rPr lang="en-US" sz="1400" dirty="0">
                <a:solidFill>
                  <a:schemeClr val="tx1"/>
                </a:solidFill>
              </a:rPr>
              <a:t>Einleitungstext zum Kontext, dann Teilaufgaben a), b), … mit Operator und [BE].</a:t>
            </a:r>
            <a:endParaRPr lang="en-US" sz="1800" dirty="0"/>
          </a:p>
        </p:txBody>
      </p:sp>
      <p:sp>
        <p:nvSpPr>
          <p:cNvPr id="18" name="Icon-Kreis"/>
          <p:cNvSpPr/>
          <p:nvPr/>
        </p:nvSpPr>
        <p:spPr>
          <a:xfrm>
            <a:off x="6172200" y="2194560"/>
            <a:ext cx="640080" cy="640080"/>
          </a:xfrm>
          <a:prstGeom prst="ellipse">
            <a:avLst/>
          </a:prstGeom>
          <a:solidFill>
            <a:schemeClr val="accent1"/>
          </a:solidFill>
          <a:ln/>
        </p:spPr>
      </p:sp>
      <p:pic>
        <p:nvPicPr>
          <p:cNvPr id="19" name="Icon GiOpenBook" descr="preencoded.png">    </p:cNvPr>
          <p:cNvPicPr>
            <a:picLocks noChangeAspect="1"/>
          </p:cNvPicPr>
          <p:nvPr/>
        </p:nvPicPr>
        <p:blipFill>
          <a:blip r:embed="rId2"/>
          <a:stretch>
            <a:fillRect/>
          </a:stretch>
        </p:blipFill>
        <p:spPr>
          <a:xfrm>
            <a:off x="6313018" y="2335378"/>
            <a:ext cx="358445" cy="358445"/>
          </a:xfrm>
          <a:prstGeom prst="rect">
            <a:avLst/>
          </a:prstGeom>
        </p:spPr>
      </p:pic>
      <p:sp>
        <p:nvSpPr>
          <p:cNvPr id="20" name="Text 16"/>
          <p:cNvSpPr txBox="1"/>
          <p:nvPr/>
        </p:nvSpPr>
        <p:spPr>
          <a:xfrm>
            <a:off x="6949440" y="2148840"/>
            <a:ext cx="4663440" cy="749808"/>
          </a:xfrm>
          <a:prstGeom prst="rect">
            <a:avLst/>
          </a:prstGeom>
          <a:noFill/>
          <a:ln/>
        </p:spPr>
        <p:txBody>
          <a:bodyPr wrap="square" lIns="0" tIns="0" rIns="0" bIns="0" rtlCol="0" anchor="ctr"/>
          <a:lstStyle/>
          <a:p>
            <a:pPr indent="0" marL="0">
              <a:buNone/>
            </a:pPr>
            <a:r>
              <a:rPr lang="en-US" sz="1700" b="1" dirty="0">
                <a:solidFill>
                  <a:schemeClr val="accent1"/>
                </a:solidFill>
              </a:rPr>
              <a:t>Material nutzen</a:t>
            </a:r>
            <a:endParaRPr lang="en-US" sz="1800" dirty="0"/>
          </a:p>
          <a:p>
            <a:pPr indent="0" marL="0">
              <a:buNone/>
            </a:pPr>
            <a:r>
              <a:rPr lang="en-US" sz="1400" dirty="0">
                <a:solidFill>
                  <a:schemeClr val="tx1"/>
                </a:solidFill>
              </a:rPr>
              <a:t>Am Ende: Abbildungen, Klassenkarten, Struktogramme, Tabellen zum Ausfüllen.</a:t>
            </a:r>
            <a:endParaRPr lang="en-US" sz="1800" dirty="0"/>
          </a:p>
        </p:txBody>
      </p:sp>
      <p:sp>
        <p:nvSpPr>
          <p:cNvPr id="21" name="Icon-Kreis"/>
          <p:cNvSpPr/>
          <p:nvPr/>
        </p:nvSpPr>
        <p:spPr>
          <a:xfrm>
            <a:off x="6172200" y="3017520"/>
            <a:ext cx="640080" cy="640080"/>
          </a:xfrm>
          <a:prstGeom prst="ellipse">
            <a:avLst/>
          </a:prstGeom>
          <a:solidFill>
            <a:schemeClr val="accent1"/>
          </a:solidFill>
          <a:ln/>
        </p:spPr>
      </p:sp>
      <p:pic>
        <p:nvPicPr>
          <p:cNvPr id="22" name="Icon GiQuillInk" descr="preencoded.png">    </p:cNvPr>
          <p:cNvPicPr>
            <a:picLocks noChangeAspect="1"/>
          </p:cNvPicPr>
          <p:nvPr/>
        </p:nvPicPr>
        <p:blipFill>
          <a:blip r:embed="rId3"/>
          <a:stretch>
            <a:fillRect/>
          </a:stretch>
        </p:blipFill>
        <p:spPr>
          <a:xfrm>
            <a:off x="6313018" y="3158338"/>
            <a:ext cx="358445" cy="358445"/>
          </a:xfrm>
          <a:prstGeom prst="rect">
            <a:avLst/>
          </a:prstGeom>
        </p:spPr>
      </p:pic>
      <p:sp>
        <p:nvSpPr>
          <p:cNvPr id="23" name="Text 18"/>
          <p:cNvSpPr txBox="1"/>
          <p:nvPr/>
        </p:nvSpPr>
        <p:spPr>
          <a:xfrm>
            <a:off x="6949440" y="2971800"/>
            <a:ext cx="4663440" cy="749808"/>
          </a:xfrm>
          <a:prstGeom prst="rect">
            <a:avLst/>
          </a:prstGeom>
          <a:noFill/>
          <a:ln/>
        </p:spPr>
        <p:txBody>
          <a:bodyPr wrap="square" lIns="0" tIns="0" rIns="0" bIns="0" rtlCol="0" anchor="ctr"/>
          <a:lstStyle/>
          <a:p>
            <a:pPr indent="0" marL="0">
              <a:buNone/>
            </a:pPr>
            <a:r>
              <a:rPr lang="en-US" sz="1700" b="1" dirty="0">
                <a:solidFill>
                  <a:schemeClr val="accent1"/>
                </a:solidFill>
              </a:rPr>
              <a:t>Alles von Hand</a:t>
            </a:r>
            <a:endParaRPr lang="en-US" sz="1800" dirty="0"/>
          </a:p>
          <a:p>
            <a:pPr indent="0" marL="0">
              <a:buNone/>
            </a:pPr>
            <a:r>
              <a:rPr lang="en-US" sz="1400" dirty="0">
                <a:solidFill>
                  <a:schemeClr val="tx1"/>
                </a:solidFill>
              </a:rPr>
              <a:t>Java-Code, Struktogramme nach §5, Trace- und Rekursionstabellen – ohne Compiler.</a:t>
            </a:r>
            <a:endParaRPr lang="en-US" sz="1800" dirty="0"/>
          </a:p>
        </p:txBody>
      </p:sp>
      <p:sp>
        <p:nvSpPr>
          <p:cNvPr id="24" name="Icon-Kreis"/>
          <p:cNvSpPr/>
          <p:nvPr/>
        </p:nvSpPr>
        <p:spPr>
          <a:xfrm>
            <a:off x="6172200" y="3840480"/>
            <a:ext cx="640080" cy="640080"/>
          </a:xfrm>
          <a:prstGeom prst="ellipse">
            <a:avLst/>
          </a:prstGeom>
          <a:solidFill>
            <a:schemeClr val="accent1"/>
          </a:solidFill>
          <a:ln/>
        </p:spPr>
      </p:sp>
      <p:pic>
        <p:nvPicPr>
          <p:cNvPr id="25" name="Icon GiSecretBook" descr="preencoded.png">    </p:cNvPr>
          <p:cNvPicPr>
            <a:picLocks noChangeAspect="1"/>
          </p:cNvPicPr>
          <p:nvPr/>
        </p:nvPicPr>
        <p:blipFill>
          <a:blip r:embed="rId4"/>
          <a:stretch>
            <a:fillRect/>
          </a:stretch>
        </p:blipFill>
        <p:spPr>
          <a:xfrm>
            <a:off x="6313018" y="3981298"/>
            <a:ext cx="358445" cy="358445"/>
          </a:xfrm>
          <a:prstGeom prst="rect">
            <a:avLst/>
          </a:prstGeom>
        </p:spPr>
      </p:pic>
      <p:sp>
        <p:nvSpPr>
          <p:cNvPr id="26" name="Text 20"/>
          <p:cNvSpPr txBox="1"/>
          <p:nvPr/>
        </p:nvSpPr>
        <p:spPr>
          <a:xfrm>
            <a:off x="6949440" y="3794760"/>
            <a:ext cx="4663440" cy="749808"/>
          </a:xfrm>
          <a:prstGeom prst="rect">
            <a:avLst/>
          </a:prstGeom>
          <a:noFill/>
          <a:ln/>
        </p:spPr>
        <p:txBody>
          <a:bodyPr wrap="square" lIns="0" tIns="0" rIns="0" bIns="0" rtlCol="0" anchor="ctr"/>
          <a:lstStyle/>
          <a:p>
            <a:pPr indent="0" marL="0">
              <a:buNone/>
            </a:pPr>
            <a:r>
              <a:rPr lang="en-US" sz="1700" b="1" dirty="0">
                <a:solidFill>
                  <a:schemeClr val="accent1"/>
                </a:solidFill>
              </a:rPr>
              <a:t>Hilfsmittel</a:t>
            </a:r>
            <a:endParaRPr lang="en-US" sz="1800" dirty="0"/>
          </a:p>
          <a:p>
            <a:pPr indent="0" marL="0">
              <a:buNone/>
            </a:pPr>
            <a:r>
              <a:rPr lang="en-US" sz="1400" dirty="0">
                <a:solidFill>
                  <a:schemeClr val="tx1"/>
                </a:solidFill>
              </a:rPr>
              <a:t>die zugelassenen Abschnitte der Ergänzenden Hinweise (Schnittstellen, Notation).</a:t>
            </a:r>
            <a:endParaRPr lang="en-US" sz="1800" dirty="0"/>
          </a:p>
        </p:txBody>
      </p:sp>
      <p:sp>
        <p:nvSpPr>
          <p:cNvPr id="27" name="Achtung Laufzeitfehler"/>
          <p:cNvSpPr/>
          <p:nvPr/>
        </p:nvSpPr>
        <p:spPr>
          <a:xfrm>
            <a:off x="548640" y="4709160"/>
            <a:ext cx="11064240" cy="566928"/>
          </a:xfrm>
          <a:prstGeom prst="roundRect">
            <a:avLst>
              <a:gd name="adj" fmla="val 19355"/>
            </a:avLst>
          </a:prstGeom>
          <a:solidFill>
            <a:schemeClr val="bg1"/>
          </a:solidFill>
          <a:ln w="25400">
            <a:solidFill>
              <a:schemeClr val="accent4"/>
            </a:solidFill>
            <a:prstDash val="solid"/>
          </a:ln>
        </p:spPr>
      </p:sp>
      <p:sp>
        <p:nvSpPr>
          <p:cNvPr id="28" name="Text 22"/>
          <p:cNvSpPr txBox="1"/>
          <p:nvPr/>
        </p:nvSpPr>
        <p:spPr>
          <a:xfrm>
            <a:off x="749808" y="4709160"/>
            <a:ext cx="10698480" cy="566928"/>
          </a:xfrm>
          <a:prstGeom prst="rect">
            <a:avLst/>
          </a:prstGeom>
          <a:noFill/>
          <a:ln/>
        </p:spPr>
        <p:txBody>
          <a:bodyPr wrap="square" lIns="0" tIns="0" rIns="0" bIns="0" rtlCol="0" anchor="ctr"/>
          <a:lstStyle/>
          <a:p>
            <a:pPr indent="0" marL="0">
              <a:buNone/>
            </a:pPr>
            <a:r>
              <a:rPr lang="en-US" sz="1600" b="1" dirty="0">
                <a:solidFill>
                  <a:schemeClr val="accent4"/>
                </a:solidFill>
              </a:rPr>
              <a:t>Achtung Abi: </a:t>
            </a:r>
            <a:pPr indent="0" marL="0">
              <a:buNone/>
            </a:pPr>
            <a:r>
              <a:rPr lang="en-US" sz="1600" dirty="0">
                <a:solidFill>
                  <a:schemeClr val="tx1"/>
                </a:solidFill>
              </a:rPr>
              <a:t>„Laufzeitfehler sind durch geeignete Abfragen auszuschließen.“ – Dieser Satz steht bei jeder Implementierung.</a:t>
            </a:r>
            <a:endParaRPr lang="en-US" sz="1600" dirty="0"/>
          </a:p>
        </p:txBody>
      </p:sp>
      <p:sp>
        <p:nvSpPr>
          <p:cNvPr id="29" name="Chip"/>
          <p:cNvSpPr txBox="1"/>
          <p:nvPr/>
        </p:nvSpPr>
        <p:spPr>
          <a:xfrm>
            <a:off x="548640" y="5486400"/>
            <a:ext cx="1106424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Heute: Generalprobe „Paketstation“ – 35 BE · 90 min · gleiche Bedingungen wie im Abitur</a:t>
            </a:r>
            <a:endParaRPr lang="en-US" sz="1600" dirty="0"/>
          </a:p>
        </p:txBody>
      </p:sp>
      <p:sp>
        <p:nvSpPr>
          <p:cNvPr id="30" name="Text 24"/>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37 · Briefing</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Operatoren: Was wird von dir erwartet?</a:t>
            </a:r>
            <a:endParaRPr lang="en-US" sz="3600" dirty="0"/>
          </a:p>
        </p:txBody>
      </p:sp>
      <p:graphicFrame>
        <p:nvGraphicFramePr>
          <p:cNvPr id="5" name="Operatoren"/>
          <p:cNvGraphicFramePr>
            <a:graphicFrameLocks noGrp="1"/>
          </p:cNvGraphicFramePr>
          <p:nvPr>
            <p:extLst>
              <p:ext uri="{D42A27DB-BD31-4B8C-83A1-F6EECF244321}">
                <p14:modId xmlns:p14="http://schemas.microsoft.com/office/powerpoint/2010/main" val="1579011935"/>
              </p:ext>
            </p:extLst>
          </p:nvPr>
        </p:nvGraphicFramePr>
        <p:xfrm>
          <a:off x="548640" y="1298448"/>
          <a:ext cx="11064240" cy="914400"/>
        </p:xfrm>
        <a:graphic>
          <a:graphicData uri="http://schemas.openxmlformats.org/drawingml/2006/table">
            <a:tbl>
              <a:tblPr/>
              <a:tblGrid>
                <a:gridCol w="2514600"/>
                <a:gridCol w="4434840"/>
                <a:gridCol w="4114800"/>
              </a:tblGrid>
              <a:tr h="379476">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Operator</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Erwartung (Operatorenliste)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So holst du die BE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nennen / angeben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ohne Erläuterung aufzählen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kurz und genau das Gefragte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beschreiben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in eigenen Worten mit Fachsprache wiedergeben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Schritte in der richtigen Reihenfolge, Fachbegriffe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erläutern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durch zusätzliche Informationen verständlich machen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Wie? Warum? + Beispiel aus dem Material</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begründen / zeigen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auf Gesetzmäßigkeiten, kausale Zusammenhänge zurückführen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„weil … deshalb …“ bis zur Regel</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dokumentieren / darstellen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Verlauf strukturiert wiedergeben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nur Variablen, eine Zeile je markierter Stelle, Endwerte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implementieren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Algorithmus codieren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Signatur exakt, Leer-/Indexabfragen, Casts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entwickeln / entwerfen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Algorithmus selbstständig erarbeiten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Struktogramm nach §5 mit Signatur im Kopf</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analysieren / untersuchen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wichtige Eigenschaften herausarbeiten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an einem Beispiel durchspielen, Ergebnis formulieren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abschätzen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begründet Größenordnungen angeben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Vergleiche zählen, Verdopplung, Rechenweg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r>
              <a:tr h="379476">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beurteilen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eigenes Urteil mit Fachwissen begründen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Kriterien nennen → Urteil → Begründung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 name="Operator P10"/>
          <p:cNvSpPr/>
          <p:nvPr/>
        </p:nvSpPr>
        <p:spPr>
          <a:xfrm>
            <a:off x="548640" y="5623560"/>
            <a:ext cx="11064240" cy="502920"/>
          </a:xfrm>
          <a:prstGeom prst="roundRect">
            <a:avLst>
              <a:gd name="adj" fmla="val 21818"/>
            </a:avLst>
          </a:prstGeom>
          <a:solidFill>
            <a:schemeClr val="bg1"/>
          </a:solidFill>
          <a:ln w="25400">
            <a:solidFill>
              <a:schemeClr val="accent4"/>
            </a:solidFill>
            <a:prstDash val="solid"/>
          </a:ln>
        </p:spPr>
      </p:sp>
      <p:sp>
        <p:nvSpPr>
          <p:cNvPr id="5" name="Text 2"/>
          <p:cNvSpPr txBox="1"/>
          <p:nvPr/>
        </p:nvSpPr>
        <p:spPr>
          <a:xfrm>
            <a:off x="749808" y="5623560"/>
            <a:ext cx="10698480" cy="502920"/>
          </a:xfrm>
          <a:prstGeom prst="rect">
            <a:avLst/>
          </a:prstGeom>
          <a:noFill/>
          <a:ln/>
        </p:spPr>
        <p:txBody>
          <a:bodyPr wrap="square" lIns="0" tIns="0" rIns="0" bIns="0" rtlCol="0" anchor="ctr"/>
          <a:lstStyle/>
          <a:p>
            <a:pPr indent="0" marL="0">
              <a:buNone/>
            </a:pPr>
            <a:r>
              <a:rPr lang="en-US" sz="1500" b="1" dirty="0">
                <a:solidFill>
                  <a:schemeClr val="accent4"/>
                </a:solidFill>
              </a:rPr>
              <a:t>P10: </a:t>
            </a:r>
            <a:pPr indent="0" marL="0">
              <a:buNone/>
            </a:pPr>
            <a:r>
              <a:rPr lang="en-US" sz="1500" dirty="0">
                <a:solidFill>
                  <a:schemeClr val="tx1"/>
                </a:solidFill>
              </a:rPr>
              <a:t>Wer den Operator überliest, verschenkt BE – „erläutern“ ist mehr als nennen, „begründen“ mehr als beschreiben.</a:t>
            </a:r>
            <a:endParaRPr lang="en-US" sz="1500" dirty="0"/>
          </a:p>
        </p:txBody>
      </p:sp>
      <p:sp>
        <p:nvSpPr>
          <p:cNvPr id="6" name="Text 3"/>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37 · Operatoren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Zeitplanung: 2,5 Minuten je BE</a:t>
            </a:r>
            <a:endParaRPr lang="en-US" sz="3600" dirty="0"/>
          </a:p>
        </p:txBody>
      </p:sp>
      <p:graphicFrame>
        <p:nvGraphicFramePr>
          <p:cNvPr id="6" name="BE-Zeit-Tabelle"/>
          <p:cNvGraphicFramePr>
            <a:graphicFrameLocks noGrp="1"/>
          </p:cNvGraphicFramePr>
          <p:nvPr>
            <p:extLst>
              <p:ext uri="{D42A27DB-BD31-4B8C-83A1-F6EECF244321}">
                <p14:modId xmlns:p14="http://schemas.microsoft.com/office/powerpoint/2010/main" val="1579011935"/>
              </p:ext>
            </p:extLst>
          </p:nvPr>
        </p:nvGraphicFramePr>
        <p:xfrm>
          <a:off x="548640" y="1325880"/>
          <a:ext cx="2926080" cy="914400"/>
        </p:xfrm>
        <a:graphic>
          <a:graphicData uri="http://schemas.openxmlformats.org/drawingml/2006/table">
            <a:tbl>
              <a:tblPr/>
              <a:tblGrid>
                <a:gridCol w="1097280"/>
                <a:gridCol w="1828800"/>
              </a:tblGrid>
              <a:tr h="38404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BE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Zielzeit (min)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84048">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7,5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12,5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35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87,5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r>
              <a:tr h="384048">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60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150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r>
            </a:tbl>
          </a:graphicData>
        </a:graphic>
      </p:graphicFrame>
      <p:sp>
        <p:nvSpPr>
          <p:cNvPr id="4" name="Text 1"/>
          <p:cNvSpPr txBox="1"/>
          <p:nvPr/>
        </p:nvSpPr>
        <p:spPr>
          <a:xfrm>
            <a:off x="548640" y="5257800"/>
            <a:ext cx="2926080" cy="274320"/>
          </a:xfrm>
          <a:prstGeom prst="rect">
            <a:avLst/>
          </a:prstGeom>
          <a:noFill/>
          <a:ln/>
        </p:spPr>
        <p:txBody>
          <a:bodyPr wrap="square" lIns="0" tIns="0" rIns="0" bIns="0" rtlCol="0" anchor="t"/>
          <a:lstStyle/>
          <a:p>
            <a:pPr indent="0" marL="0">
              <a:buNone/>
            </a:pPr>
            <a:r>
              <a:rPr lang="en-US" sz="1200" i="1" dirty="0">
                <a:solidFill>
                  <a:schemeClr val="accent6"/>
                </a:solidFill>
              </a:rPr>
              <a:t>35 BE = Probeklausur · 60 BE = Klausur</a:t>
            </a:r>
            <a:endParaRPr lang="en-US" sz="1200" dirty="0"/>
          </a:p>
        </p:txBody>
      </p:sp>
      <p:sp>
        <p:nvSpPr>
          <p:cNvPr id="5" name="Text 2"/>
          <p:cNvSpPr txBox="1"/>
          <p:nvPr/>
        </p:nvSpPr>
        <p:spPr>
          <a:xfrm>
            <a:off x="3931920" y="1325880"/>
            <a:ext cx="7680960" cy="329184"/>
          </a:xfrm>
          <a:prstGeom prst="rect">
            <a:avLst/>
          </a:prstGeom>
          <a:noFill/>
          <a:ln/>
        </p:spPr>
        <p:txBody>
          <a:bodyPr wrap="square" lIns="0" tIns="0" rIns="0" bIns="0" rtlCol="0" anchor="t"/>
          <a:lstStyle/>
          <a:p>
            <a:pPr indent="0" marL="0">
              <a:buNone/>
            </a:pPr>
            <a:r>
              <a:rPr lang="en-US" sz="1800" b="1" dirty="0">
                <a:solidFill>
                  <a:schemeClr val="accent1"/>
                </a:solidFill>
              </a:rPr>
              <a:t>Generalprobe heute: </a:t>
            </a:r>
            <a:pPr indent="0" marL="0">
              <a:buNone/>
            </a:pPr>
            <a:r>
              <a:rPr lang="en-US" sz="1800" dirty="0">
                <a:solidFill>
                  <a:schemeClr val="tx1"/>
                </a:solidFill>
              </a:rPr>
              <a:t>90 min für 35 BE</a:t>
            </a:r>
            <a:endParaRPr lang="en-US" sz="1800" dirty="0"/>
          </a:p>
        </p:txBody>
      </p:sp>
      <p:sp>
        <p:nvSpPr>
          <p:cNvPr id="6" name="Probe a"/>
          <p:cNvSpPr txBox="1"/>
          <p:nvPr/>
        </p:nvSpPr>
        <p:spPr>
          <a:xfrm>
            <a:off x="3931920" y="1755648"/>
            <a:ext cx="853440" cy="502920"/>
          </a:xfrm>
          <a:prstGeom prst="rect">
            <a:avLst/>
          </a:prstGeom>
          <a:solidFill>
            <a:schemeClr val="accent1"/>
          </a:solidFill>
          <a:ln w="12700">
            <a:solidFill>
              <a:schemeClr val="bg1"/>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Text 4"/>
          <p:cNvSpPr txBox="1"/>
          <p:nvPr/>
        </p:nvSpPr>
        <p:spPr>
          <a:xfrm>
            <a:off x="3931920" y="2286000"/>
            <a:ext cx="853440" cy="237744"/>
          </a:xfrm>
          <a:prstGeom prst="rect">
            <a:avLst/>
          </a:prstGeom>
          <a:noFill/>
          <a:ln/>
        </p:spPr>
        <p:txBody>
          <a:bodyPr wrap="square" lIns="0" tIns="0" rIns="0" bIns="0" rtlCol="0" anchor="t"/>
          <a:lstStyle/>
          <a:p>
            <a:pPr algn="ctr" indent="0" marL="0">
              <a:buNone/>
            </a:pPr>
            <a:r>
              <a:rPr lang="en-US" sz="1200" dirty="0">
                <a:solidFill>
                  <a:schemeClr val="accent6"/>
                </a:solidFill>
              </a:rPr>
              <a:t>10</a:t>
            </a:r>
            <a:endParaRPr lang="en-US" sz="1200" dirty="0"/>
          </a:p>
        </p:txBody>
      </p:sp>
      <p:sp>
        <p:nvSpPr>
          <p:cNvPr id="8" name="Probe b"/>
          <p:cNvSpPr txBox="1"/>
          <p:nvPr/>
        </p:nvSpPr>
        <p:spPr>
          <a:xfrm>
            <a:off x="4785360" y="1755648"/>
            <a:ext cx="1493520" cy="502920"/>
          </a:xfrm>
          <a:prstGeom prst="rect">
            <a:avLst/>
          </a:prstGeom>
          <a:solidFill>
            <a:schemeClr val="accent6"/>
          </a:solidFill>
          <a:ln w="12700">
            <a:solidFill>
              <a:schemeClr val="bg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9" name="Text 6"/>
          <p:cNvSpPr txBox="1"/>
          <p:nvPr/>
        </p:nvSpPr>
        <p:spPr>
          <a:xfrm>
            <a:off x="4785360" y="2286000"/>
            <a:ext cx="1493520" cy="237744"/>
          </a:xfrm>
          <a:prstGeom prst="rect">
            <a:avLst/>
          </a:prstGeom>
          <a:noFill/>
          <a:ln/>
        </p:spPr>
        <p:txBody>
          <a:bodyPr wrap="square" lIns="0" tIns="0" rIns="0" bIns="0" rtlCol="0" anchor="t"/>
          <a:lstStyle/>
          <a:p>
            <a:pPr algn="ctr" indent="0" marL="0">
              <a:buNone/>
            </a:pPr>
            <a:r>
              <a:rPr lang="en-US" sz="1200" dirty="0">
                <a:solidFill>
                  <a:schemeClr val="accent6"/>
                </a:solidFill>
              </a:rPr>
              <a:t>17,5</a:t>
            </a:r>
            <a:endParaRPr lang="en-US" sz="1200" dirty="0"/>
          </a:p>
        </p:txBody>
      </p:sp>
      <p:sp>
        <p:nvSpPr>
          <p:cNvPr id="10" name="Probe c"/>
          <p:cNvSpPr txBox="1"/>
          <p:nvPr/>
        </p:nvSpPr>
        <p:spPr>
          <a:xfrm>
            <a:off x="6278880" y="1755648"/>
            <a:ext cx="1280160" cy="502920"/>
          </a:xfrm>
          <a:prstGeom prst="rect">
            <a:avLst/>
          </a:prstGeom>
          <a:solidFill>
            <a:schemeClr val="accent1"/>
          </a:solidFill>
          <a:ln w="12700">
            <a:solidFill>
              <a:schemeClr val="bg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1" name="Text 8"/>
          <p:cNvSpPr txBox="1"/>
          <p:nvPr/>
        </p:nvSpPr>
        <p:spPr>
          <a:xfrm>
            <a:off x="6278880" y="2286000"/>
            <a:ext cx="1280160" cy="237744"/>
          </a:xfrm>
          <a:prstGeom prst="rect">
            <a:avLst/>
          </a:prstGeom>
          <a:noFill/>
          <a:ln/>
        </p:spPr>
        <p:txBody>
          <a:bodyPr wrap="square" lIns="0" tIns="0" rIns="0" bIns="0" rtlCol="0" anchor="t"/>
          <a:lstStyle/>
          <a:p>
            <a:pPr algn="ctr" indent="0" marL="0">
              <a:buNone/>
            </a:pPr>
            <a:r>
              <a:rPr lang="en-US" sz="1200" dirty="0">
                <a:solidFill>
                  <a:schemeClr val="accent6"/>
                </a:solidFill>
              </a:rPr>
              <a:t>15</a:t>
            </a:r>
            <a:endParaRPr lang="en-US" sz="1200" dirty="0"/>
          </a:p>
        </p:txBody>
      </p:sp>
      <p:sp>
        <p:nvSpPr>
          <p:cNvPr id="12" name="Probe d"/>
          <p:cNvSpPr txBox="1"/>
          <p:nvPr/>
        </p:nvSpPr>
        <p:spPr>
          <a:xfrm>
            <a:off x="7559040" y="1755648"/>
            <a:ext cx="853440" cy="502920"/>
          </a:xfrm>
          <a:prstGeom prst="rect">
            <a:avLst/>
          </a:prstGeom>
          <a:solidFill>
            <a:schemeClr val="accent6"/>
          </a:solidFill>
          <a:ln w="12700">
            <a:solidFill>
              <a:schemeClr val="bg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3" name="Text 10"/>
          <p:cNvSpPr txBox="1"/>
          <p:nvPr/>
        </p:nvSpPr>
        <p:spPr>
          <a:xfrm>
            <a:off x="7559040" y="2286000"/>
            <a:ext cx="853440" cy="237744"/>
          </a:xfrm>
          <a:prstGeom prst="rect">
            <a:avLst/>
          </a:prstGeom>
          <a:noFill/>
          <a:ln/>
        </p:spPr>
        <p:txBody>
          <a:bodyPr wrap="square" lIns="0" tIns="0" rIns="0" bIns="0" rtlCol="0" anchor="t"/>
          <a:lstStyle/>
          <a:p>
            <a:pPr algn="ctr" indent="0" marL="0">
              <a:buNone/>
            </a:pPr>
            <a:r>
              <a:rPr lang="en-US" sz="1200" dirty="0">
                <a:solidFill>
                  <a:schemeClr val="accent6"/>
                </a:solidFill>
              </a:rPr>
              <a:t>10</a:t>
            </a:r>
            <a:endParaRPr lang="en-US" sz="1200" dirty="0"/>
          </a:p>
        </p:txBody>
      </p:sp>
      <p:sp>
        <p:nvSpPr>
          <p:cNvPr id="14" name="Probe e"/>
          <p:cNvSpPr txBox="1"/>
          <p:nvPr/>
        </p:nvSpPr>
        <p:spPr>
          <a:xfrm>
            <a:off x="8412480" y="1755648"/>
            <a:ext cx="426720" cy="502920"/>
          </a:xfrm>
          <a:prstGeom prst="rect">
            <a:avLst/>
          </a:prstGeom>
          <a:solidFill>
            <a:schemeClr val="accent1"/>
          </a:solidFill>
          <a:ln w="12700">
            <a:solidFill>
              <a:schemeClr val="bg1"/>
            </a:solid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15" name="Text 12"/>
          <p:cNvSpPr txBox="1"/>
          <p:nvPr/>
        </p:nvSpPr>
        <p:spPr>
          <a:xfrm>
            <a:off x="8412480" y="2286000"/>
            <a:ext cx="426720" cy="237744"/>
          </a:xfrm>
          <a:prstGeom prst="rect">
            <a:avLst/>
          </a:prstGeom>
          <a:noFill/>
          <a:ln/>
        </p:spPr>
        <p:txBody>
          <a:bodyPr wrap="square" lIns="0" tIns="0" rIns="0" bIns="0" rtlCol="0" anchor="t"/>
          <a:lstStyle/>
          <a:p>
            <a:pPr algn="ctr" indent="0" marL="0">
              <a:buNone/>
            </a:pPr>
            <a:r>
              <a:rPr lang="en-US" sz="1200" dirty="0">
                <a:solidFill>
                  <a:schemeClr val="accent6"/>
                </a:solidFill>
              </a:rPr>
              <a:t>5</a:t>
            </a:r>
            <a:endParaRPr lang="en-US" sz="1200" dirty="0"/>
          </a:p>
        </p:txBody>
      </p:sp>
      <p:sp>
        <p:nvSpPr>
          <p:cNvPr id="16" name="Probe f"/>
          <p:cNvSpPr txBox="1"/>
          <p:nvPr/>
        </p:nvSpPr>
        <p:spPr>
          <a:xfrm>
            <a:off x="8839200" y="1755648"/>
            <a:ext cx="1066800" cy="502920"/>
          </a:xfrm>
          <a:prstGeom prst="rect">
            <a:avLst/>
          </a:prstGeom>
          <a:solidFill>
            <a:schemeClr val="accent6"/>
          </a:solidFill>
          <a:ln w="12700">
            <a:solidFill>
              <a:schemeClr val="bg1"/>
            </a:solid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17" name="Text 14"/>
          <p:cNvSpPr txBox="1"/>
          <p:nvPr/>
        </p:nvSpPr>
        <p:spPr>
          <a:xfrm>
            <a:off x="8839200" y="2286000"/>
            <a:ext cx="1066800" cy="237744"/>
          </a:xfrm>
          <a:prstGeom prst="rect">
            <a:avLst/>
          </a:prstGeom>
          <a:noFill/>
          <a:ln/>
        </p:spPr>
        <p:txBody>
          <a:bodyPr wrap="square" lIns="0" tIns="0" rIns="0" bIns="0" rtlCol="0" anchor="t"/>
          <a:lstStyle/>
          <a:p>
            <a:pPr algn="ctr" indent="0" marL="0">
              <a:buNone/>
            </a:pPr>
            <a:r>
              <a:rPr lang="en-US" sz="1200" dirty="0">
                <a:solidFill>
                  <a:schemeClr val="accent6"/>
                </a:solidFill>
              </a:rPr>
              <a:t>12,5</a:t>
            </a:r>
            <a:endParaRPr lang="en-US" sz="1200" dirty="0"/>
          </a:p>
        </p:txBody>
      </p:sp>
      <p:sp>
        <p:nvSpPr>
          <p:cNvPr id="18" name="Probe g"/>
          <p:cNvSpPr txBox="1"/>
          <p:nvPr/>
        </p:nvSpPr>
        <p:spPr>
          <a:xfrm>
            <a:off x="9906000" y="1755648"/>
            <a:ext cx="426720" cy="502920"/>
          </a:xfrm>
          <a:prstGeom prst="rect">
            <a:avLst/>
          </a:prstGeom>
          <a:solidFill>
            <a:schemeClr val="accent1"/>
          </a:solidFill>
          <a:ln w="12700">
            <a:solidFill>
              <a:schemeClr val="bg1"/>
            </a:solidFill>
          </a:ln>
        </p:spPr>
        <p:txBody>
          <a:bodyPr wrap="square" lIns="0" tIns="0" rIns="0" bIns="0" rtlCol="0" anchor="ctr"/>
          <a:lstStyle/>
          <a:p>
            <a:pPr algn="ctr" indent="0" marL="0">
              <a:buNone/>
            </a:pPr>
            <a:r>
              <a:rPr lang="en-US" sz="1400" b="1" dirty="0">
                <a:solidFill>
                  <a:schemeClr val="bg1"/>
                </a:solidFill>
              </a:rPr>
              <a:t>g)</a:t>
            </a:r>
            <a:endParaRPr lang="en-US" sz="1400" dirty="0"/>
          </a:p>
        </p:txBody>
      </p:sp>
      <p:sp>
        <p:nvSpPr>
          <p:cNvPr id="19" name="Text 16"/>
          <p:cNvSpPr txBox="1"/>
          <p:nvPr/>
        </p:nvSpPr>
        <p:spPr>
          <a:xfrm>
            <a:off x="9906000" y="2286000"/>
            <a:ext cx="426720" cy="237744"/>
          </a:xfrm>
          <a:prstGeom prst="rect">
            <a:avLst/>
          </a:prstGeom>
          <a:noFill/>
          <a:ln/>
        </p:spPr>
        <p:txBody>
          <a:bodyPr wrap="square" lIns="0" tIns="0" rIns="0" bIns="0" rtlCol="0" anchor="t"/>
          <a:lstStyle/>
          <a:p>
            <a:pPr algn="ctr" indent="0" marL="0">
              <a:buNone/>
            </a:pPr>
            <a:r>
              <a:rPr lang="en-US" sz="1200" dirty="0">
                <a:solidFill>
                  <a:schemeClr val="accent6"/>
                </a:solidFill>
              </a:rPr>
              <a:t>5</a:t>
            </a:r>
            <a:endParaRPr lang="en-US" sz="1200" dirty="0"/>
          </a:p>
        </p:txBody>
      </p:sp>
      <p:sp>
        <p:nvSpPr>
          <p:cNvPr id="20" name="Probe h"/>
          <p:cNvSpPr txBox="1"/>
          <p:nvPr/>
        </p:nvSpPr>
        <p:spPr>
          <a:xfrm>
            <a:off x="10332720" y="1755648"/>
            <a:ext cx="1066800" cy="502920"/>
          </a:xfrm>
          <a:prstGeom prst="rect">
            <a:avLst/>
          </a:prstGeom>
          <a:solidFill>
            <a:schemeClr val="accent6"/>
          </a:solidFill>
          <a:ln w="12700">
            <a:solidFill>
              <a:schemeClr val="bg1"/>
            </a:solidFill>
          </a:ln>
        </p:spPr>
        <p:txBody>
          <a:bodyPr wrap="square" lIns="0" tIns="0" rIns="0" bIns="0" rtlCol="0" anchor="ctr"/>
          <a:lstStyle/>
          <a:p>
            <a:pPr algn="ctr" indent="0" marL="0">
              <a:buNone/>
            </a:pPr>
            <a:r>
              <a:rPr lang="en-US" sz="1400" b="1" dirty="0">
                <a:solidFill>
                  <a:schemeClr val="bg1"/>
                </a:solidFill>
              </a:rPr>
              <a:t>h)</a:t>
            </a:r>
            <a:endParaRPr lang="en-US" sz="1400" dirty="0"/>
          </a:p>
        </p:txBody>
      </p:sp>
      <p:sp>
        <p:nvSpPr>
          <p:cNvPr id="21" name="Text 18"/>
          <p:cNvSpPr txBox="1"/>
          <p:nvPr/>
        </p:nvSpPr>
        <p:spPr>
          <a:xfrm>
            <a:off x="10332720" y="2286000"/>
            <a:ext cx="1066800" cy="237744"/>
          </a:xfrm>
          <a:prstGeom prst="rect">
            <a:avLst/>
          </a:prstGeom>
          <a:noFill/>
          <a:ln/>
        </p:spPr>
        <p:txBody>
          <a:bodyPr wrap="square" lIns="0" tIns="0" rIns="0" bIns="0" rtlCol="0" anchor="t"/>
          <a:lstStyle/>
          <a:p>
            <a:pPr algn="ctr" indent="0" marL="0">
              <a:buNone/>
            </a:pPr>
            <a:r>
              <a:rPr lang="en-US" sz="1200" dirty="0">
                <a:solidFill>
                  <a:schemeClr val="accent6"/>
                </a:solidFill>
              </a:rPr>
              <a:t>12,5</a:t>
            </a:r>
            <a:endParaRPr lang="en-US" sz="1200" dirty="0"/>
          </a:p>
        </p:txBody>
      </p:sp>
      <p:sp>
        <p:nvSpPr>
          <p:cNvPr id="22" name="Probe Rest"/>
          <p:cNvSpPr txBox="1"/>
          <p:nvPr/>
        </p:nvSpPr>
        <p:spPr>
          <a:xfrm>
            <a:off x="11399520" y="1755648"/>
            <a:ext cx="213360" cy="502920"/>
          </a:xfrm>
          <a:prstGeom prst="rect">
            <a:avLst/>
          </a:prstGeom>
          <a:solidFill>
            <a:srgbClr val="FBE5E5"/>
          </a:solidFill>
          <a:ln w="12700">
            <a:solidFill>
              <a:schemeClr val="accent4"/>
            </a:solidFill>
          </a:ln>
        </p:spPr>
        <p:txBody>
          <a:bodyPr wrap="square" lIns="0" tIns="0" rIns="0" bIns="0" rtlCol="0" anchor="t"/>
          <a:lstStyle/>
          <a:p>
            <a:pPr indent="0" marL="0">
              <a:buNone/>
            </a:pPr>
            <a:endParaRPr lang="en-US" sz="1800" dirty="0"/>
          </a:p>
        </p:txBody>
      </p:sp>
      <p:sp>
        <p:nvSpPr>
          <p:cNvPr id="23" name="Text 20"/>
          <p:cNvSpPr txBox="1"/>
          <p:nvPr/>
        </p:nvSpPr>
        <p:spPr>
          <a:xfrm>
            <a:off x="11308080" y="2286000"/>
            <a:ext cx="396240" cy="237744"/>
          </a:xfrm>
          <a:prstGeom prst="rect">
            <a:avLst/>
          </a:prstGeom>
          <a:noFill/>
          <a:ln/>
        </p:spPr>
        <p:txBody>
          <a:bodyPr wrap="square" lIns="0" tIns="0" rIns="0" bIns="0" rtlCol="0" anchor="t"/>
          <a:lstStyle/>
          <a:p>
            <a:pPr algn="ctr" indent="0" marL="0">
              <a:buNone/>
            </a:pPr>
            <a:r>
              <a:rPr lang="en-US" sz="1200" b="1" dirty="0">
                <a:solidFill>
                  <a:schemeClr val="accent4"/>
                </a:solidFill>
              </a:rPr>
              <a:t>2,5</a:t>
            </a:r>
            <a:endParaRPr lang="en-US" sz="1200" dirty="0"/>
          </a:p>
        </p:txBody>
      </p:sp>
      <p:sp>
        <p:nvSpPr>
          <p:cNvPr id="24" name="Knapp"/>
          <p:cNvSpPr/>
          <p:nvPr/>
        </p:nvSpPr>
        <p:spPr>
          <a:xfrm>
            <a:off x="3931920" y="2651760"/>
            <a:ext cx="7680960" cy="658368"/>
          </a:xfrm>
          <a:prstGeom prst="roundRect">
            <a:avLst>
              <a:gd name="adj" fmla="val 16667"/>
            </a:avLst>
          </a:prstGeom>
          <a:solidFill>
            <a:schemeClr val="bg1"/>
          </a:solidFill>
          <a:ln w="25400">
            <a:solidFill>
              <a:schemeClr val="accent4"/>
            </a:solidFill>
            <a:prstDash val="solid"/>
          </a:ln>
        </p:spPr>
      </p:sp>
      <p:sp>
        <p:nvSpPr>
          <p:cNvPr id="25" name="Text 22"/>
          <p:cNvSpPr txBox="1"/>
          <p:nvPr/>
        </p:nvSpPr>
        <p:spPr>
          <a:xfrm>
            <a:off x="4133088" y="2651760"/>
            <a:ext cx="7315200" cy="658368"/>
          </a:xfrm>
          <a:prstGeom prst="rect">
            <a:avLst/>
          </a:prstGeom>
          <a:noFill/>
          <a:ln/>
        </p:spPr>
        <p:txBody>
          <a:bodyPr wrap="square" lIns="0" tIns="0" rIns="0" bIns="0" rtlCol="0" anchor="ctr"/>
          <a:lstStyle/>
          <a:p>
            <a:pPr indent="0" marL="0">
              <a:buNone/>
            </a:pPr>
            <a:r>
              <a:rPr lang="en-US" sz="1500" b="1" dirty="0">
                <a:solidFill>
                  <a:schemeClr val="accent4"/>
                </a:solidFill>
              </a:rPr>
              <a:t>Knapp! </a:t>
            </a:r>
            <a:pPr indent="0" marL="0">
              <a:buNone/>
            </a:pPr>
            <a:r>
              <a:rPr lang="en-US" sz="1500" dirty="0">
                <a:solidFill>
                  <a:schemeClr val="tx1"/>
                </a:solidFill>
              </a:rPr>
              <a:t>35 BE × 2,5 min = 87,5 min – AFB-I-Teile (a, d) zügig holen, damit Zeit für Abi-Check und Reserve bleibt.</a:t>
            </a:r>
            <a:endParaRPr lang="en-US" sz="1500" dirty="0"/>
          </a:p>
        </p:txBody>
      </p:sp>
      <p:sp>
        <p:nvSpPr>
          <p:cNvPr id="26" name="Text 23"/>
          <p:cNvSpPr txBox="1"/>
          <p:nvPr/>
        </p:nvSpPr>
        <p:spPr>
          <a:xfrm>
            <a:off x="3931920" y="3566160"/>
            <a:ext cx="7680960" cy="329184"/>
          </a:xfrm>
          <a:prstGeom prst="rect">
            <a:avLst/>
          </a:prstGeom>
          <a:noFill/>
          <a:ln/>
        </p:spPr>
        <p:txBody>
          <a:bodyPr wrap="square" lIns="0" tIns="0" rIns="0" bIns="0" rtlCol="0" anchor="t"/>
          <a:lstStyle/>
          <a:p>
            <a:pPr indent="0" marL="0">
              <a:buNone/>
            </a:pPr>
            <a:r>
              <a:rPr lang="en-US" sz="1800" b="1" dirty="0">
                <a:solidFill>
                  <a:schemeClr val="accent1"/>
                </a:solidFill>
              </a:rPr>
              <a:t>Klausur und Abitur-Format: </a:t>
            </a:r>
            <a:pPr indent="0" marL="0">
              <a:buNone/>
            </a:pPr>
            <a:r>
              <a:rPr lang="en-US" sz="1800" dirty="0">
                <a:solidFill>
                  <a:schemeClr val="tx1"/>
                </a:solidFill>
              </a:rPr>
              <a:t>180 min für 60 BE</a:t>
            </a:r>
            <a:endParaRPr lang="en-US" sz="1800" dirty="0"/>
          </a:p>
        </p:txBody>
      </p:sp>
      <p:sp>
        <p:nvSpPr>
          <p:cNvPr id="27" name="Klausur Einlesen"/>
          <p:cNvSpPr txBox="1"/>
          <p:nvPr/>
        </p:nvSpPr>
        <p:spPr>
          <a:xfrm>
            <a:off x="3931920" y="3995928"/>
            <a:ext cx="640080" cy="502920"/>
          </a:xfrm>
          <a:prstGeom prst="rect">
            <a:avLst/>
          </a:prstGeom>
          <a:solidFill>
            <a:schemeClr val="accent2"/>
          </a:solidFill>
          <a:ln w="12700">
            <a:solidFill>
              <a:schemeClr val="bg1"/>
            </a:solidFill>
          </a:ln>
        </p:spPr>
        <p:txBody>
          <a:bodyPr wrap="square" lIns="0" tIns="0" rIns="0" bIns="0" rtlCol="0" anchor="ctr"/>
          <a:lstStyle/>
          <a:p>
            <a:pPr algn="ctr" indent="0" marL="0">
              <a:buNone/>
            </a:pPr>
            <a:endParaRPr lang="en-US" sz="1400" dirty="0"/>
          </a:p>
        </p:txBody>
      </p:sp>
      <p:sp>
        <p:nvSpPr>
          <p:cNvPr id="28" name="Text 25"/>
          <p:cNvSpPr txBox="1"/>
          <p:nvPr/>
        </p:nvSpPr>
        <p:spPr>
          <a:xfrm>
            <a:off x="3657600" y="4526280"/>
            <a:ext cx="1188720" cy="237744"/>
          </a:xfrm>
          <a:prstGeom prst="rect">
            <a:avLst/>
          </a:prstGeom>
          <a:noFill/>
          <a:ln/>
        </p:spPr>
        <p:txBody>
          <a:bodyPr wrap="square" lIns="0" tIns="0" rIns="0" bIns="0" rtlCol="0" anchor="t"/>
          <a:lstStyle/>
          <a:p>
            <a:pPr algn="ctr" indent="0" marL="0">
              <a:buNone/>
            </a:pPr>
            <a:r>
              <a:rPr lang="en-US" sz="1200" b="1" dirty="0">
                <a:solidFill>
                  <a:schemeClr val="accent2"/>
                </a:solidFill>
              </a:rPr>
              <a:t>Einlesen 15</a:t>
            </a:r>
            <a:endParaRPr lang="en-US" sz="1200" dirty="0"/>
          </a:p>
        </p:txBody>
      </p:sp>
      <p:sp>
        <p:nvSpPr>
          <p:cNvPr id="29" name="Klausur Bearbeiten: 60 BE × 2,5 min = 150 min"/>
          <p:cNvSpPr txBox="1"/>
          <p:nvPr/>
        </p:nvSpPr>
        <p:spPr>
          <a:xfrm>
            <a:off x="4572000" y="3995928"/>
            <a:ext cx="6400800" cy="502920"/>
          </a:xfrm>
          <a:prstGeom prst="rect">
            <a:avLst/>
          </a:prstGeom>
          <a:solidFill>
            <a:schemeClr val="accent1"/>
          </a:solidFill>
          <a:ln w="12700">
            <a:solidFill>
              <a:schemeClr val="bg1"/>
            </a:solidFill>
          </a:ln>
        </p:spPr>
        <p:txBody>
          <a:bodyPr wrap="square" lIns="0" tIns="0" rIns="0" bIns="0" rtlCol="0" anchor="ctr"/>
          <a:lstStyle/>
          <a:p>
            <a:pPr algn="ctr" indent="0" marL="0">
              <a:buNone/>
            </a:pPr>
            <a:r>
              <a:rPr lang="en-US" sz="1400" b="1" dirty="0">
                <a:solidFill>
                  <a:schemeClr val="bg1"/>
                </a:solidFill>
              </a:rPr>
              <a:t>Bearbeiten: 60 BE × 2,5 min = 150 min</a:t>
            </a:r>
            <a:endParaRPr lang="en-US" sz="1400" dirty="0"/>
          </a:p>
        </p:txBody>
      </p:sp>
      <p:sp>
        <p:nvSpPr>
          <p:cNvPr id="30" name="Klausur Reserve"/>
          <p:cNvSpPr txBox="1"/>
          <p:nvPr/>
        </p:nvSpPr>
        <p:spPr>
          <a:xfrm>
            <a:off x="10972800" y="3995928"/>
            <a:ext cx="640080" cy="502920"/>
          </a:xfrm>
          <a:prstGeom prst="rect">
            <a:avLst/>
          </a:prstGeom>
          <a:solidFill>
            <a:schemeClr val="accent3"/>
          </a:solidFill>
          <a:ln w="12700">
            <a:solidFill>
              <a:schemeClr val="bg1"/>
            </a:solidFill>
          </a:ln>
        </p:spPr>
        <p:txBody>
          <a:bodyPr wrap="square" lIns="0" tIns="0" rIns="0" bIns="0" rtlCol="0" anchor="ctr"/>
          <a:lstStyle/>
          <a:p>
            <a:pPr algn="ctr" indent="0" marL="0">
              <a:buNone/>
            </a:pPr>
            <a:endParaRPr lang="en-US" sz="1400" dirty="0"/>
          </a:p>
        </p:txBody>
      </p:sp>
      <p:sp>
        <p:nvSpPr>
          <p:cNvPr id="31" name="Text 28"/>
          <p:cNvSpPr txBox="1"/>
          <p:nvPr/>
        </p:nvSpPr>
        <p:spPr>
          <a:xfrm>
            <a:off x="10698480" y="4526280"/>
            <a:ext cx="1188720" cy="237744"/>
          </a:xfrm>
          <a:prstGeom prst="rect">
            <a:avLst/>
          </a:prstGeom>
          <a:noFill/>
          <a:ln/>
        </p:spPr>
        <p:txBody>
          <a:bodyPr wrap="square" lIns="0" tIns="0" rIns="0" bIns="0" rtlCol="0" anchor="t"/>
          <a:lstStyle/>
          <a:p>
            <a:pPr algn="ctr" indent="0" marL="0">
              <a:buNone/>
            </a:pPr>
            <a:r>
              <a:rPr lang="en-US" sz="1200" b="1" dirty="0">
                <a:solidFill>
                  <a:schemeClr val="accent3"/>
                </a:solidFill>
              </a:rPr>
              <a:t>Reserve 15</a:t>
            </a:r>
            <a:endParaRPr lang="en-US" sz="1200" dirty="0"/>
          </a:p>
        </p:txBody>
      </p:sp>
      <p:sp>
        <p:nvSpPr>
          <p:cNvPr id="32" name="Zielzeiten"/>
          <p:cNvSpPr/>
          <p:nvPr/>
        </p:nvSpPr>
        <p:spPr>
          <a:xfrm>
            <a:off x="3931920" y="4983480"/>
            <a:ext cx="7680960" cy="1143000"/>
          </a:xfrm>
          <a:prstGeom prst="roundRect">
            <a:avLst>
              <a:gd name="adj" fmla="val 9600"/>
            </a:avLst>
          </a:prstGeom>
          <a:solidFill>
            <a:schemeClr val="bg2"/>
          </a:solidFill>
          <a:ln/>
        </p:spPr>
      </p:sp>
      <p:sp>
        <p:nvSpPr>
          <p:cNvPr id="33" name="Text 30"/>
          <p:cNvSpPr txBox="1"/>
          <p:nvPr/>
        </p:nvSpPr>
        <p:spPr>
          <a:xfrm>
            <a:off x="4133088" y="4983480"/>
            <a:ext cx="7315200" cy="1143000"/>
          </a:xfrm>
          <a:prstGeom prst="rect">
            <a:avLst/>
          </a:prstGeom>
          <a:noFill/>
          <a:ln/>
        </p:spPr>
        <p:txBody>
          <a:bodyPr wrap="square" lIns="0" tIns="0" rIns="0" bIns="0" rtlCol="0" anchor="ctr"/>
          <a:lstStyle/>
          <a:p>
            <a:pPr indent="0" marL="0">
              <a:buNone/>
            </a:pPr>
            <a:r>
              <a:rPr lang="en-US" sz="1500" b="1" dirty="0">
                <a:solidFill>
                  <a:schemeClr val="accent1"/>
                </a:solidFill>
              </a:rPr>
              <a:t>Zielzeiten an den Rand: </a:t>
            </a:r>
            <a:pPr indent="0" marL="0">
              <a:buNone/>
            </a:pPr>
            <a:r>
              <a:rPr lang="en-US" sz="1500" dirty="0">
                <a:solidFill>
                  <a:schemeClr val="tx1"/>
                </a:solidFill>
              </a:rPr>
              <a:t>Schreib beim Einlesen neben jede Teilaufgabe ihre Zielzeit und die Uhrzeit, bis zu der du fertig sein willst. Bist du 5 Minuten drüber: Lücke markieren, weiter, später zurück.</a:t>
            </a:r>
            <a:endParaRPr lang="en-US" sz="1500" dirty="0"/>
          </a:p>
        </p:txBody>
      </p:sp>
      <p:sp>
        <p:nvSpPr>
          <p:cNvPr id="34" name="Text 31"/>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37 · Zeitplanung</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Prüfungsstrategie in vier Schritten</a:t>
            </a:r>
            <a:endParaRPr lang="en-US" sz="3600" dirty="0"/>
          </a:p>
        </p:txBody>
      </p:sp>
      <p:sp>
        <p:nvSpPr>
          <p:cNvPr id="3" name="Schritt 1"/>
          <p:cNvSpPr/>
          <p:nvPr/>
        </p:nvSpPr>
        <p:spPr>
          <a:xfrm>
            <a:off x="548640" y="1325880"/>
            <a:ext cx="2651760" cy="3886200"/>
          </a:xfrm>
          <a:prstGeom prst="roundRect">
            <a:avLst>
              <a:gd name="adj" fmla="val 4138"/>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 name="Nummer 1"/>
          <p:cNvSpPr txBox="1"/>
          <p:nvPr/>
        </p:nvSpPr>
        <p:spPr>
          <a:xfrm>
            <a:off x="685800" y="146304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5" name="Icon-Kreis"/>
          <p:cNvSpPr/>
          <p:nvPr/>
        </p:nvSpPr>
        <p:spPr>
          <a:xfrm>
            <a:off x="2331720" y="1463040"/>
            <a:ext cx="731520" cy="731520"/>
          </a:xfrm>
          <a:prstGeom prst="ellipse">
            <a:avLst/>
          </a:prstGeom>
          <a:solidFill>
            <a:schemeClr val="accent1"/>
          </a:solidFill>
          <a:ln/>
        </p:spPr>
      </p:sp>
      <p:pic>
        <p:nvPicPr>
          <p:cNvPr id="6" name="Icon GiSpyglass" descr="preencoded.png">    </p:cNvPr>
          <p:cNvPicPr>
            <a:picLocks noChangeAspect="1"/>
          </p:cNvPicPr>
          <p:nvPr/>
        </p:nvPicPr>
        <p:blipFill>
          <a:blip r:embed="rId1"/>
          <a:stretch>
            <a:fillRect/>
          </a:stretch>
        </p:blipFill>
        <p:spPr>
          <a:xfrm>
            <a:off x="2492654" y="1623974"/>
            <a:ext cx="409651" cy="409651"/>
          </a:xfrm>
          <a:prstGeom prst="rect">
            <a:avLst/>
          </a:prstGeom>
        </p:spPr>
      </p:pic>
      <p:sp>
        <p:nvSpPr>
          <p:cNvPr id="7" name="Text 4"/>
          <p:cNvSpPr txBox="1"/>
          <p:nvPr/>
        </p:nvSpPr>
        <p:spPr>
          <a:xfrm>
            <a:off x="685800" y="2286000"/>
            <a:ext cx="2377440" cy="365760"/>
          </a:xfrm>
          <a:prstGeom prst="rect">
            <a:avLst/>
          </a:prstGeom>
          <a:noFill/>
          <a:ln/>
        </p:spPr>
        <p:txBody>
          <a:bodyPr wrap="square" lIns="0" tIns="0" rIns="0" bIns="0" rtlCol="0" anchor="t"/>
          <a:lstStyle/>
          <a:p>
            <a:pPr indent="0" marL="0">
              <a:buNone/>
            </a:pPr>
            <a:r>
              <a:rPr lang="en-US" sz="1900" b="1" dirty="0">
                <a:solidFill>
                  <a:schemeClr val="accent1"/>
                </a:solidFill>
              </a:rPr>
              <a:t>Überfliegen</a:t>
            </a:r>
            <a:endParaRPr lang="en-US" sz="1900" dirty="0"/>
          </a:p>
        </p:txBody>
      </p:sp>
      <p:sp>
        <p:nvSpPr>
          <p:cNvPr id="8" name="Text 5"/>
          <p:cNvSpPr txBox="1"/>
          <p:nvPr/>
        </p:nvSpPr>
        <p:spPr>
          <a:xfrm>
            <a:off x="685800" y="2697480"/>
            <a:ext cx="2377440" cy="1417320"/>
          </a:xfrm>
          <a:prstGeom prst="rect">
            <a:avLst/>
          </a:prstGeom>
          <a:noFill/>
          <a:ln/>
        </p:spPr>
        <p:txBody>
          <a:bodyPr wrap="square" lIns="0" tIns="0" rIns="0" bIns="0" rtlCol="0" anchor="t"/>
          <a:lstStyle/>
          <a:p>
            <a:pPr indent="0" marL="0">
              <a:buNone/>
            </a:pPr>
            <a:r>
              <a:rPr lang="en-US" sz="1500" dirty="0">
                <a:solidFill>
                  <a:schemeClr val="tx1"/>
                </a:solidFill>
              </a:rPr>
              <a:t>3 min: Worum geht es? Welche Klassen, welche Abbildungen? Operatoren unterstreichen.</a:t>
            </a:r>
            <a:endParaRPr lang="en-US" sz="1500" dirty="0"/>
          </a:p>
        </p:txBody>
      </p:sp>
      <p:sp>
        <p:nvSpPr>
          <p:cNvPr id="9" name="Beispiel 1"/>
          <p:cNvSpPr txBox="1"/>
          <p:nvPr/>
        </p:nvSpPr>
        <p:spPr>
          <a:xfrm>
            <a:off x="685800" y="4206240"/>
            <a:ext cx="2377440" cy="841248"/>
          </a:xfrm>
          <a:prstGeom prst="rect">
            <a:avLst/>
          </a:prstGeom>
          <a:solidFill>
            <a:schemeClr val="bg2"/>
          </a:solidFill>
          <a:ln/>
        </p:spPr>
        <p:txBody>
          <a:bodyPr wrap="square" lIns="76200" tIns="0" rIns="76200" bIns="0" rtlCol="0" anchor="ctr"/>
          <a:lstStyle/>
          <a:p>
            <a:pPr indent="0" marL="0">
              <a:buNone/>
            </a:pPr>
            <a:r>
              <a:rPr lang="en-US" sz="1300" i="1" dirty="0">
                <a:solidFill>
                  <a:schemeClr val="accent1"/>
                </a:solidFill>
              </a:rPr>
              <a:t>Probe: Paket, Fach, Paketstation – Abb. 1 bis 8</a:t>
            </a:r>
            <a:endParaRPr lang="en-US" sz="1300" dirty="0"/>
          </a:p>
        </p:txBody>
      </p:sp>
      <p:sp>
        <p:nvSpPr>
          <p:cNvPr id="10" name="Pfeil Schritt"/>
          <p:cNvSpPr/>
          <p:nvPr/>
        </p:nvSpPr>
        <p:spPr>
          <a:xfrm>
            <a:off x="3209544" y="3200400"/>
            <a:ext cx="146304" cy="91"/>
          </a:xfrm>
          <a:prstGeom prst="line">
            <a:avLst/>
          </a:prstGeom>
          <a:noFill/>
          <a:ln w="31750">
            <a:solidFill>
              <a:schemeClr val="accent2"/>
            </a:solidFill>
            <a:prstDash val="solid"/>
            <a:tailEnd type="triangle"/>
          </a:ln>
        </p:spPr>
      </p:sp>
      <p:sp>
        <p:nvSpPr>
          <p:cNvPr id="11" name="Schritt 2"/>
          <p:cNvSpPr/>
          <p:nvPr/>
        </p:nvSpPr>
        <p:spPr>
          <a:xfrm>
            <a:off x="3364992" y="1325880"/>
            <a:ext cx="2651760" cy="3886200"/>
          </a:xfrm>
          <a:prstGeom prst="roundRect">
            <a:avLst>
              <a:gd name="adj" fmla="val 4138"/>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12" name="Nummer 2"/>
          <p:cNvSpPr txBox="1"/>
          <p:nvPr/>
        </p:nvSpPr>
        <p:spPr>
          <a:xfrm>
            <a:off x="3502152" y="146304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3" name="Icon-Kreis"/>
          <p:cNvSpPr/>
          <p:nvPr/>
        </p:nvSpPr>
        <p:spPr>
          <a:xfrm>
            <a:off x="5148072" y="1463040"/>
            <a:ext cx="731520" cy="731520"/>
          </a:xfrm>
          <a:prstGeom prst="ellipse">
            <a:avLst/>
          </a:prstGeom>
          <a:solidFill>
            <a:schemeClr val="accent1"/>
          </a:solidFill>
          <a:ln/>
        </p:spPr>
      </p:sp>
      <p:pic>
        <p:nvPicPr>
          <p:cNvPr id="14" name="Icon GiHighlighter" descr="preencoded.png">    </p:cNvPr>
          <p:cNvPicPr>
            <a:picLocks noChangeAspect="1"/>
          </p:cNvPicPr>
          <p:nvPr/>
        </p:nvPicPr>
        <p:blipFill>
          <a:blip r:embed="rId2"/>
          <a:stretch>
            <a:fillRect/>
          </a:stretch>
        </p:blipFill>
        <p:spPr>
          <a:xfrm>
            <a:off x="5309006" y="1623974"/>
            <a:ext cx="409651" cy="409651"/>
          </a:xfrm>
          <a:prstGeom prst="rect">
            <a:avLst/>
          </a:prstGeom>
        </p:spPr>
      </p:pic>
      <p:sp>
        <p:nvSpPr>
          <p:cNvPr id="15" name="Text 11"/>
          <p:cNvSpPr txBox="1"/>
          <p:nvPr/>
        </p:nvSpPr>
        <p:spPr>
          <a:xfrm>
            <a:off x="3502152" y="2286000"/>
            <a:ext cx="2377440" cy="365760"/>
          </a:xfrm>
          <a:prstGeom prst="rect">
            <a:avLst/>
          </a:prstGeom>
          <a:noFill/>
          <a:ln/>
        </p:spPr>
        <p:txBody>
          <a:bodyPr wrap="square" lIns="0" tIns="0" rIns="0" bIns="0" rtlCol="0" anchor="t"/>
          <a:lstStyle/>
          <a:p>
            <a:pPr indent="0" marL="0">
              <a:buNone/>
            </a:pPr>
            <a:r>
              <a:rPr lang="en-US" sz="1900" b="1" dirty="0">
                <a:solidFill>
                  <a:schemeClr val="accent1"/>
                </a:solidFill>
              </a:rPr>
              <a:t>Material markieren</a:t>
            </a:r>
            <a:endParaRPr lang="en-US" sz="1900" dirty="0"/>
          </a:p>
        </p:txBody>
      </p:sp>
      <p:sp>
        <p:nvSpPr>
          <p:cNvPr id="16" name="Text 12"/>
          <p:cNvSpPr txBox="1"/>
          <p:nvPr/>
        </p:nvSpPr>
        <p:spPr>
          <a:xfrm>
            <a:off x="3502152" y="2697480"/>
            <a:ext cx="2377440" cy="1417320"/>
          </a:xfrm>
          <a:prstGeom prst="rect">
            <a:avLst/>
          </a:prstGeom>
          <a:noFill/>
          <a:ln/>
        </p:spPr>
        <p:txBody>
          <a:bodyPr wrap="square" lIns="0" tIns="0" rIns="0" bIns="0" rtlCol="0" anchor="t"/>
          <a:lstStyle/>
          <a:p>
            <a:pPr indent="0" marL="0">
              <a:buNone/>
            </a:pPr>
            <a:r>
              <a:rPr lang="en-US" sz="1500" dirty="0">
                <a:solidFill>
                  <a:schemeClr val="tx1"/>
                </a:solidFill>
              </a:rPr>
              <a:t>Klassenkarten, Signaturen, Beispielwerte und Tabellen zum Ausfüllen markieren.</a:t>
            </a:r>
            <a:endParaRPr lang="en-US" sz="1500" dirty="0"/>
          </a:p>
        </p:txBody>
      </p:sp>
      <p:sp>
        <p:nvSpPr>
          <p:cNvPr id="17" name="Beispiel 2"/>
          <p:cNvSpPr txBox="1"/>
          <p:nvPr/>
        </p:nvSpPr>
        <p:spPr>
          <a:xfrm>
            <a:off x="3502152" y="4206240"/>
            <a:ext cx="2377440" cy="841248"/>
          </a:xfrm>
          <a:prstGeom prst="rect">
            <a:avLst/>
          </a:prstGeom>
          <a:solidFill>
            <a:schemeClr val="bg2"/>
          </a:solidFill>
          <a:ln/>
        </p:spPr>
        <p:txBody>
          <a:bodyPr wrap="square" lIns="76200" tIns="0" rIns="76200" bIns="0" rtlCol="0" anchor="ctr"/>
          <a:lstStyle/>
          <a:p>
            <a:pPr indent="0" marL="0">
              <a:buNone/>
            </a:pPr>
            <a:r>
              <a:rPr lang="en-US" sz="1300" i="1" dirty="0">
                <a:solidFill>
                  <a:schemeClr val="accent1"/>
                </a:solidFill>
              </a:rPr>
              <a:t>Signatur abschreiben: sucheFach(sendungsnr: Zeichenkette): Ganzzahl</a:t>
            </a:r>
            <a:endParaRPr lang="en-US" sz="1300" dirty="0"/>
          </a:p>
        </p:txBody>
      </p:sp>
      <p:sp>
        <p:nvSpPr>
          <p:cNvPr id="18" name="Pfeil Schritt"/>
          <p:cNvSpPr/>
          <p:nvPr/>
        </p:nvSpPr>
        <p:spPr>
          <a:xfrm>
            <a:off x="6025896" y="3200400"/>
            <a:ext cx="146304" cy="91"/>
          </a:xfrm>
          <a:prstGeom prst="line">
            <a:avLst/>
          </a:prstGeom>
          <a:noFill/>
          <a:ln w="31750">
            <a:solidFill>
              <a:schemeClr val="accent2"/>
            </a:solidFill>
            <a:prstDash val="solid"/>
            <a:tailEnd type="triangle"/>
          </a:ln>
        </p:spPr>
      </p:sp>
      <p:sp>
        <p:nvSpPr>
          <p:cNvPr id="19" name="Schritt 3"/>
          <p:cNvSpPr/>
          <p:nvPr/>
        </p:nvSpPr>
        <p:spPr>
          <a:xfrm>
            <a:off x="6181344" y="1325880"/>
            <a:ext cx="2651760" cy="3886200"/>
          </a:xfrm>
          <a:prstGeom prst="roundRect">
            <a:avLst>
              <a:gd name="adj" fmla="val 4138"/>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20" name="Nummer 3"/>
          <p:cNvSpPr txBox="1"/>
          <p:nvPr/>
        </p:nvSpPr>
        <p:spPr>
          <a:xfrm>
            <a:off x="6318504" y="146304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1" name="Icon-Kreis"/>
          <p:cNvSpPr/>
          <p:nvPr/>
        </p:nvSpPr>
        <p:spPr>
          <a:xfrm>
            <a:off x="7964424" y="1463040"/>
            <a:ext cx="731520" cy="731520"/>
          </a:xfrm>
          <a:prstGeom prst="ellipse">
            <a:avLst/>
          </a:prstGeom>
          <a:solidFill>
            <a:schemeClr val="accent1"/>
          </a:solidFill>
          <a:ln/>
        </p:spPr>
      </p:sp>
      <p:pic>
        <p:nvPicPr>
          <p:cNvPr id="22" name="Icon GiStopwatch" descr="preencoded.png">    </p:cNvPr>
          <p:cNvPicPr>
            <a:picLocks noChangeAspect="1"/>
          </p:cNvPicPr>
          <p:nvPr/>
        </p:nvPicPr>
        <p:blipFill>
          <a:blip r:embed="rId3"/>
          <a:stretch>
            <a:fillRect/>
          </a:stretch>
        </p:blipFill>
        <p:spPr>
          <a:xfrm>
            <a:off x="8125358" y="1623974"/>
            <a:ext cx="409651" cy="409651"/>
          </a:xfrm>
          <a:prstGeom prst="rect">
            <a:avLst/>
          </a:prstGeom>
        </p:spPr>
      </p:pic>
      <p:sp>
        <p:nvSpPr>
          <p:cNvPr id="23" name="Text 18"/>
          <p:cNvSpPr txBox="1"/>
          <p:nvPr/>
        </p:nvSpPr>
        <p:spPr>
          <a:xfrm>
            <a:off x="6318504" y="2286000"/>
            <a:ext cx="2377440" cy="365760"/>
          </a:xfrm>
          <a:prstGeom prst="rect">
            <a:avLst/>
          </a:prstGeom>
          <a:noFill/>
          <a:ln/>
        </p:spPr>
        <p:txBody>
          <a:bodyPr wrap="square" lIns="0" tIns="0" rIns="0" bIns="0" rtlCol="0" anchor="t"/>
          <a:lstStyle/>
          <a:p>
            <a:pPr indent="0" marL="0">
              <a:buNone/>
            </a:pPr>
            <a:r>
              <a:rPr lang="en-US" sz="1900" b="1" dirty="0">
                <a:solidFill>
                  <a:schemeClr val="accent1"/>
                </a:solidFill>
              </a:rPr>
              <a:t>BE-Plan</a:t>
            </a:r>
            <a:endParaRPr lang="en-US" sz="1900" dirty="0"/>
          </a:p>
        </p:txBody>
      </p:sp>
      <p:sp>
        <p:nvSpPr>
          <p:cNvPr id="24" name="Text 19"/>
          <p:cNvSpPr txBox="1"/>
          <p:nvPr/>
        </p:nvSpPr>
        <p:spPr>
          <a:xfrm>
            <a:off x="6318504" y="2697480"/>
            <a:ext cx="2377440" cy="1417320"/>
          </a:xfrm>
          <a:prstGeom prst="rect">
            <a:avLst/>
          </a:prstGeom>
          <a:noFill/>
          <a:ln/>
        </p:spPr>
        <p:txBody>
          <a:bodyPr wrap="square" lIns="0" tIns="0" rIns="0" bIns="0" rtlCol="0" anchor="t"/>
          <a:lstStyle/>
          <a:p>
            <a:pPr indent="0" marL="0">
              <a:buNone/>
            </a:pPr>
            <a:r>
              <a:rPr lang="en-US" sz="1500" dirty="0">
                <a:solidFill>
                  <a:schemeClr val="tx1"/>
                </a:solidFill>
              </a:rPr>
              <a:t>Zielzeiten an den Rand (2,5 min je BE), Reihenfolge festlegen – Sicheres zuerst.</a:t>
            </a:r>
            <a:endParaRPr lang="en-US" sz="1500" dirty="0"/>
          </a:p>
        </p:txBody>
      </p:sp>
      <p:sp>
        <p:nvSpPr>
          <p:cNvPr id="25" name="Beispiel 3"/>
          <p:cNvSpPr txBox="1"/>
          <p:nvPr/>
        </p:nvSpPr>
        <p:spPr>
          <a:xfrm>
            <a:off x="6318504" y="4206240"/>
            <a:ext cx="2377440" cy="841248"/>
          </a:xfrm>
          <a:prstGeom prst="rect">
            <a:avLst/>
          </a:prstGeom>
          <a:solidFill>
            <a:schemeClr val="bg2"/>
          </a:solidFill>
          <a:ln/>
        </p:spPr>
        <p:txBody>
          <a:bodyPr wrap="square" lIns="76200" tIns="0" rIns="76200" bIns="0" rtlCol="0" anchor="ctr"/>
          <a:lstStyle/>
          <a:p>
            <a:pPr indent="0" marL="0">
              <a:buNone/>
            </a:pPr>
            <a:r>
              <a:rPr lang="en-US" sz="1300" i="1" dirty="0">
                <a:solidFill>
                  <a:schemeClr val="accent1"/>
                </a:solidFill>
              </a:rPr>
              <a:t>b) 7 BE → 17,5 min</a:t>
            </a:r>
            <a:endParaRPr lang="en-US" sz="1300" dirty="0"/>
          </a:p>
        </p:txBody>
      </p:sp>
      <p:sp>
        <p:nvSpPr>
          <p:cNvPr id="26" name="Pfeil Schritt"/>
          <p:cNvSpPr/>
          <p:nvPr/>
        </p:nvSpPr>
        <p:spPr>
          <a:xfrm>
            <a:off x="8842248" y="3200400"/>
            <a:ext cx="146304" cy="91"/>
          </a:xfrm>
          <a:prstGeom prst="line">
            <a:avLst/>
          </a:prstGeom>
          <a:noFill/>
          <a:ln w="31750">
            <a:solidFill>
              <a:schemeClr val="accent2"/>
            </a:solidFill>
            <a:prstDash val="solid"/>
            <a:tailEnd type="triangle"/>
          </a:ln>
        </p:spPr>
      </p:sp>
      <p:sp>
        <p:nvSpPr>
          <p:cNvPr id="27" name="Schritt 4"/>
          <p:cNvSpPr/>
          <p:nvPr/>
        </p:nvSpPr>
        <p:spPr>
          <a:xfrm>
            <a:off x="8997696" y="1325880"/>
            <a:ext cx="2651760" cy="3886200"/>
          </a:xfrm>
          <a:prstGeom prst="roundRect">
            <a:avLst>
              <a:gd name="adj" fmla="val 4138"/>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28" name="Nummer 4"/>
          <p:cNvSpPr txBox="1"/>
          <p:nvPr/>
        </p:nvSpPr>
        <p:spPr>
          <a:xfrm>
            <a:off x="9134856" y="146304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9" name="Icon-Kreis"/>
          <p:cNvSpPr/>
          <p:nvPr/>
        </p:nvSpPr>
        <p:spPr>
          <a:xfrm>
            <a:off x="10780776" y="1463040"/>
            <a:ext cx="731520" cy="731520"/>
          </a:xfrm>
          <a:prstGeom prst="ellipse">
            <a:avLst/>
          </a:prstGeom>
          <a:solidFill>
            <a:schemeClr val="accent1"/>
          </a:solidFill>
          <a:ln/>
        </p:spPr>
      </p:sp>
      <p:pic>
        <p:nvPicPr>
          <p:cNvPr id="30" name="Icon GiChecklist" descr="preencoded.png">    </p:cNvPr>
          <p:cNvPicPr>
            <a:picLocks noChangeAspect="1"/>
          </p:cNvPicPr>
          <p:nvPr/>
        </p:nvPicPr>
        <p:blipFill>
          <a:blip r:embed="rId4"/>
          <a:stretch>
            <a:fillRect/>
          </a:stretch>
        </p:blipFill>
        <p:spPr>
          <a:xfrm>
            <a:off x="10941710" y="1623974"/>
            <a:ext cx="409651" cy="409651"/>
          </a:xfrm>
          <a:prstGeom prst="rect">
            <a:avLst/>
          </a:prstGeom>
        </p:spPr>
      </p:pic>
      <p:sp>
        <p:nvSpPr>
          <p:cNvPr id="31" name="Text 25"/>
          <p:cNvSpPr txBox="1"/>
          <p:nvPr/>
        </p:nvSpPr>
        <p:spPr>
          <a:xfrm>
            <a:off x="9134856" y="2286000"/>
            <a:ext cx="2377440" cy="365760"/>
          </a:xfrm>
          <a:prstGeom prst="rect">
            <a:avLst/>
          </a:prstGeom>
          <a:noFill/>
          <a:ln/>
        </p:spPr>
        <p:txBody>
          <a:bodyPr wrap="square" lIns="0" tIns="0" rIns="0" bIns="0" rtlCol="0" anchor="t"/>
          <a:lstStyle/>
          <a:p>
            <a:pPr indent="0" marL="0">
              <a:buNone/>
            </a:pPr>
            <a:r>
              <a:rPr lang="en-US" sz="1900" b="1" dirty="0">
                <a:solidFill>
                  <a:schemeClr val="accent1"/>
                </a:solidFill>
              </a:rPr>
              <a:t>Reserve</a:t>
            </a:r>
            <a:endParaRPr lang="en-US" sz="1900" dirty="0"/>
          </a:p>
        </p:txBody>
      </p:sp>
      <p:sp>
        <p:nvSpPr>
          <p:cNvPr id="32" name="Text 26"/>
          <p:cNvSpPr txBox="1"/>
          <p:nvPr/>
        </p:nvSpPr>
        <p:spPr>
          <a:xfrm>
            <a:off x="9134856" y="2697480"/>
            <a:ext cx="2377440" cy="1417320"/>
          </a:xfrm>
          <a:prstGeom prst="rect">
            <a:avLst/>
          </a:prstGeom>
          <a:noFill/>
          <a:ln/>
        </p:spPr>
        <p:txBody>
          <a:bodyPr wrap="square" lIns="0" tIns="0" rIns="0" bIns="0" rtlCol="0" anchor="t"/>
          <a:lstStyle/>
          <a:p>
            <a:pPr indent="0" marL="0">
              <a:buNone/>
            </a:pPr>
            <a:r>
              <a:rPr lang="en-US" sz="1500" dirty="0">
                <a:solidFill>
                  <a:schemeClr val="tx1"/>
                </a:solidFill>
              </a:rPr>
              <a:t>Zum Schluss Abi-Check je Methode, markierte Lücken schließen.</a:t>
            </a:r>
            <a:endParaRPr lang="en-US" sz="1500" dirty="0"/>
          </a:p>
        </p:txBody>
      </p:sp>
      <p:sp>
        <p:nvSpPr>
          <p:cNvPr id="33" name="Beispiel 4"/>
          <p:cNvSpPr txBox="1"/>
          <p:nvPr/>
        </p:nvSpPr>
        <p:spPr>
          <a:xfrm>
            <a:off x="9134856" y="4206240"/>
            <a:ext cx="2377440" cy="841248"/>
          </a:xfrm>
          <a:prstGeom prst="rect">
            <a:avLst/>
          </a:prstGeom>
          <a:solidFill>
            <a:schemeClr val="bg2"/>
          </a:solidFill>
          <a:ln/>
        </p:spPr>
        <p:txBody>
          <a:bodyPr wrap="square" lIns="76200" tIns="0" rIns="76200" bIns="0" rtlCol="0" anchor="ctr"/>
          <a:lstStyle/>
          <a:p>
            <a:pPr indent="0" marL="0">
              <a:buNone/>
            </a:pPr>
            <a:r>
              <a:rPr lang="en-US" sz="1300" i="1" dirty="0">
                <a:solidFill>
                  <a:schemeClr val="accent1"/>
                </a:solidFill>
              </a:rPr>
              <a:t>Leer? Index? Cast? equals? return?</a:t>
            </a:r>
            <a:endParaRPr lang="en-US" sz="1300" dirty="0"/>
          </a:p>
        </p:txBody>
      </p:sp>
      <p:sp>
        <p:nvSpPr>
          <p:cNvPr id="34" name="Haengen geblieben"/>
          <p:cNvSpPr/>
          <p:nvPr/>
        </p:nvSpPr>
        <p:spPr>
          <a:xfrm>
            <a:off x="548640" y="5440680"/>
            <a:ext cx="11064240" cy="685800"/>
          </a:xfrm>
          <a:prstGeom prst="roundRect">
            <a:avLst>
              <a:gd name="adj" fmla="val 16000"/>
            </a:avLst>
          </a:prstGeom>
          <a:solidFill>
            <a:schemeClr val="bg1"/>
          </a:solidFill>
          <a:ln w="25400">
            <a:solidFill>
              <a:schemeClr val="accent4"/>
            </a:solidFill>
            <a:prstDash val="solid"/>
          </a:ln>
        </p:spPr>
      </p:sp>
      <p:sp>
        <p:nvSpPr>
          <p:cNvPr id="35" name="Text 29"/>
          <p:cNvSpPr txBox="1"/>
          <p:nvPr/>
        </p:nvSpPr>
        <p:spPr>
          <a:xfrm>
            <a:off x="749808" y="5440680"/>
            <a:ext cx="10698480" cy="685800"/>
          </a:xfrm>
          <a:prstGeom prst="rect">
            <a:avLst/>
          </a:prstGeom>
          <a:noFill/>
          <a:ln/>
        </p:spPr>
        <p:txBody>
          <a:bodyPr wrap="square" lIns="0" tIns="0" rIns="0" bIns="0" rtlCol="0" anchor="ctr"/>
          <a:lstStyle/>
          <a:p>
            <a:pPr indent="0" marL="0">
              <a:buNone/>
            </a:pPr>
            <a:r>
              <a:rPr lang="en-US" sz="1600" b="1" dirty="0">
                <a:solidFill>
                  <a:schemeClr val="accent4"/>
                </a:solidFill>
              </a:rPr>
              <a:t>Hängen geblieben? </a:t>
            </a:r>
            <a:pPr indent="0" marL="0">
              <a:buNone/>
            </a:pPr>
            <a:r>
              <a:rPr lang="en-US" sz="1600" dirty="0">
                <a:solidFill>
                  <a:schemeClr val="tx1"/>
                </a:solidFill>
              </a:rPr>
              <a:t>Lücke markieren, Zielzeit beachten, weiter zur nächsten Teilaufgabe – Teilpunkte gibt es für jeden Kernpunkt.</a:t>
            </a:r>
            <a:endParaRPr lang="en-US" sz="1600" dirty="0"/>
          </a:p>
        </p:txBody>
      </p:sp>
      <p:sp>
        <p:nvSpPr>
          <p:cNvPr id="36" name="Text 3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37 · Strategie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Boss 6: Die Generalprobe</a:t>
            </a:r>
            <a:endParaRPr lang="en-US" sz="3600" dirty="0"/>
          </a:p>
        </p:txBody>
      </p:sp>
      <p:sp>
        <p:nvSpPr>
          <p:cNvPr id="3" name="Icon-Kreis"/>
          <p:cNvSpPr/>
          <p:nvPr/>
        </p:nvSpPr>
        <p:spPr>
          <a:xfrm>
            <a:off x="548640" y="1371600"/>
            <a:ext cx="713232" cy="713232"/>
          </a:xfrm>
          <a:prstGeom prst="ellipse">
            <a:avLst/>
          </a:prstGeom>
          <a:solidFill>
            <a:schemeClr val="bg1"/>
          </a:solidFill>
          <a:ln/>
        </p:spPr>
      </p:sp>
      <p:pic>
        <p:nvPicPr>
          <p:cNvPr id="4" name="Icon GiStopwatch" descr="preencoded.png">    </p:cNvPr>
          <p:cNvPicPr>
            <a:picLocks noChangeAspect="1"/>
          </p:cNvPicPr>
          <p:nvPr/>
        </p:nvPicPr>
        <p:blipFill>
          <a:blip r:embed="rId1"/>
          <a:stretch>
            <a:fillRect/>
          </a:stretch>
        </p:blipFill>
        <p:spPr>
          <a:xfrm>
            <a:off x="705551" y="1528511"/>
            <a:ext cx="399410" cy="399410"/>
          </a:xfrm>
          <a:prstGeom prst="rect">
            <a:avLst/>
          </a:prstGeom>
        </p:spPr>
      </p:pic>
      <p:sp>
        <p:nvSpPr>
          <p:cNvPr id="5" name="Text 2"/>
          <p:cNvSpPr txBox="1"/>
          <p:nvPr/>
        </p:nvSpPr>
        <p:spPr>
          <a:xfrm>
            <a:off x="1417320" y="1316736"/>
            <a:ext cx="4846320" cy="822960"/>
          </a:xfrm>
          <a:prstGeom prst="rect">
            <a:avLst/>
          </a:prstGeom>
          <a:noFill/>
          <a:ln/>
        </p:spPr>
        <p:txBody>
          <a:bodyPr wrap="square" lIns="0" tIns="0" rIns="0" bIns="0" rtlCol="0" anchor="ctr"/>
          <a:lstStyle/>
          <a:p>
            <a:pPr indent="0" marL="0">
              <a:buNone/>
            </a:pPr>
            <a:r>
              <a:rPr lang="en-US" sz="1900" b="1" dirty="0">
                <a:solidFill>
                  <a:schemeClr val="accent2"/>
                </a:solidFill>
              </a:rPr>
              <a:t>90 Minuten · 35 BE</a:t>
            </a:r>
            <a:endParaRPr lang="en-US" sz="1800" dirty="0"/>
          </a:p>
          <a:p>
            <a:pPr indent="0" marL="0">
              <a:buNone/>
            </a:pPr>
            <a:r>
              <a:rPr lang="en-US" sz="1500" dirty="0">
                <a:solidFill>
                  <a:schemeClr val="bg1"/>
                </a:solidFill>
              </a:rPr>
              <a:t>Teilaufgaben a) bis h), Operatoren wie im Abitur</a:t>
            </a:r>
            <a:endParaRPr lang="en-US" sz="1800" dirty="0"/>
          </a:p>
        </p:txBody>
      </p:sp>
      <p:sp>
        <p:nvSpPr>
          <p:cNvPr id="6" name="Icon-Kreis"/>
          <p:cNvSpPr/>
          <p:nvPr/>
        </p:nvSpPr>
        <p:spPr>
          <a:xfrm>
            <a:off x="548640" y="2304288"/>
            <a:ext cx="713232" cy="713232"/>
          </a:xfrm>
          <a:prstGeom prst="ellipse">
            <a:avLst/>
          </a:prstGeom>
          <a:solidFill>
            <a:schemeClr val="bg1"/>
          </a:solidFill>
          <a:ln/>
        </p:spPr>
      </p:sp>
      <p:pic>
        <p:nvPicPr>
          <p:cNvPr id="7" name="Icon GiQuillInk" descr="preencoded.png">    </p:cNvPr>
          <p:cNvPicPr>
            <a:picLocks noChangeAspect="1"/>
          </p:cNvPicPr>
          <p:nvPr/>
        </p:nvPicPr>
        <p:blipFill>
          <a:blip r:embed="rId2"/>
          <a:stretch>
            <a:fillRect/>
          </a:stretch>
        </p:blipFill>
        <p:spPr>
          <a:xfrm>
            <a:off x="705551" y="2461199"/>
            <a:ext cx="399410" cy="399410"/>
          </a:xfrm>
          <a:prstGeom prst="rect">
            <a:avLst/>
          </a:prstGeom>
        </p:spPr>
      </p:pic>
      <p:sp>
        <p:nvSpPr>
          <p:cNvPr id="8" name="Text 4"/>
          <p:cNvSpPr txBox="1"/>
          <p:nvPr/>
        </p:nvSpPr>
        <p:spPr>
          <a:xfrm>
            <a:off x="1417320" y="2249424"/>
            <a:ext cx="4846320" cy="822960"/>
          </a:xfrm>
          <a:prstGeom prst="rect">
            <a:avLst/>
          </a:prstGeom>
          <a:noFill/>
          <a:ln/>
        </p:spPr>
        <p:txBody>
          <a:bodyPr wrap="square" lIns="0" tIns="0" rIns="0" bIns="0" rtlCol="0" anchor="ctr"/>
          <a:lstStyle/>
          <a:p>
            <a:pPr indent="0" marL="0">
              <a:buNone/>
            </a:pPr>
            <a:r>
              <a:rPr lang="en-US" sz="1900" b="1" dirty="0">
                <a:solidFill>
                  <a:schemeClr val="accent2"/>
                </a:solidFill>
              </a:rPr>
              <a:t>Papier, ohne Gerät</a:t>
            </a:r>
            <a:endParaRPr lang="en-US" sz="1800" dirty="0"/>
          </a:p>
          <a:p>
            <a:pPr indent="0" marL="0">
              <a:buNone/>
            </a:pPr>
            <a:r>
              <a:rPr lang="en-US" sz="1500" dirty="0">
                <a:solidFill>
                  <a:schemeClr val="bg1"/>
                </a:solidFill>
              </a:rPr>
              <a:t>eigene Klausurbögen; Tabellen in Abb. 4 und 7 im Material</a:t>
            </a:r>
            <a:endParaRPr lang="en-US" sz="1800" dirty="0"/>
          </a:p>
        </p:txBody>
      </p:sp>
      <p:sp>
        <p:nvSpPr>
          <p:cNvPr id="9" name="Icon-Kreis"/>
          <p:cNvSpPr/>
          <p:nvPr/>
        </p:nvSpPr>
        <p:spPr>
          <a:xfrm>
            <a:off x="548640" y="3236976"/>
            <a:ext cx="713232" cy="713232"/>
          </a:xfrm>
          <a:prstGeom prst="ellipse">
            <a:avLst/>
          </a:prstGeom>
          <a:solidFill>
            <a:schemeClr val="bg1"/>
          </a:solidFill>
          <a:ln/>
        </p:spPr>
      </p:sp>
      <p:pic>
        <p:nvPicPr>
          <p:cNvPr id="10" name="Icon GiSecretBook" descr="preencoded.png">    </p:cNvPr>
          <p:cNvPicPr>
            <a:picLocks noChangeAspect="1"/>
          </p:cNvPicPr>
          <p:nvPr/>
        </p:nvPicPr>
        <p:blipFill>
          <a:blip r:embed="rId3"/>
          <a:stretch>
            <a:fillRect/>
          </a:stretch>
        </p:blipFill>
        <p:spPr>
          <a:xfrm>
            <a:off x="705551" y="3393887"/>
            <a:ext cx="399410" cy="399410"/>
          </a:xfrm>
          <a:prstGeom prst="rect">
            <a:avLst/>
          </a:prstGeom>
        </p:spPr>
      </p:pic>
      <p:sp>
        <p:nvSpPr>
          <p:cNvPr id="11" name="Text 6"/>
          <p:cNvSpPr txBox="1"/>
          <p:nvPr/>
        </p:nvSpPr>
        <p:spPr>
          <a:xfrm>
            <a:off x="1417320" y="3182112"/>
            <a:ext cx="4846320" cy="822960"/>
          </a:xfrm>
          <a:prstGeom prst="rect">
            <a:avLst/>
          </a:prstGeom>
          <a:noFill/>
          <a:ln/>
        </p:spPr>
        <p:txBody>
          <a:bodyPr wrap="square" lIns="0" tIns="0" rIns="0" bIns="0" rtlCol="0" anchor="ctr"/>
          <a:lstStyle/>
          <a:p>
            <a:pPr indent="0" marL="0">
              <a:buNone/>
            </a:pPr>
            <a:r>
              <a:rPr lang="en-US" sz="1900" b="1" dirty="0">
                <a:solidFill>
                  <a:schemeClr val="accent2"/>
                </a:solidFill>
              </a:rPr>
              <a:t>Hilfsmittel</a:t>
            </a:r>
            <a:endParaRPr lang="en-US" sz="1800" dirty="0"/>
          </a:p>
          <a:p>
            <a:pPr indent="0" marL="0">
              <a:buNone/>
            </a:pPr>
            <a:r>
              <a:rPr lang="en-US" sz="1500" dirty="0">
                <a:solidFill>
                  <a:schemeClr val="bg1"/>
                </a:solidFill>
              </a:rPr>
              <a:t>nur Ergänzende Hinweise (Auszug im Material)</a:t>
            </a:r>
            <a:endParaRPr lang="en-US" sz="1800" dirty="0"/>
          </a:p>
        </p:txBody>
      </p:sp>
      <p:sp>
        <p:nvSpPr>
          <p:cNvPr id="12" name="Icon-Kreis"/>
          <p:cNvSpPr/>
          <p:nvPr/>
        </p:nvSpPr>
        <p:spPr>
          <a:xfrm>
            <a:off x="548640" y="4169664"/>
            <a:ext cx="713232" cy="713232"/>
          </a:xfrm>
          <a:prstGeom prst="ellipse">
            <a:avLst/>
          </a:prstGeom>
          <a:solidFill>
            <a:schemeClr val="bg1"/>
          </a:solidFill>
          <a:ln/>
        </p:spPr>
      </p:sp>
      <p:pic>
        <p:nvPicPr>
          <p:cNvPr id="13" name="Icon GiPadlock" descr="preencoded.png">    </p:cNvPr>
          <p:cNvPicPr>
            <a:picLocks noChangeAspect="1"/>
          </p:cNvPicPr>
          <p:nvPr/>
        </p:nvPicPr>
        <p:blipFill>
          <a:blip r:embed="rId4"/>
          <a:stretch>
            <a:fillRect/>
          </a:stretch>
        </p:blipFill>
        <p:spPr>
          <a:xfrm>
            <a:off x="705551" y="4326575"/>
            <a:ext cx="399410" cy="399410"/>
          </a:xfrm>
          <a:prstGeom prst="rect">
            <a:avLst/>
          </a:prstGeom>
        </p:spPr>
      </p:pic>
      <p:sp>
        <p:nvSpPr>
          <p:cNvPr id="14" name="Text 8"/>
          <p:cNvSpPr txBox="1"/>
          <p:nvPr/>
        </p:nvSpPr>
        <p:spPr>
          <a:xfrm>
            <a:off x="1417320" y="4114800"/>
            <a:ext cx="4846320" cy="822960"/>
          </a:xfrm>
          <a:prstGeom prst="rect">
            <a:avLst/>
          </a:prstGeom>
          <a:noFill/>
          <a:ln/>
        </p:spPr>
        <p:txBody>
          <a:bodyPr wrap="square" lIns="0" tIns="0" rIns="0" bIns="0" rtlCol="0" anchor="ctr"/>
          <a:lstStyle/>
          <a:p>
            <a:pPr indent="0" marL="0">
              <a:buNone/>
            </a:pPr>
            <a:r>
              <a:rPr lang="en-US" sz="1900" b="1" dirty="0">
                <a:solidFill>
                  <a:schemeClr val="accent2"/>
                </a:solidFill>
              </a:rPr>
              <a:t>Abi-Bedingungen</a:t>
            </a:r>
            <a:endParaRPr lang="en-US" sz="1800" dirty="0"/>
          </a:p>
          <a:p>
            <a:pPr indent="0" marL="0">
              <a:buNone/>
            </a:pPr>
            <a:r>
              <a:rPr lang="en-US" sz="1500" dirty="0">
                <a:solidFill>
                  <a:schemeClr val="bg1"/>
                </a:solidFill>
              </a:rPr>
              <a:t>Einzeltische, Handy aus, keine Werkzeugkarten</a:t>
            </a:r>
            <a:endParaRPr lang="en-US" sz="1800" dirty="0"/>
          </a:p>
        </p:txBody>
      </p:sp>
      <p:sp>
        <p:nvSpPr>
          <p:cNvPr id="15" name="Bewertung"/>
          <p:cNvSpPr/>
          <p:nvPr/>
        </p:nvSpPr>
        <p:spPr>
          <a:xfrm>
            <a:off x="6583680" y="1325880"/>
            <a:ext cx="5029200" cy="3611880"/>
          </a:xfrm>
          <a:prstGeom prst="roundRect">
            <a:avLst>
              <a:gd name="adj" fmla="val 3038"/>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6" name="Text 10"/>
          <p:cNvSpPr txBox="1"/>
          <p:nvPr/>
        </p:nvSpPr>
        <p:spPr>
          <a:xfrm>
            <a:off x="6812280" y="1463040"/>
            <a:ext cx="4572000" cy="329184"/>
          </a:xfrm>
          <a:prstGeom prst="rect">
            <a:avLst/>
          </a:prstGeom>
          <a:noFill/>
          <a:ln/>
        </p:spPr>
        <p:txBody>
          <a:bodyPr wrap="square" lIns="0" tIns="0" rIns="0" bIns="0" rtlCol="0" anchor="t"/>
          <a:lstStyle/>
          <a:p>
            <a:pPr indent="0" marL="0">
              <a:buNone/>
            </a:pPr>
            <a:r>
              <a:rPr lang="en-US" sz="1700" b="1" dirty="0">
                <a:solidFill>
                  <a:schemeClr val="accent1"/>
                </a:solidFill>
              </a:rPr>
              <a:t>Bewertung (Deckblatt)</a:t>
            </a:r>
            <a:endParaRPr lang="en-US" sz="1700" dirty="0"/>
          </a:p>
        </p:txBody>
      </p:sp>
      <p:graphicFrame>
        <p:nvGraphicFramePr>
          <p:cNvPr id="8" name="BE-Tabelle"/>
          <p:cNvGraphicFramePr>
            <a:graphicFrameLocks noGrp="1"/>
          </p:cNvGraphicFramePr>
          <p:nvPr>
            <p:extLst>
              <p:ext uri="{D42A27DB-BD31-4B8C-83A1-F6EECF244321}">
                <p14:modId xmlns:p14="http://schemas.microsoft.com/office/powerpoint/2010/main" val="1579011935"/>
              </p:ext>
            </p:extLst>
          </p:nvPr>
        </p:nvGraphicFramePr>
        <p:xfrm>
          <a:off x="6812280" y="1874520"/>
          <a:ext cx="4572000" cy="914400"/>
        </p:xfrm>
        <a:graphic>
          <a:graphicData uri="http://schemas.openxmlformats.org/drawingml/2006/table">
            <a:tbl>
              <a:tblPr/>
              <a:tblGrid>
                <a:gridCol w="777240"/>
                <a:gridCol w="393192"/>
                <a:gridCol w="393192"/>
                <a:gridCol w="393192"/>
                <a:gridCol w="393192"/>
                <a:gridCol w="393192"/>
                <a:gridCol w="393192"/>
                <a:gridCol w="393192"/>
                <a:gridCol w="393192"/>
                <a:gridCol w="649224"/>
              </a:tblGrid>
              <a:tr h="329184">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b)</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f)</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g)</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h)</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Σ</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29184">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max. BE</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selbst</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Peer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8" name="Chip"/>
          <p:cNvSpPr txBox="1"/>
          <p:nvPr/>
        </p:nvSpPr>
        <p:spPr>
          <a:xfrm>
            <a:off x="6812280" y="3429000"/>
            <a:ext cx="4572000" cy="43891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Zusätzlich im Lab: Online-Boss „Generalprobe online“</a:t>
            </a:r>
            <a:endParaRPr lang="en-US" sz="1500" dirty="0"/>
          </a:p>
        </p:txBody>
      </p:sp>
      <p:sp>
        <p:nvSpPr>
          <p:cNvPr id="19" name="Text 12"/>
          <p:cNvSpPr txBox="1"/>
          <p:nvPr/>
        </p:nvSpPr>
        <p:spPr>
          <a:xfrm>
            <a:off x="6812280" y="3977640"/>
            <a:ext cx="4572000" cy="777240"/>
          </a:xfrm>
          <a:prstGeom prst="rect">
            <a:avLst/>
          </a:prstGeom>
          <a:noFill/>
          <a:ln/>
        </p:spPr>
        <p:txBody>
          <a:bodyPr wrap="square" lIns="0" tIns="0" rIns="0" bIns="0" rtlCol="0" anchor="ctr"/>
          <a:lstStyle/>
          <a:p>
            <a:pPr indent="0" marL="0">
              <a:buNone/>
            </a:pPr>
            <a:r>
              <a:rPr lang="en-US" sz="1400" i="1" dirty="0">
                <a:solidFill>
                  <a:schemeClr val="accent6"/>
                </a:solidFill>
              </a:rPr>
              <a:t>Die Papier-Probe korrigierst du in DS 38 selbst und im Peer-Check – Abi-Training ohne Punkte.</a:t>
            </a:r>
            <a:endParaRPr lang="en-US" sz="1400" dirty="0"/>
          </a:p>
        </p:txBody>
      </p:sp>
      <p:sp>
        <p:nvSpPr>
          <p:cNvPr id="20" name="Text 13"/>
          <p:cNvSpPr txBox="1"/>
          <p:nvPr/>
        </p:nvSpPr>
        <p:spPr>
          <a:xfrm>
            <a:off x="548640" y="5257800"/>
            <a:ext cx="11064240" cy="685800"/>
          </a:xfrm>
          <a:prstGeom prst="rect">
            <a:avLst/>
          </a:prstGeom>
          <a:noFill/>
          <a:ln/>
        </p:spPr>
        <p:txBody>
          <a:bodyPr wrap="square" lIns="0" tIns="0" rIns="0" bIns="0" rtlCol="0" anchor="ctr"/>
          <a:lstStyle/>
          <a:p>
            <a:pPr indent="0" marL="0">
              <a:buNone/>
            </a:pPr>
            <a:r>
              <a:rPr lang="en-US" sz="1900" b="1" dirty="0">
                <a:solidFill>
                  <a:schemeClr val="accent2"/>
                </a:solidFill>
              </a:rPr>
              <a:t>Ziel heute: </a:t>
            </a:r>
            <a:pPr indent="0" marL="0">
              <a:buNone/>
            </a:pPr>
            <a:r>
              <a:rPr lang="en-US" sz="1900" dirty="0">
                <a:solidFill>
                  <a:schemeClr val="bg1"/>
                </a:solidFill>
              </a:rPr>
              <a:t>nicht perfekt sein – sondern herausfinden, wo deine Punkte liegen bleiben.</a:t>
            </a:r>
            <a:endParaRPr lang="en-US" sz="1900" dirty="0"/>
          </a:p>
        </p:txBody>
      </p:sp>
      <p:sp>
        <p:nvSpPr>
          <p:cNvPr id="21" name="Text 14"/>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37 · Boss 6</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Korrektur nach Kernpunkten: Selbst → Peer → Team</a:t>
            </a:r>
            <a:endParaRPr lang="en-US" sz="3600" dirty="0"/>
          </a:p>
        </p:txBody>
      </p:sp>
      <p:sp>
        <p:nvSpPr>
          <p:cNvPr id="3" name="1 · Selbstkorrektur"/>
          <p:cNvSpPr/>
          <p:nvPr/>
        </p:nvSpPr>
        <p:spPr>
          <a:xfrm>
            <a:off x="548640" y="1325880"/>
            <a:ext cx="3520440" cy="2880360"/>
          </a:xfrm>
          <a:prstGeom prst="roundRect">
            <a:avLst>
              <a:gd name="adj" fmla="val 3810"/>
            </a:avLst>
          </a:prstGeom>
          <a:solidFill>
            <a:schemeClr val="bg1"/>
          </a:solidFill>
          <a:ln w="31750">
            <a:solidFill>
              <a:schemeClr val="accent1"/>
            </a:solidFill>
            <a:prstDash val="solid"/>
          </a:ln>
          <a:effectLst>
            <a:outerShdw sx="100000" sy="100000" kx="0" ky="0" algn="bl" rotWithShape="0" blurRad="76200" dist="25400" dir="5400000">
              <a:srgbClr val="000000">
                <a:alpha val="18000"/>
              </a:srgbClr>
            </a:outerShdw>
          </a:effectLst>
        </p:spPr>
      </p:sp>
      <p:sp>
        <p:nvSpPr>
          <p:cNvPr id="4" name="Icon-Kreis"/>
          <p:cNvSpPr/>
          <p:nvPr/>
        </p:nvSpPr>
        <p:spPr>
          <a:xfrm>
            <a:off x="731520" y="1481328"/>
            <a:ext cx="685800" cy="685800"/>
          </a:xfrm>
          <a:prstGeom prst="ellipse">
            <a:avLst/>
          </a:prstGeom>
          <a:solidFill>
            <a:schemeClr val="accent1"/>
          </a:solidFill>
          <a:ln/>
        </p:spPr>
      </p:sp>
      <p:pic>
        <p:nvPicPr>
          <p:cNvPr id="5" name="Icon GiMagnifyingGlass" descr="preencoded.png">    </p:cNvPr>
          <p:cNvPicPr>
            <a:picLocks noChangeAspect="1"/>
          </p:cNvPicPr>
          <p:nvPr/>
        </p:nvPicPr>
        <p:blipFill>
          <a:blip r:embed="rId1"/>
          <a:stretch>
            <a:fillRect/>
          </a:stretch>
        </p:blipFill>
        <p:spPr>
          <a:xfrm>
            <a:off x="882396" y="1632204"/>
            <a:ext cx="384048" cy="384048"/>
          </a:xfrm>
          <a:prstGeom prst="rect">
            <a:avLst/>
          </a:prstGeom>
        </p:spPr>
      </p:pic>
      <p:sp>
        <p:nvSpPr>
          <p:cNvPr id="6" name="Text 3"/>
          <p:cNvSpPr txBox="1"/>
          <p:nvPr/>
        </p:nvSpPr>
        <p:spPr>
          <a:xfrm>
            <a:off x="1554480" y="1481328"/>
            <a:ext cx="2423160" cy="384048"/>
          </a:xfrm>
          <a:prstGeom prst="rect">
            <a:avLst/>
          </a:prstGeom>
          <a:noFill/>
          <a:ln/>
        </p:spPr>
        <p:txBody>
          <a:bodyPr wrap="square" lIns="0" tIns="0" rIns="0" bIns="0" rtlCol="0" anchor="ctr"/>
          <a:lstStyle/>
          <a:p>
            <a:pPr indent="0" marL="0">
              <a:buNone/>
            </a:pPr>
            <a:r>
              <a:rPr lang="en-US" sz="1900" b="1" dirty="0">
                <a:solidFill>
                  <a:schemeClr val="accent1"/>
                </a:solidFill>
              </a:rPr>
              <a:t>1 · Selbstkorrektur</a:t>
            </a:r>
            <a:endParaRPr lang="en-US" sz="1900" dirty="0"/>
          </a:p>
        </p:txBody>
      </p:sp>
      <p:sp>
        <p:nvSpPr>
          <p:cNvPr id="7" name="Chip"/>
          <p:cNvSpPr txBox="1"/>
          <p:nvPr/>
        </p:nvSpPr>
        <p:spPr>
          <a:xfrm>
            <a:off x="1554480" y="1892808"/>
            <a:ext cx="10058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20 min</a:t>
            </a:r>
            <a:endParaRPr lang="en-US" sz="1300" dirty="0"/>
          </a:p>
        </p:txBody>
      </p:sp>
      <p:sp>
        <p:nvSpPr>
          <p:cNvPr id="8" name="Text 5"/>
          <p:cNvSpPr txBox="1"/>
          <p:nvPr/>
        </p:nvSpPr>
        <p:spPr>
          <a:xfrm>
            <a:off x="731520" y="2377440"/>
            <a:ext cx="320040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Korrekturbogen aus dem Erwartungshorizont</a:t>
            </a:r>
            <a:endParaRPr lang="en-US" sz="1500" dirty="0"/>
          </a:p>
          <a:p>
            <a:pPr marL="342900" indent="-342900">
              <a:spcAft>
                <a:spcPts val="600"/>
              </a:spcAft>
              <a:buSzPct val="100000"/>
              <a:buChar char="•"/>
            </a:pPr>
            <a:r>
              <a:rPr lang="en-US" sz="1500" dirty="0">
                <a:solidFill>
                  <a:schemeClr val="tx1"/>
                </a:solidFill>
              </a:rPr>
              <a:t>Spalte „selbst“ abhaken</a:t>
            </a:r>
            <a:endParaRPr lang="en-US" sz="1500" dirty="0"/>
          </a:p>
          <a:p>
            <a:pPr marL="342900" indent="-342900">
              <a:spcAft>
                <a:spcPts val="600"/>
              </a:spcAft>
              <a:buSzPct val="100000"/>
              <a:buChar char="•"/>
            </a:pPr>
            <a:r>
              <a:rPr lang="en-US" sz="1500" dirty="0">
                <a:solidFill>
                  <a:schemeClr val="tx1"/>
                </a:solidFill>
              </a:rPr>
              <a:t>jeder fehlende Kernpunkt = Strich bei seiner P-Nummer</a:t>
            </a:r>
            <a:endParaRPr lang="en-US" sz="1500" dirty="0"/>
          </a:p>
        </p:txBody>
      </p:sp>
      <p:sp>
        <p:nvSpPr>
          <p:cNvPr id="9" name="Pfeil Korrektur"/>
          <p:cNvSpPr/>
          <p:nvPr/>
        </p:nvSpPr>
        <p:spPr>
          <a:xfrm>
            <a:off x="4087368" y="2743200"/>
            <a:ext cx="192024" cy="91"/>
          </a:xfrm>
          <a:prstGeom prst="line">
            <a:avLst/>
          </a:prstGeom>
          <a:noFill/>
          <a:ln w="31750">
            <a:solidFill>
              <a:schemeClr val="accent2"/>
            </a:solidFill>
            <a:prstDash val="solid"/>
            <a:tailEnd type="triangle"/>
          </a:ln>
        </p:spPr>
      </p:sp>
      <p:sp>
        <p:nvSpPr>
          <p:cNvPr id="10" name="2 · Peer-Check"/>
          <p:cNvSpPr/>
          <p:nvPr/>
        </p:nvSpPr>
        <p:spPr>
          <a:xfrm>
            <a:off x="4297680" y="1325880"/>
            <a:ext cx="3520440" cy="2880360"/>
          </a:xfrm>
          <a:prstGeom prst="roundRect">
            <a:avLst>
              <a:gd name="adj" fmla="val 3810"/>
            </a:avLst>
          </a:prstGeom>
          <a:solidFill>
            <a:schemeClr val="bg1"/>
          </a:solidFill>
          <a:ln w="31750">
            <a:solidFill>
              <a:schemeClr val="accent6"/>
            </a:solidFill>
            <a:prstDash val="solid"/>
          </a:ln>
          <a:effectLst>
            <a:outerShdw sx="100000" sy="100000" kx="0" ky="0" algn="bl" rotWithShape="0" blurRad="76200" dist="25400" dir="5400000">
              <a:srgbClr val="000000">
                <a:alpha val="18000"/>
              </a:srgbClr>
            </a:outerShdw>
          </a:effectLst>
        </p:spPr>
      </p:sp>
      <p:sp>
        <p:nvSpPr>
          <p:cNvPr id="11" name="Icon-Kreis"/>
          <p:cNvSpPr/>
          <p:nvPr/>
        </p:nvSpPr>
        <p:spPr>
          <a:xfrm>
            <a:off x="4480560" y="1481328"/>
            <a:ext cx="685800" cy="685800"/>
          </a:xfrm>
          <a:prstGeom prst="ellipse">
            <a:avLst/>
          </a:prstGeom>
          <a:solidFill>
            <a:schemeClr val="accent6"/>
          </a:solidFill>
          <a:ln/>
        </p:spPr>
      </p:sp>
      <p:pic>
        <p:nvPicPr>
          <p:cNvPr id="12" name="Icon GiTwoShadows" descr="preencoded.png">    </p:cNvPr>
          <p:cNvPicPr>
            <a:picLocks noChangeAspect="1"/>
          </p:cNvPicPr>
          <p:nvPr/>
        </p:nvPicPr>
        <p:blipFill>
          <a:blip r:embed="rId2"/>
          <a:stretch>
            <a:fillRect/>
          </a:stretch>
        </p:blipFill>
        <p:spPr>
          <a:xfrm>
            <a:off x="4631436" y="1632204"/>
            <a:ext cx="384048" cy="384048"/>
          </a:xfrm>
          <a:prstGeom prst="rect">
            <a:avLst/>
          </a:prstGeom>
        </p:spPr>
      </p:pic>
      <p:sp>
        <p:nvSpPr>
          <p:cNvPr id="13" name="Text 9"/>
          <p:cNvSpPr txBox="1"/>
          <p:nvPr/>
        </p:nvSpPr>
        <p:spPr>
          <a:xfrm>
            <a:off x="5303520" y="1481328"/>
            <a:ext cx="2423160" cy="384048"/>
          </a:xfrm>
          <a:prstGeom prst="rect">
            <a:avLst/>
          </a:prstGeom>
          <a:noFill/>
          <a:ln/>
        </p:spPr>
        <p:txBody>
          <a:bodyPr wrap="square" lIns="0" tIns="0" rIns="0" bIns="0" rtlCol="0" anchor="ctr"/>
          <a:lstStyle/>
          <a:p>
            <a:pPr indent="0" marL="0">
              <a:buNone/>
            </a:pPr>
            <a:r>
              <a:rPr lang="en-US" sz="1900" b="1" dirty="0">
                <a:solidFill>
                  <a:schemeClr val="accent1"/>
                </a:solidFill>
              </a:rPr>
              <a:t>2 · Peer-Check</a:t>
            </a:r>
            <a:endParaRPr lang="en-US" sz="1900" dirty="0"/>
          </a:p>
        </p:txBody>
      </p:sp>
      <p:sp>
        <p:nvSpPr>
          <p:cNvPr id="14" name="Chip"/>
          <p:cNvSpPr txBox="1"/>
          <p:nvPr/>
        </p:nvSpPr>
        <p:spPr>
          <a:xfrm>
            <a:off x="5303520" y="1892808"/>
            <a:ext cx="100584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15 min</a:t>
            </a:r>
            <a:endParaRPr lang="en-US" sz="1300" dirty="0"/>
          </a:p>
        </p:txBody>
      </p:sp>
      <p:sp>
        <p:nvSpPr>
          <p:cNvPr id="15" name="Text 11"/>
          <p:cNvSpPr txBox="1"/>
          <p:nvPr/>
        </p:nvSpPr>
        <p:spPr>
          <a:xfrm>
            <a:off x="4480560" y="2377440"/>
            <a:ext cx="320040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Tausch im Ring A → B → C → A</a:t>
            </a:r>
            <a:endParaRPr lang="en-US" sz="1500" dirty="0"/>
          </a:p>
          <a:p>
            <a:pPr marL="342900" indent="-342900">
              <a:spcAft>
                <a:spcPts val="600"/>
              </a:spcAft>
              <a:buSzPct val="100000"/>
              <a:buChar char="•"/>
            </a:pPr>
            <a:r>
              <a:rPr lang="en-US" sz="1500" dirty="0">
                <a:solidFill>
                  <a:schemeClr val="tx1"/>
                </a:solidFill>
              </a:rPr>
              <a:t>eigene Häkchen abdecken, Spalte „Peer“</a:t>
            </a:r>
            <a:endParaRPr lang="en-US" sz="1500" dirty="0"/>
          </a:p>
          <a:p>
            <a:pPr marL="342900" indent="-342900">
              <a:spcAft>
                <a:spcPts val="600"/>
              </a:spcAft>
              <a:buSzPct val="100000"/>
              <a:buChar char="•"/>
            </a:pPr>
            <a:r>
              <a:rPr lang="en-US" sz="1500" dirty="0">
                <a:solidFill>
                  <a:schemeClr val="tx1"/>
                </a:solidFill>
              </a:rPr>
              <a:t>Abweichung? Einigung mit dem Kernpunkt-Text</a:t>
            </a:r>
            <a:endParaRPr lang="en-US" sz="1500" dirty="0"/>
          </a:p>
        </p:txBody>
      </p:sp>
      <p:sp>
        <p:nvSpPr>
          <p:cNvPr id="16" name="Pfeil Korrektur"/>
          <p:cNvSpPr/>
          <p:nvPr/>
        </p:nvSpPr>
        <p:spPr>
          <a:xfrm>
            <a:off x="7836408" y="2743200"/>
            <a:ext cx="192024" cy="91"/>
          </a:xfrm>
          <a:prstGeom prst="line">
            <a:avLst/>
          </a:prstGeom>
          <a:noFill/>
          <a:ln w="31750">
            <a:solidFill>
              <a:schemeClr val="accent2"/>
            </a:solidFill>
            <a:prstDash val="solid"/>
            <a:tailEnd type="triangle"/>
          </a:ln>
        </p:spPr>
      </p:sp>
      <p:sp>
        <p:nvSpPr>
          <p:cNvPr id="17" name="3 · Team-Statistik"/>
          <p:cNvSpPr/>
          <p:nvPr/>
        </p:nvSpPr>
        <p:spPr>
          <a:xfrm>
            <a:off x="8046720" y="1325880"/>
            <a:ext cx="3520440" cy="2880360"/>
          </a:xfrm>
          <a:prstGeom prst="roundRect">
            <a:avLst>
              <a:gd name="adj" fmla="val 3810"/>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8" name="Icon-Kreis"/>
          <p:cNvSpPr/>
          <p:nvPr/>
        </p:nvSpPr>
        <p:spPr>
          <a:xfrm>
            <a:off x="8229600" y="1481328"/>
            <a:ext cx="685800" cy="685800"/>
          </a:xfrm>
          <a:prstGeom prst="ellipse">
            <a:avLst/>
          </a:prstGeom>
          <a:solidFill>
            <a:schemeClr val="accent2"/>
          </a:solidFill>
          <a:ln/>
        </p:spPr>
      </p:sp>
      <p:pic>
        <p:nvPicPr>
          <p:cNvPr id="19" name="Icon GiHistogram" descr="preencoded.png">    </p:cNvPr>
          <p:cNvPicPr>
            <a:picLocks noChangeAspect="1"/>
          </p:cNvPicPr>
          <p:nvPr/>
        </p:nvPicPr>
        <p:blipFill>
          <a:blip r:embed="rId3"/>
          <a:stretch>
            <a:fillRect/>
          </a:stretch>
        </p:blipFill>
        <p:spPr>
          <a:xfrm>
            <a:off x="8380476" y="1632204"/>
            <a:ext cx="384048" cy="384048"/>
          </a:xfrm>
          <a:prstGeom prst="rect">
            <a:avLst/>
          </a:prstGeom>
        </p:spPr>
      </p:pic>
      <p:sp>
        <p:nvSpPr>
          <p:cNvPr id="20" name="Text 15"/>
          <p:cNvSpPr txBox="1"/>
          <p:nvPr/>
        </p:nvSpPr>
        <p:spPr>
          <a:xfrm>
            <a:off x="9052560" y="1481328"/>
            <a:ext cx="2423160" cy="384048"/>
          </a:xfrm>
          <a:prstGeom prst="rect">
            <a:avLst/>
          </a:prstGeom>
          <a:noFill/>
          <a:ln/>
        </p:spPr>
        <p:txBody>
          <a:bodyPr wrap="square" lIns="0" tIns="0" rIns="0" bIns="0" rtlCol="0" anchor="ctr"/>
          <a:lstStyle/>
          <a:p>
            <a:pPr indent="0" marL="0">
              <a:buNone/>
            </a:pPr>
            <a:r>
              <a:rPr lang="en-US" sz="1900" b="1" dirty="0">
                <a:solidFill>
                  <a:schemeClr val="accent1"/>
                </a:solidFill>
              </a:rPr>
              <a:t>3 · Team-Statistik</a:t>
            </a:r>
            <a:endParaRPr lang="en-US" sz="1900" dirty="0"/>
          </a:p>
        </p:txBody>
      </p:sp>
      <p:sp>
        <p:nvSpPr>
          <p:cNvPr id="21" name="Chip"/>
          <p:cNvSpPr txBox="1"/>
          <p:nvPr/>
        </p:nvSpPr>
        <p:spPr>
          <a:xfrm>
            <a:off x="9052560" y="1892808"/>
            <a:ext cx="100584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10 min</a:t>
            </a:r>
            <a:endParaRPr lang="en-US" sz="1300" dirty="0"/>
          </a:p>
        </p:txBody>
      </p:sp>
      <p:sp>
        <p:nvSpPr>
          <p:cNvPr id="22" name="Text 17"/>
          <p:cNvSpPr txBox="1"/>
          <p:nvPr/>
        </p:nvSpPr>
        <p:spPr>
          <a:xfrm>
            <a:off x="8229600" y="2377440"/>
            <a:ext cx="320040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Striche P1–P10 aller Mitglieder summieren</a:t>
            </a:r>
            <a:endParaRPr lang="en-US" sz="1500" dirty="0"/>
          </a:p>
          <a:p>
            <a:pPr marL="342900" indent="-342900">
              <a:spcAft>
                <a:spcPts val="600"/>
              </a:spcAft>
              <a:buSzPct val="100000"/>
              <a:buChar char="•"/>
            </a:pPr>
            <a:r>
              <a:rPr lang="en-US" sz="1500" dirty="0">
                <a:solidFill>
                  <a:schemeClr val="tx1"/>
                </a:solidFill>
              </a:rPr>
              <a:t>Säulendiagramm, Top 3 markieren</a:t>
            </a:r>
            <a:endParaRPr lang="en-US" sz="1500" dirty="0"/>
          </a:p>
          <a:p>
            <a:pPr marL="342900" indent="-342900">
              <a:spcAft>
                <a:spcPts val="600"/>
              </a:spcAft>
              <a:buSzPct val="100000"/>
              <a:buChar char="•"/>
            </a:pPr>
            <a:r>
              <a:rPr lang="en-US" sz="1500" dirty="0">
                <a:solidFill>
                  <a:schemeClr val="tx1"/>
                </a:solidFill>
              </a:rPr>
              <a:t>Foto = Vergleichsbasis für den Warm-up-Nachtest</a:t>
            </a:r>
            <a:endParaRPr lang="en-US" sz="1500" dirty="0"/>
          </a:p>
        </p:txBody>
      </p:sp>
      <p:sp>
        <p:nvSpPr>
          <p:cNvPr id="23" name="Text 18"/>
          <p:cNvSpPr txBox="1"/>
          <p:nvPr/>
        </p:nvSpPr>
        <p:spPr>
          <a:xfrm>
            <a:off x="548640" y="4434840"/>
            <a:ext cx="6766560" cy="329184"/>
          </a:xfrm>
          <a:prstGeom prst="rect">
            <a:avLst/>
          </a:prstGeom>
          <a:noFill/>
          <a:ln/>
        </p:spPr>
        <p:txBody>
          <a:bodyPr wrap="square" lIns="0" tIns="0" rIns="0" bIns="0" rtlCol="0" anchor="t"/>
          <a:lstStyle/>
          <a:p>
            <a:pPr indent="0" marL="0">
              <a:buNone/>
            </a:pPr>
            <a:r>
              <a:rPr lang="en-US" sz="1800" b="1" dirty="0">
                <a:solidFill>
                  <a:schemeClr val="accent1"/>
                </a:solidFill>
              </a:rPr>
              <a:t>So zählt ein Kernpunkt</a:t>
            </a:r>
            <a:endParaRPr lang="en-US" sz="1800" dirty="0"/>
          </a:p>
        </p:txBody>
      </p:sp>
      <p:sp>
        <p:nvSpPr>
          <p:cNvPr id="24" name="Icon-Kreis"/>
          <p:cNvSpPr/>
          <p:nvPr/>
        </p:nvSpPr>
        <p:spPr>
          <a:xfrm>
            <a:off x="548640" y="4882896"/>
            <a:ext cx="274320" cy="274320"/>
          </a:xfrm>
          <a:prstGeom prst="ellipse">
            <a:avLst/>
          </a:prstGeom>
          <a:solidFill>
            <a:schemeClr val="accent3"/>
          </a:solidFill>
          <a:ln/>
        </p:spPr>
      </p:sp>
      <p:pic>
        <p:nvPicPr>
          <p:cNvPr id="25" name="Icon GiCheckMark" descr="preencoded.png">    </p:cNvPr>
          <p:cNvPicPr>
            <a:picLocks noChangeAspect="1"/>
          </p:cNvPicPr>
          <p:nvPr/>
        </p:nvPicPr>
        <p:blipFill>
          <a:blip r:embed="rId4"/>
          <a:stretch>
            <a:fillRect/>
          </a:stretch>
        </p:blipFill>
        <p:spPr>
          <a:xfrm>
            <a:off x="592531" y="4926787"/>
            <a:ext cx="186538" cy="186538"/>
          </a:xfrm>
          <a:prstGeom prst="rect">
            <a:avLst/>
          </a:prstGeom>
        </p:spPr>
      </p:pic>
      <p:sp>
        <p:nvSpPr>
          <p:cNvPr id="26" name="Text 20"/>
          <p:cNvSpPr txBox="1"/>
          <p:nvPr/>
        </p:nvSpPr>
        <p:spPr>
          <a:xfrm>
            <a:off x="960120" y="4800600"/>
            <a:ext cx="6537960" cy="420624"/>
          </a:xfrm>
          <a:prstGeom prst="rect">
            <a:avLst/>
          </a:prstGeom>
          <a:noFill/>
          <a:ln/>
        </p:spPr>
        <p:txBody>
          <a:bodyPr wrap="square" lIns="0" tIns="0" rIns="0" bIns="0" rtlCol="0" anchor="ctr"/>
          <a:lstStyle/>
          <a:p>
            <a:pPr indent="0" marL="0">
              <a:buNone/>
            </a:pPr>
            <a:r>
              <a:rPr lang="en-US" sz="1500" dirty="0">
                <a:solidFill>
                  <a:schemeClr val="tx1"/>
                </a:solidFill>
              </a:rPr>
              <a:t>nur, wenn er vollständig und fachlich richtig dasteht – „gemeint“ zählt nicht</a:t>
            </a:r>
            <a:endParaRPr lang="en-US" sz="1500" dirty="0"/>
          </a:p>
        </p:txBody>
      </p:sp>
      <p:sp>
        <p:nvSpPr>
          <p:cNvPr id="27" name="Icon-Kreis"/>
          <p:cNvSpPr/>
          <p:nvPr/>
        </p:nvSpPr>
        <p:spPr>
          <a:xfrm>
            <a:off x="548640" y="5321808"/>
            <a:ext cx="274320" cy="274320"/>
          </a:xfrm>
          <a:prstGeom prst="ellipse">
            <a:avLst/>
          </a:prstGeom>
          <a:solidFill>
            <a:schemeClr val="accent3"/>
          </a:solidFill>
          <a:ln/>
        </p:spPr>
      </p:sp>
      <p:pic>
        <p:nvPicPr>
          <p:cNvPr id="28" name="Icon GiCheckMark" descr="preencoded.png">    </p:cNvPr>
          <p:cNvPicPr>
            <a:picLocks noChangeAspect="1"/>
          </p:cNvPicPr>
          <p:nvPr/>
        </p:nvPicPr>
        <p:blipFill>
          <a:blip r:embed="rId5"/>
          <a:stretch>
            <a:fillRect/>
          </a:stretch>
        </p:blipFill>
        <p:spPr>
          <a:xfrm>
            <a:off x="592531" y="5365699"/>
            <a:ext cx="186538" cy="186538"/>
          </a:xfrm>
          <a:prstGeom prst="rect">
            <a:avLst/>
          </a:prstGeom>
        </p:spPr>
      </p:pic>
      <p:sp>
        <p:nvSpPr>
          <p:cNvPr id="29" name="Text 22"/>
          <p:cNvSpPr txBox="1"/>
          <p:nvPr/>
        </p:nvSpPr>
        <p:spPr>
          <a:xfrm>
            <a:off x="960120" y="5239512"/>
            <a:ext cx="6537960" cy="420624"/>
          </a:xfrm>
          <a:prstGeom prst="rect">
            <a:avLst/>
          </a:prstGeom>
          <a:noFill/>
          <a:ln/>
        </p:spPr>
        <p:txBody>
          <a:bodyPr wrap="square" lIns="0" tIns="0" rIns="0" bIns="0" rtlCol="0" anchor="ctr"/>
          <a:lstStyle/>
          <a:p>
            <a:pPr indent="0" marL="0">
              <a:buNone/>
            </a:pPr>
            <a:r>
              <a:rPr lang="en-US" sz="1500" dirty="0">
                <a:solidFill>
                  <a:schemeClr val="tx1"/>
                </a:solidFill>
              </a:rPr>
              <a:t>Folgefehler: nur der Kernpunkt mit dem ersten Fehler geht verloren</a:t>
            </a:r>
            <a:endParaRPr lang="en-US" sz="1500" dirty="0"/>
          </a:p>
        </p:txBody>
      </p:sp>
      <p:sp>
        <p:nvSpPr>
          <p:cNvPr id="30" name="Icon-Kreis"/>
          <p:cNvSpPr/>
          <p:nvPr/>
        </p:nvSpPr>
        <p:spPr>
          <a:xfrm>
            <a:off x="548640" y="5760720"/>
            <a:ext cx="274320" cy="274320"/>
          </a:xfrm>
          <a:prstGeom prst="ellipse">
            <a:avLst/>
          </a:prstGeom>
          <a:solidFill>
            <a:schemeClr val="accent3"/>
          </a:solidFill>
          <a:ln/>
        </p:spPr>
      </p:sp>
      <p:pic>
        <p:nvPicPr>
          <p:cNvPr id="31" name="Icon GiCheckMark" descr="preencoded.png">    </p:cNvPr>
          <p:cNvPicPr>
            <a:picLocks noChangeAspect="1"/>
          </p:cNvPicPr>
          <p:nvPr/>
        </p:nvPicPr>
        <p:blipFill>
          <a:blip r:embed="rId6"/>
          <a:stretch>
            <a:fillRect/>
          </a:stretch>
        </p:blipFill>
        <p:spPr>
          <a:xfrm>
            <a:off x="592531" y="5804611"/>
            <a:ext cx="186538" cy="186538"/>
          </a:xfrm>
          <a:prstGeom prst="rect">
            <a:avLst/>
          </a:prstGeom>
        </p:spPr>
      </p:pic>
      <p:sp>
        <p:nvSpPr>
          <p:cNvPr id="32" name="Text 24"/>
          <p:cNvSpPr txBox="1"/>
          <p:nvPr/>
        </p:nvSpPr>
        <p:spPr>
          <a:xfrm>
            <a:off x="960120" y="5678424"/>
            <a:ext cx="6537960" cy="420624"/>
          </a:xfrm>
          <a:prstGeom prst="rect">
            <a:avLst/>
          </a:prstGeom>
          <a:noFill/>
          <a:ln/>
        </p:spPr>
        <p:txBody>
          <a:bodyPr wrap="square" lIns="0" tIns="0" rIns="0" bIns="0" rtlCol="0" anchor="ctr"/>
          <a:lstStyle/>
          <a:p>
            <a:pPr indent="0" marL="0">
              <a:buNone/>
            </a:pPr>
            <a:r>
              <a:rPr lang="en-US" sz="1500" dirty="0">
                <a:solidFill>
                  <a:schemeClr val="tx1"/>
                </a:solidFill>
              </a:rPr>
              <a:t>Lies wie ein Korrektor: Steht es da? Nicht: Hätte sie es gewusst?</a:t>
            </a:r>
            <a:endParaRPr lang="en-US" sz="1500" dirty="0"/>
          </a:p>
        </p:txBody>
      </p:sp>
      <p:sp>
        <p:nvSpPr>
          <p:cNvPr id="33" name="Lab-Vergleich"/>
          <p:cNvSpPr/>
          <p:nvPr/>
        </p:nvSpPr>
        <p:spPr>
          <a:xfrm>
            <a:off x="7772400" y="4434840"/>
            <a:ext cx="3840480" cy="1691640"/>
          </a:xfrm>
          <a:prstGeom prst="roundRect">
            <a:avLst>
              <a:gd name="adj" fmla="val 6486"/>
            </a:avLst>
          </a:prstGeom>
          <a:solidFill>
            <a:schemeClr val="bg2"/>
          </a:solidFill>
          <a:ln/>
        </p:spPr>
      </p:sp>
      <p:sp>
        <p:nvSpPr>
          <p:cNvPr id="34" name="Text 26"/>
          <p:cNvSpPr txBox="1"/>
          <p:nvPr/>
        </p:nvSpPr>
        <p:spPr>
          <a:xfrm>
            <a:off x="7955280" y="4526280"/>
            <a:ext cx="3520440" cy="1508760"/>
          </a:xfrm>
          <a:prstGeom prst="rect">
            <a:avLst/>
          </a:prstGeom>
          <a:noFill/>
          <a:ln/>
        </p:spPr>
        <p:txBody>
          <a:bodyPr wrap="square" lIns="0" tIns="0" rIns="0" bIns="0" rtlCol="0" anchor="ctr"/>
          <a:lstStyle/>
          <a:p>
            <a:pPr indent="0" marL="0">
              <a:buNone/>
            </a:pPr>
            <a:r>
              <a:rPr lang="en-US" sz="1600" b="1" dirty="0">
                <a:solidFill>
                  <a:schemeClr val="accent2"/>
                </a:solidFill>
              </a:rPr>
              <a:t>Vergleich mit dem Lab</a:t>
            </a:r>
            <a:endParaRPr lang="en-US" sz="1400" dirty="0"/>
          </a:p>
          <a:p>
            <a:pPr indent="0" marL="0">
              <a:buNone/>
            </a:pPr>
            <a:r>
              <a:rPr lang="en-US" sz="1400" b="1" dirty="0">
                <a:solidFill>
                  <a:schemeClr val="accent1"/>
                </a:solidFill>
              </a:rPr>
              <a:t>Du: </a:t>
            </a:r>
            <a:pPr indent="0" marL="0">
              <a:buNone/>
            </a:pPr>
            <a:r>
              <a:rPr lang="en-US" sz="1400" dirty="0">
                <a:solidFill>
                  <a:schemeClr val="tx1"/>
                </a:solidFill>
              </a:rPr>
              <a:t>Profil → „Deine Fallen“</a:t>
            </a:r>
            <a:endParaRPr lang="en-US" sz="1400" dirty="0"/>
          </a:p>
          <a:p>
            <a:pPr indent="0" marL="0">
              <a:buNone/>
            </a:pPr>
            <a:r>
              <a:rPr lang="en-US" sz="1400" b="1" dirty="0">
                <a:solidFill>
                  <a:schemeClr val="accent1"/>
                </a:solidFill>
              </a:rPr>
              <a:t>Kurs: </a:t>
            </a:r>
            <a:pPr indent="0" marL="0">
              <a:buNone/>
            </a:pPr>
            <a:r>
              <a:rPr lang="en-US" sz="1400" dirty="0">
                <a:solidFill>
                  <a:schemeClr val="tx1"/>
                </a:solidFill>
              </a:rPr>
              <a:t>Fallen-Profil (Lehrkraft)</a:t>
            </a:r>
            <a:endParaRPr lang="en-US" sz="1400" dirty="0"/>
          </a:p>
          <a:p>
            <a:pPr indent="0" marL="0">
              <a:buNone/>
            </a:pPr>
            <a:r>
              <a:rPr lang="en-US" sz="1400" b="1" dirty="0">
                <a:solidFill>
                  <a:schemeClr val="accent1"/>
                </a:solidFill>
              </a:rPr>
              <a:t>Peer-Check: </a:t>
            </a:r>
            <a:pPr indent="0" marL="0">
              <a:buNone/>
            </a:pPr>
            <a:r>
              <a:rPr lang="en-US" sz="1400" dirty="0">
                <a:solidFill>
                  <a:schemeClr val="tx1"/>
                </a:solidFill>
              </a:rPr>
              <a:t>alle Kernpunkte geprüft, Abweichungen begründet</a:t>
            </a:r>
            <a:endParaRPr lang="en-US" sz="1400" dirty="0"/>
          </a:p>
        </p:txBody>
      </p:sp>
      <p:sp>
        <p:nvSpPr>
          <p:cNvPr id="35" name="Text 27"/>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Korrektur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Wie ein Korrektor liest: Teilaufgabe b)</a:t>
            </a:r>
            <a:endParaRPr lang="en-US" sz="3600" dirty="0"/>
          </a:p>
        </p:txBody>
      </p:sp>
      <p:sp>
        <p:nvSpPr>
          <p:cNvPr id="3" name="Text 1"/>
          <p:cNvSpPr txBox="1"/>
          <p:nvPr/>
        </p:nvSpPr>
        <p:spPr>
          <a:xfrm>
            <a:off x="548640" y="1325880"/>
            <a:ext cx="5852160" cy="365760"/>
          </a:xfrm>
          <a:prstGeom prst="rect">
            <a:avLst/>
          </a:prstGeom>
          <a:noFill/>
          <a:ln/>
        </p:spPr>
        <p:txBody>
          <a:bodyPr wrap="square" lIns="0" tIns="0" rIns="0" bIns="0" rtlCol="0" anchor="ctr"/>
          <a:lstStyle/>
          <a:p>
            <a:pPr indent="0" marL="0">
              <a:buNone/>
            </a:pPr>
            <a:r>
              <a:rPr lang="en-US" sz="1500" dirty="0">
                <a:solidFill>
                  <a:schemeClr val="tx1"/>
                </a:solidFill>
              </a:rPr>
              <a:t>Schülerlösung zu </a:t>
            </a:r>
            <a:pPr indent="0" marL="0">
              <a:buNone/>
            </a:pPr>
            <a:r>
              <a:rPr lang="en-US" sz="1300" b="1" dirty="0">
                <a:solidFill>
                  <a:schemeClr val="accent1"/>
                </a:solidFill>
                <a:latin typeface="Consolas" pitchFamily="34" charset="0"/>
                <a:ea typeface="Consolas" pitchFamily="34" charset="-122"/>
                <a:cs typeface="Consolas" pitchFamily="34" charset="-120"/>
              </a:rPr>
              <a:t>sucheFach(sendungsnr: Zeichenkette): Ganzzahl</a:t>
            </a:r>
            <a:endParaRPr lang="en-US" sz="1500" dirty="0"/>
          </a:p>
        </p:txBody>
      </p:sp>
      <p:sp>
        <p:nvSpPr>
          <p:cNvPr id="4" name="Schuelerloesung"/>
          <p:cNvSpPr txBox="1"/>
          <p:nvPr/>
        </p:nvSpPr>
        <p:spPr>
          <a:xfrm>
            <a:off x="548640" y="1783080"/>
            <a:ext cx="5166360" cy="2130552"/>
          </a:xfrm>
          <a:prstGeom prst="rect">
            <a:avLst/>
          </a:prstGeom>
          <a:solidFill>
            <a:srgbClr val="FAFAFA"/>
          </a:solidFill>
          <a:ln w="25400">
            <a:solidFill>
              <a:srgbClr val="A6A6A6"/>
            </a:solidFill>
          </a:ln>
        </p:spPr>
        <p:txBody>
          <a:bodyPr wrap="square" lIns="164592" tIns="128016" rIns="164592" bIns="128016" rtlCol="0" anchor="t"/>
          <a:lstStyle/>
          <a:p>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6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sucheFach</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100" b="1" dirty="0">
                <a:solidFill>
                  <a:schemeClr val="accent1"/>
                </a:solidFill>
                <a:latin typeface="Consolas" pitchFamily="34" charset="0"/>
                <a:ea typeface="Consolas" pitchFamily="34" charset="-122"/>
                <a:cs typeface="Consolas" pitchFamily="34" charset="-120"/>
              </a:rPr>
              <a:t>String</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sendungsnr</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2      </a:t>
            </a:r>
            <a:pPr algn="l" indent="0" marL="0">
              <a:lnSpc>
                <a:spcPts val="1600"/>
              </a:lnSpc>
              <a:buNone/>
            </a:pPr>
            <a:r>
              <a:rPr lang="en-US" sz="11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 0;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faecher</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getLength</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3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Fach</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f</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Fach</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faecher</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getItem</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4          </a:t>
            </a:r>
            <a:pPr algn="l" indent="0" marL="0">
              <a:lnSpc>
                <a:spcPts val="16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if</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f</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getInhalt</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getNummer</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 </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sendungsnr</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endParaRPr lang="en-US" sz="1100" dirty="0"/>
          </a:p>
          <a:p>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5              </a:t>
            </a:r>
            <a:pPr algn="l" indent="0" marL="0">
              <a:lnSpc>
                <a:spcPts val="16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return</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i</a:t>
            </a:r>
            <a:pPr algn="l" indent="0" marL="0">
              <a:lnSpc>
                <a:spcPts val="16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endParaRPr lang="en-US" sz="1100" dirty="0"/>
          </a:p>
          <a:p>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6          }</a:t>
            </a:r>
            <a:endParaRPr lang="en-US" sz="1100" dirty="0"/>
          </a:p>
          <a:p>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7      }</a:t>
            </a:r>
            <a:endParaRPr lang="en-US" sz="1100" dirty="0"/>
          </a:p>
          <a:p>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8      </a:t>
            </a:r>
            <a:pPr algn="l" indent="0" marL="0">
              <a:lnSpc>
                <a:spcPts val="16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 -1;</a:t>
            </a:r>
            <a:endParaRPr lang="en-US" sz="1100" dirty="0"/>
          </a:p>
          <a:p>
            <a:pPr algn="l" indent="0" marL="0">
              <a:lnSpc>
                <a:spcPts val="1600"/>
              </a:lnSpc>
              <a:buNone/>
            </a:pPr>
            <a:r>
              <a:rPr lang="en-US" sz="1100" dirty="0">
                <a:solidFill>
                  <a:schemeClr val="tx1"/>
                </a:solidFill>
                <a:latin typeface="Consolas" pitchFamily="34" charset="0"/>
                <a:ea typeface="Consolas" pitchFamily="34" charset="-122"/>
                <a:cs typeface="Consolas" pitchFamily="34" charset="-120"/>
              </a:rPr>
              <a:t>9  }</a:t>
            </a:r>
            <a:endParaRPr lang="en-US" sz="1100" dirty="0"/>
          </a:p>
        </p:txBody>
      </p:sp>
      <p:sp>
        <p:nvSpPr>
          <p:cNvPr id="5" name="Chip"/>
          <p:cNvSpPr txBox="1"/>
          <p:nvPr/>
        </p:nvSpPr>
        <p:spPr>
          <a:xfrm>
            <a:off x="5760720" y="2526284"/>
            <a:ext cx="658368" cy="192024"/>
          </a:xfrm>
          <a:prstGeom prst="roundRect">
            <a:avLst>
              <a:gd name="adj" fmla="val 50000"/>
            </a:avLst>
          </a:prstGeom>
          <a:solidFill>
            <a:schemeClr val="accent4"/>
          </a:solidFill>
          <a:ln/>
        </p:spPr>
        <p:txBody>
          <a:bodyPr wrap="square" lIns="0" tIns="0" rIns="0" bIns="0" rtlCol="0" anchor="ctr"/>
          <a:lstStyle/>
          <a:p>
            <a:pPr algn="ctr" indent="0" marL="0">
              <a:buNone/>
            </a:pPr>
            <a:r>
              <a:rPr lang="en-US" sz="1000" b="1" dirty="0">
                <a:solidFill>
                  <a:schemeClr val="bg1"/>
                </a:solidFill>
              </a:rPr>
              <a:t>P1 · P5</a:t>
            </a:r>
            <a:endParaRPr lang="en-US" sz="1000" dirty="0"/>
          </a:p>
        </p:txBody>
      </p:sp>
      <p:sp>
        <p:nvSpPr>
          <p:cNvPr id="6" name="Chip"/>
          <p:cNvSpPr txBox="1"/>
          <p:nvPr/>
        </p:nvSpPr>
        <p:spPr>
          <a:xfrm>
            <a:off x="5760720" y="2729484"/>
            <a:ext cx="658368" cy="192024"/>
          </a:xfrm>
          <a:prstGeom prst="roundRect">
            <a:avLst>
              <a:gd name="adj" fmla="val 50000"/>
            </a:avLst>
          </a:prstGeom>
          <a:solidFill>
            <a:schemeClr val="accent4"/>
          </a:solidFill>
          <a:ln/>
        </p:spPr>
        <p:txBody>
          <a:bodyPr wrap="square" lIns="0" tIns="0" rIns="0" bIns="0" rtlCol="0" anchor="ctr"/>
          <a:lstStyle/>
          <a:p>
            <a:pPr algn="ctr" indent="0" marL="0">
              <a:buNone/>
            </a:pPr>
            <a:r>
              <a:rPr lang="en-US" sz="1000" b="1" dirty="0">
                <a:solidFill>
                  <a:schemeClr val="bg1"/>
                </a:solidFill>
              </a:rPr>
              <a:t>P3</a:t>
            </a:r>
            <a:endParaRPr lang="en-US" sz="1000" dirty="0"/>
          </a:p>
        </p:txBody>
      </p:sp>
      <p:sp>
        <p:nvSpPr>
          <p:cNvPr id="7" name="Papier-Compiler Ergebnis"/>
          <p:cNvSpPr/>
          <p:nvPr/>
        </p:nvSpPr>
        <p:spPr>
          <a:xfrm>
            <a:off x="548640" y="3977640"/>
            <a:ext cx="5760720" cy="914400"/>
          </a:xfrm>
          <a:prstGeom prst="roundRect">
            <a:avLst>
              <a:gd name="adj" fmla="val 12000"/>
            </a:avLst>
          </a:prstGeom>
          <a:solidFill>
            <a:schemeClr val="bg1"/>
          </a:solidFill>
          <a:ln w="25400">
            <a:solidFill>
              <a:schemeClr val="accent4"/>
            </a:solidFill>
            <a:prstDash val="solid"/>
          </a:ln>
        </p:spPr>
      </p:sp>
      <p:sp>
        <p:nvSpPr>
          <p:cNvPr id="8" name="Text 6"/>
          <p:cNvSpPr txBox="1"/>
          <p:nvPr/>
        </p:nvSpPr>
        <p:spPr>
          <a:xfrm>
            <a:off x="749808" y="3977640"/>
            <a:ext cx="5394960" cy="914400"/>
          </a:xfrm>
          <a:prstGeom prst="rect">
            <a:avLst/>
          </a:prstGeom>
          <a:noFill/>
          <a:ln/>
        </p:spPr>
        <p:txBody>
          <a:bodyPr wrap="square" lIns="0" tIns="0" rIns="0" bIns="0" rtlCol="0" anchor="ctr"/>
          <a:lstStyle/>
          <a:p>
            <a:pPr indent="0" marL="0">
              <a:buNone/>
            </a:pPr>
            <a:r>
              <a:rPr lang="en-US" sz="1500" b="1" dirty="0">
                <a:solidFill>
                  <a:schemeClr val="accent4"/>
                </a:solidFill>
              </a:rPr>
              <a:t>Papier-Compiler: </a:t>
            </a:r>
            <a:pPr indent="0" marL="0">
              <a:buNone/>
            </a:pPr>
            <a:r>
              <a:rPr lang="en-US" sz="1400" dirty="0">
                <a:solidFill>
                  <a:schemeClr val="tx1"/>
                </a:solidFill>
                <a:latin typeface="Consolas" pitchFamily="34" charset="0"/>
                <a:ea typeface="Consolas" pitchFamily="34" charset="-122"/>
                <a:cs typeface="Consolas" pitchFamily="34" charset="-120"/>
              </a:rPr>
              <a:t>sucheFach("P-2208")</a:t>
            </a:r>
            <a:pPr indent="0" marL="0">
              <a:buNone/>
            </a:pPr>
            <a:r>
              <a:rPr lang="en-US" sz="1500" dirty="0">
                <a:solidFill>
                  <a:schemeClr val="tx1"/>
                </a:solidFill>
              </a:rPr>
              <a:t> bricht ab – NullPointerException, weil Fach 102 frei ist (getInhalt() = null).</a:t>
            </a:r>
            <a:endParaRPr lang="en-US" sz="1500" dirty="0"/>
          </a:p>
        </p:txBody>
      </p:sp>
      <p:sp>
        <p:nvSpPr>
          <p:cNvPr id="9" name="Hinweis gleich"/>
          <p:cNvSpPr/>
          <p:nvPr/>
        </p:nvSpPr>
        <p:spPr>
          <a:xfrm>
            <a:off x="548640" y="5029200"/>
            <a:ext cx="5760720" cy="1097280"/>
          </a:xfrm>
          <a:prstGeom prst="roundRect">
            <a:avLst>
              <a:gd name="adj" fmla="val 10000"/>
            </a:avLst>
          </a:prstGeom>
          <a:solidFill>
            <a:schemeClr val="bg2"/>
          </a:solidFill>
          <a:ln/>
        </p:spPr>
      </p:sp>
      <p:sp>
        <p:nvSpPr>
          <p:cNvPr id="10" name="Text 8"/>
          <p:cNvSpPr txBox="1"/>
          <p:nvPr/>
        </p:nvSpPr>
        <p:spPr>
          <a:xfrm>
            <a:off x="749808" y="5029200"/>
            <a:ext cx="5394960" cy="1097280"/>
          </a:xfrm>
          <a:prstGeom prst="rect">
            <a:avLst/>
          </a:prstGeom>
          <a:noFill/>
          <a:ln/>
        </p:spPr>
        <p:txBody>
          <a:bodyPr wrap="square" lIns="0" tIns="0" rIns="0" bIns="0" rtlCol="0" anchor="ctr"/>
          <a:lstStyle/>
          <a:p>
            <a:pPr indent="0" marL="0">
              <a:buNone/>
            </a:pPr>
            <a:r>
              <a:rPr lang="en-US" sz="1500" dirty="0">
                <a:solidFill>
                  <a:schemeClr val="tx1"/>
                </a:solidFill>
              </a:rPr>
              <a:t>Und </a:t>
            </a:r>
            <a:pPr indent="0" marL="0">
              <a:buNone/>
            </a:pPr>
            <a:r>
              <a:rPr lang="en-US" sz="1500" b="1" dirty="0">
                <a:solidFill>
                  <a:schemeClr val="tx1"/>
                </a:solidFill>
                <a:latin typeface="Consolas" pitchFamily="34" charset="0"/>
                <a:ea typeface="Consolas" pitchFamily="34" charset="-122"/>
                <a:cs typeface="Consolas" pitchFamily="34" charset="-120"/>
              </a:rPr>
              <a:t>==</a:t>
            </a:r>
            <a:pPr indent="0" marL="0">
              <a:buNone/>
            </a:pPr>
            <a:r>
              <a:rPr lang="en-US" sz="1500" dirty="0">
                <a:solidFill>
                  <a:schemeClr val="tx1"/>
                </a:solidFill>
              </a:rPr>
              <a:t>? </a:t>
            </a:r>
            <a:pPr indent="0" marL="0">
              <a:buNone/>
            </a:pPr>
            <a:r>
              <a:rPr lang="en-US" sz="1500" dirty="0">
                <a:solidFill>
                  <a:schemeClr val="tx1"/>
                </a:solidFill>
              </a:rPr>
              <a:t>Die Online-IDE vergleicht Zeichenketten mit == inhaltlich – die Tests merken es nicht. Im Abitur kostet es trotzdem den Kernpunkt.</a:t>
            </a:r>
            <a:endParaRPr lang="en-US" sz="1500" dirty="0"/>
          </a:p>
        </p:txBody>
      </p:sp>
      <p:graphicFrame>
        <p:nvGraphicFramePr>
          <p:cNvPr id="10" name="Kernpunkte b"/>
          <p:cNvGraphicFramePr>
            <a:graphicFrameLocks noGrp="1"/>
          </p:cNvGraphicFramePr>
          <p:nvPr>
            <p:extLst>
              <p:ext uri="{D42A27DB-BD31-4B8C-83A1-F6EECF244321}">
                <p14:modId xmlns:p14="http://schemas.microsoft.com/office/powerpoint/2010/main" val="1579011935"/>
              </p:ext>
            </p:extLst>
          </p:nvPr>
        </p:nvGraphicFramePr>
        <p:xfrm>
          <a:off x="6583680" y="1325880"/>
          <a:ext cx="5029200" cy="914400"/>
        </p:xfrm>
        <a:graphic>
          <a:graphicData uri="http://schemas.openxmlformats.org/drawingml/2006/table">
            <a:tbl>
              <a:tblPr/>
              <a:tblGrid>
                <a:gridCol w="3063240"/>
                <a:gridCol w="548640"/>
                <a:gridCol w="822960"/>
                <a:gridCol w="594360"/>
              </a:tblGrid>
              <a:tr h="429768">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Kernpunkt b)</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BE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erreicht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P</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2976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Methodenkopf passend zur Signatur</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400" dirty="0">
                          <a:solidFill>
                            <a:srgbClr val="8C8C8C"/>
                          </a:solidFill>
                          <a:latin typeface="Calibri" pitchFamily="34" charset="0"/>
                          <a:ea typeface="Calibri" pitchFamily="34" charset="-122"/>
                          <a:cs typeface="Calibri" pitchFamily="34" charset="-120"/>
                        </a:rPr>
                        <a:t>P3</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2976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Durchlauf 0 bis getLength() − 1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400" dirty="0">
                          <a:solidFill>
                            <a:srgbClr val="8C8C8C"/>
                          </a:solidFill>
                          <a:latin typeface="Calibri" pitchFamily="34" charset="0"/>
                          <a:ea typeface="Calibri" pitchFamily="34" charset="-122"/>
                          <a:cs typeface="Calibri" pitchFamily="34" charset="-120"/>
                        </a:rPr>
                        <a:t>P6</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2976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getItem(i) mit Cast (Fach)</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400" dirty="0">
                          <a:solidFill>
                            <a:srgbClr val="8C8C8C"/>
                          </a:solidFill>
                          <a:latin typeface="Calibri" pitchFamily="34" charset="0"/>
                          <a:ea typeface="Calibri" pitchFamily="34" charset="-122"/>
                          <a:cs typeface="Calibri" pitchFamily="34" charset="-120"/>
                        </a:rPr>
                        <a:t>P4</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2976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istFrei() vor getInhalt() geprüft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a:txBody>
                    <a:bodyPr/>
                    <a:lstStyle/>
                    <a:p>
                      <a:pPr algn="ctr" indent="0" marL="0">
                        <a:buNone/>
                      </a:pPr>
                      <a:r>
                        <a:rPr lang="en-US" sz="1400" b="1" dirty="0">
                          <a:solidFill>
                            <a:schemeClr val="accent4"/>
                          </a:solidFill>
                          <a:latin typeface="Calibri" pitchFamily="34" charset="0"/>
                          <a:ea typeface="Calibri" pitchFamily="34" charset="-122"/>
                          <a:cs typeface="Calibri" pitchFamily="34" charset="-120"/>
                        </a:rPr>
                        <a:t>P1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2976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Vergleich mit equals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a:txBody>
                    <a:bodyPr/>
                    <a:lstStyle/>
                    <a:p>
                      <a:pPr algn="ctr" indent="0" marL="0">
                        <a:buNone/>
                      </a:pPr>
                      <a:r>
                        <a:rPr lang="en-US" sz="1400" b="1" dirty="0">
                          <a:solidFill>
                            <a:schemeClr val="accent4"/>
                          </a:solidFill>
                          <a:latin typeface="Calibri" pitchFamily="34" charset="0"/>
                          <a:ea typeface="Calibri" pitchFamily="34" charset="-122"/>
                          <a:cs typeface="Calibri" pitchFamily="34" charset="-120"/>
                        </a:rPr>
                        <a:t>P5</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2976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Fachnummer statt Index zurückgegeben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a:txBody>
                    <a:bodyPr/>
                    <a:lstStyle/>
                    <a:p>
                      <a:pPr algn="ctr" indent="0" marL="0">
                        <a:buNone/>
                      </a:pPr>
                      <a:r>
                        <a:rPr lang="en-US" sz="1400" b="1" dirty="0">
                          <a:solidFill>
                            <a:schemeClr val="accent4"/>
                          </a:solidFill>
                          <a:latin typeface="Calibri" pitchFamily="34" charset="0"/>
                          <a:ea typeface="Calibri" pitchFamily="34" charset="-122"/>
                          <a:cs typeface="Calibri" pitchFamily="34" charset="-120"/>
                        </a:rPr>
                        <a:t>P3</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2976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 nach vollständigem Durchlauf, jeder Pfad</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400" dirty="0">
                          <a:solidFill>
                            <a:srgbClr val="8C8C8C"/>
                          </a:solidFill>
                          <a:latin typeface="Calibri" pitchFamily="34" charset="0"/>
                          <a:ea typeface="Calibri" pitchFamily="34" charset="-122"/>
                          <a:cs typeface="Calibri" pitchFamily="34" charset="-120"/>
                        </a:rPr>
                        <a:t>P3</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2976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Summe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2" name="Chip"/>
          <p:cNvSpPr txBox="1"/>
          <p:nvPr/>
        </p:nvSpPr>
        <p:spPr>
          <a:xfrm>
            <a:off x="6583680" y="5623560"/>
            <a:ext cx="502920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4 von 7 BE · 3 Striche: P1, P5, P3</a:t>
            </a:r>
            <a:endParaRPr lang="en-US" sz="1600" dirty="0"/>
          </a:p>
        </p:txBody>
      </p:sp>
      <p:sp>
        <p:nvSpPr>
          <p:cNvPr id="13" name="Text 1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Kernpunkte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Team-Statistik: Wo bleiben unsere Punkte?</a:t>
            </a:r>
            <a:endParaRPr lang="en-US" sz="3600" dirty="0"/>
          </a:p>
        </p:txBody>
      </p:sp>
      <p:sp>
        <p:nvSpPr>
          <p:cNvPr id="3" name="Diagramm-Karte"/>
          <p:cNvSpPr/>
          <p:nvPr/>
        </p:nvSpPr>
        <p:spPr>
          <a:xfrm>
            <a:off x="548640" y="1325880"/>
            <a:ext cx="6766560" cy="4800600"/>
          </a:xfrm>
          <a:prstGeom prst="roundRect">
            <a:avLst>
              <a:gd name="adj" fmla="val 2286"/>
            </a:avLst>
          </a:prstGeom>
          <a:solidFill>
            <a:schemeClr val="bg1"/>
          </a:solidFill>
          <a:ln w="19050">
            <a:solidFill>
              <a:schemeClr val="bg2"/>
            </a:solidFill>
            <a:prstDash val="solid"/>
          </a:ln>
        </p:spPr>
      </p:sp>
      <p:graphicFrame>
        <p:nvGraphicFramePr>
          <p:cNvPr id="4" name="Diagramm Team-Statistik" descr=""/>
          <p:cNvGraphicFramePr/>
          <p:nvPr/>
        </p:nvGraphicFramePr>
        <p:xfrm>
          <a:off x="685800" y="1417320"/>
          <a:ext cx="64922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85800" y="5669280"/>
            <a:ext cx="6492240" cy="329184"/>
          </a:xfrm>
          <a:prstGeom prst="rect">
            <a:avLst/>
          </a:prstGeom>
          <a:noFill/>
          <a:ln/>
        </p:spPr>
        <p:txBody>
          <a:bodyPr wrap="square" lIns="0" tIns="0" rIns="0" bIns="0" rtlCol="0" anchor="t"/>
          <a:lstStyle/>
          <a:p>
            <a:pPr algn="ctr" indent="0" marL="0">
              <a:buNone/>
            </a:pPr>
            <a:r>
              <a:rPr lang="en-US" sz="1300" i="1" dirty="0">
                <a:solidFill>
                  <a:schemeClr val="accent6"/>
                </a:solidFill>
              </a:rPr>
              <a:t>Beispiel – eure echten Zahlen kommen aus dem AB, Teil 3</a:t>
            </a:r>
            <a:endParaRPr lang="en-US" sz="1300" dirty="0"/>
          </a:p>
        </p:txBody>
      </p:sp>
      <p:sp>
        <p:nvSpPr>
          <p:cNvPr id="6" name="Nummer 1"/>
          <p:cNvSpPr txBox="1"/>
          <p:nvPr/>
        </p:nvSpPr>
        <p:spPr>
          <a:xfrm>
            <a:off x="7635240" y="1444752"/>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Text 4"/>
          <p:cNvSpPr txBox="1"/>
          <p:nvPr/>
        </p:nvSpPr>
        <p:spPr>
          <a:xfrm>
            <a:off x="8229600" y="1371600"/>
            <a:ext cx="3383280" cy="914400"/>
          </a:xfrm>
          <a:prstGeom prst="rect">
            <a:avLst/>
          </a:prstGeom>
          <a:noFill/>
          <a:ln/>
        </p:spPr>
        <p:txBody>
          <a:bodyPr wrap="square" lIns="0" tIns="0" rIns="0" bIns="0" rtlCol="0" anchor="t"/>
          <a:lstStyle/>
          <a:p>
            <a:pPr indent="0" marL="0">
              <a:buNone/>
            </a:pPr>
            <a:r>
              <a:rPr lang="en-US" sz="1700" b="1" dirty="0">
                <a:solidFill>
                  <a:schemeClr val="accent1"/>
                </a:solidFill>
              </a:rPr>
              <a:t>Striche sammeln</a:t>
            </a:r>
            <a:endParaRPr lang="en-US" sz="1800" dirty="0"/>
          </a:p>
          <a:p>
            <a:pPr indent="0" marL="0">
              <a:buNone/>
            </a:pPr>
            <a:r>
              <a:rPr lang="en-US" sz="1400" dirty="0">
                <a:solidFill>
                  <a:schemeClr val="tx1"/>
                </a:solidFill>
              </a:rPr>
              <a:t>jedes Mitglied trägt seine Fehlerliste ein, ihr bildet die Teamsumme</a:t>
            </a:r>
            <a:endParaRPr lang="en-US" sz="1800" dirty="0"/>
          </a:p>
        </p:txBody>
      </p:sp>
      <p:sp>
        <p:nvSpPr>
          <p:cNvPr id="8" name="Nummer 2"/>
          <p:cNvSpPr txBox="1"/>
          <p:nvPr/>
        </p:nvSpPr>
        <p:spPr>
          <a:xfrm>
            <a:off x="7635240" y="2432304"/>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9" name="Text 6"/>
          <p:cNvSpPr txBox="1"/>
          <p:nvPr/>
        </p:nvSpPr>
        <p:spPr>
          <a:xfrm>
            <a:off x="8229600" y="2359152"/>
            <a:ext cx="3383280" cy="914400"/>
          </a:xfrm>
          <a:prstGeom prst="rect">
            <a:avLst/>
          </a:prstGeom>
          <a:noFill/>
          <a:ln/>
        </p:spPr>
        <p:txBody>
          <a:bodyPr wrap="square" lIns="0" tIns="0" rIns="0" bIns="0" rtlCol="0" anchor="t"/>
          <a:lstStyle/>
          <a:p>
            <a:pPr indent="0" marL="0">
              <a:buNone/>
            </a:pPr>
            <a:r>
              <a:rPr lang="en-US" sz="1700" b="1" dirty="0">
                <a:solidFill>
                  <a:schemeClr val="accent1"/>
                </a:solidFill>
              </a:rPr>
              <a:t>Top 3 markieren</a:t>
            </a:r>
            <a:endParaRPr lang="en-US" sz="1800" dirty="0"/>
          </a:p>
          <a:p>
            <a:pPr indent="0" marL="0">
              <a:buNone/>
            </a:pPr>
            <a:r>
              <a:rPr lang="en-US" sz="1400" dirty="0">
                <a:solidFill>
                  <a:schemeClr val="tx1"/>
                </a:solidFill>
              </a:rPr>
              <a:t>im Beispiel: P10, P1 und P4 – genau diese Fehlerjagd-Aufgaben zuerst</a:t>
            </a:r>
            <a:endParaRPr lang="en-US" sz="1800" dirty="0"/>
          </a:p>
        </p:txBody>
      </p:sp>
      <p:sp>
        <p:nvSpPr>
          <p:cNvPr id="10" name="Nummer 3"/>
          <p:cNvSpPr txBox="1"/>
          <p:nvPr/>
        </p:nvSpPr>
        <p:spPr>
          <a:xfrm>
            <a:off x="7635240" y="3419856"/>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1" name="Text 8"/>
          <p:cNvSpPr txBox="1"/>
          <p:nvPr/>
        </p:nvSpPr>
        <p:spPr>
          <a:xfrm>
            <a:off x="8229600" y="3346704"/>
            <a:ext cx="3383280" cy="914400"/>
          </a:xfrm>
          <a:prstGeom prst="rect">
            <a:avLst/>
          </a:prstGeom>
          <a:noFill/>
          <a:ln/>
        </p:spPr>
        <p:txBody>
          <a:bodyPr wrap="square" lIns="0" tIns="0" rIns="0" bIns="0" rtlCol="0" anchor="t"/>
          <a:lstStyle/>
          <a:p>
            <a:pPr indent="0" marL="0">
              <a:buNone/>
            </a:pPr>
            <a:r>
              <a:rPr lang="en-US" sz="1700" b="1" dirty="0">
                <a:solidFill>
                  <a:schemeClr val="accent1"/>
                </a:solidFill>
              </a:rPr>
              <a:t>Kurs-Top-3</a:t>
            </a:r>
            <a:endParaRPr lang="en-US" sz="1800" dirty="0"/>
          </a:p>
          <a:p>
            <a:pPr indent="0" marL="0">
              <a:buNone/>
            </a:pPr>
            <a:r>
              <a:rPr lang="en-US" sz="1400" dirty="0">
                <a:solidFill>
                  <a:schemeClr val="tx1"/>
                </a:solidFill>
              </a:rPr>
              <a:t>Teamsummen an der Tafel addieren: Was trainieren wir alle?</a:t>
            </a:r>
            <a:endParaRPr lang="en-US" sz="1800" dirty="0"/>
          </a:p>
        </p:txBody>
      </p:sp>
      <p:sp>
        <p:nvSpPr>
          <p:cNvPr id="12" name="Nummer 4"/>
          <p:cNvSpPr txBox="1"/>
          <p:nvPr/>
        </p:nvSpPr>
        <p:spPr>
          <a:xfrm>
            <a:off x="7635240" y="4407408"/>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3" name="Text 10"/>
          <p:cNvSpPr txBox="1"/>
          <p:nvPr/>
        </p:nvSpPr>
        <p:spPr>
          <a:xfrm>
            <a:off x="8229600" y="4334256"/>
            <a:ext cx="3383280" cy="914400"/>
          </a:xfrm>
          <a:prstGeom prst="rect">
            <a:avLst/>
          </a:prstGeom>
          <a:noFill/>
          <a:ln/>
        </p:spPr>
        <p:txBody>
          <a:bodyPr wrap="square" lIns="0" tIns="0" rIns="0" bIns="0" rtlCol="0" anchor="t"/>
          <a:lstStyle/>
          <a:p>
            <a:pPr indent="0" marL="0">
              <a:buNone/>
            </a:pPr>
            <a:r>
              <a:rPr lang="en-US" sz="1700" b="1" dirty="0">
                <a:solidFill>
                  <a:schemeClr val="accent1"/>
                </a:solidFill>
              </a:rPr>
              <a:t>Lab-Vergleich</a:t>
            </a:r>
            <a:endParaRPr lang="en-US" sz="1800" dirty="0"/>
          </a:p>
          <a:p>
            <a:pPr indent="0" marL="0">
              <a:buNone/>
            </a:pPr>
            <a:r>
              <a:rPr lang="en-US" sz="1400" dirty="0">
                <a:solidFill>
                  <a:schemeClr val="tx1"/>
                </a:solidFill>
              </a:rPr>
              <a:t>„Deine Fallen“ im Profil · Fallen-Profil des Kurses</a:t>
            </a:r>
            <a:endParaRPr lang="en-US" sz="1800" dirty="0"/>
          </a:p>
        </p:txBody>
      </p:sp>
      <p:sp>
        <p:nvSpPr>
          <p:cNvPr id="14" name="Fair"/>
          <p:cNvSpPr/>
          <p:nvPr/>
        </p:nvSpPr>
        <p:spPr>
          <a:xfrm>
            <a:off x="7635240" y="5349240"/>
            <a:ext cx="3977640" cy="777240"/>
          </a:xfrm>
          <a:prstGeom prst="roundRect">
            <a:avLst>
              <a:gd name="adj" fmla="val 14118"/>
            </a:avLst>
          </a:prstGeom>
          <a:solidFill>
            <a:schemeClr val="bg2"/>
          </a:solidFill>
          <a:ln/>
        </p:spPr>
      </p:sp>
      <p:sp>
        <p:nvSpPr>
          <p:cNvPr id="15" name="Text 12"/>
          <p:cNvSpPr txBox="1"/>
          <p:nvPr/>
        </p:nvSpPr>
        <p:spPr>
          <a:xfrm>
            <a:off x="7836408" y="5349240"/>
            <a:ext cx="3611880" cy="777240"/>
          </a:xfrm>
          <a:prstGeom prst="rect">
            <a:avLst/>
          </a:prstGeom>
          <a:noFill/>
          <a:ln/>
        </p:spPr>
        <p:txBody>
          <a:bodyPr wrap="square" lIns="0" tIns="0" rIns="0" bIns="0" rtlCol="0" anchor="ctr"/>
          <a:lstStyle/>
          <a:p>
            <a:pPr indent="0" marL="0">
              <a:buNone/>
            </a:pPr>
            <a:r>
              <a:rPr lang="en-US" sz="1500" b="1" dirty="0">
                <a:solidFill>
                  <a:schemeClr val="accent1"/>
                </a:solidFill>
              </a:rPr>
              <a:t>Fair: </a:t>
            </a:r>
            <a:pPr indent="0" marL="0">
              <a:buNone/>
            </a:pPr>
            <a:r>
              <a:rPr lang="en-US" sz="1500" dirty="0">
                <a:solidFill>
                  <a:schemeClr val="tx1"/>
                </a:solidFill>
              </a:rPr>
              <a:t>Die Statistik zeigt Teams, keine Personen.</a:t>
            </a:r>
            <a:endParaRPr lang="en-US" sz="1500" dirty="0"/>
          </a:p>
        </p:txBody>
      </p:sp>
      <p:sp>
        <p:nvSpPr>
          <p:cNvPr id="16" name="Text 13"/>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Team-Statistik</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Top 10 Punktverluste</a:t>
            </a:r>
            <a:endParaRPr lang="en-US" sz="3600" dirty="0"/>
          </a:p>
        </p:txBody>
      </p:sp>
      <p:sp>
        <p:nvSpPr>
          <p:cNvPr id="3" name="Kachel P1"/>
          <p:cNvSpPr/>
          <p:nvPr/>
        </p:nvSpPr>
        <p:spPr>
          <a:xfrm>
            <a:off x="548640" y="1325880"/>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4" name="Nummer P1"/>
          <p:cNvSpPr txBox="1"/>
          <p:nvPr/>
        </p:nvSpPr>
        <p:spPr>
          <a:xfrm>
            <a:off x="658368" y="1435608"/>
            <a:ext cx="566928" cy="566928"/>
          </a:xfrm>
          <a:prstGeom prst="ellipse">
            <a:avLst/>
          </a:prstGeom>
          <a:solidFill>
            <a:schemeClr val="accent4"/>
          </a:solidFill>
          <a:ln/>
        </p:spPr>
        <p:txBody>
          <a:bodyPr wrap="square" lIns="0" tIns="0" rIns="0" bIns="0" rtlCol="0" anchor="ctr"/>
          <a:lstStyle/>
          <a:p>
            <a:pPr algn="ctr" indent="0" marL="0">
              <a:buNone/>
            </a:pPr>
            <a:r>
              <a:rPr lang="en-US" sz="1700" b="1" dirty="0">
                <a:solidFill>
                  <a:schemeClr val="bg1"/>
                </a:solidFill>
              </a:rPr>
              <a:t>P1</a:t>
            </a:r>
            <a:endParaRPr lang="en-US" sz="1700" dirty="0"/>
          </a:p>
        </p:txBody>
      </p:sp>
      <p:sp>
        <p:nvSpPr>
          <p:cNvPr id="5" name="Icon-Kreis"/>
          <p:cNvSpPr/>
          <p:nvPr/>
        </p:nvSpPr>
        <p:spPr>
          <a:xfrm>
            <a:off x="1993392" y="1453896"/>
            <a:ext cx="530352" cy="530352"/>
          </a:xfrm>
          <a:prstGeom prst="ellipse">
            <a:avLst/>
          </a:prstGeom>
          <a:solidFill>
            <a:schemeClr val="accent1"/>
          </a:solidFill>
          <a:ln/>
        </p:spPr>
        <p:txBody>
          <a:bodyPr/>
          <a:p/>
        </p:txBody>
      </p:sp>
      <p:pic>
        <p:nvPicPr>
          <p:cNvPr id="6" name="Icon GiCrossedSwords" descr="preencoded.png">    </p:cNvPr>
          <p:cNvPicPr>
            <a:picLocks noChangeAspect="1"/>
          </p:cNvPicPr>
          <p:nvPr/>
        </p:nvPicPr>
        <p:blipFill>
          <a:blip r:embed="rId1"/>
          <a:stretch>
            <a:fillRect/>
          </a:stretch>
        </p:blipFill>
        <p:spPr>
          <a:xfrm>
            <a:off x="2110069" y="1570573"/>
            <a:ext cx="296997" cy="296997"/>
          </a:xfrm>
          <a:prstGeom prst="rect">
            <a:avLst/>
          </a:prstGeom>
        </p:spPr>
      </p:pic>
      <p:sp>
        <p:nvSpPr>
          <p:cNvPr id="7" name="Text 4"/>
          <p:cNvSpPr txBox="1"/>
          <p:nvPr/>
        </p:nvSpPr>
        <p:spPr>
          <a:xfrm>
            <a:off x="658368" y="2075688"/>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Laufzeitfehler nicht ausgeschlossen</a:t>
            </a:r>
            <a:endParaRPr lang="en-US" sz="1500" dirty="0"/>
          </a:p>
        </p:txBody>
      </p:sp>
      <p:sp>
        <p:nvSpPr>
          <p:cNvPr id="8" name="Text 5"/>
          <p:cNvSpPr txBox="1"/>
          <p:nvPr/>
        </p:nvSpPr>
        <p:spPr>
          <a:xfrm>
            <a:off x="658368" y="2651760"/>
            <a:ext cx="1883664" cy="896112"/>
          </a:xfrm>
          <a:prstGeom prst="rect">
            <a:avLst/>
          </a:prstGeom>
          <a:noFill/>
          <a:ln/>
        </p:spPr>
        <p:txBody>
          <a:bodyPr wrap="square" lIns="0" tIns="0" rIns="0" bIns="0" rtlCol="0" anchor="t"/>
          <a:lstStyle/>
          <a:p>
            <a:pPr indent="0" marL="0">
              <a:buNone/>
            </a:pPr>
            <a:r>
              <a:rPr lang="en-US" sz="1200" dirty="0">
                <a:solidFill>
                  <a:schemeClr val="tx1"/>
                </a:solidFill>
              </a:rPr>
              <a:t>Leer-Abfrage vor top, pop, head, dequeue, getItem, getLeft; Index 0 … getLength() − 1</a:t>
            </a:r>
            <a:endParaRPr lang="en-US" sz="1200" dirty="0"/>
          </a:p>
        </p:txBody>
      </p:sp>
      <p:sp>
        <p:nvSpPr>
          <p:cNvPr id="9" name="Kachel P2"/>
          <p:cNvSpPr/>
          <p:nvPr/>
        </p:nvSpPr>
        <p:spPr>
          <a:xfrm>
            <a:off x="2788920" y="1325880"/>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10" name="Nummer P2"/>
          <p:cNvSpPr txBox="1"/>
          <p:nvPr/>
        </p:nvSpPr>
        <p:spPr>
          <a:xfrm>
            <a:off x="2898648" y="1435608"/>
            <a:ext cx="566928" cy="566928"/>
          </a:xfrm>
          <a:prstGeom prst="ellipse">
            <a:avLst/>
          </a:prstGeom>
          <a:solidFill>
            <a:schemeClr val="accent4"/>
          </a:solidFill>
          <a:ln/>
        </p:spPr>
        <p:txBody>
          <a:bodyPr wrap="square" lIns="0" tIns="0" rIns="0" bIns="0" rtlCol="0" anchor="ctr"/>
          <a:lstStyle/>
          <a:p>
            <a:pPr algn="ctr" indent="0" marL="0">
              <a:buNone/>
            </a:pPr>
            <a:r>
              <a:rPr lang="en-US" sz="1700" b="1" dirty="0">
                <a:solidFill>
                  <a:schemeClr val="bg1"/>
                </a:solidFill>
              </a:rPr>
              <a:t>P2</a:t>
            </a:r>
            <a:endParaRPr lang="en-US" sz="1700" dirty="0"/>
          </a:p>
        </p:txBody>
      </p:sp>
      <p:sp>
        <p:nvSpPr>
          <p:cNvPr id="11" name="Icon-Kreis"/>
          <p:cNvSpPr/>
          <p:nvPr/>
        </p:nvSpPr>
        <p:spPr>
          <a:xfrm>
            <a:off x="4233672" y="1453896"/>
            <a:ext cx="530352" cy="530352"/>
          </a:xfrm>
          <a:prstGeom prst="ellipse">
            <a:avLst/>
          </a:prstGeom>
          <a:solidFill>
            <a:schemeClr val="accent1"/>
          </a:solidFill>
          <a:ln/>
        </p:spPr>
        <p:txBody>
          <a:bodyPr/>
          <a:p/>
        </p:txBody>
      </p:sp>
      <p:pic>
        <p:nvPicPr>
          <p:cNvPr id="12" name="Icon GiStack" descr="preencoded.png">    </p:cNvPr>
          <p:cNvPicPr>
            <a:picLocks noChangeAspect="1"/>
          </p:cNvPicPr>
          <p:nvPr/>
        </p:nvPicPr>
        <p:blipFill>
          <a:blip r:embed="rId2"/>
          <a:stretch>
            <a:fillRect/>
          </a:stretch>
        </p:blipFill>
        <p:spPr>
          <a:xfrm>
            <a:off x="4350349" y="1570573"/>
            <a:ext cx="296997" cy="296997"/>
          </a:xfrm>
          <a:prstGeom prst="rect">
            <a:avLst/>
          </a:prstGeom>
        </p:spPr>
      </p:pic>
      <p:sp>
        <p:nvSpPr>
          <p:cNvPr id="13" name="Text 9"/>
          <p:cNvSpPr txBox="1"/>
          <p:nvPr/>
        </p:nvSpPr>
        <p:spPr>
          <a:xfrm>
            <a:off x="2898648" y="2075688"/>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Struktur zerstört statt unverändert</a:t>
            </a:r>
            <a:endParaRPr lang="en-US" sz="1500" dirty="0"/>
          </a:p>
        </p:txBody>
      </p:sp>
      <p:sp>
        <p:nvSpPr>
          <p:cNvPr id="14" name="Text 10"/>
          <p:cNvSpPr txBox="1"/>
          <p:nvPr/>
        </p:nvSpPr>
        <p:spPr>
          <a:xfrm>
            <a:off x="2898648" y="2651760"/>
            <a:ext cx="1883664" cy="896112"/>
          </a:xfrm>
          <a:prstGeom prst="rect">
            <a:avLst/>
          </a:prstGeom>
          <a:noFill/>
          <a:ln/>
        </p:spPr>
        <p:txBody>
          <a:bodyPr wrap="square" lIns="0" tIns="0" rIns="0" bIns="0" rtlCol="0" anchor="t"/>
          <a:lstStyle/>
          <a:p>
            <a:pPr indent="0" marL="0">
              <a:buNone/>
            </a:pPr>
            <a:r>
              <a:rPr lang="en-US" sz="1200" dirty="0">
                <a:solidFill>
                  <a:schemeClr val="tx1"/>
                </a:solidFill>
              </a:rPr>
              <a:t>Stapel/Schlange danach nicht wiederhergestellt, obwohl gefordert</a:t>
            </a:r>
            <a:endParaRPr lang="en-US" sz="1200" dirty="0"/>
          </a:p>
        </p:txBody>
      </p:sp>
      <p:sp>
        <p:nvSpPr>
          <p:cNvPr id="15" name="Kachel P3"/>
          <p:cNvSpPr/>
          <p:nvPr/>
        </p:nvSpPr>
        <p:spPr>
          <a:xfrm>
            <a:off x="5029200" y="1325880"/>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16" name="Nummer P3"/>
          <p:cNvSpPr txBox="1"/>
          <p:nvPr/>
        </p:nvSpPr>
        <p:spPr>
          <a:xfrm>
            <a:off x="5138928" y="1435608"/>
            <a:ext cx="566928" cy="566928"/>
          </a:xfrm>
          <a:prstGeom prst="ellipse">
            <a:avLst/>
          </a:prstGeom>
          <a:solidFill>
            <a:schemeClr val="accent4"/>
          </a:solidFill>
          <a:ln/>
        </p:spPr>
        <p:txBody>
          <a:bodyPr wrap="square" lIns="0" tIns="0" rIns="0" bIns="0" rtlCol="0" anchor="ctr"/>
          <a:lstStyle/>
          <a:p>
            <a:pPr algn="ctr" indent="0" marL="0">
              <a:buNone/>
            </a:pPr>
            <a:r>
              <a:rPr lang="en-US" sz="1700" b="1" dirty="0">
                <a:solidFill>
                  <a:schemeClr val="bg1"/>
                </a:solidFill>
              </a:rPr>
              <a:t>P3</a:t>
            </a:r>
            <a:endParaRPr lang="en-US" sz="1700" dirty="0"/>
          </a:p>
        </p:txBody>
      </p:sp>
      <p:sp>
        <p:nvSpPr>
          <p:cNvPr id="17" name="Icon-Kreis"/>
          <p:cNvSpPr/>
          <p:nvPr/>
        </p:nvSpPr>
        <p:spPr>
          <a:xfrm>
            <a:off x="6473952" y="1453896"/>
            <a:ext cx="530352" cy="530352"/>
          </a:xfrm>
          <a:prstGeom prst="ellipse">
            <a:avLst/>
          </a:prstGeom>
          <a:solidFill>
            <a:schemeClr val="accent1"/>
          </a:solidFill>
          <a:ln/>
        </p:spPr>
        <p:txBody>
          <a:bodyPr/>
          <a:p/>
        </p:txBody>
      </p:sp>
      <p:pic>
        <p:nvPicPr>
          <p:cNvPr id="18" name="Icon GiQuillInk" descr="preencoded.png">    </p:cNvPr>
          <p:cNvPicPr>
            <a:picLocks noChangeAspect="1"/>
          </p:cNvPicPr>
          <p:nvPr/>
        </p:nvPicPr>
        <p:blipFill>
          <a:blip r:embed="rId3"/>
          <a:stretch>
            <a:fillRect/>
          </a:stretch>
        </p:blipFill>
        <p:spPr>
          <a:xfrm>
            <a:off x="6590629" y="1570573"/>
            <a:ext cx="296997" cy="296997"/>
          </a:xfrm>
          <a:prstGeom prst="rect">
            <a:avLst/>
          </a:prstGeom>
        </p:spPr>
      </p:pic>
      <p:sp>
        <p:nvSpPr>
          <p:cNvPr id="19" name="Text 14"/>
          <p:cNvSpPr txBox="1"/>
          <p:nvPr/>
        </p:nvSpPr>
        <p:spPr>
          <a:xfrm>
            <a:off x="5138928" y="2075688"/>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Signatur verfehlt</a:t>
            </a:r>
            <a:endParaRPr lang="en-US" sz="1500" dirty="0"/>
          </a:p>
        </p:txBody>
      </p:sp>
      <p:sp>
        <p:nvSpPr>
          <p:cNvPr id="20" name="Text 15"/>
          <p:cNvSpPr txBox="1"/>
          <p:nvPr/>
        </p:nvSpPr>
        <p:spPr>
          <a:xfrm>
            <a:off x="5138928" y="2651760"/>
            <a:ext cx="1883664" cy="896112"/>
          </a:xfrm>
          <a:prstGeom prst="rect">
            <a:avLst/>
          </a:prstGeom>
          <a:noFill/>
          <a:ln/>
        </p:spPr>
        <p:txBody>
          <a:bodyPr wrap="square" lIns="0" tIns="0" rIns="0" bIns="0" rtlCol="0" anchor="t"/>
          <a:lstStyle/>
          <a:p>
            <a:pPr indent="0" marL="0">
              <a:buNone/>
            </a:pPr>
            <a:r>
              <a:rPr lang="en-US" sz="1200" dirty="0">
                <a:solidFill>
                  <a:schemeClr val="tx1"/>
                </a:solidFill>
              </a:rPr>
              <a:t>Rückgabetyp, Parameter, Name, static/Sichtbarkeit; return fehlt auf einem Pfad</a:t>
            </a:r>
            <a:endParaRPr lang="en-US" sz="1200" dirty="0"/>
          </a:p>
        </p:txBody>
      </p:sp>
      <p:sp>
        <p:nvSpPr>
          <p:cNvPr id="21" name="Kachel P4"/>
          <p:cNvSpPr/>
          <p:nvPr/>
        </p:nvSpPr>
        <p:spPr>
          <a:xfrm>
            <a:off x="7269480" y="1325880"/>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22" name="Nummer P4"/>
          <p:cNvSpPr txBox="1"/>
          <p:nvPr/>
        </p:nvSpPr>
        <p:spPr>
          <a:xfrm>
            <a:off x="7379208" y="1435608"/>
            <a:ext cx="566928" cy="566928"/>
          </a:xfrm>
          <a:prstGeom prst="ellipse">
            <a:avLst/>
          </a:prstGeom>
          <a:solidFill>
            <a:schemeClr val="accent4"/>
          </a:solidFill>
          <a:ln/>
        </p:spPr>
        <p:txBody>
          <a:bodyPr wrap="square" lIns="0" tIns="0" rIns="0" bIns="0" rtlCol="0" anchor="ctr"/>
          <a:lstStyle/>
          <a:p>
            <a:pPr algn="ctr" indent="0" marL="0">
              <a:buNone/>
            </a:pPr>
            <a:r>
              <a:rPr lang="en-US" sz="1700" b="1" dirty="0">
                <a:solidFill>
                  <a:schemeClr val="bg1"/>
                </a:solidFill>
              </a:rPr>
              <a:t>P4</a:t>
            </a:r>
            <a:endParaRPr lang="en-US" sz="1700" dirty="0"/>
          </a:p>
        </p:txBody>
      </p:sp>
      <p:sp>
        <p:nvSpPr>
          <p:cNvPr id="23" name="Icon-Kreis"/>
          <p:cNvSpPr/>
          <p:nvPr/>
        </p:nvSpPr>
        <p:spPr>
          <a:xfrm>
            <a:off x="8714232" y="1453896"/>
            <a:ext cx="530352" cy="530352"/>
          </a:xfrm>
          <a:prstGeom prst="ellipse">
            <a:avLst/>
          </a:prstGeom>
          <a:solidFill>
            <a:schemeClr val="accent1"/>
          </a:solidFill>
          <a:ln/>
        </p:spPr>
        <p:txBody>
          <a:bodyPr/>
          <a:p/>
        </p:txBody>
      </p:sp>
      <p:pic>
        <p:nvPicPr>
          <p:cNvPr id="24" name="Icon GiCog" descr="preencoded.png">    </p:cNvPr>
          <p:cNvPicPr>
            <a:picLocks noChangeAspect="1"/>
          </p:cNvPicPr>
          <p:nvPr/>
        </p:nvPicPr>
        <p:blipFill>
          <a:blip r:embed="rId4"/>
          <a:stretch>
            <a:fillRect/>
          </a:stretch>
        </p:blipFill>
        <p:spPr>
          <a:xfrm>
            <a:off x="8830909" y="1570573"/>
            <a:ext cx="296997" cy="296997"/>
          </a:xfrm>
          <a:prstGeom prst="rect">
            <a:avLst/>
          </a:prstGeom>
        </p:spPr>
      </p:pic>
      <p:sp>
        <p:nvSpPr>
          <p:cNvPr id="25" name="Text 19"/>
          <p:cNvSpPr txBox="1"/>
          <p:nvPr/>
        </p:nvSpPr>
        <p:spPr>
          <a:xfrm>
            <a:off x="7379208" y="2075688"/>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Typen und Casts</a:t>
            </a:r>
            <a:endParaRPr lang="en-US" sz="1500" dirty="0"/>
          </a:p>
        </p:txBody>
      </p:sp>
      <p:sp>
        <p:nvSpPr>
          <p:cNvPr id="26" name="Text 20"/>
          <p:cNvSpPr txBox="1"/>
          <p:nvPr/>
        </p:nvSpPr>
        <p:spPr>
          <a:xfrm>
            <a:off x="7379208" y="2651760"/>
            <a:ext cx="1883664" cy="896112"/>
          </a:xfrm>
          <a:prstGeom prst="rect">
            <a:avLst/>
          </a:prstGeom>
          <a:noFill/>
          <a:ln/>
        </p:spPr>
        <p:txBody>
          <a:bodyPr wrap="square" lIns="0" tIns="0" rIns="0" bIns="0" rtlCol="0" anchor="t"/>
          <a:lstStyle/>
          <a:p>
            <a:pPr indent="0" marL="0">
              <a:buNone/>
            </a:pPr>
            <a:r>
              <a:rPr lang="en-US" sz="1200" dirty="0">
                <a:solidFill>
                  <a:schemeClr val="tx1"/>
                </a:solidFill>
              </a:rPr>
              <a:t>(Integer) vergessen, Zeichen vs. Zeichenkette, ganzzahlige Division</a:t>
            </a:r>
            <a:endParaRPr lang="en-US" sz="1200" dirty="0"/>
          </a:p>
        </p:txBody>
      </p:sp>
      <p:sp>
        <p:nvSpPr>
          <p:cNvPr id="27" name="Kachel P5"/>
          <p:cNvSpPr/>
          <p:nvPr/>
        </p:nvSpPr>
        <p:spPr>
          <a:xfrm>
            <a:off x="9509760" y="1325880"/>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28" name="Nummer P5"/>
          <p:cNvSpPr txBox="1"/>
          <p:nvPr/>
        </p:nvSpPr>
        <p:spPr>
          <a:xfrm>
            <a:off x="9619488" y="1435608"/>
            <a:ext cx="566928" cy="566928"/>
          </a:xfrm>
          <a:prstGeom prst="ellipse">
            <a:avLst/>
          </a:prstGeom>
          <a:solidFill>
            <a:schemeClr val="accent4"/>
          </a:solidFill>
          <a:ln/>
        </p:spPr>
        <p:txBody>
          <a:bodyPr wrap="square" lIns="0" tIns="0" rIns="0" bIns="0" rtlCol="0" anchor="ctr"/>
          <a:lstStyle/>
          <a:p>
            <a:pPr algn="ctr" indent="0" marL="0">
              <a:buNone/>
            </a:pPr>
            <a:r>
              <a:rPr lang="en-US" sz="1700" b="1" dirty="0">
                <a:solidFill>
                  <a:schemeClr val="bg1"/>
                </a:solidFill>
              </a:rPr>
              <a:t>P5</a:t>
            </a:r>
            <a:endParaRPr lang="en-US" sz="1700" dirty="0"/>
          </a:p>
        </p:txBody>
      </p:sp>
      <p:sp>
        <p:nvSpPr>
          <p:cNvPr id="29" name="Icon-Kreis"/>
          <p:cNvSpPr/>
          <p:nvPr/>
        </p:nvSpPr>
        <p:spPr>
          <a:xfrm>
            <a:off x="10954512" y="1453896"/>
            <a:ext cx="530352" cy="530352"/>
          </a:xfrm>
          <a:prstGeom prst="ellipse">
            <a:avLst/>
          </a:prstGeom>
          <a:solidFill>
            <a:schemeClr val="accent1"/>
          </a:solidFill>
          <a:ln/>
        </p:spPr>
        <p:txBody>
          <a:bodyPr/>
          <a:p/>
        </p:txBody>
      </p:sp>
      <p:pic>
        <p:nvPicPr>
          <p:cNvPr id="30" name="Icon GiScales" descr="preencoded.png">    </p:cNvPr>
          <p:cNvPicPr>
            <a:picLocks noChangeAspect="1"/>
          </p:cNvPicPr>
          <p:nvPr/>
        </p:nvPicPr>
        <p:blipFill>
          <a:blip r:embed="rId5"/>
          <a:stretch>
            <a:fillRect/>
          </a:stretch>
        </p:blipFill>
        <p:spPr>
          <a:xfrm>
            <a:off x="11071189" y="1570573"/>
            <a:ext cx="296997" cy="296997"/>
          </a:xfrm>
          <a:prstGeom prst="rect">
            <a:avLst/>
          </a:prstGeom>
        </p:spPr>
      </p:pic>
      <p:sp>
        <p:nvSpPr>
          <p:cNvPr id="31" name="Text 24"/>
          <p:cNvSpPr txBox="1"/>
          <p:nvPr/>
        </p:nvSpPr>
        <p:spPr>
          <a:xfrm>
            <a:off x="9619488" y="2075688"/>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Zeichenketten mit == statt equals</a:t>
            </a:r>
            <a:endParaRPr lang="en-US" sz="1500" dirty="0"/>
          </a:p>
        </p:txBody>
      </p:sp>
      <p:sp>
        <p:nvSpPr>
          <p:cNvPr id="32" name="Text 25"/>
          <p:cNvSpPr txBox="1"/>
          <p:nvPr/>
        </p:nvSpPr>
        <p:spPr>
          <a:xfrm>
            <a:off x="9619488" y="2651760"/>
            <a:ext cx="1883664" cy="896112"/>
          </a:xfrm>
          <a:prstGeom prst="rect">
            <a:avLst/>
          </a:prstGeom>
          <a:noFill/>
          <a:ln/>
        </p:spPr>
        <p:txBody>
          <a:bodyPr wrap="square" lIns="0" tIns="0" rIns="0" bIns="0" rtlCol="0" anchor="t"/>
          <a:lstStyle/>
          <a:p>
            <a:pPr indent="0" marL="0">
              <a:buNone/>
            </a:pPr>
            <a:r>
              <a:rPr lang="en-US" sz="1200" dirty="0">
                <a:solidFill>
                  <a:schemeClr val="tx1"/>
                </a:solidFill>
              </a:rPr>
              <a:t>== statt equals; nicht erlaubte String-Operationen</a:t>
            </a:r>
            <a:endParaRPr lang="en-US" sz="1200" dirty="0"/>
          </a:p>
        </p:txBody>
      </p:sp>
      <p:sp>
        <p:nvSpPr>
          <p:cNvPr id="33" name="Kachel P6"/>
          <p:cNvSpPr/>
          <p:nvPr/>
        </p:nvSpPr>
        <p:spPr>
          <a:xfrm>
            <a:off x="548640" y="3776472"/>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34" name="Nummer P6"/>
          <p:cNvSpPr txBox="1"/>
          <p:nvPr/>
        </p:nvSpPr>
        <p:spPr>
          <a:xfrm>
            <a:off x="658368" y="3886200"/>
            <a:ext cx="566928" cy="566928"/>
          </a:xfrm>
          <a:prstGeom prst="ellipse">
            <a:avLst/>
          </a:prstGeom>
          <a:solidFill>
            <a:schemeClr val="accent4"/>
          </a:solidFill>
          <a:ln/>
        </p:spPr>
        <p:txBody>
          <a:bodyPr wrap="square" lIns="0" tIns="0" rIns="0" bIns="0" rtlCol="0" anchor="ctr"/>
          <a:lstStyle/>
          <a:p>
            <a:pPr algn="ctr" indent="0" marL="0">
              <a:buNone/>
            </a:pPr>
            <a:r>
              <a:rPr lang="en-US" sz="1700" b="1" dirty="0">
                <a:solidFill>
                  <a:schemeClr val="bg1"/>
                </a:solidFill>
              </a:rPr>
              <a:t>P6</a:t>
            </a:r>
            <a:endParaRPr lang="en-US" sz="1700" dirty="0"/>
          </a:p>
        </p:txBody>
      </p:sp>
      <p:sp>
        <p:nvSpPr>
          <p:cNvPr id="35" name="Icon-Kreis"/>
          <p:cNvSpPr/>
          <p:nvPr/>
        </p:nvSpPr>
        <p:spPr>
          <a:xfrm>
            <a:off x="1993392" y="3904488"/>
            <a:ext cx="530352" cy="530352"/>
          </a:xfrm>
          <a:prstGeom prst="ellipse">
            <a:avLst/>
          </a:prstGeom>
          <a:solidFill>
            <a:schemeClr val="accent1"/>
          </a:solidFill>
          <a:ln/>
        </p:spPr>
        <p:txBody>
          <a:bodyPr/>
          <a:p/>
        </p:txBody>
      </p:sp>
      <p:pic>
        <p:nvPicPr>
          <p:cNvPr id="36" name="Icon GiPathDistance" descr="preencoded.png">    </p:cNvPr>
          <p:cNvPicPr>
            <a:picLocks noChangeAspect="1"/>
          </p:cNvPicPr>
          <p:nvPr/>
        </p:nvPicPr>
        <p:blipFill>
          <a:blip r:embed="rId6"/>
          <a:stretch>
            <a:fillRect/>
          </a:stretch>
        </p:blipFill>
        <p:spPr>
          <a:xfrm>
            <a:off x="2110069" y="4021165"/>
            <a:ext cx="296997" cy="296997"/>
          </a:xfrm>
          <a:prstGeom prst="rect">
            <a:avLst/>
          </a:prstGeom>
        </p:spPr>
      </p:pic>
      <p:sp>
        <p:nvSpPr>
          <p:cNvPr id="37" name="Text 29"/>
          <p:cNvSpPr txBox="1"/>
          <p:nvPr/>
        </p:nvSpPr>
        <p:spPr>
          <a:xfrm>
            <a:off x="658368" y="4526280"/>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Off-by-one</a:t>
            </a:r>
            <a:endParaRPr lang="en-US" sz="1500" dirty="0"/>
          </a:p>
        </p:txBody>
      </p:sp>
      <p:sp>
        <p:nvSpPr>
          <p:cNvPr id="38" name="Text 30"/>
          <p:cNvSpPr txBox="1"/>
          <p:nvPr/>
        </p:nvSpPr>
        <p:spPr>
          <a:xfrm>
            <a:off x="658368" y="5102352"/>
            <a:ext cx="1883664" cy="896112"/>
          </a:xfrm>
          <a:prstGeom prst="rect">
            <a:avLst/>
          </a:prstGeom>
          <a:noFill/>
          <a:ln/>
        </p:spPr>
        <p:txBody>
          <a:bodyPr wrap="square" lIns="0" tIns="0" rIns="0" bIns="0" rtlCol="0" anchor="t"/>
          <a:lstStyle/>
          <a:p>
            <a:pPr indent="0" marL="0">
              <a:buNone/>
            </a:pPr>
            <a:r>
              <a:rPr lang="en-US" sz="1200" dirty="0">
                <a:solidFill>
                  <a:schemeClr val="tx1"/>
                </a:solidFill>
              </a:rPr>
              <a:t>&lt; statt &lt;=, getLength() statt getLength() − 1, Startindex</a:t>
            </a:r>
            <a:endParaRPr lang="en-US" sz="1200" dirty="0"/>
          </a:p>
        </p:txBody>
      </p:sp>
      <p:sp>
        <p:nvSpPr>
          <p:cNvPr id="39" name="Kachel P7"/>
          <p:cNvSpPr/>
          <p:nvPr/>
        </p:nvSpPr>
        <p:spPr>
          <a:xfrm>
            <a:off x="2788920" y="3776472"/>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40" name="Nummer P7"/>
          <p:cNvSpPr txBox="1"/>
          <p:nvPr/>
        </p:nvSpPr>
        <p:spPr>
          <a:xfrm>
            <a:off x="2898648" y="3886200"/>
            <a:ext cx="566928" cy="566928"/>
          </a:xfrm>
          <a:prstGeom prst="ellipse">
            <a:avLst/>
          </a:prstGeom>
          <a:solidFill>
            <a:schemeClr val="accent4"/>
          </a:solidFill>
          <a:ln/>
        </p:spPr>
        <p:txBody>
          <a:bodyPr wrap="square" lIns="0" tIns="0" rIns="0" bIns="0" rtlCol="0" anchor="ctr"/>
          <a:lstStyle/>
          <a:p>
            <a:pPr algn="ctr" indent="0" marL="0">
              <a:buNone/>
            </a:pPr>
            <a:r>
              <a:rPr lang="en-US" sz="1700" b="1" dirty="0">
                <a:solidFill>
                  <a:schemeClr val="bg1"/>
                </a:solidFill>
              </a:rPr>
              <a:t>P7</a:t>
            </a:r>
            <a:endParaRPr lang="en-US" sz="1700" dirty="0"/>
          </a:p>
        </p:txBody>
      </p:sp>
      <p:sp>
        <p:nvSpPr>
          <p:cNvPr id="41" name="Icon-Kreis"/>
          <p:cNvSpPr/>
          <p:nvPr/>
        </p:nvSpPr>
        <p:spPr>
          <a:xfrm>
            <a:off x="4233672" y="3904488"/>
            <a:ext cx="530352" cy="530352"/>
          </a:xfrm>
          <a:prstGeom prst="ellipse">
            <a:avLst/>
          </a:prstGeom>
          <a:solidFill>
            <a:schemeClr val="accent1"/>
          </a:solidFill>
          <a:ln/>
        </p:spPr>
        <p:txBody>
          <a:bodyPr/>
          <a:p/>
        </p:txBody>
      </p:sp>
      <p:pic>
        <p:nvPicPr>
          <p:cNvPr id="42" name="Icon GiSpiralArrow" descr="preencoded.png">    </p:cNvPr>
          <p:cNvPicPr>
            <a:picLocks noChangeAspect="1"/>
          </p:cNvPicPr>
          <p:nvPr/>
        </p:nvPicPr>
        <p:blipFill>
          <a:blip r:embed="rId7"/>
          <a:stretch>
            <a:fillRect/>
          </a:stretch>
        </p:blipFill>
        <p:spPr>
          <a:xfrm>
            <a:off x="4350349" y="4021165"/>
            <a:ext cx="296997" cy="296997"/>
          </a:xfrm>
          <a:prstGeom prst="rect">
            <a:avLst/>
          </a:prstGeom>
        </p:spPr>
      </p:pic>
      <p:sp>
        <p:nvSpPr>
          <p:cNvPr id="43" name="Text 34"/>
          <p:cNvSpPr txBox="1"/>
          <p:nvPr/>
        </p:nvSpPr>
        <p:spPr>
          <a:xfrm>
            <a:off x="2898648" y="4526280"/>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Rekursion</a:t>
            </a:r>
            <a:endParaRPr lang="en-US" sz="1500" dirty="0"/>
          </a:p>
        </p:txBody>
      </p:sp>
      <p:sp>
        <p:nvSpPr>
          <p:cNvPr id="44" name="Text 35"/>
          <p:cNvSpPr txBox="1"/>
          <p:nvPr/>
        </p:nvSpPr>
        <p:spPr>
          <a:xfrm>
            <a:off x="2898648" y="5102352"/>
            <a:ext cx="1883664" cy="896112"/>
          </a:xfrm>
          <a:prstGeom prst="rect">
            <a:avLst/>
          </a:prstGeom>
          <a:noFill/>
          <a:ln/>
        </p:spPr>
        <p:txBody>
          <a:bodyPr wrap="square" lIns="0" tIns="0" rIns="0" bIns="0" rtlCol="0" anchor="t"/>
          <a:lstStyle/>
          <a:p>
            <a:pPr indent="0" marL="0">
              <a:buNone/>
            </a:pPr>
            <a:r>
              <a:rPr lang="en-US" sz="1200" dirty="0">
                <a:solidFill>
                  <a:schemeClr val="tx1"/>
                </a:solidFill>
              </a:rPr>
              <a:t>Basisfall fehlt/falsch, Ergebnis nicht verwendet, Tiefe falsch (Erstaufruf = 0)</a:t>
            </a:r>
            <a:endParaRPr lang="en-US" sz="1200" dirty="0"/>
          </a:p>
        </p:txBody>
      </p:sp>
      <p:sp>
        <p:nvSpPr>
          <p:cNvPr id="45" name="Kachel P8"/>
          <p:cNvSpPr/>
          <p:nvPr/>
        </p:nvSpPr>
        <p:spPr>
          <a:xfrm>
            <a:off x="5029200" y="3776472"/>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46" name="Nummer P8"/>
          <p:cNvSpPr txBox="1"/>
          <p:nvPr/>
        </p:nvSpPr>
        <p:spPr>
          <a:xfrm>
            <a:off x="5138928" y="3886200"/>
            <a:ext cx="566928" cy="566928"/>
          </a:xfrm>
          <a:prstGeom prst="ellipse">
            <a:avLst/>
          </a:prstGeom>
          <a:solidFill>
            <a:schemeClr val="accent4"/>
          </a:solidFill>
          <a:ln/>
        </p:spPr>
        <p:txBody>
          <a:bodyPr wrap="square" lIns="0" tIns="0" rIns="0" bIns="0" rtlCol="0" anchor="ctr"/>
          <a:lstStyle/>
          <a:p>
            <a:pPr algn="ctr" indent="0" marL="0">
              <a:buNone/>
            </a:pPr>
            <a:r>
              <a:rPr lang="en-US" sz="1700" b="1" dirty="0">
                <a:solidFill>
                  <a:schemeClr val="bg1"/>
                </a:solidFill>
              </a:rPr>
              <a:t>P8</a:t>
            </a:r>
            <a:endParaRPr lang="en-US" sz="1700" dirty="0"/>
          </a:p>
        </p:txBody>
      </p:sp>
      <p:sp>
        <p:nvSpPr>
          <p:cNvPr id="47" name="Icon-Kreis"/>
          <p:cNvSpPr/>
          <p:nvPr/>
        </p:nvSpPr>
        <p:spPr>
          <a:xfrm>
            <a:off x="6473952" y="3904488"/>
            <a:ext cx="530352" cy="530352"/>
          </a:xfrm>
          <a:prstGeom prst="ellipse">
            <a:avLst/>
          </a:prstGeom>
          <a:solidFill>
            <a:schemeClr val="accent1"/>
          </a:solidFill>
          <a:ln/>
        </p:spPr>
        <p:txBody>
          <a:bodyPr/>
          <a:p/>
        </p:txBody>
      </p:sp>
      <p:pic>
        <p:nvPicPr>
          <p:cNvPr id="48" name="Icon GiChecklist" descr="preencoded.png">    </p:cNvPr>
          <p:cNvPicPr>
            <a:picLocks noChangeAspect="1"/>
          </p:cNvPicPr>
          <p:nvPr/>
        </p:nvPicPr>
        <p:blipFill>
          <a:blip r:embed="rId8"/>
          <a:stretch>
            <a:fillRect/>
          </a:stretch>
        </p:blipFill>
        <p:spPr>
          <a:xfrm>
            <a:off x="6590629" y="4021165"/>
            <a:ext cx="296997" cy="296997"/>
          </a:xfrm>
          <a:prstGeom prst="rect">
            <a:avLst/>
          </a:prstGeom>
        </p:spPr>
      </p:pic>
      <p:sp>
        <p:nvSpPr>
          <p:cNvPr id="49" name="Text 39"/>
          <p:cNvSpPr txBox="1"/>
          <p:nvPr/>
        </p:nvSpPr>
        <p:spPr>
          <a:xfrm>
            <a:off x="5138928" y="4526280"/>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Trace-/Dokumentationstabelle</a:t>
            </a:r>
            <a:endParaRPr lang="en-US" sz="1500" dirty="0"/>
          </a:p>
        </p:txBody>
      </p:sp>
      <p:sp>
        <p:nvSpPr>
          <p:cNvPr id="50" name="Text 40"/>
          <p:cNvSpPr txBox="1"/>
          <p:nvPr/>
        </p:nvSpPr>
        <p:spPr>
          <a:xfrm>
            <a:off x="5138928" y="5102352"/>
            <a:ext cx="1883664" cy="896112"/>
          </a:xfrm>
          <a:prstGeom prst="rect">
            <a:avLst/>
          </a:prstGeom>
          <a:noFill/>
          <a:ln/>
        </p:spPr>
        <p:txBody>
          <a:bodyPr wrap="square" lIns="0" tIns="0" rIns="0" bIns="0" rtlCol="0" anchor="t"/>
          <a:lstStyle/>
          <a:p>
            <a:pPr indent="0" marL="0">
              <a:buNone/>
            </a:pPr>
            <a:r>
              <a:rPr lang="en-US" sz="1200" dirty="0">
                <a:solidFill>
                  <a:schemeClr val="tx1"/>
                </a:solidFill>
              </a:rPr>
              <a:t>nur Variablen, Zeile an jeder markierten Stelle, Endwerte</a:t>
            </a:r>
            <a:endParaRPr lang="en-US" sz="1200" dirty="0"/>
          </a:p>
        </p:txBody>
      </p:sp>
      <p:sp>
        <p:nvSpPr>
          <p:cNvPr id="51" name="Kachel P9"/>
          <p:cNvSpPr/>
          <p:nvPr/>
        </p:nvSpPr>
        <p:spPr>
          <a:xfrm>
            <a:off x="7269480" y="3776472"/>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52" name="Nummer P9"/>
          <p:cNvSpPr txBox="1"/>
          <p:nvPr/>
        </p:nvSpPr>
        <p:spPr>
          <a:xfrm>
            <a:off x="7379208" y="3886200"/>
            <a:ext cx="566928" cy="566928"/>
          </a:xfrm>
          <a:prstGeom prst="ellipse">
            <a:avLst/>
          </a:prstGeom>
          <a:solidFill>
            <a:schemeClr val="accent4"/>
          </a:solidFill>
          <a:ln/>
        </p:spPr>
        <p:txBody>
          <a:bodyPr wrap="square" lIns="0" tIns="0" rIns="0" bIns="0" rtlCol="0" anchor="ctr"/>
          <a:lstStyle/>
          <a:p>
            <a:pPr algn="ctr" indent="0" marL="0">
              <a:buNone/>
            </a:pPr>
            <a:r>
              <a:rPr lang="en-US" sz="1700" b="1" dirty="0">
                <a:solidFill>
                  <a:schemeClr val="bg1"/>
                </a:solidFill>
              </a:rPr>
              <a:t>P9</a:t>
            </a:r>
            <a:endParaRPr lang="en-US" sz="1700" dirty="0"/>
          </a:p>
        </p:txBody>
      </p:sp>
      <p:sp>
        <p:nvSpPr>
          <p:cNvPr id="53" name="Icon-Kreis"/>
          <p:cNvSpPr/>
          <p:nvPr/>
        </p:nvSpPr>
        <p:spPr>
          <a:xfrm>
            <a:off x="8714232" y="3904488"/>
            <a:ext cx="530352" cy="530352"/>
          </a:xfrm>
          <a:prstGeom prst="ellipse">
            <a:avLst/>
          </a:prstGeom>
          <a:solidFill>
            <a:schemeClr val="accent1"/>
          </a:solidFill>
          <a:ln/>
        </p:spPr>
        <p:txBody>
          <a:bodyPr/>
          <a:p/>
        </p:txBody>
      </p:sp>
      <p:pic>
        <p:nvPicPr>
          <p:cNvPr id="54" name="Icon GiPuzzle" descr="preencoded.png">    </p:cNvPr>
          <p:cNvPicPr>
            <a:picLocks noChangeAspect="1"/>
          </p:cNvPicPr>
          <p:nvPr/>
        </p:nvPicPr>
        <p:blipFill>
          <a:blip r:embed="rId9"/>
          <a:stretch>
            <a:fillRect/>
          </a:stretch>
        </p:blipFill>
        <p:spPr>
          <a:xfrm>
            <a:off x="8830909" y="4021165"/>
            <a:ext cx="296997" cy="296997"/>
          </a:xfrm>
          <a:prstGeom prst="rect">
            <a:avLst/>
          </a:prstGeom>
        </p:spPr>
      </p:pic>
      <p:sp>
        <p:nvSpPr>
          <p:cNvPr id="55" name="Text 44"/>
          <p:cNvSpPr txBox="1"/>
          <p:nvPr/>
        </p:nvSpPr>
        <p:spPr>
          <a:xfrm>
            <a:off x="7379208" y="4526280"/>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Struktogramm nicht nach EH §5</a:t>
            </a:r>
            <a:endParaRPr lang="en-US" sz="1500" dirty="0"/>
          </a:p>
        </p:txBody>
      </p:sp>
      <p:sp>
        <p:nvSpPr>
          <p:cNvPr id="56" name="Text 45"/>
          <p:cNvSpPr txBox="1"/>
          <p:nvPr/>
        </p:nvSpPr>
        <p:spPr>
          <a:xfrm>
            <a:off x="7379208" y="5102352"/>
            <a:ext cx="1883664" cy="896112"/>
          </a:xfrm>
          <a:prstGeom prst="rect">
            <a:avLst/>
          </a:prstGeom>
          <a:noFill/>
          <a:ln/>
        </p:spPr>
        <p:txBody>
          <a:bodyPr wrap="square" lIns="0" tIns="0" rIns="0" bIns="0" rtlCol="0" anchor="t"/>
          <a:lstStyle/>
          <a:p>
            <a:pPr indent="0" marL="0">
              <a:buNone/>
            </a:pPr>
            <a:r>
              <a:rPr lang="en-US" sz="1200" dirty="0">
                <a:solidFill>
                  <a:schemeClr val="tx1"/>
                </a:solidFill>
              </a:rPr>
              <a:t>←, „gib … zurück“, Schleifenarten, Verzweigung; Java im Struktogramm</a:t>
            </a:r>
            <a:endParaRPr lang="en-US" sz="1200" dirty="0"/>
          </a:p>
        </p:txBody>
      </p:sp>
      <p:sp>
        <p:nvSpPr>
          <p:cNvPr id="57" name="Kachel P10"/>
          <p:cNvSpPr/>
          <p:nvPr/>
        </p:nvSpPr>
        <p:spPr>
          <a:xfrm>
            <a:off x="9509760" y="3776472"/>
            <a:ext cx="2103120" cy="2286000"/>
          </a:xfrm>
          <a:prstGeom prst="roundRect">
            <a:avLst>
              <a:gd name="adj" fmla="val 52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txBody>
          <a:bodyPr/>
          <a:p/>
        </p:txBody>
      </p:sp>
      <p:sp>
        <p:nvSpPr>
          <p:cNvPr id="58" name="Nummer P10"/>
          <p:cNvSpPr txBox="1"/>
          <p:nvPr/>
        </p:nvSpPr>
        <p:spPr>
          <a:xfrm>
            <a:off x="9619488" y="3886200"/>
            <a:ext cx="566928" cy="566928"/>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P10</a:t>
            </a:r>
            <a:endParaRPr lang="en-US" sz="1500" dirty="0"/>
          </a:p>
        </p:txBody>
      </p:sp>
      <p:sp>
        <p:nvSpPr>
          <p:cNvPr id="59" name="Icon-Kreis"/>
          <p:cNvSpPr/>
          <p:nvPr/>
        </p:nvSpPr>
        <p:spPr>
          <a:xfrm>
            <a:off x="10954512" y="3904488"/>
            <a:ext cx="530352" cy="530352"/>
          </a:xfrm>
          <a:prstGeom prst="ellipse">
            <a:avLst/>
          </a:prstGeom>
          <a:solidFill>
            <a:schemeClr val="accent1"/>
          </a:solidFill>
          <a:ln/>
        </p:spPr>
        <p:txBody>
          <a:bodyPr/>
          <a:p/>
        </p:txBody>
      </p:sp>
      <p:pic>
        <p:nvPicPr>
          <p:cNvPr id="60" name="Icon GiTargeted" descr="preencoded.png">    </p:cNvPr>
          <p:cNvPicPr>
            <a:picLocks noChangeAspect="1"/>
          </p:cNvPicPr>
          <p:nvPr/>
        </p:nvPicPr>
        <p:blipFill>
          <a:blip r:embed="rId10"/>
          <a:stretch>
            <a:fillRect/>
          </a:stretch>
        </p:blipFill>
        <p:spPr>
          <a:xfrm>
            <a:off x="11071189" y="4021165"/>
            <a:ext cx="296997" cy="296997"/>
          </a:xfrm>
          <a:prstGeom prst="rect">
            <a:avLst/>
          </a:prstGeom>
        </p:spPr>
      </p:pic>
      <p:sp>
        <p:nvSpPr>
          <p:cNvPr id="61" name="Text 49"/>
          <p:cNvSpPr txBox="1"/>
          <p:nvPr/>
        </p:nvSpPr>
        <p:spPr>
          <a:xfrm>
            <a:off x="9619488" y="4526280"/>
            <a:ext cx="1883664" cy="566928"/>
          </a:xfrm>
          <a:prstGeom prst="rect">
            <a:avLst/>
          </a:prstGeom>
          <a:noFill/>
          <a:ln/>
        </p:spPr>
        <p:txBody>
          <a:bodyPr wrap="square" lIns="0" tIns="0" rIns="0" bIns="0" rtlCol="0" anchor="ctr"/>
          <a:lstStyle/>
          <a:p>
            <a:pPr indent="0" marL="0">
              <a:buNone/>
            </a:pPr>
            <a:r>
              <a:rPr lang="en-US" sz="1500" b="1" dirty="0">
                <a:solidFill>
                  <a:schemeClr val="accent1"/>
                </a:solidFill>
              </a:rPr>
              <a:t>Operator verfehlt</a:t>
            </a:r>
            <a:endParaRPr lang="en-US" sz="1500" dirty="0"/>
          </a:p>
        </p:txBody>
      </p:sp>
      <p:sp>
        <p:nvSpPr>
          <p:cNvPr id="62" name="Text 50"/>
          <p:cNvSpPr txBox="1"/>
          <p:nvPr/>
        </p:nvSpPr>
        <p:spPr>
          <a:xfrm>
            <a:off x="9619488" y="5102352"/>
            <a:ext cx="1883664" cy="896112"/>
          </a:xfrm>
          <a:prstGeom prst="rect">
            <a:avLst/>
          </a:prstGeom>
          <a:noFill/>
          <a:ln/>
        </p:spPr>
        <p:txBody>
          <a:bodyPr wrap="square" lIns="0" tIns="0" rIns="0" bIns="0" rtlCol="0" anchor="t"/>
          <a:lstStyle/>
          <a:p>
            <a:pPr indent="0" marL="0">
              <a:buNone/>
            </a:pPr>
            <a:r>
              <a:rPr lang="en-US" sz="1200" dirty="0">
                <a:solidFill>
                  <a:schemeClr val="tx1"/>
                </a:solidFill>
              </a:rPr>
              <a:t>„erläutern“ als bloße Nennung, „begründen“ ohne Grund, kein Materialbezug</a:t>
            </a:r>
            <a:endParaRPr lang="en-US" sz="1200" dirty="0"/>
          </a:p>
        </p:txBody>
      </p:sp>
      <p:sp>
        <p:nvSpPr>
          <p:cNvPr id="63" name="Text 51"/>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Top 10</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Bug-Hunt: P1 und P2</a:t>
            </a:r>
            <a:endParaRPr lang="en-US" sz="3600" dirty="0"/>
          </a:p>
        </p:txBody>
      </p:sp>
      <p:sp>
        <p:nvSpPr>
          <p:cNvPr id="3" name="Trenner"/>
          <p:cNvSpPr/>
          <p:nvPr/>
        </p:nvSpPr>
        <p:spPr>
          <a:xfrm>
            <a:off x="5897880" y="1371600"/>
            <a:ext cx="91" cy="4663440"/>
          </a:xfrm>
          <a:prstGeom prst="line">
            <a:avLst/>
          </a:prstGeom>
          <a:noFill/>
          <a:ln w="19050">
            <a:solidFill>
              <a:schemeClr val="bg2"/>
            </a:solidFill>
            <a:prstDash val="solid"/>
          </a:ln>
        </p:spPr>
      </p:sp>
      <p:sp>
        <p:nvSpPr>
          <p:cNvPr id="4" name="Nummer P1"/>
          <p:cNvSpPr txBox="1"/>
          <p:nvPr/>
        </p:nvSpPr>
        <p:spPr>
          <a:xfrm>
            <a:off x="548640" y="1307592"/>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P1</a:t>
            </a:r>
            <a:endParaRPr lang="en-US" sz="1600" dirty="0"/>
          </a:p>
        </p:txBody>
      </p:sp>
      <p:sp>
        <p:nvSpPr>
          <p:cNvPr id="5" name="Text 3"/>
          <p:cNvSpPr txBox="1"/>
          <p:nvPr/>
        </p:nvSpPr>
        <p:spPr>
          <a:xfrm>
            <a:off x="1170432" y="1307592"/>
            <a:ext cx="4818888" cy="502920"/>
          </a:xfrm>
          <a:prstGeom prst="rect">
            <a:avLst/>
          </a:prstGeom>
          <a:noFill/>
          <a:ln/>
        </p:spPr>
        <p:txBody>
          <a:bodyPr wrap="square" lIns="0" tIns="0" rIns="0" bIns="0" rtlCol="0" anchor="ctr"/>
          <a:lstStyle/>
          <a:p>
            <a:pPr indent="0" marL="0">
              <a:buNone/>
            </a:pPr>
            <a:r>
              <a:rPr lang="en-US" sz="2000" b="1" dirty="0">
                <a:solidFill>
                  <a:schemeClr val="accent1"/>
                </a:solidFill>
              </a:rPr>
              <a:t>Laufzeitfehler nicht ausgeschlossen</a:t>
            </a:r>
            <a:endParaRPr lang="en-US" sz="2000" dirty="0"/>
          </a:p>
        </p:txBody>
      </p:sp>
      <p:sp>
        <p:nvSpPr>
          <p:cNvPr id="6" name="Text 4"/>
          <p:cNvSpPr txBox="1"/>
          <p:nvPr/>
        </p:nvSpPr>
        <p:spPr>
          <a:xfrm>
            <a:off x="548640" y="1847088"/>
            <a:ext cx="5440680" cy="438912"/>
          </a:xfrm>
          <a:prstGeom prst="rect">
            <a:avLst/>
          </a:prstGeom>
          <a:noFill/>
          <a:ln/>
        </p:spPr>
        <p:txBody>
          <a:bodyPr wrap="square" lIns="0" tIns="0" rIns="0" bIns="0" rtlCol="0" anchor="ctr"/>
          <a:lstStyle/>
          <a:p>
            <a:pPr indent="0" marL="0">
              <a:buNone/>
            </a:pPr>
            <a:r>
              <a:rPr lang="en-US" sz="1300" b="1" dirty="0">
                <a:solidFill>
                  <a:schemeClr val="accent6"/>
                </a:solidFill>
              </a:rPr>
              <a:t>Vorgabe: </a:t>
            </a:r>
            <a:pPr indent="0" marL="0">
              <a:buNone/>
            </a:pPr>
            <a:r>
              <a:rPr lang="en-US" sz="1300" dirty="0">
                <a:solidFill>
                  <a:schemeClr val="tx1"/>
                </a:solidFill>
              </a:rPr>
              <a:t>naechsteGroesse(): Zeichen – Größe des vordersten Auftrags, '-' bei leerer Schlange</a:t>
            </a:r>
            <a:endParaRPr lang="en-US" sz="1300" dirty="0"/>
          </a:p>
        </p:txBody>
      </p:sp>
      <p:sp>
        <p:nvSpPr>
          <p:cNvPr id="7" name="P1 falsch"/>
          <p:cNvSpPr txBox="1"/>
          <p:nvPr/>
        </p:nvSpPr>
        <p:spPr>
          <a:xfrm>
            <a:off x="548640" y="2450592"/>
            <a:ext cx="5440680" cy="936752"/>
          </a:xfrm>
          <a:prstGeom prst="rect">
            <a:avLst/>
          </a:prstGeom>
          <a:solidFill>
            <a:srgbClr val="FAFAFA"/>
          </a:solidFill>
          <a:ln w="25400">
            <a:solidFill>
              <a:schemeClr val="accent4"/>
            </a:solidFill>
          </a:ln>
        </p:spPr>
        <p:txBody>
          <a:bodyPr wrap="square" lIns="164592" tIns="128016" rIns="164592" bIns="128016" rtlCol="0" anchor="t"/>
          <a:lstStyle/>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char</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naechsteGroesse</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2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Paket</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p</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Paket</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auftraege</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head</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3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getGroesse</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4  }</a:t>
            </a:r>
            <a:endParaRPr lang="en-US" sz="1100" dirty="0"/>
          </a:p>
        </p:txBody>
      </p:sp>
      <p:sp>
        <p:nvSpPr>
          <p:cNvPr id="8" name="Chip"/>
          <p:cNvSpPr txBox="1"/>
          <p:nvPr/>
        </p:nvSpPr>
        <p:spPr>
          <a:xfrm>
            <a:off x="4965192" y="2327148"/>
            <a:ext cx="914400" cy="24688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falsch</a:t>
            </a:r>
            <a:endParaRPr lang="en-US" sz="1200" dirty="0"/>
          </a:p>
        </p:txBody>
      </p:sp>
      <p:sp>
        <p:nvSpPr>
          <p:cNvPr id="9" name="P1 richtig"/>
          <p:cNvSpPr txBox="1"/>
          <p:nvPr/>
        </p:nvSpPr>
        <p:spPr>
          <a:xfrm>
            <a:off x="548640" y="3606800"/>
            <a:ext cx="5440680" cy="1413002"/>
          </a:xfrm>
          <a:prstGeom prst="rect">
            <a:avLst/>
          </a:prstGeom>
          <a:solidFill>
            <a:srgbClr val="FAFAFA"/>
          </a:solidFill>
          <a:ln w="25400">
            <a:solidFill>
              <a:schemeClr val="accent3"/>
            </a:solidFill>
          </a:ln>
        </p:spPr>
        <p:txBody>
          <a:bodyPr wrap="square" lIns="164592" tIns="128016" rIns="164592" bIns="128016" rtlCol="0" anchor="t"/>
          <a:lstStyle/>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char</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naechsteGroesse</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2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if</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auftraege</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isEmpty</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3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return</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4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5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Paket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Paket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auftraege</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head</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6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getGroesse</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7  }</a:t>
            </a:r>
            <a:endParaRPr lang="en-US" sz="1100" dirty="0"/>
          </a:p>
        </p:txBody>
      </p:sp>
      <p:sp>
        <p:nvSpPr>
          <p:cNvPr id="10" name="Chip"/>
          <p:cNvSpPr txBox="1"/>
          <p:nvPr/>
        </p:nvSpPr>
        <p:spPr>
          <a:xfrm>
            <a:off x="4965192" y="3483356"/>
            <a:ext cx="914400" cy="24688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richtig</a:t>
            </a:r>
            <a:endParaRPr lang="en-US" sz="1200" dirty="0"/>
          </a:p>
        </p:txBody>
      </p:sp>
      <p:sp>
        <p:nvSpPr>
          <p:cNvPr id="11" name="Gegenmassnahme"/>
          <p:cNvSpPr/>
          <p:nvPr/>
        </p:nvSpPr>
        <p:spPr>
          <a:xfrm>
            <a:off x="548640" y="5650992"/>
            <a:ext cx="5440680" cy="502920"/>
          </a:xfrm>
          <a:prstGeom prst="roundRect">
            <a:avLst>
              <a:gd name="adj" fmla="val 21818"/>
            </a:avLst>
          </a:prstGeom>
          <a:solidFill>
            <a:schemeClr val="bg1"/>
          </a:solidFill>
          <a:ln w="25400">
            <a:solidFill>
              <a:schemeClr val="accent2"/>
            </a:solidFill>
            <a:prstDash val="solid"/>
          </a:ln>
        </p:spPr>
      </p:sp>
      <p:sp>
        <p:nvSpPr>
          <p:cNvPr id="12" name="Text 10"/>
          <p:cNvSpPr txBox="1"/>
          <p:nvPr/>
        </p:nvSpPr>
        <p:spPr>
          <a:xfrm>
            <a:off x="749808" y="5650992"/>
            <a:ext cx="507492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Vor jedem head, dequeue, top, pop, getItem: Leer? Index? – als Frage an den Rand.</a:t>
            </a:r>
            <a:endParaRPr lang="en-US" sz="1400" dirty="0"/>
          </a:p>
        </p:txBody>
      </p:sp>
      <p:sp>
        <p:nvSpPr>
          <p:cNvPr id="13" name="Nummer P2"/>
          <p:cNvSpPr txBox="1"/>
          <p:nvPr/>
        </p:nvSpPr>
        <p:spPr>
          <a:xfrm>
            <a:off x="6172200" y="1307592"/>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P2</a:t>
            </a:r>
            <a:endParaRPr lang="en-US" sz="1600" dirty="0"/>
          </a:p>
        </p:txBody>
      </p:sp>
      <p:sp>
        <p:nvSpPr>
          <p:cNvPr id="14" name="Text 12"/>
          <p:cNvSpPr txBox="1"/>
          <p:nvPr/>
        </p:nvSpPr>
        <p:spPr>
          <a:xfrm>
            <a:off x="6793992" y="1307592"/>
            <a:ext cx="4818888" cy="502920"/>
          </a:xfrm>
          <a:prstGeom prst="rect">
            <a:avLst/>
          </a:prstGeom>
          <a:noFill/>
          <a:ln/>
        </p:spPr>
        <p:txBody>
          <a:bodyPr wrap="square" lIns="0" tIns="0" rIns="0" bIns="0" rtlCol="0" anchor="ctr"/>
          <a:lstStyle/>
          <a:p>
            <a:pPr indent="0" marL="0">
              <a:buNone/>
            </a:pPr>
            <a:r>
              <a:rPr lang="en-US" sz="2000" b="1" dirty="0">
                <a:solidFill>
                  <a:schemeClr val="accent1"/>
                </a:solidFill>
              </a:rPr>
              <a:t>Struktur zerstört statt unverändert</a:t>
            </a:r>
            <a:endParaRPr lang="en-US" sz="2000" dirty="0"/>
          </a:p>
        </p:txBody>
      </p:sp>
      <p:sp>
        <p:nvSpPr>
          <p:cNvPr id="15" name="Text 13"/>
          <p:cNvSpPr txBox="1"/>
          <p:nvPr/>
        </p:nvSpPr>
        <p:spPr>
          <a:xfrm>
            <a:off x="6172200" y="1847088"/>
            <a:ext cx="5440680" cy="438912"/>
          </a:xfrm>
          <a:prstGeom prst="rect">
            <a:avLst/>
          </a:prstGeom>
          <a:noFill/>
          <a:ln/>
        </p:spPr>
        <p:txBody>
          <a:bodyPr wrap="square" lIns="0" tIns="0" rIns="0" bIns="0" rtlCol="0" anchor="ctr"/>
          <a:lstStyle/>
          <a:p>
            <a:pPr indent="0" marL="0">
              <a:buNone/>
            </a:pPr>
            <a:r>
              <a:rPr lang="en-US" sz="1300" b="1" dirty="0">
                <a:solidFill>
                  <a:schemeClr val="accent6"/>
                </a:solidFill>
              </a:rPr>
              <a:t>Vorgabe: </a:t>
            </a:r>
            <a:pPr indent="0" marL="0">
              <a:buNone/>
            </a:pPr>
            <a:r>
              <a:rPr lang="en-US" sz="1300" dirty="0">
                <a:solidFill>
                  <a:schemeClr val="tx1"/>
                </a:solidFill>
              </a:rPr>
              <a:t>anzahlRuecksendungen(): Ganzzahl – Anzahl der Pakete im Stapel ruecksendungen; der Stapel bleibt unverändert</a:t>
            </a:r>
            <a:endParaRPr lang="en-US" sz="1300" dirty="0"/>
          </a:p>
        </p:txBody>
      </p:sp>
      <p:sp>
        <p:nvSpPr>
          <p:cNvPr id="16" name="P2 falsch"/>
          <p:cNvSpPr txBox="1"/>
          <p:nvPr/>
        </p:nvSpPr>
        <p:spPr>
          <a:xfrm>
            <a:off x="6172200" y="2450592"/>
            <a:ext cx="5440680" cy="1730502"/>
          </a:xfrm>
          <a:prstGeom prst="rect">
            <a:avLst/>
          </a:prstGeom>
          <a:solidFill>
            <a:srgbClr val="FAFAFA"/>
          </a:solidFill>
          <a:ln w="25400">
            <a:solidFill>
              <a:schemeClr val="accent4"/>
            </a:solidFill>
          </a:ln>
        </p:spPr>
        <p:txBody>
          <a:bodyPr wrap="square" lIns="164592" tIns="128016" rIns="164592" bIns="128016" rtlCol="0" anchor="t"/>
          <a:lstStyle/>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anzahlRuecksendungen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2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 0;</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3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Stack</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hilf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new</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Stack</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4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while</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ruecksendungen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isEmpty</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5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hilf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push</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ruecksendungen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pop</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6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7      }</a:t>
            </a:r>
            <a:endParaRPr lang="en-US" sz="1100" dirty="0"/>
          </a:p>
          <a:p>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8      </a:t>
            </a:r>
            <a:pPr algn="l" indent="0" marL="0">
              <a:lnSpc>
                <a:spcPts val="13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return</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n</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9  }</a:t>
            </a:r>
            <a:endParaRPr lang="en-US" sz="1100" dirty="0"/>
          </a:p>
        </p:txBody>
      </p:sp>
      <p:sp>
        <p:nvSpPr>
          <p:cNvPr id="17" name="Chip"/>
          <p:cNvSpPr txBox="1"/>
          <p:nvPr/>
        </p:nvSpPr>
        <p:spPr>
          <a:xfrm>
            <a:off x="10588752" y="2327148"/>
            <a:ext cx="914400" cy="24688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falsch</a:t>
            </a:r>
            <a:endParaRPr lang="en-US" sz="1200" dirty="0"/>
          </a:p>
        </p:txBody>
      </p:sp>
      <p:sp>
        <p:nvSpPr>
          <p:cNvPr id="18" name="P2 richtig"/>
          <p:cNvSpPr txBox="1"/>
          <p:nvPr/>
        </p:nvSpPr>
        <p:spPr>
          <a:xfrm>
            <a:off x="6172200" y="4400550"/>
            <a:ext cx="5440680" cy="936752"/>
          </a:xfrm>
          <a:prstGeom prst="rect">
            <a:avLst/>
          </a:prstGeom>
          <a:solidFill>
            <a:srgbClr val="FAFAFA"/>
          </a:solidFill>
          <a:ln w="25400">
            <a:solidFill>
              <a:schemeClr val="accent3"/>
            </a:solidFill>
          </a:ln>
        </p:spPr>
        <p:txBody>
          <a:bodyPr wrap="square" lIns="164592" tIns="128016" rIns="164592" bIns="128016" rtlCol="0" anchor="t"/>
          <a:lstStyle/>
          <a:p>
            <a:pPr algn="l" indent="0" marL="0">
              <a:lnSpc>
                <a:spcPts val="1300"/>
              </a:lnSpc>
              <a:buNone/>
            </a:pPr>
            <a:r>
              <a:rPr lang="en-US" sz="1100" i="1" dirty="0">
                <a:solidFill>
                  <a:schemeClr val="accent3"/>
                </a:solidFill>
                <a:latin typeface="Consolas" pitchFamily="34" charset="0"/>
                <a:ea typeface="Consolas" pitchFamily="34" charset="-122"/>
                <a:cs typeface="Consolas" pitchFamily="34" charset="-120"/>
              </a:rPr>
              <a:t>// nach Zeile 7 einfügen:</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while</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hilf</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isEmpty</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ruecksendungen</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push</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hilf</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pop</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endParaRPr lang="en-US" sz="1100" dirty="0"/>
          </a:p>
        </p:txBody>
      </p:sp>
      <p:sp>
        <p:nvSpPr>
          <p:cNvPr id="19" name="Chip"/>
          <p:cNvSpPr txBox="1"/>
          <p:nvPr/>
        </p:nvSpPr>
        <p:spPr>
          <a:xfrm>
            <a:off x="10588752" y="4277106"/>
            <a:ext cx="914400" cy="24688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richtig</a:t>
            </a:r>
            <a:endParaRPr lang="en-US" sz="1200" dirty="0"/>
          </a:p>
        </p:txBody>
      </p:sp>
      <p:sp>
        <p:nvSpPr>
          <p:cNvPr id="20" name="Gegenmassnahme"/>
          <p:cNvSpPr/>
          <p:nvPr/>
        </p:nvSpPr>
        <p:spPr>
          <a:xfrm>
            <a:off x="6172200" y="5650992"/>
            <a:ext cx="5440680" cy="502920"/>
          </a:xfrm>
          <a:prstGeom prst="roundRect">
            <a:avLst>
              <a:gd name="adj" fmla="val 21818"/>
            </a:avLst>
          </a:prstGeom>
          <a:solidFill>
            <a:schemeClr val="bg1"/>
          </a:solidFill>
          <a:ln w="25400">
            <a:solidFill>
              <a:schemeClr val="accent2"/>
            </a:solidFill>
            <a:prstDash val="solid"/>
          </a:ln>
        </p:spPr>
      </p:sp>
      <p:sp>
        <p:nvSpPr>
          <p:cNvPr id="21" name="Text 19"/>
          <p:cNvSpPr txBox="1"/>
          <p:nvPr/>
        </p:nvSpPr>
        <p:spPr>
          <a:xfrm>
            <a:off x="6373368" y="5650992"/>
            <a:ext cx="507492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„unverändert“ unterstreichen; Hilfsstruktur zurückfüllen, bevor return kommt.</a:t>
            </a:r>
            <a:endParaRPr lang="en-US" sz="1400" dirty="0"/>
          </a:p>
        </p:txBody>
      </p:sp>
      <p:sp>
        <p:nvSpPr>
          <p:cNvPr id="22" name="Text 2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Bug-Hunt P1 · P2</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Bug-Hunt: P3 und P4</a:t>
            </a:r>
            <a:endParaRPr lang="en-US" sz="3600" dirty="0"/>
          </a:p>
        </p:txBody>
      </p:sp>
      <p:sp>
        <p:nvSpPr>
          <p:cNvPr id="3" name="Trenner"/>
          <p:cNvSpPr/>
          <p:nvPr/>
        </p:nvSpPr>
        <p:spPr>
          <a:xfrm>
            <a:off x="5897880" y="1371600"/>
            <a:ext cx="91" cy="4663440"/>
          </a:xfrm>
          <a:prstGeom prst="line">
            <a:avLst/>
          </a:prstGeom>
          <a:noFill/>
          <a:ln w="19050">
            <a:solidFill>
              <a:schemeClr val="bg2"/>
            </a:solidFill>
            <a:prstDash val="solid"/>
          </a:ln>
        </p:spPr>
      </p:sp>
      <p:sp>
        <p:nvSpPr>
          <p:cNvPr id="4" name="Nummer P3"/>
          <p:cNvSpPr txBox="1"/>
          <p:nvPr/>
        </p:nvSpPr>
        <p:spPr>
          <a:xfrm>
            <a:off x="548640" y="1307592"/>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P3</a:t>
            </a:r>
            <a:endParaRPr lang="en-US" sz="1600" dirty="0"/>
          </a:p>
        </p:txBody>
      </p:sp>
      <p:sp>
        <p:nvSpPr>
          <p:cNvPr id="5" name="Text 3"/>
          <p:cNvSpPr txBox="1"/>
          <p:nvPr/>
        </p:nvSpPr>
        <p:spPr>
          <a:xfrm>
            <a:off x="1170432" y="1307592"/>
            <a:ext cx="4818888" cy="502920"/>
          </a:xfrm>
          <a:prstGeom prst="rect">
            <a:avLst/>
          </a:prstGeom>
          <a:noFill/>
          <a:ln/>
        </p:spPr>
        <p:txBody>
          <a:bodyPr wrap="square" lIns="0" tIns="0" rIns="0" bIns="0" rtlCol="0" anchor="ctr"/>
          <a:lstStyle/>
          <a:p>
            <a:pPr indent="0" marL="0">
              <a:buNone/>
            </a:pPr>
            <a:r>
              <a:rPr lang="en-US" sz="2000" b="1" dirty="0">
                <a:solidFill>
                  <a:schemeClr val="accent1"/>
                </a:solidFill>
              </a:rPr>
              <a:t>Signatur verfehlt</a:t>
            </a:r>
            <a:endParaRPr lang="en-US" sz="2000" dirty="0"/>
          </a:p>
        </p:txBody>
      </p:sp>
      <p:sp>
        <p:nvSpPr>
          <p:cNvPr id="6" name="Text 4"/>
          <p:cNvSpPr txBox="1"/>
          <p:nvPr/>
        </p:nvSpPr>
        <p:spPr>
          <a:xfrm>
            <a:off x="548640" y="1847088"/>
            <a:ext cx="5440680" cy="438912"/>
          </a:xfrm>
          <a:prstGeom prst="rect">
            <a:avLst/>
          </a:prstGeom>
          <a:noFill/>
          <a:ln/>
        </p:spPr>
        <p:txBody>
          <a:bodyPr wrap="square" lIns="0" tIns="0" rIns="0" bIns="0" rtlCol="0" anchor="ctr"/>
          <a:lstStyle/>
          <a:p>
            <a:pPr indent="0" marL="0">
              <a:buNone/>
            </a:pPr>
            <a:r>
              <a:rPr lang="en-US" sz="1300" b="1" dirty="0">
                <a:solidFill>
                  <a:schemeClr val="accent6"/>
                </a:solidFill>
              </a:rPr>
              <a:t>Vorgabe: </a:t>
            </a:r>
            <a:pPr indent="0" marL="0">
              <a:buNone/>
            </a:pPr>
            <a:r>
              <a:rPr lang="en-US" sz="1300" dirty="0">
                <a:solidFill>
                  <a:schemeClr val="tx1"/>
                </a:solidFill>
              </a:rPr>
              <a:t>hatFreiesFach(groesse: Zeichen): Wahrheitswert – wahr, wenn ein Fach der Größe groesse frei ist</a:t>
            </a:r>
            <a:endParaRPr lang="en-US" sz="1300" dirty="0"/>
          </a:p>
        </p:txBody>
      </p:sp>
      <p:sp>
        <p:nvSpPr>
          <p:cNvPr id="7" name="P3 falsch"/>
          <p:cNvSpPr txBox="1"/>
          <p:nvPr/>
        </p:nvSpPr>
        <p:spPr>
          <a:xfrm>
            <a:off x="548640" y="2450592"/>
            <a:ext cx="5440680" cy="1571752"/>
          </a:xfrm>
          <a:prstGeom prst="rect">
            <a:avLst/>
          </a:prstGeom>
          <a:solidFill>
            <a:srgbClr val="FAFAFA"/>
          </a:solidFill>
          <a:ln w="25400">
            <a:solidFill>
              <a:schemeClr val="accent4"/>
            </a:solidFill>
          </a:ln>
        </p:spPr>
        <p:txBody>
          <a:bodyPr wrap="square" lIns="164592" tIns="128016" rIns="164592" bIns="128016" rtlCol="0" anchor="t"/>
          <a:lstStyle/>
          <a:p>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1  </a:t>
            </a:r>
            <a:pPr algn="l" indent="0" marL="0">
              <a:lnSpc>
                <a:spcPts val="13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public</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boolean</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freiesFach</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char</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groesse</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2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for</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 0;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&lt;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faecher</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getLength</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3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Fach</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Fach</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faecher</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getItem</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4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istFrei</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&amp;&amp;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getGroesse</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groesse</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5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true</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6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7      }</a:t>
            </a:r>
            <a:endParaRPr lang="en-US" sz="1100" dirty="0"/>
          </a:p>
          <a:p>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8  }</a:t>
            </a:r>
            <a:endParaRPr lang="en-US" sz="1100" dirty="0"/>
          </a:p>
        </p:txBody>
      </p:sp>
      <p:sp>
        <p:nvSpPr>
          <p:cNvPr id="8" name="Chip"/>
          <p:cNvSpPr txBox="1"/>
          <p:nvPr/>
        </p:nvSpPr>
        <p:spPr>
          <a:xfrm>
            <a:off x="4965192" y="2327148"/>
            <a:ext cx="914400" cy="24688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falsch</a:t>
            </a:r>
            <a:endParaRPr lang="en-US" sz="1200" dirty="0"/>
          </a:p>
        </p:txBody>
      </p:sp>
      <p:sp>
        <p:nvSpPr>
          <p:cNvPr id="9" name="P3 richtig"/>
          <p:cNvSpPr txBox="1"/>
          <p:nvPr/>
        </p:nvSpPr>
        <p:spPr>
          <a:xfrm>
            <a:off x="548640" y="4241800"/>
            <a:ext cx="5440680" cy="936752"/>
          </a:xfrm>
          <a:prstGeom prst="rect">
            <a:avLst/>
          </a:prstGeom>
          <a:solidFill>
            <a:srgbClr val="FAFAFA"/>
          </a:solidFill>
          <a:ln w="25400">
            <a:solidFill>
              <a:schemeClr val="accent3"/>
            </a:solidFill>
          </a:ln>
        </p:spPr>
        <p:txBody>
          <a:bodyPr wrap="square" lIns="164592" tIns="128016" rIns="164592" bIns="128016" rtlCol="0" anchor="t"/>
          <a:lstStyle/>
          <a:p>
            <a:pPr algn="l" indent="0" marL="0">
              <a:lnSpc>
                <a:spcPts val="1300"/>
              </a:lnSpc>
              <a:buNone/>
            </a:pPr>
            <a:r>
              <a:rPr lang="en-US" sz="1100" i="1" dirty="0">
                <a:solidFill>
                  <a:schemeClr val="accent3"/>
                </a:solidFill>
                <a:latin typeface="Consolas" pitchFamily="34" charset="0"/>
                <a:ea typeface="Consolas" pitchFamily="34" charset="-122"/>
                <a:cs typeface="Consolas" pitchFamily="34" charset="-120"/>
              </a:rPr>
              <a:t>// Zeile 1 ersetzen durch:</a:t>
            </a:r>
            <a:endParaRPr lang="en-US" sz="1100" dirty="0"/>
          </a:p>
          <a:p>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public</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boolean</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hatFreiesFach</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char</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groesse</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i="1" dirty="0">
                <a:solidFill>
                  <a:schemeClr val="accent3"/>
                </a:solidFill>
                <a:latin typeface="Consolas" pitchFamily="34" charset="0"/>
                <a:ea typeface="Consolas" pitchFamily="34" charset="-122"/>
                <a:cs typeface="Consolas" pitchFamily="34" charset="-120"/>
              </a:rPr>
              <a:t>// nach Zeile 7 einfügen:</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return</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false</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endParaRPr lang="en-US" sz="1100" dirty="0"/>
          </a:p>
        </p:txBody>
      </p:sp>
      <p:sp>
        <p:nvSpPr>
          <p:cNvPr id="10" name="Chip"/>
          <p:cNvSpPr txBox="1"/>
          <p:nvPr/>
        </p:nvSpPr>
        <p:spPr>
          <a:xfrm>
            <a:off x="4965192" y="4118356"/>
            <a:ext cx="914400" cy="24688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richtig</a:t>
            </a:r>
            <a:endParaRPr lang="en-US" sz="1200" dirty="0"/>
          </a:p>
        </p:txBody>
      </p:sp>
      <p:sp>
        <p:nvSpPr>
          <p:cNvPr id="11" name="Gegenmassnahme"/>
          <p:cNvSpPr/>
          <p:nvPr/>
        </p:nvSpPr>
        <p:spPr>
          <a:xfrm>
            <a:off x="548640" y="5650992"/>
            <a:ext cx="5440680" cy="502920"/>
          </a:xfrm>
          <a:prstGeom prst="roundRect">
            <a:avLst>
              <a:gd name="adj" fmla="val 21818"/>
            </a:avLst>
          </a:prstGeom>
          <a:solidFill>
            <a:schemeClr val="bg1"/>
          </a:solidFill>
          <a:ln w="25400">
            <a:solidFill>
              <a:schemeClr val="accent2"/>
            </a:solidFill>
            <a:prstDash val="solid"/>
          </a:ln>
        </p:spPr>
      </p:sp>
      <p:sp>
        <p:nvSpPr>
          <p:cNvPr id="12" name="Text 10"/>
          <p:cNvSpPr txBox="1"/>
          <p:nvPr/>
        </p:nvSpPr>
        <p:spPr>
          <a:xfrm>
            <a:off x="749808" y="5650992"/>
            <a:ext cx="507492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Kopf zuerst 1 : 1 aus der Signatur übersetzen; jeden Pfad bis zum Ende verfolgen.</a:t>
            </a:r>
            <a:endParaRPr lang="en-US" sz="1400" dirty="0"/>
          </a:p>
        </p:txBody>
      </p:sp>
      <p:sp>
        <p:nvSpPr>
          <p:cNvPr id="13" name="Nummer P4"/>
          <p:cNvSpPr txBox="1"/>
          <p:nvPr/>
        </p:nvSpPr>
        <p:spPr>
          <a:xfrm>
            <a:off x="6172200" y="1307592"/>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P4</a:t>
            </a:r>
            <a:endParaRPr lang="en-US" sz="1600" dirty="0"/>
          </a:p>
        </p:txBody>
      </p:sp>
      <p:sp>
        <p:nvSpPr>
          <p:cNvPr id="14" name="Text 12"/>
          <p:cNvSpPr txBox="1"/>
          <p:nvPr/>
        </p:nvSpPr>
        <p:spPr>
          <a:xfrm>
            <a:off x="6793992" y="1307592"/>
            <a:ext cx="4818888" cy="502920"/>
          </a:xfrm>
          <a:prstGeom prst="rect">
            <a:avLst/>
          </a:prstGeom>
          <a:noFill/>
          <a:ln/>
        </p:spPr>
        <p:txBody>
          <a:bodyPr wrap="square" lIns="0" tIns="0" rIns="0" bIns="0" rtlCol="0" anchor="ctr"/>
          <a:lstStyle/>
          <a:p>
            <a:pPr indent="0" marL="0">
              <a:buNone/>
            </a:pPr>
            <a:r>
              <a:rPr lang="en-US" sz="2000" b="1" dirty="0">
                <a:solidFill>
                  <a:schemeClr val="accent1"/>
                </a:solidFill>
              </a:rPr>
              <a:t>Typen und Casts</a:t>
            </a:r>
            <a:endParaRPr lang="en-US" sz="2000" dirty="0"/>
          </a:p>
        </p:txBody>
      </p:sp>
      <p:sp>
        <p:nvSpPr>
          <p:cNvPr id="15" name="Text 13"/>
          <p:cNvSpPr txBox="1"/>
          <p:nvPr/>
        </p:nvSpPr>
        <p:spPr>
          <a:xfrm>
            <a:off x="6172200" y="1847088"/>
            <a:ext cx="5440680" cy="438912"/>
          </a:xfrm>
          <a:prstGeom prst="rect">
            <a:avLst/>
          </a:prstGeom>
          <a:noFill/>
          <a:ln/>
        </p:spPr>
        <p:txBody>
          <a:bodyPr wrap="square" lIns="0" tIns="0" rIns="0" bIns="0" rtlCol="0" anchor="ctr"/>
          <a:lstStyle/>
          <a:p>
            <a:pPr indent="0" marL="0">
              <a:buNone/>
            </a:pPr>
            <a:r>
              <a:rPr lang="en-US" sz="1300" b="1" dirty="0">
                <a:solidFill>
                  <a:schemeClr val="accent6"/>
                </a:solidFill>
              </a:rPr>
              <a:t>Vorgabe: </a:t>
            </a:r>
            <a:pPr indent="0" marL="0">
              <a:buNone/>
            </a:pPr>
            <a:r>
              <a:rPr lang="en-US" sz="1300" dirty="0">
                <a:solidFill>
                  <a:schemeClr val="tx1"/>
                </a:solidFill>
              </a:rPr>
              <a:t>anteilFrei(): Kommazahl – Anteil der freien Fächer in Prozent; 0.0 bei einer Station ohne Fächer</a:t>
            </a:r>
            <a:endParaRPr lang="en-US" sz="1300" dirty="0"/>
          </a:p>
        </p:txBody>
      </p:sp>
      <p:sp>
        <p:nvSpPr>
          <p:cNvPr id="16" name="P4 falsch"/>
          <p:cNvSpPr txBox="1"/>
          <p:nvPr/>
        </p:nvSpPr>
        <p:spPr>
          <a:xfrm>
            <a:off x="6172200" y="2450592"/>
            <a:ext cx="5440680" cy="1520952"/>
          </a:xfrm>
          <a:prstGeom prst="rect">
            <a:avLst/>
          </a:prstGeom>
          <a:solidFill>
            <a:srgbClr val="FAFAFA"/>
          </a:solidFill>
          <a:ln w="25400">
            <a:solidFill>
              <a:schemeClr val="accent4"/>
            </a:solidFill>
          </a:ln>
        </p:spPr>
        <p:txBody>
          <a:bodyPr wrap="square" lIns="164592" tIns="128016" rIns="164592" bIns="128016" rtlCol="0" anchor="t"/>
          <a:lstStyle/>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double</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anteilFrei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2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frei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 0;</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3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for</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 0;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&lt;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faecher</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getLength</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4          </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Fach</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f</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 </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faecher</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getItem</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i</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5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f</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istFrei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frei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6      }</a:t>
            </a:r>
            <a:endParaRPr lang="en-US" sz="1100" dirty="0"/>
          </a:p>
          <a:p>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7      </a:t>
            </a:r>
            <a:pPr algn="l" indent="0" marL="0">
              <a:lnSpc>
                <a:spcPts val="12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return</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frei</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 </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faecher</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getLength</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 100;</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8  }</a:t>
            </a:r>
            <a:endParaRPr lang="en-US" sz="1100" dirty="0"/>
          </a:p>
        </p:txBody>
      </p:sp>
      <p:sp>
        <p:nvSpPr>
          <p:cNvPr id="17" name="Chip"/>
          <p:cNvSpPr txBox="1"/>
          <p:nvPr/>
        </p:nvSpPr>
        <p:spPr>
          <a:xfrm>
            <a:off x="10588752" y="2327148"/>
            <a:ext cx="914400" cy="24688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falsch</a:t>
            </a:r>
            <a:endParaRPr lang="en-US" sz="1200" dirty="0"/>
          </a:p>
        </p:txBody>
      </p:sp>
      <p:sp>
        <p:nvSpPr>
          <p:cNvPr id="18" name="P4 richtig"/>
          <p:cNvSpPr txBox="1"/>
          <p:nvPr/>
        </p:nvSpPr>
        <p:spPr>
          <a:xfrm>
            <a:off x="6172200" y="4191000"/>
            <a:ext cx="5440680" cy="1368552"/>
          </a:xfrm>
          <a:prstGeom prst="rect">
            <a:avLst/>
          </a:prstGeom>
          <a:solidFill>
            <a:srgbClr val="FAFAFA"/>
          </a:solidFill>
          <a:ln w="25400">
            <a:solidFill>
              <a:schemeClr val="accent3"/>
            </a:solidFill>
          </a:ln>
        </p:spPr>
        <p:txBody>
          <a:bodyPr wrap="square" lIns="164592" tIns="128016" rIns="164592" bIns="128016" rtlCol="0" anchor="t"/>
          <a:lstStyle/>
          <a:p>
            <a:pPr algn="l" indent="0" marL="0">
              <a:lnSpc>
                <a:spcPts val="1200"/>
              </a:lnSpc>
              <a:buNone/>
            </a:pPr>
            <a:r>
              <a:rPr lang="en-US" sz="1100" i="1" dirty="0">
                <a:solidFill>
                  <a:schemeClr val="accent3"/>
                </a:solidFill>
                <a:latin typeface="Consolas" pitchFamily="34" charset="0"/>
                <a:ea typeface="Consolas" pitchFamily="34" charset="-122"/>
                <a:cs typeface="Consolas" pitchFamily="34" charset="-120"/>
              </a:rPr>
              <a:t>// Zeile 4 ersetzen durch:</a:t>
            </a:r>
            <a:endParaRPr lang="en-US" sz="1100" dirty="0"/>
          </a:p>
          <a:p>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Fach</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f</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 (</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Fach</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faecher</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getItem</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i</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endParaRPr lang="en-US" sz="1100" dirty="0"/>
          </a:p>
          <a:p>
            <a:pPr algn="l" indent="0" marL="0">
              <a:lnSpc>
                <a:spcPts val="1200"/>
              </a:lnSpc>
              <a:buNone/>
            </a:pPr>
            <a:r>
              <a:rPr lang="en-US" sz="1100" i="1" dirty="0">
                <a:solidFill>
                  <a:schemeClr val="accent3"/>
                </a:solidFill>
                <a:latin typeface="Consolas" pitchFamily="34" charset="0"/>
                <a:ea typeface="Consolas" pitchFamily="34" charset="-122"/>
                <a:cs typeface="Consolas" pitchFamily="34" charset="-120"/>
              </a:rPr>
              <a:t>// Zeile 7 ersetzen durch:</a:t>
            </a:r>
            <a:endParaRPr lang="en-US" sz="1100" dirty="0"/>
          </a:p>
          <a:p>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if</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faecher</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getLength</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 0) {</a:t>
            </a:r>
            <a:endParaRPr lang="en-US" sz="1100" dirty="0"/>
          </a:p>
          <a:p>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return</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0.0;</a:t>
            </a:r>
            <a:endParaRPr lang="en-US" sz="1100" dirty="0"/>
          </a:p>
          <a:p>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endParaRPr lang="en-US" sz="1100" dirty="0"/>
          </a:p>
          <a:p>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return</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frei</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 100.0 / </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faecher</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getLength</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endParaRPr lang="en-US" sz="1100" dirty="0"/>
          </a:p>
        </p:txBody>
      </p:sp>
      <p:sp>
        <p:nvSpPr>
          <p:cNvPr id="19" name="Chip"/>
          <p:cNvSpPr txBox="1"/>
          <p:nvPr/>
        </p:nvSpPr>
        <p:spPr>
          <a:xfrm>
            <a:off x="10588752" y="4067556"/>
            <a:ext cx="914400" cy="24688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richtig</a:t>
            </a:r>
            <a:endParaRPr lang="en-US" sz="1200" dirty="0"/>
          </a:p>
        </p:txBody>
      </p:sp>
      <p:sp>
        <p:nvSpPr>
          <p:cNvPr id="20" name="Gegenmassnahme"/>
          <p:cNvSpPr/>
          <p:nvPr/>
        </p:nvSpPr>
        <p:spPr>
          <a:xfrm>
            <a:off x="6172200" y="5650992"/>
            <a:ext cx="5440680" cy="502920"/>
          </a:xfrm>
          <a:prstGeom prst="roundRect">
            <a:avLst>
              <a:gd name="adj" fmla="val 21818"/>
            </a:avLst>
          </a:prstGeom>
          <a:solidFill>
            <a:schemeClr val="bg1"/>
          </a:solidFill>
          <a:ln w="25400">
            <a:solidFill>
              <a:schemeClr val="accent2"/>
            </a:solidFill>
            <a:prstDash val="solid"/>
          </a:ln>
        </p:spPr>
      </p:sp>
      <p:sp>
        <p:nvSpPr>
          <p:cNvPr id="21" name="Text 19"/>
          <p:cNvSpPr txBox="1"/>
          <p:nvPr/>
        </p:nvSpPr>
        <p:spPr>
          <a:xfrm>
            <a:off x="6373368" y="5650992"/>
            <a:ext cx="507492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Beim Entnehmen immer casten; Kommazahl? Mit 100.0 rechnen oder vorher casten.</a:t>
            </a:r>
            <a:endParaRPr lang="en-US" sz="1400" dirty="0"/>
          </a:p>
        </p:txBody>
      </p:sp>
      <p:sp>
        <p:nvSpPr>
          <p:cNvPr id="22" name="Text 2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Bug-Hunt P3 · P4</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Bug-Hunt: P5 und P6</a:t>
            </a:r>
            <a:endParaRPr lang="en-US" sz="3600" dirty="0"/>
          </a:p>
        </p:txBody>
      </p:sp>
      <p:sp>
        <p:nvSpPr>
          <p:cNvPr id="3" name="Trenner"/>
          <p:cNvSpPr/>
          <p:nvPr/>
        </p:nvSpPr>
        <p:spPr>
          <a:xfrm>
            <a:off x="5897880" y="1371600"/>
            <a:ext cx="91" cy="4663440"/>
          </a:xfrm>
          <a:prstGeom prst="line">
            <a:avLst/>
          </a:prstGeom>
          <a:noFill/>
          <a:ln w="19050">
            <a:solidFill>
              <a:schemeClr val="bg2"/>
            </a:solidFill>
            <a:prstDash val="solid"/>
          </a:ln>
        </p:spPr>
      </p:sp>
      <p:sp>
        <p:nvSpPr>
          <p:cNvPr id="4" name="Nummer P5"/>
          <p:cNvSpPr txBox="1"/>
          <p:nvPr/>
        </p:nvSpPr>
        <p:spPr>
          <a:xfrm>
            <a:off x="548640" y="1307592"/>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P5</a:t>
            </a:r>
            <a:endParaRPr lang="en-US" sz="1600" dirty="0"/>
          </a:p>
        </p:txBody>
      </p:sp>
      <p:sp>
        <p:nvSpPr>
          <p:cNvPr id="5" name="Text 3"/>
          <p:cNvSpPr txBox="1"/>
          <p:nvPr/>
        </p:nvSpPr>
        <p:spPr>
          <a:xfrm>
            <a:off x="1170432" y="1307592"/>
            <a:ext cx="4818888" cy="502920"/>
          </a:xfrm>
          <a:prstGeom prst="rect">
            <a:avLst/>
          </a:prstGeom>
          <a:noFill/>
          <a:ln/>
        </p:spPr>
        <p:txBody>
          <a:bodyPr wrap="square" lIns="0" tIns="0" rIns="0" bIns="0" rtlCol="0" anchor="ctr"/>
          <a:lstStyle/>
          <a:p>
            <a:pPr indent="0" marL="0">
              <a:buNone/>
            </a:pPr>
            <a:r>
              <a:rPr lang="en-US" sz="2000" b="1" dirty="0">
                <a:solidFill>
                  <a:schemeClr val="accent1"/>
                </a:solidFill>
              </a:rPr>
              <a:t>Zeichenketten mit == statt equals</a:t>
            </a:r>
            <a:endParaRPr lang="en-US" sz="2000" dirty="0"/>
          </a:p>
        </p:txBody>
      </p:sp>
      <p:sp>
        <p:nvSpPr>
          <p:cNvPr id="6" name="Text 4"/>
          <p:cNvSpPr txBox="1"/>
          <p:nvPr/>
        </p:nvSpPr>
        <p:spPr>
          <a:xfrm>
            <a:off x="548640" y="1847088"/>
            <a:ext cx="5440680" cy="438912"/>
          </a:xfrm>
          <a:prstGeom prst="rect">
            <a:avLst/>
          </a:prstGeom>
          <a:noFill/>
          <a:ln/>
        </p:spPr>
        <p:txBody>
          <a:bodyPr wrap="square" lIns="0" tIns="0" rIns="0" bIns="0" rtlCol="0" anchor="ctr"/>
          <a:lstStyle/>
          <a:p>
            <a:pPr indent="0" marL="0">
              <a:buNone/>
            </a:pPr>
            <a:r>
              <a:rPr lang="en-US" sz="1300" b="1" dirty="0">
                <a:solidFill>
                  <a:schemeClr val="accent6"/>
                </a:solidFill>
              </a:rPr>
              <a:t>Vorgabe: </a:t>
            </a:r>
            <a:pPr indent="0" marL="0">
              <a:buNone/>
            </a:pPr>
            <a:r>
              <a:rPr lang="en-US" sz="1300" dirty="0">
                <a:solidFill>
                  <a:schemeClr val="tx1"/>
                </a:solidFill>
              </a:rPr>
              <a:t>istExpress(p: Paket): Wahrheitswert – Sendungsnummern von Expresspaketen beginnen mit "PX-"</a:t>
            </a:r>
            <a:endParaRPr lang="en-US" sz="1300" dirty="0"/>
          </a:p>
        </p:txBody>
      </p:sp>
      <p:sp>
        <p:nvSpPr>
          <p:cNvPr id="7" name="P5 falsch"/>
          <p:cNvSpPr txBox="1"/>
          <p:nvPr/>
        </p:nvSpPr>
        <p:spPr>
          <a:xfrm>
            <a:off x="548640" y="2450592"/>
            <a:ext cx="5440680" cy="778002"/>
          </a:xfrm>
          <a:prstGeom prst="rect">
            <a:avLst/>
          </a:prstGeom>
          <a:solidFill>
            <a:srgbClr val="FAFAFA"/>
          </a:solidFill>
          <a:ln w="25400">
            <a:solidFill>
              <a:schemeClr val="accent4"/>
            </a:solidFill>
          </a:ln>
        </p:spPr>
        <p:txBody>
          <a:bodyPr wrap="square" lIns="164592" tIns="128016" rIns="164592" bIns="128016" rtlCol="0" anchor="t"/>
          <a:lstStyle/>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boolean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istExpress</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Paket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2      </a:t>
            </a:r>
            <a:pPr algn="l" indent="0" marL="0">
              <a:lnSpc>
                <a:spcPts val="13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return</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p</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getNummer</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substring</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(0, 3) ==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"PX-"</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3  }</a:t>
            </a:r>
            <a:endParaRPr lang="en-US" sz="1100" dirty="0"/>
          </a:p>
        </p:txBody>
      </p:sp>
      <p:sp>
        <p:nvSpPr>
          <p:cNvPr id="8" name="Chip"/>
          <p:cNvSpPr txBox="1"/>
          <p:nvPr/>
        </p:nvSpPr>
        <p:spPr>
          <a:xfrm>
            <a:off x="4965192" y="2327148"/>
            <a:ext cx="914400" cy="24688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falsch</a:t>
            </a:r>
            <a:endParaRPr lang="en-US" sz="1200" dirty="0"/>
          </a:p>
        </p:txBody>
      </p:sp>
      <p:sp>
        <p:nvSpPr>
          <p:cNvPr id="9" name="P5 richtig"/>
          <p:cNvSpPr txBox="1"/>
          <p:nvPr/>
        </p:nvSpPr>
        <p:spPr>
          <a:xfrm>
            <a:off x="548640" y="3448050"/>
            <a:ext cx="5440680" cy="1095502"/>
          </a:xfrm>
          <a:prstGeom prst="rect">
            <a:avLst/>
          </a:prstGeom>
          <a:solidFill>
            <a:srgbClr val="FAFAFA"/>
          </a:solidFill>
          <a:ln w="25400">
            <a:solidFill>
              <a:schemeClr val="accent3"/>
            </a:solidFill>
          </a:ln>
        </p:spPr>
        <p:txBody>
          <a:bodyPr wrap="square" lIns="164592" tIns="128016" rIns="164592" bIns="128016" rtlCol="0" anchor="t"/>
          <a:lstStyle/>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boolean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istExpress</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Paket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p</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2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String</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nr</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p</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getNummer</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3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return</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nr</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length</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&gt;= 3</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4             &amp;&amp;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nr</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substring</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(0, 3).</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equals</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"PX-"</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5  }</a:t>
            </a:r>
            <a:endParaRPr lang="en-US" sz="1100" dirty="0"/>
          </a:p>
        </p:txBody>
      </p:sp>
      <p:sp>
        <p:nvSpPr>
          <p:cNvPr id="10" name="Chip"/>
          <p:cNvSpPr txBox="1"/>
          <p:nvPr/>
        </p:nvSpPr>
        <p:spPr>
          <a:xfrm>
            <a:off x="4965192" y="3324606"/>
            <a:ext cx="914400" cy="24688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richtig</a:t>
            </a:r>
            <a:endParaRPr lang="en-US" sz="1200" dirty="0"/>
          </a:p>
        </p:txBody>
      </p:sp>
      <p:sp>
        <p:nvSpPr>
          <p:cNvPr id="11" name="Gegenmassnahme"/>
          <p:cNvSpPr/>
          <p:nvPr/>
        </p:nvSpPr>
        <p:spPr>
          <a:xfrm>
            <a:off x="548640" y="5650992"/>
            <a:ext cx="5440680" cy="502920"/>
          </a:xfrm>
          <a:prstGeom prst="roundRect">
            <a:avLst>
              <a:gd name="adj" fmla="val 21818"/>
            </a:avLst>
          </a:prstGeom>
          <a:solidFill>
            <a:schemeClr val="bg1"/>
          </a:solidFill>
          <a:ln w="25400">
            <a:solidFill>
              <a:schemeClr val="accent2"/>
            </a:solidFill>
            <a:prstDash val="solid"/>
          </a:ln>
        </p:spPr>
      </p:sp>
      <p:sp>
        <p:nvSpPr>
          <p:cNvPr id="12" name="Text 10"/>
          <p:cNvSpPr txBox="1"/>
          <p:nvPr/>
        </p:nvSpPr>
        <p:spPr>
          <a:xfrm>
            <a:off x="749808" y="5650992"/>
            <a:ext cx="507492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Zeichenketten nur mit equals; nur Operationen aus den Ergänzenden Hinweisen.</a:t>
            </a:r>
            <a:endParaRPr lang="en-US" sz="1400" dirty="0"/>
          </a:p>
        </p:txBody>
      </p:sp>
      <p:sp>
        <p:nvSpPr>
          <p:cNvPr id="13" name="Nummer P6"/>
          <p:cNvSpPr txBox="1"/>
          <p:nvPr/>
        </p:nvSpPr>
        <p:spPr>
          <a:xfrm>
            <a:off x="6172200" y="1307592"/>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P6</a:t>
            </a:r>
            <a:endParaRPr lang="en-US" sz="1600" dirty="0"/>
          </a:p>
        </p:txBody>
      </p:sp>
      <p:sp>
        <p:nvSpPr>
          <p:cNvPr id="14" name="Text 12"/>
          <p:cNvSpPr txBox="1"/>
          <p:nvPr/>
        </p:nvSpPr>
        <p:spPr>
          <a:xfrm>
            <a:off x="6793992" y="1307592"/>
            <a:ext cx="4818888" cy="502920"/>
          </a:xfrm>
          <a:prstGeom prst="rect">
            <a:avLst/>
          </a:prstGeom>
          <a:noFill/>
          <a:ln/>
        </p:spPr>
        <p:txBody>
          <a:bodyPr wrap="square" lIns="0" tIns="0" rIns="0" bIns="0" rtlCol="0" anchor="ctr"/>
          <a:lstStyle/>
          <a:p>
            <a:pPr indent="0" marL="0">
              <a:buNone/>
            </a:pPr>
            <a:r>
              <a:rPr lang="en-US" sz="2000" b="1" dirty="0">
                <a:solidFill>
                  <a:schemeClr val="accent1"/>
                </a:solidFill>
              </a:rPr>
              <a:t>Off-by-one</a:t>
            </a:r>
            <a:endParaRPr lang="en-US" sz="2000" dirty="0"/>
          </a:p>
        </p:txBody>
      </p:sp>
      <p:sp>
        <p:nvSpPr>
          <p:cNvPr id="15" name="Text 13"/>
          <p:cNvSpPr txBox="1"/>
          <p:nvPr/>
        </p:nvSpPr>
        <p:spPr>
          <a:xfrm>
            <a:off x="6172200" y="1847088"/>
            <a:ext cx="5440680" cy="438912"/>
          </a:xfrm>
          <a:prstGeom prst="rect">
            <a:avLst/>
          </a:prstGeom>
          <a:noFill/>
          <a:ln/>
        </p:spPr>
        <p:txBody>
          <a:bodyPr wrap="square" lIns="0" tIns="0" rIns="0" bIns="0" rtlCol="0" anchor="ctr"/>
          <a:lstStyle/>
          <a:p>
            <a:pPr indent="0" marL="0">
              <a:buNone/>
            </a:pPr>
            <a:r>
              <a:rPr lang="en-US" sz="1300" b="1" dirty="0">
                <a:solidFill>
                  <a:schemeClr val="accent6"/>
                </a:solidFill>
              </a:rPr>
              <a:t>Vorgabe: </a:t>
            </a:r>
            <a:pPr indent="0" marL="0">
              <a:buNone/>
            </a:pPr>
            <a:r>
              <a:rPr lang="en-US" sz="1300" dirty="0">
                <a:solidFill>
                  <a:schemeClr val="tx1"/>
                </a:solidFill>
              </a:rPr>
              <a:t>freiAb(start: Ganzzahl): Ganzzahl – Nummer des ersten freien Fachs ab Index start (start ≥ 0), sonst −1</a:t>
            </a:r>
            <a:endParaRPr lang="en-US" sz="1300" dirty="0"/>
          </a:p>
        </p:txBody>
      </p:sp>
      <p:sp>
        <p:nvSpPr>
          <p:cNvPr id="16" name="P6 falsch"/>
          <p:cNvSpPr txBox="1"/>
          <p:nvPr/>
        </p:nvSpPr>
        <p:spPr>
          <a:xfrm>
            <a:off x="6172200" y="2450592"/>
            <a:ext cx="5440680" cy="1730502"/>
          </a:xfrm>
          <a:prstGeom prst="rect">
            <a:avLst/>
          </a:prstGeom>
          <a:solidFill>
            <a:srgbClr val="FAFAFA"/>
          </a:solidFill>
          <a:ln w="25400">
            <a:solidFill>
              <a:schemeClr val="accent4"/>
            </a:solidFill>
          </a:ln>
        </p:spPr>
        <p:txBody>
          <a:bodyPr wrap="square" lIns="164592" tIns="128016" rIns="164592" bIns="128016" rtlCol="0" anchor="t"/>
          <a:lstStyle/>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freiAb</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start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2      </a:t>
            </a:r>
            <a:pPr algn="l" indent="0" marL="0">
              <a:lnSpc>
                <a:spcPts val="13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for</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int</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i</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start</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i</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&lt;=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faecher</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getLength</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i</a:t>
            </a:r>
            <a:pPr algn="l" indent="0" marL="0">
              <a:lnSpc>
                <a:spcPts val="13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3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Fach</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Fach</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faecher</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getItem</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4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istFrei</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5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f</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getNummer</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6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7      }</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8      </a:t>
            </a:r>
            <a:pPr algn="l" indent="0" marL="0">
              <a:lnSpc>
                <a:spcPts val="13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 -1;</a:t>
            </a:r>
            <a:endParaRPr lang="en-US" sz="1100" dirty="0"/>
          </a:p>
          <a:p>
            <a:pPr algn="l" indent="0" marL="0">
              <a:lnSpc>
                <a:spcPts val="1300"/>
              </a:lnSpc>
              <a:buNone/>
            </a:pPr>
            <a:r>
              <a:rPr lang="en-US" sz="1100" dirty="0">
                <a:solidFill>
                  <a:schemeClr val="tx1"/>
                </a:solidFill>
                <a:latin typeface="Consolas" pitchFamily="34" charset="0"/>
                <a:ea typeface="Consolas" pitchFamily="34" charset="-122"/>
                <a:cs typeface="Consolas" pitchFamily="34" charset="-120"/>
              </a:rPr>
              <a:t>9  }</a:t>
            </a:r>
            <a:endParaRPr lang="en-US" sz="1100" dirty="0"/>
          </a:p>
        </p:txBody>
      </p:sp>
      <p:sp>
        <p:nvSpPr>
          <p:cNvPr id="17" name="Chip"/>
          <p:cNvSpPr txBox="1"/>
          <p:nvPr/>
        </p:nvSpPr>
        <p:spPr>
          <a:xfrm>
            <a:off x="10588752" y="2327148"/>
            <a:ext cx="914400" cy="24688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falsch</a:t>
            </a:r>
            <a:endParaRPr lang="en-US" sz="1200" dirty="0"/>
          </a:p>
        </p:txBody>
      </p:sp>
      <p:sp>
        <p:nvSpPr>
          <p:cNvPr id="18" name="P6 richtig"/>
          <p:cNvSpPr txBox="1"/>
          <p:nvPr/>
        </p:nvSpPr>
        <p:spPr>
          <a:xfrm>
            <a:off x="6172200" y="4400550"/>
            <a:ext cx="5440680" cy="619252"/>
          </a:xfrm>
          <a:prstGeom prst="rect">
            <a:avLst/>
          </a:prstGeom>
          <a:solidFill>
            <a:srgbClr val="FAFAFA"/>
          </a:solidFill>
          <a:ln w="25400">
            <a:solidFill>
              <a:schemeClr val="accent3"/>
            </a:solidFill>
          </a:ln>
        </p:spPr>
        <p:txBody>
          <a:bodyPr wrap="square" lIns="164592" tIns="128016" rIns="164592" bIns="128016" rtlCol="0" anchor="t"/>
          <a:lstStyle/>
          <a:p>
            <a:pPr algn="l" indent="0" marL="0">
              <a:lnSpc>
                <a:spcPts val="1300"/>
              </a:lnSpc>
              <a:buNone/>
            </a:pPr>
            <a:r>
              <a:rPr lang="en-US" sz="1100" i="1" dirty="0">
                <a:solidFill>
                  <a:schemeClr val="accent3"/>
                </a:solidFill>
                <a:latin typeface="Consolas" pitchFamily="34" charset="0"/>
                <a:ea typeface="Consolas" pitchFamily="34" charset="-122"/>
                <a:cs typeface="Consolas" pitchFamily="34" charset="-120"/>
              </a:rPr>
              <a:t>// Zeile 2 ersetzen durch:</a:t>
            </a:r>
            <a:endParaRPr lang="en-US" sz="1100" dirty="0"/>
          </a:p>
          <a:p>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for</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int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i</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start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i</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&lt;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faecher</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getLength</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i</a:t>
            </a:r>
            <a:pPr algn="l" indent="0" marL="0">
              <a:lnSpc>
                <a:spcPts val="13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endParaRPr lang="en-US" sz="1100" dirty="0"/>
          </a:p>
        </p:txBody>
      </p:sp>
      <p:sp>
        <p:nvSpPr>
          <p:cNvPr id="19" name="Chip"/>
          <p:cNvSpPr txBox="1"/>
          <p:nvPr/>
        </p:nvSpPr>
        <p:spPr>
          <a:xfrm>
            <a:off x="10588752" y="4277106"/>
            <a:ext cx="914400" cy="24688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richtig</a:t>
            </a:r>
            <a:endParaRPr lang="en-US" sz="1200" dirty="0"/>
          </a:p>
        </p:txBody>
      </p:sp>
      <p:sp>
        <p:nvSpPr>
          <p:cNvPr id="20" name="Gegenmassnahme"/>
          <p:cNvSpPr/>
          <p:nvPr/>
        </p:nvSpPr>
        <p:spPr>
          <a:xfrm>
            <a:off x="6172200" y="5650992"/>
            <a:ext cx="5440680" cy="502920"/>
          </a:xfrm>
          <a:prstGeom prst="roundRect">
            <a:avLst>
              <a:gd name="adj" fmla="val 21818"/>
            </a:avLst>
          </a:prstGeom>
          <a:solidFill>
            <a:schemeClr val="bg1"/>
          </a:solidFill>
          <a:ln w="25400">
            <a:solidFill>
              <a:schemeClr val="accent2"/>
            </a:solidFill>
            <a:prstDash val="solid"/>
          </a:ln>
        </p:spPr>
      </p:sp>
      <p:sp>
        <p:nvSpPr>
          <p:cNvPr id="21" name="Text 19"/>
          <p:cNvSpPr txBox="1"/>
          <p:nvPr/>
        </p:nvSpPr>
        <p:spPr>
          <a:xfrm>
            <a:off x="6373368" y="5650992"/>
            <a:ext cx="507492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Grenzen mit dem ersten und letzten Index testen – und mit einer leeren/vollen Struktur.</a:t>
            </a:r>
            <a:endParaRPr lang="en-US" sz="1400" dirty="0"/>
          </a:p>
        </p:txBody>
      </p:sp>
      <p:sp>
        <p:nvSpPr>
          <p:cNvPr id="22" name="Text 2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Bug-Hunt P5 · P6</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Bug-Hunt: P7 und P8</a:t>
            </a:r>
            <a:endParaRPr lang="en-US" sz="3600" dirty="0"/>
          </a:p>
        </p:txBody>
      </p:sp>
      <p:sp>
        <p:nvSpPr>
          <p:cNvPr id="3" name="Trenner"/>
          <p:cNvSpPr/>
          <p:nvPr/>
        </p:nvSpPr>
        <p:spPr>
          <a:xfrm>
            <a:off x="5897880" y="1371600"/>
            <a:ext cx="91" cy="4663440"/>
          </a:xfrm>
          <a:prstGeom prst="line">
            <a:avLst/>
          </a:prstGeom>
          <a:noFill/>
          <a:ln w="19050">
            <a:solidFill>
              <a:schemeClr val="bg2"/>
            </a:solidFill>
            <a:prstDash val="solid"/>
          </a:ln>
        </p:spPr>
        <p:txBody>
          <a:bodyPr/>
          <a:p/>
        </p:txBody>
      </p:sp>
      <p:sp>
        <p:nvSpPr>
          <p:cNvPr id="4" name="Nummer P7"/>
          <p:cNvSpPr txBox="1"/>
          <p:nvPr/>
        </p:nvSpPr>
        <p:spPr>
          <a:xfrm>
            <a:off x="548640" y="1307592"/>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P7</a:t>
            </a:r>
            <a:endParaRPr lang="en-US" sz="1600" dirty="0"/>
          </a:p>
        </p:txBody>
      </p:sp>
      <p:sp>
        <p:nvSpPr>
          <p:cNvPr id="5" name="Text 3"/>
          <p:cNvSpPr txBox="1"/>
          <p:nvPr/>
        </p:nvSpPr>
        <p:spPr>
          <a:xfrm>
            <a:off x="1170432" y="1307592"/>
            <a:ext cx="4818888" cy="502920"/>
          </a:xfrm>
          <a:prstGeom prst="rect">
            <a:avLst/>
          </a:prstGeom>
          <a:noFill/>
          <a:ln/>
        </p:spPr>
        <p:txBody>
          <a:bodyPr wrap="square" lIns="0" tIns="0" rIns="0" bIns="0" rtlCol="0" anchor="ctr"/>
          <a:lstStyle/>
          <a:p>
            <a:pPr indent="0" marL="0">
              <a:buNone/>
            </a:pPr>
            <a:r>
              <a:rPr lang="en-US" sz="2000" b="1" dirty="0">
                <a:solidFill>
                  <a:schemeClr val="accent1"/>
                </a:solidFill>
              </a:rPr>
              <a:t>Rekursion</a:t>
            </a:r>
            <a:endParaRPr lang="en-US" sz="2000" dirty="0"/>
          </a:p>
        </p:txBody>
      </p:sp>
      <p:sp>
        <p:nvSpPr>
          <p:cNvPr id="6" name="Text 4"/>
          <p:cNvSpPr txBox="1"/>
          <p:nvPr/>
        </p:nvSpPr>
        <p:spPr>
          <a:xfrm>
            <a:off x="548640" y="1847088"/>
            <a:ext cx="5440680" cy="438912"/>
          </a:xfrm>
          <a:prstGeom prst="rect">
            <a:avLst/>
          </a:prstGeom>
          <a:noFill/>
          <a:ln/>
        </p:spPr>
        <p:txBody>
          <a:bodyPr wrap="square" lIns="0" tIns="0" rIns="0" bIns="0" rtlCol="0" anchor="ctr"/>
          <a:lstStyle/>
          <a:p>
            <a:pPr indent="0" marL="0">
              <a:buNone/>
            </a:pPr>
            <a:r>
              <a:rPr lang="en-US" sz="1300" b="1" dirty="0">
                <a:solidFill>
                  <a:schemeClr val="accent6"/>
                </a:solidFill>
              </a:rPr>
              <a:t>Vorgabe: </a:t>
            </a:r>
            <a:pPr indent="0" marL="0">
              <a:buNone/>
            </a:pPr>
            <a:r>
              <a:rPr lang="en-US" sz="1300" dirty="0">
                <a:solidFill>
                  <a:schemeClr val="tx1"/>
                </a:solidFill>
              </a:rPr>
              <a:t>anzahlZiffern(n: Ganzzahl): Ganzzahl – rekursiv, n ≥ 0, z. B. anzahlZiffern(4127) = 4</a:t>
            </a:r>
            <a:endParaRPr lang="en-US" sz="1300" dirty="0"/>
          </a:p>
        </p:txBody>
      </p:sp>
      <p:sp>
        <p:nvSpPr>
          <p:cNvPr id="7" name="P7 falsch"/>
          <p:cNvSpPr txBox="1"/>
          <p:nvPr/>
        </p:nvSpPr>
        <p:spPr>
          <a:xfrm>
            <a:off x="548640" y="2450592"/>
            <a:ext cx="5440680" cy="1368552"/>
          </a:xfrm>
          <a:prstGeom prst="rect">
            <a:avLst/>
          </a:prstGeom>
          <a:solidFill>
            <a:srgbClr val="FAFAFA"/>
          </a:solidFill>
          <a:ln w="25400">
            <a:solidFill>
              <a:schemeClr val="accent4"/>
            </a:solidFill>
          </a:ln>
        </p:spPr>
        <p:txBody>
          <a:bodyPr wrap="square" lIns="164592" tIns="128016" rIns="164592" bIns="128016" rtlCol="0" anchor="t"/>
          <a:lstStyle/>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static</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anzahlZiffern</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n</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2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n</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&lt; 10) {</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3          </a:t>
            </a:r>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1;</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4      }</a:t>
            </a:r>
            <a:endParaRPr lang="en-US" sz="1100" dirty="0"/>
          </a:p>
          <a:p>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5      </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anzahlZiffern</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n</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 10);</a:t>
            </a:r>
            <a:endParaRPr lang="en-US" sz="1100" dirty="0"/>
          </a:p>
          <a:p>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6      </a:t>
            </a:r>
            <a:pPr algn="l" indent="0" marL="0">
              <a:lnSpc>
                <a:spcPts val="1200"/>
              </a:lnSpc>
              <a:buNone/>
            </a:pPr>
            <a:r>
              <a:rPr lang="en-US" sz="1100" b="1" dirty="0">
                <a:solidFill>
                  <a:schemeClr val="accent1"/>
                </a:solidFill>
                <a:highlight>
                  <a:srgbClr val="FBE5E5"/>
                </a:highlight>
                <a:latin typeface="Consolas" pitchFamily="34" charset="0"/>
                <a:ea typeface="Consolas" pitchFamily="34" charset="-122"/>
                <a:cs typeface="Consolas" pitchFamily="34" charset="-120"/>
              </a:rPr>
              <a:t>return</a:t>
            </a:r>
            <a:pPr algn="l" indent="0" marL="0">
              <a:lnSpc>
                <a:spcPts val="1200"/>
              </a:lnSpc>
              <a:buNone/>
            </a:pPr>
            <a:r>
              <a:rPr lang="en-US" sz="1100" b="1" dirty="0">
                <a:solidFill>
                  <a:schemeClr val="tx1"/>
                </a:solidFill>
                <a:highlight>
                  <a:srgbClr val="FBE5E5"/>
                </a:highlight>
                <a:latin typeface="Consolas" pitchFamily="34" charset="0"/>
                <a:ea typeface="Consolas" pitchFamily="34" charset="-122"/>
                <a:cs typeface="Consolas" pitchFamily="34" charset="-120"/>
              </a:rPr>
              <a:t> 1;</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7  }</a:t>
            </a:r>
            <a:endParaRPr lang="en-US" sz="1100" dirty="0"/>
          </a:p>
        </p:txBody>
      </p:sp>
      <p:sp>
        <p:nvSpPr>
          <p:cNvPr id="8" name="Chip"/>
          <p:cNvSpPr txBox="1"/>
          <p:nvPr/>
        </p:nvSpPr>
        <p:spPr>
          <a:xfrm>
            <a:off x="4965192" y="2327148"/>
            <a:ext cx="914400" cy="24688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falsch</a:t>
            </a:r>
            <a:endParaRPr lang="en-US" sz="1200" dirty="0"/>
          </a:p>
        </p:txBody>
      </p:sp>
      <p:sp>
        <p:nvSpPr>
          <p:cNvPr id="9" name="P7 richtig"/>
          <p:cNvSpPr txBox="1"/>
          <p:nvPr/>
        </p:nvSpPr>
        <p:spPr>
          <a:xfrm>
            <a:off x="548640" y="4038600"/>
            <a:ext cx="5440680" cy="606552"/>
          </a:xfrm>
          <a:prstGeom prst="rect">
            <a:avLst/>
          </a:prstGeom>
          <a:solidFill>
            <a:srgbClr val="FAFAFA"/>
          </a:solidFill>
          <a:ln w="25400">
            <a:solidFill>
              <a:schemeClr val="accent3"/>
            </a:solidFill>
          </a:ln>
        </p:spPr>
        <p:txBody>
          <a:bodyPr wrap="square" lIns="164592" tIns="128016" rIns="164592" bIns="128016" rtlCol="0" anchor="t"/>
          <a:lstStyle/>
          <a:p>
            <a:pPr algn="l" indent="0" marL="0">
              <a:lnSpc>
                <a:spcPts val="1200"/>
              </a:lnSpc>
              <a:buNone/>
            </a:pPr>
            <a:r>
              <a:rPr lang="en-US" sz="1100" i="1" dirty="0">
                <a:solidFill>
                  <a:schemeClr val="accent3"/>
                </a:solidFill>
                <a:latin typeface="Consolas" pitchFamily="34" charset="0"/>
                <a:ea typeface="Consolas" pitchFamily="34" charset="-122"/>
                <a:cs typeface="Consolas" pitchFamily="34" charset="-120"/>
              </a:rPr>
              <a:t>// Zeilen 5–6 ersetzen durch:</a:t>
            </a:r>
            <a:endParaRPr lang="en-US" sz="1100" dirty="0"/>
          </a:p>
          <a:p>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a:t>
            </a:r>
            <a:pPr algn="l" indent="0" marL="0">
              <a:lnSpc>
                <a:spcPts val="1200"/>
              </a:lnSpc>
              <a:buNone/>
            </a:pPr>
            <a:r>
              <a:rPr lang="en-US" sz="1100" b="1" dirty="0">
                <a:solidFill>
                  <a:schemeClr val="accent1"/>
                </a:solidFill>
                <a:highlight>
                  <a:srgbClr val="E2EFDA"/>
                </a:highlight>
                <a:latin typeface="Consolas" pitchFamily="34" charset="0"/>
                <a:ea typeface="Consolas" pitchFamily="34" charset="-122"/>
                <a:cs typeface="Consolas" pitchFamily="34" charset="-120"/>
              </a:rPr>
              <a:t>return</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1 + </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anzahlZiffern</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n</a:t>
            </a:r>
            <a:pPr algn="l" indent="0" marL="0">
              <a:lnSpc>
                <a:spcPts val="1200"/>
              </a:lnSpc>
              <a:buNone/>
            </a:pPr>
            <a:r>
              <a:rPr lang="en-US" sz="1100" b="1" dirty="0">
                <a:solidFill>
                  <a:schemeClr val="tx1"/>
                </a:solidFill>
                <a:highlight>
                  <a:srgbClr val="E2EFDA"/>
                </a:highlight>
                <a:latin typeface="Consolas" pitchFamily="34" charset="0"/>
                <a:ea typeface="Consolas" pitchFamily="34" charset="-122"/>
                <a:cs typeface="Consolas" pitchFamily="34" charset="-120"/>
              </a:rPr>
              <a:t> / 10);</a:t>
            </a:r>
            <a:endParaRPr lang="en-US" sz="1100" dirty="0"/>
          </a:p>
        </p:txBody>
      </p:sp>
      <p:sp>
        <p:nvSpPr>
          <p:cNvPr id="10" name="Chip"/>
          <p:cNvSpPr txBox="1"/>
          <p:nvPr/>
        </p:nvSpPr>
        <p:spPr>
          <a:xfrm>
            <a:off x="4965192" y="3915156"/>
            <a:ext cx="914400" cy="24688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richtig</a:t>
            </a:r>
            <a:endParaRPr lang="en-US" sz="1200" dirty="0"/>
          </a:p>
        </p:txBody>
      </p:sp>
      <p:graphicFrame>
        <p:nvGraphicFramePr>
          <p:cNvPr id="16" name="Rekursionstabelle P7"/>
          <p:cNvGraphicFramePr>
            <a:graphicFrameLocks noGrp="1"/>
          </p:cNvGraphicFramePr>
          <p:nvPr>
            <p:extLst>
              <p:ext uri="{D42A27DB-BD31-4B8C-83A1-F6EECF244321}">
                <p14:modId xmlns:p14="http://schemas.microsoft.com/office/powerpoint/2010/main" val="1579011935"/>
              </p:ext>
            </p:extLst>
          </p:nvPr>
        </p:nvGraphicFramePr>
        <p:xfrm>
          <a:off x="548640" y="4736592"/>
          <a:ext cx="5440680" cy="914400"/>
        </p:xfrm>
        <a:graphic>
          <a:graphicData uri="http://schemas.openxmlformats.org/drawingml/2006/table">
            <a:tbl>
              <a:tblPr/>
              <a:tblGrid>
                <a:gridCol w="1417320"/>
                <a:gridCol w="1005840"/>
                <a:gridCol w="1005840"/>
                <a:gridCol w="1005840"/>
                <a:gridCol w="1005840"/>
              </a:tblGrid>
              <a:tr h="228600">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Rekursionstiefe</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28600">
                <a:tc>
                  <a:txBody>
                    <a:bodyPr/>
                    <a:lstStyle/>
                    <a:p>
                      <a:pPr algn="l" indent="0" marL="0">
                        <a:buNone/>
                      </a:pPr>
                      <a:r>
                        <a:rPr lang="en-US" sz="1300" b="1" dirty="0">
                          <a:solidFill>
                            <a:schemeClr val="accent1"/>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4127</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412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28600">
                <a:tc>
                  <a:txBody>
                    <a:bodyPr/>
                    <a:lstStyle/>
                    <a:p>
                      <a:pPr algn="l" indent="0" marL="0">
                        <a:buNone/>
                      </a:pPr>
                      <a:r>
                        <a:rPr lang="en-US" sz="1300" b="1" dirty="0">
                          <a:solidFill>
                            <a:schemeClr val="accent1"/>
                          </a:solidFill>
                          <a:latin typeface="Calibri" pitchFamily="34" charset="0"/>
                          <a:ea typeface="Calibri" pitchFamily="34" charset="-122"/>
                          <a:cs typeface="Calibri" pitchFamily="34" charset="-120"/>
                        </a:rPr>
                        <a:t>Rückgabe</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2" name="Text 9"/>
          <p:cNvSpPr txBox="1"/>
          <p:nvPr/>
        </p:nvSpPr>
        <p:spPr>
          <a:xfrm>
            <a:off x="3977640" y="4148328"/>
            <a:ext cx="1828800" cy="274320"/>
          </a:xfrm>
          <a:prstGeom prst="rect">
            <a:avLst/>
          </a:prstGeom>
          <a:noFill/>
          <a:ln/>
        </p:spPr>
        <p:txBody>
          <a:bodyPr wrap="square" lIns="0" tIns="0" rIns="0" bIns="0" rtlCol="0" anchor="t"/>
          <a:lstStyle/>
          <a:p>
            <a:pPr algn="r" indent="0" marL="0">
              <a:buNone/>
            </a:pPr>
            <a:r>
              <a:rPr lang="en-US" sz="1200" b="1" dirty="0">
                <a:solidFill>
                  <a:schemeClr val="accent4"/>
                </a:solidFill>
              </a:rPr>
              <a:t>Erstaufruf = Tiefe 0</a:t>
            </a:r>
            <a:endParaRPr lang="en-US" sz="1200" dirty="0"/>
          </a:p>
        </p:txBody>
      </p:sp>
      <p:sp>
        <p:nvSpPr>
          <p:cNvPr id="13" name="Gegenmassnahme"/>
          <p:cNvSpPr/>
          <p:nvPr/>
        </p:nvSpPr>
        <p:spPr>
          <a:xfrm>
            <a:off x="548640" y="5650992"/>
            <a:ext cx="5440680" cy="502920"/>
          </a:xfrm>
          <a:prstGeom prst="roundRect">
            <a:avLst>
              <a:gd name="adj" fmla="val 21818"/>
            </a:avLst>
          </a:prstGeom>
          <a:solidFill>
            <a:schemeClr val="bg1"/>
          </a:solidFill>
          <a:ln w="25400">
            <a:solidFill>
              <a:schemeClr val="accent2"/>
            </a:solidFill>
            <a:prstDash val="solid"/>
          </a:ln>
        </p:spPr>
        <p:txBody>
          <a:bodyPr/>
          <a:p/>
        </p:txBody>
      </p:sp>
      <p:sp>
        <p:nvSpPr>
          <p:cNvPr id="14" name="Text 11"/>
          <p:cNvSpPr txBox="1"/>
          <p:nvPr/>
        </p:nvSpPr>
        <p:spPr>
          <a:xfrm>
            <a:off x="749808" y="5650992"/>
            <a:ext cx="507492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Basisfall zuerst; Ergebnis des Aufrufs verwenden; Tabelle mit Tiefe 0 beginnen.</a:t>
            </a:r>
            <a:endParaRPr lang="en-US" sz="1400" dirty="0"/>
          </a:p>
        </p:txBody>
      </p:sp>
      <p:sp>
        <p:nvSpPr>
          <p:cNvPr id="15" name="Nummer P8"/>
          <p:cNvSpPr txBox="1"/>
          <p:nvPr/>
        </p:nvSpPr>
        <p:spPr>
          <a:xfrm>
            <a:off x="6172200" y="1307592"/>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P8</a:t>
            </a:r>
            <a:endParaRPr lang="en-US" sz="1600" dirty="0"/>
          </a:p>
        </p:txBody>
      </p:sp>
      <p:sp>
        <p:nvSpPr>
          <p:cNvPr id="16" name="Text 13"/>
          <p:cNvSpPr txBox="1"/>
          <p:nvPr/>
        </p:nvSpPr>
        <p:spPr>
          <a:xfrm>
            <a:off x="6793992" y="1307592"/>
            <a:ext cx="4818888" cy="502920"/>
          </a:xfrm>
          <a:prstGeom prst="rect">
            <a:avLst/>
          </a:prstGeom>
          <a:noFill/>
          <a:ln/>
        </p:spPr>
        <p:txBody>
          <a:bodyPr wrap="square" lIns="0" tIns="0" rIns="0" bIns="0" rtlCol="0" anchor="ctr"/>
          <a:lstStyle/>
          <a:p>
            <a:pPr indent="0" marL="0">
              <a:buNone/>
            </a:pPr>
            <a:r>
              <a:rPr lang="en-US" sz="2000" b="1" dirty="0">
                <a:solidFill>
                  <a:schemeClr val="accent1"/>
                </a:solidFill>
              </a:rPr>
              <a:t>Trace-/Dokumentationstabelle</a:t>
            </a:r>
            <a:endParaRPr lang="en-US" sz="2000" dirty="0"/>
          </a:p>
        </p:txBody>
      </p:sp>
      <p:sp>
        <p:nvSpPr>
          <p:cNvPr id="17" name="Text 14"/>
          <p:cNvSpPr txBox="1"/>
          <p:nvPr/>
        </p:nvSpPr>
        <p:spPr>
          <a:xfrm>
            <a:off x="6172200" y="1847088"/>
            <a:ext cx="5440680" cy="438912"/>
          </a:xfrm>
          <a:prstGeom prst="rect">
            <a:avLst/>
          </a:prstGeom>
          <a:noFill/>
          <a:ln/>
        </p:spPr>
        <p:txBody>
          <a:bodyPr wrap="square" lIns="0" tIns="0" rIns="0" bIns="0" rtlCol="0" anchor="ctr"/>
          <a:lstStyle/>
          <a:p>
            <a:pPr indent="0" marL="0">
              <a:buNone/>
            </a:pPr>
            <a:r>
              <a:rPr lang="en-US" sz="1300" b="1" dirty="0">
                <a:solidFill>
                  <a:schemeClr val="accent6"/>
                </a:solidFill>
              </a:rPr>
              <a:t>Vorgabe: </a:t>
            </a:r>
            <a:pPr indent="0" marL="0">
              <a:buNone/>
            </a:pPr>
            <a:r>
              <a:rPr lang="en-US" sz="1300" dirty="0">
                <a:solidFill>
                  <a:schemeClr val="tx1"/>
                </a:solidFill>
              </a:rPr>
              <a:t>Tracetabelle nur mit Variablen – je eine Zeile an jeder Stelle „// → Tabellenzeile“ (Start, je Durchlauf, Ende).</a:t>
            </a:r>
            <a:endParaRPr lang="en-US" sz="1300" dirty="0"/>
          </a:p>
        </p:txBody>
      </p:sp>
      <p:sp>
        <p:nvSpPr>
          <p:cNvPr id="18" name="P8 Code"/>
          <p:cNvSpPr txBox="1"/>
          <p:nvPr/>
        </p:nvSpPr>
        <p:spPr>
          <a:xfrm>
            <a:off x="6172200" y="2377440"/>
            <a:ext cx="5440680" cy="13685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vol</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 {2, 3, 1, 3, 2};</a:t>
            </a:r>
            <a:endParaRPr lang="en-US" sz="1100" dirty="0"/>
          </a:p>
          <a:p>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platz</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 6;</a:t>
            </a:r>
            <a:endParaRPr lang="en-US" sz="1100" dirty="0"/>
          </a:p>
          <a:p>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 0;</a:t>
            </a:r>
            <a:r>
              <a:rPr lang="en-US" sz="1100" dirty="0" i="1">
                <a:solidFill>
                  <a:schemeClr val="accent3"/>
                </a:solidFill>
                <a:latin typeface="Consolas" pitchFamily="34" charset="0"/>
                <a:ea typeface="Consolas" pitchFamily="34" charset="-122"/>
                <a:cs typeface="Consolas" pitchFamily="34" charset="-120"/>
              </a:rPr>
              <a:t>   // → Tabellenzeile (Startwerte)</a:t>
            </a:r>
            <a:endParaRPr lang="en-US" sz="1100" dirty="0"/>
          </a:p>
          <a:p>
            <a:pPr algn="l" indent="0" marL="0">
              <a:lnSpc>
                <a:spcPts val="1200"/>
              </a:lnSpc>
              <a:buNone/>
            </a:pPr>
            <a:r>
              <a:rPr lang="en-US" sz="1100" b="1" dirty="0">
                <a:solidFill>
                  <a:schemeClr val="accent1"/>
                </a:solidFill>
                <a:latin typeface="Consolas" pitchFamily="34" charset="0"/>
                <a:ea typeface="Consolas" pitchFamily="34" charset="-122"/>
                <a:cs typeface="Consolas" pitchFamily="34" charset="-120"/>
              </a:rPr>
              <a:t>while</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&lt;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vol</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length</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&amp;&amp;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vol</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&lt;=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platz</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platz</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platz</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vol</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t>
            </a:r>
            <a:r>
              <a:rPr lang="en-US" sz="1100" dirty="0" i="1">
                <a:solidFill>
                  <a:schemeClr val="accent3"/>
                </a:solidFill>
                <a:latin typeface="Consolas" pitchFamily="34" charset="0"/>
                <a:ea typeface="Consolas" pitchFamily="34" charset="-122"/>
                <a:cs typeface="Consolas" pitchFamily="34" charset="-120"/>
              </a:rPr>
              <a:t>   // → Tabellenzeile</a:t>
            </a:r>
            <a:endParaRPr lang="en-US" sz="1100" dirty="0"/>
          </a:p>
          <a:p>
            <a:pPr algn="l" indent="0" marL="0">
              <a:lnSpc>
                <a:spcPts val="1200"/>
              </a:lnSpc>
              <a:buNone/>
            </a:pPr>
            <a:r>
              <a:rPr lang="en-US" sz="1100" dirty="0">
                <a:solidFill>
                  <a:schemeClr val="tx1"/>
                </a:solidFill>
                <a:latin typeface="Consolas" pitchFamily="34" charset="0"/>
                <a:ea typeface="Consolas" pitchFamily="34" charset="-122"/>
                <a:cs typeface="Consolas" pitchFamily="34" charset="-120"/>
              </a:rPr>
              <a:t>}</a:t>
            </a:r>
            <a:r>
              <a:rPr lang="en-US" sz="1100" dirty="0" i="1">
                <a:solidFill>
                  <a:schemeClr val="accent3"/>
                </a:solidFill>
                <a:latin typeface="Consolas" pitchFamily="34" charset="0"/>
                <a:ea typeface="Consolas" pitchFamily="34" charset="-122"/>
                <a:cs typeface="Consolas" pitchFamily="34" charset="-120"/>
              </a:rPr>
              <a:t>   // → Tabellenzeile (Endwerte)</a:t>
            </a:r>
            <a:endParaRPr lang="en-US" sz="1100" dirty="0"/>
          </a:p>
        </p:txBody>
      </p:sp>
      <p:graphicFrame>
        <p:nvGraphicFramePr>
          <p:cNvPr id="31" name="P8 falsch"/>
          <p:cNvGraphicFramePr>
            <a:graphicFrameLocks noGrp="1"/>
          </p:cNvGraphicFramePr>
          <p:nvPr>
            <p:extLst>
              <p:ext uri="{D42A27DB-BD31-4B8C-83A1-F6EECF244321}">
                <p14:modId xmlns:p14="http://schemas.microsoft.com/office/powerpoint/2010/main" val="1579011935"/>
              </p:ext>
            </p:extLst>
          </p:nvPr>
        </p:nvGraphicFramePr>
        <p:xfrm>
          <a:off x="6172200" y="4047744"/>
          <a:ext cx="2651760" cy="914400"/>
        </p:xfrm>
        <a:graphic>
          <a:graphicData uri="http://schemas.openxmlformats.org/drawingml/2006/table">
            <a:tbl>
              <a:tblPr/>
              <a:tblGrid>
                <a:gridCol w="658368"/>
                <a:gridCol w="768096"/>
                <a:gridCol w="640080"/>
                <a:gridCol w="585216"/>
              </a:tblGrid>
              <a:tr h="228600">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Lauf</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vol[i]</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platz</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i</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228600">
                <a:tc gridSpan="4">
                  <a:txBody>
                    <a:bodyPr/>
                    <a:lstStyle/>
                    <a:p>
                      <a:pPr algn="ctr" indent="0" marL="0">
                        <a:buNone/>
                      </a:pPr>
                      <a:r>
                        <a:rPr lang="en-US" sz="1200" b="1" i="1" dirty="0">
                          <a:solidFill>
                            <a:schemeClr val="accent4"/>
                          </a:solidFill>
                          <a:latin typeface="Calibri" pitchFamily="34" charset="0"/>
                          <a:ea typeface="Calibri" pitchFamily="34" charset="-122"/>
                          <a:cs typeface="Calibri" pitchFamily="34" charset="-120"/>
                        </a:rPr>
                        <a:t>Startzeile fehlt</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hMerge="1">
                  <a:tcPr/>
                </a:tc>
                <a:tc hMerge="1">
                  <a:tcPr/>
                </a:tc>
                <a:tc hMerge="1">
                  <a:tcPr/>
                </a:tc>
              </a:tr>
              <a:tr h="228600">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28600">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28600">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r>
              <a:tr h="228600">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r>
            </a:tbl>
          </a:graphicData>
        </a:graphic>
      </p:graphicFrame>
      <p:graphicFrame>
        <p:nvGraphicFramePr>
          <p:cNvPr id="46" name="P8 richtig"/>
          <p:cNvGraphicFramePr>
            <a:graphicFrameLocks noGrp="1"/>
          </p:cNvGraphicFramePr>
          <p:nvPr>
            <p:extLst>
              <p:ext uri="{D42A27DB-BD31-4B8C-83A1-F6EECF244321}">
                <p14:modId xmlns:p14="http://schemas.microsoft.com/office/powerpoint/2010/main" val="1579011935"/>
              </p:ext>
            </p:extLst>
          </p:nvPr>
        </p:nvGraphicFramePr>
        <p:xfrm>
          <a:off x="8961120" y="4047744"/>
          <a:ext cx="2651760" cy="914400"/>
        </p:xfrm>
        <a:graphic>
          <a:graphicData uri="http://schemas.openxmlformats.org/drawingml/2006/table">
            <a:tbl>
              <a:tblPr/>
              <a:tblGrid>
                <a:gridCol w="658368"/>
                <a:gridCol w="768096"/>
                <a:gridCol w="640080"/>
                <a:gridCol w="585216"/>
              </a:tblGrid>
              <a:tr h="228600">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Lauf</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vol[i]</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platz</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i</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228600">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vor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r>
              <a:tr h="228600">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28600">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28600">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28600">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Ende</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200" b="1" dirty="0">
                          <a:solidFill>
                            <a:schemeClr val="accent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r>
            </a:tbl>
          </a:graphicData>
        </a:graphic>
      </p:graphicFrame>
      <p:sp>
        <p:nvSpPr>
          <p:cNvPr id="21" name="Chip"/>
          <p:cNvSpPr txBox="1"/>
          <p:nvPr/>
        </p:nvSpPr>
        <p:spPr>
          <a:xfrm>
            <a:off x="7909560" y="3764280"/>
            <a:ext cx="914400" cy="24688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falsch</a:t>
            </a:r>
            <a:endParaRPr lang="en-US" sz="1200" dirty="0"/>
          </a:p>
        </p:txBody>
      </p:sp>
      <p:sp>
        <p:nvSpPr>
          <p:cNvPr id="22" name="Chip"/>
          <p:cNvSpPr txBox="1"/>
          <p:nvPr/>
        </p:nvSpPr>
        <p:spPr>
          <a:xfrm>
            <a:off x="10698480" y="3764280"/>
            <a:ext cx="914400" cy="24688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richtig</a:t>
            </a:r>
            <a:endParaRPr lang="en-US" sz="1200" dirty="0"/>
          </a:p>
        </p:txBody>
      </p:sp>
      <p:sp>
        <p:nvSpPr>
          <p:cNvPr id="23" name="Gegenmassnahme"/>
          <p:cNvSpPr/>
          <p:nvPr/>
        </p:nvSpPr>
        <p:spPr>
          <a:xfrm>
            <a:off x="6172200" y="5650992"/>
            <a:ext cx="5440680" cy="502920"/>
          </a:xfrm>
          <a:prstGeom prst="roundRect">
            <a:avLst>
              <a:gd name="adj" fmla="val 21818"/>
            </a:avLst>
          </a:prstGeom>
          <a:solidFill>
            <a:schemeClr val="bg1"/>
          </a:solidFill>
          <a:ln w="25400">
            <a:solidFill>
              <a:schemeClr val="accent2"/>
            </a:solidFill>
            <a:prstDash val="solid"/>
          </a:ln>
        </p:spPr>
        <p:txBody>
          <a:bodyPr/>
          <a:p/>
        </p:txBody>
      </p:sp>
      <p:sp>
        <p:nvSpPr>
          <p:cNvPr id="24" name="Text 19"/>
          <p:cNvSpPr txBox="1"/>
          <p:nvPr/>
        </p:nvSpPr>
        <p:spPr>
          <a:xfrm>
            <a:off x="6373368" y="5650992"/>
            <a:ext cx="507492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nur Variablen, Zeile an jeder markierten Stelle, Abbruch prüfen – genau die vorgegebenen Spalten.</a:t>
            </a:r>
            <a:endParaRPr lang="en-US" sz="1400" dirty="0"/>
          </a:p>
        </p:txBody>
      </p:sp>
      <p:sp>
        <p:nvSpPr>
          <p:cNvPr id="25" name="Text 2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Bug-Hunt P7 · P8</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Bug-Hunt: P9</a:t>
            </a:r>
            <a:endParaRPr lang="en-US" sz="3600" dirty="0"/>
          </a:p>
        </p:txBody>
      </p:sp>
      <p:sp>
        <p:nvSpPr>
          <p:cNvPr id="3" name="Nummer P9"/>
          <p:cNvSpPr txBox="1"/>
          <p:nvPr/>
        </p:nvSpPr>
        <p:spPr>
          <a:xfrm>
            <a:off x="548640" y="1307592"/>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P9</a:t>
            </a:r>
            <a:endParaRPr lang="en-US" sz="1600" dirty="0"/>
          </a:p>
        </p:txBody>
      </p:sp>
      <p:sp>
        <p:nvSpPr>
          <p:cNvPr id="4" name="Text 2"/>
          <p:cNvSpPr txBox="1"/>
          <p:nvPr/>
        </p:nvSpPr>
        <p:spPr>
          <a:xfrm>
            <a:off x="1170432" y="1307592"/>
            <a:ext cx="10442448" cy="502920"/>
          </a:xfrm>
          <a:prstGeom prst="rect">
            <a:avLst/>
          </a:prstGeom>
          <a:noFill/>
          <a:ln/>
        </p:spPr>
        <p:txBody>
          <a:bodyPr wrap="square" lIns="0" tIns="0" rIns="0" bIns="0" rtlCol="0" anchor="ctr"/>
          <a:lstStyle/>
          <a:p>
            <a:pPr indent="0" marL="0">
              <a:buNone/>
            </a:pPr>
            <a:r>
              <a:rPr lang="en-US" sz="2000" b="1" dirty="0">
                <a:solidFill>
                  <a:schemeClr val="accent1"/>
                </a:solidFill>
              </a:rPr>
              <a:t>Struktogramm nicht nach EH §5</a:t>
            </a:r>
            <a:endParaRPr lang="en-US" sz="2000" dirty="0"/>
          </a:p>
        </p:txBody>
      </p:sp>
      <p:sp>
        <p:nvSpPr>
          <p:cNvPr id="5" name="Text 3"/>
          <p:cNvSpPr txBox="1"/>
          <p:nvPr/>
        </p:nvSpPr>
        <p:spPr>
          <a:xfrm>
            <a:off x="548640" y="1847088"/>
            <a:ext cx="11064240" cy="365760"/>
          </a:xfrm>
          <a:prstGeom prst="rect">
            <a:avLst/>
          </a:prstGeom>
          <a:noFill/>
          <a:ln/>
        </p:spPr>
        <p:txBody>
          <a:bodyPr wrap="square" lIns="0" tIns="0" rIns="0" bIns="0" rtlCol="0" anchor="ctr"/>
          <a:lstStyle/>
          <a:p>
            <a:pPr indent="0" marL="0">
              <a:buNone/>
            </a:pPr>
            <a:r>
              <a:rPr lang="en-US" sz="1400" b="1" dirty="0">
                <a:solidFill>
                  <a:schemeClr val="accent6"/>
                </a:solidFill>
              </a:rPr>
              <a:t>Vorgabe: </a:t>
            </a:r>
            <a:pPr indent="0" marL="0">
              <a:buNone/>
            </a:pPr>
            <a:r>
              <a:rPr lang="en-US" sz="1400" dirty="0">
                <a:solidFill>
                  <a:schemeClr val="tx1"/>
                </a:solidFill>
              </a:rPr>
              <a:t>belegtesVolumen(): Ganzzahl – Summe der Volumen aller eingelagerten Pakete. Beide rechnen richtig – nur eine ist ein Struktogramm.</a:t>
            </a:r>
            <a:endParaRPr lang="en-US" sz="1400" dirty="0"/>
          </a:p>
        </p:txBody>
      </p:sp>
      <p:pic>
        <p:nvPicPr>
          <p:cNvPr id="6" name="Struktogramm sg_p9_falsch" descr="Struktogramm sg_p9_falsch">    </p:cNvPr>
          <p:cNvPicPr>
            <a:picLocks noChangeAspect="1"/>
          </p:cNvPicPr>
          <p:nvPr/>
        </p:nvPicPr>
        <p:blipFill>
          <a:blip r:embed="rId1"/>
          <a:stretch>
            <a:fillRect/>
          </a:stretch>
        </p:blipFill>
        <p:spPr>
          <a:xfrm>
            <a:off x="548640" y="2450592"/>
            <a:ext cx="3657600" cy="2395782"/>
          </a:xfrm>
          <a:prstGeom prst="rect">
            <a:avLst/>
          </a:prstGeom>
        </p:spPr>
      </p:pic>
      <p:pic>
        <p:nvPicPr>
          <p:cNvPr id="7" name="Struktogramm sg_p9_richtig" descr="Struktogramm sg_p9_richtig">    </p:cNvPr>
          <p:cNvPicPr>
            <a:picLocks noChangeAspect="1"/>
          </p:cNvPicPr>
          <p:nvPr/>
        </p:nvPicPr>
        <p:blipFill>
          <a:blip r:embed="rId2"/>
          <a:stretch>
            <a:fillRect/>
          </a:stretch>
        </p:blipFill>
        <p:spPr>
          <a:xfrm>
            <a:off x="7955280" y="2450592"/>
            <a:ext cx="3657600" cy="1936775"/>
          </a:xfrm>
          <a:prstGeom prst="rect">
            <a:avLst/>
          </a:prstGeom>
        </p:spPr>
      </p:pic>
      <p:sp>
        <p:nvSpPr>
          <p:cNvPr id="8" name="Chip"/>
          <p:cNvSpPr txBox="1"/>
          <p:nvPr/>
        </p:nvSpPr>
        <p:spPr>
          <a:xfrm>
            <a:off x="3200400" y="2231136"/>
            <a:ext cx="914400" cy="24688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falsch</a:t>
            </a:r>
            <a:endParaRPr lang="en-US" sz="1200" dirty="0"/>
          </a:p>
        </p:txBody>
      </p:sp>
      <p:sp>
        <p:nvSpPr>
          <p:cNvPr id="9" name="Chip"/>
          <p:cNvSpPr txBox="1"/>
          <p:nvPr/>
        </p:nvSpPr>
        <p:spPr>
          <a:xfrm>
            <a:off x="10607040" y="2231136"/>
            <a:ext cx="914400" cy="24688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richtig</a:t>
            </a:r>
            <a:endParaRPr lang="en-US" sz="1200" dirty="0"/>
          </a:p>
        </p:txBody>
      </p:sp>
      <p:sp>
        <p:nvSpPr>
          <p:cNvPr id="10" name="Pfeil P9"/>
          <p:cNvSpPr/>
          <p:nvPr/>
        </p:nvSpPr>
        <p:spPr>
          <a:xfrm>
            <a:off x="4434840" y="3108960"/>
            <a:ext cx="3291840" cy="91"/>
          </a:xfrm>
          <a:prstGeom prst="line">
            <a:avLst/>
          </a:prstGeom>
          <a:noFill/>
          <a:ln w="38100">
            <a:solidFill>
              <a:schemeClr val="accent2"/>
            </a:solidFill>
            <a:prstDash val="solid"/>
            <a:tailEnd type="triangle"/>
          </a:ln>
        </p:spPr>
      </p:sp>
      <p:sp>
        <p:nvSpPr>
          <p:cNvPr id="11" name="Text 7"/>
          <p:cNvSpPr txBox="1"/>
          <p:nvPr/>
        </p:nvSpPr>
        <p:spPr>
          <a:xfrm>
            <a:off x="4434840" y="2697480"/>
            <a:ext cx="3291840" cy="320040"/>
          </a:xfrm>
          <a:prstGeom prst="rect">
            <a:avLst/>
          </a:prstGeom>
          <a:noFill/>
          <a:ln/>
        </p:spPr>
        <p:txBody>
          <a:bodyPr wrap="square" lIns="0" tIns="0" rIns="0" bIns="0" rtlCol="0" anchor="t"/>
          <a:lstStyle/>
          <a:p>
            <a:pPr algn="ctr" indent="0" marL="0">
              <a:buNone/>
            </a:pPr>
            <a:r>
              <a:rPr lang="en-US" sz="1500" b="1" dirty="0">
                <a:solidFill>
                  <a:schemeClr val="accent2"/>
                </a:solidFill>
              </a:rPr>
              <a:t>nach EH §5</a:t>
            </a:r>
            <a:endParaRPr lang="en-US" sz="1500" dirty="0"/>
          </a:p>
        </p:txBody>
      </p:sp>
      <p:sp>
        <p:nvSpPr>
          <p:cNvPr id="12" name="Text 8"/>
          <p:cNvSpPr txBox="1"/>
          <p:nvPr/>
        </p:nvSpPr>
        <p:spPr>
          <a:xfrm>
            <a:off x="4434840" y="3218688"/>
            <a:ext cx="3291840" cy="320040"/>
          </a:xfrm>
          <a:prstGeom prst="rect">
            <a:avLst/>
          </a:prstGeom>
          <a:noFill/>
          <a:ln/>
        </p:spPr>
        <p:txBody>
          <a:bodyPr wrap="square" lIns="0" tIns="0" rIns="0" bIns="0" rtlCol="0" anchor="t"/>
          <a:lstStyle/>
          <a:p>
            <a:pPr algn="ctr" indent="0" marL="0">
              <a:buNone/>
            </a:pPr>
            <a:r>
              <a:rPr lang="en-US" sz="1300" i="1" dirty="0">
                <a:solidFill>
                  <a:schemeClr val="accent6"/>
                </a:solidFill>
              </a:rPr>
              <a:t>sprachunabhängig – kein Java!</a:t>
            </a:r>
            <a:endParaRPr lang="en-US" sz="1300" dirty="0"/>
          </a:p>
        </p:txBody>
      </p:sp>
      <p:graphicFrame>
        <p:nvGraphicFramePr>
          <p:cNvPr id="17" name="P9 Korrekturen"/>
          <p:cNvGraphicFramePr>
            <a:graphicFrameLocks noGrp="1"/>
          </p:cNvGraphicFramePr>
          <p:nvPr>
            <p:extLst>
              <p:ext uri="{D42A27DB-BD31-4B8C-83A1-F6EECF244321}">
                <p14:modId xmlns:p14="http://schemas.microsoft.com/office/powerpoint/2010/main" val="1579011935"/>
              </p:ext>
            </p:extLst>
          </p:nvPr>
        </p:nvGraphicFramePr>
        <p:xfrm>
          <a:off x="4434840" y="4524527"/>
          <a:ext cx="7178040" cy="914400"/>
        </p:xfrm>
        <a:graphic>
          <a:graphicData uri="http://schemas.openxmlformats.org/drawingml/2006/table">
            <a:tbl>
              <a:tblPr/>
              <a:tblGrid>
                <a:gridCol w="1691640"/>
                <a:gridCol w="1965960"/>
                <a:gridCol w="1600200"/>
                <a:gridCol w="1920240"/>
              </a:tblGrid>
              <a:tr h="256032">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Java (falsch)</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nach §5</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Java (falsch)</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nach §5</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256032">
                <a:tc>
                  <a:txBody>
                    <a:bodyPr/>
                    <a:lstStyle/>
                    <a:p>
                      <a:pPr algn="ctr" indent="0" marL="0">
                        <a:buNone/>
                      </a:pPr>
                      <a:r>
                        <a:rPr lang="en-US" sz="1100" dirty="0">
                          <a:solidFill>
                            <a:schemeClr val="accent4"/>
                          </a:solidFill>
                          <a:latin typeface="Consolas" pitchFamily="34" charset="0"/>
                          <a:ea typeface="Consolas" pitchFamily="34" charset="-122"/>
                          <a:cs typeface="Consolas" pitchFamily="34" charset="-120"/>
                        </a:rPr>
                        <a:t>int summe = 0;</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latin typeface="Consolas" pitchFamily="34" charset="0"/>
                          <a:ea typeface="Consolas" pitchFamily="34" charset="-122"/>
                          <a:cs typeface="Consolas" pitchFamily="34" charset="-120"/>
                        </a:rPr>
                        <a:t>summe ← 0</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latin typeface="Consolas" pitchFamily="34" charset="0"/>
                          <a:ea typeface="Consolas" pitchFamily="34" charset="-122"/>
                          <a:cs typeface="Consolas" pitchFamily="34" charset="-120"/>
                        </a:rPr>
                        <a:t>!f.istFrei()</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latin typeface="Consolas" pitchFamily="34" charset="0"/>
                          <a:ea typeface="Consolas" pitchFamily="34" charset="-122"/>
                          <a:cs typeface="Consolas" pitchFamily="34" charset="-120"/>
                        </a:rPr>
                        <a:t>nicht f.istFrei()</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100" dirty="0">
                          <a:solidFill>
                            <a:schemeClr val="accent4"/>
                          </a:solidFill>
                          <a:latin typeface="Consolas" pitchFamily="34" charset="0"/>
                          <a:ea typeface="Consolas" pitchFamily="34" charset="-122"/>
                          <a:cs typeface="Consolas" pitchFamily="34" charset="-120"/>
                        </a:rPr>
                        <a:t>while … i++</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latin typeface="Consolas" pitchFamily="34" charset="0"/>
                          <a:ea typeface="Consolas" pitchFamily="34" charset="-122"/>
                          <a:cs typeface="Consolas" pitchFamily="34" charset="-120"/>
                        </a:rPr>
                        <a:t>für i von 0 bis … − 1</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latin typeface="Consolas" pitchFamily="34" charset="0"/>
                          <a:ea typeface="Consolas" pitchFamily="34" charset="-122"/>
                          <a:cs typeface="Consolas" pitchFamily="34" charset="-120"/>
                        </a:rPr>
                        <a:t>summe += …</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latin typeface="Consolas" pitchFamily="34" charset="0"/>
                          <a:ea typeface="Consolas" pitchFamily="34" charset="-122"/>
                          <a:cs typeface="Consolas" pitchFamily="34" charset="-120"/>
                        </a:rPr>
                        <a:t>summe ← summe + …</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100" dirty="0">
                          <a:solidFill>
                            <a:schemeClr val="accent4"/>
                          </a:solidFill>
                          <a:latin typeface="Consolas" pitchFamily="34" charset="0"/>
                          <a:ea typeface="Consolas" pitchFamily="34" charset="-122"/>
                          <a:cs typeface="Consolas" pitchFamily="34" charset="-120"/>
                        </a:rPr>
                        <a:t>(Fach)-Cast</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latin typeface="Consolas" pitchFamily="34" charset="0"/>
                          <a:ea typeface="Consolas" pitchFamily="34" charset="-122"/>
                          <a:cs typeface="Consolas" pitchFamily="34" charset="-120"/>
                        </a:rPr>
                        <a:t>entfällt</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latin typeface="Consolas" pitchFamily="34" charset="0"/>
                          <a:ea typeface="Consolas" pitchFamily="34" charset="-122"/>
                          <a:cs typeface="Consolas" pitchFamily="34" charset="-120"/>
                        </a:rPr>
                        <a:t>return summe;</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latin typeface="Consolas" pitchFamily="34" charset="0"/>
                          <a:ea typeface="Consolas" pitchFamily="34" charset="-122"/>
                          <a:cs typeface="Consolas" pitchFamily="34" charset="-120"/>
                        </a:rPr>
                        <a:t>gib summe zurück</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4" name="Gegenmassnahme"/>
          <p:cNvSpPr/>
          <p:nvPr/>
        </p:nvSpPr>
        <p:spPr>
          <a:xfrm>
            <a:off x="548640" y="5650992"/>
            <a:ext cx="11064240" cy="502920"/>
          </a:xfrm>
          <a:prstGeom prst="roundRect">
            <a:avLst>
              <a:gd name="adj" fmla="val 21818"/>
            </a:avLst>
          </a:prstGeom>
          <a:solidFill>
            <a:schemeClr val="bg1"/>
          </a:solidFill>
          <a:ln w="25400">
            <a:solidFill>
              <a:schemeClr val="accent2"/>
            </a:solidFill>
            <a:prstDash val="solid"/>
          </a:ln>
        </p:spPr>
      </p:sp>
      <p:sp>
        <p:nvSpPr>
          <p:cNvPr id="15" name="Text 10"/>
          <p:cNvSpPr txBox="1"/>
          <p:nvPr/>
        </p:nvSpPr>
        <p:spPr>
          <a:xfrm>
            <a:off x="749808" y="5650992"/>
            <a:ext cx="1069848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Nach dem Zeichnen jede Zeile prüfen: ←? „gib … zurück“? „für“/„solange“? „nicht“? Steht irgendwo ; == ++ &amp;&amp; oder ein Cast?</a:t>
            </a:r>
            <a:endParaRPr lang="en-US" sz="1400" dirty="0"/>
          </a:p>
        </p:txBody>
      </p:sp>
      <p:sp>
        <p:nvSpPr>
          <p:cNvPr id="16" name="Text 11"/>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Bug-Hunt P9</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Bug-Hunt: P10</a:t>
            </a:r>
            <a:endParaRPr lang="en-US" sz="3600" dirty="0"/>
          </a:p>
        </p:txBody>
      </p:sp>
      <p:sp>
        <p:nvSpPr>
          <p:cNvPr id="3" name="Nummer P10"/>
          <p:cNvSpPr txBox="1"/>
          <p:nvPr/>
        </p:nvSpPr>
        <p:spPr>
          <a:xfrm>
            <a:off x="548640" y="1307592"/>
            <a:ext cx="502920" cy="50292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P10</a:t>
            </a:r>
            <a:endParaRPr lang="en-US" sz="1400" dirty="0"/>
          </a:p>
        </p:txBody>
      </p:sp>
      <p:sp>
        <p:nvSpPr>
          <p:cNvPr id="4" name="Text 2"/>
          <p:cNvSpPr txBox="1"/>
          <p:nvPr/>
        </p:nvSpPr>
        <p:spPr>
          <a:xfrm>
            <a:off x="1170432" y="1307592"/>
            <a:ext cx="4818888" cy="502920"/>
          </a:xfrm>
          <a:prstGeom prst="rect">
            <a:avLst/>
          </a:prstGeom>
          <a:noFill/>
          <a:ln/>
        </p:spPr>
        <p:txBody>
          <a:bodyPr wrap="square" lIns="0" tIns="0" rIns="0" bIns="0" rtlCol="0" anchor="ctr"/>
          <a:lstStyle/>
          <a:p>
            <a:pPr indent="0" marL="0">
              <a:buNone/>
            </a:pPr>
            <a:r>
              <a:rPr lang="en-US" sz="2000" b="1" dirty="0">
                <a:solidFill>
                  <a:schemeClr val="accent1"/>
                </a:solidFill>
              </a:rPr>
              <a:t>Operator verfehlt</a:t>
            </a:r>
            <a:endParaRPr lang="en-US" sz="2000" dirty="0"/>
          </a:p>
        </p:txBody>
      </p:sp>
      <p:sp>
        <p:nvSpPr>
          <p:cNvPr id="5" name="Text 3"/>
          <p:cNvSpPr txBox="1"/>
          <p:nvPr/>
        </p:nvSpPr>
        <p:spPr>
          <a:xfrm>
            <a:off x="548640" y="1847088"/>
            <a:ext cx="5440680" cy="566928"/>
          </a:xfrm>
          <a:prstGeom prst="rect">
            <a:avLst/>
          </a:prstGeom>
          <a:noFill/>
          <a:ln/>
        </p:spPr>
        <p:txBody>
          <a:bodyPr wrap="square" lIns="0" tIns="0" rIns="0" bIns="0" rtlCol="0" anchor="ctr"/>
          <a:lstStyle/>
          <a:p>
            <a:pPr indent="0" marL="0">
              <a:buNone/>
            </a:pPr>
            <a:r>
              <a:rPr lang="en-US" sz="1500" b="1" dirty="0">
                <a:solidFill>
                  <a:schemeClr val="accent6"/>
                </a:solidFill>
              </a:rPr>
              <a:t>Aufgabe: </a:t>
            </a:r>
            <a:pPr indent="0" marL="0">
              <a:buNone/>
            </a:pPr>
            <a:r>
              <a:rPr lang="en-US" sz="1500" dirty="0">
                <a:solidFill>
                  <a:schemeClr val="tx1"/>
                </a:solidFill>
              </a:rPr>
              <a:t>Begründen Sie, dass naechsteGroesse auch bei leerer Schlange keinen Laufzeitfehler verursacht. </a:t>
            </a:r>
            <a:pPr indent="0" marL="0">
              <a:buNone/>
            </a:pPr>
            <a:r>
              <a:rPr lang="en-US" sz="1500" b="1" dirty="0">
                <a:solidFill>
                  <a:schemeClr val="accent1"/>
                </a:solidFill>
              </a:rPr>
              <a:t>[2 BE]</a:t>
            </a:r>
            <a:endParaRPr lang="en-US" sz="1500" dirty="0"/>
          </a:p>
        </p:txBody>
      </p:sp>
      <p:sp>
        <p:nvSpPr>
          <p:cNvPr id="6" name="P10 Code"/>
          <p:cNvSpPr txBox="1"/>
          <p:nvPr/>
        </p:nvSpPr>
        <p:spPr>
          <a:xfrm>
            <a:off x="548640" y="2514600"/>
            <a:ext cx="5440680" cy="1635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char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naechsteGroesse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2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auftraege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isEmpty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3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4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5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Paket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Paket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auftraege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head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6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getGroesse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7  }</a:t>
            </a:r>
            <a:endParaRPr lang="en-US" sz="1200" dirty="0"/>
          </a:p>
        </p:txBody>
      </p:sp>
      <p:sp>
        <p:nvSpPr>
          <p:cNvPr id="7" name="Text 5"/>
          <p:cNvSpPr txBox="1"/>
          <p:nvPr/>
        </p:nvSpPr>
        <p:spPr>
          <a:xfrm>
            <a:off x="548640" y="4160520"/>
            <a:ext cx="5440680" cy="310896"/>
          </a:xfrm>
          <a:prstGeom prst="rect">
            <a:avLst/>
          </a:prstGeom>
          <a:noFill/>
          <a:ln/>
        </p:spPr>
        <p:txBody>
          <a:bodyPr wrap="square" lIns="0" tIns="0" rIns="0" bIns="0" rtlCol="0" anchor="t"/>
          <a:lstStyle/>
          <a:p>
            <a:pPr indent="0" marL="0">
              <a:buNone/>
            </a:pPr>
            <a:r>
              <a:rPr lang="en-US" sz="1700" b="1" dirty="0">
                <a:solidFill>
                  <a:schemeClr val="accent1"/>
                </a:solidFill>
              </a:rPr>
              <a:t>Operator-Check</a:t>
            </a:r>
            <a:endParaRPr lang="en-US" sz="1700" dirty="0"/>
          </a:p>
        </p:txBody>
      </p:sp>
      <p:sp>
        <p:nvSpPr>
          <p:cNvPr id="8" name="Text 6"/>
          <p:cNvSpPr txBox="1"/>
          <p:nvPr/>
        </p:nvSpPr>
        <p:spPr>
          <a:xfrm>
            <a:off x="548640" y="4498848"/>
            <a:ext cx="5440680" cy="1005840"/>
          </a:xfrm>
          <a:prstGeom prst="rect">
            <a:avLst/>
          </a:prstGeom>
          <a:noFill/>
          <a:ln/>
        </p:spPr>
        <p:txBody>
          <a:bodyPr wrap="square" lIns="0" tIns="0" rIns="0" bIns="0" rtlCol="0" anchor="t"/>
          <a:lstStyle/>
          <a:p>
            <a:pPr indent="0" marL="0">
              <a:buNone/>
            </a:pPr>
            <a:r>
              <a:rPr lang="en-US" sz="1400" b="1" dirty="0">
                <a:solidFill>
                  <a:schemeClr val="accent1"/>
                </a:solidFill>
              </a:rPr>
              <a:t>nennen: </a:t>
            </a:r>
            <a:pPr indent="0" marL="0">
              <a:buNone/>
            </a:pPr>
            <a:r>
              <a:rPr lang="en-US" sz="1400" dirty="0">
                <a:solidFill>
                  <a:schemeClr val="tx1"/>
                </a:solidFill>
              </a:rPr>
              <a:t>Stichwort genügt</a:t>
            </a:r>
            <a:endParaRPr lang="en-US" sz="1400" dirty="0"/>
          </a:p>
          <a:p>
            <a:pPr indent="0" marL="0">
              <a:buNone/>
            </a:pPr>
            <a:r>
              <a:rPr lang="en-US" sz="1400" b="1" dirty="0">
                <a:solidFill>
                  <a:schemeClr val="accent1"/>
                </a:solidFill>
              </a:rPr>
              <a:t>beschreiben: </a:t>
            </a:r>
            <a:pPr indent="0" marL="0">
              <a:buNone/>
            </a:pPr>
            <a:r>
              <a:rPr lang="en-US" sz="1400" dirty="0">
                <a:solidFill>
                  <a:schemeClr val="tx1"/>
                </a:solidFill>
              </a:rPr>
              <a:t>Ablauf in Fachsprache</a:t>
            </a:r>
            <a:endParaRPr lang="en-US" sz="1400" dirty="0"/>
          </a:p>
          <a:p>
            <a:pPr indent="0" marL="0">
              <a:buNone/>
            </a:pPr>
            <a:r>
              <a:rPr lang="en-US" sz="1400" b="1" dirty="0">
                <a:solidFill>
                  <a:schemeClr val="accent1"/>
                </a:solidFill>
              </a:rPr>
              <a:t>erläutern: </a:t>
            </a:r>
            <a:pPr indent="0" marL="0">
              <a:buNone/>
            </a:pPr>
            <a:r>
              <a:rPr lang="en-US" sz="1400" dirty="0">
                <a:solidFill>
                  <a:schemeClr val="tx1"/>
                </a:solidFill>
              </a:rPr>
              <a:t>Wie? Warum? + Beispiel aus dem Material</a:t>
            </a:r>
            <a:endParaRPr lang="en-US" sz="1400" dirty="0"/>
          </a:p>
          <a:p>
            <a:pPr indent="0" marL="0">
              <a:buNone/>
            </a:pPr>
            <a:r>
              <a:rPr lang="en-US" sz="1400" b="1" dirty="0">
                <a:solidFill>
                  <a:schemeClr val="accent2"/>
                </a:solidFill>
              </a:rPr>
              <a:t>begründen: </a:t>
            </a:r>
            <a:pPr indent="0" marL="0">
              <a:buNone/>
            </a:pPr>
            <a:r>
              <a:rPr lang="en-US" sz="1400" dirty="0">
                <a:solidFill>
                  <a:schemeClr val="tx1"/>
                </a:solidFill>
              </a:rPr>
              <a:t>Ursache → Wirkung bis zur Regel</a:t>
            </a:r>
            <a:endParaRPr lang="en-US" sz="1400" dirty="0"/>
          </a:p>
        </p:txBody>
      </p:sp>
      <p:sp>
        <p:nvSpPr>
          <p:cNvPr id="9" name="Antwort 0 BE"/>
          <p:cNvSpPr/>
          <p:nvPr/>
        </p:nvSpPr>
        <p:spPr>
          <a:xfrm>
            <a:off x="6263640" y="1325880"/>
            <a:ext cx="5349240" cy="1005840"/>
          </a:xfrm>
          <a:prstGeom prst="roundRect">
            <a:avLst>
              <a:gd name="adj" fmla="val 10909"/>
            </a:avLst>
          </a:prstGeom>
          <a:solidFill>
            <a:schemeClr val="bg1"/>
          </a:solidFill>
          <a:ln w="25400">
            <a:solidFill>
              <a:schemeClr val="accent4"/>
            </a:solidFill>
            <a:prstDash val="solid"/>
          </a:ln>
        </p:spPr>
      </p:sp>
      <p:sp>
        <p:nvSpPr>
          <p:cNvPr id="10" name="Chip"/>
          <p:cNvSpPr txBox="1"/>
          <p:nvPr/>
        </p:nvSpPr>
        <p:spPr>
          <a:xfrm>
            <a:off x="6400800" y="1435608"/>
            <a:ext cx="777240" cy="310896"/>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bg1"/>
                </a:solidFill>
              </a:rPr>
              <a:t>0 BE</a:t>
            </a:r>
            <a:endParaRPr lang="en-US" sz="1400" dirty="0"/>
          </a:p>
        </p:txBody>
      </p:sp>
      <p:sp>
        <p:nvSpPr>
          <p:cNvPr id="11" name="Text 9"/>
          <p:cNvSpPr txBox="1"/>
          <p:nvPr/>
        </p:nvSpPr>
        <p:spPr>
          <a:xfrm>
            <a:off x="7315200" y="1399032"/>
            <a:ext cx="4160520" cy="548640"/>
          </a:xfrm>
          <a:prstGeom prst="rect">
            <a:avLst/>
          </a:prstGeom>
          <a:noFill/>
          <a:ln/>
        </p:spPr>
        <p:txBody>
          <a:bodyPr wrap="square" lIns="0" tIns="0" rIns="0" bIns="0" rtlCol="0" anchor="t"/>
          <a:lstStyle/>
          <a:p>
            <a:pPr indent="0" marL="0">
              <a:buNone/>
            </a:pPr>
            <a:r>
              <a:rPr lang="en-US" sz="1400" i="1" dirty="0">
                <a:solidFill>
                  <a:schemeClr val="tx1"/>
                </a:solidFill>
              </a:rPr>
              <a:t>„Weil es eine if-Abfrage gibt.“</a:t>
            </a:r>
            <a:endParaRPr lang="en-US" sz="1400" dirty="0"/>
          </a:p>
        </p:txBody>
      </p:sp>
      <p:sp>
        <p:nvSpPr>
          <p:cNvPr id="12" name="Text 10"/>
          <p:cNvSpPr txBox="1"/>
          <p:nvPr/>
        </p:nvSpPr>
        <p:spPr>
          <a:xfrm>
            <a:off x="7315200" y="1947672"/>
            <a:ext cx="4160520" cy="310896"/>
          </a:xfrm>
          <a:prstGeom prst="rect">
            <a:avLst/>
          </a:prstGeom>
          <a:noFill/>
          <a:ln/>
        </p:spPr>
        <p:txBody>
          <a:bodyPr wrap="square" lIns="0" tIns="0" rIns="0" bIns="0" rtlCol="0" anchor="t"/>
          <a:lstStyle/>
          <a:p>
            <a:pPr indent="0" marL="0">
              <a:buNone/>
            </a:pPr>
            <a:r>
              <a:rPr lang="en-US" sz="1300" b="1" dirty="0">
                <a:solidFill>
                  <a:schemeClr val="accent4"/>
                </a:solidFill>
              </a:rPr>
              <a:t>Kein Zusammenhang zu head() und zur leeren Schlange.</a:t>
            </a:r>
            <a:endParaRPr lang="en-US" sz="1300" dirty="0"/>
          </a:p>
        </p:txBody>
      </p:sp>
      <p:sp>
        <p:nvSpPr>
          <p:cNvPr id="13" name="Antwort 1 BE"/>
          <p:cNvSpPr/>
          <p:nvPr/>
        </p:nvSpPr>
        <p:spPr>
          <a:xfrm>
            <a:off x="6263640" y="2423160"/>
            <a:ext cx="5349240" cy="1234440"/>
          </a:xfrm>
          <a:prstGeom prst="roundRect">
            <a:avLst>
              <a:gd name="adj" fmla="val 8889"/>
            </a:avLst>
          </a:prstGeom>
          <a:solidFill>
            <a:schemeClr val="bg1"/>
          </a:solidFill>
          <a:ln w="25400">
            <a:solidFill>
              <a:schemeClr val="accent2"/>
            </a:solidFill>
            <a:prstDash val="solid"/>
          </a:ln>
        </p:spPr>
      </p:sp>
      <p:sp>
        <p:nvSpPr>
          <p:cNvPr id="14" name="Chip"/>
          <p:cNvSpPr txBox="1"/>
          <p:nvPr/>
        </p:nvSpPr>
        <p:spPr>
          <a:xfrm>
            <a:off x="6400800" y="2532888"/>
            <a:ext cx="77724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1 BE</a:t>
            </a:r>
            <a:endParaRPr lang="en-US" sz="1400" dirty="0"/>
          </a:p>
        </p:txBody>
      </p:sp>
      <p:sp>
        <p:nvSpPr>
          <p:cNvPr id="15" name="Text 13"/>
          <p:cNvSpPr txBox="1"/>
          <p:nvPr/>
        </p:nvSpPr>
        <p:spPr>
          <a:xfrm>
            <a:off x="7315200" y="2496312"/>
            <a:ext cx="4160520" cy="777240"/>
          </a:xfrm>
          <a:prstGeom prst="rect">
            <a:avLst/>
          </a:prstGeom>
          <a:noFill/>
          <a:ln/>
        </p:spPr>
        <p:txBody>
          <a:bodyPr wrap="square" lIns="0" tIns="0" rIns="0" bIns="0" rtlCol="0" anchor="t"/>
          <a:lstStyle/>
          <a:p>
            <a:pPr indent="0" marL="0">
              <a:buNone/>
            </a:pPr>
            <a:r>
              <a:rPr lang="en-US" sz="1400" i="1" dirty="0">
                <a:solidFill>
                  <a:schemeClr val="tx1"/>
                </a:solidFill>
              </a:rPr>
              <a:t>„Die Methode prüft mit isEmpty(), ob die Schlange leer ist, und gibt dann '-' zurück.“</a:t>
            </a:r>
            <a:endParaRPr lang="en-US" sz="1400" dirty="0"/>
          </a:p>
        </p:txBody>
      </p:sp>
      <p:sp>
        <p:nvSpPr>
          <p:cNvPr id="16" name="Text 14"/>
          <p:cNvSpPr txBox="1"/>
          <p:nvPr/>
        </p:nvSpPr>
        <p:spPr>
          <a:xfrm>
            <a:off x="7315200" y="3273552"/>
            <a:ext cx="4160520" cy="310896"/>
          </a:xfrm>
          <a:prstGeom prst="rect">
            <a:avLst/>
          </a:prstGeom>
          <a:noFill/>
          <a:ln/>
        </p:spPr>
        <p:txBody>
          <a:bodyPr wrap="square" lIns="0" tIns="0" rIns="0" bIns="0" rtlCol="0" anchor="t"/>
          <a:lstStyle/>
          <a:p>
            <a:pPr indent="0" marL="0">
              <a:buNone/>
            </a:pPr>
            <a:r>
              <a:rPr lang="en-US" sz="1300" b="1" dirty="0">
                <a:solidFill>
                  <a:schemeClr val="accent2"/>
                </a:solidFill>
              </a:rPr>
              <a:t>Beschreibt nur – warum ist head() damit sicher?</a:t>
            </a:r>
            <a:endParaRPr lang="en-US" sz="1300" dirty="0"/>
          </a:p>
        </p:txBody>
      </p:sp>
      <p:sp>
        <p:nvSpPr>
          <p:cNvPr id="17" name="Antwort 2 BE"/>
          <p:cNvSpPr/>
          <p:nvPr/>
        </p:nvSpPr>
        <p:spPr>
          <a:xfrm>
            <a:off x="6263640" y="3749040"/>
            <a:ext cx="5349240" cy="1783080"/>
          </a:xfrm>
          <a:prstGeom prst="roundRect">
            <a:avLst>
              <a:gd name="adj" fmla="val 6154"/>
            </a:avLst>
          </a:prstGeom>
          <a:solidFill>
            <a:schemeClr val="bg1"/>
          </a:solidFill>
          <a:ln w="25400">
            <a:solidFill>
              <a:schemeClr val="accent3"/>
            </a:solidFill>
            <a:prstDash val="solid"/>
          </a:ln>
        </p:spPr>
      </p:sp>
      <p:sp>
        <p:nvSpPr>
          <p:cNvPr id="18" name="Chip"/>
          <p:cNvSpPr txBox="1"/>
          <p:nvPr/>
        </p:nvSpPr>
        <p:spPr>
          <a:xfrm>
            <a:off x="6400800" y="3858768"/>
            <a:ext cx="77724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2 BE</a:t>
            </a:r>
            <a:endParaRPr lang="en-US" sz="1400" dirty="0"/>
          </a:p>
        </p:txBody>
      </p:sp>
      <p:sp>
        <p:nvSpPr>
          <p:cNvPr id="19" name="Text 17"/>
          <p:cNvSpPr txBox="1"/>
          <p:nvPr/>
        </p:nvSpPr>
        <p:spPr>
          <a:xfrm>
            <a:off x="7315200" y="3822192"/>
            <a:ext cx="4160520" cy="1325880"/>
          </a:xfrm>
          <a:prstGeom prst="rect">
            <a:avLst/>
          </a:prstGeom>
          <a:noFill/>
          <a:ln/>
        </p:spPr>
        <p:txBody>
          <a:bodyPr wrap="square" lIns="0" tIns="0" rIns="0" bIns="0" rtlCol="0" anchor="t"/>
          <a:lstStyle/>
          <a:p>
            <a:pPr indent="0" marL="0">
              <a:buNone/>
            </a:pPr>
            <a:r>
              <a:rPr lang="en-US" sz="1400" i="1" dirty="0">
                <a:solidFill>
                  <a:schemeClr val="tx1"/>
                </a:solidFill>
              </a:rPr>
              <a:t>„Ein Laufzeitfehler entsteht nur, wenn head() auf eine leere Schlange angewendet wird. Ist auftraege leer, ist isEmpty() wahr und die Methode endet mit return '-', bevor head() erreicht wird.“</a:t>
            </a:r>
            <a:endParaRPr lang="en-US" sz="1400" dirty="0"/>
          </a:p>
        </p:txBody>
      </p:sp>
      <p:sp>
        <p:nvSpPr>
          <p:cNvPr id="20" name="Text 18"/>
          <p:cNvSpPr txBox="1"/>
          <p:nvPr/>
        </p:nvSpPr>
        <p:spPr>
          <a:xfrm>
            <a:off x="7315200" y="5148072"/>
            <a:ext cx="4160520" cy="310896"/>
          </a:xfrm>
          <a:prstGeom prst="rect">
            <a:avLst/>
          </a:prstGeom>
          <a:noFill/>
          <a:ln/>
        </p:spPr>
        <p:txBody>
          <a:bodyPr wrap="square" lIns="0" tIns="0" rIns="0" bIns="0" rtlCol="0" anchor="t"/>
          <a:lstStyle/>
          <a:p>
            <a:pPr indent="0" marL="0">
              <a:buNone/>
            </a:pPr>
            <a:r>
              <a:rPr lang="en-US" sz="1300" b="1" dirty="0">
                <a:solidFill>
                  <a:schemeClr val="accent3"/>
                </a:solidFill>
              </a:rPr>
              <a:t>Ursache → Wirkung, Bezug zum Code.</a:t>
            </a:r>
            <a:endParaRPr lang="en-US" sz="1300" dirty="0"/>
          </a:p>
        </p:txBody>
      </p:sp>
      <p:sp>
        <p:nvSpPr>
          <p:cNvPr id="21" name="Gegenmassnahme"/>
          <p:cNvSpPr/>
          <p:nvPr/>
        </p:nvSpPr>
        <p:spPr>
          <a:xfrm>
            <a:off x="548640" y="5650992"/>
            <a:ext cx="11064240" cy="502920"/>
          </a:xfrm>
          <a:prstGeom prst="roundRect">
            <a:avLst>
              <a:gd name="adj" fmla="val 21818"/>
            </a:avLst>
          </a:prstGeom>
          <a:solidFill>
            <a:schemeClr val="bg1"/>
          </a:solidFill>
          <a:ln w="25400">
            <a:solidFill>
              <a:schemeClr val="accent2"/>
            </a:solidFill>
            <a:prstDash val="solid"/>
          </a:ln>
        </p:spPr>
      </p:sp>
      <p:sp>
        <p:nvSpPr>
          <p:cNvPr id="22" name="Text 20"/>
          <p:cNvSpPr txBox="1"/>
          <p:nvPr/>
        </p:nvSpPr>
        <p:spPr>
          <a:xfrm>
            <a:off x="749808" y="5650992"/>
            <a:ext cx="10698480" cy="502920"/>
          </a:xfrm>
          <a:prstGeom prst="rect">
            <a:avLst/>
          </a:prstGeom>
          <a:noFill/>
          <a:ln/>
        </p:spPr>
        <p:txBody>
          <a:bodyPr wrap="square" lIns="0" tIns="0" rIns="0" bIns="0" rtlCol="0" anchor="ctr"/>
          <a:lstStyle/>
          <a:p>
            <a:pPr indent="0" marL="0">
              <a:buNone/>
            </a:pPr>
            <a:r>
              <a:rPr lang="en-US" sz="1400" b="1" dirty="0">
                <a:solidFill>
                  <a:schemeClr val="accent2"/>
                </a:solidFill>
              </a:rPr>
              <a:t>Gegenmaßnahme: </a:t>
            </a:r>
            <a:pPr indent="0" marL="0">
              <a:buNone/>
            </a:pPr>
            <a:r>
              <a:rPr lang="en-US" sz="1400" dirty="0">
                <a:solidFill>
                  <a:schemeClr val="tx1"/>
                </a:solidFill>
              </a:rPr>
              <a:t>Operator unterstreichen; bei „begründen“ eine Weil-Kette bis zur Regel, immer mit Bezug zum Material oder Code.</a:t>
            </a:r>
            <a:endParaRPr lang="en-US" sz="1400" dirty="0"/>
          </a:p>
        </p:txBody>
      </p:sp>
      <p:sp>
        <p:nvSpPr>
          <p:cNvPr id="23" name="Text 21"/>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Bug-Hunt P10</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Deine Checkliste: Mein Abi-Fahrplan</a:t>
            </a:r>
            <a:endParaRPr lang="en-US" sz="3600" dirty="0"/>
          </a:p>
        </p:txBody>
      </p:sp>
      <p:sp>
        <p:nvSpPr>
          <p:cNvPr id="3" name="1 · Top-3-Fehler"/>
          <p:cNvSpPr/>
          <p:nvPr/>
        </p:nvSpPr>
        <p:spPr>
          <a:xfrm>
            <a:off x="548640" y="1325880"/>
            <a:ext cx="5440680" cy="2286000"/>
          </a:xfrm>
          <a:prstGeom prst="roundRect">
            <a:avLst>
              <a:gd name="adj" fmla="val 4800"/>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4" name="Icon-Kreis"/>
          <p:cNvSpPr/>
          <p:nvPr/>
        </p:nvSpPr>
        <p:spPr>
          <a:xfrm>
            <a:off x="731520" y="1490472"/>
            <a:ext cx="594360" cy="594360"/>
          </a:xfrm>
          <a:prstGeom prst="ellipse">
            <a:avLst/>
          </a:prstGeom>
          <a:solidFill>
            <a:schemeClr val="accent2"/>
          </a:solidFill>
          <a:ln/>
        </p:spPr>
      </p:sp>
      <p:pic>
        <p:nvPicPr>
          <p:cNvPr id="5" name="Icon GiTargeted" descr="preencoded.png">    </p:cNvPr>
          <p:cNvPicPr>
            <a:picLocks noChangeAspect="1"/>
          </p:cNvPicPr>
          <p:nvPr/>
        </p:nvPicPr>
        <p:blipFill>
          <a:blip r:embed="rId1"/>
          <a:stretch>
            <a:fillRect/>
          </a:stretch>
        </p:blipFill>
        <p:spPr>
          <a:xfrm>
            <a:off x="862279" y="1621231"/>
            <a:ext cx="332842" cy="332842"/>
          </a:xfrm>
          <a:prstGeom prst="rect">
            <a:avLst/>
          </a:prstGeom>
        </p:spPr>
      </p:pic>
      <p:sp>
        <p:nvSpPr>
          <p:cNvPr id="6" name="Text 3"/>
          <p:cNvSpPr txBox="1"/>
          <p:nvPr/>
        </p:nvSpPr>
        <p:spPr>
          <a:xfrm>
            <a:off x="1463040" y="1508760"/>
            <a:ext cx="4343400" cy="548640"/>
          </a:xfrm>
          <a:prstGeom prst="rect">
            <a:avLst/>
          </a:prstGeom>
          <a:noFill/>
          <a:ln/>
        </p:spPr>
        <p:txBody>
          <a:bodyPr wrap="square" lIns="0" tIns="0" rIns="0" bIns="0" rtlCol="0" anchor="ctr"/>
          <a:lstStyle/>
          <a:p>
            <a:pPr indent="0" marL="0">
              <a:buNone/>
            </a:pPr>
            <a:r>
              <a:rPr lang="en-US" sz="2000" b="1" dirty="0">
                <a:solidFill>
                  <a:schemeClr val="accent1"/>
                </a:solidFill>
              </a:rPr>
              <a:t>1 · Top-3-Fehler</a:t>
            </a:r>
            <a:endParaRPr lang="en-US" sz="2000" dirty="0"/>
          </a:p>
        </p:txBody>
      </p:sp>
      <p:sp>
        <p:nvSpPr>
          <p:cNvPr id="7" name="Text 4"/>
          <p:cNvSpPr txBox="1"/>
          <p:nvPr/>
        </p:nvSpPr>
        <p:spPr>
          <a:xfrm>
            <a:off x="777240" y="2130552"/>
            <a:ext cx="4983480" cy="457200"/>
          </a:xfrm>
          <a:prstGeom prst="rect">
            <a:avLst/>
          </a:prstGeom>
          <a:noFill/>
          <a:ln/>
        </p:spPr>
        <p:txBody>
          <a:bodyPr wrap="square" lIns="0" tIns="0" rIns="0" bIns="0" rtlCol="0" anchor="t"/>
          <a:lstStyle/>
          <a:p>
            <a:pPr indent="0" marL="0">
              <a:buNone/>
            </a:pPr>
            <a:r>
              <a:rPr lang="en-US" sz="1500" dirty="0">
                <a:solidFill>
                  <a:schemeClr val="tx1"/>
                </a:solidFill>
              </a:rPr>
              <a:t>Pro Fehler: So ist es mir passiert → meine Gegenmaßnahme → Training bis …</a:t>
            </a:r>
            <a:endParaRPr lang="en-US" sz="1500" dirty="0"/>
          </a:p>
        </p:txBody>
      </p:sp>
      <p:sp>
        <p:nvSpPr>
          <p:cNvPr id="8" name="Beispiel Gegenmassnahme"/>
          <p:cNvSpPr txBox="1"/>
          <p:nvPr/>
        </p:nvSpPr>
        <p:spPr>
          <a:xfrm>
            <a:off x="777240" y="2624328"/>
            <a:ext cx="4983480" cy="868680"/>
          </a:xfrm>
          <a:prstGeom prst="rect">
            <a:avLst/>
          </a:prstGeom>
          <a:solidFill>
            <a:schemeClr val="bg2"/>
          </a:solidFill>
          <a:ln/>
        </p:spPr>
        <p:txBody>
          <a:bodyPr wrap="square" lIns="101600" tIns="50800" rIns="101600" bIns="50800" rtlCol="0" anchor="ctr"/>
          <a:lstStyle/>
          <a:p>
            <a:pPr indent="0" marL="0">
              <a:buNone/>
            </a:pPr>
            <a:r>
              <a:rPr lang="en-US" sz="1400" b="1" dirty="0">
                <a:solidFill>
                  <a:schemeClr val="accent4"/>
                </a:solidFill>
              </a:rPr>
              <a:t>✗ </a:t>
            </a:r>
            <a:pPr indent="0" marL="0">
              <a:buNone/>
            </a:pPr>
            <a:r>
              <a:rPr lang="en-US" sz="1400" i="1" dirty="0">
                <a:solidFill>
                  <a:schemeClr val="tx1"/>
                </a:solidFill>
              </a:rPr>
              <a:t>„besser aufpassen“</a:t>
            </a:r>
            <a:endParaRPr lang="en-US" sz="1400" dirty="0"/>
          </a:p>
          <a:p>
            <a:pPr indent="0" marL="0">
              <a:buNone/>
            </a:pPr>
            <a:r>
              <a:rPr lang="en-US" sz="1400" b="1" dirty="0">
                <a:solidFill>
                  <a:schemeClr val="accent3"/>
                </a:solidFill>
              </a:rPr>
              <a:t>✓ </a:t>
            </a:r>
            <a:pPr indent="0" marL="0">
              <a:buNone/>
            </a:pPr>
            <a:r>
              <a:rPr lang="en-US" sz="1400" i="1" dirty="0">
                <a:solidFill>
                  <a:schemeClr val="tx1"/>
                </a:solidFill>
              </a:rPr>
              <a:t>„Vor jedem getItem schreibe ich die Indexgrenze an den Rand.“</a:t>
            </a:r>
            <a:endParaRPr lang="en-US" sz="1400" dirty="0"/>
          </a:p>
        </p:txBody>
      </p:sp>
      <p:sp>
        <p:nvSpPr>
          <p:cNvPr id="9" name="2 · Zeitplan"/>
          <p:cNvSpPr/>
          <p:nvPr/>
        </p:nvSpPr>
        <p:spPr>
          <a:xfrm>
            <a:off x="6172200" y="1325880"/>
            <a:ext cx="5440680" cy="2286000"/>
          </a:xfrm>
          <a:prstGeom prst="roundRect">
            <a:avLst>
              <a:gd name="adj" fmla="val 4800"/>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10" name="Icon-Kreis"/>
          <p:cNvSpPr/>
          <p:nvPr/>
        </p:nvSpPr>
        <p:spPr>
          <a:xfrm>
            <a:off x="6355080" y="1490472"/>
            <a:ext cx="594360" cy="594360"/>
          </a:xfrm>
          <a:prstGeom prst="ellipse">
            <a:avLst/>
          </a:prstGeom>
          <a:solidFill>
            <a:schemeClr val="accent1"/>
          </a:solidFill>
          <a:ln/>
        </p:spPr>
      </p:sp>
      <p:pic>
        <p:nvPicPr>
          <p:cNvPr id="11" name="Icon GiStopwatch" descr="preencoded.png">    </p:cNvPr>
          <p:cNvPicPr>
            <a:picLocks noChangeAspect="1"/>
          </p:cNvPicPr>
          <p:nvPr/>
        </p:nvPicPr>
        <p:blipFill>
          <a:blip r:embed="rId2"/>
          <a:stretch>
            <a:fillRect/>
          </a:stretch>
        </p:blipFill>
        <p:spPr>
          <a:xfrm>
            <a:off x="6485839" y="1621231"/>
            <a:ext cx="332842" cy="332842"/>
          </a:xfrm>
          <a:prstGeom prst="rect">
            <a:avLst/>
          </a:prstGeom>
        </p:spPr>
      </p:pic>
      <p:sp>
        <p:nvSpPr>
          <p:cNvPr id="12" name="Text 8"/>
          <p:cNvSpPr txBox="1"/>
          <p:nvPr/>
        </p:nvSpPr>
        <p:spPr>
          <a:xfrm>
            <a:off x="7086600" y="1508760"/>
            <a:ext cx="4343400" cy="548640"/>
          </a:xfrm>
          <a:prstGeom prst="rect">
            <a:avLst/>
          </a:prstGeom>
          <a:noFill/>
          <a:ln/>
        </p:spPr>
        <p:txBody>
          <a:bodyPr wrap="square" lIns="0" tIns="0" rIns="0" bIns="0" rtlCol="0" anchor="ctr"/>
          <a:lstStyle/>
          <a:p>
            <a:pPr indent="0" marL="0">
              <a:buNone/>
            </a:pPr>
            <a:r>
              <a:rPr lang="en-US" sz="2000" b="1" dirty="0">
                <a:solidFill>
                  <a:schemeClr val="accent1"/>
                </a:solidFill>
              </a:rPr>
              <a:t>2 · Zeitplan</a:t>
            </a:r>
            <a:endParaRPr lang="en-US" sz="2000" dirty="0"/>
          </a:p>
        </p:txBody>
      </p:sp>
      <p:sp>
        <p:nvSpPr>
          <p:cNvPr id="13" name="Text 9"/>
          <p:cNvSpPr txBox="1"/>
          <p:nvPr/>
        </p:nvSpPr>
        <p:spPr>
          <a:xfrm>
            <a:off x="6400800" y="2194560"/>
            <a:ext cx="4983480" cy="1280160"/>
          </a:xfrm>
          <a:prstGeom prst="rect">
            <a:avLst/>
          </a:prstGeom>
          <a:noFill/>
          <a:ln/>
        </p:spPr>
        <p:txBody>
          <a:bodyPr wrap="square" lIns="0" tIns="0" rIns="0" bIns="0" rtlCol="0" anchor="t"/>
          <a:lstStyle/>
          <a:p>
            <a:pPr indent="0" marL="0">
              <a:buNone/>
            </a:pPr>
            <a:r>
              <a:rPr lang="en-US" sz="1500" b="1" dirty="0">
                <a:solidFill>
                  <a:schemeClr val="accent1"/>
                </a:solidFill>
              </a:rPr>
              <a:t>60 BE × 2,5 min = 150 min</a:t>
            </a:r>
            <a:endParaRPr lang="en-US" sz="1500" dirty="0"/>
          </a:p>
          <a:p>
            <a:pPr indent="0" marL="0">
              <a:buNone/>
            </a:pPr>
            <a:r>
              <a:rPr lang="en-US" sz="1500" dirty="0">
                <a:solidFill>
                  <a:schemeClr val="tx1"/>
                </a:solidFill>
              </a:rPr>
              <a:t>180 − 150 = 30 min für Einlesen, BE-Plan und Reserve. Wo hast du in der Probe Zeit verloren?</a:t>
            </a:r>
            <a:endParaRPr lang="en-US" sz="1500" dirty="0"/>
          </a:p>
        </p:txBody>
      </p:sp>
      <p:sp>
        <p:nvSpPr>
          <p:cNvPr id="14" name="3 · Vorgehen"/>
          <p:cNvSpPr/>
          <p:nvPr/>
        </p:nvSpPr>
        <p:spPr>
          <a:xfrm>
            <a:off x="548640" y="3776472"/>
            <a:ext cx="5440680" cy="2286000"/>
          </a:xfrm>
          <a:prstGeom prst="roundRect">
            <a:avLst>
              <a:gd name="adj" fmla="val 4800"/>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15" name="Icon-Kreis"/>
          <p:cNvSpPr/>
          <p:nvPr/>
        </p:nvSpPr>
        <p:spPr>
          <a:xfrm>
            <a:off x="731520" y="3941064"/>
            <a:ext cx="594360" cy="594360"/>
          </a:xfrm>
          <a:prstGeom prst="ellipse">
            <a:avLst/>
          </a:prstGeom>
          <a:solidFill>
            <a:schemeClr val="accent1"/>
          </a:solidFill>
          <a:ln/>
        </p:spPr>
      </p:sp>
      <p:pic>
        <p:nvPicPr>
          <p:cNvPr id="16" name="Icon GiPathDistance" descr="preencoded.png">    </p:cNvPr>
          <p:cNvPicPr>
            <a:picLocks noChangeAspect="1"/>
          </p:cNvPicPr>
          <p:nvPr/>
        </p:nvPicPr>
        <p:blipFill>
          <a:blip r:embed="rId3"/>
          <a:stretch>
            <a:fillRect/>
          </a:stretch>
        </p:blipFill>
        <p:spPr>
          <a:xfrm>
            <a:off x="862279" y="4071823"/>
            <a:ext cx="332842" cy="332842"/>
          </a:xfrm>
          <a:prstGeom prst="rect">
            <a:avLst/>
          </a:prstGeom>
        </p:spPr>
      </p:pic>
      <p:sp>
        <p:nvSpPr>
          <p:cNvPr id="17" name="Text 12"/>
          <p:cNvSpPr txBox="1"/>
          <p:nvPr/>
        </p:nvSpPr>
        <p:spPr>
          <a:xfrm>
            <a:off x="1463040" y="3959352"/>
            <a:ext cx="4343400" cy="548640"/>
          </a:xfrm>
          <a:prstGeom prst="rect">
            <a:avLst/>
          </a:prstGeom>
          <a:noFill/>
          <a:ln/>
        </p:spPr>
        <p:txBody>
          <a:bodyPr wrap="square" lIns="0" tIns="0" rIns="0" bIns="0" rtlCol="0" anchor="ctr"/>
          <a:lstStyle/>
          <a:p>
            <a:pPr indent="0" marL="0">
              <a:buNone/>
            </a:pPr>
            <a:r>
              <a:rPr lang="en-US" sz="2000" b="1" dirty="0">
                <a:solidFill>
                  <a:schemeClr val="accent1"/>
                </a:solidFill>
              </a:rPr>
              <a:t>3 · Vorgehen</a:t>
            </a:r>
            <a:endParaRPr lang="en-US" sz="2000" dirty="0"/>
          </a:p>
        </p:txBody>
      </p:sp>
      <p:sp>
        <p:nvSpPr>
          <p:cNvPr id="18" name="Text 13"/>
          <p:cNvSpPr txBox="1"/>
          <p:nvPr/>
        </p:nvSpPr>
        <p:spPr>
          <a:xfrm>
            <a:off x="777240" y="4645152"/>
            <a:ext cx="4983480" cy="1280160"/>
          </a:xfrm>
          <a:prstGeom prst="rect">
            <a:avLst/>
          </a:prstGeom>
          <a:noFill/>
          <a:ln/>
        </p:spPr>
        <p:txBody>
          <a:bodyPr wrap="square" lIns="0" tIns="0" rIns="0" bIns="0" rtlCol="0" anchor="t"/>
          <a:lstStyle/>
          <a:p>
            <a:pPr indent="0" marL="0">
              <a:buNone/>
            </a:pPr>
            <a:r>
              <a:rPr lang="en-US" sz="1500" b="1" dirty="0">
                <a:solidFill>
                  <a:schemeClr val="accent1"/>
                </a:solidFill>
              </a:rPr>
              <a:t>Einlesen → BE-Plan → Bearbeiten → Abi-Check → Reserve</a:t>
            </a:r>
            <a:endParaRPr lang="en-US" sz="1500" dirty="0"/>
          </a:p>
          <a:p>
            <a:pPr indent="0" marL="0">
              <a:buNone/>
            </a:pPr>
            <a:r>
              <a:rPr lang="en-US" sz="1500" dirty="0">
                <a:solidFill>
                  <a:schemeClr val="tx1"/>
                </a:solidFill>
              </a:rPr>
              <a:t>Reihenfolge festlegen – Sicheres zuerst, Hänger markieren.</a:t>
            </a:r>
            <a:endParaRPr lang="en-US" sz="1500" dirty="0"/>
          </a:p>
        </p:txBody>
      </p:sp>
      <p:sp>
        <p:nvSpPr>
          <p:cNvPr id="19" name="4 · Mein Abi-Check"/>
          <p:cNvSpPr/>
          <p:nvPr/>
        </p:nvSpPr>
        <p:spPr>
          <a:xfrm>
            <a:off x="6172200" y="3776472"/>
            <a:ext cx="5440680" cy="2286000"/>
          </a:xfrm>
          <a:prstGeom prst="roundRect">
            <a:avLst>
              <a:gd name="adj" fmla="val 4800"/>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20" name="Icon-Kreis"/>
          <p:cNvSpPr/>
          <p:nvPr/>
        </p:nvSpPr>
        <p:spPr>
          <a:xfrm>
            <a:off x="6355080" y="3941064"/>
            <a:ext cx="594360" cy="594360"/>
          </a:xfrm>
          <a:prstGeom prst="ellipse">
            <a:avLst/>
          </a:prstGeom>
          <a:solidFill>
            <a:schemeClr val="accent1"/>
          </a:solidFill>
          <a:ln/>
        </p:spPr>
      </p:sp>
      <p:pic>
        <p:nvPicPr>
          <p:cNvPr id="21" name="Icon GiChecklist" descr="preencoded.png">    </p:cNvPr>
          <p:cNvPicPr>
            <a:picLocks noChangeAspect="1"/>
          </p:cNvPicPr>
          <p:nvPr/>
        </p:nvPicPr>
        <p:blipFill>
          <a:blip r:embed="rId4"/>
          <a:stretch>
            <a:fillRect/>
          </a:stretch>
        </p:blipFill>
        <p:spPr>
          <a:xfrm>
            <a:off x="6485839" y="4071823"/>
            <a:ext cx="332842" cy="332842"/>
          </a:xfrm>
          <a:prstGeom prst="rect">
            <a:avLst/>
          </a:prstGeom>
        </p:spPr>
      </p:pic>
      <p:sp>
        <p:nvSpPr>
          <p:cNvPr id="22" name="Text 16"/>
          <p:cNvSpPr txBox="1"/>
          <p:nvPr/>
        </p:nvSpPr>
        <p:spPr>
          <a:xfrm>
            <a:off x="7086600" y="3959352"/>
            <a:ext cx="4343400" cy="548640"/>
          </a:xfrm>
          <a:prstGeom prst="rect">
            <a:avLst/>
          </a:prstGeom>
          <a:noFill/>
          <a:ln/>
        </p:spPr>
        <p:txBody>
          <a:bodyPr wrap="square" lIns="0" tIns="0" rIns="0" bIns="0" rtlCol="0" anchor="ctr"/>
          <a:lstStyle/>
          <a:p>
            <a:pPr indent="0" marL="0">
              <a:buNone/>
            </a:pPr>
            <a:r>
              <a:rPr lang="en-US" sz="2000" b="1" dirty="0">
                <a:solidFill>
                  <a:schemeClr val="accent1"/>
                </a:solidFill>
              </a:rPr>
              <a:t>4 · Mein Abi-Check</a:t>
            </a:r>
            <a:endParaRPr lang="en-US" sz="2000" dirty="0"/>
          </a:p>
        </p:txBody>
      </p:sp>
      <p:sp>
        <p:nvSpPr>
          <p:cNvPr id="23" name="Text 17"/>
          <p:cNvSpPr txBox="1"/>
          <p:nvPr/>
        </p:nvSpPr>
        <p:spPr>
          <a:xfrm>
            <a:off x="6400800" y="4645152"/>
            <a:ext cx="4983480" cy="1280160"/>
          </a:xfrm>
          <a:prstGeom prst="rect">
            <a:avLst/>
          </a:prstGeom>
          <a:noFill/>
          <a:ln/>
        </p:spPr>
        <p:txBody>
          <a:bodyPr wrap="square" lIns="0" tIns="0" rIns="0" bIns="0" rtlCol="0" anchor="t"/>
          <a:lstStyle/>
          <a:p>
            <a:pPr indent="0" marL="0">
              <a:buNone/>
            </a:pPr>
            <a:r>
              <a:rPr lang="en-US" sz="1500" dirty="0">
                <a:solidFill>
                  <a:schemeClr val="tx1"/>
                </a:solidFill>
              </a:rPr>
              <a:t>Leer? Index? Cast? equals? return auf jedem Pfad? Struktur unverändert? Basisfall? Struktogramm ohne Java?</a:t>
            </a:r>
            <a:endParaRPr lang="en-US" sz="1500" dirty="0"/>
          </a:p>
          <a:p>
            <a:pPr indent="0" marL="0">
              <a:buNone/>
            </a:pPr>
            <a:r>
              <a:rPr lang="en-US" sz="1500" b="1" dirty="0">
                <a:solidFill>
                  <a:schemeClr val="accent2"/>
                </a:solidFill>
              </a:rPr>
              <a:t>+ deine eigenen Prüffragen</a:t>
            </a:r>
            <a:endParaRPr lang="en-US" sz="1500" dirty="0"/>
          </a:p>
        </p:txBody>
      </p:sp>
      <p:sp>
        <p:nvSpPr>
          <p:cNvPr id="24" name="Text 18"/>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Abi-Fahrplan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Papier-Compiler: Läuft deine Handschrift?</a:t>
            </a:r>
            <a:endParaRPr lang="en-US" sz="3600" dirty="0"/>
          </a:p>
        </p:txBody>
      </p:sp>
      <p:sp>
        <p:nvSpPr>
          <p:cNvPr id="3" name="Nummer 1"/>
          <p:cNvSpPr txBox="1"/>
          <p:nvPr/>
        </p:nvSpPr>
        <p:spPr>
          <a:xfrm>
            <a:off x="548640" y="1463040"/>
            <a:ext cx="502920" cy="50292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4" name="Text 2"/>
          <p:cNvSpPr txBox="1"/>
          <p:nvPr/>
        </p:nvSpPr>
        <p:spPr>
          <a:xfrm>
            <a:off x="1234440" y="1371600"/>
            <a:ext cx="4754880" cy="841248"/>
          </a:xfrm>
          <a:prstGeom prst="rect">
            <a:avLst/>
          </a:prstGeom>
          <a:noFill/>
          <a:ln/>
        </p:spPr>
        <p:txBody>
          <a:bodyPr wrap="square" lIns="0" tIns="0" rIns="0" bIns="0" rtlCol="0" anchor="ctr"/>
          <a:lstStyle/>
          <a:p>
            <a:pPr indent="0" marL="0">
              <a:buNone/>
            </a:pPr>
            <a:r>
              <a:rPr lang="en-US" sz="1800" b="1" dirty="0">
                <a:solidFill>
                  <a:schemeClr val="accent1"/>
                </a:solidFill>
              </a:rPr>
              <a:t>Workspace öffnen</a:t>
            </a:r>
            <a:endParaRPr lang="en-US" sz="1800" dirty="0"/>
          </a:p>
          <a:p>
            <a:pPr indent="0" marL="0">
              <a:buNone/>
            </a:pPr>
            <a:r>
              <a:rPr lang="en-US" sz="1500" dirty="0">
                <a:solidFill>
                  <a:schemeClr val="tx1"/>
                </a:solidFill>
              </a:rPr>
              <a:t>„W6 Papier-Compiler“ – Bibliothek „Niedersachsen“ aktiviert?</a:t>
            </a:r>
            <a:endParaRPr lang="en-US" sz="1800" dirty="0"/>
          </a:p>
        </p:txBody>
      </p:sp>
      <p:sp>
        <p:nvSpPr>
          <p:cNvPr id="5" name="Nummer 2"/>
          <p:cNvSpPr txBox="1"/>
          <p:nvPr/>
        </p:nvSpPr>
        <p:spPr>
          <a:xfrm>
            <a:off x="548640" y="2395728"/>
            <a:ext cx="502920" cy="50292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6" name="Text 4"/>
          <p:cNvSpPr txBox="1"/>
          <p:nvPr/>
        </p:nvSpPr>
        <p:spPr>
          <a:xfrm>
            <a:off x="1234440" y="2304288"/>
            <a:ext cx="4754880" cy="841248"/>
          </a:xfrm>
          <a:prstGeom prst="rect">
            <a:avLst/>
          </a:prstGeom>
          <a:noFill/>
          <a:ln/>
        </p:spPr>
        <p:txBody>
          <a:bodyPr wrap="square" lIns="0" tIns="0" rIns="0" bIns="0" rtlCol="0" anchor="ctr"/>
          <a:lstStyle/>
          <a:p>
            <a:pPr indent="0" marL="0">
              <a:buNone/>
            </a:pPr>
            <a:r>
              <a:rPr lang="en-US" sz="1800" b="1" dirty="0">
                <a:solidFill>
                  <a:schemeClr val="accent1"/>
                </a:solidFill>
              </a:rPr>
              <a:t>Unverändert abtippen</a:t>
            </a:r>
            <a:endParaRPr lang="en-US" sz="1800" dirty="0"/>
          </a:p>
          <a:p>
            <a:pPr indent="0" marL="0">
              <a:buNone/>
            </a:pPr>
            <a:r>
              <a:rPr lang="en-US" sz="1500" dirty="0">
                <a:solidFill>
                  <a:schemeClr val="tx1"/>
                </a:solidFill>
              </a:rPr>
              <a:t>deine Lösung zu b) Zeichen für Zeichen – auch mit Fehlern</a:t>
            </a:r>
            <a:endParaRPr lang="en-US" sz="1800" dirty="0"/>
          </a:p>
        </p:txBody>
      </p:sp>
      <p:sp>
        <p:nvSpPr>
          <p:cNvPr id="7" name="Nummer 3"/>
          <p:cNvSpPr txBox="1"/>
          <p:nvPr/>
        </p:nvSpPr>
        <p:spPr>
          <a:xfrm>
            <a:off x="548640" y="3328416"/>
            <a:ext cx="502920" cy="50292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8" name="Text 6"/>
          <p:cNvSpPr txBox="1"/>
          <p:nvPr/>
        </p:nvSpPr>
        <p:spPr>
          <a:xfrm>
            <a:off x="1234440" y="3236976"/>
            <a:ext cx="4754880" cy="841248"/>
          </a:xfrm>
          <a:prstGeom prst="rect">
            <a:avLst/>
          </a:prstGeom>
          <a:noFill/>
          <a:ln/>
        </p:spPr>
        <p:txBody>
          <a:bodyPr wrap="square" lIns="0" tIns="0" rIns="0" bIns="0" rtlCol="0" anchor="ctr"/>
          <a:lstStyle/>
          <a:p>
            <a:pPr indent="0" marL="0">
              <a:buNone/>
            </a:pPr>
            <a:r>
              <a:rPr lang="en-US" sz="1800" b="1" dirty="0">
                <a:solidFill>
                  <a:schemeClr val="accent1"/>
                </a:solidFill>
              </a:rPr>
              <a:t>Testrunner starten</a:t>
            </a:r>
            <a:endParaRPr lang="en-US" sz="1800" dirty="0"/>
          </a:p>
          <a:p>
            <a:pPr indent="0" marL="0">
              <a:buNone/>
            </a:pPr>
            <a:r>
              <a:rPr lang="en-US" sz="1500" dirty="0">
                <a:solidFill>
                  <a:schemeClr val="tx1"/>
                </a:solidFill>
              </a:rPr>
              <a:t>Ergebnis des ersten Laufs notieren, bevor du etwas änderst</a:t>
            </a:r>
            <a:endParaRPr lang="en-US" sz="1800" dirty="0"/>
          </a:p>
        </p:txBody>
      </p:sp>
      <p:sp>
        <p:nvSpPr>
          <p:cNvPr id="9" name="Nummer 4"/>
          <p:cNvSpPr txBox="1"/>
          <p:nvPr/>
        </p:nvSpPr>
        <p:spPr>
          <a:xfrm>
            <a:off x="548640" y="4261104"/>
            <a:ext cx="502920" cy="50292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0" name="Text 8"/>
          <p:cNvSpPr txBox="1"/>
          <p:nvPr/>
        </p:nvSpPr>
        <p:spPr>
          <a:xfrm>
            <a:off x="1234440" y="4169664"/>
            <a:ext cx="4754880" cy="841248"/>
          </a:xfrm>
          <a:prstGeom prst="rect">
            <a:avLst/>
          </a:prstGeom>
          <a:noFill/>
          <a:ln/>
        </p:spPr>
        <p:txBody>
          <a:bodyPr wrap="square" lIns="0" tIns="0" rIns="0" bIns="0" rtlCol="0" anchor="ctr"/>
          <a:lstStyle/>
          <a:p>
            <a:pPr indent="0" marL="0">
              <a:buNone/>
            </a:pPr>
            <a:r>
              <a:rPr lang="en-US" sz="1800" b="1" dirty="0">
                <a:solidFill>
                  <a:schemeClr val="accent1"/>
                </a:solidFill>
              </a:rPr>
              <a:t>Fehlerlogbuch</a:t>
            </a:r>
            <a:endParaRPr lang="en-US" sz="1800" dirty="0"/>
          </a:p>
          <a:p>
            <a:pPr indent="0" marL="0">
              <a:buNone/>
            </a:pPr>
            <a:r>
              <a:rPr lang="en-US" sz="1500" dirty="0">
                <a:solidFill>
                  <a:schemeClr val="tx1"/>
                </a:solidFill>
              </a:rPr>
              <a:t>jeden Fehler mit P-Nummer eintragen – dann korrigieren</a:t>
            </a:r>
            <a:endParaRPr lang="en-US" sz="1800" dirty="0"/>
          </a:p>
        </p:txBody>
      </p:sp>
      <p:graphicFrame>
        <p:nvGraphicFramePr>
          <p:cNvPr id="20" name="Papier-Compiler Tests"/>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2240280"/>
                <a:gridCol w="1325880"/>
                <a:gridCol w="1737360"/>
              </a:tblGrid>
              <a:tr h="438912">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Teilaufgabe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Tests</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Ziel</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38912">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b) sucheFach (Pflicht)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aufgabeB_ (6)</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2"/>
                          </a:solidFill>
                          <a:latin typeface="Calibri" pitchFamily="34" charset="0"/>
                          <a:ea typeface="Calibri" pitchFamily="34" charset="-122"/>
                          <a:cs typeface="Calibri" pitchFamily="34" charset="-120"/>
                        </a:rPr>
                        <a:t>grün im 1. Lauf</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 anzahlAuftraege (Kür)</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aufgabeC_ (5)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2"/>
                          </a:solidFill>
                          <a:latin typeface="Calibri" pitchFamily="34" charset="0"/>
                          <a:ea typeface="Calibri" pitchFamily="34" charset="-122"/>
                          <a:cs typeface="Calibri" pitchFamily="34" charset="-120"/>
                        </a:rPr>
                        <a:t>grün im 1. Lauf</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h) freieFaecher (Kür)</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aufgabeH_ (6)</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2"/>
                          </a:solidFill>
                          <a:latin typeface="Calibri" pitchFamily="34" charset="0"/>
                          <a:ea typeface="Calibri" pitchFamily="34" charset="-122"/>
                          <a:cs typeface="Calibri" pitchFamily="34" charset="-120"/>
                        </a:rPr>
                        <a:t>grün im 1. Lauf</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2" name="Text 9"/>
          <p:cNvSpPr txBox="1"/>
          <p:nvPr/>
        </p:nvSpPr>
        <p:spPr>
          <a:xfrm>
            <a:off x="6309360" y="3200400"/>
            <a:ext cx="5303520" cy="502920"/>
          </a:xfrm>
          <a:prstGeom prst="rect">
            <a:avLst/>
          </a:prstGeom>
          <a:noFill/>
          <a:ln/>
        </p:spPr>
        <p:txBody>
          <a:bodyPr wrap="square" lIns="0" tIns="0" rIns="0" bIns="0" rtlCol="0" anchor="t"/>
          <a:lstStyle/>
          <a:p>
            <a:pPr indent="0" marL="0">
              <a:buNone/>
            </a:pPr>
            <a:r>
              <a:rPr lang="en-US" sz="1300" i="1" dirty="0">
                <a:solidFill>
                  <a:schemeClr val="accent6"/>
                </a:solidFill>
              </a:rPr>
              <a:t>c): Struktogramm Block für Block in Java übersetzen · h): deine Korrektur abtippen</a:t>
            </a:r>
            <a:endParaRPr lang="en-US" sz="1300" dirty="0"/>
          </a:p>
        </p:txBody>
      </p:sp>
      <p:sp>
        <p:nvSpPr>
          <p:cNvPr id="13" name="Gruen heisst nicht"/>
          <p:cNvSpPr/>
          <p:nvPr/>
        </p:nvSpPr>
        <p:spPr>
          <a:xfrm>
            <a:off x="6309360" y="3840480"/>
            <a:ext cx="5303520" cy="1051560"/>
          </a:xfrm>
          <a:prstGeom prst="roundRect">
            <a:avLst>
              <a:gd name="adj" fmla="val 10435"/>
            </a:avLst>
          </a:prstGeom>
          <a:solidFill>
            <a:schemeClr val="bg1"/>
          </a:solidFill>
          <a:ln w="25400">
            <a:solidFill>
              <a:schemeClr val="accent4"/>
            </a:solidFill>
            <a:prstDash val="solid"/>
          </a:ln>
        </p:spPr>
      </p:sp>
      <p:sp>
        <p:nvSpPr>
          <p:cNvPr id="14" name="Text 11"/>
          <p:cNvSpPr txBox="1"/>
          <p:nvPr/>
        </p:nvSpPr>
        <p:spPr>
          <a:xfrm>
            <a:off x="6510528" y="3840480"/>
            <a:ext cx="4937760" cy="1051560"/>
          </a:xfrm>
          <a:prstGeom prst="rect">
            <a:avLst/>
          </a:prstGeom>
          <a:noFill/>
          <a:ln/>
        </p:spPr>
        <p:txBody>
          <a:bodyPr wrap="square" lIns="0" tIns="0" rIns="0" bIns="0" rtlCol="0" anchor="ctr"/>
          <a:lstStyle/>
          <a:p>
            <a:pPr indent="0" marL="0">
              <a:buNone/>
            </a:pPr>
            <a:r>
              <a:rPr lang="en-US" sz="1500" b="1" dirty="0">
                <a:solidFill>
                  <a:schemeClr val="accent4"/>
                </a:solidFill>
              </a:rPr>
              <a:t>Grün heißt nicht volle BE: </a:t>
            </a:r>
            <a:pPr indent="0" marL="0">
              <a:buNone/>
            </a:pPr>
            <a:r>
              <a:rPr lang="en-US" sz="1500" dirty="0">
                <a:solidFill>
                  <a:schemeClr val="tx1"/>
                </a:solidFill>
              </a:rPr>
              <a:t>== statt equals (P5) und eine Schleife statt Rekursion in h) finden die Tests nicht – das prüft der Korrekturbogen.</a:t>
            </a:r>
            <a:endParaRPr lang="en-US" sz="1500" dirty="0"/>
          </a:p>
        </p:txBody>
      </p:sp>
      <p:sp>
        <p:nvSpPr>
          <p:cNvPr id="15" name="Chip"/>
          <p:cNvSpPr txBox="1"/>
          <p:nvPr/>
        </p:nvSpPr>
        <p:spPr>
          <a:xfrm>
            <a:off x="6309360" y="5074920"/>
            <a:ext cx="530352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Ziel: Handschrift läuft beim ersten Abtippen</a:t>
            </a:r>
            <a:endParaRPr lang="en-US" sz="1500" dirty="0"/>
          </a:p>
        </p:txBody>
      </p:sp>
      <p:sp>
        <p:nvSpPr>
          <p:cNvPr id="16" name="Warum"/>
          <p:cNvSpPr/>
          <p:nvPr/>
        </p:nvSpPr>
        <p:spPr>
          <a:xfrm>
            <a:off x="548640" y="5257800"/>
            <a:ext cx="5486400" cy="868680"/>
          </a:xfrm>
          <a:prstGeom prst="roundRect">
            <a:avLst>
              <a:gd name="adj" fmla="val 12632"/>
            </a:avLst>
          </a:prstGeom>
          <a:solidFill>
            <a:schemeClr val="bg2"/>
          </a:solidFill>
          <a:ln/>
        </p:spPr>
      </p:sp>
      <p:sp>
        <p:nvSpPr>
          <p:cNvPr id="17" name="Text 14"/>
          <p:cNvSpPr txBox="1"/>
          <p:nvPr/>
        </p:nvSpPr>
        <p:spPr>
          <a:xfrm>
            <a:off x="749808" y="5257800"/>
            <a:ext cx="5120640" cy="868680"/>
          </a:xfrm>
          <a:prstGeom prst="rect">
            <a:avLst/>
          </a:prstGeom>
          <a:noFill/>
          <a:ln/>
        </p:spPr>
        <p:txBody>
          <a:bodyPr wrap="square" lIns="0" tIns="0" rIns="0" bIns="0" rtlCol="0" anchor="ctr"/>
          <a:lstStyle/>
          <a:p>
            <a:pPr indent="0" marL="0">
              <a:buNone/>
            </a:pPr>
            <a:r>
              <a:rPr lang="en-US" sz="1500" b="1" dirty="0">
                <a:solidFill>
                  <a:schemeClr val="accent1"/>
                </a:solidFill>
              </a:rPr>
              <a:t>Warum? </a:t>
            </a:r>
            <a:pPr indent="0" marL="0">
              <a:buNone/>
            </a:pPr>
            <a:r>
              <a:rPr lang="en-US" sz="1500" dirty="0">
                <a:solidFill>
                  <a:schemeClr val="tx1"/>
                </a:solidFill>
              </a:rPr>
              <a:t>Im Abitur gibt es keinen Compiler – nur deine Handschrift.</a:t>
            </a:r>
            <a:endParaRPr lang="en-US" sz="1500" dirty="0"/>
          </a:p>
        </p:txBody>
      </p:sp>
      <p:sp>
        <p:nvSpPr>
          <p:cNvPr id="18" name="Text 15"/>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38 · Papier-Compiler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Letzte Runde vor der Klausur</a:t>
            </a:r>
            <a:endParaRPr lang="en-US" sz="3600" dirty="0"/>
          </a:p>
        </p:txBody>
      </p:sp>
      <p:sp>
        <p:nvSpPr>
          <p:cNvPr id="3" name="Kata-Nachtest"/>
          <p:cNvSpPr/>
          <p:nvPr/>
        </p:nvSpPr>
        <p:spPr>
          <a:xfrm>
            <a:off x="548640" y="1325880"/>
            <a:ext cx="3520440" cy="3840480"/>
          </a:xfrm>
          <a:prstGeom prst="roundRect">
            <a:avLst>
              <a:gd name="adj" fmla="val 3117"/>
            </a:avLst>
          </a:prstGeom>
          <a:solidFill>
            <a:schemeClr val="bg1"/>
          </a:solidFill>
          <a:ln w="31750">
            <a:solidFill>
              <a:schemeClr val="accent1"/>
            </a:solidFill>
            <a:prstDash val="solid"/>
          </a:ln>
          <a:effectLst>
            <a:outerShdw sx="100000" sy="100000" kx="0" ky="0" algn="bl" rotWithShape="0" blurRad="76200" dist="25400" dir="5400000">
              <a:srgbClr val="000000">
                <a:alpha val="18000"/>
              </a:srgbClr>
            </a:outerShdw>
          </a:effectLst>
        </p:spPr>
      </p:sp>
      <p:sp>
        <p:nvSpPr>
          <p:cNvPr id="4" name="Icon-Kreis"/>
          <p:cNvSpPr/>
          <p:nvPr/>
        </p:nvSpPr>
        <p:spPr>
          <a:xfrm>
            <a:off x="731520" y="1481328"/>
            <a:ext cx="731520" cy="731520"/>
          </a:xfrm>
          <a:prstGeom prst="ellipse">
            <a:avLst/>
          </a:prstGeom>
          <a:solidFill>
            <a:schemeClr val="accent1"/>
          </a:solidFill>
          <a:ln/>
        </p:spPr>
      </p:sp>
      <p:pic>
        <p:nvPicPr>
          <p:cNvPr id="5" name="Icon GiCardRandom" descr="preencoded.png">    </p:cNvPr>
          <p:cNvPicPr>
            <a:picLocks noChangeAspect="1"/>
          </p:cNvPicPr>
          <p:nvPr/>
        </p:nvPicPr>
        <p:blipFill>
          <a:blip r:embed="rId1"/>
          <a:stretch>
            <a:fillRect/>
          </a:stretch>
        </p:blipFill>
        <p:spPr>
          <a:xfrm>
            <a:off x="892454" y="1642262"/>
            <a:ext cx="409651" cy="409651"/>
          </a:xfrm>
          <a:prstGeom prst="rect">
            <a:avLst/>
          </a:prstGeom>
        </p:spPr>
      </p:pic>
      <p:sp>
        <p:nvSpPr>
          <p:cNvPr id="6" name="Text 3"/>
          <p:cNvSpPr txBox="1"/>
          <p:nvPr/>
        </p:nvSpPr>
        <p:spPr>
          <a:xfrm>
            <a:off x="1600200" y="1481328"/>
            <a:ext cx="2331720" cy="731520"/>
          </a:xfrm>
          <a:prstGeom prst="rect">
            <a:avLst/>
          </a:prstGeom>
          <a:noFill/>
          <a:ln/>
        </p:spPr>
        <p:txBody>
          <a:bodyPr wrap="square" lIns="0" tIns="0" rIns="0" bIns="0" rtlCol="0" anchor="ctr"/>
          <a:lstStyle/>
          <a:p>
            <a:pPr indent="0" marL="0">
              <a:buNone/>
            </a:pPr>
            <a:r>
              <a:rPr lang="en-US" sz="2000" b="1" dirty="0">
                <a:solidFill>
                  <a:schemeClr val="accent1"/>
                </a:solidFill>
              </a:rPr>
              <a:t>Warm-up-Nachtest</a:t>
            </a:r>
            <a:endParaRPr lang="en-US" sz="2000" dirty="0"/>
          </a:p>
        </p:txBody>
      </p:sp>
      <p:sp>
        <p:nvSpPr>
          <p:cNvPr id="7" name="Text 4"/>
          <p:cNvSpPr txBox="1"/>
          <p:nvPr/>
        </p:nvSpPr>
        <p:spPr>
          <a:xfrm>
            <a:off x="731520" y="2377440"/>
            <a:ext cx="3154680" cy="1783080"/>
          </a:xfrm>
          <a:prstGeom prst="rect">
            <a:avLst/>
          </a:prstGeom>
          <a:noFill/>
          <a:ln/>
        </p:spPr>
        <p:txBody>
          <a:bodyPr wrap="square" lIns="0" tIns="0" rIns="0" bIns="0" rtlCol="0" anchor="t"/>
          <a:lstStyle/>
          <a:p>
            <a:pPr indent="0" marL="0">
              <a:buNone/>
            </a:pPr>
            <a:r>
              <a:rPr lang="en-US" sz="1500" dirty="0">
                <a:solidFill>
                  <a:schemeClr val="tx1"/>
                </a:solidFill>
              </a:rPr>
              <a:t>Papier, ohne Gerät: Aufgaben zu den Kurs-Top-3. Das Team trägt seine Striche in die letzte Spalte der Strichliste ein.</a:t>
            </a:r>
            <a:endParaRPr lang="en-US" sz="1500" dirty="0"/>
          </a:p>
        </p:txBody>
      </p:sp>
      <p:sp>
        <p:nvSpPr>
          <p:cNvPr id="8" name="Merke Kata-Nachtest"/>
          <p:cNvSpPr txBox="1"/>
          <p:nvPr/>
        </p:nvSpPr>
        <p:spPr>
          <a:xfrm>
            <a:off x="731520" y="4224528"/>
            <a:ext cx="3154680" cy="749808"/>
          </a:xfrm>
          <a:prstGeom prst="rect">
            <a:avLst/>
          </a:prstGeom>
          <a:solidFill>
            <a:schemeClr val="bg2"/>
          </a:solidFill>
          <a:ln/>
        </p:spPr>
        <p:txBody>
          <a:bodyPr wrap="square" lIns="76200" tIns="0" rIns="76200" bIns="0" rtlCol="0" anchor="ctr"/>
          <a:lstStyle/>
          <a:p>
            <a:pPr indent="0" marL="0">
              <a:buNone/>
            </a:pPr>
            <a:r>
              <a:rPr lang="en-US" sz="1400" b="1" dirty="0">
                <a:solidFill>
                  <a:schemeClr val="accent1"/>
                </a:solidFill>
              </a:rPr>
              <a:t>Vergleich mit DS 38: Welche Fallen sind kleiner?</a:t>
            </a:r>
            <a:endParaRPr lang="en-US" sz="1400" dirty="0"/>
          </a:p>
        </p:txBody>
      </p:sp>
      <p:sp>
        <p:nvSpPr>
          <p:cNvPr id="9" name="Fallen im Lab"/>
          <p:cNvSpPr/>
          <p:nvPr/>
        </p:nvSpPr>
        <p:spPr>
          <a:xfrm>
            <a:off x="4297680" y="1325880"/>
            <a:ext cx="3520440" cy="3840480"/>
          </a:xfrm>
          <a:prstGeom prst="roundRect">
            <a:avLst>
              <a:gd name="adj" fmla="val 3117"/>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0" name="Icon-Kreis"/>
          <p:cNvSpPr/>
          <p:nvPr/>
        </p:nvSpPr>
        <p:spPr>
          <a:xfrm>
            <a:off x="4480560" y="1481328"/>
            <a:ext cx="731520" cy="731520"/>
          </a:xfrm>
          <a:prstGeom prst="ellipse">
            <a:avLst/>
          </a:prstGeom>
          <a:solidFill>
            <a:schemeClr val="accent2"/>
          </a:solidFill>
          <a:ln/>
        </p:spPr>
      </p:sp>
      <p:pic>
        <p:nvPicPr>
          <p:cNvPr id="11" name="Icon GiLaptop" descr="preencoded.png">    </p:cNvPr>
          <p:cNvPicPr>
            <a:picLocks noChangeAspect="1"/>
          </p:cNvPicPr>
          <p:nvPr/>
        </p:nvPicPr>
        <p:blipFill>
          <a:blip r:embed="rId2"/>
          <a:stretch>
            <a:fillRect/>
          </a:stretch>
        </p:blipFill>
        <p:spPr>
          <a:xfrm>
            <a:off x="4641494" y="1642262"/>
            <a:ext cx="409651" cy="409651"/>
          </a:xfrm>
          <a:prstGeom prst="rect">
            <a:avLst/>
          </a:prstGeom>
        </p:spPr>
      </p:pic>
      <p:sp>
        <p:nvSpPr>
          <p:cNvPr id="12" name="Text 8"/>
          <p:cNvSpPr txBox="1"/>
          <p:nvPr/>
        </p:nvSpPr>
        <p:spPr>
          <a:xfrm>
            <a:off x="5349240" y="1481328"/>
            <a:ext cx="2331720" cy="731520"/>
          </a:xfrm>
          <a:prstGeom prst="rect">
            <a:avLst/>
          </a:prstGeom>
          <a:noFill/>
          <a:ln/>
        </p:spPr>
        <p:txBody>
          <a:bodyPr wrap="square" lIns="0" tIns="0" rIns="0" bIns="0" rtlCol="0" anchor="ctr"/>
          <a:lstStyle/>
          <a:p>
            <a:pPr indent="0" marL="0">
              <a:buNone/>
            </a:pPr>
            <a:r>
              <a:rPr lang="en-US" sz="2000" b="1" dirty="0">
                <a:solidFill>
                  <a:schemeClr val="accent1"/>
                </a:solidFill>
              </a:rPr>
              <a:t>Fallen im Lab</a:t>
            </a:r>
            <a:endParaRPr lang="en-US" sz="2000" dirty="0"/>
          </a:p>
        </p:txBody>
      </p:sp>
      <p:sp>
        <p:nvSpPr>
          <p:cNvPr id="13" name="Text 9"/>
          <p:cNvSpPr txBox="1"/>
          <p:nvPr/>
        </p:nvSpPr>
        <p:spPr>
          <a:xfrm>
            <a:off x="4480560" y="2377440"/>
            <a:ext cx="3154680" cy="1783080"/>
          </a:xfrm>
          <a:prstGeom prst="rect">
            <a:avLst/>
          </a:prstGeom>
          <a:noFill/>
          <a:ln/>
        </p:spPr>
        <p:txBody>
          <a:bodyPr wrap="square" lIns="0" tIns="0" rIns="0" bIns="0" rtlCol="0" anchor="t"/>
          <a:lstStyle/>
          <a:p>
            <a:pPr indent="0" marL="0">
              <a:buNone/>
            </a:pPr>
            <a:r>
              <a:rPr lang="en-US" sz="1500" dirty="0">
                <a:solidFill>
                  <a:schemeClr val="tx1"/>
                </a:solidFill>
              </a:rPr>
              <a:t>Level 6.1 und 6.2 (Fallenjagd P1–P10), Level 6.3 und 6.4 (Abi-Mix) und der Online-Boss „Generalprobe online“ – automatisch geprüft.</a:t>
            </a:r>
            <a:endParaRPr lang="en-US" sz="1500" dirty="0"/>
          </a:p>
        </p:txBody>
      </p:sp>
      <p:sp>
        <p:nvSpPr>
          <p:cNvPr id="14" name="Merke Fallen im Lab"/>
          <p:cNvSpPr txBox="1"/>
          <p:nvPr/>
        </p:nvSpPr>
        <p:spPr>
          <a:xfrm>
            <a:off x="4480560" y="4224528"/>
            <a:ext cx="3154680" cy="749808"/>
          </a:xfrm>
          <a:prstGeom prst="rect">
            <a:avLst/>
          </a:prstGeom>
          <a:solidFill>
            <a:schemeClr val="bg2"/>
          </a:solidFill>
          <a:ln/>
        </p:spPr>
        <p:txBody>
          <a:bodyPr wrap="square" lIns="76200" tIns="0" rIns="76200" bIns="0" rtlCol="0" anchor="ctr"/>
          <a:lstStyle/>
          <a:p>
            <a:pPr indent="0" marL="0">
              <a:buNone/>
            </a:pPr>
            <a:r>
              <a:rPr lang="en-US" sz="1400" b="1" dirty="0">
                <a:solidFill>
                  <a:schemeClr val="accent1"/>
                </a:solidFill>
              </a:rPr>
              <a:t>Punkte gibt es dort automatisch</a:t>
            </a:r>
            <a:endParaRPr lang="en-US" sz="1400" dirty="0"/>
          </a:p>
        </p:txBody>
      </p:sp>
      <p:sp>
        <p:nvSpPr>
          <p:cNvPr id="15" name="Gezielt trainieren"/>
          <p:cNvSpPr/>
          <p:nvPr/>
        </p:nvSpPr>
        <p:spPr>
          <a:xfrm>
            <a:off x="8046720" y="1325880"/>
            <a:ext cx="3520440" cy="3840480"/>
          </a:xfrm>
          <a:prstGeom prst="roundRect">
            <a:avLst>
              <a:gd name="adj" fmla="val 3117"/>
            </a:avLst>
          </a:prstGeom>
          <a:solidFill>
            <a:schemeClr val="bg1"/>
          </a:solidFill>
          <a:ln w="31750">
            <a:solidFill>
              <a:schemeClr val="accent3"/>
            </a:solidFill>
            <a:prstDash val="solid"/>
          </a:ln>
          <a:effectLst>
            <a:outerShdw sx="100000" sy="100000" kx="0" ky="0" algn="bl" rotWithShape="0" blurRad="76200" dist="25400" dir="5400000">
              <a:srgbClr val="000000">
                <a:alpha val="18000"/>
              </a:srgbClr>
            </a:outerShdw>
          </a:effectLst>
        </p:spPr>
      </p:sp>
      <p:sp>
        <p:nvSpPr>
          <p:cNvPr id="16" name="Icon-Kreis"/>
          <p:cNvSpPr/>
          <p:nvPr/>
        </p:nvSpPr>
        <p:spPr>
          <a:xfrm>
            <a:off x="8229600" y="1481328"/>
            <a:ext cx="731520" cy="731520"/>
          </a:xfrm>
          <a:prstGeom prst="ellipse">
            <a:avLst/>
          </a:prstGeom>
          <a:solidFill>
            <a:schemeClr val="accent3"/>
          </a:solidFill>
          <a:ln/>
        </p:spPr>
      </p:sp>
      <p:pic>
        <p:nvPicPr>
          <p:cNvPr id="17" name="Icon GiBrain" descr="preencoded.png">    </p:cNvPr>
          <p:cNvPicPr>
            <a:picLocks noChangeAspect="1"/>
          </p:cNvPicPr>
          <p:nvPr/>
        </p:nvPicPr>
        <p:blipFill>
          <a:blip r:embed="rId3"/>
          <a:stretch>
            <a:fillRect/>
          </a:stretch>
        </p:blipFill>
        <p:spPr>
          <a:xfrm>
            <a:off x="8390534" y="1642262"/>
            <a:ext cx="409651" cy="409651"/>
          </a:xfrm>
          <a:prstGeom prst="rect">
            <a:avLst/>
          </a:prstGeom>
        </p:spPr>
      </p:pic>
      <p:sp>
        <p:nvSpPr>
          <p:cNvPr id="18" name="Text 13"/>
          <p:cNvSpPr txBox="1"/>
          <p:nvPr/>
        </p:nvSpPr>
        <p:spPr>
          <a:xfrm>
            <a:off x="9098280" y="1481328"/>
            <a:ext cx="2331720" cy="731520"/>
          </a:xfrm>
          <a:prstGeom prst="rect">
            <a:avLst/>
          </a:prstGeom>
          <a:noFill/>
          <a:ln/>
        </p:spPr>
        <p:txBody>
          <a:bodyPr wrap="square" lIns="0" tIns="0" rIns="0" bIns="0" rtlCol="0" anchor="ctr"/>
          <a:lstStyle/>
          <a:p>
            <a:pPr indent="0" marL="0">
              <a:buNone/>
            </a:pPr>
            <a:r>
              <a:rPr lang="en-US" sz="2000" b="1" dirty="0">
                <a:solidFill>
                  <a:schemeClr val="accent1"/>
                </a:solidFill>
              </a:rPr>
              <a:t>Gezielt trainieren</a:t>
            </a:r>
            <a:endParaRPr lang="en-US" sz="2000" dirty="0"/>
          </a:p>
        </p:txBody>
      </p:sp>
      <p:sp>
        <p:nvSpPr>
          <p:cNvPr id="19" name="Text 14"/>
          <p:cNvSpPr txBox="1"/>
          <p:nvPr/>
        </p:nvSpPr>
        <p:spPr>
          <a:xfrm>
            <a:off x="8229600" y="2377440"/>
            <a:ext cx="3154680" cy="1783080"/>
          </a:xfrm>
          <a:prstGeom prst="rect">
            <a:avLst/>
          </a:prstGeom>
          <a:noFill/>
          <a:ln/>
        </p:spPr>
        <p:txBody>
          <a:bodyPr wrap="square" lIns="0" tIns="0" rIns="0" bIns="0" rtlCol="0" anchor="t"/>
          <a:lstStyle/>
          <a:p>
            <a:pPr indent="0" marL="0">
              <a:buNone/>
            </a:pPr>
            <a:r>
              <a:rPr lang="en-US" sz="1500" dirty="0">
                <a:solidFill>
                  <a:schemeClr val="tx1"/>
                </a:solidFill>
              </a:rPr>
              <a:t>Dein Abi-Fahrplan: Top-3-Fehler mit Fehlerjagd-Aufgaben, Warm-up-Karten W6 im Warm-up-Trainer des Lab und den passenden Videos.</a:t>
            </a:r>
            <a:endParaRPr lang="en-US" sz="1500" dirty="0"/>
          </a:p>
        </p:txBody>
      </p:sp>
      <p:sp>
        <p:nvSpPr>
          <p:cNvPr id="20" name="Merke Gezielt trainieren"/>
          <p:cNvSpPr txBox="1"/>
          <p:nvPr/>
        </p:nvSpPr>
        <p:spPr>
          <a:xfrm>
            <a:off x="8229600" y="4224528"/>
            <a:ext cx="3154680" cy="749808"/>
          </a:xfrm>
          <a:prstGeom prst="rect">
            <a:avLst/>
          </a:prstGeom>
          <a:solidFill>
            <a:schemeClr val="bg2"/>
          </a:solidFill>
          <a:ln/>
        </p:spPr>
        <p:txBody>
          <a:bodyPr wrap="square" lIns="76200" tIns="0" rIns="76200" bIns="0" rtlCol="0" anchor="ctr"/>
          <a:lstStyle/>
          <a:p>
            <a:pPr indent="0" marL="0">
              <a:buNone/>
            </a:pPr>
            <a:r>
              <a:rPr lang="en-US" sz="1400" b="1" dirty="0">
                <a:solidFill>
                  <a:schemeClr val="accent1"/>
                </a:solidFill>
              </a:rPr>
              <a:t>Endgegner-Mix: W6-01 bis W6-14</a:t>
            </a:r>
            <a:endParaRPr lang="en-US" sz="1400" dirty="0"/>
          </a:p>
        </p:txBody>
      </p:sp>
      <p:sp>
        <p:nvSpPr>
          <p:cNvPr id="21" name="Note getrennt"/>
          <p:cNvSpPr/>
          <p:nvPr/>
        </p:nvSpPr>
        <p:spPr>
          <a:xfrm>
            <a:off x="548640" y="5394960"/>
            <a:ext cx="11064240" cy="731520"/>
          </a:xfrm>
          <a:prstGeom prst="roundRect">
            <a:avLst>
              <a:gd name="adj" fmla="val 15000"/>
            </a:avLst>
          </a:prstGeom>
          <a:solidFill>
            <a:schemeClr val="bg1"/>
          </a:solidFill>
          <a:ln w="25400">
            <a:solidFill>
              <a:schemeClr val="accent4"/>
            </a:solidFill>
            <a:prstDash val="solid"/>
          </a:ln>
        </p:spPr>
      </p:sp>
      <p:sp>
        <p:nvSpPr>
          <p:cNvPr id="22" name="Text 17"/>
          <p:cNvSpPr txBox="1"/>
          <p:nvPr/>
        </p:nvSpPr>
        <p:spPr>
          <a:xfrm>
            <a:off x="749808" y="5394960"/>
            <a:ext cx="10698480" cy="731520"/>
          </a:xfrm>
          <a:prstGeom prst="rect">
            <a:avLst/>
          </a:prstGeom>
          <a:noFill/>
          <a:ln/>
        </p:spPr>
        <p:txBody>
          <a:bodyPr wrap="square" lIns="0" tIns="0" rIns="0" bIns="0" rtlCol="0" anchor="ctr"/>
          <a:lstStyle/>
          <a:p>
            <a:pPr indent="0" marL="0">
              <a:buNone/>
            </a:pPr>
            <a:r>
              <a:rPr lang="en-US" sz="1700" b="1" dirty="0">
                <a:solidFill>
                  <a:schemeClr val="accent4"/>
                </a:solidFill>
              </a:rPr>
              <a:t>Achtung: </a:t>
            </a:r>
            <a:pPr indent="0" marL="0">
              <a:buNone/>
            </a:pPr>
            <a:r>
              <a:rPr lang="en-US" sz="1700" dirty="0">
                <a:solidFill>
                  <a:schemeClr val="tx1"/>
                </a:solidFill>
              </a:rPr>
              <a:t>Die Klausur wird benotet – Lab-Punkte zählen nicht für die Note. Punkte und Note bleiben getrennt, wie von Anfang an.</a:t>
            </a:r>
            <a:endParaRPr lang="en-US" sz="1700" dirty="0"/>
          </a:p>
        </p:txBody>
      </p:sp>
      <p:sp>
        <p:nvSpPr>
          <p:cNvPr id="23" name="Text 18"/>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vor DS 39 · Nachtest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Klausur „Ladepark“: Das Briefing</a:t>
            </a:r>
            <a:endParaRPr lang="en-US" sz="3600" dirty="0"/>
          </a:p>
        </p:txBody>
      </p:sp>
      <p:sp>
        <p:nvSpPr>
          <p:cNvPr id="3" name="Kennzahl 180 min"/>
          <p:cNvSpPr/>
          <p:nvPr/>
        </p:nvSpPr>
        <p:spPr>
          <a:xfrm>
            <a:off x="548640" y="1325880"/>
            <a:ext cx="3520440" cy="1325880"/>
          </a:xfrm>
          <a:prstGeom prst="roundRect">
            <a:avLst>
              <a:gd name="adj" fmla="val 8276"/>
            </a:avLst>
          </a:prstGeom>
          <a:solidFill>
            <a:schemeClr val="bg1"/>
          </a:solidFill>
          <a:ln/>
        </p:spPr>
      </p:sp>
      <p:sp>
        <p:nvSpPr>
          <p:cNvPr id="4" name="Text 2"/>
          <p:cNvSpPr txBox="1"/>
          <p:nvPr/>
        </p:nvSpPr>
        <p:spPr>
          <a:xfrm>
            <a:off x="685800" y="1417320"/>
            <a:ext cx="3246120" cy="640080"/>
          </a:xfrm>
          <a:prstGeom prst="rect">
            <a:avLst/>
          </a:prstGeom>
          <a:noFill/>
          <a:ln/>
        </p:spPr>
        <p:txBody>
          <a:bodyPr wrap="square" lIns="0" tIns="0" rIns="0" bIns="0" rtlCol="0" anchor="ctr"/>
          <a:lstStyle/>
          <a:p>
            <a:pPr algn="ctr" indent="0" marL="0">
              <a:buNone/>
            </a:pPr>
            <a:r>
              <a:rPr lang="en-US" sz="3400" b="1" dirty="0">
                <a:solidFill>
                  <a:schemeClr val="accent1"/>
                </a:solidFill>
              </a:rPr>
              <a:t>180 min</a:t>
            </a:r>
            <a:endParaRPr lang="en-US" sz="3400" dirty="0"/>
          </a:p>
        </p:txBody>
      </p:sp>
      <p:sp>
        <p:nvSpPr>
          <p:cNvPr id="5" name="Text 3"/>
          <p:cNvSpPr txBox="1"/>
          <p:nvPr/>
        </p:nvSpPr>
        <p:spPr>
          <a:xfrm>
            <a:off x="685800" y="2057400"/>
            <a:ext cx="3246120" cy="457200"/>
          </a:xfrm>
          <a:prstGeom prst="rect">
            <a:avLst/>
          </a:prstGeom>
          <a:noFill/>
          <a:ln/>
        </p:spPr>
        <p:txBody>
          <a:bodyPr wrap="square" lIns="0" tIns="0" rIns="0" bIns="0" rtlCol="0" anchor="ctr"/>
          <a:lstStyle/>
          <a:p>
            <a:pPr algn="ctr" indent="0" marL="0">
              <a:buNone/>
            </a:pPr>
            <a:r>
              <a:rPr lang="en-US" sz="1500" dirty="0">
                <a:solidFill>
                  <a:schemeClr val="tx1"/>
                </a:solidFill>
              </a:rPr>
              <a:t>einschließlich Einlesezeit</a:t>
            </a:r>
            <a:endParaRPr lang="en-US" sz="1500" dirty="0"/>
          </a:p>
        </p:txBody>
      </p:sp>
      <p:sp>
        <p:nvSpPr>
          <p:cNvPr id="6" name="Kennzahl 60 BE"/>
          <p:cNvSpPr/>
          <p:nvPr/>
        </p:nvSpPr>
        <p:spPr>
          <a:xfrm>
            <a:off x="4297680" y="1325880"/>
            <a:ext cx="3520440" cy="1325880"/>
          </a:xfrm>
          <a:prstGeom prst="roundRect">
            <a:avLst>
              <a:gd name="adj" fmla="val 8276"/>
            </a:avLst>
          </a:prstGeom>
          <a:solidFill>
            <a:schemeClr val="bg1"/>
          </a:solidFill>
          <a:ln/>
        </p:spPr>
      </p:sp>
      <p:sp>
        <p:nvSpPr>
          <p:cNvPr id="7" name="Text 5"/>
          <p:cNvSpPr txBox="1"/>
          <p:nvPr/>
        </p:nvSpPr>
        <p:spPr>
          <a:xfrm>
            <a:off x="4434840" y="1417320"/>
            <a:ext cx="3246120" cy="640080"/>
          </a:xfrm>
          <a:prstGeom prst="rect">
            <a:avLst/>
          </a:prstGeom>
          <a:noFill/>
          <a:ln/>
        </p:spPr>
        <p:txBody>
          <a:bodyPr wrap="square" lIns="0" tIns="0" rIns="0" bIns="0" rtlCol="0" anchor="ctr"/>
          <a:lstStyle/>
          <a:p>
            <a:pPr algn="ctr" indent="0" marL="0">
              <a:buNone/>
            </a:pPr>
            <a:r>
              <a:rPr lang="en-US" sz="3400" b="1" dirty="0">
                <a:solidFill>
                  <a:schemeClr val="accent1"/>
                </a:solidFill>
              </a:rPr>
              <a:t>60 BE</a:t>
            </a:r>
            <a:endParaRPr lang="en-US" sz="3400" dirty="0"/>
          </a:p>
        </p:txBody>
      </p:sp>
      <p:sp>
        <p:nvSpPr>
          <p:cNvPr id="8" name="Text 6"/>
          <p:cNvSpPr txBox="1"/>
          <p:nvPr/>
        </p:nvSpPr>
        <p:spPr>
          <a:xfrm>
            <a:off x="4434840" y="2057400"/>
            <a:ext cx="3246120" cy="457200"/>
          </a:xfrm>
          <a:prstGeom prst="rect">
            <a:avLst/>
          </a:prstGeom>
          <a:noFill/>
          <a:ln/>
        </p:spPr>
        <p:txBody>
          <a:bodyPr wrap="square" lIns="0" tIns="0" rIns="0" bIns="0" rtlCol="0" anchor="ctr"/>
          <a:lstStyle/>
          <a:p>
            <a:pPr algn="ctr" indent="0" marL="0">
              <a:buNone/>
            </a:pPr>
            <a:r>
              <a:rPr lang="en-US" sz="1500" dirty="0">
                <a:solidFill>
                  <a:schemeClr val="tx1"/>
                </a:solidFill>
              </a:rPr>
              <a:t>AFB I · II · III = 18 · 32 · 10</a:t>
            </a:r>
            <a:endParaRPr lang="en-US" sz="1500" dirty="0"/>
          </a:p>
        </p:txBody>
      </p:sp>
      <p:sp>
        <p:nvSpPr>
          <p:cNvPr id="9" name="Kennzahl Block 1"/>
          <p:cNvSpPr/>
          <p:nvPr/>
        </p:nvSpPr>
        <p:spPr>
          <a:xfrm>
            <a:off x="8046720" y="1325880"/>
            <a:ext cx="3520440" cy="1325880"/>
          </a:xfrm>
          <a:prstGeom prst="roundRect">
            <a:avLst>
              <a:gd name="adj" fmla="val 8276"/>
            </a:avLst>
          </a:prstGeom>
          <a:solidFill>
            <a:schemeClr val="bg1"/>
          </a:solidFill>
          <a:ln/>
        </p:spPr>
      </p:sp>
      <p:sp>
        <p:nvSpPr>
          <p:cNvPr id="10" name="Text 8"/>
          <p:cNvSpPr txBox="1"/>
          <p:nvPr/>
        </p:nvSpPr>
        <p:spPr>
          <a:xfrm>
            <a:off x="8183880" y="1417320"/>
            <a:ext cx="3246120" cy="640080"/>
          </a:xfrm>
          <a:prstGeom prst="rect">
            <a:avLst/>
          </a:prstGeom>
          <a:noFill/>
          <a:ln/>
        </p:spPr>
        <p:txBody>
          <a:bodyPr wrap="square" lIns="0" tIns="0" rIns="0" bIns="0" rtlCol="0" anchor="ctr"/>
          <a:lstStyle/>
          <a:p>
            <a:pPr algn="ctr" indent="0" marL="0">
              <a:buNone/>
            </a:pPr>
            <a:r>
              <a:rPr lang="en-US" sz="3400" b="1" dirty="0">
                <a:solidFill>
                  <a:schemeClr val="accent1"/>
                </a:solidFill>
              </a:rPr>
              <a:t>Block 1</a:t>
            </a:r>
            <a:endParaRPr lang="en-US" sz="3400" dirty="0"/>
          </a:p>
        </p:txBody>
      </p:sp>
      <p:sp>
        <p:nvSpPr>
          <p:cNvPr id="11" name="Text 9"/>
          <p:cNvSpPr txBox="1"/>
          <p:nvPr/>
        </p:nvSpPr>
        <p:spPr>
          <a:xfrm>
            <a:off x="8183880" y="2057400"/>
            <a:ext cx="3246120" cy="457200"/>
          </a:xfrm>
          <a:prstGeom prst="rect">
            <a:avLst/>
          </a:prstGeom>
          <a:noFill/>
          <a:ln/>
        </p:spPr>
        <p:txBody>
          <a:bodyPr wrap="square" lIns="0" tIns="0" rIns="0" bIns="0" rtlCol="0" anchor="ctr"/>
          <a:lstStyle/>
          <a:p>
            <a:pPr algn="ctr" indent="0" marL="0">
              <a:buNone/>
            </a:pPr>
            <a:r>
              <a:rPr lang="en-US" sz="1500" dirty="0">
                <a:solidFill>
                  <a:schemeClr val="tx1"/>
                </a:solidFill>
              </a:rPr>
              <a:t>Abitur-Format, ohne Zusatzthema</a:t>
            </a:r>
            <a:endParaRPr lang="en-US" sz="1500" dirty="0"/>
          </a:p>
        </p:txBody>
      </p:sp>
      <p:sp>
        <p:nvSpPr>
          <p:cNvPr id="12" name="Icon-Kreis"/>
          <p:cNvSpPr/>
          <p:nvPr/>
        </p:nvSpPr>
        <p:spPr>
          <a:xfrm>
            <a:off x="548640" y="2926080"/>
            <a:ext cx="658368" cy="658368"/>
          </a:xfrm>
          <a:prstGeom prst="ellipse">
            <a:avLst/>
          </a:prstGeom>
          <a:solidFill>
            <a:schemeClr val="bg1"/>
          </a:solidFill>
          <a:ln/>
        </p:spPr>
      </p:sp>
      <p:pic>
        <p:nvPicPr>
          <p:cNvPr id="13" name="Icon GiSecretBook" descr="preencoded.png">    </p:cNvPr>
          <p:cNvPicPr>
            <a:picLocks noChangeAspect="1"/>
          </p:cNvPicPr>
          <p:nvPr/>
        </p:nvPicPr>
        <p:blipFill>
          <a:blip r:embed="rId1"/>
          <a:stretch>
            <a:fillRect/>
          </a:stretch>
        </p:blipFill>
        <p:spPr>
          <a:xfrm>
            <a:off x="693481" y="3070921"/>
            <a:ext cx="368686" cy="368686"/>
          </a:xfrm>
          <a:prstGeom prst="rect">
            <a:avLst/>
          </a:prstGeom>
        </p:spPr>
      </p:pic>
      <p:sp>
        <p:nvSpPr>
          <p:cNvPr id="14" name="Text 11"/>
          <p:cNvSpPr txBox="1"/>
          <p:nvPr/>
        </p:nvSpPr>
        <p:spPr>
          <a:xfrm>
            <a:off x="1371600" y="2880360"/>
            <a:ext cx="4663440" cy="822960"/>
          </a:xfrm>
          <a:prstGeom prst="rect">
            <a:avLst/>
          </a:prstGeom>
          <a:noFill/>
          <a:ln/>
        </p:spPr>
        <p:txBody>
          <a:bodyPr wrap="square" lIns="0" tIns="0" rIns="0" bIns="0" rtlCol="0" anchor="ctr"/>
          <a:lstStyle/>
          <a:p>
            <a:pPr indent="0" marL="0">
              <a:buNone/>
            </a:pPr>
            <a:r>
              <a:rPr lang="en-US" sz="1700" b="1" dirty="0">
                <a:solidFill>
                  <a:schemeClr val="accent2"/>
                </a:solidFill>
              </a:rPr>
              <a:t>Hilfsmittel</a:t>
            </a:r>
            <a:endParaRPr lang="en-US" sz="1800" dirty="0"/>
          </a:p>
          <a:p>
            <a:pPr indent="0" marL="0">
              <a:buNone/>
            </a:pPr>
            <a:r>
              <a:rPr lang="en-US" sz="1400" dirty="0">
                <a:solidFill>
                  <a:schemeClr val="bg1"/>
                </a:solidFill>
              </a:rPr>
              <a:t>nur die zugelassenen Abschnitte der Ergänzenden Hinweise – sonst nichts</a:t>
            </a:r>
            <a:endParaRPr lang="en-US" sz="1800" dirty="0"/>
          </a:p>
        </p:txBody>
      </p:sp>
      <p:sp>
        <p:nvSpPr>
          <p:cNvPr id="15" name="Icon-Kreis"/>
          <p:cNvSpPr/>
          <p:nvPr/>
        </p:nvSpPr>
        <p:spPr>
          <a:xfrm>
            <a:off x="6172200" y="2926080"/>
            <a:ext cx="658368" cy="658368"/>
          </a:xfrm>
          <a:prstGeom prst="ellipse">
            <a:avLst/>
          </a:prstGeom>
          <a:solidFill>
            <a:schemeClr val="bg1"/>
          </a:solidFill>
          <a:ln/>
        </p:spPr>
      </p:sp>
      <p:pic>
        <p:nvPicPr>
          <p:cNvPr id="16" name="Icon GiQuillInk" descr="preencoded.png">    </p:cNvPr>
          <p:cNvPicPr>
            <a:picLocks noChangeAspect="1"/>
          </p:cNvPicPr>
          <p:nvPr/>
        </p:nvPicPr>
        <p:blipFill>
          <a:blip r:embed="rId2"/>
          <a:stretch>
            <a:fillRect/>
          </a:stretch>
        </p:blipFill>
        <p:spPr>
          <a:xfrm>
            <a:off x="6317041" y="3070921"/>
            <a:ext cx="368686" cy="368686"/>
          </a:xfrm>
          <a:prstGeom prst="rect">
            <a:avLst/>
          </a:prstGeom>
        </p:spPr>
      </p:pic>
      <p:sp>
        <p:nvSpPr>
          <p:cNvPr id="17" name="Text 13"/>
          <p:cNvSpPr txBox="1"/>
          <p:nvPr/>
        </p:nvSpPr>
        <p:spPr>
          <a:xfrm>
            <a:off x="6995160" y="2880360"/>
            <a:ext cx="4663440" cy="822960"/>
          </a:xfrm>
          <a:prstGeom prst="rect">
            <a:avLst/>
          </a:prstGeom>
          <a:noFill/>
          <a:ln/>
        </p:spPr>
        <p:txBody>
          <a:bodyPr wrap="square" lIns="0" tIns="0" rIns="0" bIns="0" rtlCol="0" anchor="ctr"/>
          <a:lstStyle/>
          <a:p>
            <a:pPr indent="0" marL="0">
              <a:buNone/>
            </a:pPr>
            <a:r>
              <a:rPr lang="en-US" sz="1700" b="1" dirty="0">
                <a:solidFill>
                  <a:schemeClr val="accent2"/>
                </a:solidFill>
              </a:rPr>
              <a:t>Handschriftlich</a:t>
            </a:r>
            <a:endParaRPr lang="en-US" sz="1800" dirty="0"/>
          </a:p>
          <a:p>
            <a:pPr indent="0" marL="0">
              <a:buNone/>
            </a:pPr>
            <a:r>
              <a:rPr lang="en-US" sz="1400" dirty="0">
                <a:solidFill>
                  <a:schemeClr val="bg1"/>
                </a:solidFill>
              </a:rPr>
              <a:t>auf dem ausgegebenen Papier; Tabellen im Material ausfüllen und das Material mit abgeben</a:t>
            </a:r>
            <a:endParaRPr lang="en-US" sz="1800" dirty="0"/>
          </a:p>
        </p:txBody>
      </p:sp>
      <p:sp>
        <p:nvSpPr>
          <p:cNvPr id="18" name="Icon-Kreis"/>
          <p:cNvSpPr/>
          <p:nvPr/>
        </p:nvSpPr>
        <p:spPr>
          <a:xfrm>
            <a:off x="548640" y="3886200"/>
            <a:ext cx="658368" cy="658368"/>
          </a:xfrm>
          <a:prstGeom prst="ellipse">
            <a:avLst/>
          </a:prstGeom>
          <a:solidFill>
            <a:schemeClr val="bg1"/>
          </a:solidFill>
          <a:ln/>
        </p:spPr>
      </p:sp>
      <p:pic>
        <p:nvPicPr>
          <p:cNvPr id="19" name="Icon GiCog" descr="preencoded.png">    </p:cNvPr>
          <p:cNvPicPr>
            <a:picLocks noChangeAspect="1"/>
          </p:cNvPicPr>
          <p:nvPr/>
        </p:nvPicPr>
        <p:blipFill>
          <a:blip r:embed="rId3"/>
          <a:stretch>
            <a:fillRect/>
          </a:stretch>
        </p:blipFill>
        <p:spPr>
          <a:xfrm>
            <a:off x="693481" y="4031041"/>
            <a:ext cx="368686" cy="368686"/>
          </a:xfrm>
          <a:prstGeom prst="rect">
            <a:avLst/>
          </a:prstGeom>
        </p:spPr>
      </p:pic>
      <p:sp>
        <p:nvSpPr>
          <p:cNvPr id="20" name="Text 15"/>
          <p:cNvSpPr txBox="1"/>
          <p:nvPr/>
        </p:nvSpPr>
        <p:spPr>
          <a:xfrm>
            <a:off x="1371600" y="3840480"/>
            <a:ext cx="4663440" cy="822960"/>
          </a:xfrm>
          <a:prstGeom prst="rect">
            <a:avLst/>
          </a:prstGeom>
          <a:noFill/>
          <a:ln/>
        </p:spPr>
        <p:txBody>
          <a:bodyPr wrap="square" lIns="0" tIns="0" rIns="0" bIns="0" rtlCol="0" anchor="ctr"/>
          <a:lstStyle/>
          <a:p>
            <a:pPr indent="0" marL="0">
              <a:buNone/>
            </a:pPr>
            <a:r>
              <a:rPr lang="en-US" sz="1700" b="1" dirty="0">
                <a:solidFill>
                  <a:schemeClr val="accent2"/>
                </a:solidFill>
              </a:rPr>
              <a:t>Java mit den Niedersachsen-Klassen</a:t>
            </a:r>
            <a:endParaRPr lang="en-US" sz="1800" dirty="0"/>
          </a:p>
          <a:p>
            <a:pPr indent="0" marL="0">
              <a:buNone/>
            </a:pPr>
            <a:r>
              <a:rPr lang="en-US" sz="1400" dirty="0">
                <a:solidFill>
                  <a:schemeClr val="bg1"/>
                </a:solidFill>
              </a:rPr>
              <a:t>DynArray, Queue, Stack, BinTree sind nicht generisch – gelesene Inhalte casten</a:t>
            </a:r>
            <a:endParaRPr lang="en-US" sz="1800" dirty="0"/>
          </a:p>
        </p:txBody>
      </p:sp>
      <p:sp>
        <p:nvSpPr>
          <p:cNvPr id="21" name="Icon-Kreis"/>
          <p:cNvSpPr/>
          <p:nvPr/>
        </p:nvSpPr>
        <p:spPr>
          <a:xfrm>
            <a:off x="6172200" y="3886200"/>
            <a:ext cx="658368" cy="658368"/>
          </a:xfrm>
          <a:prstGeom prst="ellipse">
            <a:avLst/>
          </a:prstGeom>
          <a:solidFill>
            <a:schemeClr val="bg1"/>
          </a:solidFill>
          <a:ln/>
        </p:spPr>
      </p:sp>
      <p:pic>
        <p:nvPicPr>
          <p:cNvPr id="22" name="Icon GiShield" descr="preencoded.png">    </p:cNvPr>
          <p:cNvPicPr>
            <a:picLocks noChangeAspect="1"/>
          </p:cNvPicPr>
          <p:nvPr/>
        </p:nvPicPr>
        <p:blipFill>
          <a:blip r:embed="rId4"/>
          <a:stretch>
            <a:fillRect/>
          </a:stretch>
        </p:blipFill>
        <p:spPr>
          <a:xfrm>
            <a:off x="6317041" y="4031041"/>
            <a:ext cx="368686" cy="368686"/>
          </a:xfrm>
          <a:prstGeom prst="rect">
            <a:avLst/>
          </a:prstGeom>
        </p:spPr>
      </p:pic>
      <p:sp>
        <p:nvSpPr>
          <p:cNvPr id="23" name="Text 17"/>
          <p:cNvSpPr txBox="1"/>
          <p:nvPr/>
        </p:nvSpPr>
        <p:spPr>
          <a:xfrm>
            <a:off x="6995160" y="3840480"/>
            <a:ext cx="4663440" cy="822960"/>
          </a:xfrm>
          <a:prstGeom prst="rect">
            <a:avLst/>
          </a:prstGeom>
          <a:noFill/>
          <a:ln/>
        </p:spPr>
        <p:txBody>
          <a:bodyPr wrap="square" lIns="0" tIns="0" rIns="0" bIns="0" rtlCol="0" anchor="ctr"/>
          <a:lstStyle/>
          <a:p>
            <a:pPr indent="0" marL="0">
              <a:buNone/>
            </a:pPr>
            <a:r>
              <a:rPr lang="en-US" sz="1700" b="1" dirty="0">
                <a:solidFill>
                  <a:schemeClr val="accent2"/>
                </a:solidFill>
              </a:rPr>
              <a:t>Laufzeitfehler ausschließen</a:t>
            </a:r>
            <a:endParaRPr lang="en-US" sz="1800" dirty="0"/>
          </a:p>
          <a:p>
            <a:pPr indent="0" marL="0">
              <a:buNone/>
            </a:pPr>
            <a:r>
              <a:rPr lang="en-US" sz="1400" dirty="0">
                <a:solidFill>
                  <a:schemeClr val="bg1"/>
                </a:solidFill>
              </a:rPr>
              <a:t>leere Struktur, ungültiger Index, leerer Baum – durch explizite Abfragen</a:t>
            </a:r>
            <a:endParaRPr lang="en-US" sz="1800" dirty="0"/>
          </a:p>
        </p:txBody>
      </p:sp>
      <p:sp>
        <p:nvSpPr>
          <p:cNvPr id="24" name="Text 18"/>
          <p:cNvSpPr txBox="1"/>
          <p:nvPr/>
        </p:nvSpPr>
        <p:spPr>
          <a:xfrm>
            <a:off x="548640" y="4892040"/>
            <a:ext cx="11064240" cy="548640"/>
          </a:xfrm>
          <a:prstGeom prst="rect">
            <a:avLst/>
          </a:prstGeom>
          <a:noFill/>
          <a:ln/>
        </p:spPr>
        <p:txBody>
          <a:bodyPr wrap="square" lIns="0" tIns="0" rIns="0" bIns="0" rtlCol="0" anchor="ctr"/>
          <a:lstStyle/>
          <a:p>
            <a:pPr indent="0" marL="0">
              <a:buNone/>
            </a:pPr>
            <a:r>
              <a:rPr lang="en-US" sz="1600" b="1" dirty="0">
                <a:solidFill>
                  <a:schemeClr val="accent2"/>
                </a:solidFill>
              </a:rPr>
              <a:t>Mitbringen: </a:t>
            </a:r>
            <a:pPr indent="0" marL="0">
              <a:buNone/>
            </a:pPr>
            <a:r>
              <a:rPr lang="en-US" sz="1600" dirty="0">
                <a:solidFill>
                  <a:schemeClr val="bg1"/>
                </a:solidFill>
              </a:rPr>
              <a:t>dokumentenechte Stifte, Lineal fürs Struktogramm, Uhr ohne Netz.   </a:t>
            </a:r>
            <a:pPr indent="0" marL="0">
              <a:buNone/>
            </a:pPr>
            <a:r>
              <a:rPr lang="en-US" sz="1600" b="1" dirty="0">
                <a:solidFill>
                  <a:schemeClr val="accent2"/>
                </a:solidFill>
              </a:rPr>
              <a:t>Nachschreibtermin: </a:t>
            </a:r>
            <a:pPr indent="0" marL="0">
              <a:buNone/>
            </a:pPr>
            <a:r>
              <a:rPr lang="en-US" sz="1600" dirty="0">
                <a:solidFill>
                  <a:schemeClr val="bg1"/>
                </a:solidFill>
              </a:rPr>
              <a:t>gleiches Format, andere Aufgabe.</a:t>
            </a:r>
            <a:endParaRPr lang="en-US" sz="1600" dirty="0"/>
          </a:p>
        </p:txBody>
      </p:sp>
      <p:sp>
        <p:nvSpPr>
          <p:cNvPr id="25" name="Text 19"/>
          <p:cNvSpPr txBox="1"/>
          <p:nvPr/>
        </p:nvSpPr>
        <p:spPr>
          <a:xfrm>
            <a:off x="548640" y="5532120"/>
            <a:ext cx="11064240" cy="548640"/>
          </a:xfrm>
          <a:prstGeom prst="rect">
            <a:avLst/>
          </a:prstGeom>
          <a:noFill/>
          <a:ln/>
        </p:spPr>
        <p:txBody>
          <a:bodyPr wrap="square" lIns="0" tIns="0" rIns="0" bIns="0" rtlCol="0" anchor="ctr"/>
          <a:lstStyle/>
          <a:p>
            <a:pPr indent="0" marL="0">
              <a:buNone/>
            </a:pPr>
            <a:r>
              <a:rPr lang="en-US" sz="1800" b="1" dirty="0">
                <a:solidFill>
                  <a:schemeClr val="accent2"/>
                </a:solidFill>
              </a:rPr>
              <a:t>Benotet – ohne Lab-Punkte.  </a:t>
            </a:r>
            <a:pPr indent="0" marL="0">
              <a:buNone/>
            </a:pPr>
            <a:r>
              <a:rPr lang="en-US" sz="1800" dirty="0">
                <a:solidFill>
                  <a:schemeClr val="bg1"/>
                </a:solidFill>
              </a:rPr>
              <a:t>Dein Abi-Fahrplan und dein Abi-Check kommen mit – im Kopf.</a:t>
            </a:r>
            <a:endParaRPr lang="en-US" sz="1800" dirty="0"/>
          </a:p>
        </p:txBody>
      </p:sp>
      <p:sp>
        <p:nvSpPr>
          <p:cNvPr id="26" name="Text 2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39–40 · Klausur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Rückblick: Sieben Welten, sieben Bosse</a:t>
            </a:r>
            <a:endParaRPr lang="en-US" sz="3600" dirty="0"/>
          </a:p>
        </p:txBody>
      </p:sp>
      <p:sp>
        <p:nvSpPr>
          <p:cNvPr id="3" name="Welt 0"/>
          <p:cNvSpPr/>
          <p:nvPr/>
        </p:nvSpPr>
        <p:spPr>
          <a:xfrm>
            <a:off x="548640" y="1325880"/>
            <a:ext cx="1481328" cy="480060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 name="Icon-Kreis"/>
          <p:cNvSpPr/>
          <p:nvPr/>
        </p:nvSpPr>
        <p:spPr>
          <a:xfrm>
            <a:off x="923544" y="1463040"/>
            <a:ext cx="731520" cy="731520"/>
          </a:xfrm>
          <a:prstGeom prst="ellipse">
            <a:avLst/>
          </a:prstGeom>
          <a:solidFill>
            <a:schemeClr val="accent1"/>
          </a:solidFill>
          <a:ln w="25400">
            <a:solidFill>
              <a:schemeClr val="accent2"/>
            </a:solidFill>
            <a:prstDash val="solid"/>
          </a:ln>
        </p:spPr>
      </p:sp>
      <p:pic>
        <p:nvPicPr>
          <p:cNvPr id="5" name="Icon GiSpellBook" descr="preencoded.png">    </p:cNvPr>
          <p:cNvPicPr>
            <a:picLocks noChangeAspect="1"/>
          </p:cNvPicPr>
          <p:nvPr/>
        </p:nvPicPr>
        <p:blipFill>
          <a:blip r:embed="rId1"/>
          <a:stretch>
            <a:fillRect/>
          </a:stretch>
        </p:blipFill>
        <p:spPr>
          <a:xfrm>
            <a:off x="1084478" y="1623974"/>
            <a:ext cx="409651" cy="409651"/>
          </a:xfrm>
          <a:prstGeom prst="rect">
            <a:avLst/>
          </a:prstGeom>
        </p:spPr>
      </p:pic>
      <p:sp>
        <p:nvSpPr>
          <p:cNvPr id="6" name="Text 3"/>
          <p:cNvSpPr txBox="1"/>
          <p:nvPr/>
        </p:nvSpPr>
        <p:spPr>
          <a:xfrm>
            <a:off x="594360" y="2267712"/>
            <a:ext cx="1389888" cy="256032"/>
          </a:xfrm>
          <a:prstGeom prst="rect">
            <a:avLst/>
          </a:prstGeom>
          <a:noFill/>
          <a:ln/>
        </p:spPr>
        <p:txBody>
          <a:bodyPr wrap="square" lIns="0" tIns="0" rIns="0" bIns="0" rtlCol="0" anchor="t"/>
          <a:lstStyle/>
          <a:p>
            <a:pPr algn="ctr" indent="0" marL="0">
              <a:buNone/>
            </a:pPr>
            <a:r>
              <a:rPr lang="en-US" sz="1200" b="1" spc="100" kern="0" dirty="0">
                <a:solidFill>
                  <a:schemeClr val="accent2"/>
                </a:solidFill>
              </a:rPr>
              <a:t>WELT 0</a:t>
            </a:r>
            <a:endParaRPr lang="en-US" sz="1200" dirty="0"/>
          </a:p>
        </p:txBody>
      </p:sp>
      <p:sp>
        <p:nvSpPr>
          <p:cNvPr id="7" name="Text 4"/>
          <p:cNvSpPr txBox="1"/>
          <p:nvPr/>
        </p:nvSpPr>
        <p:spPr>
          <a:xfrm>
            <a:off x="594360" y="2523744"/>
            <a:ext cx="1389888" cy="329184"/>
          </a:xfrm>
          <a:prstGeom prst="rect">
            <a:avLst/>
          </a:prstGeom>
          <a:noFill/>
          <a:ln/>
        </p:spPr>
        <p:txBody>
          <a:bodyPr wrap="square" lIns="0" tIns="0" rIns="0" bIns="0" rtlCol="0" anchor="t"/>
          <a:lstStyle/>
          <a:p>
            <a:pPr algn="ctr" indent="0" marL="0">
              <a:buNone/>
            </a:pPr>
            <a:r>
              <a:rPr lang="en-US" sz="1600" b="1" dirty="0">
                <a:solidFill>
                  <a:schemeClr val="accent1"/>
                </a:solidFill>
              </a:rPr>
              <a:t>Akademie</a:t>
            </a:r>
            <a:endParaRPr lang="en-US" sz="1600" dirty="0"/>
          </a:p>
        </p:txBody>
      </p:sp>
      <p:sp>
        <p:nvSpPr>
          <p:cNvPr id="8" name="Chip"/>
          <p:cNvSpPr txBox="1"/>
          <p:nvPr/>
        </p:nvSpPr>
        <p:spPr>
          <a:xfrm>
            <a:off x="740664" y="2907792"/>
            <a:ext cx="109728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DS 1–7</a:t>
            </a:r>
            <a:endParaRPr lang="en-US" sz="1200" dirty="0"/>
          </a:p>
        </p:txBody>
      </p:sp>
      <p:sp>
        <p:nvSpPr>
          <p:cNvPr id="9" name="Text 6"/>
          <p:cNvSpPr txBox="1"/>
          <p:nvPr/>
        </p:nvSpPr>
        <p:spPr>
          <a:xfrm>
            <a:off x="640080" y="3291840"/>
            <a:ext cx="1298448" cy="1325880"/>
          </a:xfrm>
          <a:prstGeom prst="rect">
            <a:avLst/>
          </a:prstGeom>
          <a:noFill/>
          <a:ln/>
        </p:spPr>
        <p:txBody>
          <a:bodyPr wrap="square" lIns="0" tIns="0" rIns="0" bIns="0" rtlCol="0" anchor="t"/>
          <a:lstStyle/>
          <a:p>
            <a:pPr algn="ctr" indent="0" marL="0">
              <a:buNone/>
            </a:pPr>
            <a:r>
              <a:rPr lang="en-US" sz="1300" dirty="0">
                <a:solidFill>
                  <a:schemeClr val="tx1"/>
                </a:solidFill>
              </a:rPr>
              <a:t>Datentypen, Reihungen, eigene Methoden mit Signatur</a:t>
            </a:r>
            <a:endParaRPr lang="en-US" sz="1300" dirty="0"/>
          </a:p>
        </p:txBody>
      </p:sp>
      <p:sp>
        <p:nvSpPr>
          <p:cNvPr id="10" name="Boss 0"/>
          <p:cNvSpPr txBox="1"/>
          <p:nvPr/>
        </p:nvSpPr>
        <p:spPr>
          <a:xfrm>
            <a:off x="621792" y="4736592"/>
            <a:ext cx="1335024" cy="1261872"/>
          </a:xfrm>
          <a:prstGeom prst="roundRect">
            <a:avLst>
              <a:gd name="adj" fmla="val 5797"/>
            </a:avLst>
          </a:prstGeom>
          <a:solidFill>
            <a:schemeClr val="accent1"/>
          </a:solidFill>
          <a:ln/>
        </p:spPr>
        <p:txBody>
          <a:bodyPr wrap="square" lIns="38100" tIns="38100" rIns="38100" bIns="38100" rtlCol="0" anchor="ctr"/>
          <a:lstStyle/>
          <a:p>
            <a:pPr algn="ctr" indent="0" marL="0">
              <a:buNone/>
            </a:pPr>
            <a:r>
              <a:rPr lang="en-US" sz="1100" b="1" dirty="0">
                <a:solidFill>
                  <a:schemeClr val="accent2"/>
                </a:solidFill>
              </a:rPr>
              <a:t>BOSS 0</a:t>
            </a:r>
            <a:endParaRPr lang="en-US" sz="1800" dirty="0"/>
          </a:p>
          <a:p>
            <a:pPr algn="ctr" indent="0" marL="0">
              <a:buNone/>
            </a:pPr>
            <a:r>
              <a:rPr lang="en-US" sz="1300" b="1" dirty="0">
                <a:solidFill>
                  <a:schemeClr val="bg1"/>
                </a:solidFill>
              </a:rPr>
              <a:t>Die Bibliothek der Akademie</a:t>
            </a:r>
            <a:endParaRPr lang="en-US" sz="1800" dirty="0"/>
          </a:p>
        </p:txBody>
      </p:sp>
      <p:sp>
        <p:nvSpPr>
          <p:cNvPr id="11" name="Welt 1"/>
          <p:cNvSpPr/>
          <p:nvPr/>
        </p:nvSpPr>
        <p:spPr>
          <a:xfrm>
            <a:off x="2139696" y="1325880"/>
            <a:ext cx="1481328" cy="480060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12" name="Icon-Kreis"/>
          <p:cNvSpPr/>
          <p:nvPr/>
        </p:nvSpPr>
        <p:spPr>
          <a:xfrm>
            <a:off x="2514600" y="1463040"/>
            <a:ext cx="731520" cy="731520"/>
          </a:xfrm>
          <a:prstGeom prst="ellipse">
            <a:avLst/>
          </a:prstGeom>
          <a:solidFill>
            <a:schemeClr val="accent1"/>
          </a:solidFill>
          <a:ln w="25400">
            <a:solidFill>
              <a:schemeClr val="accent2"/>
            </a:solidFill>
            <a:prstDash val="solid"/>
          </a:ln>
        </p:spPr>
      </p:sp>
      <p:pic>
        <p:nvPicPr>
          <p:cNvPr id="13" name="Icon GiAnvil" descr="preencoded.png">    </p:cNvPr>
          <p:cNvPicPr>
            <a:picLocks noChangeAspect="1"/>
          </p:cNvPicPr>
          <p:nvPr/>
        </p:nvPicPr>
        <p:blipFill>
          <a:blip r:embed="rId2"/>
          <a:stretch>
            <a:fillRect/>
          </a:stretch>
        </p:blipFill>
        <p:spPr>
          <a:xfrm>
            <a:off x="2675534" y="1623974"/>
            <a:ext cx="409651" cy="409651"/>
          </a:xfrm>
          <a:prstGeom prst="rect">
            <a:avLst/>
          </a:prstGeom>
        </p:spPr>
      </p:pic>
      <p:sp>
        <p:nvSpPr>
          <p:cNvPr id="14" name="Text 10"/>
          <p:cNvSpPr txBox="1"/>
          <p:nvPr/>
        </p:nvSpPr>
        <p:spPr>
          <a:xfrm>
            <a:off x="2185416" y="2267712"/>
            <a:ext cx="1389888" cy="256032"/>
          </a:xfrm>
          <a:prstGeom prst="rect">
            <a:avLst/>
          </a:prstGeom>
          <a:noFill/>
          <a:ln/>
        </p:spPr>
        <p:txBody>
          <a:bodyPr wrap="square" lIns="0" tIns="0" rIns="0" bIns="0" rtlCol="0" anchor="t"/>
          <a:lstStyle/>
          <a:p>
            <a:pPr algn="ctr" indent="0" marL="0">
              <a:buNone/>
            </a:pPr>
            <a:r>
              <a:rPr lang="en-US" sz="1200" b="1" spc="100" kern="0" dirty="0">
                <a:solidFill>
                  <a:schemeClr val="accent2"/>
                </a:solidFill>
              </a:rPr>
              <a:t>WELT 1</a:t>
            </a:r>
            <a:endParaRPr lang="en-US" sz="1200" dirty="0"/>
          </a:p>
        </p:txBody>
      </p:sp>
      <p:sp>
        <p:nvSpPr>
          <p:cNvPr id="15" name="Text 11"/>
          <p:cNvSpPr txBox="1"/>
          <p:nvPr/>
        </p:nvSpPr>
        <p:spPr>
          <a:xfrm>
            <a:off x="2185416" y="2523744"/>
            <a:ext cx="1389888" cy="329184"/>
          </a:xfrm>
          <a:prstGeom prst="rect">
            <a:avLst/>
          </a:prstGeom>
          <a:noFill/>
          <a:ln/>
        </p:spPr>
        <p:txBody>
          <a:bodyPr wrap="square" lIns="0" tIns="0" rIns="0" bIns="0" rtlCol="0" anchor="t"/>
          <a:lstStyle/>
          <a:p>
            <a:pPr algn="ctr" indent="0" marL="0">
              <a:buNone/>
            </a:pPr>
            <a:r>
              <a:rPr lang="en-US" sz="1400" b="1" dirty="0">
                <a:solidFill>
                  <a:schemeClr val="accent1"/>
                </a:solidFill>
              </a:rPr>
              <a:t>Heldenschmiede</a:t>
            </a:r>
            <a:endParaRPr lang="en-US" sz="1400" dirty="0"/>
          </a:p>
        </p:txBody>
      </p:sp>
      <p:sp>
        <p:nvSpPr>
          <p:cNvPr id="16" name="Chip"/>
          <p:cNvSpPr txBox="1"/>
          <p:nvPr/>
        </p:nvSpPr>
        <p:spPr>
          <a:xfrm>
            <a:off x="2331720" y="2907792"/>
            <a:ext cx="109728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DS 8–12</a:t>
            </a:r>
            <a:endParaRPr lang="en-US" sz="1200" dirty="0"/>
          </a:p>
        </p:txBody>
      </p:sp>
      <p:sp>
        <p:nvSpPr>
          <p:cNvPr id="17" name="Text 13"/>
          <p:cNvSpPr txBox="1"/>
          <p:nvPr/>
        </p:nvSpPr>
        <p:spPr>
          <a:xfrm>
            <a:off x="2231136" y="3291840"/>
            <a:ext cx="1298448" cy="1325880"/>
          </a:xfrm>
          <a:prstGeom prst="rect">
            <a:avLst/>
          </a:prstGeom>
          <a:noFill/>
          <a:ln/>
        </p:spPr>
        <p:txBody>
          <a:bodyPr wrap="square" lIns="0" tIns="0" rIns="0" bIns="0" rtlCol="0" anchor="t"/>
          <a:lstStyle/>
          <a:p>
            <a:pPr algn="ctr" indent="0" marL="0">
              <a:buNone/>
            </a:pPr>
            <a:r>
              <a:rPr lang="en-US" sz="1300" dirty="0">
                <a:solidFill>
                  <a:schemeClr val="tx1"/>
                </a:solidFill>
              </a:rPr>
              <a:t>Klassen, Objekte, Vererbung, Klassendiagramm</a:t>
            </a:r>
            <a:endParaRPr lang="en-US" sz="1300" dirty="0"/>
          </a:p>
        </p:txBody>
      </p:sp>
      <p:sp>
        <p:nvSpPr>
          <p:cNvPr id="18" name="Boss 1"/>
          <p:cNvSpPr txBox="1"/>
          <p:nvPr/>
        </p:nvSpPr>
        <p:spPr>
          <a:xfrm>
            <a:off x="2212848" y="4736592"/>
            <a:ext cx="1335024" cy="1261872"/>
          </a:xfrm>
          <a:prstGeom prst="roundRect">
            <a:avLst>
              <a:gd name="adj" fmla="val 5797"/>
            </a:avLst>
          </a:prstGeom>
          <a:solidFill>
            <a:schemeClr val="accent1"/>
          </a:solidFill>
          <a:ln/>
        </p:spPr>
        <p:txBody>
          <a:bodyPr wrap="square" lIns="38100" tIns="38100" rIns="38100" bIns="38100" rtlCol="0" anchor="ctr"/>
          <a:lstStyle/>
          <a:p>
            <a:pPr algn="ctr" indent="0" marL="0">
              <a:buNone/>
            </a:pPr>
            <a:r>
              <a:rPr lang="en-US" sz="1100" b="1" dirty="0">
                <a:solidFill>
                  <a:schemeClr val="accent2"/>
                </a:solidFill>
              </a:rPr>
              <a:t>BOSS 1</a:t>
            </a:r>
            <a:endParaRPr lang="en-US" sz="1800" dirty="0"/>
          </a:p>
          <a:p>
            <a:pPr algn="ctr" indent="0" marL="0">
              <a:buNone/>
            </a:pPr>
            <a:r>
              <a:rPr lang="en-US" sz="1300" b="1" dirty="0">
                <a:solidFill>
                  <a:schemeClr val="bg1"/>
                </a:solidFill>
              </a:rPr>
              <a:t>Die Gildenhalle</a:t>
            </a:r>
            <a:endParaRPr lang="en-US" sz="1800" dirty="0"/>
          </a:p>
        </p:txBody>
      </p:sp>
      <p:sp>
        <p:nvSpPr>
          <p:cNvPr id="19" name="Welt 2"/>
          <p:cNvSpPr/>
          <p:nvPr/>
        </p:nvSpPr>
        <p:spPr>
          <a:xfrm>
            <a:off x="3730752" y="1325880"/>
            <a:ext cx="1481328" cy="480060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20" name="Icon-Kreis"/>
          <p:cNvSpPr/>
          <p:nvPr/>
        </p:nvSpPr>
        <p:spPr>
          <a:xfrm>
            <a:off x="4105656" y="1463040"/>
            <a:ext cx="731520" cy="731520"/>
          </a:xfrm>
          <a:prstGeom prst="ellipse">
            <a:avLst/>
          </a:prstGeom>
          <a:solidFill>
            <a:schemeClr val="accent1"/>
          </a:solidFill>
          <a:ln w="25400">
            <a:solidFill>
              <a:schemeClr val="accent2"/>
            </a:solidFill>
            <a:prstDash val="solid"/>
          </a:ln>
        </p:spPr>
      </p:sp>
      <p:pic>
        <p:nvPicPr>
          <p:cNvPr id="21" name="Icon GiPodium" descr="preencoded.png">    </p:cNvPr>
          <p:cNvPicPr>
            <a:picLocks noChangeAspect="1"/>
          </p:cNvPicPr>
          <p:nvPr/>
        </p:nvPicPr>
        <p:blipFill>
          <a:blip r:embed="rId3"/>
          <a:stretch>
            <a:fillRect/>
          </a:stretch>
        </p:blipFill>
        <p:spPr>
          <a:xfrm>
            <a:off x="4266590" y="1623974"/>
            <a:ext cx="409651" cy="409651"/>
          </a:xfrm>
          <a:prstGeom prst="rect">
            <a:avLst/>
          </a:prstGeom>
        </p:spPr>
      </p:pic>
      <p:sp>
        <p:nvSpPr>
          <p:cNvPr id="22" name="Text 17"/>
          <p:cNvSpPr txBox="1"/>
          <p:nvPr/>
        </p:nvSpPr>
        <p:spPr>
          <a:xfrm>
            <a:off x="3776472" y="2267712"/>
            <a:ext cx="1389888" cy="256032"/>
          </a:xfrm>
          <a:prstGeom prst="rect">
            <a:avLst/>
          </a:prstGeom>
          <a:noFill/>
          <a:ln/>
        </p:spPr>
        <p:txBody>
          <a:bodyPr wrap="square" lIns="0" tIns="0" rIns="0" bIns="0" rtlCol="0" anchor="t"/>
          <a:lstStyle/>
          <a:p>
            <a:pPr algn="ctr" indent="0" marL="0">
              <a:buNone/>
            </a:pPr>
            <a:r>
              <a:rPr lang="en-US" sz="1200" b="1" spc="100" kern="0" dirty="0">
                <a:solidFill>
                  <a:schemeClr val="accent2"/>
                </a:solidFill>
              </a:rPr>
              <a:t>WELT 2</a:t>
            </a:r>
            <a:endParaRPr lang="en-US" sz="1200" dirty="0"/>
          </a:p>
        </p:txBody>
      </p:sp>
      <p:sp>
        <p:nvSpPr>
          <p:cNvPr id="23" name="Text 18"/>
          <p:cNvSpPr txBox="1"/>
          <p:nvPr/>
        </p:nvSpPr>
        <p:spPr>
          <a:xfrm>
            <a:off x="3776472" y="2523744"/>
            <a:ext cx="1389888" cy="329184"/>
          </a:xfrm>
          <a:prstGeom prst="rect">
            <a:avLst/>
          </a:prstGeom>
          <a:noFill/>
          <a:ln/>
        </p:spPr>
        <p:txBody>
          <a:bodyPr wrap="square" lIns="0" tIns="0" rIns="0" bIns="0" rtlCol="0" anchor="t"/>
          <a:lstStyle/>
          <a:p>
            <a:pPr algn="ctr" indent="0" marL="0">
              <a:buNone/>
            </a:pPr>
            <a:r>
              <a:rPr lang="en-US" sz="1600" b="1" dirty="0">
                <a:solidFill>
                  <a:schemeClr val="accent1"/>
                </a:solidFill>
              </a:rPr>
              <a:t>Rangliste</a:t>
            </a:r>
            <a:endParaRPr lang="en-US" sz="1600" dirty="0"/>
          </a:p>
        </p:txBody>
      </p:sp>
      <p:sp>
        <p:nvSpPr>
          <p:cNvPr id="24" name="Chip"/>
          <p:cNvSpPr txBox="1"/>
          <p:nvPr/>
        </p:nvSpPr>
        <p:spPr>
          <a:xfrm>
            <a:off x="3922776" y="2907792"/>
            <a:ext cx="109728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DS 13–17</a:t>
            </a:r>
            <a:endParaRPr lang="en-US" sz="1200" dirty="0"/>
          </a:p>
        </p:txBody>
      </p:sp>
      <p:sp>
        <p:nvSpPr>
          <p:cNvPr id="25" name="Text 20"/>
          <p:cNvSpPr txBox="1"/>
          <p:nvPr/>
        </p:nvSpPr>
        <p:spPr>
          <a:xfrm>
            <a:off x="3822192" y="3291840"/>
            <a:ext cx="1298448" cy="1325880"/>
          </a:xfrm>
          <a:prstGeom prst="rect">
            <a:avLst/>
          </a:prstGeom>
          <a:noFill/>
          <a:ln/>
        </p:spPr>
        <p:txBody>
          <a:bodyPr wrap="square" lIns="0" tIns="0" rIns="0" bIns="0" rtlCol="0" anchor="t"/>
          <a:lstStyle/>
          <a:p>
            <a:pPr algn="ctr" indent="0" marL="0">
              <a:buNone/>
            </a:pPr>
            <a:r>
              <a:rPr lang="en-US" sz="1300" dirty="0">
                <a:solidFill>
                  <a:schemeClr val="tx1"/>
                </a:solidFill>
              </a:rPr>
              <a:t>Suchen, Sortieren, Effizienz durch Zählen</a:t>
            </a:r>
            <a:endParaRPr lang="en-US" sz="1300" dirty="0"/>
          </a:p>
        </p:txBody>
      </p:sp>
      <p:sp>
        <p:nvSpPr>
          <p:cNvPr id="26" name="Boss 2"/>
          <p:cNvSpPr txBox="1"/>
          <p:nvPr/>
        </p:nvSpPr>
        <p:spPr>
          <a:xfrm>
            <a:off x="3803904" y="4736592"/>
            <a:ext cx="1335024" cy="1261872"/>
          </a:xfrm>
          <a:prstGeom prst="roundRect">
            <a:avLst>
              <a:gd name="adj" fmla="val 5797"/>
            </a:avLst>
          </a:prstGeom>
          <a:solidFill>
            <a:schemeClr val="accent1"/>
          </a:solidFill>
          <a:ln/>
        </p:spPr>
        <p:txBody>
          <a:bodyPr wrap="square" lIns="38100" tIns="38100" rIns="38100" bIns="38100" rtlCol="0" anchor="ctr"/>
          <a:lstStyle/>
          <a:p>
            <a:pPr algn="ctr" indent="0" marL="0">
              <a:buNone/>
            </a:pPr>
            <a:r>
              <a:rPr lang="en-US" sz="1100" b="1" dirty="0">
                <a:solidFill>
                  <a:schemeClr val="accent2"/>
                </a:solidFill>
              </a:rPr>
              <a:t>BOSS 2</a:t>
            </a:r>
            <a:endParaRPr lang="en-US" sz="1800" dirty="0"/>
          </a:p>
          <a:p>
            <a:pPr algn="ctr" indent="0" marL="0">
              <a:buNone/>
            </a:pPr>
            <a:r>
              <a:rPr lang="en-US" sz="1300" b="1" dirty="0">
                <a:solidFill>
                  <a:schemeClr val="bg1"/>
                </a:solidFill>
              </a:rPr>
              <a:t>Das Turnier der Bogenschützen</a:t>
            </a:r>
            <a:endParaRPr lang="en-US" sz="1800" dirty="0"/>
          </a:p>
        </p:txBody>
      </p:sp>
      <p:sp>
        <p:nvSpPr>
          <p:cNvPr id="27" name="Welt 3"/>
          <p:cNvSpPr/>
          <p:nvPr/>
        </p:nvSpPr>
        <p:spPr>
          <a:xfrm>
            <a:off x="5321808" y="1325880"/>
            <a:ext cx="1481328" cy="480060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28" name="Icon-Kreis"/>
          <p:cNvSpPr/>
          <p:nvPr/>
        </p:nvSpPr>
        <p:spPr>
          <a:xfrm>
            <a:off x="5696712" y="1463040"/>
            <a:ext cx="731520" cy="731520"/>
          </a:xfrm>
          <a:prstGeom prst="ellipse">
            <a:avLst/>
          </a:prstGeom>
          <a:solidFill>
            <a:schemeClr val="accent1"/>
          </a:solidFill>
          <a:ln w="25400">
            <a:solidFill>
              <a:schemeClr val="accent2"/>
            </a:solidFill>
            <a:prstDash val="solid"/>
          </a:ln>
        </p:spPr>
      </p:sp>
      <p:pic>
        <p:nvPicPr>
          <p:cNvPr id="29" name="Icon GiMaze" descr="preencoded.png">    </p:cNvPr>
          <p:cNvPicPr>
            <a:picLocks noChangeAspect="1"/>
          </p:cNvPicPr>
          <p:nvPr/>
        </p:nvPicPr>
        <p:blipFill>
          <a:blip r:embed="rId4"/>
          <a:stretch>
            <a:fillRect/>
          </a:stretch>
        </p:blipFill>
        <p:spPr>
          <a:xfrm>
            <a:off x="5857646" y="1623974"/>
            <a:ext cx="409651" cy="409651"/>
          </a:xfrm>
          <a:prstGeom prst="rect">
            <a:avLst/>
          </a:prstGeom>
        </p:spPr>
      </p:pic>
      <p:sp>
        <p:nvSpPr>
          <p:cNvPr id="30" name="Text 24"/>
          <p:cNvSpPr txBox="1"/>
          <p:nvPr/>
        </p:nvSpPr>
        <p:spPr>
          <a:xfrm>
            <a:off x="5367528" y="2267712"/>
            <a:ext cx="1389888" cy="256032"/>
          </a:xfrm>
          <a:prstGeom prst="rect">
            <a:avLst/>
          </a:prstGeom>
          <a:noFill/>
          <a:ln/>
        </p:spPr>
        <p:txBody>
          <a:bodyPr wrap="square" lIns="0" tIns="0" rIns="0" bIns="0" rtlCol="0" anchor="t"/>
          <a:lstStyle/>
          <a:p>
            <a:pPr algn="ctr" indent="0" marL="0">
              <a:buNone/>
            </a:pPr>
            <a:r>
              <a:rPr lang="en-US" sz="1200" b="1" spc="100" kern="0" dirty="0">
                <a:solidFill>
                  <a:schemeClr val="accent2"/>
                </a:solidFill>
              </a:rPr>
              <a:t>WELT 3</a:t>
            </a:r>
            <a:endParaRPr lang="en-US" sz="1200" dirty="0"/>
          </a:p>
        </p:txBody>
      </p:sp>
      <p:sp>
        <p:nvSpPr>
          <p:cNvPr id="31" name="Text 25"/>
          <p:cNvSpPr txBox="1"/>
          <p:nvPr/>
        </p:nvSpPr>
        <p:spPr>
          <a:xfrm>
            <a:off x="5367528" y="2523744"/>
            <a:ext cx="1389888" cy="329184"/>
          </a:xfrm>
          <a:prstGeom prst="rect">
            <a:avLst/>
          </a:prstGeom>
          <a:noFill/>
          <a:ln/>
        </p:spPr>
        <p:txBody>
          <a:bodyPr wrap="square" lIns="0" tIns="0" rIns="0" bIns="0" rtlCol="0" anchor="t"/>
          <a:lstStyle/>
          <a:p>
            <a:pPr algn="ctr" indent="0" marL="0">
              <a:buNone/>
            </a:pPr>
            <a:r>
              <a:rPr lang="en-US" sz="1600" b="1" dirty="0">
                <a:solidFill>
                  <a:schemeClr val="accent1"/>
                </a:solidFill>
              </a:rPr>
              <a:t>Labyrinth</a:t>
            </a:r>
            <a:endParaRPr lang="en-US" sz="1600" dirty="0"/>
          </a:p>
        </p:txBody>
      </p:sp>
      <p:sp>
        <p:nvSpPr>
          <p:cNvPr id="32" name="Chip"/>
          <p:cNvSpPr txBox="1"/>
          <p:nvPr/>
        </p:nvSpPr>
        <p:spPr>
          <a:xfrm>
            <a:off x="5513832" y="2907792"/>
            <a:ext cx="109728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DS 18–23</a:t>
            </a:r>
            <a:endParaRPr lang="en-US" sz="1200" dirty="0"/>
          </a:p>
        </p:txBody>
      </p:sp>
      <p:sp>
        <p:nvSpPr>
          <p:cNvPr id="33" name="Text 27"/>
          <p:cNvSpPr txBox="1"/>
          <p:nvPr/>
        </p:nvSpPr>
        <p:spPr>
          <a:xfrm>
            <a:off x="5413248" y="3291840"/>
            <a:ext cx="1298448" cy="1325880"/>
          </a:xfrm>
          <a:prstGeom prst="rect">
            <a:avLst/>
          </a:prstGeom>
          <a:noFill/>
          <a:ln/>
        </p:spPr>
        <p:txBody>
          <a:bodyPr wrap="square" lIns="0" tIns="0" rIns="0" bIns="0" rtlCol="0" anchor="t"/>
          <a:lstStyle/>
          <a:p>
            <a:pPr algn="ctr" indent="0" marL="0">
              <a:buNone/>
            </a:pPr>
            <a:r>
              <a:rPr lang="en-US" sz="1300" dirty="0">
                <a:solidFill>
                  <a:schemeClr val="tx1"/>
                </a:solidFill>
              </a:rPr>
              <a:t>Rekursion, 2D-Reihungen, Teile und herrsche</a:t>
            </a:r>
            <a:endParaRPr lang="en-US" sz="1300" dirty="0"/>
          </a:p>
        </p:txBody>
      </p:sp>
      <p:sp>
        <p:nvSpPr>
          <p:cNvPr id="34" name="Boss 3"/>
          <p:cNvSpPr txBox="1"/>
          <p:nvPr/>
        </p:nvSpPr>
        <p:spPr>
          <a:xfrm>
            <a:off x="5394960" y="4736592"/>
            <a:ext cx="1335024" cy="1261872"/>
          </a:xfrm>
          <a:prstGeom prst="roundRect">
            <a:avLst>
              <a:gd name="adj" fmla="val 5797"/>
            </a:avLst>
          </a:prstGeom>
          <a:solidFill>
            <a:schemeClr val="accent1"/>
          </a:solidFill>
          <a:ln/>
        </p:spPr>
        <p:txBody>
          <a:bodyPr wrap="square" lIns="38100" tIns="38100" rIns="38100" bIns="38100" rtlCol="0" anchor="ctr"/>
          <a:lstStyle/>
          <a:p>
            <a:pPr algn="ctr" indent="0" marL="0">
              <a:buNone/>
            </a:pPr>
            <a:r>
              <a:rPr lang="en-US" sz="1100" b="1" dirty="0">
                <a:solidFill>
                  <a:schemeClr val="accent2"/>
                </a:solidFill>
              </a:rPr>
              <a:t>BOSS 3</a:t>
            </a:r>
            <a:endParaRPr lang="en-US" sz="1800" dirty="0"/>
          </a:p>
          <a:p>
            <a:pPr algn="ctr" indent="0" marL="0">
              <a:buNone/>
            </a:pPr>
            <a:r>
              <a:rPr lang="en-US" sz="1300" b="1" dirty="0">
                <a:solidFill>
                  <a:schemeClr val="bg1"/>
                </a:solidFill>
              </a:rPr>
              <a:t>Die Kristallhöhle</a:t>
            </a:r>
            <a:endParaRPr lang="en-US" sz="1800" dirty="0"/>
          </a:p>
        </p:txBody>
      </p:sp>
      <p:sp>
        <p:nvSpPr>
          <p:cNvPr id="35" name="Welt 4"/>
          <p:cNvSpPr/>
          <p:nvPr/>
        </p:nvSpPr>
        <p:spPr>
          <a:xfrm>
            <a:off x="6912864" y="1325880"/>
            <a:ext cx="1481328" cy="480060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36" name="Icon-Kreis"/>
          <p:cNvSpPr/>
          <p:nvPr/>
        </p:nvSpPr>
        <p:spPr>
          <a:xfrm>
            <a:off x="7287768" y="1463040"/>
            <a:ext cx="731520" cy="731520"/>
          </a:xfrm>
          <a:prstGeom prst="ellipse">
            <a:avLst/>
          </a:prstGeom>
          <a:solidFill>
            <a:schemeClr val="accent1"/>
          </a:solidFill>
          <a:ln w="25400">
            <a:solidFill>
              <a:schemeClr val="accent2"/>
            </a:solidFill>
            <a:prstDash val="solid"/>
          </a:ln>
        </p:spPr>
      </p:sp>
      <p:pic>
        <p:nvPicPr>
          <p:cNvPr id="37" name="Icon GiAnchor" descr="preencoded.png">    </p:cNvPr>
          <p:cNvPicPr>
            <a:picLocks noChangeAspect="1"/>
          </p:cNvPicPr>
          <p:nvPr/>
        </p:nvPicPr>
        <p:blipFill>
          <a:blip r:embed="rId5"/>
          <a:stretch>
            <a:fillRect/>
          </a:stretch>
        </p:blipFill>
        <p:spPr>
          <a:xfrm>
            <a:off x="7448702" y="1623974"/>
            <a:ext cx="409651" cy="409651"/>
          </a:xfrm>
          <a:prstGeom prst="rect">
            <a:avLst/>
          </a:prstGeom>
        </p:spPr>
      </p:pic>
      <p:sp>
        <p:nvSpPr>
          <p:cNvPr id="38" name="Text 31"/>
          <p:cNvSpPr txBox="1"/>
          <p:nvPr/>
        </p:nvSpPr>
        <p:spPr>
          <a:xfrm>
            <a:off x="6958584" y="2267712"/>
            <a:ext cx="1389888" cy="256032"/>
          </a:xfrm>
          <a:prstGeom prst="rect">
            <a:avLst/>
          </a:prstGeom>
          <a:noFill/>
          <a:ln/>
        </p:spPr>
        <p:txBody>
          <a:bodyPr wrap="square" lIns="0" tIns="0" rIns="0" bIns="0" rtlCol="0" anchor="t"/>
          <a:lstStyle/>
          <a:p>
            <a:pPr algn="ctr" indent="0" marL="0">
              <a:buNone/>
            </a:pPr>
            <a:r>
              <a:rPr lang="en-US" sz="1200" b="1" spc="100" kern="0" dirty="0">
                <a:solidFill>
                  <a:schemeClr val="accent2"/>
                </a:solidFill>
              </a:rPr>
              <a:t>WELT 4</a:t>
            </a:r>
            <a:endParaRPr lang="en-US" sz="1200" dirty="0"/>
          </a:p>
        </p:txBody>
      </p:sp>
      <p:sp>
        <p:nvSpPr>
          <p:cNvPr id="39" name="Text 32"/>
          <p:cNvSpPr txBox="1"/>
          <p:nvPr/>
        </p:nvSpPr>
        <p:spPr>
          <a:xfrm>
            <a:off x="6958584" y="2523744"/>
            <a:ext cx="1389888" cy="329184"/>
          </a:xfrm>
          <a:prstGeom prst="rect">
            <a:avLst/>
          </a:prstGeom>
          <a:noFill/>
          <a:ln/>
        </p:spPr>
        <p:txBody>
          <a:bodyPr wrap="square" lIns="0" tIns="0" rIns="0" bIns="0" rtlCol="0" anchor="t"/>
          <a:lstStyle/>
          <a:p>
            <a:pPr algn="ctr" indent="0" marL="0">
              <a:buNone/>
            </a:pPr>
            <a:r>
              <a:rPr lang="en-US" sz="1600" b="1" dirty="0">
                <a:solidFill>
                  <a:schemeClr val="accent1"/>
                </a:solidFill>
              </a:rPr>
              <a:t>Hafen</a:t>
            </a:r>
            <a:endParaRPr lang="en-US" sz="1600" dirty="0"/>
          </a:p>
        </p:txBody>
      </p:sp>
      <p:sp>
        <p:nvSpPr>
          <p:cNvPr id="40" name="Chip"/>
          <p:cNvSpPr txBox="1"/>
          <p:nvPr/>
        </p:nvSpPr>
        <p:spPr>
          <a:xfrm>
            <a:off x="7104888" y="2907792"/>
            <a:ext cx="109728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DS 24–30</a:t>
            </a:r>
            <a:endParaRPr lang="en-US" sz="1200" dirty="0"/>
          </a:p>
        </p:txBody>
      </p:sp>
      <p:sp>
        <p:nvSpPr>
          <p:cNvPr id="41" name="Text 34"/>
          <p:cNvSpPr txBox="1"/>
          <p:nvPr/>
        </p:nvSpPr>
        <p:spPr>
          <a:xfrm>
            <a:off x="7004304" y="3291840"/>
            <a:ext cx="1298448" cy="1325880"/>
          </a:xfrm>
          <a:prstGeom prst="rect">
            <a:avLst/>
          </a:prstGeom>
          <a:noFill/>
          <a:ln/>
        </p:spPr>
        <p:txBody>
          <a:bodyPr wrap="square" lIns="0" tIns="0" rIns="0" bIns="0" rtlCol="0" anchor="t"/>
          <a:lstStyle/>
          <a:p>
            <a:pPr algn="ctr" indent="0" marL="0">
              <a:buNone/>
            </a:pPr>
            <a:r>
              <a:rPr lang="en-US" sz="1300" dirty="0">
                <a:solidFill>
                  <a:schemeClr val="tx1"/>
                </a:solidFill>
              </a:rPr>
              <a:t>Stapel, Schlange, dynamische Reihung</a:t>
            </a:r>
            <a:endParaRPr lang="en-US" sz="1300" dirty="0"/>
          </a:p>
        </p:txBody>
      </p:sp>
      <p:sp>
        <p:nvSpPr>
          <p:cNvPr id="42" name="Boss 4"/>
          <p:cNvSpPr txBox="1"/>
          <p:nvPr/>
        </p:nvSpPr>
        <p:spPr>
          <a:xfrm>
            <a:off x="6986016" y="4736592"/>
            <a:ext cx="1335024" cy="1261872"/>
          </a:xfrm>
          <a:prstGeom prst="roundRect">
            <a:avLst>
              <a:gd name="adj" fmla="val 5797"/>
            </a:avLst>
          </a:prstGeom>
          <a:solidFill>
            <a:schemeClr val="accent1"/>
          </a:solidFill>
          <a:ln/>
        </p:spPr>
        <p:txBody>
          <a:bodyPr wrap="square" lIns="38100" tIns="38100" rIns="38100" bIns="38100" rtlCol="0" anchor="ctr"/>
          <a:lstStyle/>
          <a:p>
            <a:pPr algn="ctr" indent="0" marL="0">
              <a:buNone/>
            </a:pPr>
            <a:r>
              <a:rPr lang="en-US" sz="1100" b="1" dirty="0">
                <a:solidFill>
                  <a:schemeClr val="accent2"/>
                </a:solidFill>
              </a:rPr>
              <a:t>BOSS 4</a:t>
            </a:r>
            <a:endParaRPr lang="en-US" sz="1800" dirty="0"/>
          </a:p>
          <a:p>
            <a:pPr algn="ctr" indent="0" marL="0">
              <a:buNone/>
            </a:pPr>
            <a:r>
              <a:rPr lang="en-US" sz="1300" b="1" dirty="0">
                <a:solidFill>
                  <a:schemeClr val="bg1"/>
                </a:solidFill>
              </a:rPr>
              <a:t>Die Fähre von Nebelhafen</a:t>
            </a:r>
            <a:endParaRPr lang="en-US" sz="1800" dirty="0"/>
          </a:p>
        </p:txBody>
      </p:sp>
      <p:sp>
        <p:nvSpPr>
          <p:cNvPr id="43" name="Welt 5"/>
          <p:cNvSpPr/>
          <p:nvPr/>
        </p:nvSpPr>
        <p:spPr>
          <a:xfrm>
            <a:off x="8503920" y="1325880"/>
            <a:ext cx="1481328" cy="480060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4" name="Icon-Kreis"/>
          <p:cNvSpPr/>
          <p:nvPr/>
        </p:nvSpPr>
        <p:spPr>
          <a:xfrm>
            <a:off x="8878824" y="1463040"/>
            <a:ext cx="731520" cy="731520"/>
          </a:xfrm>
          <a:prstGeom prst="ellipse">
            <a:avLst/>
          </a:prstGeom>
          <a:solidFill>
            <a:schemeClr val="accent1"/>
          </a:solidFill>
          <a:ln w="25400">
            <a:solidFill>
              <a:schemeClr val="accent2"/>
            </a:solidFill>
            <a:prstDash val="solid"/>
          </a:ln>
        </p:spPr>
      </p:sp>
      <p:pic>
        <p:nvPicPr>
          <p:cNvPr id="45" name="Icon GiPineTree" descr="preencoded.png">    </p:cNvPr>
          <p:cNvPicPr>
            <a:picLocks noChangeAspect="1"/>
          </p:cNvPicPr>
          <p:nvPr/>
        </p:nvPicPr>
        <p:blipFill>
          <a:blip r:embed="rId6"/>
          <a:stretch>
            <a:fillRect/>
          </a:stretch>
        </p:blipFill>
        <p:spPr>
          <a:xfrm>
            <a:off x="9039758" y="1623974"/>
            <a:ext cx="409651" cy="409651"/>
          </a:xfrm>
          <a:prstGeom prst="rect">
            <a:avLst/>
          </a:prstGeom>
        </p:spPr>
      </p:pic>
      <p:sp>
        <p:nvSpPr>
          <p:cNvPr id="46" name="Text 38"/>
          <p:cNvSpPr txBox="1"/>
          <p:nvPr/>
        </p:nvSpPr>
        <p:spPr>
          <a:xfrm>
            <a:off x="8549640" y="2267712"/>
            <a:ext cx="1389888" cy="256032"/>
          </a:xfrm>
          <a:prstGeom prst="rect">
            <a:avLst/>
          </a:prstGeom>
          <a:noFill/>
          <a:ln/>
        </p:spPr>
        <p:txBody>
          <a:bodyPr wrap="square" lIns="0" tIns="0" rIns="0" bIns="0" rtlCol="0" anchor="t"/>
          <a:lstStyle/>
          <a:p>
            <a:pPr algn="ctr" indent="0" marL="0">
              <a:buNone/>
            </a:pPr>
            <a:r>
              <a:rPr lang="en-US" sz="1200" b="1" spc="100" kern="0" dirty="0">
                <a:solidFill>
                  <a:schemeClr val="accent2"/>
                </a:solidFill>
              </a:rPr>
              <a:t>WELT 5</a:t>
            </a:r>
            <a:endParaRPr lang="en-US" sz="1200" dirty="0"/>
          </a:p>
        </p:txBody>
      </p:sp>
      <p:sp>
        <p:nvSpPr>
          <p:cNvPr id="47" name="Text 39"/>
          <p:cNvSpPr txBox="1"/>
          <p:nvPr/>
        </p:nvSpPr>
        <p:spPr>
          <a:xfrm>
            <a:off x="8549640" y="2523744"/>
            <a:ext cx="1389888" cy="329184"/>
          </a:xfrm>
          <a:prstGeom prst="rect">
            <a:avLst/>
          </a:prstGeom>
          <a:noFill/>
          <a:ln/>
        </p:spPr>
        <p:txBody>
          <a:bodyPr wrap="square" lIns="0" tIns="0" rIns="0" bIns="0" rtlCol="0" anchor="t"/>
          <a:lstStyle/>
          <a:p>
            <a:pPr algn="ctr" indent="0" marL="0">
              <a:buNone/>
            </a:pPr>
            <a:r>
              <a:rPr lang="en-US" sz="1600" b="1" dirty="0">
                <a:solidFill>
                  <a:schemeClr val="accent1"/>
                </a:solidFill>
              </a:rPr>
              <a:t>Wald</a:t>
            </a:r>
            <a:endParaRPr lang="en-US" sz="1600" dirty="0"/>
          </a:p>
        </p:txBody>
      </p:sp>
      <p:sp>
        <p:nvSpPr>
          <p:cNvPr id="48" name="Chip"/>
          <p:cNvSpPr txBox="1"/>
          <p:nvPr/>
        </p:nvSpPr>
        <p:spPr>
          <a:xfrm>
            <a:off x="8695944" y="2907792"/>
            <a:ext cx="109728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DS 31–36</a:t>
            </a:r>
            <a:endParaRPr lang="en-US" sz="1200" dirty="0"/>
          </a:p>
        </p:txBody>
      </p:sp>
      <p:sp>
        <p:nvSpPr>
          <p:cNvPr id="49" name="Text 41"/>
          <p:cNvSpPr txBox="1"/>
          <p:nvPr/>
        </p:nvSpPr>
        <p:spPr>
          <a:xfrm>
            <a:off x="8595360" y="3291840"/>
            <a:ext cx="1298448" cy="1325880"/>
          </a:xfrm>
          <a:prstGeom prst="rect">
            <a:avLst/>
          </a:prstGeom>
          <a:noFill/>
          <a:ln/>
        </p:spPr>
        <p:txBody>
          <a:bodyPr wrap="square" lIns="0" tIns="0" rIns="0" bIns="0" rtlCol="0" anchor="t"/>
          <a:lstStyle/>
          <a:p>
            <a:pPr algn="ctr" indent="0" marL="0">
              <a:buNone/>
            </a:pPr>
            <a:r>
              <a:rPr lang="en-US" sz="1300" dirty="0">
                <a:solidFill>
                  <a:schemeClr val="tx1"/>
                </a:solidFill>
              </a:rPr>
              <a:t>Binärbaum, Suchbaum, unbekannte Bäume</a:t>
            </a:r>
            <a:endParaRPr lang="en-US" sz="1300" dirty="0"/>
          </a:p>
        </p:txBody>
      </p:sp>
      <p:sp>
        <p:nvSpPr>
          <p:cNvPr id="50" name="Boss 5"/>
          <p:cNvSpPr txBox="1"/>
          <p:nvPr/>
        </p:nvSpPr>
        <p:spPr>
          <a:xfrm>
            <a:off x="8577072" y="4736592"/>
            <a:ext cx="1335024" cy="1261872"/>
          </a:xfrm>
          <a:prstGeom prst="roundRect">
            <a:avLst>
              <a:gd name="adj" fmla="val 5797"/>
            </a:avLst>
          </a:prstGeom>
          <a:solidFill>
            <a:schemeClr val="accent1"/>
          </a:solidFill>
          <a:ln/>
        </p:spPr>
        <p:txBody>
          <a:bodyPr wrap="square" lIns="38100" tIns="38100" rIns="38100" bIns="38100" rtlCol="0" anchor="ctr"/>
          <a:lstStyle/>
          <a:p>
            <a:pPr algn="ctr" indent="0" marL="0">
              <a:buNone/>
            </a:pPr>
            <a:r>
              <a:rPr lang="en-US" sz="1100" b="1" dirty="0">
                <a:solidFill>
                  <a:schemeClr val="accent2"/>
                </a:solidFill>
              </a:rPr>
              <a:t>BOSS 5</a:t>
            </a:r>
            <a:endParaRPr lang="en-US" sz="1800" dirty="0"/>
          </a:p>
          <a:p>
            <a:pPr algn="ctr" indent="0" marL="0">
              <a:buNone/>
            </a:pPr>
            <a:r>
              <a:rPr lang="en-US" sz="1300" b="1" dirty="0">
                <a:solidFill>
                  <a:schemeClr val="bg1"/>
                </a:solidFill>
              </a:rPr>
              <a:t>Die drei Baumhüter</a:t>
            </a:r>
            <a:endParaRPr lang="en-US" sz="1800" dirty="0"/>
          </a:p>
        </p:txBody>
      </p:sp>
      <p:sp>
        <p:nvSpPr>
          <p:cNvPr id="51" name="Welt 6"/>
          <p:cNvSpPr/>
          <p:nvPr/>
        </p:nvSpPr>
        <p:spPr>
          <a:xfrm>
            <a:off x="10094976" y="1325880"/>
            <a:ext cx="1481328" cy="4800600"/>
          </a:xfrm>
          <a:prstGeom prst="roundRect">
            <a:avLst>
              <a:gd name="adj" fmla="val 7407"/>
            </a:avLst>
          </a:prstGeom>
          <a:solidFill>
            <a:schemeClr val="accent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52" name="Icon-Kreis"/>
          <p:cNvSpPr/>
          <p:nvPr/>
        </p:nvSpPr>
        <p:spPr>
          <a:xfrm>
            <a:off x="10469880" y="1463040"/>
            <a:ext cx="731520" cy="731520"/>
          </a:xfrm>
          <a:prstGeom prst="ellipse">
            <a:avLst/>
          </a:prstGeom>
          <a:solidFill>
            <a:schemeClr val="accent4"/>
          </a:solidFill>
          <a:ln w="25400">
            <a:solidFill>
              <a:schemeClr val="accent2"/>
            </a:solidFill>
            <a:prstDash val="solid"/>
          </a:ln>
        </p:spPr>
      </p:sp>
      <p:pic>
        <p:nvPicPr>
          <p:cNvPr id="53" name="Icon GiDragonHead" descr="preencoded.png">    </p:cNvPr>
          <p:cNvPicPr>
            <a:picLocks noChangeAspect="1"/>
          </p:cNvPicPr>
          <p:nvPr/>
        </p:nvPicPr>
        <p:blipFill>
          <a:blip r:embed="rId7"/>
          <a:stretch>
            <a:fillRect/>
          </a:stretch>
        </p:blipFill>
        <p:spPr>
          <a:xfrm>
            <a:off x="10630814" y="1623974"/>
            <a:ext cx="409651" cy="409651"/>
          </a:xfrm>
          <a:prstGeom prst="rect">
            <a:avLst/>
          </a:prstGeom>
        </p:spPr>
      </p:pic>
      <p:sp>
        <p:nvSpPr>
          <p:cNvPr id="54" name="Text 45"/>
          <p:cNvSpPr txBox="1"/>
          <p:nvPr/>
        </p:nvSpPr>
        <p:spPr>
          <a:xfrm>
            <a:off x="10140696" y="2267712"/>
            <a:ext cx="1389888" cy="256032"/>
          </a:xfrm>
          <a:prstGeom prst="rect">
            <a:avLst/>
          </a:prstGeom>
          <a:noFill/>
          <a:ln/>
        </p:spPr>
        <p:txBody>
          <a:bodyPr wrap="square" lIns="0" tIns="0" rIns="0" bIns="0" rtlCol="0" anchor="t"/>
          <a:lstStyle/>
          <a:p>
            <a:pPr algn="ctr" indent="0" marL="0">
              <a:buNone/>
            </a:pPr>
            <a:r>
              <a:rPr lang="en-US" sz="1200" b="1" spc="100" kern="0" dirty="0">
                <a:solidFill>
                  <a:schemeClr val="accent2"/>
                </a:solidFill>
              </a:rPr>
              <a:t>WELT 6</a:t>
            </a:r>
            <a:endParaRPr lang="en-US" sz="1200" dirty="0"/>
          </a:p>
        </p:txBody>
      </p:sp>
      <p:sp>
        <p:nvSpPr>
          <p:cNvPr id="55" name="Text 46"/>
          <p:cNvSpPr txBox="1"/>
          <p:nvPr/>
        </p:nvSpPr>
        <p:spPr>
          <a:xfrm>
            <a:off x="10140696" y="2523744"/>
            <a:ext cx="1389888" cy="329184"/>
          </a:xfrm>
          <a:prstGeom prst="rect">
            <a:avLst/>
          </a:prstGeom>
          <a:noFill/>
          <a:ln/>
        </p:spPr>
        <p:txBody>
          <a:bodyPr wrap="square" lIns="0" tIns="0" rIns="0" bIns="0" rtlCol="0" anchor="t"/>
          <a:lstStyle/>
          <a:p>
            <a:pPr algn="ctr" indent="0" marL="0">
              <a:buNone/>
            </a:pPr>
            <a:r>
              <a:rPr lang="en-US" sz="1600" b="1" dirty="0">
                <a:solidFill>
                  <a:schemeClr val="bg1"/>
                </a:solidFill>
              </a:rPr>
              <a:t>Endgegner</a:t>
            </a:r>
            <a:endParaRPr lang="en-US" sz="1600" dirty="0"/>
          </a:p>
        </p:txBody>
      </p:sp>
      <p:sp>
        <p:nvSpPr>
          <p:cNvPr id="56" name="Chip"/>
          <p:cNvSpPr txBox="1"/>
          <p:nvPr/>
        </p:nvSpPr>
        <p:spPr>
          <a:xfrm>
            <a:off x="10287000" y="2907792"/>
            <a:ext cx="10972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DS 37–40</a:t>
            </a:r>
            <a:endParaRPr lang="en-US" sz="1200" dirty="0"/>
          </a:p>
        </p:txBody>
      </p:sp>
      <p:sp>
        <p:nvSpPr>
          <p:cNvPr id="57" name="Text 48"/>
          <p:cNvSpPr txBox="1"/>
          <p:nvPr/>
        </p:nvSpPr>
        <p:spPr>
          <a:xfrm>
            <a:off x="10186416" y="3291840"/>
            <a:ext cx="1298448" cy="1325880"/>
          </a:xfrm>
          <a:prstGeom prst="rect">
            <a:avLst/>
          </a:prstGeom>
          <a:noFill/>
          <a:ln/>
        </p:spPr>
        <p:txBody>
          <a:bodyPr wrap="square" lIns="0" tIns="0" rIns="0" bIns="0" rtlCol="0" anchor="t"/>
          <a:lstStyle/>
          <a:p>
            <a:pPr algn="ctr" indent="0" marL="0">
              <a:buNone/>
            </a:pPr>
            <a:r>
              <a:rPr lang="en-US" sz="1300" dirty="0">
                <a:solidFill>
                  <a:schemeClr val="bg1"/>
                </a:solidFill>
              </a:rPr>
              <a:t>Abitur-Format, Fehlerliste, Klausur</a:t>
            </a:r>
            <a:endParaRPr lang="en-US" sz="1300" dirty="0"/>
          </a:p>
        </p:txBody>
      </p:sp>
      <p:sp>
        <p:nvSpPr>
          <p:cNvPr id="58" name="Boss 6"/>
          <p:cNvSpPr txBox="1"/>
          <p:nvPr/>
        </p:nvSpPr>
        <p:spPr>
          <a:xfrm>
            <a:off x="10168128" y="4736592"/>
            <a:ext cx="1335024" cy="1261872"/>
          </a:xfrm>
          <a:prstGeom prst="roundRect">
            <a:avLst>
              <a:gd name="adj" fmla="val 5797"/>
            </a:avLst>
          </a:prstGeom>
          <a:solidFill>
            <a:schemeClr val="accent4"/>
          </a:solidFill>
          <a:ln/>
        </p:spPr>
        <p:txBody>
          <a:bodyPr wrap="square" lIns="38100" tIns="38100" rIns="38100" bIns="38100" rtlCol="0" anchor="ctr"/>
          <a:lstStyle/>
          <a:p>
            <a:pPr algn="ctr" indent="0" marL="0">
              <a:buNone/>
            </a:pPr>
            <a:r>
              <a:rPr lang="en-US" sz="1100" b="1" dirty="0">
                <a:solidFill>
                  <a:schemeClr val="accent2"/>
                </a:solidFill>
              </a:rPr>
              <a:t>BOSS 6</a:t>
            </a:r>
            <a:endParaRPr lang="en-US" sz="1800" dirty="0"/>
          </a:p>
          <a:p>
            <a:pPr algn="ctr" indent="0" marL="0">
              <a:buNone/>
            </a:pPr>
            <a:r>
              <a:rPr lang="en-US" sz="1300" b="1" dirty="0">
                <a:solidFill>
                  <a:schemeClr val="bg1"/>
                </a:solidFill>
              </a:rPr>
              <a:t>Die Generalprobe</a:t>
            </a:r>
            <a:endParaRPr lang="en-US" sz="1800" dirty="0"/>
          </a:p>
        </p:txBody>
      </p:sp>
      <p:sp>
        <p:nvSpPr>
          <p:cNvPr id="59" name="Text 5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Abschluss · Rückblick</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Finale: Das Scoreboard im Lab</a:t>
            </a:r>
            <a:endParaRPr lang="en-US" sz="3600" dirty="0"/>
          </a:p>
        </p:txBody>
      </p:sp>
      <p:sp>
        <p:nvSpPr>
          <p:cNvPr id="3" name="Text 1"/>
          <p:cNvSpPr txBox="1"/>
          <p:nvPr/>
        </p:nvSpPr>
        <p:spPr>
          <a:xfrm>
            <a:off x="822960" y="1691640"/>
            <a:ext cx="2011680" cy="960120"/>
          </a:xfrm>
          <a:prstGeom prst="rect">
            <a:avLst/>
          </a:prstGeom>
          <a:noFill/>
          <a:ln/>
        </p:spPr>
        <p:txBody>
          <a:bodyPr wrap="square" lIns="0" tIns="0" rIns="0" bIns="0" rtlCol="0" anchor="b"/>
          <a:lstStyle/>
          <a:p>
            <a:pPr algn="ctr" indent="0" marL="0">
              <a:buNone/>
            </a:pPr>
            <a:r>
              <a:rPr lang="en-US" sz="1300" dirty="0">
                <a:solidFill>
                  <a:schemeClr val="bg2"/>
                </a:solidFill>
              </a:rPr>
              <a:t>Name</a:t>
            </a:r>
            <a:endParaRPr lang="en-US" sz="1800" dirty="0"/>
          </a:p>
          <a:p>
            <a:pPr algn="ctr" indent="0" marL="0">
              <a:buNone/>
            </a:pPr>
            <a:r>
              <a:rPr lang="en-US" sz="1600" b="1" dirty="0">
                <a:solidFill>
                  <a:schemeClr val="bg1"/>
                </a:solidFill>
              </a:rPr>
              <a:t>__________</a:t>
            </a:r>
            <a:endParaRPr lang="en-US" sz="1800" dirty="0"/>
          </a:p>
          <a:p>
            <a:pPr algn="ctr" indent="0" marL="0">
              <a:buNone/>
            </a:pPr>
            <a:r>
              <a:rPr lang="en-US" sz="1500" b="1" dirty="0">
                <a:solidFill>
                  <a:schemeClr val="accent2"/>
                </a:solidFill>
              </a:rPr>
              <a:t>____ Punkte</a:t>
            </a:r>
            <a:endParaRPr lang="en-US" sz="1800" dirty="0"/>
          </a:p>
        </p:txBody>
      </p:sp>
      <p:sp>
        <p:nvSpPr>
          <p:cNvPr id="4" name="Podest 2"/>
          <p:cNvSpPr txBox="1"/>
          <p:nvPr/>
        </p:nvSpPr>
        <p:spPr>
          <a:xfrm>
            <a:off x="822960" y="2743200"/>
            <a:ext cx="2011680" cy="3246120"/>
          </a:xfrm>
          <a:prstGeom prst="rect">
            <a:avLst/>
          </a:prstGeom>
          <a:solidFill>
            <a:srgbClr val="C0C0C0"/>
          </a:solidFill>
          <a:ln w="12700">
            <a:solidFill>
              <a:schemeClr val="bg1"/>
            </a:solidFill>
          </a:ln>
        </p:spPr>
        <p:txBody>
          <a:bodyPr wrap="square" lIns="0" tIns="0" rIns="0" bIns="127000" rtlCol="0" anchor="t"/>
          <a:lstStyle/>
          <a:p>
            <a:pPr algn="ctr" indent="0" marL="0">
              <a:buNone/>
            </a:pPr>
            <a:r>
              <a:rPr lang="en-US" sz="5400" b="1" dirty="0">
                <a:solidFill>
                  <a:schemeClr val="accent1"/>
                </a:solidFill>
              </a:rPr>
              <a:t>2</a:t>
            </a:r>
            <a:endParaRPr lang="en-US" sz="5400" dirty="0"/>
          </a:p>
        </p:txBody>
      </p:sp>
      <p:sp>
        <p:nvSpPr>
          <p:cNvPr id="5" name="Text 3"/>
          <p:cNvSpPr txBox="1"/>
          <p:nvPr/>
        </p:nvSpPr>
        <p:spPr>
          <a:xfrm>
            <a:off x="2971800" y="1097280"/>
            <a:ext cx="2011680" cy="960120"/>
          </a:xfrm>
          <a:prstGeom prst="rect">
            <a:avLst/>
          </a:prstGeom>
          <a:noFill/>
          <a:ln/>
        </p:spPr>
        <p:txBody>
          <a:bodyPr wrap="square" lIns="0" tIns="0" rIns="0" bIns="0" rtlCol="0" anchor="b"/>
          <a:lstStyle/>
          <a:p>
            <a:pPr algn="ctr" indent="0" marL="0">
              <a:buNone/>
            </a:pPr>
            <a:r>
              <a:rPr lang="en-US" sz="1300" dirty="0">
                <a:solidFill>
                  <a:schemeClr val="bg2"/>
                </a:solidFill>
              </a:rPr>
              <a:t>Name</a:t>
            </a:r>
            <a:endParaRPr lang="en-US" sz="1800" dirty="0"/>
          </a:p>
          <a:p>
            <a:pPr algn="ctr" indent="0" marL="0">
              <a:buNone/>
            </a:pPr>
            <a:r>
              <a:rPr lang="en-US" sz="1600" b="1" dirty="0">
                <a:solidFill>
                  <a:schemeClr val="bg1"/>
                </a:solidFill>
              </a:rPr>
              <a:t>__________</a:t>
            </a:r>
            <a:endParaRPr lang="en-US" sz="1800" dirty="0"/>
          </a:p>
          <a:p>
            <a:pPr algn="ctr" indent="0" marL="0">
              <a:buNone/>
            </a:pPr>
            <a:r>
              <a:rPr lang="en-US" sz="1500" b="1" dirty="0">
                <a:solidFill>
                  <a:schemeClr val="accent2"/>
                </a:solidFill>
              </a:rPr>
              <a:t>____ Punkte</a:t>
            </a:r>
            <a:endParaRPr lang="en-US" sz="1800" dirty="0"/>
          </a:p>
        </p:txBody>
      </p:sp>
      <p:sp>
        <p:nvSpPr>
          <p:cNvPr id="6" name="Podest 1"/>
          <p:cNvSpPr txBox="1"/>
          <p:nvPr/>
        </p:nvSpPr>
        <p:spPr>
          <a:xfrm>
            <a:off x="2971800" y="2148840"/>
            <a:ext cx="2011680" cy="3840480"/>
          </a:xfrm>
          <a:prstGeom prst="rect">
            <a:avLst/>
          </a:prstGeom>
          <a:solidFill>
            <a:srgbClr val="B8860B"/>
          </a:solidFill>
          <a:ln w="12700">
            <a:solidFill>
              <a:schemeClr val="bg1"/>
            </a:solidFill>
          </a:ln>
        </p:spPr>
        <p:txBody>
          <a:bodyPr wrap="square" lIns="0" tIns="0" rIns="0" bIns="127000" rtlCol="0" anchor="t"/>
          <a:lstStyle/>
          <a:p>
            <a:pPr algn="ctr" indent="0" marL="0">
              <a:buNone/>
            </a:pPr>
            <a:r>
              <a:rPr lang="en-US" sz="5400" b="1" dirty="0">
                <a:solidFill>
                  <a:schemeClr val="accent1"/>
                </a:solidFill>
              </a:rPr>
              <a:t>1</a:t>
            </a:r>
            <a:endParaRPr lang="en-US" sz="5400" dirty="0"/>
          </a:p>
        </p:txBody>
      </p:sp>
      <p:sp>
        <p:nvSpPr>
          <p:cNvPr id="7" name="Text 5"/>
          <p:cNvSpPr txBox="1"/>
          <p:nvPr/>
        </p:nvSpPr>
        <p:spPr>
          <a:xfrm>
            <a:off x="5120640" y="2194560"/>
            <a:ext cx="2011680" cy="960120"/>
          </a:xfrm>
          <a:prstGeom prst="rect">
            <a:avLst/>
          </a:prstGeom>
          <a:noFill/>
          <a:ln/>
        </p:spPr>
        <p:txBody>
          <a:bodyPr wrap="square" lIns="0" tIns="0" rIns="0" bIns="0" rtlCol="0" anchor="b"/>
          <a:lstStyle/>
          <a:p>
            <a:pPr algn="ctr" indent="0" marL="0">
              <a:buNone/>
            </a:pPr>
            <a:r>
              <a:rPr lang="en-US" sz="1300" dirty="0">
                <a:solidFill>
                  <a:schemeClr val="bg2"/>
                </a:solidFill>
              </a:rPr>
              <a:t>Name</a:t>
            </a:r>
            <a:endParaRPr lang="en-US" sz="1800" dirty="0"/>
          </a:p>
          <a:p>
            <a:pPr algn="ctr" indent="0" marL="0">
              <a:buNone/>
            </a:pPr>
            <a:r>
              <a:rPr lang="en-US" sz="1600" b="1" dirty="0">
                <a:solidFill>
                  <a:schemeClr val="bg1"/>
                </a:solidFill>
              </a:rPr>
              <a:t>__________</a:t>
            </a:r>
            <a:endParaRPr lang="en-US" sz="1800" dirty="0"/>
          </a:p>
          <a:p>
            <a:pPr algn="ctr" indent="0" marL="0">
              <a:buNone/>
            </a:pPr>
            <a:r>
              <a:rPr lang="en-US" sz="1500" b="1" dirty="0">
                <a:solidFill>
                  <a:schemeClr val="accent2"/>
                </a:solidFill>
              </a:rPr>
              <a:t>____ Punkte</a:t>
            </a:r>
            <a:endParaRPr lang="en-US" sz="1800" dirty="0"/>
          </a:p>
        </p:txBody>
      </p:sp>
      <p:sp>
        <p:nvSpPr>
          <p:cNvPr id="8" name="Podest 3"/>
          <p:cNvSpPr txBox="1"/>
          <p:nvPr/>
        </p:nvSpPr>
        <p:spPr>
          <a:xfrm>
            <a:off x="5120640" y="3246120"/>
            <a:ext cx="2011680" cy="2743200"/>
          </a:xfrm>
          <a:prstGeom prst="rect">
            <a:avLst/>
          </a:prstGeom>
          <a:solidFill>
            <a:srgbClr val="CD7F32"/>
          </a:solidFill>
          <a:ln w="12700">
            <a:solidFill>
              <a:schemeClr val="bg1"/>
            </a:solidFill>
          </a:ln>
        </p:spPr>
        <p:txBody>
          <a:bodyPr wrap="square" lIns="0" tIns="0" rIns="0" bIns="127000" rtlCol="0" anchor="t"/>
          <a:lstStyle/>
          <a:p>
            <a:pPr algn="ctr" indent="0" marL="0">
              <a:buNone/>
            </a:pPr>
            <a:r>
              <a:rPr lang="en-US" sz="5400" b="1" dirty="0">
                <a:solidFill>
                  <a:schemeClr val="accent1"/>
                </a:solidFill>
              </a:rPr>
              <a:t>3</a:t>
            </a:r>
            <a:endParaRPr lang="en-US" sz="5400" dirty="0"/>
          </a:p>
        </p:txBody>
      </p:sp>
      <p:sp>
        <p:nvSpPr>
          <p:cNvPr id="9" name="Board"/>
          <p:cNvSpPr/>
          <p:nvPr/>
        </p:nvSpPr>
        <p:spPr>
          <a:xfrm>
            <a:off x="7589520" y="1325880"/>
            <a:ext cx="4023360" cy="2011680"/>
          </a:xfrm>
          <a:prstGeom prst="roundRect">
            <a:avLst>
              <a:gd name="adj" fmla="val 5455"/>
            </a:avLst>
          </a:prstGeom>
          <a:solidFill>
            <a:schemeClr val="bg1"/>
          </a:solidFill>
          <a:ln/>
        </p:spPr>
      </p:sp>
      <p:sp>
        <p:nvSpPr>
          <p:cNvPr id="10" name="Text 8"/>
          <p:cNvSpPr txBox="1"/>
          <p:nvPr/>
        </p:nvSpPr>
        <p:spPr>
          <a:xfrm>
            <a:off x="7772400" y="1417320"/>
            <a:ext cx="3657600" cy="1828800"/>
          </a:xfrm>
          <a:prstGeom prst="rect">
            <a:avLst/>
          </a:prstGeom>
          <a:noFill/>
          <a:ln/>
        </p:spPr>
        <p:txBody>
          <a:bodyPr wrap="square" lIns="0" tIns="0" rIns="0" bIns="0" rtlCol="0" anchor="ctr"/>
          <a:lstStyle/>
          <a:p>
            <a:pPr indent="0" marL="0">
              <a:buNone/>
            </a:pPr>
            <a:r>
              <a:rPr lang="en-US" sz="1800" b="1" dirty="0">
                <a:solidFill>
                  <a:schemeClr val="accent1"/>
                </a:solidFill>
              </a:rPr>
              <a:t>Scoreboard live</a:t>
            </a:r>
            <a:endParaRPr lang="en-US" sz="1800" dirty="0"/>
          </a:p>
          <a:p>
            <a:pPr indent="0" marL="0">
              <a:buNone/>
            </a:pPr>
            <a:r>
              <a:rPr lang="en-US" sz="1400" dirty="0">
                <a:solidFill>
                  <a:schemeClr val="tx1"/>
                </a:solidFill>
              </a:rPr>
              <a:t>Lab → Scoreboard (gesamt oder je Welt) oder Beamer-Board: Punkte und Abzeichen, automatisch aus allen gelösten Aufgaben.</a:t>
            </a:r>
            <a:endParaRPr lang="en-US" sz="1800" dirty="0"/>
          </a:p>
        </p:txBody>
      </p:sp>
      <p:sp>
        <p:nvSpPr>
          <p:cNvPr id="11" name="Fallen besiegt"/>
          <p:cNvSpPr/>
          <p:nvPr/>
        </p:nvSpPr>
        <p:spPr>
          <a:xfrm>
            <a:off x="7589520" y="3520440"/>
            <a:ext cx="4023360" cy="1143000"/>
          </a:xfrm>
          <a:prstGeom prst="roundRect">
            <a:avLst>
              <a:gd name="adj" fmla="val 9600"/>
            </a:avLst>
          </a:prstGeom>
          <a:solidFill>
            <a:schemeClr val="bg1"/>
          </a:solidFill>
          <a:ln/>
        </p:spPr>
      </p:sp>
      <p:sp>
        <p:nvSpPr>
          <p:cNvPr id="12" name="Text 10"/>
          <p:cNvSpPr txBox="1"/>
          <p:nvPr/>
        </p:nvSpPr>
        <p:spPr>
          <a:xfrm>
            <a:off x="7772400" y="3566160"/>
            <a:ext cx="3657600" cy="1051560"/>
          </a:xfrm>
          <a:prstGeom prst="rect">
            <a:avLst/>
          </a:prstGeom>
          <a:noFill/>
          <a:ln/>
        </p:spPr>
        <p:txBody>
          <a:bodyPr wrap="square" lIns="0" tIns="0" rIns="0" bIns="0" rtlCol="0" anchor="ctr"/>
          <a:lstStyle/>
          <a:p>
            <a:pPr indent="0" marL="0">
              <a:buNone/>
            </a:pPr>
            <a:r>
              <a:rPr lang="en-US" sz="1500" b="1" dirty="0">
                <a:solidFill>
                  <a:schemeClr val="accent2"/>
                </a:solidFill>
              </a:rPr>
              <a:t>Größte Verbesserung im Kurs</a:t>
            </a:r>
            <a:endParaRPr lang="en-US" sz="1800" dirty="0"/>
          </a:p>
          <a:p>
            <a:pPr indent="0" marL="0">
              <a:buNone/>
            </a:pPr>
            <a:r>
              <a:rPr lang="en-US" sz="1600" b="1" dirty="0">
                <a:solidFill>
                  <a:schemeClr val="accent1"/>
                </a:solidFill>
              </a:rPr>
              <a:t>Falle P ____ (DS 38 ↔ Nachtest)</a:t>
            </a:r>
            <a:endParaRPr lang="en-US" sz="1800" dirty="0"/>
          </a:p>
        </p:txBody>
      </p:sp>
      <p:sp>
        <p:nvSpPr>
          <p:cNvPr id="13" name="Kurs gesamt"/>
          <p:cNvSpPr/>
          <p:nvPr/>
        </p:nvSpPr>
        <p:spPr>
          <a:xfrm>
            <a:off x="7589520" y="4846320"/>
            <a:ext cx="4023360" cy="1143000"/>
          </a:xfrm>
          <a:prstGeom prst="roundRect">
            <a:avLst>
              <a:gd name="adj" fmla="val 9600"/>
            </a:avLst>
          </a:prstGeom>
          <a:solidFill>
            <a:schemeClr val="bg1"/>
          </a:solidFill>
          <a:ln/>
        </p:spPr>
      </p:sp>
      <p:sp>
        <p:nvSpPr>
          <p:cNvPr id="14" name="Text 12"/>
          <p:cNvSpPr txBox="1"/>
          <p:nvPr/>
        </p:nvSpPr>
        <p:spPr>
          <a:xfrm>
            <a:off x="7772400" y="4892040"/>
            <a:ext cx="3657600" cy="1051560"/>
          </a:xfrm>
          <a:prstGeom prst="rect">
            <a:avLst/>
          </a:prstGeom>
          <a:noFill/>
          <a:ln/>
        </p:spPr>
        <p:txBody>
          <a:bodyPr wrap="square" lIns="0" tIns="0" rIns="0" bIns="0" rtlCol="0" anchor="ctr"/>
          <a:lstStyle/>
          <a:p>
            <a:pPr indent="0" marL="0">
              <a:buNone/>
            </a:pPr>
            <a:r>
              <a:rPr lang="en-US" sz="1500" b="1" dirty="0">
                <a:solidFill>
                  <a:schemeClr val="accent2"/>
                </a:solidFill>
              </a:rPr>
              <a:t>Der ganze Kurs</a:t>
            </a:r>
            <a:endParaRPr lang="en-US" sz="1800" dirty="0"/>
          </a:p>
          <a:p>
            <a:pPr indent="0" marL="0">
              <a:buNone/>
            </a:pPr>
            <a:r>
              <a:rPr lang="en-US" sz="1600" b="1" dirty="0">
                <a:solidFill>
                  <a:schemeClr val="accent1"/>
                </a:solidFill>
              </a:rPr>
              <a:t>______ gelöste Lab-Aufgaben</a:t>
            </a:r>
            <a:endParaRPr lang="en-US" sz="1800" dirty="0"/>
          </a:p>
        </p:txBody>
      </p:sp>
      <p:sp>
        <p:nvSpPr>
          <p:cNvPr id="15" name="Text 13"/>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Abschluss · Scoreboard</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Ränge: Wie weit bist du gekommen?</a:t>
            </a:r>
            <a:endParaRPr lang="en-US" sz="3600" dirty="0"/>
          </a:p>
        </p:txBody>
      </p:sp>
      <p:sp>
        <p:nvSpPr>
          <p:cNvPr id="3" name="Stufe Novize"/>
          <p:cNvSpPr txBox="1"/>
          <p:nvPr/>
        </p:nvSpPr>
        <p:spPr>
          <a:xfrm>
            <a:off x="548640" y="4480560"/>
            <a:ext cx="2103120" cy="1005840"/>
          </a:xfrm>
          <a:prstGeom prst="rect">
            <a:avLst/>
          </a:prstGeom>
          <a:solidFill>
            <a:schemeClr val="accent1"/>
          </a:solidFill>
          <a:ln w="12700">
            <a:solidFill>
              <a:schemeClr val="bg1"/>
            </a:solidFill>
          </a:ln>
        </p:spPr>
        <p:txBody>
          <a:bodyPr wrap="square" lIns="0" tIns="0" rIns="0" bIns="0" rtlCol="0" anchor="t"/>
          <a:lstStyle/>
          <a:p>
            <a:pPr indent="0" marL="0">
              <a:buNone/>
            </a:pPr>
            <a:endParaRPr lang="en-US" sz="1800" dirty="0"/>
          </a:p>
        </p:txBody>
      </p:sp>
      <p:sp>
        <p:nvSpPr>
          <p:cNvPr id="4" name="Text 2"/>
          <p:cNvSpPr txBox="1"/>
          <p:nvPr/>
        </p:nvSpPr>
        <p:spPr>
          <a:xfrm>
            <a:off x="548640" y="4590288"/>
            <a:ext cx="2103120" cy="685800"/>
          </a:xfrm>
          <a:prstGeom prst="rect">
            <a:avLst/>
          </a:prstGeom>
          <a:noFill/>
          <a:ln/>
        </p:spPr>
        <p:txBody>
          <a:bodyPr wrap="square" lIns="0" tIns="0" rIns="0" bIns="0" rtlCol="0" anchor="t"/>
          <a:lstStyle/>
          <a:p>
            <a:pPr algn="ctr" indent="0" marL="0">
              <a:buNone/>
            </a:pPr>
            <a:r>
              <a:rPr lang="en-US" sz="1900" b="1" dirty="0">
                <a:solidFill>
                  <a:schemeClr val="bg1"/>
                </a:solidFill>
              </a:rPr>
              <a:t>Novize</a:t>
            </a:r>
            <a:endParaRPr lang="en-US" sz="1800" dirty="0"/>
          </a:p>
          <a:p>
            <a:pPr algn="ctr" indent="0" marL="0">
              <a:buNone/>
            </a:pPr>
            <a:r>
              <a:rPr lang="en-US" sz="1500" dirty="0">
                <a:solidFill>
                  <a:schemeClr val="bg2"/>
                </a:solidFill>
              </a:rPr>
              <a:t>ab 0 %</a:t>
            </a:r>
            <a:endParaRPr lang="en-US" sz="1800" dirty="0"/>
          </a:p>
        </p:txBody>
      </p:sp>
      <p:sp>
        <p:nvSpPr>
          <p:cNvPr id="5" name="Icon-Kreis"/>
          <p:cNvSpPr/>
          <p:nvPr/>
        </p:nvSpPr>
        <p:spPr>
          <a:xfrm>
            <a:off x="1325880" y="3794760"/>
            <a:ext cx="548640" cy="548640"/>
          </a:xfrm>
          <a:prstGeom prst="ellipse">
            <a:avLst/>
          </a:prstGeom>
          <a:solidFill>
            <a:schemeClr val="bg1"/>
          </a:solidFill>
          <a:ln w="19050">
            <a:solidFill>
              <a:schemeClr val="accent1"/>
            </a:solidFill>
            <a:prstDash val="solid"/>
          </a:ln>
        </p:spPr>
      </p:sp>
      <p:pic>
        <p:nvPicPr>
          <p:cNvPr id="6" name="Icon GiRoundStar" descr="preencoded.png">    </p:cNvPr>
          <p:cNvPicPr>
            <a:picLocks noChangeAspect="1"/>
          </p:cNvPicPr>
          <p:nvPr/>
        </p:nvPicPr>
        <p:blipFill>
          <a:blip r:embed="rId1"/>
          <a:stretch>
            <a:fillRect/>
          </a:stretch>
        </p:blipFill>
        <p:spPr>
          <a:xfrm>
            <a:off x="1446581" y="3915461"/>
            <a:ext cx="307238" cy="307238"/>
          </a:xfrm>
          <a:prstGeom prst="rect">
            <a:avLst/>
          </a:prstGeom>
        </p:spPr>
      </p:pic>
      <p:sp>
        <p:nvSpPr>
          <p:cNvPr id="7" name="Stufe Lehrling"/>
          <p:cNvSpPr txBox="1"/>
          <p:nvPr/>
        </p:nvSpPr>
        <p:spPr>
          <a:xfrm>
            <a:off x="2788920" y="3931920"/>
            <a:ext cx="2103120" cy="1554480"/>
          </a:xfrm>
          <a:prstGeom prst="rect">
            <a:avLst/>
          </a:prstGeom>
          <a:solidFill>
            <a:schemeClr val="accent6"/>
          </a:solidFill>
          <a:ln w="12700">
            <a:solidFill>
              <a:schemeClr val="bg1"/>
            </a:solidFill>
          </a:ln>
        </p:spPr>
        <p:txBody>
          <a:bodyPr wrap="square" lIns="0" tIns="0" rIns="0" bIns="0" rtlCol="0" anchor="t"/>
          <a:lstStyle/>
          <a:p>
            <a:pPr indent="0" marL="0">
              <a:buNone/>
            </a:pPr>
            <a:endParaRPr lang="en-US" sz="1800" dirty="0"/>
          </a:p>
        </p:txBody>
      </p:sp>
      <p:sp>
        <p:nvSpPr>
          <p:cNvPr id="8" name="Text 5"/>
          <p:cNvSpPr txBox="1"/>
          <p:nvPr/>
        </p:nvSpPr>
        <p:spPr>
          <a:xfrm>
            <a:off x="2788920" y="4041648"/>
            <a:ext cx="2103120" cy="685800"/>
          </a:xfrm>
          <a:prstGeom prst="rect">
            <a:avLst/>
          </a:prstGeom>
          <a:noFill/>
          <a:ln/>
        </p:spPr>
        <p:txBody>
          <a:bodyPr wrap="square" lIns="0" tIns="0" rIns="0" bIns="0" rtlCol="0" anchor="t"/>
          <a:lstStyle/>
          <a:p>
            <a:pPr algn="ctr" indent="0" marL="0">
              <a:buNone/>
            </a:pPr>
            <a:r>
              <a:rPr lang="en-US" sz="1900" b="1" dirty="0">
                <a:solidFill>
                  <a:schemeClr val="bg1"/>
                </a:solidFill>
              </a:rPr>
              <a:t>Lehrling</a:t>
            </a:r>
            <a:endParaRPr lang="en-US" sz="1800" dirty="0"/>
          </a:p>
          <a:p>
            <a:pPr algn="ctr" indent="0" marL="0">
              <a:buNone/>
            </a:pPr>
            <a:r>
              <a:rPr lang="en-US" sz="1500" dirty="0">
                <a:solidFill>
                  <a:schemeClr val="bg2"/>
                </a:solidFill>
              </a:rPr>
              <a:t>ab 10 %</a:t>
            </a:r>
            <a:endParaRPr lang="en-US" sz="1800" dirty="0"/>
          </a:p>
        </p:txBody>
      </p:sp>
      <p:sp>
        <p:nvSpPr>
          <p:cNvPr id="9" name="Icon-Kreis"/>
          <p:cNvSpPr/>
          <p:nvPr/>
        </p:nvSpPr>
        <p:spPr>
          <a:xfrm>
            <a:off x="3566160" y="3246120"/>
            <a:ext cx="548640" cy="548640"/>
          </a:xfrm>
          <a:prstGeom prst="ellipse">
            <a:avLst/>
          </a:prstGeom>
          <a:solidFill>
            <a:schemeClr val="bg1"/>
          </a:solidFill>
          <a:ln w="19050">
            <a:solidFill>
              <a:schemeClr val="accent1"/>
            </a:solidFill>
            <a:prstDash val="solid"/>
          </a:ln>
        </p:spPr>
      </p:sp>
      <p:pic>
        <p:nvPicPr>
          <p:cNvPr id="10" name="Icon GiRoundStar" descr="preencoded.png">    </p:cNvPr>
          <p:cNvPicPr>
            <a:picLocks noChangeAspect="1"/>
          </p:cNvPicPr>
          <p:nvPr/>
        </p:nvPicPr>
        <p:blipFill>
          <a:blip r:embed="rId2"/>
          <a:stretch>
            <a:fillRect/>
          </a:stretch>
        </p:blipFill>
        <p:spPr>
          <a:xfrm>
            <a:off x="3686861" y="3366821"/>
            <a:ext cx="307238" cy="307238"/>
          </a:xfrm>
          <a:prstGeom prst="rect">
            <a:avLst/>
          </a:prstGeom>
        </p:spPr>
      </p:pic>
      <p:sp>
        <p:nvSpPr>
          <p:cNvPr id="11" name="Stufe Geselle"/>
          <p:cNvSpPr txBox="1"/>
          <p:nvPr/>
        </p:nvSpPr>
        <p:spPr>
          <a:xfrm>
            <a:off x="5029200" y="3383280"/>
            <a:ext cx="2103120" cy="2103120"/>
          </a:xfrm>
          <a:prstGeom prst="rect">
            <a:avLst/>
          </a:prstGeom>
          <a:solidFill>
            <a:schemeClr val="accent1"/>
          </a:solidFill>
          <a:ln w="12700">
            <a:solidFill>
              <a:schemeClr val="bg1"/>
            </a:solidFill>
          </a:ln>
        </p:spPr>
        <p:txBody>
          <a:bodyPr wrap="square" lIns="0" tIns="0" rIns="0" bIns="0" rtlCol="0" anchor="t"/>
          <a:lstStyle/>
          <a:p>
            <a:pPr indent="0" marL="0">
              <a:buNone/>
            </a:pPr>
            <a:endParaRPr lang="en-US" sz="1800" dirty="0"/>
          </a:p>
        </p:txBody>
      </p:sp>
      <p:sp>
        <p:nvSpPr>
          <p:cNvPr id="12" name="Text 8"/>
          <p:cNvSpPr txBox="1"/>
          <p:nvPr/>
        </p:nvSpPr>
        <p:spPr>
          <a:xfrm>
            <a:off x="5029200" y="3493008"/>
            <a:ext cx="2103120" cy="685800"/>
          </a:xfrm>
          <a:prstGeom prst="rect">
            <a:avLst/>
          </a:prstGeom>
          <a:noFill/>
          <a:ln/>
        </p:spPr>
        <p:txBody>
          <a:bodyPr wrap="square" lIns="0" tIns="0" rIns="0" bIns="0" rtlCol="0" anchor="t"/>
          <a:lstStyle/>
          <a:p>
            <a:pPr algn="ctr" indent="0" marL="0">
              <a:buNone/>
            </a:pPr>
            <a:r>
              <a:rPr lang="en-US" sz="1900" b="1" dirty="0">
                <a:solidFill>
                  <a:schemeClr val="bg1"/>
                </a:solidFill>
              </a:rPr>
              <a:t>Geselle</a:t>
            </a:r>
            <a:endParaRPr lang="en-US" sz="1800" dirty="0"/>
          </a:p>
          <a:p>
            <a:pPr algn="ctr" indent="0" marL="0">
              <a:buNone/>
            </a:pPr>
            <a:r>
              <a:rPr lang="en-US" sz="1500" dirty="0">
                <a:solidFill>
                  <a:schemeClr val="bg2"/>
                </a:solidFill>
              </a:rPr>
              <a:t>ab 30 %</a:t>
            </a:r>
            <a:endParaRPr lang="en-US" sz="1800" dirty="0"/>
          </a:p>
        </p:txBody>
      </p:sp>
      <p:sp>
        <p:nvSpPr>
          <p:cNvPr id="13" name="Icon-Kreis"/>
          <p:cNvSpPr/>
          <p:nvPr/>
        </p:nvSpPr>
        <p:spPr>
          <a:xfrm>
            <a:off x="5806440" y="2697480"/>
            <a:ext cx="548640" cy="548640"/>
          </a:xfrm>
          <a:prstGeom prst="ellipse">
            <a:avLst/>
          </a:prstGeom>
          <a:solidFill>
            <a:schemeClr val="bg1"/>
          </a:solidFill>
          <a:ln w="19050">
            <a:solidFill>
              <a:schemeClr val="accent1"/>
            </a:solidFill>
            <a:prstDash val="solid"/>
          </a:ln>
        </p:spPr>
      </p:sp>
      <p:pic>
        <p:nvPicPr>
          <p:cNvPr id="14" name="Icon GiRoundStar" descr="preencoded.png">    </p:cNvPr>
          <p:cNvPicPr>
            <a:picLocks noChangeAspect="1"/>
          </p:cNvPicPr>
          <p:nvPr/>
        </p:nvPicPr>
        <p:blipFill>
          <a:blip r:embed="rId3"/>
          <a:stretch>
            <a:fillRect/>
          </a:stretch>
        </p:blipFill>
        <p:spPr>
          <a:xfrm>
            <a:off x="5927141" y="2818181"/>
            <a:ext cx="307238" cy="307238"/>
          </a:xfrm>
          <a:prstGeom prst="rect">
            <a:avLst/>
          </a:prstGeom>
        </p:spPr>
      </p:pic>
      <p:sp>
        <p:nvSpPr>
          <p:cNvPr id="15" name="Stufe Meister"/>
          <p:cNvSpPr txBox="1"/>
          <p:nvPr/>
        </p:nvSpPr>
        <p:spPr>
          <a:xfrm>
            <a:off x="7269480" y="2834640"/>
            <a:ext cx="2103120" cy="2651760"/>
          </a:xfrm>
          <a:prstGeom prst="rect">
            <a:avLst/>
          </a:prstGeom>
          <a:solidFill>
            <a:schemeClr val="accent6"/>
          </a:solidFill>
          <a:ln w="12700">
            <a:solidFill>
              <a:schemeClr val="bg1"/>
            </a:solidFill>
          </a:ln>
        </p:spPr>
        <p:txBody>
          <a:bodyPr wrap="square" lIns="0" tIns="0" rIns="0" bIns="0" rtlCol="0" anchor="t"/>
          <a:lstStyle/>
          <a:p>
            <a:pPr indent="0" marL="0">
              <a:buNone/>
            </a:pPr>
            <a:endParaRPr lang="en-US" sz="1800" dirty="0"/>
          </a:p>
        </p:txBody>
      </p:sp>
      <p:sp>
        <p:nvSpPr>
          <p:cNvPr id="16" name="Text 11"/>
          <p:cNvSpPr txBox="1"/>
          <p:nvPr/>
        </p:nvSpPr>
        <p:spPr>
          <a:xfrm>
            <a:off x="7269480" y="2944368"/>
            <a:ext cx="2103120" cy="685800"/>
          </a:xfrm>
          <a:prstGeom prst="rect">
            <a:avLst/>
          </a:prstGeom>
          <a:noFill/>
          <a:ln/>
        </p:spPr>
        <p:txBody>
          <a:bodyPr wrap="square" lIns="0" tIns="0" rIns="0" bIns="0" rtlCol="0" anchor="t"/>
          <a:lstStyle/>
          <a:p>
            <a:pPr algn="ctr" indent="0" marL="0">
              <a:buNone/>
            </a:pPr>
            <a:r>
              <a:rPr lang="en-US" sz="1900" b="1" dirty="0">
                <a:solidFill>
                  <a:schemeClr val="bg1"/>
                </a:solidFill>
              </a:rPr>
              <a:t>Meister</a:t>
            </a:r>
            <a:endParaRPr lang="en-US" sz="1800" dirty="0"/>
          </a:p>
          <a:p>
            <a:pPr algn="ctr" indent="0" marL="0">
              <a:buNone/>
            </a:pPr>
            <a:r>
              <a:rPr lang="en-US" sz="1500" dirty="0">
                <a:solidFill>
                  <a:schemeClr val="bg2"/>
                </a:solidFill>
              </a:rPr>
              <a:t>ab 55 %</a:t>
            </a:r>
            <a:endParaRPr lang="en-US" sz="1800" dirty="0"/>
          </a:p>
        </p:txBody>
      </p:sp>
      <p:sp>
        <p:nvSpPr>
          <p:cNvPr id="17" name="Icon-Kreis"/>
          <p:cNvSpPr/>
          <p:nvPr/>
        </p:nvSpPr>
        <p:spPr>
          <a:xfrm>
            <a:off x="8046720" y="2148840"/>
            <a:ext cx="548640" cy="548640"/>
          </a:xfrm>
          <a:prstGeom prst="ellipse">
            <a:avLst/>
          </a:prstGeom>
          <a:solidFill>
            <a:schemeClr val="bg1"/>
          </a:solidFill>
          <a:ln w="19050">
            <a:solidFill>
              <a:schemeClr val="accent1"/>
            </a:solidFill>
            <a:prstDash val="solid"/>
          </a:ln>
        </p:spPr>
      </p:sp>
      <p:pic>
        <p:nvPicPr>
          <p:cNvPr id="18" name="Icon GiRoundStar" descr="preencoded.png">    </p:cNvPr>
          <p:cNvPicPr>
            <a:picLocks noChangeAspect="1"/>
          </p:cNvPicPr>
          <p:nvPr/>
        </p:nvPicPr>
        <p:blipFill>
          <a:blip r:embed="rId4"/>
          <a:stretch>
            <a:fillRect/>
          </a:stretch>
        </p:blipFill>
        <p:spPr>
          <a:xfrm>
            <a:off x="8167421" y="2269541"/>
            <a:ext cx="307238" cy="307238"/>
          </a:xfrm>
          <a:prstGeom prst="rect">
            <a:avLst/>
          </a:prstGeom>
        </p:spPr>
      </p:pic>
      <p:sp>
        <p:nvSpPr>
          <p:cNvPr id="19" name="Stufe Großmeister"/>
          <p:cNvSpPr txBox="1"/>
          <p:nvPr/>
        </p:nvSpPr>
        <p:spPr>
          <a:xfrm>
            <a:off x="9509760" y="2286000"/>
            <a:ext cx="2103120" cy="3200400"/>
          </a:xfrm>
          <a:prstGeom prst="rect">
            <a:avLst/>
          </a:prstGeom>
          <a:solidFill>
            <a:schemeClr val="accent2"/>
          </a:solidFill>
          <a:ln w="12700">
            <a:solidFill>
              <a:schemeClr val="bg1"/>
            </a:solidFill>
          </a:ln>
        </p:spPr>
        <p:txBody>
          <a:bodyPr wrap="square" lIns="0" tIns="0" rIns="0" bIns="0" rtlCol="0" anchor="t"/>
          <a:lstStyle/>
          <a:p>
            <a:pPr indent="0" marL="0">
              <a:buNone/>
            </a:pPr>
            <a:endParaRPr lang="en-US" sz="1800" dirty="0"/>
          </a:p>
        </p:txBody>
      </p:sp>
      <p:sp>
        <p:nvSpPr>
          <p:cNvPr id="20" name="Text 14"/>
          <p:cNvSpPr txBox="1"/>
          <p:nvPr/>
        </p:nvSpPr>
        <p:spPr>
          <a:xfrm>
            <a:off x="9509760" y="2395728"/>
            <a:ext cx="2103120" cy="685800"/>
          </a:xfrm>
          <a:prstGeom prst="rect">
            <a:avLst/>
          </a:prstGeom>
          <a:noFill/>
          <a:ln/>
        </p:spPr>
        <p:txBody>
          <a:bodyPr wrap="square" lIns="0" tIns="0" rIns="0" bIns="0" rtlCol="0" anchor="t"/>
          <a:lstStyle/>
          <a:p>
            <a:pPr algn="ctr" indent="0" marL="0">
              <a:buNone/>
            </a:pPr>
            <a:r>
              <a:rPr lang="en-US" sz="1900" b="1" dirty="0">
                <a:solidFill>
                  <a:schemeClr val="bg1"/>
                </a:solidFill>
              </a:rPr>
              <a:t>Großmeister</a:t>
            </a:r>
            <a:endParaRPr lang="en-US" sz="1800" dirty="0"/>
          </a:p>
          <a:p>
            <a:pPr algn="ctr" indent="0" marL="0">
              <a:buNone/>
            </a:pPr>
            <a:r>
              <a:rPr lang="en-US" sz="1500" dirty="0">
                <a:solidFill>
                  <a:schemeClr val="accent1"/>
                </a:solidFill>
              </a:rPr>
              <a:t>ab 80 %</a:t>
            </a:r>
            <a:endParaRPr lang="en-US" sz="1800" dirty="0"/>
          </a:p>
        </p:txBody>
      </p:sp>
      <p:sp>
        <p:nvSpPr>
          <p:cNvPr id="21" name="Icon-Kreis"/>
          <p:cNvSpPr/>
          <p:nvPr/>
        </p:nvSpPr>
        <p:spPr>
          <a:xfrm>
            <a:off x="10287000" y="1600200"/>
            <a:ext cx="548640" cy="548640"/>
          </a:xfrm>
          <a:prstGeom prst="ellipse">
            <a:avLst/>
          </a:prstGeom>
          <a:solidFill>
            <a:schemeClr val="accent2"/>
          </a:solidFill>
          <a:ln/>
        </p:spPr>
      </p:sp>
      <p:pic>
        <p:nvPicPr>
          <p:cNvPr id="22" name="Icon GiCrown" descr="preencoded.png">    </p:cNvPr>
          <p:cNvPicPr>
            <a:picLocks noChangeAspect="1"/>
          </p:cNvPicPr>
          <p:nvPr/>
        </p:nvPicPr>
        <p:blipFill>
          <a:blip r:embed="rId5"/>
          <a:stretch>
            <a:fillRect/>
          </a:stretch>
        </p:blipFill>
        <p:spPr>
          <a:xfrm>
            <a:off x="10407701" y="1720901"/>
            <a:ext cx="307238" cy="307238"/>
          </a:xfrm>
          <a:prstGeom prst="rect">
            <a:avLst/>
          </a:prstGeom>
        </p:spPr>
      </p:pic>
      <p:sp>
        <p:nvSpPr>
          <p:cNvPr id="23" name="Text 16"/>
          <p:cNvSpPr txBox="1"/>
          <p:nvPr/>
        </p:nvSpPr>
        <p:spPr>
          <a:xfrm>
            <a:off x="9509760" y="5532120"/>
            <a:ext cx="2103120" cy="320040"/>
          </a:xfrm>
          <a:prstGeom prst="rect">
            <a:avLst/>
          </a:prstGeom>
          <a:noFill/>
          <a:ln/>
        </p:spPr>
        <p:txBody>
          <a:bodyPr wrap="square" lIns="0" tIns="0" rIns="0" bIns="0" rtlCol="0" anchor="t"/>
          <a:lstStyle/>
          <a:p>
            <a:pPr algn="ctr" indent="0" marL="0">
              <a:buNone/>
            </a:pPr>
            <a:r>
              <a:rPr lang="en-US" sz="1500" b="1" i="1" dirty="0">
                <a:solidFill>
                  <a:schemeClr val="accent2"/>
                </a:solidFill>
              </a:rPr>
              <a:t>„abiturbereit“</a:t>
            </a:r>
            <a:endParaRPr lang="en-US" sz="1500" dirty="0"/>
          </a:p>
        </p:txBody>
      </p:sp>
      <p:sp>
        <p:nvSpPr>
          <p:cNvPr id="24" name="Rang privat"/>
          <p:cNvSpPr/>
          <p:nvPr/>
        </p:nvSpPr>
        <p:spPr>
          <a:xfrm>
            <a:off x="548640" y="1325880"/>
            <a:ext cx="6400800" cy="1097280"/>
          </a:xfrm>
          <a:prstGeom prst="roundRect">
            <a:avLst>
              <a:gd name="adj" fmla="val 10000"/>
            </a:avLst>
          </a:prstGeom>
          <a:solidFill>
            <a:schemeClr val="bg2"/>
          </a:solidFill>
          <a:ln/>
        </p:spPr>
      </p:sp>
      <p:sp>
        <p:nvSpPr>
          <p:cNvPr id="25" name="Text 18"/>
          <p:cNvSpPr txBox="1"/>
          <p:nvPr/>
        </p:nvSpPr>
        <p:spPr>
          <a:xfrm>
            <a:off x="749808" y="1325880"/>
            <a:ext cx="6035040" cy="1097280"/>
          </a:xfrm>
          <a:prstGeom prst="rect">
            <a:avLst/>
          </a:prstGeom>
          <a:noFill/>
          <a:ln/>
        </p:spPr>
        <p:txBody>
          <a:bodyPr wrap="square" lIns="0" tIns="0" rIns="0" bIns="0" rtlCol="0" anchor="ctr"/>
          <a:lstStyle/>
          <a:p>
            <a:pPr indent="0" marL="0">
              <a:buNone/>
            </a:pPr>
            <a:r>
              <a:rPr lang="en-US" sz="1500" b="1" dirty="0">
                <a:solidFill>
                  <a:schemeClr val="accent1"/>
                </a:solidFill>
              </a:rPr>
              <a:t>Dein Rang </a:t>
            </a:r>
            <a:pPr indent="0" marL="0">
              <a:buNone/>
            </a:pPr>
            <a:r>
              <a:rPr lang="en-US" sz="1500" dirty="0">
                <a:solidFill>
                  <a:schemeClr val="tx1"/>
                </a:solidFill>
              </a:rPr>
              <a:t>wächst automatisch mit deinen Level-Punkten im Lab und steht auf deiner Urkunde. Du siehst ihn in deinem Profil.</a:t>
            </a:r>
            <a:endParaRPr lang="en-US" sz="1500" dirty="0"/>
          </a:p>
        </p:txBody>
      </p:sp>
      <p:sp>
        <p:nvSpPr>
          <p:cNvPr id="26" name="Text 19"/>
          <p:cNvSpPr txBox="1"/>
          <p:nvPr/>
        </p:nvSpPr>
        <p:spPr>
          <a:xfrm>
            <a:off x="548640" y="5852160"/>
            <a:ext cx="6400800" cy="274320"/>
          </a:xfrm>
          <a:prstGeom prst="rect">
            <a:avLst/>
          </a:prstGeom>
          <a:noFill/>
          <a:ln/>
        </p:spPr>
        <p:txBody>
          <a:bodyPr wrap="square" lIns="0" tIns="0" rIns="0" bIns="0" rtlCol="0" anchor="t"/>
          <a:lstStyle/>
          <a:p>
            <a:pPr indent="0" marL="0">
              <a:buNone/>
            </a:pPr>
            <a:r>
              <a:rPr lang="en-US" sz="1200" i="1" dirty="0">
                <a:solidFill>
                  <a:schemeClr val="accent6"/>
                </a:solidFill>
              </a:rPr>
              <a:t>Schwellen: Anteil der Level-Punkte aller freigeschalteten Welten (Algo Quest Lab)</a:t>
            </a:r>
            <a:endParaRPr lang="en-US" sz="1200" dirty="0"/>
          </a:p>
        </p:txBody>
      </p:sp>
      <p:sp>
        <p:nvSpPr>
          <p:cNvPr id="27" name="Text 2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Abschluss · Ränge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Abzeichen: Was habt ihr erreicht?</a:t>
            </a:r>
            <a:endParaRPr lang="en-US" sz="3600" dirty="0"/>
          </a:p>
        </p:txBody>
      </p:sp>
      <p:sp>
        <p:nvSpPr>
          <p:cNvPr id="3" name="Abzeichen Erste Schritte"/>
          <p:cNvSpPr/>
          <p:nvPr/>
        </p:nvSpPr>
        <p:spPr>
          <a:xfrm>
            <a:off x="548640" y="1325880"/>
            <a:ext cx="2651760" cy="2240280"/>
          </a:xfrm>
          <a:prstGeom prst="roundRect">
            <a:avLst>
              <a:gd name="adj" fmla="val 4898"/>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4" name="Icon-Kreis"/>
          <p:cNvSpPr/>
          <p:nvPr/>
        </p:nvSpPr>
        <p:spPr>
          <a:xfrm>
            <a:off x="713232" y="1490472"/>
            <a:ext cx="731520" cy="731520"/>
          </a:xfrm>
          <a:prstGeom prst="ellipse">
            <a:avLst/>
          </a:prstGeom>
          <a:solidFill>
            <a:schemeClr val="accent1"/>
          </a:solidFill>
          <a:ln w="31750">
            <a:solidFill>
              <a:schemeClr val="accent2"/>
            </a:solidFill>
            <a:prstDash val="solid"/>
          </a:ln>
        </p:spPr>
      </p:sp>
      <p:pic>
        <p:nvPicPr>
          <p:cNvPr id="5" name="Icon GiFootprint" descr="preencoded.png">    </p:cNvPr>
          <p:cNvPicPr>
            <a:picLocks noChangeAspect="1"/>
          </p:cNvPicPr>
          <p:nvPr/>
        </p:nvPicPr>
        <p:blipFill>
          <a:blip r:embed="rId1"/>
          <a:stretch>
            <a:fillRect/>
          </a:stretch>
        </p:blipFill>
        <p:spPr>
          <a:xfrm>
            <a:off x="874166" y="1651406"/>
            <a:ext cx="409651" cy="409651"/>
          </a:xfrm>
          <a:prstGeom prst="rect">
            <a:avLst/>
          </a:prstGeom>
        </p:spPr>
      </p:pic>
      <p:sp>
        <p:nvSpPr>
          <p:cNvPr id="6" name="Text 3"/>
          <p:cNvSpPr txBox="1"/>
          <p:nvPr/>
        </p:nvSpPr>
        <p:spPr>
          <a:xfrm>
            <a:off x="1554480" y="1490472"/>
            <a:ext cx="1554480" cy="731520"/>
          </a:xfrm>
          <a:prstGeom prst="rect">
            <a:avLst/>
          </a:prstGeom>
          <a:noFill/>
          <a:ln/>
        </p:spPr>
        <p:txBody>
          <a:bodyPr wrap="square" lIns="0" tIns="0" rIns="0" bIns="0" rtlCol="0" anchor="ctr"/>
          <a:lstStyle/>
          <a:p>
            <a:pPr indent="0" marL="0">
              <a:buNone/>
            </a:pPr>
            <a:r>
              <a:rPr lang="en-US" sz="1600" b="1" dirty="0">
                <a:solidFill>
                  <a:schemeClr val="accent1"/>
                </a:solidFill>
              </a:rPr>
              <a:t>Erste Schritte</a:t>
            </a:r>
            <a:endParaRPr lang="en-US" sz="1600" dirty="0"/>
          </a:p>
        </p:txBody>
      </p:sp>
      <p:sp>
        <p:nvSpPr>
          <p:cNvPr id="7" name="Text 4"/>
          <p:cNvSpPr txBox="1"/>
          <p:nvPr/>
        </p:nvSpPr>
        <p:spPr>
          <a:xfrm>
            <a:off x="713232" y="2313432"/>
            <a:ext cx="2322576" cy="685800"/>
          </a:xfrm>
          <a:prstGeom prst="rect">
            <a:avLst/>
          </a:prstGeom>
          <a:noFill/>
          <a:ln/>
        </p:spPr>
        <p:txBody>
          <a:bodyPr wrap="square" lIns="0" tIns="0" rIns="0" bIns="0" rtlCol="0" anchor="t"/>
          <a:lstStyle/>
          <a:p>
            <a:pPr indent="0" marL="0">
              <a:buNone/>
            </a:pPr>
            <a:r>
              <a:rPr lang="en-US" sz="1400" dirty="0">
                <a:solidFill>
                  <a:schemeClr val="tx1"/>
                </a:solidFill>
              </a:rPr>
              <a:t>die erste Aufgabe gelöst</a:t>
            </a:r>
            <a:endParaRPr lang="en-US" sz="1400" dirty="0"/>
          </a:p>
        </p:txBody>
      </p:sp>
      <p:sp>
        <p:nvSpPr>
          <p:cNvPr id="8" name="Text 5"/>
          <p:cNvSpPr txBox="1"/>
          <p:nvPr/>
        </p:nvSpPr>
        <p:spPr>
          <a:xfrm>
            <a:off x="713232" y="3063240"/>
            <a:ext cx="2322576" cy="347472"/>
          </a:xfrm>
          <a:prstGeom prst="rect">
            <a:avLst/>
          </a:prstGeom>
          <a:noFill/>
          <a:ln/>
        </p:spPr>
        <p:txBody>
          <a:bodyPr wrap="square" lIns="0" tIns="0" rIns="0" bIns="0" rtlCol="0" anchor="ctr"/>
          <a:lstStyle/>
          <a:p>
            <a:pPr indent="0" marL="0">
              <a:buNone/>
            </a:pPr>
            <a:r>
              <a:rPr lang="en-US" sz="1500" dirty="0">
                <a:solidFill>
                  <a:schemeClr val="accent6"/>
                </a:solidFill>
              </a:rPr>
              <a:t>im Kurs: </a:t>
            </a:r>
            <a:pPr indent="0" marL="0">
              <a:buNone/>
            </a:pPr>
            <a:r>
              <a:rPr lang="en-US" sz="1500" b="1" dirty="0">
                <a:solidFill>
                  <a:schemeClr val="accent2"/>
                </a:solidFill>
              </a:rPr>
              <a:t>____ ×</a:t>
            </a:r>
            <a:endParaRPr lang="en-US" sz="1500" dirty="0"/>
          </a:p>
        </p:txBody>
      </p:sp>
      <p:sp>
        <p:nvSpPr>
          <p:cNvPr id="9" name="Abzeichen Zehnerserie"/>
          <p:cNvSpPr/>
          <p:nvPr/>
        </p:nvSpPr>
        <p:spPr>
          <a:xfrm>
            <a:off x="3364992" y="1325880"/>
            <a:ext cx="2651760" cy="2240280"/>
          </a:xfrm>
          <a:prstGeom prst="roundRect">
            <a:avLst>
              <a:gd name="adj" fmla="val 4898"/>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10" name="Icon-Kreis"/>
          <p:cNvSpPr/>
          <p:nvPr/>
        </p:nvSpPr>
        <p:spPr>
          <a:xfrm>
            <a:off x="3529584" y="1490472"/>
            <a:ext cx="731520" cy="731520"/>
          </a:xfrm>
          <a:prstGeom prst="ellipse">
            <a:avLst/>
          </a:prstGeom>
          <a:solidFill>
            <a:schemeClr val="accent1"/>
          </a:solidFill>
          <a:ln w="31750">
            <a:solidFill>
              <a:schemeClr val="accent2"/>
            </a:solidFill>
            <a:prstDash val="solid"/>
          </a:ln>
        </p:spPr>
      </p:sp>
      <p:pic>
        <p:nvPicPr>
          <p:cNvPr id="11" name="Icon GiStarFormation" descr="preencoded.png">    </p:cNvPr>
          <p:cNvPicPr>
            <a:picLocks noChangeAspect="1"/>
          </p:cNvPicPr>
          <p:nvPr/>
        </p:nvPicPr>
        <p:blipFill>
          <a:blip r:embed="rId2"/>
          <a:stretch>
            <a:fillRect/>
          </a:stretch>
        </p:blipFill>
        <p:spPr>
          <a:xfrm>
            <a:off x="3690518" y="1651406"/>
            <a:ext cx="409651" cy="409651"/>
          </a:xfrm>
          <a:prstGeom prst="rect">
            <a:avLst/>
          </a:prstGeom>
        </p:spPr>
      </p:pic>
      <p:sp>
        <p:nvSpPr>
          <p:cNvPr id="12" name="Text 8"/>
          <p:cNvSpPr txBox="1"/>
          <p:nvPr/>
        </p:nvSpPr>
        <p:spPr>
          <a:xfrm>
            <a:off x="4370832" y="1490472"/>
            <a:ext cx="1554480" cy="731520"/>
          </a:xfrm>
          <a:prstGeom prst="rect">
            <a:avLst/>
          </a:prstGeom>
          <a:noFill/>
          <a:ln/>
        </p:spPr>
        <p:txBody>
          <a:bodyPr wrap="square" lIns="0" tIns="0" rIns="0" bIns="0" rtlCol="0" anchor="ctr"/>
          <a:lstStyle/>
          <a:p>
            <a:pPr indent="0" marL="0">
              <a:buNone/>
            </a:pPr>
            <a:r>
              <a:rPr lang="en-US" sz="1600" b="1" dirty="0">
                <a:solidFill>
                  <a:schemeClr val="accent1"/>
                </a:solidFill>
              </a:rPr>
              <a:t>Zehnerserie</a:t>
            </a:r>
            <a:endParaRPr lang="en-US" sz="1600" dirty="0"/>
          </a:p>
        </p:txBody>
      </p:sp>
      <p:sp>
        <p:nvSpPr>
          <p:cNvPr id="13" name="Text 9"/>
          <p:cNvSpPr txBox="1"/>
          <p:nvPr/>
        </p:nvSpPr>
        <p:spPr>
          <a:xfrm>
            <a:off x="3529584" y="2313432"/>
            <a:ext cx="2322576" cy="685800"/>
          </a:xfrm>
          <a:prstGeom prst="rect">
            <a:avLst/>
          </a:prstGeom>
          <a:noFill/>
          <a:ln/>
        </p:spPr>
        <p:txBody>
          <a:bodyPr wrap="square" lIns="0" tIns="0" rIns="0" bIns="0" rtlCol="0" anchor="t"/>
          <a:lstStyle/>
          <a:p>
            <a:pPr indent="0" marL="0">
              <a:buNone/>
            </a:pPr>
            <a:r>
              <a:rPr lang="en-US" sz="1400" dirty="0">
                <a:solidFill>
                  <a:schemeClr val="tx1"/>
                </a:solidFill>
              </a:rPr>
              <a:t>10 Aufgaben in Folge ohne Fehlversuch</a:t>
            </a:r>
            <a:endParaRPr lang="en-US" sz="1400" dirty="0"/>
          </a:p>
        </p:txBody>
      </p:sp>
      <p:sp>
        <p:nvSpPr>
          <p:cNvPr id="14" name="Text 10"/>
          <p:cNvSpPr txBox="1"/>
          <p:nvPr/>
        </p:nvSpPr>
        <p:spPr>
          <a:xfrm>
            <a:off x="3529584" y="3063240"/>
            <a:ext cx="2322576" cy="347472"/>
          </a:xfrm>
          <a:prstGeom prst="rect">
            <a:avLst/>
          </a:prstGeom>
          <a:noFill/>
          <a:ln/>
        </p:spPr>
        <p:txBody>
          <a:bodyPr wrap="square" lIns="0" tIns="0" rIns="0" bIns="0" rtlCol="0" anchor="ctr"/>
          <a:lstStyle/>
          <a:p>
            <a:pPr indent="0" marL="0">
              <a:buNone/>
            </a:pPr>
            <a:r>
              <a:rPr lang="en-US" sz="1500" dirty="0">
                <a:solidFill>
                  <a:schemeClr val="accent6"/>
                </a:solidFill>
              </a:rPr>
              <a:t>im Kurs: </a:t>
            </a:r>
            <a:pPr indent="0" marL="0">
              <a:buNone/>
            </a:pPr>
            <a:r>
              <a:rPr lang="en-US" sz="1500" b="1" dirty="0">
                <a:solidFill>
                  <a:schemeClr val="accent2"/>
                </a:solidFill>
              </a:rPr>
              <a:t>____ ×</a:t>
            </a:r>
            <a:endParaRPr lang="en-US" sz="1500" dirty="0"/>
          </a:p>
        </p:txBody>
      </p:sp>
      <p:sp>
        <p:nvSpPr>
          <p:cNvPr id="15" name="Abzeichen Fleißig · Unermüdlich"/>
          <p:cNvSpPr/>
          <p:nvPr/>
        </p:nvSpPr>
        <p:spPr>
          <a:xfrm>
            <a:off x="6181344" y="1325880"/>
            <a:ext cx="2651760" cy="2240280"/>
          </a:xfrm>
          <a:prstGeom prst="roundRect">
            <a:avLst>
              <a:gd name="adj" fmla="val 4898"/>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16" name="Icon-Kreis"/>
          <p:cNvSpPr/>
          <p:nvPr/>
        </p:nvSpPr>
        <p:spPr>
          <a:xfrm>
            <a:off x="6345936" y="1490472"/>
            <a:ext cx="731520" cy="731520"/>
          </a:xfrm>
          <a:prstGeom prst="ellipse">
            <a:avLst/>
          </a:prstGeom>
          <a:solidFill>
            <a:schemeClr val="accent1"/>
          </a:solidFill>
          <a:ln w="31750">
            <a:solidFill>
              <a:schemeClr val="accent2"/>
            </a:solidFill>
            <a:prstDash val="solid"/>
          </a:ln>
        </p:spPr>
      </p:sp>
      <p:pic>
        <p:nvPicPr>
          <p:cNvPr id="17" name="Icon GiBeehive" descr="preencoded.png">    </p:cNvPr>
          <p:cNvPicPr>
            <a:picLocks noChangeAspect="1"/>
          </p:cNvPicPr>
          <p:nvPr/>
        </p:nvPicPr>
        <p:blipFill>
          <a:blip r:embed="rId3"/>
          <a:stretch>
            <a:fillRect/>
          </a:stretch>
        </p:blipFill>
        <p:spPr>
          <a:xfrm>
            <a:off x="6506870" y="1651406"/>
            <a:ext cx="409651" cy="409651"/>
          </a:xfrm>
          <a:prstGeom prst="rect">
            <a:avLst/>
          </a:prstGeom>
        </p:spPr>
      </p:pic>
      <p:sp>
        <p:nvSpPr>
          <p:cNvPr id="18" name="Text 13"/>
          <p:cNvSpPr txBox="1"/>
          <p:nvPr/>
        </p:nvSpPr>
        <p:spPr>
          <a:xfrm>
            <a:off x="7187184" y="1490472"/>
            <a:ext cx="1554480" cy="731520"/>
          </a:xfrm>
          <a:prstGeom prst="rect">
            <a:avLst/>
          </a:prstGeom>
          <a:noFill/>
          <a:ln/>
        </p:spPr>
        <p:txBody>
          <a:bodyPr wrap="square" lIns="0" tIns="0" rIns="0" bIns="0" rtlCol="0" anchor="ctr"/>
          <a:lstStyle/>
          <a:p>
            <a:pPr indent="0" marL="0">
              <a:buNone/>
            </a:pPr>
            <a:r>
              <a:rPr lang="en-US" sz="1600" b="1" dirty="0">
                <a:solidFill>
                  <a:schemeClr val="accent1"/>
                </a:solidFill>
              </a:rPr>
              <a:t>Fleißig · Unermüdlich</a:t>
            </a:r>
            <a:endParaRPr lang="en-US" sz="1600" dirty="0"/>
          </a:p>
        </p:txBody>
      </p:sp>
      <p:sp>
        <p:nvSpPr>
          <p:cNvPr id="19" name="Text 14"/>
          <p:cNvSpPr txBox="1"/>
          <p:nvPr/>
        </p:nvSpPr>
        <p:spPr>
          <a:xfrm>
            <a:off x="6345936" y="2313432"/>
            <a:ext cx="2322576" cy="685800"/>
          </a:xfrm>
          <a:prstGeom prst="rect">
            <a:avLst/>
          </a:prstGeom>
          <a:noFill/>
          <a:ln/>
        </p:spPr>
        <p:txBody>
          <a:bodyPr wrap="square" lIns="0" tIns="0" rIns="0" bIns="0" rtlCol="0" anchor="t"/>
          <a:lstStyle/>
          <a:p>
            <a:pPr indent="0" marL="0">
              <a:buNone/>
            </a:pPr>
            <a:r>
              <a:rPr lang="en-US" sz="1400" dirty="0">
                <a:solidFill>
                  <a:schemeClr val="tx1"/>
                </a:solidFill>
              </a:rPr>
              <a:t>50 bzw. 150 Aufgaben gelöst</a:t>
            </a:r>
            <a:endParaRPr lang="en-US" sz="1400" dirty="0"/>
          </a:p>
        </p:txBody>
      </p:sp>
      <p:sp>
        <p:nvSpPr>
          <p:cNvPr id="20" name="Text 15"/>
          <p:cNvSpPr txBox="1"/>
          <p:nvPr/>
        </p:nvSpPr>
        <p:spPr>
          <a:xfrm>
            <a:off x="6345936" y="3063240"/>
            <a:ext cx="2322576" cy="347472"/>
          </a:xfrm>
          <a:prstGeom prst="rect">
            <a:avLst/>
          </a:prstGeom>
          <a:noFill/>
          <a:ln/>
        </p:spPr>
        <p:txBody>
          <a:bodyPr wrap="square" lIns="0" tIns="0" rIns="0" bIns="0" rtlCol="0" anchor="ctr"/>
          <a:lstStyle/>
          <a:p>
            <a:pPr indent="0" marL="0">
              <a:buNone/>
            </a:pPr>
            <a:r>
              <a:rPr lang="en-US" sz="1500" dirty="0">
                <a:solidFill>
                  <a:schemeClr val="accent6"/>
                </a:solidFill>
              </a:rPr>
              <a:t>im Kurs: </a:t>
            </a:r>
            <a:pPr indent="0" marL="0">
              <a:buNone/>
            </a:pPr>
            <a:r>
              <a:rPr lang="en-US" sz="1500" b="1" dirty="0">
                <a:solidFill>
                  <a:schemeClr val="accent2"/>
                </a:solidFill>
              </a:rPr>
              <a:t>____ ×</a:t>
            </a:r>
            <a:endParaRPr lang="en-US" sz="1500" dirty="0"/>
          </a:p>
        </p:txBody>
      </p:sp>
      <p:sp>
        <p:nvSpPr>
          <p:cNvPr id="21" name="Abzeichen Weltenbummler"/>
          <p:cNvSpPr/>
          <p:nvPr/>
        </p:nvSpPr>
        <p:spPr>
          <a:xfrm>
            <a:off x="8997696" y="1325880"/>
            <a:ext cx="2651760" cy="2240280"/>
          </a:xfrm>
          <a:prstGeom prst="roundRect">
            <a:avLst>
              <a:gd name="adj" fmla="val 4898"/>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22" name="Icon-Kreis"/>
          <p:cNvSpPr/>
          <p:nvPr/>
        </p:nvSpPr>
        <p:spPr>
          <a:xfrm>
            <a:off x="9162288" y="1490472"/>
            <a:ext cx="731520" cy="731520"/>
          </a:xfrm>
          <a:prstGeom prst="ellipse">
            <a:avLst/>
          </a:prstGeom>
          <a:solidFill>
            <a:schemeClr val="accent1"/>
          </a:solidFill>
          <a:ln w="31750">
            <a:solidFill>
              <a:schemeClr val="accent2"/>
            </a:solidFill>
            <a:prstDash val="solid"/>
          </a:ln>
        </p:spPr>
      </p:sp>
      <p:pic>
        <p:nvPicPr>
          <p:cNvPr id="23" name="Icon GiCompass" descr="preencoded.png">    </p:cNvPr>
          <p:cNvPicPr>
            <a:picLocks noChangeAspect="1"/>
          </p:cNvPicPr>
          <p:nvPr/>
        </p:nvPicPr>
        <p:blipFill>
          <a:blip r:embed="rId4"/>
          <a:stretch>
            <a:fillRect/>
          </a:stretch>
        </p:blipFill>
        <p:spPr>
          <a:xfrm>
            <a:off x="9323222" y="1651406"/>
            <a:ext cx="409651" cy="409651"/>
          </a:xfrm>
          <a:prstGeom prst="rect">
            <a:avLst/>
          </a:prstGeom>
        </p:spPr>
      </p:pic>
      <p:sp>
        <p:nvSpPr>
          <p:cNvPr id="24" name="Text 18"/>
          <p:cNvSpPr txBox="1"/>
          <p:nvPr/>
        </p:nvSpPr>
        <p:spPr>
          <a:xfrm>
            <a:off x="10003536" y="1490472"/>
            <a:ext cx="1554480" cy="731520"/>
          </a:xfrm>
          <a:prstGeom prst="rect">
            <a:avLst/>
          </a:prstGeom>
          <a:noFill/>
          <a:ln/>
        </p:spPr>
        <p:txBody>
          <a:bodyPr wrap="square" lIns="0" tIns="0" rIns="0" bIns="0" rtlCol="0" anchor="ctr"/>
          <a:lstStyle/>
          <a:p>
            <a:pPr indent="0" marL="0">
              <a:buNone/>
            </a:pPr>
            <a:r>
              <a:rPr lang="en-US" sz="1600" b="1" dirty="0">
                <a:solidFill>
                  <a:schemeClr val="accent1"/>
                </a:solidFill>
              </a:rPr>
              <a:t>Weltenbummler</a:t>
            </a:r>
            <a:endParaRPr lang="en-US" sz="1600" dirty="0"/>
          </a:p>
        </p:txBody>
      </p:sp>
      <p:sp>
        <p:nvSpPr>
          <p:cNvPr id="25" name="Text 19"/>
          <p:cNvSpPr txBox="1"/>
          <p:nvPr/>
        </p:nvSpPr>
        <p:spPr>
          <a:xfrm>
            <a:off x="9162288" y="2313432"/>
            <a:ext cx="2322576" cy="685800"/>
          </a:xfrm>
          <a:prstGeom prst="rect">
            <a:avLst/>
          </a:prstGeom>
          <a:noFill/>
          <a:ln/>
        </p:spPr>
        <p:txBody>
          <a:bodyPr wrap="square" lIns="0" tIns="0" rIns="0" bIns="0" rtlCol="0" anchor="t"/>
          <a:lstStyle/>
          <a:p>
            <a:pPr indent="0" marL="0">
              <a:buNone/>
            </a:pPr>
            <a:r>
              <a:rPr lang="en-US" sz="1400" dirty="0">
                <a:solidFill>
                  <a:schemeClr val="tx1"/>
                </a:solidFill>
              </a:rPr>
              <a:t>in jeder Welt mindestens eine Aufgabe gelöst</a:t>
            </a:r>
            <a:endParaRPr lang="en-US" sz="1400" dirty="0"/>
          </a:p>
        </p:txBody>
      </p:sp>
      <p:sp>
        <p:nvSpPr>
          <p:cNvPr id="26" name="Text 20"/>
          <p:cNvSpPr txBox="1"/>
          <p:nvPr/>
        </p:nvSpPr>
        <p:spPr>
          <a:xfrm>
            <a:off x="9162288" y="3063240"/>
            <a:ext cx="2322576" cy="347472"/>
          </a:xfrm>
          <a:prstGeom prst="rect">
            <a:avLst/>
          </a:prstGeom>
          <a:noFill/>
          <a:ln/>
        </p:spPr>
        <p:txBody>
          <a:bodyPr wrap="square" lIns="0" tIns="0" rIns="0" bIns="0" rtlCol="0" anchor="ctr"/>
          <a:lstStyle/>
          <a:p>
            <a:pPr indent="0" marL="0">
              <a:buNone/>
            </a:pPr>
            <a:r>
              <a:rPr lang="en-US" sz="1500" dirty="0">
                <a:solidFill>
                  <a:schemeClr val="accent6"/>
                </a:solidFill>
              </a:rPr>
              <a:t>im Kurs: </a:t>
            </a:r>
            <a:pPr indent="0" marL="0">
              <a:buNone/>
            </a:pPr>
            <a:r>
              <a:rPr lang="en-US" sz="1500" b="1" dirty="0">
                <a:solidFill>
                  <a:schemeClr val="accent2"/>
                </a:solidFill>
              </a:rPr>
              <a:t>____ ×</a:t>
            </a:r>
            <a:endParaRPr lang="en-US" sz="1500" dirty="0"/>
          </a:p>
        </p:txBody>
      </p:sp>
      <p:sp>
        <p:nvSpPr>
          <p:cNvPr id="27" name="Abzeichen „… gemeistert“"/>
          <p:cNvSpPr/>
          <p:nvPr/>
        </p:nvSpPr>
        <p:spPr>
          <a:xfrm>
            <a:off x="548640" y="3749040"/>
            <a:ext cx="2651760" cy="2240280"/>
          </a:xfrm>
          <a:prstGeom prst="roundRect">
            <a:avLst>
              <a:gd name="adj" fmla="val 4898"/>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28" name="Icon-Kreis"/>
          <p:cNvSpPr/>
          <p:nvPr/>
        </p:nvSpPr>
        <p:spPr>
          <a:xfrm>
            <a:off x="713232" y="3913632"/>
            <a:ext cx="731520" cy="731520"/>
          </a:xfrm>
          <a:prstGeom prst="ellipse">
            <a:avLst/>
          </a:prstGeom>
          <a:solidFill>
            <a:schemeClr val="accent1"/>
          </a:solidFill>
          <a:ln w="31750">
            <a:solidFill>
              <a:schemeClr val="accent2"/>
            </a:solidFill>
            <a:prstDash val="solid"/>
          </a:ln>
        </p:spPr>
      </p:sp>
      <p:pic>
        <p:nvPicPr>
          <p:cNvPr id="29" name="Icon GiLaurelsTrophy" descr="preencoded.png">    </p:cNvPr>
          <p:cNvPicPr>
            <a:picLocks noChangeAspect="1"/>
          </p:cNvPicPr>
          <p:nvPr/>
        </p:nvPicPr>
        <p:blipFill>
          <a:blip r:embed="rId5"/>
          <a:stretch>
            <a:fillRect/>
          </a:stretch>
        </p:blipFill>
        <p:spPr>
          <a:xfrm>
            <a:off x="874166" y="4074566"/>
            <a:ext cx="409651" cy="409651"/>
          </a:xfrm>
          <a:prstGeom prst="rect">
            <a:avLst/>
          </a:prstGeom>
        </p:spPr>
      </p:pic>
      <p:sp>
        <p:nvSpPr>
          <p:cNvPr id="30" name="Text 23"/>
          <p:cNvSpPr txBox="1"/>
          <p:nvPr/>
        </p:nvSpPr>
        <p:spPr>
          <a:xfrm>
            <a:off x="1554480" y="3913632"/>
            <a:ext cx="1554480" cy="731520"/>
          </a:xfrm>
          <a:prstGeom prst="rect">
            <a:avLst/>
          </a:prstGeom>
          <a:noFill/>
          <a:ln/>
        </p:spPr>
        <p:txBody>
          <a:bodyPr wrap="square" lIns="0" tIns="0" rIns="0" bIns="0" rtlCol="0" anchor="ctr"/>
          <a:lstStyle/>
          <a:p>
            <a:pPr indent="0" marL="0">
              <a:buNone/>
            </a:pPr>
            <a:r>
              <a:rPr lang="en-US" sz="1600" b="1" dirty="0">
                <a:solidFill>
                  <a:schemeClr val="accent1"/>
                </a:solidFill>
              </a:rPr>
              <a:t>„… gemeistert“</a:t>
            </a:r>
            <a:endParaRPr lang="en-US" sz="1600" dirty="0"/>
          </a:p>
        </p:txBody>
      </p:sp>
      <p:sp>
        <p:nvSpPr>
          <p:cNvPr id="31" name="Text 24"/>
          <p:cNvSpPr txBox="1"/>
          <p:nvPr/>
        </p:nvSpPr>
        <p:spPr>
          <a:xfrm>
            <a:off x="713232" y="4736592"/>
            <a:ext cx="2322576" cy="685800"/>
          </a:xfrm>
          <a:prstGeom prst="rect">
            <a:avLst/>
          </a:prstGeom>
          <a:noFill/>
          <a:ln/>
        </p:spPr>
        <p:txBody>
          <a:bodyPr wrap="square" lIns="0" tIns="0" rIns="0" bIns="0" rtlCol="0" anchor="t"/>
          <a:lstStyle/>
          <a:p>
            <a:pPr indent="0" marL="0">
              <a:buNone/>
            </a:pPr>
            <a:r>
              <a:rPr lang="en-US" sz="1400" dirty="0">
                <a:solidFill>
                  <a:schemeClr val="tx1"/>
                </a:solidFill>
              </a:rPr>
              <a:t>alle Level-Aufgaben einer Welt gelöst</a:t>
            </a:r>
            <a:endParaRPr lang="en-US" sz="1400" dirty="0"/>
          </a:p>
        </p:txBody>
      </p:sp>
      <p:sp>
        <p:nvSpPr>
          <p:cNvPr id="32" name="Text 25"/>
          <p:cNvSpPr txBox="1"/>
          <p:nvPr/>
        </p:nvSpPr>
        <p:spPr>
          <a:xfrm>
            <a:off x="713232" y="5486400"/>
            <a:ext cx="2322576" cy="347472"/>
          </a:xfrm>
          <a:prstGeom prst="rect">
            <a:avLst/>
          </a:prstGeom>
          <a:noFill/>
          <a:ln/>
        </p:spPr>
        <p:txBody>
          <a:bodyPr wrap="square" lIns="0" tIns="0" rIns="0" bIns="0" rtlCol="0" anchor="ctr"/>
          <a:lstStyle/>
          <a:p>
            <a:pPr indent="0" marL="0">
              <a:buNone/>
            </a:pPr>
            <a:r>
              <a:rPr lang="en-US" sz="1500" dirty="0">
                <a:solidFill>
                  <a:schemeClr val="accent6"/>
                </a:solidFill>
              </a:rPr>
              <a:t>im Kurs: </a:t>
            </a:r>
            <a:pPr indent="0" marL="0">
              <a:buNone/>
            </a:pPr>
            <a:r>
              <a:rPr lang="en-US" sz="1500" b="1" dirty="0">
                <a:solidFill>
                  <a:schemeClr val="accent2"/>
                </a:solidFill>
              </a:rPr>
              <a:t>____ ×</a:t>
            </a:r>
            <a:endParaRPr lang="en-US" sz="1500" dirty="0"/>
          </a:p>
        </p:txBody>
      </p:sp>
      <p:sp>
        <p:nvSpPr>
          <p:cNvPr id="33" name="Abzeichen „… besiegt“"/>
          <p:cNvSpPr/>
          <p:nvPr/>
        </p:nvSpPr>
        <p:spPr>
          <a:xfrm>
            <a:off x="3364992" y="3749040"/>
            <a:ext cx="2651760" cy="2240280"/>
          </a:xfrm>
          <a:prstGeom prst="roundRect">
            <a:avLst>
              <a:gd name="adj" fmla="val 4898"/>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34" name="Icon-Kreis"/>
          <p:cNvSpPr/>
          <p:nvPr/>
        </p:nvSpPr>
        <p:spPr>
          <a:xfrm>
            <a:off x="3529584" y="3913632"/>
            <a:ext cx="731520" cy="731520"/>
          </a:xfrm>
          <a:prstGeom prst="ellipse">
            <a:avLst/>
          </a:prstGeom>
          <a:solidFill>
            <a:schemeClr val="accent1"/>
          </a:solidFill>
          <a:ln w="31750">
            <a:solidFill>
              <a:schemeClr val="accent2"/>
            </a:solidFill>
            <a:prstDash val="solid"/>
          </a:ln>
        </p:spPr>
      </p:sp>
      <p:pic>
        <p:nvPicPr>
          <p:cNvPr id="35" name="Icon GiCrossedSwords" descr="preencoded.png">    </p:cNvPr>
          <p:cNvPicPr>
            <a:picLocks noChangeAspect="1"/>
          </p:cNvPicPr>
          <p:nvPr/>
        </p:nvPicPr>
        <p:blipFill>
          <a:blip r:embed="rId6"/>
          <a:stretch>
            <a:fillRect/>
          </a:stretch>
        </p:blipFill>
        <p:spPr>
          <a:xfrm>
            <a:off x="3690518" y="4074566"/>
            <a:ext cx="409651" cy="409651"/>
          </a:xfrm>
          <a:prstGeom prst="rect">
            <a:avLst/>
          </a:prstGeom>
        </p:spPr>
      </p:pic>
      <p:sp>
        <p:nvSpPr>
          <p:cNvPr id="36" name="Text 28"/>
          <p:cNvSpPr txBox="1"/>
          <p:nvPr/>
        </p:nvSpPr>
        <p:spPr>
          <a:xfrm>
            <a:off x="4370832" y="3913632"/>
            <a:ext cx="1554480" cy="731520"/>
          </a:xfrm>
          <a:prstGeom prst="rect">
            <a:avLst/>
          </a:prstGeom>
          <a:noFill/>
          <a:ln/>
        </p:spPr>
        <p:txBody>
          <a:bodyPr wrap="square" lIns="0" tIns="0" rIns="0" bIns="0" rtlCol="0" anchor="ctr"/>
          <a:lstStyle/>
          <a:p>
            <a:pPr indent="0" marL="0">
              <a:buNone/>
            </a:pPr>
            <a:r>
              <a:rPr lang="en-US" sz="1600" b="1" dirty="0">
                <a:solidFill>
                  <a:schemeClr val="accent1"/>
                </a:solidFill>
              </a:rPr>
              <a:t>„… besiegt“</a:t>
            </a:r>
            <a:endParaRPr lang="en-US" sz="1600" dirty="0"/>
          </a:p>
        </p:txBody>
      </p:sp>
      <p:sp>
        <p:nvSpPr>
          <p:cNvPr id="37" name="Text 29"/>
          <p:cNvSpPr txBox="1"/>
          <p:nvPr/>
        </p:nvSpPr>
        <p:spPr>
          <a:xfrm>
            <a:off x="3529584" y="4736592"/>
            <a:ext cx="2322576" cy="685800"/>
          </a:xfrm>
          <a:prstGeom prst="rect">
            <a:avLst/>
          </a:prstGeom>
          <a:noFill/>
          <a:ln/>
        </p:spPr>
        <p:txBody>
          <a:bodyPr wrap="square" lIns="0" tIns="0" rIns="0" bIns="0" rtlCol="0" anchor="t"/>
          <a:lstStyle/>
          <a:p>
            <a:pPr indent="0" marL="0">
              <a:buNone/>
            </a:pPr>
            <a:r>
              <a:rPr lang="en-US" sz="1400" dirty="0">
                <a:solidFill>
                  <a:schemeClr val="tx1"/>
                </a:solidFill>
              </a:rPr>
              <a:t>Online-Boss einer Welt mit mindestens 50 % (Makellos: 100 %)</a:t>
            </a:r>
            <a:endParaRPr lang="en-US" sz="1400" dirty="0"/>
          </a:p>
        </p:txBody>
      </p:sp>
      <p:sp>
        <p:nvSpPr>
          <p:cNvPr id="38" name="Text 30"/>
          <p:cNvSpPr txBox="1"/>
          <p:nvPr/>
        </p:nvSpPr>
        <p:spPr>
          <a:xfrm>
            <a:off x="3529584" y="5486400"/>
            <a:ext cx="2322576" cy="347472"/>
          </a:xfrm>
          <a:prstGeom prst="rect">
            <a:avLst/>
          </a:prstGeom>
          <a:noFill/>
          <a:ln/>
        </p:spPr>
        <p:txBody>
          <a:bodyPr wrap="square" lIns="0" tIns="0" rIns="0" bIns="0" rtlCol="0" anchor="ctr"/>
          <a:lstStyle/>
          <a:p>
            <a:pPr indent="0" marL="0">
              <a:buNone/>
            </a:pPr>
            <a:r>
              <a:rPr lang="en-US" sz="1500" dirty="0">
                <a:solidFill>
                  <a:schemeClr val="accent6"/>
                </a:solidFill>
              </a:rPr>
              <a:t>im Kurs: </a:t>
            </a:r>
            <a:pPr indent="0" marL="0">
              <a:buNone/>
            </a:pPr>
            <a:r>
              <a:rPr lang="en-US" sz="1500" b="1" dirty="0">
                <a:solidFill>
                  <a:schemeClr val="accent2"/>
                </a:solidFill>
              </a:rPr>
              <a:t>____ ×</a:t>
            </a:r>
            <a:endParaRPr lang="en-US" sz="1500" dirty="0"/>
          </a:p>
        </p:txBody>
      </p:sp>
      <p:sp>
        <p:nvSpPr>
          <p:cNvPr id="39" name="Abzeichen Fallensucher"/>
          <p:cNvSpPr/>
          <p:nvPr/>
        </p:nvSpPr>
        <p:spPr>
          <a:xfrm>
            <a:off x="6181344" y="3749040"/>
            <a:ext cx="2651760" cy="2240280"/>
          </a:xfrm>
          <a:prstGeom prst="roundRect">
            <a:avLst>
              <a:gd name="adj" fmla="val 4898"/>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40" name="Icon-Kreis"/>
          <p:cNvSpPr/>
          <p:nvPr/>
        </p:nvSpPr>
        <p:spPr>
          <a:xfrm>
            <a:off x="6345936" y="3913632"/>
            <a:ext cx="731520" cy="731520"/>
          </a:xfrm>
          <a:prstGeom prst="ellipse">
            <a:avLst/>
          </a:prstGeom>
          <a:solidFill>
            <a:schemeClr val="accent1"/>
          </a:solidFill>
          <a:ln w="31750">
            <a:solidFill>
              <a:schemeClr val="accent2"/>
            </a:solidFill>
            <a:prstDash val="solid"/>
          </a:ln>
        </p:spPr>
      </p:sp>
      <p:pic>
        <p:nvPicPr>
          <p:cNvPr id="41" name="Icon GiBugNet" descr="preencoded.png">    </p:cNvPr>
          <p:cNvPicPr>
            <a:picLocks noChangeAspect="1"/>
          </p:cNvPicPr>
          <p:nvPr/>
        </p:nvPicPr>
        <p:blipFill>
          <a:blip r:embed="rId7"/>
          <a:stretch>
            <a:fillRect/>
          </a:stretch>
        </p:blipFill>
        <p:spPr>
          <a:xfrm>
            <a:off x="6506870" y="4074566"/>
            <a:ext cx="409651" cy="409651"/>
          </a:xfrm>
          <a:prstGeom prst="rect">
            <a:avLst/>
          </a:prstGeom>
        </p:spPr>
      </p:pic>
      <p:sp>
        <p:nvSpPr>
          <p:cNvPr id="42" name="Text 33"/>
          <p:cNvSpPr txBox="1"/>
          <p:nvPr/>
        </p:nvSpPr>
        <p:spPr>
          <a:xfrm>
            <a:off x="7187184" y="3913632"/>
            <a:ext cx="1554480" cy="731520"/>
          </a:xfrm>
          <a:prstGeom prst="rect">
            <a:avLst/>
          </a:prstGeom>
          <a:noFill/>
          <a:ln/>
        </p:spPr>
        <p:txBody>
          <a:bodyPr wrap="square" lIns="0" tIns="0" rIns="0" bIns="0" rtlCol="0" anchor="ctr"/>
          <a:lstStyle/>
          <a:p>
            <a:pPr indent="0" marL="0">
              <a:buNone/>
            </a:pPr>
            <a:r>
              <a:rPr lang="en-US" sz="1600" b="1" dirty="0">
                <a:solidFill>
                  <a:schemeClr val="accent1"/>
                </a:solidFill>
              </a:rPr>
              <a:t>Fallensucher</a:t>
            </a:r>
            <a:endParaRPr lang="en-US" sz="1600" dirty="0"/>
          </a:p>
        </p:txBody>
      </p:sp>
      <p:sp>
        <p:nvSpPr>
          <p:cNvPr id="43" name="Text 34"/>
          <p:cNvSpPr txBox="1"/>
          <p:nvPr/>
        </p:nvSpPr>
        <p:spPr>
          <a:xfrm>
            <a:off x="6345936" y="4736592"/>
            <a:ext cx="2322576" cy="685800"/>
          </a:xfrm>
          <a:prstGeom prst="rect">
            <a:avLst/>
          </a:prstGeom>
          <a:noFill/>
          <a:ln/>
        </p:spPr>
        <p:txBody>
          <a:bodyPr wrap="square" lIns="0" tIns="0" rIns="0" bIns="0" rtlCol="0" anchor="t"/>
          <a:lstStyle/>
          <a:p>
            <a:pPr indent="0" marL="0">
              <a:buNone/>
            </a:pPr>
            <a:r>
              <a:rPr lang="en-US" sz="1400" dirty="0">
                <a:solidFill>
                  <a:schemeClr val="tx1"/>
                </a:solidFill>
              </a:rPr>
              <a:t>zu jeder Falle P1–P10 drei Aufgaben ohne Fehlversuch</a:t>
            </a:r>
            <a:endParaRPr lang="en-US" sz="1400" dirty="0"/>
          </a:p>
        </p:txBody>
      </p:sp>
      <p:sp>
        <p:nvSpPr>
          <p:cNvPr id="44" name="Text 35"/>
          <p:cNvSpPr txBox="1"/>
          <p:nvPr/>
        </p:nvSpPr>
        <p:spPr>
          <a:xfrm>
            <a:off x="6345936" y="5486400"/>
            <a:ext cx="2322576" cy="347472"/>
          </a:xfrm>
          <a:prstGeom prst="rect">
            <a:avLst/>
          </a:prstGeom>
          <a:noFill/>
          <a:ln/>
        </p:spPr>
        <p:txBody>
          <a:bodyPr wrap="square" lIns="0" tIns="0" rIns="0" bIns="0" rtlCol="0" anchor="ctr"/>
          <a:lstStyle/>
          <a:p>
            <a:pPr indent="0" marL="0">
              <a:buNone/>
            </a:pPr>
            <a:r>
              <a:rPr lang="en-US" sz="1500" dirty="0">
                <a:solidFill>
                  <a:schemeClr val="accent6"/>
                </a:solidFill>
              </a:rPr>
              <a:t>im Kurs: </a:t>
            </a:r>
            <a:pPr indent="0" marL="0">
              <a:buNone/>
            </a:pPr>
            <a:r>
              <a:rPr lang="en-US" sz="1500" b="1" dirty="0">
                <a:solidFill>
                  <a:schemeClr val="accent2"/>
                </a:solidFill>
              </a:rPr>
              <a:t>____ ×</a:t>
            </a:r>
            <a:endParaRPr lang="en-US" sz="1500" dirty="0"/>
          </a:p>
        </p:txBody>
      </p:sp>
      <p:sp>
        <p:nvSpPr>
          <p:cNvPr id="45" name="Abzeichen Kata-Meister"/>
          <p:cNvSpPr/>
          <p:nvPr/>
        </p:nvSpPr>
        <p:spPr>
          <a:xfrm>
            <a:off x="8997696" y="3749040"/>
            <a:ext cx="2651760" cy="2240280"/>
          </a:xfrm>
          <a:prstGeom prst="roundRect">
            <a:avLst>
              <a:gd name="adj" fmla="val 4898"/>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46" name="Icon-Kreis"/>
          <p:cNvSpPr/>
          <p:nvPr/>
        </p:nvSpPr>
        <p:spPr>
          <a:xfrm>
            <a:off x="9162288" y="3913632"/>
            <a:ext cx="731520" cy="731520"/>
          </a:xfrm>
          <a:prstGeom prst="ellipse">
            <a:avLst/>
          </a:prstGeom>
          <a:solidFill>
            <a:schemeClr val="accent1"/>
          </a:solidFill>
          <a:ln w="31750">
            <a:solidFill>
              <a:schemeClr val="accent2"/>
            </a:solidFill>
            <a:prstDash val="solid"/>
          </a:ln>
        </p:spPr>
      </p:sp>
      <p:pic>
        <p:nvPicPr>
          <p:cNvPr id="47" name="Icon GiBlackBelt" descr="preencoded.png">    </p:cNvPr>
          <p:cNvPicPr>
            <a:picLocks noChangeAspect="1"/>
          </p:cNvPicPr>
          <p:nvPr/>
        </p:nvPicPr>
        <p:blipFill>
          <a:blip r:embed="rId8"/>
          <a:stretch>
            <a:fillRect/>
          </a:stretch>
        </p:blipFill>
        <p:spPr>
          <a:xfrm>
            <a:off x="9323222" y="4074566"/>
            <a:ext cx="409651" cy="409651"/>
          </a:xfrm>
          <a:prstGeom prst="rect">
            <a:avLst/>
          </a:prstGeom>
        </p:spPr>
      </p:pic>
      <p:sp>
        <p:nvSpPr>
          <p:cNvPr id="48" name="Text 38"/>
          <p:cNvSpPr txBox="1"/>
          <p:nvPr/>
        </p:nvSpPr>
        <p:spPr>
          <a:xfrm>
            <a:off x="10003536" y="3913632"/>
            <a:ext cx="1554480" cy="731520"/>
          </a:xfrm>
          <a:prstGeom prst="rect">
            <a:avLst/>
          </a:prstGeom>
          <a:noFill/>
          <a:ln/>
        </p:spPr>
        <p:txBody>
          <a:bodyPr wrap="square" lIns="0" tIns="0" rIns="0" bIns="0" rtlCol="0" anchor="ctr"/>
          <a:lstStyle/>
          <a:p>
            <a:pPr indent="0" marL="0">
              <a:buNone/>
            </a:pPr>
            <a:r>
              <a:rPr lang="en-US" sz="1600" b="1" dirty="0">
                <a:solidFill>
                  <a:schemeClr val="accent1"/>
                </a:solidFill>
              </a:rPr>
              <a:t>Warm-up-Meister</a:t>
            </a:r>
            <a:endParaRPr lang="en-US" sz="1600" dirty="0"/>
          </a:p>
        </p:txBody>
      </p:sp>
      <p:sp>
        <p:nvSpPr>
          <p:cNvPr id="49" name="Text 39"/>
          <p:cNvSpPr txBox="1"/>
          <p:nvPr/>
        </p:nvSpPr>
        <p:spPr>
          <a:xfrm>
            <a:off x="9162288" y="4736592"/>
            <a:ext cx="2322576" cy="685800"/>
          </a:xfrm>
          <a:prstGeom prst="rect">
            <a:avLst/>
          </a:prstGeom>
          <a:noFill/>
          <a:ln/>
        </p:spPr>
        <p:txBody>
          <a:bodyPr wrap="square" lIns="0" tIns="0" rIns="0" bIns="0" rtlCol="0" anchor="t"/>
          <a:lstStyle/>
          <a:p>
            <a:pPr indent="0" marL="0">
              <a:buNone/>
            </a:pPr>
            <a:r>
              <a:rPr lang="en-US" sz="1400" dirty="0">
                <a:solidFill>
                  <a:schemeClr val="tx1"/>
                </a:solidFill>
              </a:rPr>
              <a:t>30 Warm-up-Karten in Fach 5 des Warm-up-Trainers</a:t>
            </a:r>
            <a:endParaRPr lang="en-US" sz="1400" dirty="0"/>
          </a:p>
        </p:txBody>
      </p:sp>
      <p:sp>
        <p:nvSpPr>
          <p:cNvPr id="50" name="Text 40"/>
          <p:cNvSpPr txBox="1"/>
          <p:nvPr/>
        </p:nvSpPr>
        <p:spPr>
          <a:xfrm>
            <a:off x="9162288" y="5486400"/>
            <a:ext cx="2322576" cy="347472"/>
          </a:xfrm>
          <a:prstGeom prst="rect">
            <a:avLst/>
          </a:prstGeom>
          <a:noFill/>
          <a:ln/>
        </p:spPr>
        <p:txBody>
          <a:bodyPr wrap="square" lIns="0" tIns="0" rIns="0" bIns="0" rtlCol="0" anchor="ctr"/>
          <a:lstStyle/>
          <a:p>
            <a:pPr indent="0" marL="0">
              <a:buNone/>
            </a:pPr>
            <a:r>
              <a:rPr lang="en-US" sz="1500" dirty="0">
                <a:solidFill>
                  <a:schemeClr val="accent6"/>
                </a:solidFill>
              </a:rPr>
              <a:t>im Kurs: </a:t>
            </a:r>
            <a:pPr indent="0" marL="0">
              <a:buNone/>
            </a:pPr>
            <a:r>
              <a:rPr lang="en-US" sz="1500" b="1" dirty="0">
                <a:solidFill>
                  <a:schemeClr val="accent2"/>
                </a:solidFill>
              </a:rPr>
              <a:t>____ ×</a:t>
            </a:r>
            <a:endParaRPr lang="en-US" sz="1500" dirty="0"/>
          </a:p>
        </p:txBody>
      </p:sp>
      <p:sp>
        <p:nvSpPr>
          <p:cNvPr id="51" name="Text 41"/>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Abschluss · Abzeichen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Urkunden aus dem Lab</a:t>
            </a:r>
            <a:endParaRPr lang="en-US" sz="3600" dirty="0"/>
          </a:p>
        </p:txBody>
      </p:sp>
      <p:sp>
        <p:nvSpPr>
          <p:cNvPr id="3" name="Text 1"/>
          <p:cNvSpPr txBox="1"/>
          <p:nvPr/>
        </p:nvSpPr>
        <p:spPr>
          <a:xfrm>
            <a:off x="548640" y="1325880"/>
            <a:ext cx="5669280" cy="347472"/>
          </a:xfrm>
          <a:prstGeom prst="rect">
            <a:avLst/>
          </a:prstGeom>
          <a:noFill/>
          <a:ln/>
        </p:spPr>
        <p:txBody>
          <a:bodyPr wrap="square" lIns="0" tIns="0" rIns="0" bIns="0" rtlCol="0" anchor="t"/>
          <a:lstStyle/>
          <a:p>
            <a:pPr indent="0" marL="0">
              <a:buNone/>
            </a:pPr>
            <a:r>
              <a:rPr lang="en-US" sz="1900" b="1" dirty="0">
                <a:solidFill>
                  <a:schemeClr val="accent1"/>
                </a:solidFill>
              </a:rPr>
              <a:t>Auf deiner Urkunde steht …</a:t>
            </a:r>
            <a:endParaRPr lang="en-US" sz="1900" dirty="0"/>
          </a:p>
        </p:txBody>
      </p:sp>
      <p:sp>
        <p:nvSpPr>
          <p:cNvPr id="4" name="Icon-Kreis"/>
          <p:cNvSpPr/>
          <p:nvPr/>
        </p:nvSpPr>
        <p:spPr>
          <a:xfrm>
            <a:off x="548640" y="1856232"/>
            <a:ext cx="274320" cy="274320"/>
          </a:xfrm>
          <a:prstGeom prst="ellipse">
            <a:avLst/>
          </a:prstGeom>
          <a:solidFill>
            <a:schemeClr val="accent3"/>
          </a:solidFill>
          <a:ln/>
        </p:spPr>
      </p:sp>
      <p:pic>
        <p:nvPicPr>
          <p:cNvPr id="5" name="Icon GiCheckMark" descr="preencoded.png">    </p:cNvPr>
          <p:cNvPicPr>
            <a:picLocks noChangeAspect="1"/>
          </p:cNvPicPr>
          <p:nvPr/>
        </p:nvPicPr>
        <p:blipFill>
          <a:blip r:embed="rId1"/>
          <a:stretch>
            <a:fillRect/>
          </a:stretch>
        </p:blipFill>
        <p:spPr>
          <a:xfrm>
            <a:off x="592531" y="1900123"/>
            <a:ext cx="186538" cy="186538"/>
          </a:xfrm>
          <a:prstGeom prst="rect">
            <a:avLst/>
          </a:prstGeom>
        </p:spPr>
      </p:pic>
      <p:sp>
        <p:nvSpPr>
          <p:cNvPr id="6" name="Text 3"/>
          <p:cNvSpPr txBox="1"/>
          <p:nvPr/>
        </p:nvSpPr>
        <p:spPr>
          <a:xfrm>
            <a:off x="960120" y="1783080"/>
            <a:ext cx="5349240" cy="402336"/>
          </a:xfrm>
          <a:prstGeom prst="rect">
            <a:avLst/>
          </a:prstGeom>
          <a:noFill/>
          <a:ln/>
        </p:spPr>
        <p:txBody>
          <a:bodyPr wrap="square" lIns="0" tIns="0" rIns="0" bIns="0" rtlCol="0" anchor="ctr"/>
          <a:lstStyle/>
          <a:p>
            <a:pPr indent="0" marL="0">
              <a:buNone/>
            </a:pPr>
            <a:r>
              <a:rPr lang="en-US" sz="1600" dirty="0">
                <a:solidFill>
                  <a:schemeClr val="tx1"/>
                </a:solidFill>
              </a:rPr>
              <a:t>dein Name im Lab und der Kurs</a:t>
            </a:r>
            <a:endParaRPr lang="en-US" sz="1600" dirty="0"/>
          </a:p>
        </p:txBody>
      </p:sp>
      <p:sp>
        <p:nvSpPr>
          <p:cNvPr id="7" name="Icon-Kreis"/>
          <p:cNvSpPr/>
          <p:nvPr/>
        </p:nvSpPr>
        <p:spPr>
          <a:xfrm>
            <a:off x="548640" y="2276856"/>
            <a:ext cx="274320" cy="274320"/>
          </a:xfrm>
          <a:prstGeom prst="ellipse">
            <a:avLst/>
          </a:prstGeom>
          <a:solidFill>
            <a:schemeClr val="accent3"/>
          </a:solidFill>
          <a:ln/>
        </p:spPr>
      </p:sp>
      <p:pic>
        <p:nvPicPr>
          <p:cNvPr id="8" name="Icon GiCheckMark" descr="preencoded.png">    </p:cNvPr>
          <p:cNvPicPr>
            <a:picLocks noChangeAspect="1"/>
          </p:cNvPicPr>
          <p:nvPr/>
        </p:nvPicPr>
        <p:blipFill>
          <a:blip r:embed="rId2"/>
          <a:stretch>
            <a:fillRect/>
          </a:stretch>
        </p:blipFill>
        <p:spPr>
          <a:xfrm>
            <a:off x="592531" y="2320747"/>
            <a:ext cx="186538" cy="186538"/>
          </a:xfrm>
          <a:prstGeom prst="rect">
            <a:avLst/>
          </a:prstGeom>
        </p:spPr>
      </p:pic>
      <p:sp>
        <p:nvSpPr>
          <p:cNvPr id="9" name="Text 5"/>
          <p:cNvSpPr txBox="1"/>
          <p:nvPr/>
        </p:nvSpPr>
        <p:spPr>
          <a:xfrm>
            <a:off x="960120" y="2203704"/>
            <a:ext cx="5349240" cy="402336"/>
          </a:xfrm>
          <a:prstGeom prst="rect">
            <a:avLst/>
          </a:prstGeom>
          <a:noFill/>
          <a:ln/>
        </p:spPr>
        <p:txBody>
          <a:bodyPr wrap="square" lIns="0" tIns="0" rIns="0" bIns="0" rtlCol="0" anchor="ctr"/>
          <a:lstStyle/>
          <a:p>
            <a:pPr indent="0" marL="0">
              <a:buNone/>
            </a:pPr>
            <a:r>
              <a:rPr lang="en-US" sz="1600" dirty="0">
                <a:solidFill>
                  <a:schemeClr val="tx1"/>
                </a:solidFill>
              </a:rPr>
              <a:t>dein Rang, deine Punkte und gelösten Aufgaben</a:t>
            </a:r>
            <a:endParaRPr lang="en-US" sz="1600" dirty="0"/>
          </a:p>
        </p:txBody>
      </p:sp>
      <p:sp>
        <p:nvSpPr>
          <p:cNvPr id="10" name="Icon-Kreis"/>
          <p:cNvSpPr/>
          <p:nvPr/>
        </p:nvSpPr>
        <p:spPr>
          <a:xfrm>
            <a:off x="548640" y="2697480"/>
            <a:ext cx="274320" cy="274320"/>
          </a:xfrm>
          <a:prstGeom prst="ellipse">
            <a:avLst/>
          </a:prstGeom>
          <a:solidFill>
            <a:schemeClr val="accent3"/>
          </a:solidFill>
          <a:ln/>
        </p:spPr>
      </p:sp>
      <p:pic>
        <p:nvPicPr>
          <p:cNvPr id="11" name="Icon GiCheckMark" descr="preencoded.png">    </p:cNvPr>
          <p:cNvPicPr>
            <a:picLocks noChangeAspect="1"/>
          </p:cNvPicPr>
          <p:nvPr/>
        </p:nvPicPr>
        <p:blipFill>
          <a:blip r:embed="rId3"/>
          <a:stretch>
            <a:fillRect/>
          </a:stretch>
        </p:blipFill>
        <p:spPr>
          <a:xfrm>
            <a:off x="592531" y="2741371"/>
            <a:ext cx="186538" cy="186538"/>
          </a:xfrm>
          <a:prstGeom prst="rect">
            <a:avLst/>
          </a:prstGeom>
        </p:spPr>
      </p:pic>
      <p:sp>
        <p:nvSpPr>
          <p:cNvPr id="12" name="Text 7"/>
          <p:cNvSpPr txBox="1"/>
          <p:nvPr/>
        </p:nvSpPr>
        <p:spPr>
          <a:xfrm>
            <a:off x="960120" y="2624328"/>
            <a:ext cx="5349240" cy="402336"/>
          </a:xfrm>
          <a:prstGeom prst="rect">
            <a:avLst/>
          </a:prstGeom>
          <a:noFill/>
          <a:ln/>
        </p:spPr>
        <p:txBody>
          <a:bodyPr wrap="square" lIns="0" tIns="0" rIns="0" bIns="0" rtlCol="0" anchor="ctr"/>
          <a:lstStyle/>
          <a:p>
            <a:pPr indent="0" marL="0">
              <a:buNone/>
            </a:pPr>
            <a:r>
              <a:rPr lang="en-US" sz="1600" dirty="0">
                <a:solidFill>
                  <a:schemeClr val="tx1"/>
                </a:solidFill>
              </a:rPr>
              <a:t>deine Abzeichen</a:t>
            </a:r>
            <a:endParaRPr lang="en-US" sz="1600" dirty="0"/>
          </a:p>
        </p:txBody>
      </p:sp>
      <p:sp>
        <p:nvSpPr>
          <p:cNvPr id="13" name="Icon-Kreis"/>
          <p:cNvSpPr/>
          <p:nvPr/>
        </p:nvSpPr>
        <p:spPr>
          <a:xfrm>
            <a:off x="548640" y="3118104"/>
            <a:ext cx="274320" cy="274320"/>
          </a:xfrm>
          <a:prstGeom prst="ellipse">
            <a:avLst/>
          </a:prstGeom>
          <a:solidFill>
            <a:schemeClr val="accent3"/>
          </a:solidFill>
          <a:ln/>
        </p:spPr>
      </p:sp>
      <p:pic>
        <p:nvPicPr>
          <p:cNvPr id="14" name="Icon GiCheckMark" descr="preencoded.png">    </p:cNvPr>
          <p:cNvPicPr>
            <a:picLocks noChangeAspect="1"/>
          </p:cNvPicPr>
          <p:nvPr/>
        </p:nvPicPr>
        <p:blipFill>
          <a:blip r:embed="rId4"/>
          <a:stretch>
            <a:fillRect/>
          </a:stretch>
        </p:blipFill>
        <p:spPr>
          <a:xfrm>
            <a:off x="592531" y="3161995"/>
            <a:ext cx="186538" cy="186538"/>
          </a:xfrm>
          <a:prstGeom prst="rect">
            <a:avLst/>
          </a:prstGeom>
        </p:spPr>
      </p:pic>
      <p:sp>
        <p:nvSpPr>
          <p:cNvPr id="15" name="Text 9"/>
          <p:cNvSpPr txBox="1"/>
          <p:nvPr/>
        </p:nvSpPr>
        <p:spPr>
          <a:xfrm>
            <a:off x="960120" y="3044952"/>
            <a:ext cx="5349240" cy="402336"/>
          </a:xfrm>
          <a:prstGeom prst="rect">
            <a:avLst/>
          </a:prstGeom>
          <a:noFill/>
          <a:ln/>
        </p:spPr>
        <p:txBody>
          <a:bodyPr wrap="square" lIns="0" tIns="0" rIns="0" bIns="0" rtlCol="0" anchor="ctr"/>
          <a:lstStyle/>
          <a:p>
            <a:pPr indent="0" marL="0">
              <a:buNone/>
            </a:pPr>
            <a:r>
              <a:rPr lang="en-US" sz="1600" dirty="0">
                <a:solidFill>
                  <a:schemeClr val="tx1"/>
                </a:solidFill>
              </a:rPr>
              <a:t>Datum und Unterschrift der Kursleitung</a:t>
            </a:r>
            <a:endParaRPr lang="en-US" sz="1600" dirty="0"/>
          </a:p>
        </p:txBody>
      </p:sp>
      <p:sp>
        <p:nvSpPr>
          <p:cNvPr id="16" name="Icon-Kreis"/>
          <p:cNvSpPr/>
          <p:nvPr/>
        </p:nvSpPr>
        <p:spPr>
          <a:xfrm>
            <a:off x="548640" y="3538728"/>
            <a:ext cx="274320" cy="274320"/>
          </a:xfrm>
          <a:prstGeom prst="ellipse">
            <a:avLst/>
          </a:prstGeom>
          <a:solidFill>
            <a:schemeClr val="accent3"/>
          </a:solidFill>
          <a:ln/>
        </p:spPr>
      </p:sp>
      <p:pic>
        <p:nvPicPr>
          <p:cNvPr id="17" name="Icon GiCheckMark" descr="preencoded.png">    </p:cNvPr>
          <p:cNvPicPr>
            <a:picLocks noChangeAspect="1"/>
          </p:cNvPicPr>
          <p:nvPr/>
        </p:nvPicPr>
        <p:blipFill>
          <a:blip r:embed="rId5"/>
          <a:stretch>
            <a:fillRect/>
          </a:stretch>
        </p:blipFill>
        <p:spPr>
          <a:xfrm>
            <a:off x="592531" y="3582619"/>
            <a:ext cx="186538" cy="186538"/>
          </a:xfrm>
          <a:prstGeom prst="rect">
            <a:avLst/>
          </a:prstGeom>
        </p:spPr>
      </p:pic>
      <p:sp>
        <p:nvSpPr>
          <p:cNvPr id="18" name="Text 11"/>
          <p:cNvSpPr txBox="1"/>
          <p:nvPr/>
        </p:nvSpPr>
        <p:spPr>
          <a:xfrm>
            <a:off x="960120" y="3465576"/>
            <a:ext cx="5349240" cy="402336"/>
          </a:xfrm>
          <a:prstGeom prst="rect">
            <a:avLst/>
          </a:prstGeom>
          <a:noFill/>
          <a:ln/>
        </p:spPr>
        <p:txBody>
          <a:bodyPr wrap="square" lIns="0" tIns="0" rIns="0" bIns="0" rtlCol="0" anchor="ctr"/>
          <a:lstStyle/>
          <a:p>
            <a:pPr indent="0" marL="0">
              <a:buNone/>
            </a:pPr>
            <a:r>
              <a:rPr lang="en-US" sz="1600" dirty="0">
                <a:solidFill>
                  <a:schemeClr val="tx1"/>
                </a:solidFill>
              </a:rPr>
              <a:t>optional: eine Zeile für deinen vollen Namen</a:t>
            </a:r>
            <a:endParaRPr lang="en-US" sz="1600" dirty="0"/>
          </a:p>
        </p:txBody>
      </p:sp>
      <p:sp>
        <p:nvSpPr>
          <p:cNvPr id="19" name="Datenschutz"/>
          <p:cNvSpPr/>
          <p:nvPr/>
        </p:nvSpPr>
        <p:spPr>
          <a:xfrm>
            <a:off x="548640" y="4023360"/>
            <a:ext cx="5760720" cy="914400"/>
          </a:xfrm>
          <a:prstGeom prst="roundRect">
            <a:avLst>
              <a:gd name="adj" fmla="val 12000"/>
            </a:avLst>
          </a:prstGeom>
          <a:solidFill>
            <a:schemeClr val="bg2"/>
          </a:solidFill>
          <a:ln/>
        </p:spPr>
      </p:sp>
      <p:sp>
        <p:nvSpPr>
          <p:cNvPr id="20" name="Text 13"/>
          <p:cNvSpPr txBox="1"/>
          <p:nvPr/>
        </p:nvSpPr>
        <p:spPr>
          <a:xfrm>
            <a:off x="749808" y="4023360"/>
            <a:ext cx="5394960" cy="914400"/>
          </a:xfrm>
          <a:prstGeom prst="rect">
            <a:avLst/>
          </a:prstGeom>
          <a:noFill/>
          <a:ln/>
        </p:spPr>
        <p:txBody>
          <a:bodyPr wrap="square" lIns="0" tIns="0" rIns="0" bIns="0" rtlCol="0" anchor="ctr"/>
          <a:lstStyle/>
          <a:p>
            <a:pPr indent="0" marL="0">
              <a:buNone/>
            </a:pPr>
            <a:r>
              <a:rPr lang="en-US" sz="1500" b="1" dirty="0">
                <a:solidFill>
                  <a:schemeClr val="accent1"/>
                </a:solidFill>
              </a:rPr>
              <a:t>Datenschutz: </a:t>
            </a:r>
            <a:pPr indent="0" marL="0">
              <a:buNone/>
            </a:pPr>
            <a:r>
              <a:rPr lang="en-US" sz="1500" dirty="0">
                <a:solidFill>
                  <a:schemeClr val="tx1"/>
                </a:solidFill>
              </a:rPr>
              <a:t>Das Lab speichert nur deinen selbst gewählten Namen (z. B. „Lena S.“) – den vollen Namen schreibst du selbst dazu.</a:t>
            </a:r>
            <a:endParaRPr lang="en-US" sz="1500" dirty="0"/>
          </a:p>
        </p:txBody>
      </p:sp>
      <p:sp>
        <p:nvSpPr>
          <p:cNvPr id="21" name="Urkunden drucken"/>
          <p:cNvSpPr/>
          <p:nvPr/>
        </p:nvSpPr>
        <p:spPr>
          <a:xfrm>
            <a:off x="548640" y="5120640"/>
            <a:ext cx="5760720" cy="1005840"/>
          </a:xfrm>
          <a:prstGeom prst="roundRect">
            <a:avLst>
              <a:gd name="adj" fmla="val 10909"/>
            </a:avLst>
          </a:prstGeom>
          <a:solidFill>
            <a:schemeClr val="bg1"/>
          </a:solidFill>
          <a:ln w="25400">
            <a:solidFill>
              <a:schemeClr val="accent2"/>
            </a:solidFill>
            <a:prstDash val="solid"/>
          </a:ln>
        </p:spPr>
      </p:sp>
      <p:sp>
        <p:nvSpPr>
          <p:cNvPr id="22" name="Text 15"/>
          <p:cNvSpPr txBox="1"/>
          <p:nvPr/>
        </p:nvSpPr>
        <p:spPr>
          <a:xfrm>
            <a:off x="749808" y="5120640"/>
            <a:ext cx="5394960" cy="1005840"/>
          </a:xfrm>
          <a:prstGeom prst="rect">
            <a:avLst/>
          </a:prstGeom>
          <a:noFill/>
          <a:ln/>
        </p:spPr>
        <p:txBody>
          <a:bodyPr wrap="square" lIns="0" tIns="0" rIns="0" bIns="0" rtlCol="0" anchor="ctr"/>
          <a:lstStyle/>
          <a:p>
            <a:pPr indent="0" marL="0">
              <a:buNone/>
            </a:pPr>
            <a:r>
              <a:rPr lang="en-US" sz="1500" b="1" dirty="0">
                <a:solidFill>
                  <a:schemeClr val="accent2"/>
                </a:solidFill>
              </a:rPr>
              <a:t>Gedruckt im Lab: </a:t>
            </a:r>
            <a:pPr indent="0" marL="0">
              <a:buNone/>
            </a:pPr>
            <a:r>
              <a:rPr lang="en-US" sz="1500" dirty="0">
                <a:solidFill>
                  <a:schemeClr val="tx1"/>
                </a:solidFill>
              </a:rPr>
              <a:t>Lehrkraft → Kurs → „Urkunden“ – eine A4-Seite je Person.</a:t>
            </a:r>
            <a:endParaRPr lang="en-US" sz="1500" dirty="0"/>
          </a:p>
        </p:txBody>
      </p:sp>
      <p:sp>
        <p:nvSpPr>
          <p:cNvPr id="23" name="Urkunde Muster"/>
          <p:cNvSpPr/>
          <p:nvPr/>
        </p:nvSpPr>
        <p:spPr>
          <a:xfrm>
            <a:off x="6766560" y="1325880"/>
            <a:ext cx="4846320" cy="4800600"/>
          </a:xfrm>
          <a:prstGeom prst="roundRect">
            <a:avLst>
              <a:gd name="adj" fmla="val 2286"/>
            </a:avLst>
          </a:prstGeom>
          <a:solidFill>
            <a:srgbClr val="FFFDF5"/>
          </a:solidFill>
          <a:ln w="38100">
            <a:solidFill>
              <a:schemeClr val="accent2"/>
            </a:solidFill>
            <a:prstDash val="solid"/>
          </a:ln>
          <a:effectLst>
            <a:outerShdw sx="100000" sy="100000" kx="0" ky="0" algn="bl" rotWithShape="0" blurRad="76200" dist="25400" dir="5400000">
              <a:srgbClr val="000000">
                <a:alpha val="18000"/>
              </a:srgbClr>
            </a:outerShdw>
          </a:effectLst>
        </p:spPr>
      </p:sp>
      <p:sp>
        <p:nvSpPr>
          <p:cNvPr id="24" name="Urkunde Rahmen"/>
          <p:cNvSpPr/>
          <p:nvPr/>
        </p:nvSpPr>
        <p:spPr>
          <a:xfrm>
            <a:off x="6903720" y="1463040"/>
            <a:ext cx="4572000" cy="4526280"/>
          </a:xfrm>
          <a:prstGeom prst="rect">
            <a:avLst/>
          </a:prstGeom>
          <a:ln w="12700">
            <a:solidFill>
              <a:schemeClr val="accent2"/>
            </a:solidFill>
            <a:prstDash val="dash"/>
          </a:ln>
        </p:spPr>
      </p:sp>
      <p:sp>
        <p:nvSpPr>
          <p:cNvPr id="25" name="Icon-Kreis"/>
          <p:cNvSpPr/>
          <p:nvPr/>
        </p:nvSpPr>
        <p:spPr>
          <a:xfrm>
            <a:off x="8823960" y="1600200"/>
            <a:ext cx="731520" cy="731520"/>
          </a:xfrm>
          <a:prstGeom prst="ellipse">
            <a:avLst/>
          </a:prstGeom>
          <a:solidFill>
            <a:schemeClr val="accent2"/>
          </a:solidFill>
          <a:ln/>
        </p:spPr>
      </p:sp>
      <p:pic>
        <p:nvPicPr>
          <p:cNvPr id="26" name="Icon GiLaurelsTrophy" descr="preencoded.png">    </p:cNvPr>
          <p:cNvPicPr>
            <a:picLocks noChangeAspect="1"/>
          </p:cNvPicPr>
          <p:nvPr/>
        </p:nvPicPr>
        <p:blipFill>
          <a:blip r:embed="rId6"/>
          <a:stretch>
            <a:fillRect/>
          </a:stretch>
        </p:blipFill>
        <p:spPr>
          <a:xfrm>
            <a:off x="8984894" y="1761134"/>
            <a:ext cx="409651" cy="409651"/>
          </a:xfrm>
          <a:prstGeom prst="rect">
            <a:avLst/>
          </a:prstGeom>
        </p:spPr>
      </p:pic>
      <p:sp>
        <p:nvSpPr>
          <p:cNvPr id="27" name="Text 19"/>
          <p:cNvSpPr txBox="1"/>
          <p:nvPr/>
        </p:nvSpPr>
        <p:spPr>
          <a:xfrm>
            <a:off x="6949440" y="2377440"/>
            <a:ext cx="4480560" cy="457200"/>
          </a:xfrm>
          <a:prstGeom prst="rect">
            <a:avLst/>
          </a:prstGeom>
          <a:noFill/>
          <a:ln/>
        </p:spPr>
        <p:txBody>
          <a:bodyPr wrap="square" lIns="0" tIns="0" rIns="0" bIns="0" rtlCol="0" anchor="t"/>
          <a:lstStyle/>
          <a:p>
            <a:pPr algn="ctr" indent="0" marL="0">
              <a:buNone/>
            </a:pPr>
            <a:r>
              <a:rPr lang="en-US" sz="2600" b="1" spc="400" kern="0" dirty="0">
                <a:solidFill>
                  <a:schemeClr val="accent1"/>
                </a:solidFill>
              </a:rPr>
              <a:t>URKUNDE</a:t>
            </a:r>
            <a:endParaRPr lang="en-US" sz="2600" dirty="0"/>
          </a:p>
        </p:txBody>
      </p:sp>
      <p:sp>
        <p:nvSpPr>
          <p:cNvPr id="28" name="Text 20"/>
          <p:cNvSpPr txBox="1"/>
          <p:nvPr/>
        </p:nvSpPr>
        <p:spPr>
          <a:xfrm>
            <a:off x="6949440" y="2816352"/>
            <a:ext cx="4480560" cy="292608"/>
          </a:xfrm>
          <a:prstGeom prst="rect">
            <a:avLst/>
          </a:prstGeom>
          <a:noFill/>
          <a:ln/>
        </p:spPr>
        <p:txBody>
          <a:bodyPr wrap="square" lIns="0" tIns="0" rIns="0" bIns="0" rtlCol="0" anchor="t"/>
          <a:lstStyle/>
          <a:p>
            <a:pPr algn="ctr" indent="0" marL="0">
              <a:buNone/>
            </a:pPr>
            <a:r>
              <a:rPr lang="en-US" sz="1300" i="1" dirty="0">
                <a:solidFill>
                  <a:schemeClr val="accent6"/>
                </a:solidFill>
              </a:rPr>
              <a:t>Algo Quest – Das Dungeon der Datenstrukturen</a:t>
            </a:r>
            <a:endParaRPr lang="en-US" sz="1300" dirty="0"/>
          </a:p>
        </p:txBody>
      </p:sp>
      <p:sp>
        <p:nvSpPr>
          <p:cNvPr id="29" name="Text 21"/>
          <p:cNvSpPr txBox="1"/>
          <p:nvPr/>
        </p:nvSpPr>
        <p:spPr>
          <a:xfrm>
            <a:off x="6949440" y="3200400"/>
            <a:ext cx="4480560" cy="685800"/>
          </a:xfrm>
          <a:prstGeom prst="rect">
            <a:avLst/>
          </a:prstGeom>
          <a:noFill/>
          <a:ln/>
        </p:spPr>
        <p:txBody>
          <a:bodyPr wrap="square" lIns="0" tIns="0" rIns="0" bIns="0" rtlCol="0" anchor="ctr"/>
          <a:lstStyle/>
          <a:p>
            <a:pPr algn="ctr" indent="0" marL="0">
              <a:buNone/>
            </a:pPr>
            <a:r>
              <a:rPr lang="en-US" sz="1600" b="1" dirty="0">
                <a:solidFill>
                  <a:schemeClr val="accent1"/>
                </a:solidFill>
              </a:rPr>
              <a:t>Name · Kurs</a:t>
            </a:r>
            <a:endParaRPr lang="en-US" sz="1600" dirty="0"/>
          </a:p>
          <a:p>
            <a:pPr algn="ctr" indent="0" marL="0">
              <a:buNone/>
            </a:pPr>
            <a:r>
              <a:rPr lang="en-US" sz="1600" b="1" dirty="0">
                <a:solidFill>
                  <a:schemeClr val="accent2"/>
                </a:solidFill>
              </a:rPr>
              <a:t>Rang · Punkte · Abzeichen</a:t>
            </a:r>
            <a:endParaRPr lang="en-US" sz="1600" dirty="0"/>
          </a:p>
        </p:txBody>
      </p:sp>
      <p:sp>
        <p:nvSpPr>
          <p:cNvPr id="30" name="Text 22"/>
          <p:cNvSpPr txBox="1"/>
          <p:nvPr/>
        </p:nvSpPr>
        <p:spPr>
          <a:xfrm>
            <a:off x="7178040" y="4069080"/>
            <a:ext cx="4023360" cy="365760"/>
          </a:xfrm>
          <a:prstGeom prst="rect">
            <a:avLst/>
          </a:prstGeom>
          <a:noFill/>
          <a:ln/>
        </p:spPr>
        <p:txBody>
          <a:bodyPr wrap="square" lIns="0" tIns="0" rIns="0" bIns="0" rtlCol="0" anchor="t"/>
          <a:lstStyle/>
          <a:p>
            <a:pPr algn="ctr" indent="0" marL="0">
              <a:buNone/>
            </a:pPr>
            <a:r>
              <a:rPr lang="en-US" sz="1500" dirty="0">
                <a:solidFill>
                  <a:schemeClr val="tx1"/>
                </a:solidFill>
              </a:rPr>
              <a:t>Name: ______________________</a:t>
            </a:r>
            <a:endParaRPr lang="en-US" sz="1500" dirty="0"/>
          </a:p>
        </p:txBody>
      </p:sp>
      <p:sp>
        <p:nvSpPr>
          <p:cNvPr id="31" name="Text 23"/>
          <p:cNvSpPr txBox="1"/>
          <p:nvPr/>
        </p:nvSpPr>
        <p:spPr>
          <a:xfrm>
            <a:off x="7178040" y="4572000"/>
            <a:ext cx="1920240" cy="274320"/>
          </a:xfrm>
          <a:prstGeom prst="rect">
            <a:avLst/>
          </a:prstGeom>
          <a:noFill/>
          <a:ln/>
        </p:spPr>
        <p:txBody>
          <a:bodyPr wrap="square" lIns="0" tIns="0" rIns="0" bIns="0" rtlCol="0" anchor="t"/>
          <a:lstStyle/>
          <a:p>
            <a:pPr indent="0" marL="0">
              <a:buNone/>
            </a:pPr>
            <a:r>
              <a:rPr lang="en-US" sz="1200" dirty="0">
                <a:solidFill>
                  <a:schemeClr val="accent6"/>
                </a:solidFill>
              </a:rPr>
              <a:t>Kurs · Datum</a:t>
            </a:r>
            <a:endParaRPr lang="en-US" sz="1200" dirty="0"/>
          </a:p>
        </p:txBody>
      </p:sp>
      <p:sp>
        <p:nvSpPr>
          <p:cNvPr id="32" name="Unterschriftslinie"/>
          <p:cNvSpPr/>
          <p:nvPr/>
        </p:nvSpPr>
        <p:spPr>
          <a:xfrm>
            <a:off x="9326880" y="5212080"/>
            <a:ext cx="1828800" cy="91"/>
          </a:xfrm>
          <a:prstGeom prst="line">
            <a:avLst/>
          </a:prstGeom>
          <a:noFill/>
          <a:ln w="12700">
            <a:solidFill>
              <a:schemeClr val="tx1"/>
            </a:solidFill>
            <a:prstDash val="solid"/>
          </a:ln>
        </p:spPr>
      </p:sp>
      <p:sp>
        <p:nvSpPr>
          <p:cNvPr id="33" name="Text 25"/>
          <p:cNvSpPr txBox="1"/>
          <p:nvPr/>
        </p:nvSpPr>
        <p:spPr>
          <a:xfrm>
            <a:off x="9326880" y="5257800"/>
            <a:ext cx="1828800" cy="256032"/>
          </a:xfrm>
          <a:prstGeom prst="rect">
            <a:avLst/>
          </a:prstGeom>
          <a:noFill/>
          <a:ln/>
        </p:spPr>
        <p:txBody>
          <a:bodyPr wrap="square" lIns="0" tIns="0" rIns="0" bIns="0" rtlCol="0" anchor="t"/>
          <a:lstStyle/>
          <a:p>
            <a:pPr algn="ctr" indent="0" marL="0">
              <a:buNone/>
            </a:pPr>
            <a:r>
              <a:rPr lang="en-US" sz="1100" dirty="0">
                <a:solidFill>
                  <a:schemeClr val="accent6"/>
                </a:solidFill>
              </a:rPr>
              <a:t>Unterschrift</a:t>
            </a:r>
            <a:endParaRPr lang="en-US" sz="1100" dirty="0"/>
          </a:p>
        </p:txBody>
      </p:sp>
      <p:sp>
        <p:nvSpPr>
          <p:cNvPr id="34" name="Text 26"/>
          <p:cNvSpPr txBox="1"/>
          <p:nvPr/>
        </p:nvSpPr>
        <p:spPr>
          <a:xfrm>
            <a:off x="6949440" y="5623560"/>
            <a:ext cx="4480560" cy="274320"/>
          </a:xfrm>
          <a:prstGeom prst="rect">
            <a:avLst/>
          </a:prstGeom>
          <a:noFill/>
          <a:ln/>
        </p:spPr>
        <p:txBody>
          <a:bodyPr wrap="square" lIns="0" tIns="0" rIns="0" bIns="0" rtlCol="0" anchor="t"/>
          <a:lstStyle/>
          <a:p>
            <a:pPr algn="ctr" indent="0" marL="0">
              <a:buNone/>
            </a:pPr>
            <a:r>
              <a:rPr lang="en-US" sz="1100" i="1" dirty="0">
                <a:solidFill>
                  <a:schemeClr val="accent6"/>
                </a:solidFill>
              </a:rPr>
              <a:t>Muster – Druckansicht im Lab</a:t>
            </a:r>
            <a:endParaRPr lang="en-US" sz="1100" dirty="0"/>
          </a:p>
        </p:txBody>
      </p:sp>
      <p:sp>
        <p:nvSpPr>
          <p:cNvPr id="35" name="Text 27"/>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Abschluss · Urkunden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Ausblick: Dein Weg ins Abitur</a:t>
            </a:r>
            <a:endParaRPr lang="en-US" sz="3600" dirty="0"/>
          </a:p>
        </p:txBody>
      </p:sp>
      <p:sp>
        <p:nvSpPr>
          <p:cNvPr id="3" name="Algo Quest Lab"/>
          <p:cNvSpPr/>
          <p:nvPr/>
        </p:nvSpPr>
        <p:spPr>
          <a:xfrm>
            <a:off x="548640" y="1325880"/>
            <a:ext cx="3520440" cy="2514600"/>
          </a:xfrm>
          <a:prstGeom prst="roundRect">
            <a:avLst>
              <a:gd name="adj" fmla="val 4364"/>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 name="Icon-Kreis"/>
          <p:cNvSpPr/>
          <p:nvPr/>
        </p:nvSpPr>
        <p:spPr>
          <a:xfrm>
            <a:off x="731520" y="1481328"/>
            <a:ext cx="685800" cy="685800"/>
          </a:xfrm>
          <a:prstGeom prst="ellipse">
            <a:avLst/>
          </a:prstGeom>
          <a:solidFill>
            <a:schemeClr val="accent1"/>
          </a:solidFill>
          <a:ln/>
        </p:spPr>
      </p:sp>
      <p:pic>
        <p:nvPicPr>
          <p:cNvPr id="5" name="Icon GiCardRandom" descr="preencoded.png">    </p:cNvPr>
          <p:cNvPicPr>
            <a:picLocks noChangeAspect="1"/>
          </p:cNvPicPr>
          <p:nvPr/>
        </p:nvPicPr>
        <p:blipFill>
          <a:blip r:embed="rId1"/>
          <a:stretch>
            <a:fillRect/>
          </a:stretch>
        </p:blipFill>
        <p:spPr>
          <a:xfrm>
            <a:off x="882396" y="1632204"/>
            <a:ext cx="384048" cy="384048"/>
          </a:xfrm>
          <a:prstGeom prst="rect">
            <a:avLst/>
          </a:prstGeom>
        </p:spPr>
      </p:pic>
      <p:sp>
        <p:nvSpPr>
          <p:cNvPr id="6" name="Text 3"/>
          <p:cNvSpPr txBox="1"/>
          <p:nvPr/>
        </p:nvSpPr>
        <p:spPr>
          <a:xfrm>
            <a:off x="1554480" y="1463040"/>
            <a:ext cx="2377440" cy="731520"/>
          </a:xfrm>
          <a:prstGeom prst="rect">
            <a:avLst/>
          </a:prstGeom>
          <a:noFill/>
          <a:ln/>
        </p:spPr>
        <p:txBody>
          <a:bodyPr wrap="square" lIns="0" tIns="0" rIns="0" bIns="0" rtlCol="0" anchor="ctr"/>
          <a:lstStyle/>
          <a:p>
            <a:pPr indent="0" marL="0">
              <a:buNone/>
            </a:pPr>
            <a:r>
              <a:rPr lang="en-US" sz="1700" b="1" dirty="0">
                <a:solidFill>
                  <a:schemeClr val="accent1"/>
                </a:solidFill>
              </a:rPr>
              <a:t>Algo Quest Lab</a:t>
            </a:r>
            <a:endParaRPr lang="en-US" sz="1700" dirty="0"/>
          </a:p>
        </p:txBody>
      </p:sp>
      <p:sp>
        <p:nvSpPr>
          <p:cNvPr id="7" name="Text 4"/>
          <p:cNvSpPr txBox="1"/>
          <p:nvPr/>
        </p:nvSpPr>
        <p:spPr>
          <a:xfrm>
            <a:off x="731520" y="2286000"/>
            <a:ext cx="3154680" cy="868680"/>
          </a:xfrm>
          <a:prstGeom prst="rect">
            <a:avLst/>
          </a:prstGeom>
          <a:noFill/>
          <a:ln/>
        </p:spPr>
        <p:txBody>
          <a:bodyPr wrap="square" lIns="0" tIns="0" rIns="0" bIns="0" rtlCol="0" anchor="t"/>
          <a:lstStyle/>
          <a:p>
            <a:pPr indent="0" marL="0">
              <a:buNone/>
            </a:pPr>
            <a:r>
              <a:rPr lang="en-US" sz="1400" dirty="0">
                <a:solidFill>
                  <a:schemeClr val="tx1"/>
                </a:solidFill>
              </a:rPr>
              <a:t>Warm-up-Trainer (Leitner) mit allen Karten aus Welt 0 bis 6, Trainingsplatz, Abi-Mix 6.3/6.4</a:t>
            </a:r>
            <a:endParaRPr lang="en-US" sz="1400" dirty="0"/>
          </a:p>
        </p:txBody>
      </p:sp>
      <p:sp>
        <p:nvSpPr>
          <p:cNvPr id="8" name="Chip"/>
          <p:cNvSpPr txBox="1"/>
          <p:nvPr/>
        </p:nvSpPr>
        <p:spPr>
          <a:xfrm>
            <a:off x="731520" y="3246120"/>
            <a:ext cx="315468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2× pro Woche 10 min</a:t>
            </a:r>
            <a:endParaRPr lang="en-US" sz="1400" dirty="0"/>
          </a:p>
        </p:txBody>
      </p:sp>
      <p:sp>
        <p:nvSpPr>
          <p:cNvPr id="9" name="YouTube-Playlist „Algo Quest“"/>
          <p:cNvSpPr/>
          <p:nvPr/>
        </p:nvSpPr>
        <p:spPr>
          <a:xfrm>
            <a:off x="4297680" y="1325880"/>
            <a:ext cx="3520440" cy="2514600"/>
          </a:xfrm>
          <a:prstGeom prst="roundRect">
            <a:avLst>
              <a:gd name="adj" fmla="val 4364"/>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10" name="Icon-Kreis"/>
          <p:cNvSpPr/>
          <p:nvPr/>
        </p:nvSpPr>
        <p:spPr>
          <a:xfrm>
            <a:off x="4480560" y="1481328"/>
            <a:ext cx="685800" cy="685800"/>
          </a:xfrm>
          <a:prstGeom prst="ellipse">
            <a:avLst/>
          </a:prstGeom>
          <a:solidFill>
            <a:schemeClr val="accent1"/>
          </a:solidFill>
          <a:ln/>
        </p:spPr>
      </p:sp>
      <p:pic>
        <p:nvPicPr>
          <p:cNvPr id="11" name="Icon GiPlayButton" descr="preencoded.png">    </p:cNvPr>
          <p:cNvPicPr>
            <a:picLocks noChangeAspect="1"/>
          </p:cNvPicPr>
          <p:nvPr/>
        </p:nvPicPr>
        <p:blipFill>
          <a:blip r:embed="rId2"/>
          <a:stretch>
            <a:fillRect/>
          </a:stretch>
        </p:blipFill>
        <p:spPr>
          <a:xfrm>
            <a:off x="4631436" y="1632204"/>
            <a:ext cx="384048" cy="384048"/>
          </a:xfrm>
          <a:prstGeom prst="rect">
            <a:avLst/>
          </a:prstGeom>
        </p:spPr>
      </p:pic>
      <p:sp>
        <p:nvSpPr>
          <p:cNvPr id="12" name="Text 8"/>
          <p:cNvSpPr txBox="1"/>
          <p:nvPr/>
        </p:nvSpPr>
        <p:spPr>
          <a:xfrm>
            <a:off x="5303520" y="1463040"/>
            <a:ext cx="2377440" cy="731520"/>
          </a:xfrm>
          <a:prstGeom prst="rect">
            <a:avLst/>
          </a:prstGeom>
          <a:noFill/>
          <a:ln/>
        </p:spPr>
        <p:txBody>
          <a:bodyPr wrap="square" lIns="0" tIns="0" rIns="0" bIns="0" rtlCol="0" anchor="ctr"/>
          <a:lstStyle/>
          <a:p>
            <a:pPr indent="0" marL="0">
              <a:buNone/>
            </a:pPr>
            <a:r>
              <a:rPr lang="en-US" sz="1700" b="1" dirty="0">
                <a:solidFill>
                  <a:schemeClr val="accent1"/>
                </a:solidFill>
              </a:rPr>
              <a:t>YouTube-Playlist „Algo Quest“</a:t>
            </a:r>
            <a:endParaRPr lang="en-US" sz="1700" dirty="0"/>
          </a:p>
        </p:txBody>
      </p:sp>
      <p:sp>
        <p:nvSpPr>
          <p:cNvPr id="13" name="Text 9"/>
          <p:cNvSpPr txBox="1"/>
          <p:nvPr/>
        </p:nvSpPr>
        <p:spPr>
          <a:xfrm>
            <a:off x="4480560" y="2286000"/>
            <a:ext cx="3154680" cy="868680"/>
          </a:xfrm>
          <a:prstGeom prst="rect">
            <a:avLst/>
          </a:prstGeom>
          <a:noFill/>
          <a:ln/>
        </p:spPr>
        <p:txBody>
          <a:bodyPr wrap="square" lIns="0" tIns="0" rIns="0" bIns="0" rtlCol="0" anchor="t"/>
          <a:lstStyle/>
          <a:p>
            <a:pPr indent="0" marL="0">
              <a:buNone/>
            </a:pPr>
            <a:r>
              <a:rPr lang="en-US" sz="1400" dirty="0">
                <a:solidFill>
                  <a:schemeClr val="tx1"/>
                </a:solidFill>
              </a:rPr>
              <a:t>Erklärvideos, Papier-Coding und Boss-Lösungen zum Nachschlagen</a:t>
            </a:r>
            <a:endParaRPr lang="en-US" sz="1400" dirty="0"/>
          </a:p>
        </p:txBody>
      </p:sp>
      <p:sp>
        <p:nvSpPr>
          <p:cNvPr id="14" name="Chip"/>
          <p:cNvSpPr txBox="1"/>
          <p:nvPr/>
        </p:nvSpPr>
        <p:spPr>
          <a:xfrm>
            <a:off x="4480560" y="3246120"/>
            <a:ext cx="315468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zu deinen Top-3-Fehlern</a:t>
            </a:r>
            <a:endParaRPr lang="en-US" sz="1400" dirty="0"/>
          </a:p>
        </p:txBody>
      </p:sp>
      <p:sp>
        <p:nvSpPr>
          <p:cNvPr id="15" name="Abi-Aufgaben 2022–2026"/>
          <p:cNvSpPr/>
          <p:nvPr/>
        </p:nvSpPr>
        <p:spPr>
          <a:xfrm>
            <a:off x="8046720" y="1325880"/>
            <a:ext cx="3520440" cy="2514600"/>
          </a:xfrm>
          <a:prstGeom prst="roundRect">
            <a:avLst>
              <a:gd name="adj" fmla="val 4364"/>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16" name="Icon-Kreis"/>
          <p:cNvSpPr/>
          <p:nvPr/>
        </p:nvSpPr>
        <p:spPr>
          <a:xfrm>
            <a:off x="8229600" y="1481328"/>
            <a:ext cx="685800" cy="685800"/>
          </a:xfrm>
          <a:prstGeom prst="ellipse">
            <a:avLst/>
          </a:prstGeom>
          <a:solidFill>
            <a:schemeClr val="accent1"/>
          </a:solidFill>
          <a:ln/>
        </p:spPr>
      </p:sp>
      <p:pic>
        <p:nvPicPr>
          <p:cNvPr id="17" name="Icon GiScrollUnfurled" descr="preencoded.png">    </p:cNvPr>
          <p:cNvPicPr>
            <a:picLocks noChangeAspect="1"/>
          </p:cNvPicPr>
          <p:nvPr/>
        </p:nvPicPr>
        <p:blipFill>
          <a:blip r:embed="rId3"/>
          <a:stretch>
            <a:fillRect/>
          </a:stretch>
        </p:blipFill>
        <p:spPr>
          <a:xfrm>
            <a:off x="8380476" y="1632204"/>
            <a:ext cx="384048" cy="384048"/>
          </a:xfrm>
          <a:prstGeom prst="rect">
            <a:avLst/>
          </a:prstGeom>
        </p:spPr>
      </p:pic>
      <p:sp>
        <p:nvSpPr>
          <p:cNvPr id="18" name="Text 13"/>
          <p:cNvSpPr txBox="1"/>
          <p:nvPr/>
        </p:nvSpPr>
        <p:spPr>
          <a:xfrm>
            <a:off x="9052560" y="1463040"/>
            <a:ext cx="2377440" cy="731520"/>
          </a:xfrm>
          <a:prstGeom prst="rect">
            <a:avLst/>
          </a:prstGeom>
          <a:noFill/>
          <a:ln/>
        </p:spPr>
        <p:txBody>
          <a:bodyPr wrap="square" lIns="0" tIns="0" rIns="0" bIns="0" rtlCol="0" anchor="ctr"/>
          <a:lstStyle/>
          <a:p>
            <a:pPr indent="0" marL="0">
              <a:buNone/>
            </a:pPr>
            <a:r>
              <a:rPr lang="en-US" sz="1700" b="1" dirty="0">
                <a:solidFill>
                  <a:schemeClr val="accent1"/>
                </a:solidFill>
              </a:rPr>
              <a:t>Abi-Aufgaben 2022–2026</a:t>
            </a:r>
            <a:endParaRPr lang="en-US" sz="1700" dirty="0"/>
          </a:p>
        </p:txBody>
      </p:sp>
      <p:sp>
        <p:nvSpPr>
          <p:cNvPr id="19" name="Text 14"/>
          <p:cNvSpPr txBox="1"/>
          <p:nvPr/>
        </p:nvSpPr>
        <p:spPr>
          <a:xfrm>
            <a:off x="8229600" y="2286000"/>
            <a:ext cx="3154680" cy="868680"/>
          </a:xfrm>
          <a:prstGeom prst="rect">
            <a:avLst/>
          </a:prstGeom>
          <a:noFill/>
          <a:ln/>
        </p:spPr>
        <p:txBody>
          <a:bodyPr wrap="square" lIns="0" tIns="0" rIns="0" bIns="0" rtlCol="0" anchor="t"/>
          <a:lstStyle/>
          <a:p>
            <a:pPr indent="0" marL="0">
              <a:buNone/>
            </a:pPr>
            <a:r>
              <a:rPr lang="en-US" sz="1400" dirty="0">
                <a:solidFill>
                  <a:schemeClr val="tx1"/>
                </a:solidFill>
              </a:rPr>
              <a:t>echte Block-1-Aufgaben mit Erwartungshorizont</a:t>
            </a:r>
            <a:endParaRPr lang="en-US" sz="1400" dirty="0"/>
          </a:p>
        </p:txBody>
      </p:sp>
      <p:sp>
        <p:nvSpPr>
          <p:cNvPr id="20" name="Chip"/>
          <p:cNvSpPr txBox="1"/>
          <p:nvPr/>
        </p:nvSpPr>
        <p:spPr>
          <a:xfrm>
            <a:off x="8229600" y="3246120"/>
            <a:ext cx="315468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1 Aufgabe pro Monat, auf Zeit</a:t>
            </a:r>
            <a:endParaRPr lang="en-US" sz="1400" dirty="0"/>
          </a:p>
        </p:txBody>
      </p:sp>
      <p:sp>
        <p:nvSpPr>
          <p:cNvPr id="21" name="Text 16"/>
          <p:cNvSpPr txBox="1"/>
          <p:nvPr/>
        </p:nvSpPr>
        <p:spPr>
          <a:xfrm>
            <a:off x="548640" y="4069080"/>
            <a:ext cx="11064240" cy="329184"/>
          </a:xfrm>
          <a:prstGeom prst="rect">
            <a:avLst/>
          </a:prstGeom>
          <a:noFill/>
          <a:ln/>
        </p:spPr>
        <p:txBody>
          <a:bodyPr wrap="square" lIns="0" tIns="0" rIns="0" bIns="0" rtlCol="0" anchor="t"/>
          <a:lstStyle/>
          <a:p>
            <a:pPr indent="0" marL="0">
              <a:buNone/>
            </a:pPr>
            <a:r>
              <a:rPr lang="en-US" sz="1800" b="1" dirty="0">
                <a:solidFill>
                  <a:schemeClr val="accent1"/>
                </a:solidFill>
              </a:rPr>
              <a:t>Wiederholungsplan bis zum Abitur</a:t>
            </a:r>
            <a:endParaRPr lang="en-US" sz="1800" dirty="0"/>
          </a:p>
        </p:txBody>
      </p:sp>
      <p:sp>
        <p:nvSpPr>
          <p:cNvPr id="22" name="Zeitstrahl"/>
          <p:cNvSpPr/>
          <p:nvPr/>
        </p:nvSpPr>
        <p:spPr>
          <a:xfrm>
            <a:off x="731520" y="4681728"/>
            <a:ext cx="10698480" cy="91"/>
          </a:xfrm>
          <a:prstGeom prst="line">
            <a:avLst/>
          </a:prstGeom>
          <a:noFill/>
          <a:ln w="38100">
            <a:solidFill>
              <a:schemeClr val="accent2"/>
            </a:solidFill>
            <a:prstDash val="solid"/>
          </a:ln>
        </p:spPr>
      </p:sp>
      <p:sp>
        <p:nvSpPr>
          <p:cNvPr id="23" name="Punkt Woche 1–4"/>
          <p:cNvSpPr txBox="1"/>
          <p:nvPr/>
        </p:nvSpPr>
        <p:spPr>
          <a:xfrm>
            <a:off x="685800" y="4553712"/>
            <a:ext cx="256032" cy="256032"/>
          </a:xfrm>
          <a:prstGeom prst="ellipse">
            <a:avLst/>
          </a:prstGeom>
          <a:solidFill>
            <a:schemeClr val="accent1"/>
          </a:solidFill>
          <a:ln w="19050">
            <a:solidFill>
              <a:schemeClr val="bg1"/>
            </a:solidFill>
          </a:ln>
        </p:spPr>
        <p:txBody>
          <a:bodyPr wrap="square" lIns="0" tIns="0" rIns="0" bIns="0" rtlCol="0" anchor="t"/>
          <a:lstStyle/>
          <a:p>
            <a:pPr indent="0" marL="0">
              <a:buNone/>
            </a:pPr>
            <a:endParaRPr lang="en-US" sz="1800" dirty="0"/>
          </a:p>
        </p:txBody>
      </p:sp>
      <p:sp>
        <p:nvSpPr>
          <p:cNvPr id="24" name="Text 19"/>
          <p:cNvSpPr txBox="1"/>
          <p:nvPr/>
        </p:nvSpPr>
        <p:spPr>
          <a:xfrm>
            <a:off x="548640" y="4892040"/>
            <a:ext cx="2651760" cy="1188720"/>
          </a:xfrm>
          <a:prstGeom prst="rect">
            <a:avLst/>
          </a:prstGeom>
          <a:noFill/>
          <a:ln/>
        </p:spPr>
        <p:txBody>
          <a:bodyPr wrap="square" lIns="0" tIns="0" rIns="0" bIns="0" rtlCol="0" anchor="t"/>
          <a:lstStyle/>
          <a:p>
            <a:pPr indent="0" marL="0">
              <a:buNone/>
            </a:pPr>
            <a:r>
              <a:rPr lang="en-US" sz="1600" b="1" dirty="0">
                <a:solidFill>
                  <a:schemeClr val="accent1"/>
                </a:solidFill>
              </a:rPr>
              <a:t>Woche 1–4</a:t>
            </a:r>
            <a:endParaRPr lang="en-US" sz="1800" dirty="0"/>
          </a:p>
          <a:p>
            <a:pPr indent="0" marL="0">
              <a:buNone/>
            </a:pPr>
            <a:r>
              <a:rPr lang="en-US" sz="1400" dirty="0">
                <a:solidFill>
                  <a:schemeClr val="tx1"/>
                </a:solidFill>
              </a:rPr>
              <a:t>Top-3-Fehler: Fehlerjagd-Aufgaben wiederholen, Warm-up W6</a:t>
            </a:r>
            <a:endParaRPr lang="en-US" sz="1800" dirty="0"/>
          </a:p>
        </p:txBody>
      </p:sp>
      <p:sp>
        <p:nvSpPr>
          <p:cNvPr id="25" name="Punkt Monat 2–3"/>
          <p:cNvSpPr txBox="1"/>
          <p:nvPr/>
        </p:nvSpPr>
        <p:spPr>
          <a:xfrm>
            <a:off x="3502152" y="4553712"/>
            <a:ext cx="256032" cy="256032"/>
          </a:xfrm>
          <a:prstGeom prst="ellipse">
            <a:avLst/>
          </a:prstGeom>
          <a:solidFill>
            <a:schemeClr val="accent1"/>
          </a:solidFill>
          <a:ln w="19050">
            <a:solidFill>
              <a:schemeClr val="bg1"/>
            </a:solidFill>
          </a:ln>
        </p:spPr>
        <p:txBody>
          <a:bodyPr wrap="square" lIns="0" tIns="0" rIns="0" bIns="0" rtlCol="0" anchor="t"/>
          <a:lstStyle/>
          <a:p>
            <a:pPr indent="0" marL="0">
              <a:buNone/>
            </a:pPr>
            <a:endParaRPr lang="en-US" sz="1800" dirty="0"/>
          </a:p>
        </p:txBody>
      </p:sp>
      <p:sp>
        <p:nvSpPr>
          <p:cNvPr id="26" name="Text 21"/>
          <p:cNvSpPr txBox="1"/>
          <p:nvPr/>
        </p:nvSpPr>
        <p:spPr>
          <a:xfrm>
            <a:off x="3364992" y="4892040"/>
            <a:ext cx="2651760" cy="1188720"/>
          </a:xfrm>
          <a:prstGeom prst="rect">
            <a:avLst/>
          </a:prstGeom>
          <a:noFill/>
          <a:ln/>
        </p:spPr>
        <p:txBody>
          <a:bodyPr wrap="square" lIns="0" tIns="0" rIns="0" bIns="0" rtlCol="0" anchor="t"/>
          <a:lstStyle/>
          <a:p>
            <a:pPr indent="0" marL="0">
              <a:buNone/>
            </a:pPr>
            <a:r>
              <a:rPr lang="en-US" sz="1600" b="1" dirty="0">
                <a:solidFill>
                  <a:schemeClr val="accent1"/>
                </a:solidFill>
              </a:rPr>
              <a:t>Monat 2–3</a:t>
            </a:r>
            <a:endParaRPr lang="en-US" sz="1800" dirty="0"/>
          </a:p>
          <a:p>
            <a:pPr indent="0" marL="0">
              <a:buNone/>
            </a:pPr>
            <a:r>
              <a:rPr lang="en-US" sz="1400" dirty="0">
                <a:solidFill>
                  <a:schemeClr val="tx1"/>
                </a:solidFill>
              </a:rPr>
              <a:t>je Welt eine Abi-Teilaufgabe, Selbstkorrektur nach Kernpunkten</a:t>
            </a:r>
            <a:endParaRPr lang="en-US" sz="1800" dirty="0"/>
          </a:p>
        </p:txBody>
      </p:sp>
      <p:sp>
        <p:nvSpPr>
          <p:cNvPr id="27" name="Punkt Monat 4–5"/>
          <p:cNvSpPr txBox="1"/>
          <p:nvPr/>
        </p:nvSpPr>
        <p:spPr>
          <a:xfrm>
            <a:off x="6318504" y="4553712"/>
            <a:ext cx="256032" cy="256032"/>
          </a:xfrm>
          <a:prstGeom prst="ellipse">
            <a:avLst/>
          </a:prstGeom>
          <a:solidFill>
            <a:schemeClr val="accent1"/>
          </a:solidFill>
          <a:ln w="19050">
            <a:solidFill>
              <a:schemeClr val="bg1"/>
            </a:solidFill>
          </a:ln>
        </p:spPr>
        <p:txBody>
          <a:bodyPr wrap="square" lIns="0" tIns="0" rIns="0" bIns="0" rtlCol="0" anchor="t"/>
          <a:lstStyle/>
          <a:p>
            <a:pPr indent="0" marL="0">
              <a:buNone/>
            </a:pPr>
            <a:endParaRPr lang="en-US" sz="1800" dirty="0"/>
          </a:p>
        </p:txBody>
      </p:sp>
      <p:sp>
        <p:nvSpPr>
          <p:cNvPr id="28" name="Text 23"/>
          <p:cNvSpPr txBox="1"/>
          <p:nvPr/>
        </p:nvSpPr>
        <p:spPr>
          <a:xfrm>
            <a:off x="6181344" y="4892040"/>
            <a:ext cx="2651760" cy="1188720"/>
          </a:xfrm>
          <a:prstGeom prst="rect">
            <a:avLst/>
          </a:prstGeom>
          <a:noFill/>
          <a:ln/>
        </p:spPr>
        <p:txBody>
          <a:bodyPr wrap="square" lIns="0" tIns="0" rIns="0" bIns="0" rtlCol="0" anchor="t"/>
          <a:lstStyle/>
          <a:p>
            <a:pPr indent="0" marL="0">
              <a:buNone/>
            </a:pPr>
            <a:r>
              <a:rPr lang="en-US" sz="1600" b="1" dirty="0">
                <a:solidFill>
                  <a:schemeClr val="accent1"/>
                </a:solidFill>
              </a:rPr>
              <a:t>Monat 4–5</a:t>
            </a:r>
            <a:endParaRPr lang="en-US" sz="1800" dirty="0"/>
          </a:p>
          <a:p>
            <a:pPr indent="0" marL="0">
              <a:buNone/>
            </a:pPr>
            <a:r>
              <a:rPr lang="en-US" sz="1400" dirty="0">
                <a:solidFill>
                  <a:schemeClr val="tx1"/>
                </a:solidFill>
              </a:rPr>
              <a:t>ganze Block-1-Aufgaben in 150 min + Papier-Compiler</a:t>
            </a:r>
            <a:endParaRPr lang="en-US" sz="1800" dirty="0"/>
          </a:p>
        </p:txBody>
      </p:sp>
      <p:sp>
        <p:nvSpPr>
          <p:cNvPr id="29" name="Punkt vor dem Abi"/>
          <p:cNvSpPr txBox="1"/>
          <p:nvPr/>
        </p:nvSpPr>
        <p:spPr>
          <a:xfrm>
            <a:off x="9134856" y="4553712"/>
            <a:ext cx="256032" cy="256032"/>
          </a:xfrm>
          <a:prstGeom prst="ellipse">
            <a:avLst/>
          </a:prstGeom>
          <a:solidFill>
            <a:schemeClr val="accent4"/>
          </a:solidFill>
          <a:ln w="19050">
            <a:solidFill>
              <a:schemeClr val="bg1"/>
            </a:solidFill>
          </a:ln>
        </p:spPr>
        <p:txBody>
          <a:bodyPr wrap="square" lIns="0" tIns="0" rIns="0" bIns="0" rtlCol="0" anchor="t"/>
          <a:lstStyle/>
          <a:p>
            <a:pPr indent="0" marL="0">
              <a:buNone/>
            </a:pPr>
            <a:endParaRPr lang="en-US" sz="1800" dirty="0"/>
          </a:p>
        </p:txBody>
      </p:sp>
      <p:sp>
        <p:nvSpPr>
          <p:cNvPr id="30" name="Text 25"/>
          <p:cNvSpPr txBox="1"/>
          <p:nvPr/>
        </p:nvSpPr>
        <p:spPr>
          <a:xfrm>
            <a:off x="8997696" y="4892040"/>
            <a:ext cx="2651760" cy="1188720"/>
          </a:xfrm>
          <a:prstGeom prst="rect">
            <a:avLst/>
          </a:prstGeom>
          <a:noFill/>
          <a:ln/>
        </p:spPr>
        <p:txBody>
          <a:bodyPr wrap="square" lIns="0" tIns="0" rIns="0" bIns="0" rtlCol="0" anchor="t"/>
          <a:lstStyle/>
          <a:p>
            <a:pPr indent="0" marL="0">
              <a:buNone/>
            </a:pPr>
            <a:r>
              <a:rPr lang="en-US" sz="1600" b="1" dirty="0">
                <a:solidFill>
                  <a:schemeClr val="accent4"/>
                </a:solidFill>
              </a:rPr>
              <a:t>vor dem Abi</a:t>
            </a:r>
            <a:endParaRPr lang="en-US" sz="1800" dirty="0"/>
          </a:p>
          <a:p>
            <a:pPr indent="0" marL="0">
              <a:buNone/>
            </a:pPr>
            <a:r>
              <a:rPr lang="en-US" sz="1400" dirty="0">
                <a:solidFill>
                  <a:schemeClr val="tx1"/>
                </a:solidFill>
              </a:rPr>
              <a:t>Abi-Fahrplan aktualisieren, Abi-Check auswendig</a:t>
            </a:r>
            <a:endParaRPr lang="en-US" sz="1800" dirty="0"/>
          </a:p>
        </p:txBody>
      </p:sp>
      <p:sp>
        <p:nvSpPr>
          <p:cNvPr id="31" name="Text 26"/>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Abschluss · Ausblick</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Training mit echten Abi-Aufgaben 2022–2026</a:t>
            </a:r>
            <a:endParaRPr lang="en-US" sz="3600" dirty="0"/>
          </a:p>
        </p:txBody>
      </p:sp>
      <p:graphicFrame>
        <p:nvGraphicFramePr>
          <p:cNvPr id="29" name="Abi-Training"/>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97480"/>
                <a:gridCol w="4023360"/>
                <a:gridCol w="4343400"/>
              </a:tblGrid>
              <a:tr h="548640">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Welt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Typische Teilaufgaben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Zum Üben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548640">
                <a:tc>
                  <a:txBody>
                    <a:bodyPr/>
                    <a:lstStyle/>
                    <a:p>
                      <a:pPr algn="l" indent="0" marL="0">
                        <a:buNone/>
                      </a:pPr>
                      <a:r>
                        <a:rPr lang="en-US" sz="1600" b="1" dirty="0">
                          <a:solidFill>
                            <a:schemeClr val="accent1"/>
                          </a:solidFill>
                          <a:latin typeface="Calibri" pitchFamily="34" charset="0"/>
                          <a:ea typeface="Calibri" pitchFamily="34" charset="-122"/>
                          <a:cs typeface="Calibri" pitchFamily="34" charset="-120"/>
                        </a:rPr>
                        <a:t>Welt 1 · Heldenschmiede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Klasse und Konstruktoren erläutern, Klassendiagramm</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b="1" dirty="0">
                          <a:solidFill>
                            <a:schemeClr val="accent2"/>
                          </a:solidFill>
                          <a:latin typeface="Consolas" pitchFamily="34" charset="0"/>
                          <a:ea typeface="Consolas" pitchFamily="34" charset="-122"/>
                          <a:cs typeface="Consolas" pitchFamily="34" charset="-120"/>
                        </a:rPr>
                        <a:t>25H-B a · 22N-B a</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r>
              <a:tr h="548640">
                <a:tc>
                  <a:txBody>
                    <a:bodyPr/>
                    <a:lstStyle/>
                    <a:p>
                      <a:pPr algn="l" indent="0" marL="0">
                        <a:buNone/>
                      </a:pPr>
                      <a:r>
                        <a:rPr lang="en-US" sz="1600" b="1" dirty="0">
                          <a:solidFill>
                            <a:schemeClr val="accent1"/>
                          </a:solidFill>
                          <a:latin typeface="Calibri" pitchFamily="34" charset="0"/>
                          <a:ea typeface="Calibri" pitchFamily="34" charset="-122"/>
                          <a:cs typeface="Calibri" pitchFamily="34" charset="-120"/>
                        </a:rPr>
                        <a:t>Welt 2 · Rangliste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gegebenes Sortierverfahren tracen und analysieren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latin typeface="Consolas" pitchFamily="34" charset="0"/>
                          <a:ea typeface="Consolas" pitchFamily="34" charset="-122"/>
                          <a:cs typeface="Consolas" pitchFamily="34" charset="-120"/>
                        </a:rPr>
                        <a:t>25H-B e/f · 24H-B d–g</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48640">
                <a:tc>
                  <a:txBody>
                    <a:bodyPr/>
                    <a:lstStyle/>
                    <a:p>
                      <a:pPr algn="l" indent="0" marL="0">
                        <a:buNone/>
                      </a:pPr>
                      <a:r>
                        <a:rPr lang="en-US" sz="1600" b="1" dirty="0">
                          <a:solidFill>
                            <a:schemeClr val="accent1"/>
                          </a:solidFill>
                          <a:latin typeface="Calibri" pitchFamily="34" charset="0"/>
                          <a:ea typeface="Calibri" pitchFamily="34" charset="-122"/>
                          <a:cs typeface="Calibri" pitchFamily="34" charset="-120"/>
                        </a:rPr>
                        <a:t>Welt 3 · Labyrinth</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Rekursionstabelle, Teile und herrsche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b="1" dirty="0">
                          <a:solidFill>
                            <a:schemeClr val="accent2"/>
                          </a:solidFill>
                          <a:latin typeface="Consolas" pitchFamily="34" charset="0"/>
                          <a:ea typeface="Consolas" pitchFamily="34" charset="-122"/>
                          <a:cs typeface="Consolas" pitchFamily="34" charset="-120"/>
                        </a:rPr>
                        <a:t>23N-C e · 24H-A d · 26H-B g</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r>
              <a:tr h="548640">
                <a:tc>
                  <a:txBody>
                    <a:bodyPr/>
                    <a:lstStyle/>
                    <a:p>
                      <a:pPr algn="l" indent="0" marL="0">
                        <a:buNone/>
                      </a:pPr>
                      <a:r>
                        <a:rPr lang="en-US" sz="1600" b="1" dirty="0">
                          <a:solidFill>
                            <a:schemeClr val="accent1"/>
                          </a:solidFill>
                          <a:latin typeface="Calibri" pitchFamily="34" charset="0"/>
                          <a:ea typeface="Calibri" pitchFamily="34" charset="-122"/>
                          <a:cs typeface="Calibri" pitchFamily="34" charset="-120"/>
                        </a:rPr>
                        <a:t>Welt 4 · Hafen</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Stapel/Schlange unverändert, dynamische Reihung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latin typeface="Consolas" pitchFamily="34" charset="0"/>
                          <a:ea typeface="Consolas" pitchFamily="34" charset="-122"/>
                          <a:cs typeface="Consolas" pitchFamily="34" charset="-120"/>
                        </a:rPr>
                        <a:t>25H-B b/c · 22N-A c/d · 26H-B e</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48640">
                <a:tc>
                  <a:txBody>
                    <a:bodyPr/>
                    <a:lstStyle/>
                    <a:p>
                      <a:pPr algn="l" indent="0" marL="0">
                        <a:buNone/>
                      </a:pPr>
                      <a:r>
                        <a:rPr lang="en-US" sz="1600" b="1" dirty="0">
                          <a:solidFill>
                            <a:schemeClr val="accent1"/>
                          </a:solidFill>
                          <a:latin typeface="Calibri" pitchFamily="34" charset="0"/>
                          <a:ea typeface="Calibri" pitchFamily="34" charset="-122"/>
                          <a:cs typeface="Calibri" pitchFamily="34" charset="-120"/>
                        </a:rPr>
                        <a:t>Welt 5 · Wald</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Suchbaum, unbekannte Bäume (Heap, Huffman, B-Baum)</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c>
                  <a:txBody>
                    <a:bodyPr/>
                    <a:lstStyle/>
                    <a:p>
                      <a:pPr algn="l" indent="0" marL="0">
                        <a:buNone/>
                      </a:pPr>
                      <a:r>
                        <a:rPr lang="en-US" sz="1400" b="1" dirty="0">
                          <a:solidFill>
                            <a:schemeClr val="accent2"/>
                          </a:solidFill>
                          <a:latin typeface="Consolas" pitchFamily="34" charset="0"/>
                          <a:ea typeface="Consolas" pitchFamily="34" charset="-122"/>
                          <a:cs typeface="Consolas" pitchFamily="34" charset="-120"/>
                        </a:rPr>
                        <a:t>22H-A a · 24N-A k/m · 25H-A · 26H-A</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9FC"/>
                    </a:solidFill>
                  </a:tcPr>
                </a:tc>
              </a:tr>
            </a:tbl>
          </a:graphicData>
        </a:graphic>
      </p:graphicFrame>
      <p:sp>
        <p:nvSpPr>
          <p:cNvPr id="4" name="Text 1"/>
          <p:cNvSpPr txBox="1"/>
          <p:nvPr/>
        </p:nvSpPr>
        <p:spPr>
          <a:xfrm>
            <a:off x="548640" y="4800600"/>
            <a:ext cx="11064240" cy="347472"/>
          </a:xfrm>
          <a:prstGeom prst="rect">
            <a:avLst/>
          </a:prstGeom>
          <a:noFill/>
          <a:ln/>
        </p:spPr>
        <p:txBody>
          <a:bodyPr wrap="square" lIns="0" tIns="0" rIns="0" bIns="0" rtlCol="0" anchor="ctr"/>
          <a:lstStyle/>
          <a:p>
            <a:pPr indent="0" marL="0">
              <a:buNone/>
            </a:pPr>
            <a:r>
              <a:rPr lang="en-US" sz="1500" b="1" dirty="0">
                <a:solidFill>
                  <a:schemeClr val="accent1"/>
                </a:solidFill>
              </a:rPr>
              <a:t>Lesehilfe: </a:t>
            </a:r>
            <a:pPr indent="0" marL="0">
              <a:buNone/>
            </a:pPr>
            <a:r>
              <a:rPr lang="en-US" sz="1500" b="1" dirty="0">
                <a:solidFill>
                  <a:schemeClr val="accent2"/>
                </a:solidFill>
                <a:latin typeface="Consolas" pitchFamily="34" charset="0"/>
                <a:ea typeface="Consolas" pitchFamily="34" charset="-122"/>
                <a:cs typeface="Consolas" pitchFamily="34" charset="-120"/>
              </a:rPr>
              <a:t>25H-B a</a:t>
            </a:r>
            <a:pPr indent="0" marL="0">
              <a:buNone/>
            </a:pPr>
            <a:r>
              <a:rPr lang="en-US" sz="1500" dirty="0">
                <a:solidFill>
                  <a:schemeClr val="tx1"/>
                </a:solidFill>
              </a:rPr>
              <a:t> = Abitur 2025, Haupttermin, Aufgabe B, Teilaufgabe a) · N = Nachschreibtermin</a:t>
            </a:r>
            <a:endParaRPr lang="en-US" sz="1500" dirty="0"/>
          </a:p>
        </p:txBody>
      </p:sp>
      <p:sp>
        <p:nvSpPr>
          <p:cNvPr id="5" name="So trainierst du"/>
          <p:cNvSpPr/>
          <p:nvPr/>
        </p:nvSpPr>
        <p:spPr>
          <a:xfrm>
            <a:off x="548640" y="5349240"/>
            <a:ext cx="11064240" cy="777240"/>
          </a:xfrm>
          <a:prstGeom prst="roundRect">
            <a:avLst>
              <a:gd name="adj" fmla="val 14118"/>
            </a:avLst>
          </a:prstGeom>
          <a:solidFill>
            <a:schemeClr val="bg2"/>
          </a:solidFill>
          <a:ln/>
        </p:spPr>
      </p:sp>
      <p:sp>
        <p:nvSpPr>
          <p:cNvPr id="6" name="Text 3"/>
          <p:cNvSpPr txBox="1"/>
          <p:nvPr/>
        </p:nvSpPr>
        <p:spPr>
          <a:xfrm>
            <a:off x="749808" y="5349240"/>
            <a:ext cx="10698480" cy="777240"/>
          </a:xfrm>
          <a:prstGeom prst="rect">
            <a:avLst/>
          </a:prstGeom>
          <a:noFill/>
          <a:ln/>
        </p:spPr>
        <p:txBody>
          <a:bodyPr wrap="square" lIns="0" tIns="0" rIns="0" bIns="0" rtlCol="0" anchor="ctr"/>
          <a:lstStyle/>
          <a:p>
            <a:pPr indent="0" marL="0">
              <a:buNone/>
            </a:pPr>
            <a:r>
              <a:rPr lang="en-US" sz="1500" b="1" dirty="0">
                <a:solidFill>
                  <a:schemeClr val="accent1"/>
                </a:solidFill>
              </a:rPr>
              <a:t>So trainierst du: </a:t>
            </a:r>
            <a:pPr indent="0" marL="0">
              <a:buNone/>
            </a:pPr>
            <a:r>
              <a:rPr lang="en-US" sz="1500" dirty="0">
                <a:solidFill>
                  <a:schemeClr val="tx1"/>
                </a:solidFill>
              </a:rPr>
              <a:t>Zielzeit 2,5 min je BE stellen → auf Papier lösen → mit den Kernpunkten des Erwartungshorizonts selbst korrigieren → Striche P1–P10.</a:t>
            </a:r>
            <a:endParaRPr lang="en-US" sz="1500" dirty="0"/>
          </a:p>
        </p:txBody>
      </p:sp>
      <p:sp>
        <p:nvSpPr>
          <p:cNvPr id="7" name="Text 4"/>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Abschluss · Abi-Training</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lIns="0" tIns="0" rIns="0" bIns="0" rtlCol="0" anchor="t"/>
          <a:lstStyle/>
          <a:p>
            <a:pPr indent="0" marL="0">
              <a:buNone/>
            </a:pPr>
            <a:r>
              <a:rPr lang="en-US" sz="1800" b="1" spc="200" kern="0" dirty="0">
                <a:solidFill>
                  <a:schemeClr val="accent2"/>
                </a:solidFill>
              </a:rPr>
              <a:t>ALGO QUEST · ABSCHLUSS</a:t>
            </a: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lIns="0" tIns="0" rIns="0" bIns="0" rtlCol="0" anchor="t"/>
          <a:lstStyle/>
          <a:p>
            <a:pPr algn="l" indent="0" marL="0">
              <a:buNone/>
            </a:pPr>
            <a:r>
              <a:rPr lang="en-US" sz="6000" b="1" dirty="0">
                <a:solidFill>
                  <a:schemeClr val="bg1"/>
                </a:solidFill>
              </a:rPr>
              <a:t>Endgegner besiegt!</a:t>
            </a: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lIns="0" tIns="0" rIns="0" bIns="0" rtlCol="0" anchor="t"/>
          <a:lstStyle/>
          <a:p>
            <a:pPr indent="0" marL="0">
              <a:buNone/>
            </a:pPr>
            <a:r>
              <a:rPr lang="en-US" sz="3000" dirty="0">
                <a:solidFill>
                  <a:schemeClr val="bg2"/>
                </a:solidFill>
              </a:rPr>
              <a:t>Das Abitur kann kommen – ihr seid bereit.</a:t>
            </a:r>
            <a:endParaRPr lang="en-US" sz="3000" dirty="0"/>
          </a:p>
        </p:txBody>
      </p:sp>
      <p:sp>
        <p:nvSpPr>
          <p:cNvPr id="5" name="Icon-Kreis"/>
          <p:cNvSpPr/>
          <p:nvPr/>
        </p:nvSpPr>
        <p:spPr>
          <a:xfrm>
            <a:off x="8229600" y="1325880"/>
            <a:ext cx="3200400" cy="3200400"/>
          </a:xfrm>
          <a:prstGeom prst="ellipse">
            <a:avLst/>
          </a:prstGeom>
          <a:solidFill>
            <a:schemeClr val="accent1"/>
          </a:solidFill>
          <a:ln w="63500">
            <a:solidFill>
              <a:schemeClr val="accent2"/>
            </a:solidFill>
            <a:prstDash val="solid"/>
          </a:ln>
        </p:spPr>
      </p:sp>
      <p:pic>
        <p:nvPicPr>
          <p:cNvPr id="6" name="Icon GiLaurelsTrophy" descr="preencoded.png">    </p:cNvPr>
          <p:cNvPicPr>
            <a:picLocks noChangeAspect="1"/>
          </p:cNvPicPr>
          <p:nvPr/>
        </p:nvPicPr>
        <p:blipFill>
          <a:blip r:embed="rId1"/>
          <a:stretch>
            <a:fillRect/>
          </a:stretch>
        </p:blipFill>
        <p:spPr>
          <a:xfrm>
            <a:off x="8869680" y="1965960"/>
            <a:ext cx="1920240" cy="1920240"/>
          </a:xfrm>
          <a:prstGeom prst="rect">
            <a:avLst/>
          </a:prstGeom>
        </p:spPr>
      </p:pic>
      <p:sp>
        <p:nvSpPr>
          <p:cNvPr id="7" name="Linie"/>
          <p:cNvSpPr/>
          <p:nvPr/>
        </p:nvSpPr>
        <p:spPr>
          <a:xfrm>
            <a:off x="1234440" y="5001768"/>
            <a:ext cx="274320" cy="91"/>
          </a:xfrm>
          <a:prstGeom prst="line">
            <a:avLst/>
          </a:prstGeom>
          <a:noFill/>
          <a:ln w="31750">
            <a:solidFill>
              <a:schemeClr val="accent2"/>
            </a:solidFill>
            <a:prstDash val="sysDot"/>
          </a:ln>
        </p:spPr>
      </p:sp>
      <p:sp>
        <p:nvSpPr>
          <p:cNvPr id="8" name="Chip"/>
          <p:cNvSpPr txBox="1"/>
          <p:nvPr/>
        </p:nvSpPr>
        <p:spPr>
          <a:xfrm>
            <a:off x="731520" y="4754880"/>
            <a:ext cx="502920" cy="502920"/>
          </a:xfrm>
          <a:prstGeom prst="roundRect">
            <a:avLst>
              <a:gd name="adj" fmla="val 50000"/>
            </a:avLst>
          </a:prstGeom>
          <a:solidFill>
            <a:schemeClr val="accent3"/>
          </a:solidFill>
          <a:ln w="15875">
            <a:solidFill>
              <a:schemeClr val="accent2"/>
            </a:solidFill>
          </a:ln>
        </p:spPr>
        <p:txBody>
          <a:bodyPr wrap="square" lIns="0" tIns="0" rIns="0" bIns="0" rtlCol="0" anchor="ctr"/>
          <a:lstStyle/>
          <a:p>
            <a:pPr algn="ctr" indent="0" marL="0">
              <a:buNone/>
            </a:pPr>
            <a:r>
              <a:rPr lang="en-US" sz="1700" b="1" dirty="0">
                <a:solidFill>
                  <a:schemeClr val="bg1"/>
                </a:solidFill>
              </a:rPr>
              <a:t>0</a:t>
            </a:r>
            <a:endParaRPr lang="en-US" sz="1700" dirty="0"/>
          </a:p>
        </p:txBody>
      </p:sp>
      <p:sp>
        <p:nvSpPr>
          <p:cNvPr id="9" name="Linie"/>
          <p:cNvSpPr/>
          <p:nvPr/>
        </p:nvSpPr>
        <p:spPr>
          <a:xfrm>
            <a:off x="2011680" y="5001768"/>
            <a:ext cx="274320" cy="91"/>
          </a:xfrm>
          <a:prstGeom prst="line">
            <a:avLst/>
          </a:prstGeom>
          <a:noFill/>
          <a:ln w="31750">
            <a:solidFill>
              <a:schemeClr val="accent2"/>
            </a:solidFill>
            <a:prstDash val="sysDot"/>
          </a:ln>
        </p:spPr>
      </p:sp>
      <p:sp>
        <p:nvSpPr>
          <p:cNvPr id="10" name="Chip"/>
          <p:cNvSpPr txBox="1"/>
          <p:nvPr/>
        </p:nvSpPr>
        <p:spPr>
          <a:xfrm>
            <a:off x="1508760" y="4754880"/>
            <a:ext cx="502920" cy="502920"/>
          </a:xfrm>
          <a:prstGeom prst="roundRect">
            <a:avLst>
              <a:gd name="adj" fmla="val 50000"/>
            </a:avLst>
          </a:prstGeom>
          <a:solidFill>
            <a:schemeClr val="accent3"/>
          </a:solidFill>
          <a:ln w="15875">
            <a:solidFill>
              <a:schemeClr val="accent2"/>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1" name="Linie"/>
          <p:cNvSpPr/>
          <p:nvPr/>
        </p:nvSpPr>
        <p:spPr>
          <a:xfrm>
            <a:off x="2788920" y="5001768"/>
            <a:ext cx="274320" cy="91"/>
          </a:xfrm>
          <a:prstGeom prst="line">
            <a:avLst/>
          </a:prstGeom>
          <a:noFill/>
          <a:ln w="31750">
            <a:solidFill>
              <a:schemeClr val="accent2"/>
            </a:solidFill>
            <a:prstDash val="sysDot"/>
          </a:ln>
        </p:spPr>
      </p:sp>
      <p:sp>
        <p:nvSpPr>
          <p:cNvPr id="12" name="Chip"/>
          <p:cNvSpPr txBox="1"/>
          <p:nvPr/>
        </p:nvSpPr>
        <p:spPr>
          <a:xfrm>
            <a:off x="2286000" y="4754880"/>
            <a:ext cx="502920" cy="502920"/>
          </a:xfrm>
          <a:prstGeom prst="roundRect">
            <a:avLst>
              <a:gd name="adj" fmla="val 50000"/>
            </a:avLst>
          </a:prstGeom>
          <a:solidFill>
            <a:schemeClr val="accent3"/>
          </a:solidFill>
          <a:ln w="15875">
            <a:solidFill>
              <a:schemeClr val="accent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3" name="Linie"/>
          <p:cNvSpPr/>
          <p:nvPr/>
        </p:nvSpPr>
        <p:spPr>
          <a:xfrm>
            <a:off x="3566160" y="5001768"/>
            <a:ext cx="274320" cy="91"/>
          </a:xfrm>
          <a:prstGeom prst="line">
            <a:avLst/>
          </a:prstGeom>
          <a:noFill/>
          <a:ln w="31750">
            <a:solidFill>
              <a:schemeClr val="accent2"/>
            </a:solidFill>
            <a:prstDash val="sysDot"/>
          </a:ln>
        </p:spPr>
      </p:sp>
      <p:sp>
        <p:nvSpPr>
          <p:cNvPr id="14" name="Chip"/>
          <p:cNvSpPr txBox="1"/>
          <p:nvPr/>
        </p:nvSpPr>
        <p:spPr>
          <a:xfrm>
            <a:off x="3063240" y="4754880"/>
            <a:ext cx="502920" cy="502920"/>
          </a:xfrm>
          <a:prstGeom prst="roundRect">
            <a:avLst>
              <a:gd name="adj" fmla="val 50000"/>
            </a:avLst>
          </a:prstGeom>
          <a:solidFill>
            <a:schemeClr val="accent3"/>
          </a:solidFill>
          <a:ln w="15875">
            <a:solidFill>
              <a:schemeClr val="accent2"/>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5" name="Linie"/>
          <p:cNvSpPr/>
          <p:nvPr/>
        </p:nvSpPr>
        <p:spPr>
          <a:xfrm>
            <a:off x="4343400" y="5001768"/>
            <a:ext cx="274320" cy="91"/>
          </a:xfrm>
          <a:prstGeom prst="line">
            <a:avLst/>
          </a:prstGeom>
          <a:noFill/>
          <a:ln w="31750">
            <a:solidFill>
              <a:schemeClr val="accent2"/>
            </a:solidFill>
            <a:prstDash val="sysDot"/>
          </a:ln>
        </p:spPr>
      </p:sp>
      <p:sp>
        <p:nvSpPr>
          <p:cNvPr id="16" name="Chip"/>
          <p:cNvSpPr txBox="1"/>
          <p:nvPr/>
        </p:nvSpPr>
        <p:spPr>
          <a:xfrm>
            <a:off x="3840480" y="4754880"/>
            <a:ext cx="502920" cy="502920"/>
          </a:xfrm>
          <a:prstGeom prst="roundRect">
            <a:avLst>
              <a:gd name="adj" fmla="val 50000"/>
            </a:avLst>
          </a:prstGeom>
          <a:solidFill>
            <a:schemeClr val="accent3"/>
          </a:solidFill>
          <a:ln w="15875">
            <a:solidFill>
              <a:schemeClr val="accent2"/>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7" name="Linie"/>
          <p:cNvSpPr/>
          <p:nvPr/>
        </p:nvSpPr>
        <p:spPr>
          <a:xfrm>
            <a:off x="5120640" y="5001768"/>
            <a:ext cx="274320" cy="91"/>
          </a:xfrm>
          <a:prstGeom prst="line">
            <a:avLst/>
          </a:prstGeom>
          <a:noFill/>
          <a:ln w="31750">
            <a:solidFill>
              <a:schemeClr val="accent2"/>
            </a:solidFill>
            <a:prstDash val="sysDot"/>
          </a:ln>
        </p:spPr>
      </p:sp>
      <p:sp>
        <p:nvSpPr>
          <p:cNvPr id="18" name="Chip"/>
          <p:cNvSpPr txBox="1"/>
          <p:nvPr/>
        </p:nvSpPr>
        <p:spPr>
          <a:xfrm>
            <a:off x="4617720" y="4754880"/>
            <a:ext cx="502920" cy="502920"/>
          </a:xfrm>
          <a:prstGeom prst="roundRect">
            <a:avLst>
              <a:gd name="adj" fmla="val 50000"/>
            </a:avLst>
          </a:prstGeom>
          <a:solidFill>
            <a:schemeClr val="accent3"/>
          </a:solidFill>
          <a:ln w="15875">
            <a:solidFill>
              <a:schemeClr val="accent2"/>
            </a:solid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19" name="Chip"/>
          <p:cNvSpPr txBox="1"/>
          <p:nvPr/>
        </p:nvSpPr>
        <p:spPr>
          <a:xfrm>
            <a:off x="5394960" y="4754880"/>
            <a:ext cx="502920" cy="502920"/>
          </a:xfrm>
          <a:prstGeom prst="roundRect">
            <a:avLst>
              <a:gd name="adj" fmla="val 50000"/>
            </a:avLst>
          </a:prstGeom>
          <a:solidFill>
            <a:schemeClr val="accent4"/>
          </a:solidFill>
          <a:ln w="15875">
            <a:solidFill>
              <a:schemeClr val="accent2"/>
            </a:solidFill>
          </a:ln>
        </p:spPr>
        <p:txBody>
          <a:bodyPr wrap="square" lIns="0" tIns="0" rIns="0" bIns="0" rtlCol="0" anchor="ctr"/>
          <a:lstStyle/>
          <a:p>
            <a:pPr algn="ctr" indent="0" marL="0">
              <a:buNone/>
            </a:pPr>
            <a:r>
              <a:rPr lang="en-US" sz="1700" b="1" dirty="0">
                <a:solidFill>
                  <a:schemeClr val="bg1"/>
                </a:solidFill>
              </a:rPr>
              <a:t>6</a:t>
            </a:r>
            <a:endParaRPr lang="en-US" sz="1700" dirty="0"/>
          </a:p>
        </p:txBody>
      </p:sp>
    </p:spTree>
  </p:cSld>
  <p:clrMapOvr>
    <a:masterClrMapping/>
  </p:clrMapOvr>
</p:sld>
</file>

<file path=ppt/theme/theme1.xml><?xml version="1.0" encoding="utf-8"?>
<a:theme xmlns:a="http://schemas.openxmlformats.org/drawingml/2006/main" name="Algo Quest">
  <a:themeElements>
    <a:clrScheme name="Algo Quest">
      <a:dk1>
        <a:srgbClr val="1A1A1A"/>
      </a:dk1>
      <a:lt1>
        <a:srgbClr val="FFFFFF"/>
      </a:lt1>
      <a:dk2>
        <a:srgbClr val="1F4E79"/>
      </a:dk2>
      <a:lt2>
        <a:srgbClr val="DBE7F5"/>
      </a:lt2>
      <a:accent1>
        <a:srgbClr val="1F4E79"/>
      </a:accent1>
      <a:accent2>
        <a:srgbClr val="B8860B"/>
      </a:accent2>
      <a:accent3>
        <a:srgbClr val="548235"/>
      </a:accent3>
      <a:accent4>
        <a:srgbClr val="C00000"/>
      </a:accent4>
      <a:accent5>
        <a:srgbClr val="F0F0F0"/>
      </a:accent5>
      <a:accent6>
        <a:srgbClr val="2E75B6"/>
      </a:accent6>
      <a:hlink>
        <a:srgbClr val="2E75B6"/>
      </a:hlink>
      <a:folHlink>
        <a:srgbClr val="7030A0"/>
      </a:folHlink>
    </a:clrScheme>
    <a:fontScheme name="Algo Que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Max-Planck-Gymnasium Delmenhorst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 Quest – Welt 6: Der Endgegner</dc:title>
  <dc:subject>PptxGenJS Presentation</dc:subject>
  <dc:creator>Frank Juchim</dc:creator>
  <cp:lastModifiedBy>Frank Juchim</cp:lastModifiedBy>
  <cp:revision>1</cp:revision>
  <dcterms:created xsi:type="dcterms:W3CDTF">2026-10-08T18:35:38Z</dcterms:created>
  <dcterms:modified xsi:type="dcterms:W3CDTF">2026-10-08T18:35:38Z</dcterms:modified>
</cp:coreProperties>
</file>