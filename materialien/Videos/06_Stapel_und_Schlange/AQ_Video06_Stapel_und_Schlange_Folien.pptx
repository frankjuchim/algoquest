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Willkommen im Hafen der Algo Quest! Heute geht es um zwei Datenstrukturen, die im Abitur fast immer vorkommen: den Stapel und die Schlange. Sie sehen harmlos aus – aber genau hier gehen viele Punkte verloren: durch fehlende Casts, durch Laufzeitfehler bei leeren Strukturen und durch Methoden, die eine Struktur heimlich zerstören. Nach diesem Video weißt du, wie du das alles vermeidest.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Abitur begegnen dir Stapel und Schlange vor allem in zwei Aufgabentypen. Erstens: Geben Sie den Inhalt der Strukturen nach Ausführung der Anweisungen an. Zweitens: Implementieren Sie eine Methode – und oft steht dabei: Nach dem Aufruf muss der Stapel unverändert sein. Welche Methoden du verwenden darfst, legen die Ergänzenden Hinweise im Paragrafen vier fest. Und es gilt: Laufzeitfehler müssen ausgeschlossen werden. Rechts siehst du unseren Plan für heute.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Stapel und Schlange sind abstrakte Datentypen. Das bedeutet: Sie werden nur durch ihre Operationen beschrieben – also dadurch, was man mit ihnen machen kann. Wie sie innen gebaut sind, mit einer Reihung oder mit verketteten Knoten, bleibt verborgen und ist für dich egal. Du kommst an die Daten nur über die Schnittstelle heran. Das ist wie bei einem Getränkeautomaten: Du kennst die Knöpfe, aber nicht das Innenleben. Für dich heißt das vor allem: Es gibt keinen Index und keinen Zugriff in die Mitte. Was du nicht über die Schnittstelle erreichst, erreichst du gar nicht.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Erst auf den Stapel zeigen (oben = zuletzt hineingelegt), dann auf die Schlange (vorn = zuerst angestellt).]</a:t>
            </a:r>
          </a:p>
          <a:p/>
          <a:p>
            <a:r>
              <a:t>Unser Held hat Heiltränke im Rucksack, gestapelt. Jede Zahl ist die Heilkraft eines Tranks. Er hat erst den Zwanziger hineingelegt, dann den Fünfziger, dann den Zehner. Oben liegt also der Zehner – und den bekommt er auch als Erstes wieder heraus. Das ist das Prinzip des Stapels: LIFO, last in, first out. Rechts die Schlange am Tresen der Hafentaverne: Zuerst hat sich der Ork angestellt, dann die Elfe, dann der Zwerg. Bedient wird vorne, also zuerst der Ork. Wer sich neu anstellt, kommt nach hinten. Das ist FIFO, first in, first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Schnittstellen nach EH Paragraf vier, so wie sie auch die Bibliothek Niedersachsen der Online-IDE anbietet. Erzeugt wird mit new Stack beziehungsweise new Queue. Mit isEmpty fragst du, ob die Struktur leer ist. Hineinlegen heißt beim Stapel push – oben drauf –, bei der Schlange enqueue – hinten anstellen. Ansehen, ohne zu entnehmen: top beim Stapel, head bei der Schlange. Und herausnehmen: pop und dequeue. Die roten Zeilen sind gefährlich: Auf einer leeren Struktur führen sie zu einem Laufzeitfehler. Merk dir außerdem den Unterschied: top und head schauen nur nach, die Struktur bleibt gleich. pop und dequeue entnehmen das Element.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kommt eine Besonderheit, die im Abitur ständig geprüft wird. Die Klassen Stack und Queue sind nicht generisch. Es gibt also keine spitzen Klammern wie Stack von Integer. Alles, was du hineinlegst, wird als Object gespeichert – und genauso kommt es auch wieder heraus. Deshalb musst du beim Herausnehmen casten, also sagen, welcher Typ es wirklich ist. Bei Ganzzahlen schreibst du Klammer Integer, bei Zeichenketten Klammer String. Ohne Cast übersetzt Java das Programm gar nicht – das ist Falle P4. Und wenn du Zeichenketten vergleichst, dann immer mit equals, nicht mit dem doppelten Gleichheitszeichen – das ist Falle P5. Im Kommentar notierst du den Inhaltstyp, so wie es auch in Abituraufgaben steht.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Zeile für Zeile zeigen; bei Zeile 4 betonen, dass top() nicht entnimmt.]</a:t>
            </a:r>
          </a:p>
          <a:p/>
          <a:p>
            <a:r>
              <a:t>Jetzt eine typische Mischaufgabe. In der Schlange q stehen fünf, eins, acht – fünf vorne. Der Stapel s ist leer. Rechts notieren wir nach jeder Zeile beide Zustände: den Stapel von oben gelesen, die Schlange von vorne. Zeile eins: dequeue nimmt die Fünf vorne heraus, push legt sie auf den Stapel. Zeile zwei: Die Eins wandert genauso auf den Stapel, jetzt oben. Zeile drei: pop nimmt die Eins vom Stapel, enqueue stellt sie hinten an die Schlange: acht, eins. Zeile vier: top schaut die Fünf nur an – sie bleibt im Stapel – und eine Fünf wird hinten angestellt. Zeile fünf: dequeue liefert die Acht, pop die Fünf. x ist acht minus fünf, also drei. Am Ende: Schlange eins, fünf, Stapel leer.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Diesmal liegen auf dem Stapel zwei, neun, vier – die Zwei oben –, und die Schlange ist leer. Halte das Video an und notiere nach jeder Zeile beide Zustände. Welchen Wert hat y am Ende? Danach geht es weiter mit der Auflösung.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Zeile eins: Die Zwei geht vom Stapel in die Schlange. Zeile zwei: die Neun hinterher, die Schlange ist jetzt zwei, neun. Zeile drei: Die Zwei vorne aus der Schlange kommt wieder oben auf den Stapel: zwei, vier. Zeile vier: top schaut die Zwei nur an, sie bleibt liegen, und eine Zwei wird hinten angestellt: neun, zwei. Zeile fünf: pop nimmt die Zwei vom Stapel, head schaut die Neun nur an. y ist zwei plus neun, also elf. Am Ende bleibt die Schlange neun, zwei, und im Stapel liegt nur noch die Vier. Hast du bei Zeile vier und fünf aufgepasst? Genau da liegen die Fallen.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Kommen wir zu Falle P1: Laufzeitfehler. Rufst du pop, top, dequeue oder head auf einer leeren Struktur auf, bricht das Programm ab – in der Online-IDE mit einer IllegalStateException. Im Abitur musst du solche Fehler durch eine Abfrage ausschließen. Ein Beispiel: Der Wirt bedient höchstens n Gäste. Stehen aber nur zwei Gäste am Tresen und n ist drei, dann würde der dritte dequeue-Aufruf abstürzen. Deshalb steht in der markierten Zeile zusätzlich: und nicht q punkt isEmpty. Dann endet die Schleife rechtzeitig, und die Methode liefert zwei. Die Regel lautet: Erst fragen, dann nehmen.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zum wichtigsten Muster, Falle P2. Der Held will wissen, wie viel Heilkraft alle Tränke zusammen haben. An die unteren Tränke kommt er nur, wenn er die oberen herausnimmt. Danach soll der Rucksack aber wieder genauso aussehen wie vorher. Die Lösung ist ein Hilfsstapel. In der ersten Schleife nimmst du jeden Trank heraus, addierst seine Heilkraft und legst ihn auf den Hilfsstapel. In der zweiten Schleife schichtest du alles zurück. Weil die Reihenfolge dabei zweimal umgedreht wird, ist am Ende alles wie vorher. Fehlt die zweite Schleife, liefert die Methode zwar die richtige Summe – aber der Rucksack ist leer. Genau das kostet im Abitur Punkte.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sieht das Schritt für Schritt aus. Am Anfang liegen zehn, fünfzig, zwanzig im Rucksack, der Hilfsstapel ist leer. Beim Abbauen wandert der Zehner auf den Hilfsstapel, die Summe ist zehn. Dann der Fünfziger: sechzig. Dann der Zwanziger: achtzig. Jetzt ist der Rucksack leer und auf dem Hilfsstapel liegt alles in umgekehrter Reihenfolge – der Zwanziger oben. Beim Zurückschichten kommt zuerst der Zwanziger zurück, dann der Fünfziger, dann der Zehner. Und siehe da: zehn, fünfzig, zwanzig – genau wie vorher. Bei einer Schlange geht es übrigens mit einer Hilfsschlange. Ein Hilfsstapel würde die Schlange umdrehen.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die typischen Fehler mit ihren Fallen-Nummern. P1: entnehmen, ohne vorher mit isEmpty zu fragen. P2: die Struktur abbauen und nicht zurückschichten. P4: den Cast vergessen – int x gleich s punkt pop übersetzt nicht. P5: Zeichenketten mit dem doppelten Gleichheitszeichen vergleichen statt mit equals. Und bei Mischaufgaben besonders häufig: top und head verwechselt mit pop und dequeue. Rechts der Abi-Check – und denk daran: Verwende nur die Methoden aus der Schnittstelle, also nichts wie size oder get.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zusammen. Stapel und Schlange sind abstrakte Datentypen – du arbeitest nur mit ihren Schnittstellen. Der Stapel arbeitet nach LIFO, die Schlange nach FIFO. Weil die Klassen nicht generisch sind, castest du beim Herausnehmen. Bevor du etwas entnimmst, fragst du mit isEmpty. Und wenn eine Struktur unverändert bleiben soll, schichtest du über einen Hilfsstapel beziehungsweise eine Hilfsschlange zurück.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ab ins Lab! In Level vier Punkt eins übst du Befehlsfolgen und Mischaufgaben mit Stapel und Schlange, in Level vier Punkt drei, der Inventur, das Muster unverändert lassen. Auf den Arbeitsblättern findest du alles zum Nachlesen. Und wenn du in der Online-IDE programmierst: Schalte die Bibliothek Niedersachsen ein – wie das geht, zeigt Video zwei. Im nächsten Video geht es in den Wald: zu Binärbäumen und Suchbäumen. Bis dahin – gute Fahrt im Hafen!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6</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Stapel und Schlange</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Schnittstellen nach EH §4, Casts und Laufzeitfehler vermeiden</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2E75B6"/>
                </a:solidFill>
                <a:latin typeface="Calibri"/>
              </a:rPr>
              <a:t>Welt 4 · Der Hafen</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Stapel und Schlange im Abitur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Geben Sie</a:t>
            </a:r>
            <a:r>
              <a:rPr sz="2400" b="0" i="0">
                <a:solidFill>
                  <a:srgbClr val="1F2A37"/>
                </a:solidFill>
                <a:latin typeface="Calibri"/>
              </a:rPr>
              <a:t> den Inhalt von Stapel und Schlange nach Ausführung der Anweisungen </a:t>
            </a:r>
            <a:r>
              <a:rPr sz="2400" b="1" i="0">
                <a:solidFill>
                  <a:srgbClr val="1F2A37"/>
                </a:solidFill>
                <a:latin typeface="Calibri"/>
              </a:rPr>
              <a:t>an</a:t>
            </a:r>
            <a:r>
              <a:rPr sz="2400" b="0" i="0">
                <a:solidFill>
                  <a:srgbClr val="1F2A37"/>
                </a:solidFill>
                <a:latin typeface="Calibri"/>
              </a:rPr>
              <a: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Implementieren Sie</a:t>
            </a:r>
            <a:r>
              <a:rPr sz="2400" b="0" i="0">
                <a:solidFill>
                  <a:srgbClr val="1F2A37"/>
                </a:solidFill>
                <a:latin typeface="Calibri"/>
              </a:rPr>
              <a:t> die Methode … Nach dem Aufruf muss der Stapel </a:t>
            </a:r>
            <a:r>
              <a:rPr sz="2400" b="1" i="0">
                <a:solidFill>
                  <a:srgbClr val="1F2A37"/>
                </a:solidFill>
                <a:latin typeface="Calibri"/>
              </a:rPr>
              <a:t>unverändert</a:t>
            </a:r>
            <a:r>
              <a:rPr sz="2400" b="0" i="0">
                <a:solidFill>
                  <a:srgbClr val="1F2A37"/>
                </a:solidFill>
                <a:latin typeface="Calibri"/>
              </a:rPr>
              <a:t> sein.“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Die Schnittstellen stehen in den Ergänzenden Hinweisen: </a:t>
            </a:r>
            <a:r>
              <a:rPr sz="2400" b="1" i="0">
                <a:solidFill>
                  <a:srgbClr val="1F2A37"/>
                </a:solidFill>
                <a:latin typeface="Calibri"/>
              </a:rPr>
              <a:t>EH §4</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Laufzeitfehler müssen </a:t>
            </a:r>
            <a:r>
              <a:rPr sz="2400" b="1" i="0">
                <a:solidFill>
                  <a:srgbClr val="1F2A37"/>
                </a:solidFill>
                <a:latin typeface="Calibri"/>
              </a:rPr>
              <a:t>ausgeschlossen</a:t>
            </a:r>
            <a:r>
              <a:rPr sz="2400" b="0" i="0">
                <a:solidFill>
                  <a:srgbClr val="1F2A37"/>
                </a:solidFill>
                <a:latin typeface="Calibri"/>
              </a:rPr>
              <a:t> werden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1800" b="1" i="0">
                <a:solidFill>
                  <a:srgbClr val="B8860B"/>
                </a:solidFill>
                <a:latin typeface="Calibri"/>
              </a:rPr>
              <a:t>Heute</a:t>
            </a:r>
            <a:r>
              <a:rPr sz="1600" b="0" i="0">
                <a:solidFill>
                  <a:srgbClr val="1F2A37"/>
                </a:solidFill>
                <a:latin typeface="Calibri"/>
              </a:rPr>
              <a:t/>
            </a:r>
          </a:p>
          <a:p>
            <a:pPr>
              <a:spcAft>
                <a:spcPts val="600"/>
              </a:spcAft>
            </a:pPr>
            <a:r>
              <a:rPr sz="1600" b="0" i="0">
                <a:solidFill>
                  <a:srgbClr val="1F2A37"/>
                </a:solidFill>
                <a:latin typeface="Calibri"/>
              </a:rPr>
              <a:t>Abstrakter Datentyp</a:t>
            </a:r>
            <a:r>
              <a:rPr sz="1600" b="0" i="0">
                <a:solidFill>
                  <a:srgbClr val="1F2A37"/>
                </a:solidFill>
                <a:latin typeface="Calibri"/>
              </a:rPr>
              <a:t/>
            </a:r>
          </a:p>
          <a:p>
            <a:pPr>
              <a:spcAft>
                <a:spcPts val="600"/>
              </a:spcAft>
            </a:pPr>
            <a:r>
              <a:rPr sz="1600" b="0" i="0">
                <a:solidFill>
                  <a:srgbClr val="1F2A37"/>
                </a:solidFill>
                <a:latin typeface="Calibri"/>
              </a:rPr>
              <a:t>Schnittstellen, LIFO und FIFO</a:t>
            </a:r>
            <a:r>
              <a:rPr sz="1600" b="0" i="0">
                <a:solidFill>
                  <a:srgbClr val="1F2A37"/>
                </a:solidFill>
                <a:latin typeface="Calibri"/>
              </a:rPr>
              <a:t/>
            </a:r>
          </a:p>
          <a:p>
            <a:pPr>
              <a:spcAft>
                <a:spcPts val="600"/>
              </a:spcAft>
            </a:pPr>
            <a:r>
              <a:rPr sz="1600" b="0" i="0">
                <a:solidFill>
                  <a:srgbClr val="1F2A37"/>
                </a:solidFill>
                <a:latin typeface="Calibri"/>
              </a:rPr>
              <a:t>Casten (P4)</a:t>
            </a:r>
            <a:r>
              <a:rPr sz="1600" b="0" i="0">
                <a:solidFill>
                  <a:srgbClr val="1F2A37"/>
                </a:solidFill>
                <a:latin typeface="Calibri"/>
              </a:rPr>
              <a:t/>
            </a:r>
          </a:p>
          <a:p>
            <a:pPr>
              <a:spcAft>
                <a:spcPts val="600"/>
              </a:spcAft>
            </a:pPr>
            <a:r>
              <a:rPr sz="1600" b="0" i="0">
                <a:solidFill>
                  <a:srgbClr val="1F2A37"/>
                </a:solidFill>
                <a:latin typeface="Calibri"/>
              </a:rPr>
              <a:t>Mischaufgabe</a:t>
            </a:r>
            <a:r>
              <a:rPr sz="1600" b="0" i="0">
                <a:solidFill>
                  <a:srgbClr val="1F2A37"/>
                </a:solidFill>
                <a:latin typeface="Calibri"/>
              </a:rPr>
              <a:t/>
            </a:r>
          </a:p>
          <a:p>
            <a:pPr>
              <a:spcAft>
                <a:spcPts val="600"/>
              </a:spcAft>
            </a:pPr>
            <a:r>
              <a:rPr sz="1600" b="0" i="0">
                <a:solidFill>
                  <a:srgbClr val="1F2A37"/>
                </a:solidFill>
                <a:latin typeface="Calibri"/>
              </a:rPr>
              <a:t>Leer? Erst fragen (P1)</a:t>
            </a:r>
            <a:r>
              <a:rPr sz="1600" b="0" i="0">
                <a:solidFill>
                  <a:srgbClr val="1F2A37"/>
                </a:solidFill>
                <a:latin typeface="Calibri"/>
              </a:rPr>
              <a:t/>
            </a:r>
          </a:p>
          <a:p>
            <a:pPr>
              <a:spcAft>
                <a:spcPts val="600"/>
              </a:spcAft>
            </a:pPr>
            <a:r>
              <a:rPr sz="1600" b="0" i="0">
                <a:solidFill>
                  <a:srgbClr val="1F2A37"/>
                </a:solidFill>
                <a:latin typeface="Calibri"/>
              </a:rPr>
              <a:t>Unverändert lassen (P2)</a:t>
            </a:r>
            <a:r>
              <a:rPr sz="16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Abstrakter Datentyp: Man sieht nur die Schnittstelle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Ein </a:t>
            </a:r>
            <a:r>
              <a:rPr sz="2400" b="1" i="0">
                <a:solidFill>
                  <a:srgbClr val="1F2A37"/>
                </a:solidFill>
                <a:latin typeface="Calibri"/>
              </a:rPr>
              <a:t>abstrakter Datentyp (ADT)</a:t>
            </a:r>
            <a:r>
              <a:rPr sz="2400" b="0" i="0">
                <a:solidFill>
                  <a:srgbClr val="1F2A37"/>
                </a:solidFill>
                <a:latin typeface="Calibri"/>
              </a:rPr>
              <a:t> wird nur durch seine </a:t>
            </a:r>
            <a:r>
              <a:rPr sz="2400" b="1" i="0">
                <a:solidFill>
                  <a:srgbClr val="1F2A37"/>
                </a:solidFill>
                <a:latin typeface="Calibri"/>
              </a:rPr>
              <a:t>Operationen</a:t>
            </a:r>
            <a:r>
              <a:rPr sz="2400" b="0" i="0">
                <a:solidFill>
                  <a:srgbClr val="1F2A37"/>
                </a:solidFill>
                <a:latin typeface="Calibri"/>
              </a:rPr>
              <a:t> beschrieben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Wie er innen gebaut ist, bleibt </a:t>
            </a:r>
            <a:r>
              <a:rPr sz="2400" b="1" i="0">
                <a:solidFill>
                  <a:srgbClr val="1F2A37"/>
                </a:solidFill>
                <a:latin typeface="Calibri"/>
              </a:rPr>
              <a:t>verborgen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An die Daten kommst du </a:t>
            </a:r>
            <a:r>
              <a:rPr sz="2400" b="1" i="0">
                <a:solidFill>
                  <a:srgbClr val="1F2A37"/>
                </a:solidFill>
                <a:latin typeface="Calibri"/>
              </a:rPr>
              <a:t>nur über die Schnittstelle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Kein Zugriff „in die Mitte“ – kein Index, kein Durchzählen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Vergleich</a:t>
            </a:r>
            <a:r>
              <a:rPr sz="2000" b="0" i="0">
                <a:solidFill>
                  <a:srgbClr val="1F2A37"/>
                </a:solidFill>
                <a:latin typeface="Calibri"/>
              </a:rPr>
              <a:t/>
            </a:r>
          </a:p>
          <a:p>
            <a:pPr>
              <a:spcAft>
                <a:spcPts val="600"/>
              </a:spcAft>
            </a:pPr>
            <a:r>
              <a:rPr sz="2000" b="0" i="0">
                <a:solidFill>
                  <a:srgbClr val="1F2A37"/>
                </a:solidFill>
                <a:latin typeface="Calibri"/>
              </a:rPr>
              <a:t>Ein Getränkeautomat: Du kennst die Knöpfe, nicht das Innenleben.</a:t>
            </a:r>
            <a:r>
              <a:rPr sz="2000" b="0" i="0">
                <a:solidFill>
                  <a:srgbClr val="1F2A37"/>
                </a:solidFill>
                <a:latin typeface="Calibri"/>
              </a:rPr>
              <a:t/>
            </a:r>
          </a:p>
          <a:p>
            <a:pPr>
              <a:spcAft>
                <a:spcPts val="600"/>
              </a:spcAft>
            </a:pPr>
            <a:r>
              <a:rPr sz="2000" b="0" i="0">
                <a:solidFill>
                  <a:srgbClr val="1F2A37"/>
                </a:solidFill>
                <a:latin typeface="Calibri"/>
              </a:rPr>
              <a:t>Genauso: </a:t>
            </a:r>
            <a:r>
              <a:rPr sz="1900" b="0" i="0">
                <a:solidFill>
                  <a:srgbClr val="1F4E79"/>
                </a:solidFill>
                <a:latin typeface="Consolas"/>
              </a:rPr>
              <a:t>push</a:t>
            </a:r>
            <a:r>
              <a:rPr sz="2000" b="0" i="0">
                <a:solidFill>
                  <a:srgbClr val="1F2A37"/>
                </a:solidFill>
                <a:latin typeface="Calibri"/>
              </a:rPr>
              <a:t>, </a:t>
            </a:r>
            <a:r>
              <a:rPr sz="1900" b="0" i="0">
                <a:solidFill>
                  <a:srgbClr val="1F4E79"/>
                </a:solidFill>
                <a:latin typeface="Consolas"/>
              </a:rPr>
              <a:t>pop</a:t>
            </a:r>
            <a:r>
              <a:rPr sz="2000" b="0" i="0">
                <a:solidFill>
                  <a:srgbClr val="1F2A37"/>
                </a:solidFill>
                <a:latin typeface="Calibri"/>
              </a:rPr>
              <a:t>, </a:t>
            </a:r>
            <a:r>
              <a:rPr sz="1900" b="0" i="0">
                <a:solidFill>
                  <a:srgbClr val="1F4E79"/>
                </a:solidFill>
                <a:latin typeface="Consolas"/>
              </a:rPr>
              <a:t>top</a:t>
            </a:r>
            <a:r>
              <a:rPr sz="2000" b="0" i="0">
                <a:solidFill>
                  <a:srgbClr val="1F2A37"/>
                </a:solidFill>
                <a:latin typeface="Calibri"/>
              </a:rPr>
              <a:t>, </a:t>
            </a:r>
            <a:r>
              <a:rPr sz="1900" b="0" i="0">
                <a:solidFill>
                  <a:srgbClr val="1F4E79"/>
                </a:solidFill>
                <a:latin typeface="Consolas"/>
              </a:rPr>
              <a:t>isEmpty</a:t>
            </a:r>
            <a:r>
              <a:rPr sz="2000" b="0" i="0">
                <a:solidFill>
                  <a:srgbClr val="1F2A37"/>
                </a:solidFill>
                <a:latin typeface="Calibri"/>
              </a:rPr>
              <a:t> – mehr gibt es nicht.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LIFO und FIFO</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apel_rucksack.png"/>
          <p:cNvPicPr>
            <a:picLocks noChangeAspect="1"/>
          </p:cNvPicPr>
          <p:nvPr/>
        </p:nvPicPr>
        <p:blipFill>
          <a:blip r:embed="rId2"/>
          <a:stretch>
            <a:fillRect/>
          </a:stretch>
        </p:blipFill>
        <p:spPr>
          <a:xfrm>
            <a:off x="548640" y="1417320"/>
            <a:ext cx="2651760" cy="4483885"/>
          </a:xfrm>
          <a:prstGeom prst="rect">
            <a:avLst/>
          </a:prstGeom>
        </p:spPr>
      </p:pic>
      <p:pic>
        <p:nvPicPr>
          <p:cNvPr id="6" name="Picture 5" descr="schlange_tresen.png"/>
          <p:cNvPicPr>
            <a:picLocks noChangeAspect="1"/>
          </p:cNvPicPr>
          <p:nvPr/>
        </p:nvPicPr>
        <p:blipFill>
          <a:blip r:embed="rId3"/>
          <a:stretch>
            <a:fillRect/>
          </a:stretch>
        </p:blipFill>
        <p:spPr>
          <a:xfrm>
            <a:off x="3474720" y="1325880"/>
            <a:ext cx="8168335" cy="1503512"/>
          </a:xfrm>
          <a:prstGeom prst="rect">
            <a:avLst/>
          </a:prstGeom>
        </p:spPr>
      </p:pic>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Schnittstellen nach EH §4</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949439" cy="2606034"/>
        </p:xfrm>
        <a:graphic>
          <a:graphicData uri="http://schemas.openxmlformats.org/drawingml/2006/table">
            <a:tbl>
              <a:tblPr firstRow="1" bandRow="1">
                <a:tableStyleId>{5C22544A-7EE6-4342-B048-85BDC9FD1C3A}</a:tableStyleId>
              </a:tblPr>
              <a:tblGrid>
                <a:gridCol w="1828799"/>
                <a:gridCol w="2438400"/>
                <a:gridCol w="2682240"/>
              </a:tblGrid>
              <a:tr h="434339">
                <a:tc>
                  <a:txBody>
                    <a:bodyPr/>
                    <a:lstStyle/>
                    <a:p>
                      <a:pPr algn="ctr"/>
                      <a:r>
                        <a:rPr sz="1800" b="1">
                          <a:solidFill>
                            <a:srgbClr val="FFFFFF"/>
                          </a:solidFill>
                          <a:latin typeface="Calibri"/>
                        </a:rPr>
                        <a:t/>
                      </a:r>
                    </a:p>
                  </a:txBody>
                  <a:tcPr marL="54864" marR="54864" marT="18288" marB="18288" anchor="ctr">
                    <a:solidFill>
                      <a:srgbClr val="1F4E79"/>
                    </a:solidFill>
                  </a:tcPr>
                </a:tc>
                <a:tc>
                  <a:txBody>
                    <a:bodyPr/>
                    <a:lstStyle/>
                    <a:p>
                      <a:pPr algn="ctr"/>
                      <a:r>
                        <a:rPr sz="1800" b="1">
                          <a:solidFill>
                            <a:srgbClr val="FFFFFF"/>
                          </a:solidFill>
                          <a:latin typeface="Calibri"/>
                        </a:rPr>
                        <a:t>Stapel – Stack</a:t>
                      </a:r>
                    </a:p>
                  </a:txBody>
                  <a:tcPr marL="54864" marR="54864" marT="18288" marB="18288" anchor="ctr">
                    <a:solidFill>
                      <a:srgbClr val="1F4E79"/>
                    </a:solidFill>
                  </a:tcPr>
                </a:tc>
                <a:tc>
                  <a:txBody>
                    <a:bodyPr/>
                    <a:lstStyle/>
                    <a:p>
                      <a:pPr algn="ctr"/>
                      <a:r>
                        <a:rPr sz="1800" b="1">
                          <a:solidFill>
                            <a:srgbClr val="FFFFFF"/>
                          </a:solidFill>
                          <a:latin typeface="Calibri"/>
                        </a:rPr>
                        <a:t>Schlange – Queue</a:t>
                      </a:r>
                    </a:p>
                  </a:txBody>
                  <a:tcPr marL="54864" marR="54864" marT="18288" marB="18288" anchor="ctr">
                    <a:solidFill>
                      <a:srgbClr val="1F4E79"/>
                    </a:solidFill>
                  </a:tcPr>
                </a:tc>
              </a:tr>
              <a:tr h="434339">
                <a:tc>
                  <a:txBody>
                    <a:bodyPr/>
                    <a:lstStyle/>
                    <a:p>
                      <a:pPr algn="ctr"/>
                      <a:r>
                        <a:rPr sz="1800" b="0">
                          <a:solidFill>
                            <a:srgbClr val="1F2A37"/>
                          </a:solidFill>
                          <a:latin typeface="Consolas"/>
                        </a:rPr>
                        <a:t>erzeugen</a:t>
                      </a:r>
                    </a:p>
                  </a:txBody>
                  <a:tcPr marL="54864" marR="54864" marT="18288" marB="18288" anchor="ctr">
                    <a:solidFill>
                      <a:srgbClr val="FFFFFF"/>
                    </a:solidFill>
                  </a:tcPr>
                </a:tc>
                <a:tc>
                  <a:txBody>
                    <a:bodyPr/>
                    <a:lstStyle/>
                    <a:p>
                      <a:pPr algn="ctr"/>
                      <a:r>
                        <a:rPr sz="1800" b="0">
                          <a:solidFill>
                            <a:srgbClr val="1F2A37"/>
                          </a:solidFill>
                          <a:latin typeface="Consolas"/>
                        </a:rPr>
                        <a:t>new Stack()</a:t>
                      </a:r>
                    </a:p>
                  </a:txBody>
                  <a:tcPr marL="54864" marR="54864" marT="18288" marB="18288" anchor="ctr">
                    <a:solidFill>
                      <a:srgbClr val="FFFFFF"/>
                    </a:solidFill>
                  </a:tcPr>
                </a:tc>
                <a:tc>
                  <a:txBody>
                    <a:bodyPr/>
                    <a:lstStyle/>
                    <a:p>
                      <a:pPr algn="ctr"/>
                      <a:r>
                        <a:rPr sz="1800" b="0">
                          <a:solidFill>
                            <a:srgbClr val="1F2A37"/>
                          </a:solidFill>
                          <a:latin typeface="Consolas"/>
                        </a:rPr>
                        <a:t>new Queue()</a:t>
                      </a:r>
                    </a:p>
                  </a:txBody>
                  <a:tcPr marL="54864" marR="54864" marT="18288" marB="18288" anchor="ctr">
                    <a:solidFill>
                      <a:srgbClr val="FFFFFF"/>
                    </a:solidFill>
                  </a:tcPr>
                </a:tc>
              </a:tr>
              <a:tr h="434339">
                <a:tc>
                  <a:txBody>
                    <a:bodyPr/>
                    <a:lstStyle/>
                    <a:p>
                      <a:pPr algn="ctr"/>
                      <a:r>
                        <a:rPr sz="1800" b="0">
                          <a:solidFill>
                            <a:srgbClr val="1F2A37"/>
                          </a:solidFill>
                          <a:latin typeface="Consolas"/>
                        </a:rPr>
                        <a:t>leer?</a:t>
                      </a:r>
                    </a:p>
                  </a:txBody>
                  <a:tcPr marL="54864" marR="54864" marT="18288" marB="18288" anchor="ctr">
                    <a:solidFill>
                      <a:srgbClr val="EEF3FA"/>
                    </a:solidFill>
                  </a:tcPr>
                </a:tc>
                <a:tc>
                  <a:txBody>
                    <a:bodyPr/>
                    <a:lstStyle/>
                    <a:p>
                      <a:pPr algn="ctr"/>
                      <a:r>
                        <a:rPr sz="1800" b="0">
                          <a:solidFill>
                            <a:srgbClr val="1F2A37"/>
                          </a:solidFill>
                          <a:latin typeface="Consolas"/>
                        </a:rPr>
                        <a:t>isEmpty()</a:t>
                      </a:r>
                    </a:p>
                  </a:txBody>
                  <a:tcPr marL="54864" marR="54864" marT="18288" marB="18288" anchor="ctr">
                    <a:solidFill>
                      <a:srgbClr val="EEF3FA"/>
                    </a:solidFill>
                  </a:tcPr>
                </a:tc>
                <a:tc>
                  <a:txBody>
                    <a:bodyPr/>
                    <a:lstStyle/>
                    <a:p>
                      <a:pPr algn="ctr"/>
                      <a:r>
                        <a:rPr sz="1800" b="0">
                          <a:solidFill>
                            <a:srgbClr val="1F2A37"/>
                          </a:solidFill>
                          <a:latin typeface="Consolas"/>
                        </a:rPr>
                        <a:t>isEmpty()</a:t>
                      </a:r>
                    </a:p>
                  </a:txBody>
                  <a:tcPr marL="54864" marR="54864" marT="18288" marB="18288" anchor="ctr">
                    <a:solidFill>
                      <a:srgbClr val="EEF3FA"/>
                    </a:solidFill>
                  </a:tcPr>
                </a:tc>
              </a:tr>
              <a:tr h="434339">
                <a:tc>
                  <a:txBody>
                    <a:bodyPr/>
                    <a:lstStyle/>
                    <a:p>
                      <a:pPr algn="ctr"/>
                      <a:r>
                        <a:rPr sz="1800" b="0">
                          <a:solidFill>
                            <a:srgbClr val="1F2A37"/>
                          </a:solidFill>
                          <a:latin typeface="Consolas"/>
                        </a:rPr>
                        <a:t>hinein</a:t>
                      </a:r>
                    </a:p>
                  </a:txBody>
                  <a:tcPr marL="54864" marR="54864" marT="18288" marB="18288" anchor="ctr">
                    <a:solidFill>
                      <a:srgbClr val="FFFFFF"/>
                    </a:solidFill>
                  </a:tcPr>
                </a:tc>
                <a:tc>
                  <a:txBody>
                    <a:bodyPr/>
                    <a:lstStyle/>
                    <a:p>
                      <a:pPr algn="ctr"/>
                      <a:r>
                        <a:rPr sz="1800" b="0">
                          <a:solidFill>
                            <a:srgbClr val="1F2A37"/>
                          </a:solidFill>
                          <a:latin typeface="Consolas"/>
                        </a:rPr>
                        <a:t>push(x)   oben</a:t>
                      </a:r>
                    </a:p>
                  </a:txBody>
                  <a:tcPr marL="54864" marR="54864" marT="18288" marB="18288" anchor="ctr">
                    <a:solidFill>
                      <a:srgbClr val="FFFFFF"/>
                    </a:solidFill>
                  </a:tcPr>
                </a:tc>
                <a:tc>
                  <a:txBody>
                    <a:bodyPr/>
                    <a:lstStyle/>
                    <a:p>
                      <a:pPr algn="ctr"/>
                      <a:r>
                        <a:rPr sz="1800" b="0">
                          <a:solidFill>
                            <a:srgbClr val="1F2A37"/>
                          </a:solidFill>
                          <a:latin typeface="Consolas"/>
                        </a:rPr>
                        <a:t>enqueue(x)   hinten</a:t>
                      </a:r>
                    </a:p>
                  </a:txBody>
                  <a:tcPr marL="54864" marR="54864" marT="18288" marB="18288" anchor="ctr">
                    <a:solidFill>
                      <a:srgbClr val="FFFFFF"/>
                    </a:solidFill>
                  </a:tcPr>
                </a:tc>
              </a:tr>
              <a:tr h="434339">
                <a:tc>
                  <a:txBody>
                    <a:bodyPr/>
                    <a:lstStyle/>
                    <a:p>
                      <a:pPr algn="ctr"/>
                      <a:r>
                        <a:rPr sz="1800" b="1">
                          <a:solidFill>
                            <a:srgbClr val="C00000"/>
                          </a:solidFill>
                          <a:latin typeface="Consolas"/>
                        </a:rPr>
                        <a:t>ansehen</a:t>
                      </a:r>
                    </a:p>
                  </a:txBody>
                  <a:tcPr marL="54864" marR="54864" marT="18288" marB="18288" anchor="ctr">
                    <a:solidFill>
                      <a:srgbClr val="EEF3FA"/>
                    </a:solidFill>
                  </a:tcPr>
                </a:tc>
                <a:tc>
                  <a:txBody>
                    <a:bodyPr/>
                    <a:lstStyle/>
                    <a:p>
                      <a:pPr algn="ctr"/>
                      <a:r>
                        <a:rPr sz="1800" b="1">
                          <a:solidFill>
                            <a:srgbClr val="C00000"/>
                          </a:solidFill>
                          <a:latin typeface="Consolas"/>
                        </a:rPr>
                        <a:t>top()</a:t>
                      </a:r>
                    </a:p>
                  </a:txBody>
                  <a:tcPr marL="54864" marR="54864" marT="18288" marB="18288" anchor="ctr">
                    <a:solidFill>
                      <a:srgbClr val="EEF3FA"/>
                    </a:solidFill>
                  </a:tcPr>
                </a:tc>
                <a:tc>
                  <a:txBody>
                    <a:bodyPr/>
                    <a:lstStyle/>
                    <a:p>
                      <a:pPr algn="ctr"/>
                      <a:r>
                        <a:rPr sz="1800" b="1">
                          <a:solidFill>
                            <a:srgbClr val="C00000"/>
                          </a:solidFill>
                          <a:latin typeface="Consolas"/>
                        </a:rPr>
                        <a:t>head()</a:t>
                      </a:r>
                    </a:p>
                  </a:txBody>
                  <a:tcPr marL="54864" marR="54864" marT="18288" marB="18288" anchor="ctr">
                    <a:solidFill>
                      <a:srgbClr val="EEF3FA"/>
                    </a:solidFill>
                  </a:tcPr>
                </a:tc>
              </a:tr>
              <a:tr h="434339">
                <a:tc>
                  <a:txBody>
                    <a:bodyPr/>
                    <a:lstStyle/>
                    <a:p>
                      <a:pPr algn="ctr"/>
                      <a:r>
                        <a:rPr sz="1800" b="1">
                          <a:solidFill>
                            <a:srgbClr val="C00000"/>
                          </a:solidFill>
                          <a:latin typeface="Consolas"/>
                        </a:rPr>
                        <a:t>herausnehmen</a:t>
                      </a:r>
                    </a:p>
                  </a:txBody>
                  <a:tcPr marL="54864" marR="54864" marT="18288" marB="18288" anchor="ctr">
                    <a:solidFill>
                      <a:srgbClr val="FFFFFF"/>
                    </a:solidFill>
                  </a:tcPr>
                </a:tc>
                <a:tc>
                  <a:txBody>
                    <a:bodyPr/>
                    <a:lstStyle/>
                    <a:p>
                      <a:pPr algn="ctr"/>
                      <a:r>
                        <a:rPr sz="1800" b="1">
                          <a:solidFill>
                            <a:srgbClr val="C00000"/>
                          </a:solidFill>
                          <a:latin typeface="Consolas"/>
                        </a:rPr>
                        <a:t>pop()</a:t>
                      </a:r>
                    </a:p>
                  </a:txBody>
                  <a:tcPr marL="54864" marR="54864" marT="18288" marB="18288" anchor="ctr">
                    <a:solidFill>
                      <a:srgbClr val="FFFFFF"/>
                    </a:solidFill>
                  </a:tcPr>
                </a:tc>
                <a:tc>
                  <a:txBody>
                    <a:bodyPr/>
                    <a:lstStyle/>
                    <a:p>
                      <a:pPr algn="ctr"/>
                      <a:r>
                        <a:rPr sz="1800" b="1">
                          <a:solidFill>
                            <a:srgbClr val="C00000"/>
                          </a:solidFill>
                          <a:latin typeface="Consolas"/>
                        </a:rPr>
                        <a:t>dequeue()</a:t>
                      </a:r>
                    </a:p>
                  </a:txBody>
                  <a:tcPr marL="54864" marR="54864" marT="18288" marB="18288" anchor="ctr">
                    <a:solidFill>
                      <a:srgbClr val="FFFFFF"/>
                    </a:solidFill>
                  </a:tcPr>
                </a:tc>
              </a:tr>
            </a:tbl>
          </a:graphicData>
        </a:graphic>
      </p:graphicFrame>
      <p:sp>
        <p:nvSpPr>
          <p:cNvPr id="6" name="Rounded Rectangle 5"/>
          <p:cNvSpPr/>
          <p:nvPr/>
        </p:nvSpPr>
        <p:spPr>
          <a:xfrm>
            <a:off x="7772400" y="1325880"/>
            <a:ext cx="387065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463039"/>
            <a:ext cx="350489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Achtung</a:t>
            </a:r>
            <a:r>
              <a:rPr sz="2000" b="0" i="0">
                <a:solidFill>
                  <a:srgbClr val="1F2A37"/>
                </a:solidFill>
                <a:latin typeface="Calibri"/>
              </a:rPr>
              <a:t/>
            </a:r>
          </a:p>
          <a:p>
            <a:pPr>
              <a:spcAft>
                <a:spcPts val="600"/>
              </a:spcAft>
            </a:pPr>
            <a:r>
              <a:rPr sz="2000" b="0" i="0">
                <a:solidFill>
                  <a:srgbClr val="1F2A37"/>
                </a:solidFill>
                <a:latin typeface="Calibri"/>
              </a:rPr>
              <a:t>Rot: auf leerer Struktur → </a:t>
            </a:r>
            <a:r>
              <a:rPr sz="2000" b="1" i="0">
                <a:solidFill>
                  <a:srgbClr val="1F2A37"/>
                </a:solidFill>
                <a:latin typeface="Calibri"/>
              </a:rPr>
              <a:t>Laufzeitfehler</a:t>
            </a:r>
            <a:r>
              <a:rPr sz="2000" b="0" i="0">
                <a:solidFill>
                  <a:srgbClr val="1F2A37"/>
                </a:solidFill>
                <a:latin typeface="Calibri"/>
              </a:rPr>
              <a:t/>
            </a:r>
          </a:p>
          <a:p>
            <a:pPr>
              <a:spcAft>
                <a:spcPts val="600"/>
              </a:spcAft>
            </a:pPr>
            <a:r>
              <a:rPr sz="1900" b="0" i="0">
                <a:solidFill>
                  <a:srgbClr val="1F4E79"/>
                </a:solidFill>
                <a:latin typeface="Consolas"/>
              </a:rPr>
              <a:t>top</a:t>
            </a:r>
            <a:r>
              <a:rPr sz="2000" b="0" i="0">
                <a:solidFill>
                  <a:srgbClr val="1F2A37"/>
                </a:solidFill>
                <a:latin typeface="Calibri"/>
              </a:rPr>
              <a:t>/</a:t>
            </a:r>
            <a:r>
              <a:rPr sz="1900" b="0" i="0">
                <a:solidFill>
                  <a:srgbClr val="1F4E79"/>
                </a:solidFill>
                <a:latin typeface="Consolas"/>
              </a:rPr>
              <a:t>head</a:t>
            </a:r>
            <a:r>
              <a:rPr sz="2000" b="0" i="0">
                <a:solidFill>
                  <a:srgbClr val="1F2A37"/>
                </a:solidFill>
                <a:latin typeface="Calibri"/>
              </a:rPr>
              <a:t> sehen nur nach, </a:t>
            </a:r>
            <a:r>
              <a:rPr sz="1900" b="0" i="0">
                <a:solidFill>
                  <a:srgbClr val="1F4E79"/>
                </a:solidFill>
                <a:latin typeface="Consolas"/>
              </a:rPr>
              <a:t>pop</a:t>
            </a:r>
            <a:r>
              <a:rPr sz="2000" b="0" i="0">
                <a:solidFill>
                  <a:srgbClr val="1F2A37"/>
                </a:solidFill>
                <a:latin typeface="Calibri"/>
              </a:rPr>
              <a:t>/</a:t>
            </a:r>
            <a:r>
              <a:rPr sz="1900" b="0" i="0">
                <a:solidFill>
                  <a:srgbClr val="1F4E79"/>
                </a:solidFill>
                <a:latin typeface="Consolas"/>
              </a:rPr>
              <a:t>dequeue</a:t>
            </a:r>
            <a:r>
              <a:rPr sz="2000" b="0" i="0">
                <a:solidFill>
                  <a:srgbClr val="1F2A37"/>
                </a:solidFill>
                <a:latin typeface="Calibri"/>
              </a:rPr>
              <a:t> entnehmen</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Nicht generisch: Inhalte sind Object (P4)</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3648456"/>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3557016"/>
          </a:xfrm>
          <a:prstGeom prst="rect">
            <a:avLst/>
          </a:prstGeom>
          <a:noFill/>
        </p:spPr>
        <p:txBody>
          <a:bodyPr wrap="square" anchor="t" lIns="45720" rIns="45720">
            <a:spAutoFit/>
          </a:bodyPr>
          <a:lstStyle/>
          <a:p>
            <a:pPr>
              <a:lnSpc>
                <a:spcPct val="100000"/>
              </a:lnSpc>
            </a:pPr>
            <a:r>
              <a:rPr sz="1700" b="0" i="0">
                <a:solidFill>
                  <a:srgbClr val="1F2A37"/>
                </a:solidFill>
                <a:latin typeface="Consolas"/>
              </a:rPr>
              <a:t>Stack rucksack = new Stack(); </a:t>
            </a:r>
            <a:r>
              <a:rPr sz="1700" b="0" i="0">
                <a:solidFill>
                  <a:srgbClr val="5F7F5F"/>
                </a:solidFill>
                <a:latin typeface="Consolas"/>
              </a:rPr>
              <a:t> // Inhaltstyp Ganzzahl</a:t>
            </a:r>
          </a:p>
          <a:p>
            <a:pPr>
              <a:lnSpc>
                <a:spcPct val="100000"/>
              </a:lnSpc>
            </a:pPr>
            <a:r>
              <a:rPr sz="1700" b="0" i="0">
                <a:solidFill>
                  <a:srgbClr val="1F2A37"/>
                </a:solidFill>
                <a:latin typeface="Consolas"/>
              </a:rPr>
              <a:t>rucksack.push(20);</a:t>
            </a:r>
          </a:p>
          <a:p>
            <a:pPr>
              <a:lnSpc>
                <a:spcPct val="100000"/>
              </a:lnSpc>
            </a:pPr>
            <a:r>
              <a:rPr sz="1700" b="0" i="0">
                <a:solidFill>
                  <a:srgbClr val="1F2A37"/>
                </a:solidFill>
                <a:latin typeface="Consolas"/>
              </a:rPr>
              <a:t>rucksack.push(50);</a:t>
            </a:r>
          </a:p>
          <a:p>
            <a:pPr>
              <a:lnSpc>
                <a:spcPct val="100000"/>
              </a:lnSpc>
            </a:pPr>
            <a:r>
              <a:rPr sz="1700" b="0" i="0">
                <a:solidFill>
                  <a:srgbClr val="1F2A37"/>
                </a:solidFill>
                <a:latin typeface="Consolas"/>
              </a:rPr>
              <a:t>rucksack.push(10);</a:t>
            </a:r>
          </a:p>
          <a:p>
            <a:pPr>
              <a:lnSpc>
                <a:spcPct val="100000"/>
              </a:lnSpc>
            </a:pPr>
            <a:r>
              <a:rPr sz="1700" b="1" i="0">
                <a:solidFill>
                  <a:srgbClr val="C00000"/>
                </a:solidFill>
                <a:latin typeface="Consolas"/>
              </a:rPr>
              <a:t>int h = (Integer) rucksack.pop(); </a:t>
            </a:r>
            <a:r>
              <a:rPr sz="1700" b="0" i="0">
                <a:solidFill>
                  <a:srgbClr val="5F7F5F"/>
                </a:solidFill>
                <a:latin typeface="Consolas"/>
              </a:rPr>
              <a:t> // h = 10</a:t>
            </a:r>
          </a:p>
          <a:p>
            <a:pPr>
              <a:lnSpc>
                <a:spcPct val="100000"/>
              </a:lnSpc>
            </a:pPr>
            <a:r>
              <a:rPr sz="1700" b="0" i="0">
                <a:solidFill>
                  <a:srgbClr val="1F2A37"/>
                </a:solidFill>
                <a:latin typeface="Consolas"/>
              </a:rPr>
              <a:t/>
            </a:r>
          </a:p>
          <a:p>
            <a:pPr>
              <a:lnSpc>
                <a:spcPct val="100000"/>
              </a:lnSpc>
            </a:pPr>
            <a:r>
              <a:rPr sz="1700" b="0" i="0">
                <a:solidFill>
                  <a:srgbClr val="1F2A37"/>
                </a:solidFill>
                <a:latin typeface="Consolas"/>
              </a:rPr>
              <a:t>Queue tresen = new Queue(); </a:t>
            </a:r>
            <a:r>
              <a:rPr sz="1700" b="0" i="0">
                <a:solidFill>
                  <a:srgbClr val="5F7F5F"/>
                </a:solidFill>
                <a:latin typeface="Consolas"/>
              </a:rPr>
              <a:t> // Inhaltstyp Zeichenkette</a:t>
            </a:r>
          </a:p>
          <a:p>
            <a:pPr>
              <a:lnSpc>
                <a:spcPct val="100000"/>
              </a:lnSpc>
            </a:pPr>
            <a:r>
              <a:rPr sz="1700" b="0" i="0">
                <a:solidFill>
                  <a:srgbClr val="1F2A37"/>
                </a:solidFill>
                <a:latin typeface="Consolas"/>
              </a:rPr>
              <a:t>tresen.enqueue("Ork");</a:t>
            </a:r>
          </a:p>
          <a:p>
            <a:pPr>
              <a:lnSpc>
                <a:spcPct val="100000"/>
              </a:lnSpc>
            </a:pPr>
            <a:r>
              <a:rPr sz="1700" b="0" i="0">
                <a:solidFill>
                  <a:srgbClr val="1F2A37"/>
                </a:solidFill>
                <a:latin typeface="Consolas"/>
              </a:rPr>
              <a:t>tresen.enqueue("Elfe");</a:t>
            </a:r>
          </a:p>
          <a:p>
            <a:pPr>
              <a:lnSpc>
                <a:spcPct val="100000"/>
              </a:lnSpc>
            </a:pPr>
            <a:r>
              <a:rPr sz="1700" b="1" i="0">
                <a:solidFill>
                  <a:srgbClr val="C00000"/>
                </a:solidFill>
                <a:latin typeface="Consolas"/>
              </a:rPr>
              <a:t>String gast = (String) tresen.dequeue(); </a:t>
            </a:r>
            <a:r>
              <a:rPr sz="1700" b="0" i="0">
                <a:solidFill>
                  <a:srgbClr val="5F7F5F"/>
                </a:solidFill>
                <a:latin typeface="Consolas"/>
              </a:rPr>
              <a:t> // "Ork"</a:t>
            </a:r>
          </a:p>
          <a:p>
            <a:pPr>
              <a:lnSpc>
                <a:spcPct val="100000"/>
              </a:lnSpc>
            </a:pPr>
            <a:r>
              <a:rPr sz="1700" b="1" i="0">
                <a:solidFill>
                  <a:srgbClr val="C00000"/>
                </a:solidFill>
                <a:latin typeface="Consolas"/>
              </a:rPr>
              <a:t>String vorn = (String) tresen.head();    </a:t>
            </a:r>
            <a:r>
              <a:rPr sz="1700" b="0" i="0">
                <a:solidFill>
                  <a:srgbClr val="5F7F5F"/>
                </a:solidFill>
                <a:latin typeface="Consolas"/>
              </a:rPr>
              <a:t> // "Elfe"</a:t>
            </a:r>
          </a:p>
          <a:p>
            <a:pPr>
              <a:lnSpc>
                <a:spcPct val="100000"/>
              </a:lnSpc>
            </a:pPr>
            <a:r>
              <a:rPr sz="1700" b="0" i="0">
                <a:solidFill>
                  <a:srgbClr val="1F2A37"/>
                </a:solidFill>
                <a:latin typeface="Consolas"/>
              </a:rPr>
              <a:t>if (vorn.equals("Elfe")) { ... }</a:t>
            </a:r>
          </a:p>
        </p:txBody>
      </p:sp>
      <p:sp>
        <p:nvSpPr>
          <p:cNvPr id="7" name="TextBox 6"/>
          <p:cNvSpPr txBox="1"/>
          <p:nvPr/>
        </p:nvSpPr>
        <p:spPr>
          <a:xfrm>
            <a:off x="548640" y="5202936"/>
            <a:ext cx="7772400" cy="1152143"/>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Kein </a:t>
            </a:r>
            <a:r>
              <a:rPr sz="1900" b="0" i="0">
                <a:solidFill>
                  <a:srgbClr val="1F4E79"/>
                </a:solidFill>
                <a:latin typeface="Consolas"/>
              </a:rPr>
              <a:t>Stack&lt;Integer&gt;</a:t>
            </a:r>
            <a:r>
              <a:rPr sz="2000" b="0" i="0">
                <a:solidFill>
                  <a:srgbClr val="1F2A37"/>
                </a:solidFill>
                <a:latin typeface="Calibri"/>
              </a:rPr>
              <a:t>! Ohne Cast: Fehler beim Übersetzen</a:t>
            </a:r>
            <a:r>
              <a:rPr sz="2000" b="0" i="0">
                <a:solidFill>
                  <a:srgbClr val="1F2A37"/>
                </a:solidFill>
                <a:latin typeface="Calibri"/>
              </a:rPr>
              <a:t/>
            </a:r>
          </a:p>
          <a:p>
            <a:pPr>
              <a:spcAft>
                <a:spcPts val="1000"/>
              </a:spcAft>
            </a:pPr>
            <a:r>
              <a:rPr sz="2000" b="1" i="0">
                <a:solidFill>
                  <a:srgbClr val="B8860B"/>
                </a:solidFill>
                <a:latin typeface="Calibri"/>
              </a:rPr>
              <a:t>▸ </a:t>
            </a:r>
            <a:r>
              <a:rPr sz="2000" b="0" i="0">
                <a:solidFill>
                  <a:srgbClr val="1F2A37"/>
                </a:solidFill>
                <a:latin typeface="Calibri"/>
              </a:rPr>
              <a:t>Zeichenketten mit </a:t>
            </a:r>
            <a:r>
              <a:rPr sz="1900" b="0" i="0">
                <a:solidFill>
                  <a:srgbClr val="1F4E79"/>
                </a:solidFill>
                <a:latin typeface="Consolas"/>
              </a:rPr>
              <a:t>equals</a:t>
            </a:r>
            <a:r>
              <a:rPr sz="2000" b="0" i="0">
                <a:solidFill>
                  <a:srgbClr val="1F2A37"/>
                </a:solidFill>
                <a:latin typeface="Calibri"/>
              </a:rPr>
              <a:t> vergleichen (</a:t>
            </a:r>
            <a:r>
              <a:rPr sz="2000" b="1" i="0">
                <a:solidFill>
                  <a:srgbClr val="1F2A37"/>
                </a:solidFill>
                <a:latin typeface="Calibri"/>
              </a:rPr>
              <a:t>P5</a:t>
            </a:r>
            <a:r>
              <a:rPr sz="2000" b="0" i="0">
                <a:solidFill>
                  <a:srgbClr val="1F2A37"/>
                </a:solidFill>
                <a:latin typeface="Calibri"/>
              </a:rPr>
              <a: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Mischaufgabe: Stapel und Schlange zusammen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440679" cy="2106168"/>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257799" cy="2014727"/>
          </a:xfrm>
          <a:prstGeom prst="rect">
            <a:avLst/>
          </a:prstGeom>
          <a:noFill/>
        </p:spPr>
        <p:txBody>
          <a:bodyPr wrap="square" anchor="t" lIns="45720" rIns="45720">
            <a:spAutoFit/>
          </a:bodyPr>
          <a:lstStyle/>
          <a:p>
            <a:pPr>
              <a:lnSpc>
                <a:spcPct val="100000"/>
              </a:lnSpc>
            </a:pPr>
            <a:r>
              <a:rPr sz="1600" b="0" i="0">
                <a:solidFill>
                  <a:srgbClr val="1F2A37"/>
                </a:solidFill>
                <a:latin typeface="Consolas"/>
              </a:rPr>
              <a:t>// Start: q = 5 1 8 (vorne zuerst), s leer</a:t>
            </a:r>
          </a:p>
          <a:p>
            <a:pPr>
              <a:lnSpc>
                <a:spcPct val="100000"/>
              </a:lnSpc>
            </a:pPr>
            <a:r>
              <a:rPr sz="1600" b="0" i="0">
                <a:solidFill>
                  <a:srgbClr val="1F2A37"/>
                </a:solidFill>
                <a:latin typeface="Consolas"/>
              </a:rPr>
              <a:t>s.push(q.dequeue());</a:t>
            </a:r>
          </a:p>
          <a:p>
            <a:pPr>
              <a:lnSpc>
                <a:spcPct val="100000"/>
              </a:lnSpc>
            </a:pPr>
            <a:r>
              <a:rPr sz="1600" b="0" i="0">
                <a:solidFill>
                  <a:srgbClr val="1F2A37"/>
                </a:solidFill>
                <a:latin typeface="Consolas"/>
              </a:rPr>
              <a:t>s.push(q.dequeue());</a:t>
            </a:r>
          </a:p>
          <a:p>
            <a:pPr>
              <a:lnSpc>
                <a:spcPct val="100000"/>
              </a:lnSpc>
            </a:pPr>
            <a:r>
              <a:rPr sz="1600" b="0" i="0">
                <a:solidFill>
                  <a:srgbClr val="1F2A37"/>
                </a:solidFill>
                <a:latin typeface="Consolas"/>
              </a:rPr>
              <a:t>q.enqueue(s.pop());</a:t>
            </a:r>
          </a:p>
          <a:p>
            <a:pPr>
              <a:lnSpc>
                <a:spcPct val="100000"/>
              </a:lnSpc>
            </a:pPr>
            <a:r>
              <a:rPr sz="1600" b="0" i="0">
                <a:solidFill>
                  <a:srgbClr val="1F2A37"/>
                </a:solidFill>
                <a:latin typeface="Consolas"/>
              </a:rPr>
              <a:t>q.enqueue(s.top());</a:t>
            </a:r>
          </a:p>
          <a:p>
            <a:pPr>
              <a:lnSpc>
                <a:spcPct val="100000"/>
              </a:lnSpc>
            </a:pPr>
            <a:r>
              <a:rPr sz="1600" b="0" i="0">
                <a:solidFill>
                  <a:srgbClr val="1F2A37"/>
                </a:solidFill>
                <a:latin typeface="Consolas"/>
              </a:rPr>
              <a:t>int x = (Integer) q.dequeue()</a:t>
            </a:r>
          </a:p>
          <a:p>
            <a:pPr>
              <a:lnSpc>
                <a:spcPct val="100000"/>
              </a:lnSpc>
            </a:pPr>
            <a:r>
              <a:rPr sz="1600" b="0" i="0">
                <a:solidFill>
                  <a:srgbClr val="1F2A37"/>
                </a:solidFill>
                <a:latin typeface="Consolas"/>
              </a:rPr>
              <a:t>        - (Integer) s.pop();</a:t>
            </a:r>
          </a:p>
        </p:txBody>
      </p:sp>
      <p:sp>
        <p:nvSpPr>
          <p:cNvPr id="7" name="TextBox 6"/>
          <p:cNvSpPr txBox="1"/>
          <p:nvPr/>
        </p:nvSpPr>
        <p:spPr>
          <a:xfrm>
            <a:off x="548640" y="3660647"/>
            <a:ext cx="5440679" cy="2694432"/>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x = 8 − 5 = </a:t>
            </a:r>
            <a:r>
              <a:rPr sz="2000" b="1" i="0">
                <a:solidFill>
                  <a:srgbClr val="1F2A37"/>
                </a:solidFill>
                <a:latin typeface="Calibri"/>
              </a:rPr>
              <a:t>3</a:t>
            </a:r>
            <a:r>
              <a:rPr sz="2000" b="0" i="0">
                <a:solidFill>
                  <a:srgbClr val="1F2A37"/>
                </a:solidFill>
                <a:latin typeface="Calibri"/>
              </a:rPr>
              <a:t/>
            </a:r>
          </a:p>
        </p:txBody>
      </p:sp>
      <p:graphicFrame>
        <p:nvGraphicFramePr>
          <p:cNvPr id="8" name="Table 7"/>
          <p:cNvGraphicFramePr>
            <a:graphicFrameLocks noGrp="1"/>
          </p:cNvGraphicFramePr>
          <p:nvPr/>
        </p:nvGraphicFramePr>
        <p:xfrm>
          <a:off x="6263639" y="1325880"/>
          <a:ext cx="5379414" cy="2533650"/>
        </p:xfrm>
        <a:graphic>
          <a:graphicData uri="http://schemas.openxmlformats.org/drawingml/2006/table">
            <a:tbl>
              <a:tblPr firstRow="1" bandRow="1">
                <a:tableStyleId>{5C22544A-7EE6-4342-B048-85BDC9FD1C3A}</a:tableStyleId>
              </a:tblPr>
              <a:tblGrid>
                <a:gridCol w="1152731"/>
                <a:gridCol w="2177382"/>
                <a:gridCol w="2049301"/>
              </a:tblGrid>
              <a:tr h="361950">
                <a:tc>
                  <a:txBody>
                    <a:bodyPr/>
                    <a:lstStyle/>
                    <a:p>
                      <a:pPr algn="ctr"/>
                      <a:r>
                        <a:rPr sz="1500" b="1">
                          <a:solidFill>
                            <a:srgbClr val="FFFFFF"/>
                          </a:solidFill>
                          <a:latin typeface="Calibri"/>
                        </a:rPr>
                        <a:t>Nr.</a:t>
                      </a:r>
                    </a:p>
                  </a:txBody>
                  <a:tcPr marL="54864" marR="54864" marT="18288" marB="18288" anchor="ctr">
                    <a:solidFill>
                      <a:srgbClr val="1F4E79"/>
                    </a:solidFill>
                  </a:tcPr>
                </a:tc>
                <a:tc>
                  <a:txBody>
                    <a:bodyPr/>
                    <a:lstStyle/>
                    <a:p>
                      <a:pPr algn="ctr"/>
                      <a:r>
                        <a:rPr sz="1500" b="1">
                          <a:solidFill>
                            <a:srgbClr val="FFFFFF"/>
                          </a:solidFill>
                          <a:latin typeface="Calibri"/>
                        </a:rPr>
                        <a:t>q (vorne → hinten)</a:t>
                      </a:r>
                    </a:p>
                  </a:txBody>
                  <a:tcPr marL="54864" marR="54864" marT="18288" marB="18288" anchor="ctr">
                    <a:solidFill>
                      <a:srgbClr val="1F4E79"/>
                    </a:solidFill>
                  </a:tcPr>
                </a:tc>
                <a:tc>
                  <a:txBody>
                    <a:bodyPr/>
                    <a:lstStyle/>
                    <a:p>
                      <a:pPr algn="ctr"/>
                      <a:r>
                        <a:rPr sz="1500" b="1">
                          <a:solidFill>
                            <a:srgbClr val="FFFFFF"/>
                          </a:solidFill>
                          <a:latin typeface="Calibri"/>
                        </a:rPr>
                        <a:t>s (oben → unten)</a:t>
                      </a:r>
                    </a:p>
                  </a:txBody>
                  <a:tcPr marL="54864" marR="54864" marT="18288" marB="18288" anchor="ctr">
                    <a:solidFill>
                      <a:srgbClr val="1F4E79"/>
                    </a:solidFill>
                  </a:tcPr>
                </a:tc>
              </a:tr>
              <a:tr h="361950">
                <a:tc>
                  <a:txBody>
                    <a:bodyPr/>
                    <a:lstStyle/>
                    <a:p>
                      <a:pPr algn="ctr"/>
                      <a:r>
                        <a:rPr sz="1500" b="0">
                          <a:solidFill>
                            <a:srgbClr val="1F2A37"/>
                          </a:solidFill>
                          <a:latin typeface="Consolas"/>
                        </a:rPr>
                        <a:t>Start</a:t>
                      </a:r>
                    </a:p>
                  </a:txBody>
                  <a:tcPr marL="54864" marR="54864" marT="18288" marB="18288" anchor="ctr">
                    <a:solidFill>
                      <a:srgbClr val="FFFFFF"/>
                    </a:solidFill>
                  </a:tcPr>
                </a:tc>
                <a:tc>
                  <a:txBody>
                    <a:bodyPr/>
                    <a:lstStyle/>
                    <a:p>
                      <a:pPr algn="ctr"/>
                      <a:r>
                        <a:rPr sz="1500" b="0">
                          <a:solidFill>
                            <a:srgbClr val="1F2A37"/>
                          </a:solidFill>
                          <a:latin typeface="Consolas"/>
                        </a:rPr>
                        <a:t>5, 1, 8</a:t>
                      </a:r>
                    </a:p>
                  </a:txBody>
                  <a:tcPr marL="54864" marR="54864" marT="18288" marB="18288" anchor="ctr">
                    <a:solidFill>
                      <a:srgbClr val="FFFFFF"/>
                    </a:solidFill>
                  </a:tcPr>
                </a:tc>
                <a:tc>
                  <a:txBody>
                    <a:bodyPr/>
                    <a:lstStyle/>
                    <a:p>
                      <a:pPr algn="ctr"/>
                      <a:r>
                        <a:rPr sz="1500" b="0">
                          <a:solidFill>
                            <a:srgbClr val="1F2A37"/>
                          </a:solidFill>
                          <a:latin typeface="Consolas"/>
                        </a:rPr>
                        <a:t>–</a:t>
                      </a:r>
                    </a:p>
                  </a:txBody>
                  <a:tcPr marL="54864" marR="54864" marT="18288" marB="18288" anchor="ctr">
                    <a:solidFill>
                      <a:srgbClr val="FFFFFF"/>
                    </a:solidFill>
                  </a:tcPr>
                </a:tc>
              </a:tr>
              <a:tr h="361950">
                <a:tc>
                  <a:txBody>
                    <a:bodyPr/>
                    <a:lstStyle/>
                    <a:p>
                      <a:pPr algn="ctr"/>
                      <a:r>
                        <a:rPr sz="1500" b="0">
                          <a:solidFill>
                            <a:srgbClr val="1F2A37"/>
                          </a:solidFill>
                          <a:latin typeface="Consolas"/>
                        </a:rPr>
                        <a:t>1</a:t>
                      </a:r>
                    </a:p>
                  </a:txBody>
                  <a:tcPr marL="54864" marR="54864" marT="18288" marB="18288" anchor="ctr">
                    <a:solidFill>
                      <a:srgbClr val="EEF3FA"/>
                    </a:solidFill>
                  </a:tcPr>
                </a:tc>
                <a:tc>
                  <a:txBody>
                    <a:bodyPr/>
                    <a:lstStyle/>
                    <a:p>
                      <a:pPr algn="ctr"/>
                      <a:r>
                        <a:rPr sz="1500" b="0">
                          <a:solidFill>
                            <a:srgbClr val="1F2A37"/>
                          </a:solidFill>
                          <a:latin typeface="Consolas"/>
                        </a:rPr>
                        <a:t>1, 8</a:t>
                      </a:r>
                    </a:p>
                  </a:txBody>
                  <a:tcPr marL="54864" marR="54864" marT="18288" marB="18288" anchor="ctr">
                    <a:solidFill>
                      <a:srgbClr val="EEF3FA"/>
                    </a:solidFill>
                  </a:tcPr>
                </a:tc>
                <a:tc>
                  <a:txBody>
                    <a:bodyPr/>
                    <a:lstStyle/>
                    <a:p>
                      <a:pPr algn="ctr"/>
                      <a:r>
                        <a:rPr sz="1500" b="0">
                          <a:solidFill>
                            <a:srgbClr val="1F2A37"/>
                          </a:solidFill>
                          <a:latin typeface="Consolas"/>
                        </a:rPr>
                        <a:t>5</a:t>
                      </a:r>
                    </a:p>
                  </a:txBody>
                  <a:tcPr marL="54864" marR="54864" marT="18288" marB="18288" anchor="ctr">
                    <a:solidFill>
                      <a:srgbClr val="EEF3FA"/>
                    </a:solidFill>
                  </a:tcPr>
                </a:tc>
              </a:tr>
              <a:tr h="361950">
                <a:tc>
                  <a:txBody>
                    <a:bodyPr/>
                    <a:lstStyle/>
                    <a:p>
                      <a:pPr algn="ctr"/>
                      <a:r>
                        <a:rPr sz="1500" b="0">
                          <a:solidFill>
                            <a:srgbClr val="1F2A37"/>
                          </a:solidFill>
                          <a:latin typeface="Consolas"/>
                        </a:rPr>
                        <a:t>2</a:t>
                      </a:r>
                    </a:p>
                  </a:txBody>
                  <a:tcPr marL="54864" marR="54864" marT="18288" marB="18288" anchor="ctr">
                    <a:solidFill>
                      <a:srgbClr val="FFFFFF"/>
                    </a:solidFill>
                  </a:tcPr>
                </a:tc>
                <a:tc>
                  <a:txBody>
                    <a:bodyPr/>
                    <a:lstStyle/>
                    <a:p>
                      <a:pPr algn="ctr"/>
                      <a:r>
                        <a:rPr sz="1500" b="0">
                          <a:solidFill>
                            <a:srgbClr val="1F2A37"/>
                          </a:solidFill>
                          <a:latin typeface="Consolas"/>
                        </a:rPr>
                        <a:t>8</a:t>
                      </a:r>
                    </a:p>
                  </a:txBody>
                  <a:tcPr marL="54864" marR="54864" marT="18288" marB="18288" anchor="ctr">
                    <a:solidFill>
                      <a:srgbClr val="FFFFFF"/>
                    </a:solidFill>
                  </a:tcPr>
                </a:tc>
                <a:tc>
                  <a:txBody>
                    <a:bodyPr/>
                    <a:lstStyle/>
                    <a:p>
                      <a:pPr algn="ctr"/>
                      <a:r>
                        <a:rPr sz="1500" b="0">
                          <a:solidFill>
                            <a:srgbClr val="1F2A37"/>
                          </a:solidFill>
                          <a:latin typeface="Consolas"/>
                        </a:rPr>
                        <a:t>1, 5</a:t>
                      </a:r>
                    </a:p>
                  </a:txBody>
                  <a:tcPr marL="54864" marR="54864" marT="18288" marB="18288" anchor="ctr">
                    <a:solidFill>
                      <a:srgbClr val="FFFFFF"/>
                    </a:solidFill>
                  </a:tcPr>
                </a:tc>
              </a:tr>
              <a:tr h="361950">
                <a:tc>
                  <a:txBody>
                    <a:bodyPr/>
                    <a:lstStyle/>
                    <a:p>
                      <a:pPr algn="ctr"/>
                      <a:r>
                        <a:rPr sz="1500" b="0">
                          <a:solidFill>
                            <a:srgbClr val="1F2A37"/>
                          </a:solidFill>
                          <a:latin typeface="Consolas"/>
                        </a:rPr>
                        <a:t>3</a:t>
                      </a:r>
                    </a:p>
                  </a:txBody>
                  <a:tcPr marL="54864" marR="54864" marT="18288" marB="18288" anchor="ctr">
                    <a:solidFill>
                      <a:srgbClr val="EEF3FA"/>
                    </a:solidFill>
                  </a:tcPr>
                </a:tc>
                <a:tc>
                  <a:txBody>
                    <a:bodyPr/>
                    <a:lstStyle/>
                    <a:p>
                      <a:pPr algn="ctr"/>
                      <a:r>
                        <a:rPr sz="1500" b="0">
                          <a:solidFill>
                            <a:srgbClr val="1F2A37"/>
                          </a:solidFill>
                          <a:latin typeface="Consolas"/>
                        </a:rPr>
                        <a:t>8, 1</a:t>
                      </a:r>
                    </a:p>
                  </a:txBody>
                  <a:tcPr marL="54864" marR="54864" marT="18288" marB="18288" anchor="ctr">
                    <a:solidFill>
                      <a:srgbClr val="EEF3FA"/>
                    </a:solidFill>
                  </a:tcPr>
                </a:tc>
                <a:tc>
                  <a:txBody>
                    <a:bodyPr/>
                    <a:lstStyle/>
                    <a:p>
                      <a:pPr algn="ctr"/>
                      <a:r>
                        <a:rPr sz="1500" b="0">
                          <a:solidFill>
                            <a:srgbClr val="1F2A37"/>
                          </a:solidFill>
                          <a:latin typeface="Consolas"/>
                        </a:rPr>
                        <a:t>5</a:t>
                      </a:r>
                    </a:p>
                  </a:txBody>
                  <a:tcPr marL="54864" marR="54864" marT="18288" marB="18288" anchor="ctr">
                    <a:solidFill>
                      <a:srgbClr val="EEF3FA"/>
                    </a:solidFill>
                  </a:tcPr>
                </a:tc>
              </a:tr>
              <a:tr h="361950">
                <a:tc>
                  <a:txBody>
                    <a:bodyPr/>
                    <a:lstStyle/>
                    <a:p>
                      <a:pPr algn="ctr"/>
                      <a:r>
                        <a:rPr sz="1500" b="0">
                          <a:solidFill>
                            <a:srgbClr val="1F2A37"/>
                          </a:solidFill>
                          <a:latin typeface="Consolas"/>
                        </a:rPr>
                        <a:t>4</a:t>
                      </a:r>
                    </a:p>
                  </a:txBody>
                  <a:tcPr marL="54864" marR="54864" marT="18288" marB="18288" anchor="ctr">
                    <a:solidFill>
                      <a:srgbClr val="FFFFFF"/>
                    </a:solidFill>
                  </a:tcPr>
                </a:tc>
                <a:tc>
                  <a:txBody>
                    <a:bodyPr/>
                    <a:lstStyle/>
                    <a:p>
                      <a:pPr algn="ctr"/>
                      <a:r>
                        <a:rPr sz="1500" b="0">
                          <a:solidFill>
                            <a:srgbClr val="1F2A37"/>
                          </a:solidFill>
                          <a:latin typeface="Consolas"/>
                        </a:rPr>
                        <a:t>8, 1, 5</a:t>
                      </a:r>
                    </a:p>
                  </a:txBody>
                  <a:tcPr marL="54864" marR="54864" marT="18288" marB="18288" anchor="ctr">
                    <a:solidFill>
                      <a:srgbClr val="FFFFFF"/>
                    </a:solidFill>
                  </a:tcPr>
                </a:tc>
                <a:tc>
                  <a:txBody>
                    <a:bodyPr/>
                    <a:lstStyle/>
                    <a:p>
                      <a:pPr algn="ctr"/>
                      <a:r>
                        <a:rPr sz="1500" b="0">
                          <a:solidFill>
                            <a:srgbClr val="1F2A37"/>
                          </a:solidFill>
                          <a:latin typeface="Consolas"/>
                        </a:rPr>
                        <a:t>5</a:t>
                      </a:r>
                    </a:p>
                  </a:txBody>
                  <a:tcPr marL="54864" marR="54864" marT="18288" marB="18288" anchor="ctr">
                    <a:solidFill>
                      <a:srgbClr val="FFFFFF"/>
                    </a:solidFill>
                  </a:tcPr>
                </a:tc>
              </a:tr>
              <a:tr h="361950">
                <a:tc>
                  <a:txBody>
                    <a:bodyPr/>
                    <a:lstStyle/>
                    <a:p>
                      <a:pPr algn="ctr"/>
                      <a:r>
                        <a:rPr sz="1500" b="0">
                          <a:solidFill>
                            <a:srgbClr val="1F2A37"/>
                          </a:solidFill>
                          <a:latin typeface="Consolas"/>
                        </a:rPr>
                        <a:t>5</a:t>
                      </a:r>
                    </a:p>
                  </a:txBody>
                  <a:tcPr marL="54864" marR="54864" marT="18288" marB="18288" anchor="ctr">
                    <a:solidFill>
                      <a:srgbClr val="EEF3FA"/>
                    </a:solidFill>
                  </a:tcPr>
                </a:tc>
                <a:tc>
                  <a:txBody>
                    <a:bodyPr/>
                    <a:lstStyle/>
                    <a:p>
                      <a:pPr algn="ctr"/>
                      <a:r>
                        <a:rPr sz="1500" b="0">
                          <a:solidFill>
                            <a:srgbClr val="1F2A37"/>
                          </a:solidFill>
                          <a:latin typeface="Consolas"/>
                        </a:rPr>
                        <a:t>1, 5</a:t>
                      </a:r>
                    </a:p>
                  </a:txBody>
                  <a:tcPr marL="54864" marR="54864" marT="18288" marB="18288" anchor="ctr">
                    <a:solidFill>
                      <a:srgbClr val="EEF3FA"/>
                    </a:solidFill>
                  </a:tcPr>
                </a:tc>
                <a:tc>
                  <a:txBody>
                    <a:bodyPr/>
                    <a:lstStyle/>
                    <a:p>
                      <a:pPr algn="ctr"/>
                      <a:r>
                        <a:rPr sz="1500" b="0">
                          <a:solidFill>
                            <a:srgbClr val="1F2A37"/>
                          </a:solidFill>
                          <a:latin typeface="Consolas"/>
                        </a:rPr>
                        <a:t>–</a:t>
                      </a:r>
                    </a:p>
                  </a:txBody>
                  <a:tcPr marL="54864" marR="54864" marT="18288" marB="18288" anchor="ctr">
                    <a:solidFill>
                      <a:srgbClr val="EEF3FA"/>
                    </a:solidFill>
                  </a:tcPr>
                </a:tc>
              </a:tr>
            </a:tbl>
          </a:graphicData>
        </a:graphic>
      </p:graphicFrame>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675120" cy="1161288"/>
          </a:xfrm>
          <a:prstGeom prst="rect">
            <a:avLst/>
          </a:prstGeom>
          <a:noFill/>
        </p:spPr>
        <p:txBody>
          <a:bodyPr wrap="square" anchor="t" lIns="45720" rIns="45720">
            <a:spAutoFit/>
          </a:bodyPr>
          <a:lstStyle/>
          <a:p>
            <a:r>
              <a:rPr sz="2400" b="0" i="0">
                <a:solidFill>
                  <a:srgbClr val="1F2A37"/>
                </a:solidFill>
                <a:latin typeface="Calibri"/>
              </a:rPr>
              <a:t>Gib nach </a:t>
            </a:r>
            <a:r>
              <a:rPr sz="2400" b="1" i="0">
                <a:solidFill>
                  <a:srgbClr val="1F2A37"/>
                </a:solidFill>
                <a:latin typeface="Calibri"/>
              </a:rPr>
              <a:t>jeder</a:t>
            </a:r>
            <a:r>
              <a:rPr sz="2400" b="0" i="0">
                <a:solidFill>
                  <a:srgbClr val="1F2A37"/>
                </a:solidFill>
                <a:latin typeface="Calibri"/>
              </a:rPr>
              <a:t> Zeile den Inhalt von </a:t>
            </a:r>
            <a:r>
              <a:rPr sz="2300" b="0" i="0">
                <a:solidFill>
                  <a:srgbClr val="1F4E79"/>
                </a:solidFill>
                <a:latin typeface="Consolas"/>
              </a:rPr>
              <a:t>q</a:t>
            </a:r>
            <a:r>
              <a:rPr sz="2400" b="0" i="0">
                <a:solidFill>
                  <a:srgbClr val="1F2A37"/>
                </a:solidFill>
                <a:latin typeface="Calibri"/>
              </a:rPr>
              <a:t> (vorne zuerst) und </a:t>
            </a:r>
            <a:r>
              <a:rPr sz="2300" b="0" i="0">
                <a:solidFill>
                  <a:srgbClr val="1F4E79"/>
                </a:solidFill>
                <a:latin typeface="Consolas"/>
              </a:rPr>
              <a:t>s</a:t>
            </a:r>
            <a:r>
              <a:rPr sz="2400" b="0" i="0">
                <a:solidFill>
                  <a:srgbClr val="1F2A37"/>
                </a:solidFill>
                <a:latin typeface="Calibri"/>
              </a:rPr>
              <a:t> (oben zuerst) an. Welchen Wert hat </a:t>
            </a:r>
            <a:r>
              <a:rPr sz="2300" b="0" i="0">
                <a:solidFill>
                  <a:srgbClr val="1F4E79"/>
                </a:solidFill>
                <a:latin typeface="Consolas"/>
              </a:rPr>
              <a:t>y</a:t>
            </a:r>
            <a:r>
              <a:rPr sz="2400" b="0" i="0">
                <a:solidFill>
                  <a:srgbClr val="1F2A37"/>
                </a:solidFill>
                <a:latin typeface="Calibri"/>
              </a:rPr>
              <a:t>?</a:t>
            </a:r>
          </a:p>
        </p:txBody>
      </p:sp>
      <p:sp>
        <p:nvSpPr>
          <p:cNvPr id="7" name="Rectangle 6"/>
          <p:cNvSpPr/>
          <p:nvPr/>
        </p:nvSpPr>
        <p:spPr>
          <a:xfrm>
            <a:off x="548640" y="3538728"/>
            <a:ext cx="6675120" cy="2340864"/>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11880"/>
            <a:ext cx="6492240" cy="2249424"/>
          </a:xfrm>
          <a:prstGeom prst="rect">
            <a:avLst/>
          </a:prstGeom>
          <a:noFill/>
        </p:spPr>
        <p:txBody>
          <a:bodyPr wrap="square" anchor="t" lIns="45720" rIns="45720">
            <a:spAutoFit/>
          </a:bodyPr>
          <a:lstStyle/>
          <a:p>
            <a:pPr>
              <a:lnSpc>
                <a:spcPct val="100000"/>
              </a:lnSpc>
            </a:pPr>
            <a:r>
              <a:rPr sz="1800" b="0" i="0">
                <a:solidFill>
                  <a:srgbClr val="1F2A37"/>
                </a:solidFill>
                <a:latin typeface="Consolas"/>
              </a:rPr>
              <a:t>// Start: s = 2 9 4 (oben zuerst), q leer</a:t>
            </a:r>
          </a:p>
          <a:p>
            <a:pPr>
              <a:lnSpc>
                <a:spcPct val="100000"/>
              </a:lnSpc>
            </a:pPr>
            <a:r>
              <a:rPr sz="1800" b="0" i="0">
                <a:solidFill>
                  <a:srgbClr val="1F2A37"/>
                </a:solidFill>
                <a:latin typeface="Consolas"/>
              </a:rPr>
              <a:t>q.enqueue(s.pop());</a:t>
            </a:r>
          </a:p>
          <a:p>
            <a:pPr>
              <a:lnSpc>
                <a:spcPct val="100000"/>
              </a:lnSpc>
            </a:pPr>
            <a:r>
              <a:rPr sz="1800" b="0" i="0">
                <a:solidFill>
                  <a:srgbClr val="1F2A37"/>
                </a:solidFill>
                <a:latin typeface="Consolas"/>
              </a:rPr>
              <a:t>q.enqueue(s.pop());</a:t>
            </a:r>
          </a:p>
          <a:p>
            <a:pPr>
              <a:lnSpc>
                <a:spcPct val="100000"/>
              </a:lnSpc>
            </a:pPr>
            <a:r>
              <a:rPr sz="1800" b="0" i="0">
                <a:solidFill>
                  <a:srgbClr val="1F2A37"/>
                </a:solidFill>
                <a:latin typeface="Consolas"/>
              </a:rPr>
              <a:t>s.push(q.dequeue());</a:t>
            </a:r>
          </a:p>
          <a:p>
            <a:pPr>
              <a:lnSpc>
                <a:spcPct val="100000"/>
              </a:lnSpc>
            </a:pPr>
            <a:r>
              <a:rPr sz="1800" b="0" i="0">
                <a:solidFill>
                  <a:srgbClr val="1F2A37"/>
                </a:solidFill>
                <a:latin typeface="Consolas"/>
              </a:rPr>
              <a:t>q.enqueue(s.top());</a:t>
            </a:r>
          </a:p>
          <a:p>
            <a:pPr>
              <a:lnSpc>
                <a:spcPct val="100000"/>
              </a:lnSpc>
            </a:pPr>
            <a:r>
              <a:rPr sz="1800" b="0" i="0">
                <a:solidFill>
                  <a:srgbClr val="1F2A37"/>
                </a:solidFill>
                <a:latin typeface="Consolas"/>
              </a:rPr>
              <a:t>int y = (Integer) s.pop()</a:t>
            </a:r>
          </a:p>
          <a:p>
            <a:pPr>
              <a:lnSpc>
                <a:spcPct val="100000"/>
              </a:lnSpc>
            </a:pPr>
            <a:r>
              <a:rPr sz="1800" b="0" i="0">
                <a:solidFill>
                  <a:srgbClr val="1F2A37"/>
                </a:solidFill>
                <a:latin typeface="Consolas"/>
              </a:rPr>
              <a:t>        + (Integer) q.head();</a:t>
            </a:r>
          </a:p>
        </p:txBody>
      </p:sp>
      <p:sp>
        <p:nvSpPr>
          <p:cNvPr id="9" name="Rounded Rectangle 8"/>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Tipp</a:t>
            </a:r>
            <a:r>
              <a:rPr sz="2000" b="0" i="0">
                <a:solidFill>
                  <a:srgbClr val="1F2A37"/>
                </a:solidFill>
                <a:latin typeface="Calibri"/>
              </a:rPr>
              <a:t/>
            </a:r>
          </a:p>
          <a:p>
            <a:pPr>
              <a:spcAft>
                <a:spcPts val="600"/>
              </a:spcAft>
            </a:pPr>
            <a:r>
              <a:rPr sz="1900" b="0" i="0">
                <a:solidFill>
                  <a:srgbClr val="1F4E79"/>
                </a:solidFill>
                <a:latin typeface="Consolas"/>
              </a:rPr>
              <a:t>top</a:t>
            </a:r>
            <a:r>
              <a:rPr sz="2000" b="0" i="0">
                <a:solidFill>
                  <a:srgbClr val="1F2A37"/>
                </a:solidFill>
                <a:latin typeface="Calibri"/>
              </a:rPr>
              <a:t> und </a:t>
            </a:r>
            <a:r>
              <a:rPr sz="1900" b="0" i="0">
                <a:solidFill>
                  <a:srgbClr val="1F4E79"/>
                </a:solidFill>
                <a:latin typeface="Consolas"/>
              </a:rPr>
              <a:t>head</a:t>
            </a:r>
            <a:r>
              <a:rPr sz="2000" b="0" i="0">
                <a:solidFill>
                  <a:srgbClr val="1F2A37"/>
                </a:solidFill>
                <a:latin typeface="Calibri"/>
              </a:rPr>
              <a:t> entnehmen </a:t>
            </a:r>
            <a:r>
              <a:rPr sz="2000" b="1" i="0">
                <a:solidFill>
                  <a:srgbClr val="1F2A37"/>
                </a:solidFill>
                <a:latin typeface="Calibri"/>
              </a:rPr>
              <a:t>nicht</a:t>
            </a:r>
            <a:r>
              <a:rPr sz="2000" b="0" i="0">
                <a:solidFill>
                  <a:srgbClr val="1F2A37"/>
                </a:solidFill>
                <a:latin typeface="Calibri"/>
              </a:rPr>
              <a:t>.</a:t>
            </a:r>
            <a:r>
              <a:rPr sz="2000" b="0" i="0">
                <a:solidFill>
                  <a:srgbClr val="1F2A37"/>
                </a:solidFill>
                <a:latin typeface="Calibri"/>
              </a:rPr>
              <a:t/>
            </a:r>
          </a:p>
          <a:p>
            <a:pPr>
              <a:spcAft>
                <a:spcPts val="600"/>
              </a:spcAft>
            </a:pPr>
            <a:r>
              <a:rPr sz="2000" b="0" i="0">
                <a:solidFill>
                  <a:srgbClr val="1F2A37"/>
                </a:solidFill>
                <a:latin typeface="Calibri"/>
              </a:rPr>
              <a:t>Stapel von oben, Schlange von vorne lesen.</a:t>
            </a:r>
            <a:r>
              <a:rPr sz="2000" b="0" i="0">
                <a:solidFill>
                  <a:srgbClr val="1F2A37"/>
                </a:solidFill>
                <a:latin typeface="Calibri"/>
              </a:rPr>
              <a:t/>
            </a:r>
          </a:p>
        </p:txBody>
      </p:sp>
      <p:sp>
        <p:nvSpPr>
          <p:cNvPr id="11" name="TextBox 10"/>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7680958" cy="2702560"/>
        </p:xfrm>
        <a:graphic>
          <a:graphicData uri="http://schemas.openxmlformats.org/drawingml/2006/table">
            <a:tbl>
              <a:tblPr firstRow="1" bandRow="1">
                <a:tableStyleId>{5C22544A-7EE6-4342-B048-85BDC9FD1C3A}</a:tableStyleId>
              </a:tblPr>
              <a:tblGrid>
                <a:gridCol w="931025"/>
                <a:gridCol w="3374967"/>
                <a:gridCol w="1745672"/>
                <a:gridCol w="1629294"/>
              </a:tblGrid>
              <a:tr h="386080">
                <a:tc>
                  <a:txBody>
                    <a:bodyPr/>
                    <a:lstStyle/>
                    <a:p>
                      <a:pPr algn="ctr"/>
                      <a:r>
                        <a:rPr sz="1600" b="1">
                          <a:solidFill>
                            <a:srgbClr val="FFFFFF"/>
                          </a:solidFill>
                          <a:latin typeface="Calibri"/>
                        </a:rPr>
                        <a:t>Nr.</a:t>
                      </a:r>
                    </a:p>
                  </a:txBody>
                  <a:tcPr marL="54864" marR="54864" marT="18288" marB="18288" anchor="ctr">
                    <a:solidFill>
                      <a:srgbClr val="1F4E79"/>
                    </a:solidFill>
                  </a:tcPr>
                </a:tc>
                <a:tc>
                  <a:txBody>
                    <a:bodyPr/>
                    <a:lstStyle/>
                    <a:p>
                      <a:pPr algn="ctr"/>
                      <a:r>
                        <a:rPr sz="1600" b="1">
                          <a:solidFill>
                            <a:srgbClr val="FFFFFF"/>
                          </a:solidFill>
                          <a:latin typeface="Calibri"/>
                        </a:rPr>
                        <a:t>Anweisung</a:t>
                      </a:r>
                    </a:p>
                  </a:txBody>
                  <a:tcPr marL="54864" marR="54864" marT="18288" marB="18288" anchor="ctr">
                    <a:solidFill>
                      <a:srgbClr val="1F4E79"/>
                    </a:solidFill>
                  </a:tcPr>
                </a:tc>
                <a:tc>
                  <a:txBody>
                    <a:bodyPr/>
                    <a:lstStyle/>
                    <a:p>
                      <a:pPr algn="ctr"/>
                      <a:r>
                        <a:rPr sz="1600" b="1">
                          <a:solidFill>
                            <a:srgbClr val="FFFFFF"/>
                          </a:solidFill>
                          <a:latin typeface="Calibri"/>
                        </a:rPr>
                        <a:t>q (vorne → hinten)</a:t>
                      </a:r>
                    </a:p>
                  </a:txBody>
                  <a:tcPr marL="54864" marR="54864" marT="18288" marB="18288" anchor="ctr">
                    <a:solidFill>
                      <a:srgbClr val="1F4E79"/>
                    </a:solidFill>
                  </a:tcPr>
                </a:tc>
                <a:tc>
                  <a:txBody>
                    <a:bodyPr/>
                    <a:lstStyle/>
                    <a:p>
                      <a:pPr algn="ctr"/>
                      <a:r>
                        <a:rPr sz="1600" b="1">
                          <a:solidFill>
                            <a:srgbClr val="FFFFFF"/>
                          </a:solidFill>
                          <a:latin typeface="Calibri"/>
                        </a:rPr>
                        <a:t>s (oben → unten)</a:t>
                      </a:r>
                    </a:p>
                  </a:txBody>
                  <a:tcPr marL="54864" marR="54864" marT="18288" marB="18288" anchor="ctr">
                    <a:solidFill>
                      <a:srgbClr val="1F4E79"/>
                    </a:solidFill>
                  </a:tcPr>
                </a:tc>
              </a:tr>
              <a:tr h="386080">
                <a:tc>
                  <a:txBody>
                    <a:bodyPr/>
                    <a:lstStyle/>
                    <a:p>
                      <a:pPr algn="ctr"/>
                      <a:r>
                        <a:rPr sz="1600" b="0">
                          <a:solidFill>
                            <a:srgbClr val="1F2A37"/>
                          </a:solidFill>
                          <a:latin typeface="Consolas"/>
                        </a:rPr>
                        <a:t>Start</a:t>
                      </a:r>
                    </a:p>
                  </a:txBody>
                  <a:tcPr marL="54864" marR="54864" marT="18288" marB="18288" anchor="ctr">
                    <a:solidFill>
                      <a:srgbClr val="FFFFFF"/>
                    </a:solidFill>
                  </a:tcPr>
                </a:tc>
                <a:tc>
                  <a:txBody>
                    <a:bodyPr/>
                    <a:lstStyle/>
                    <a:p>
                      <a:pPr algn="ctr"/>
                      <a:r>
                        <a:rPr sz="1600" b="0">
                          <a:solidFill>
                            <a:srgbClr val="1F2A37"/>
                          </a:solidFill>
                          <a:latin typeface="Consolas"/>
                        </a:rPr>
                        <a:t/>
                      </a:r>
                    </a:p>
                  </a:txBody>
                  <a:tcPr marL="54864" marR="54864" marT="18288" marB="18288" anchor="ctr">
                    <a:solidFill>
                      <a:srgbClr val="FFFFFF"/>
                    </a:solidFill>
                  </a:tcPr>
                </a:tc>
                <a:tc>
                  <a:txBody>
                    <a:bodyPr/>
                    <a:lstStyle/>
                    <a:p>
                      <a:pPr algn="ctr"/>
                      <a:r>
                        <a:rPr sz="1600" b="0">
                          <a:solidFill>
                            <a:srgbClr val="1F2A37"/>
                          </a:solidFill>
                          <a:latin typeface="Consolas"/>
                        </a:rPr>
                        <a:t>–</a:t>
                      </a:r>
                    </a:p>
                  </a:txBody>
                  <a:tcPr marL="54864" marR="54864" marT="18288" marB="18288" anchor="ctr">
                    <a:solidFill>
                      <a:srgbClr val="FFFFFF"/>
                    </a:solidFill>
                  </a:tcPr>
                </a:tc>
                <a:tc>
                  <a:txBody>
                    <a:bodyPr/>
                    <a:lstStyle/>
                    <a:p>
                      <a:pPr algn="ctr"/>
                      <a:r>
                        <a:rPr sz="1600" b="0">
                          <a:solidFill>
                            <a:srgbClr val="1F2A37"/>
                          </a:solidFill>
                          <a:latin typeface="Consolas"/>
                        </a:rPr>
                        <a:t>2, 9, 4</a:t>
                      </a:r>
                    </a:p>
                  </a:txBody>
                  <a:tcPr marL="54864" marR="54864" marT="18288" marB="18288" anchor="ctr">
                    <a:solidFill>
                      <a:srgbClr val="FFFFFF"/>
                    </a:solidFill>
                  </a:tcPr>
                </a:tc>
              </a:tr>
              <a:tr h="386080">
                <a:tc>
                  <a:txBody>
                    <a:bodyPr/>
                    <a:lstStyle/>
                    <a:p>
                      <a:pPr algn="ctr"/>
                      <a:r>
                        <a:rPr sz="1600" b="0">
                          <a:solidFill>
                            <a:srgbClr val="1F2A37"/>
                          </a:solidFill>
                          <a:latin typeface="Consolas"/>
                        </a:rPr>
                        <a:t>1</a:t>
                      </a:r>
                    </a:p>
                  </a:txBody>
                  <a:tcPr marL="54864" marR="54864" marT="18288" marB="18288" anchor="ctr">
                    <a:solidFill>
                      <a:srgbClr val="EEF3FA"/>
                    </a:solidFill>
                  </a:tcPr>
                </a:tc>
                <a:tc>
                  <a:txBody>
                    <a:bodyPr/>
                    <a:lstStyle/>
                    <a:p>
                      <a:pPr algn="ctr"/>
                      <a:r>
                        <a:rPr sz="1600" b="0">
                          <a:solidFill>
                            <a:srgbClr val="1F2A37"/>
                          </a:solidFill>
                          <a:latin typeface="Consolas"/>
                        </a:rPr>
                        <a:t>q.enqueue(s.pop())</a:t>
                      </a:r>
                    </a:p>
                  </a:txBody>
                  <a:tcPr marL="54864" marR="54864" marT="18288" marB="18288" anchor="ctr">
                    <a:solidFill>
                      <a:srgbClr val="EEF3FA"/>
                    </a:solidFill>
                  </a:tcPr>
                </a:tc>
                <a:tc>
                  <a:txBody>
                    <a:bodyPr/>
                    <a:lstStyle/>
                    <a:p>
                      <a:pPr algn="ctr"/>
                      <a:r>
                        <a:rPr sz="1600" b="0">
                          <a:solidFill>
                            <a:srgbClr val="1F2A37"/>
                          </a:solidFill>
                          <a:latin typeface="Consolas"/>
                        </a:rPr>
                        <a:t>2</a:t>
                      </a:r>
                    </a:p>
                  </a:txBody>
                  <a:tcPr marL="54864" marR="54864" marT="18288" marB="18288" anchor="ctr">
                    <a:solidFill>
                      <a:srgbClr val="EEF3FA"/>
                    </a:solidFill>
                  </a:tcPr>
                </a:tc>
                <a:tc>
                  <a:txBody>
                    <a:bodyPr/>
                    <a:lstStyle/>
                    <a:p>
                      <a:pPr algn="ctr"/>
                      <a:r>
                        <a:rPr sz="1600" b="0">
                          <a:solidFill>
                            <a:srgbClr val="1F2A37"/>
                          </a:solidFill>
                          <a:latin typeface="Consolas"/>
                        </a:rPr>
                        <a:t>9, 4</a:t>
                      </a:r>
                    </a:p>
                  </a:txBody>
                  <a:tcPr marL="54864" marR="54864" marT="18288" marB="18288" anchor="ctr">
                    <a:solidFill>
                      <a:srgbClr val="EEF3FA"/>
                    </a:solidFill>
                  </a:tcPr>
                </a:tc>
              </a:tr>
              <a:tr h="386080">
                <a:tc>
                  <a:txBody>
                    <a:bodyPr/>
                    <a:lstStyle/>
                    <a:p>
                      <a:pPr algn="ctr"/>
                      <a:r>
                        <a:rPr sz="1600" b="0">
                          <a:solidFill>
                            <a:srgbClr val="1F2A37"/>
                          </a:solidFill>
                          <a:latin typeface="Consolas"/>
                        </a:rPr>
                        <a:t>2</a:t>
                      </a:r>
                    </a:p>
                  </a:txBody>
                  <a:tcPr marL="54864" marR="54864" marT="18288" marB="18288" anchor="ctr">
                    <a:solidFill>
                      <a:srgbClr val="FFFFFF"/>
                    </a:solidFill>
                  </a:tcPr>
                </a:tc>
                <a:tc>
                  <a:txBody>
                    <a:bodyPr/>
                    <a:lstStyle/>
                    <a:p>
                      <a:pPr algn="ctr"/>
                      <a:r>
                        <a:rPr sz="1600" b="0">
                          <a:solidFill>
                            <a:srgbClr val="1F2A37"/>
                          </a:solidFill>
                          <a:latin typeface="Consolas"/>
                        </a:rPr>
                        <a:t>q.enqueue(s.pop())</a:t>
                      </a:r>
                    </a:p>
                  </a:txBody>
                  <a:tcPr marL="54864" marR="54864" marT="18288" marB="18288" anchor="ctr">
                    <a:solidFill>
                      <a:srgbClr val="FFFFFF"/>
                    </a:solidFill>
                  </a:tcPr>
                </a:tc>
                <a:tc>
                  <a:txBody>
                    <a:bodyPr/>
                    <a:lstStyle/>
                    <a:p>
                      <a:pPr algn="ctr"/>
                      <a:r>
                        <a:rPr sz="1600" b="0">
                          <a:solidFill>
                            <a:srgbClr val="1F2A37"/>
                          </a:solidFill>
                          <a:latin typeface="Consolas"/>
                        </a:rPr>
                        <a:t>2, 9</a:t>
                      </a:r>
                    </a:p>
                  </a:txBody>
                  <a:tcPr marL="54864" marR="54864" marT="18288" marB="18288" anchor="ctr">
                    <a:solidFill>
                      <a:srgbClr val="FFFFFF"/>
                    </a:solidFill>
                  </a:tcPr>
                </a:tc>
                <a:tc>
                  <a:txBody>
                    <a:bodyPr/>
                    <a:lstStyle/>
                    <a:p>
                      <a:pPr algn="ctr"/>
                      <a:r>
                        <a:rPr sz="1600" b="0">
                          <a:solidFill>
                            <a:srgbClr val="1F2A37"/>
                          </a:solidFill>
                          <a:latin typeface="Consolas"/>
                        </a:rPr>
                        <a:t>4</a:t>
                      </a:r>
                    </a:p>
                  </a:txBody>
                  <a:tcPr marL="54864" marR="54864" marT="18288" marB="18288" anchor="ctr">
                    <a:solidFill>
                      <a:srgbClr val="FFFFFF"/>
                    </a:solidFill>
                  </a:tcPr>
                </a:tc>
              </a:tr>
              <a:tr h="386080">
                <a:tc>
                  <a:txBody>
                    <a:bodyPr/>
                    <a:lstStyle/>
                    <a:p>
                      <a:pPr algn="ctr"/>
                      <a:r>
                        <a:rPr sz="1600" b="0">
                          <a:solidFill>
                            <a:srgbClr val="1F2A37"/>
                          </a:solidFill>
                          <a:latin typeface="Consolas"/>
                        </a:rPr>
                        <a:t>3</a:t>
                      </a:r>
                    </a:p>
                  </a:txBody>
                  <a:tcPr marL="54864" marR="54864" marT="18288" marB="18288" anchor="ctr">
                    <a:solidFill>
                      <a:srgbClr val="EEF3FA"/>
                    </a:solidFill>
                  </a:tcPr>
                </a:tc>
                <a:tc>
                  <a:txBody>
                    <a:bodyPr/>
                    <a:lstStyle/>
                    <a:p>
                      <a:pPr algn="ctr"/>
                      <a:r>
                        <a:rPr sz="1600" b="0">
                          <a:solidFill>
                            <a:srgbClr val="1F2A37"/>
                          </a:solidFill>
                          <a:latin typeface="Consolas"/>
                        </a:rPr>
                        <a:t>s.push(q.dequeue())</a:t>
                      </a:r>
                    </a:p>
                  </a:txBody>
                  <a:tcPr marL="54864" marR="54864" marT="18288" marB="18288" anchor="ctr">
                    <a:solidFill>
                      <a:srgbClr val="EEF3FA"/>
                    </a:solidFill>
                  </a:tcPr>
                </a:tc>
                <a:tc>
                  <a:txBody>
                    <a:bodyPr/>
                    <a:lstStyle/>
                    <a:p>
                      <a:pPr algn="ctr"/>
                      <a:r>
                        <a:rPr sz="1600" b="0">
                          <a:solidFill>
                            <a:srgbClr val="1F2A37"/>
                          </a:solidFill>
                          <a:latin typeface="Consolas"/>
                        </a:rPr>
                        <a:t>9</a:t>
                      </a:r>
                    </a:p>
                  </a:txBody>
                  <a:tcPr marL="54864" marR="54864" marT="18288" marB="18288" anchor="ctr">
                    <a:solidFill>
                      <a:srgbClr val="EEF3FA"/>
                    </a:solidFill>
                  </a:tcPr>
                </a:tc>
                <a:tc>
                  <a:txBody>
                    <a:bodyPr/>
                    <a:lstStyle/>
                    <a:p>
                      <a:pPr algn="ctr"/>
                      <a:r>
                        <a:rPr sz="1600" b="0">
                          <a:solidFill>
                            <a:srgbClr val="1F2A37"/>
                          </a:solidFill>
                          <a:latin typeface="Consolas"/>
                        </a:rPr>
                        <a:t>2, 4</a:t>
                      </a:r>
                    </a:p>
                  </a:txBody>
                  <a:tcPr marL="54864" marR="54864" marT="18288" marB="18288" anchor="ctr">
                    <a:solidFill>
                      <a:srgbClr val="EEF3FA"/>
                    </a:solidFill>
                  </a:tcPr>
                </a:tc>
              </a:tr>
              <a:tr h="386080">
                <a:tc>
                  <a:txBody>
                    <a:bodyPr/>
                    <a:lstStyle/>
                    <a:p>
                      <a:pPr algn="ctr"/>
                      <a:r>
                        <a:rPr sz="1600" b="0">
                          <a:solidFill>
                            <a:srgbClr val="1F2A37"/>
                          </a:solidFill>
                          <a:latin typeface="Consolas"/>
                        </a:rPr>
                        <a:t>4</a:t>
                      </a:r>
                    </a:p>
                  </a:txBody>
                  <a:tcPr marL="54864" marR="54864" marT="18288" marB="18288" anchor="ctr">
                    <a:solidFill>
                      <a:srgbClr val="FFFFFF"/>
                    </a:solidFill>
                  </a:tcPr>
                </a:tc>
                <a:tc>
                  <a:txBody>
                    <a:bodyPr/>
                    <a:lstStyle/>
                    <a:p>
                      <a:pPr algn="ctr"/>
                      <a:r>
                        <a:rPr sz="1600" b="0">
                          <a:solidFill>
                            <a:srgbClr val="1F2A37"/>
                          </a:solidFill>
                          <a:latin typeface="Consolas"/>
                        </a:rPr>
                        <a:t>q.enqueue(s.top())</a:t>
                      </a:r>
                    </a:p>
                  </a:txBody>
                  <a:tcPr marL="54864" marR="54864" marT="18288" marB="18288" anchor="ctr">
                    <a:solidFill>
                      <a:srgbClr val="FFFFFF"/>
                    </a:solidFill>
                  </a:tcPr>
                </a:tc>
                <a:tc>
                  <a:txBody>
                    <a:bodyPr/>
                    <a:lstStyle/>
                    <a:p>
                      <a:pPr algn="ctr"/>
                      <a:r>
                        <a:rPr sz="1600" b="0">
                          <a:solidFill>
                            <a:srgbClr val="1F2A37"/>
                          </a:solidFill>
                          <a:latin typeface="Consolas"/>
                        </a:rPr>
                        <a:t>9, 2</a:t>
                      </a:r>
                    </a:p>
                  </a:txBody>
                  <a:tcPr marL="54864" marR="54864" marT="18288" marB="18288" anchor="ctr">
                    <a:solidFill>
                      <a:srgbClr val="FFFFFF"/>
                    </a:solidFill>
                  </a:tcPr>
                </a:tc>
                <a:tc>
                  <a:txBody>
                    <a:bodyPr/>
                    <a:lstStyle/>
                    <a:p>
                      <a:pPr algn="ctr"/>
                      <a:r>
                        <a:rPr sz="1600" b="0">
                          <a:solidFill>
                            <a:srgbClr val="1F2A37"/>
                          </a:solidFill>
                          <a:latin typeface="Consolas"/>
                        </a:rPr>
                        <a:t>2, 4</a:t>
                      </a:r>
                    </a:p>
                  </a:txBody>
                  <a:tcPr marL="54864" marR="54864" marT="18288" marB="18288" anchor="ctr">
                    <a:solidFill>
                      <a:srgbClr val="FFFFFF"/>
                    </a:solidFill>
                  </a:tcPr>
                </a:tc>
              </a:tr>
              <a:tr h="386080">
                <a:tc>
                  <a:txBody>
                    <a:bodyPr/>
                    <a:lstStyle/>
                    <a:p>
                      <a:pPr algn="ctr"/>
                      <a:r>
                        <a:rPr sz="1600" b="0">
                          <a:solidFill>
                            <a:srgbClr val="1F2A37"/>
                          </a:solidFill>
                          <a:latin typeface="Consolas"/>
                        </a:rPr>
                        <a:t>5</a:t>
                      </a:r>
                    </a:p>
                  </a:txBody>
                  <a:tcPr marL="54864" marR="54864" marT="18288" marB="18288" anchor="ctr">
                    <a:solidFill>
                      <a:srgbClr val="EEF3FA"/>
                    </a:solidFill>
                  </a:tcPr>
                </a:tc>
                <a:tc>
                  <a:txBody>
                    <a:bodyPr/>
                    <a:lstStyle/>
                    <a:p>
                      <a:pPr algn="ctr"/>
                      <a:r>
                        <a:rPr sz="1600" b="0">
                          <a:solidFill>
                            <a:srgbClr val="1F2A37"/>
                          </a:solidFill>
                          <a:latin typeface="Consolas"/>
                        </a:rPr>
                        <a:t>y = … pop() + … head()</a:t>
                      </a:r>
                    </a:p>
                  </a:txBody>
                  <a:tcPr marL="54864" marR="54864" marT="18288" marB="18288" anchor="ctr">
                    <a:solidFill>
                      <a:srgbClr val="EEF3FA"/>
                    </a:solidFill>
                  </a:tcPr>
                </a:tc>
                <a:tc>
                  <a:txBody>
                    <a:bodyPr/>
                    <a:lstStyle/>
                    <a:p>
                      <a:pPr algn="ctr"/>
                      <a:r>
                        <a:rPr sz="1600" b="0">
                          <a:solidFill>
                            <a:srgbClr val="1F2A37"/>
                          </a:solidFill>
                          <a:latin typeface="Consolas"/>
                        </a:rPr>
                        <a:t>9, 2</a:t>
                      </a:r>
                    </a:p>
                  </a:txBody>
                  <a:tcPr marL="54864" marR="54864" marT="18288" marB="18288" anchor="ctr">
                    <a:solidFill>
                      <a:srgbClr val="EEF3FA"/>
                    </a:solidFill>
                  </a:tcPr>
                </a:tc>
                <a:tc>
                  <a:txBody>
                    <a:bodyPr/>
                    <a:lstStyle/>
                    <a:p>
                      <a:pPr algn="ctr"/>
                      <a:r>
                        <a:rPr sz="1600" b="0">
                          <a:solidFill>
                            <a:srgbClr val="1F2A37"/>
                          </a:solidFill>
                          <a:latin typeface="Consolas"/>
                        </a:rPr>
                        <a:t>4</a:t>
                      </a:r>
                    </a:p>
                  </a:txBody>
                  <a:tcPr marL="54864" marR="54864" marT="18288" marB="18288" anchor="ctr">
                    <a:solidFill>
                      <a:srgbClr val="EEF3FA"/>
                    </a:solidFill>
                  </a:tcPr>
                </a:tc>
              </a:tr>
            </a:tbl>
          </a:graphicData>
        </a:graphic>
      </p:graphicFrame>
      <p:sp>
        <p:nvSpPr>
          <p:cNvPr id="6" name="Rounded Rectangle 5"/>
          <p:cNvSpPr/>
          <p:nvPr/>
        </p:nvSpPr>
        <p:spPr>
          <a:xfrm>
            <a:off x="8503920" y="1325880"/>
            <a:ext cx="313913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1463039"/>
            <a:ext cx="277337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y = 2 + 9 = 11</a:t>
            </a:r>
            <a:r>
              <a:rPr sz="2000" b="0" i="0">
                <a:solidFill>
                  <a:srgbClr val="1F2A37"/>
                </a:solidFill>
                <a:latin typeface="Calibri"/>
              </a:rPr>
              <a:t/>
            </a:r>
          </a:p>
          <a:p>
            <a:pPr>
              <a:spcAft>
                <a:spcPts val="600"/>
              </a:spcAft>
            </a:pPr>
            <a:r>
              <a:rPr sz="2000" b="0" i="0">
                <a:solidFill>
                  <a:srgbClr val="1F2A37"/>
                </a:solidFill>
                <a:latin typeface="Calibri"/>
              </a:rPr>
              <a:t>Zeile 4: die 2 bleibt im Stapel</a:t>
            </a:r>
            <a:r>
              <a:rPr sz="2000" b="0" i="0">
                <a:solidFill>
                  <a:srgbClr val="1F2A37"/>
                </a:solidFill>
                <a:latin typeface="Calibri"/>
              </a:rPr>
              <a:t/>
            </a:r>
          </a:p>
          <a:p>
            <a:pPr>
              <a:spcAft>
                <a:spcPts val="600"/>
              </a:spcAft>
            </a:pPr>
            <a:r>
              <a:rPr sz="2000" b="0" i="0">
                <a:solidFill>
                  <a:srgbClr val="1F2A37"/>
                </a:solidFill>
                <a:latin typeface="Calibri"/>
              </a:rPr>
              <a:t>Zeile 5: die 9 bleibt in der Schlange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Laufzeitfehler vermeiden: erst fragen, dann nehmen (P1)</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903720" cy="291084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720840" cy="2819400"/>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 bedient hoechstens n Gaeste, liefert die Anzahl</a:t>
            </a:r>
          </a:p>
          <a:p>
            <a:pPr>
              <a:lnSpc>
                <a:spcPct val="100000"/>
              </a:lnSpc>
            </a:pPr>
            <a:r>
              <a:rPr sz="1600" b="0" i="0">
                <a:solidFill>
                  <a:srgbClr val="A0A7B1"/>
                </a:solidFill>
                <a:latin typeface="Consolas"/>
              </a:rPr>
              <a:t> 2  </a:t>
            </a:r>
            <a:r>
              <a:rPr sz="1600" b="0" i="0">
                <a:solidFill>
                  <a:srgbClr val="1F2A37"/>
                </a:solidFill>
                <a:latin typeface="Consolas"/>
              </a:rPr>
              <a:t>public static int bediene(Queue q, int n) {</a:t>
            </a:r>
          </a:p>
          <a:p>
            <a:pPr>
              <a:lnSpc>
                <a:spcPct val="100000"/>
              </a:lnSpc>
            </a:pPr>
            <a:r>
              <a:rPr sz="1600" b="0" i="0">
                <a:solidFill>
                  <a:srgbClr val="A0A7B1"/>
                </a:solidFill>
                <a:latin typeface="Consolas"/>
              </a:rPr>
              <a:t> 3  </a:t>
            </a:r>
            <a:r>
              <a:rPr sz="1600" b="0" i="0">
                <a:solidFill>
                  <a:srgbClr val="1F2A37"/>
                </a:solidFill>
                <a:latin typeface="Consolas"/>
              </a:rPr>
              <a:t>    int anzahl = 0;</a:t>
            </a:r>
          </a:p>
          <a:p>
            <a:pPr>
              <a:lnSpc>
                <a:spcPct val="100000"/>
              </a:lnSpc>
            </a:pPr>
            <a:r>
              <a:rPr sz="1600" b="0" i="0">
                <a:solidFill>
                  <a:srgbClr val="A0A7B1"/>
                </a:solidFill>
                <a:latin typeface="Consolas"/>
              </a:rPr>
              <a:t> 4  </a:t>
            </a:r>
            <a:r>
              <a:rPr sz="1600" b="1" i="0">
                <a:solidFill>
                  <a:srgbClr val="C00000"/>
                </a:solidFill>
                <a:latin typeface="Consolas"/>
              </a:rPr>
              <a:t>    while (anzahl &lt; n &amp;&amp; !q.isEmpty()) {</a:t>
            </a:r>
          </a:p>
          <a:p>
            <a:pPr>
              <a:lnSpc>
                <a:spcPct val="100000"/>
              </a:lnSpc>
            </a:pPr>
            <a:r>
              <a:rPr sz="1600" b="0" i="0">
                <a:solidFill>
                  <a:srgbClr val="A0A7B1"/>
                </a:solidFill>
                <a:latin typeface="Consolas"/>
              </a:rPr>
              <a:t> 5  </a:t>
            </a:r>
            <a:r>
              <a:rPr sz="1600" b="0" i="0">
                <a:solidFill>
                  <a:srgbClr val="1F2A37"/>
                </a:solidFill>
                <a:latin typeface="Consolas"/>
              </a:rPr>
              <a:t>        String gast = (String) q.dequeue();</a:t>
            </a:r>
          </a:p>
          <a:p>
            <a:pPr>
              <a:lnSpc>
                <a:spcPct val="100000"/>
              </a:lnSpc>
            </a:pPr>
            <a:r>
              <a:rPr sz="1600" b="0" i="0">
                <a:solidFill>
                  <a:srgbClr val="A0A7B1"/>
                </a:solidFill>
                <a:latin typeface="Consolas"/>
              </a:rPr>
              <a:t> 6  </a:t>
            </a:r>
            <a:r>
              <a:rPr sz="1600" b="0" i="0">
                <a:solidFill>
                  <a:srgbClr val="1F2A37"/>
                </a:solidFill>
                <a:latin typeface="Consolas"/>
              </a:rPr>
              <a:t>        println(gast + " wird bedient");</a:t>
            </a:r>
          </a:p>
          <a:p>
            <a:pPr>
              <a:lnSpc>
                <a:spcPct val="100000"/>
              </a:lnSpc>
            </a:pPr>
            <a:r>
              <a:rPr sz="1600" b="0" i="0">
                <a:solidFill>
                  <a:srgbClr val="A0A7B1"/>
                </a:solidFill>
                <a:latin typeface="Consolas"/>
              </a:rPr>
              <a:t> 7  </a:t>
            </a:r>
            <a:r>
              <a:rPr sz="1600" b="0" i="0">
                <a:solidFill>
                  <a:srgbClr val="1F2A37"/>
                </a:solidFill>
                <a:latin typeface="Consolas"/>
              </a:rPr>
              <a:t>        anzahl++;</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0" i="0">
                <a:solidFill>
                  <a:srgbClr val="1F2A37"/>
                </a:solidFill>
                <a:latin typeface="Consolas"/>
              </a:rPr>
              <a:t>    return anzahl;</a:t>
            </a:r>
          </a:p>
          <a:p>
            <a:pPr>
              <a:lnSpc>
                <a:spcPct val="100000"/>
              </a:lnSpc>
            </a:pPr>
            <a:r>
              <a:rPr sz="1600" b="0" i="0">
                <a:solidFill>
                  <a:srgbClr val="A0A7B1"/>
                </a:solidFill>
                <a:latin typeface="Consolas"/>
              </a:rPr>
              <a:t>10  </a:t>
            </a:r>
            <a:r>
              <a:rPr sz="1600" b="0" i="0">
                <a:solidFill>
                  <a:srgbClr val="1F2A37"/>
                </a:solidFill>
                <a:latin typeface="Consolas"/>
              </a:rPr>
              <a:t>}</a:t>
            </a:r>
          </a:p>
        </p:txBody>
      </p:sp>
      <p:sp>
        <p:nvSpPr>
          <p:cNvPr id="7" name="Rounded Rectangle 6"/>
          <p:cNvSpPr/>
          <p:nvPr/>
        </p:nvSpPr>
        <p:spPr>
          <a:xfrm>
            <a:off x="7726679" y="1325880"/>
            <a:ext cx="391637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59" y="1463039"/>
            <a:ext cx="3550615" cy="2377439"/>
          </a:xfrm>
          <a:prstGeom prst="rect">
            <a:avLst/>
          </a:prstGeom>
          <a:noFill/>
        </p:spPr>
        <p:txBody>
          <a:bodyPr wrap="square" anchor="t" lIns="45720" rIns="45720">
            <a:spAutoFit/>
          </a:bodyPr>
          <a:lstStyle/>
          <a:p>
            <a:pPr>
              <a:spcAft>
                <a:spcPts val="800"/>
              </a:spcAft>
            </a:pPr>
            <a:r>
              <a:rPr sz="2000" b="1" i="0">
                <a:solidFill>
                  <a:srgbClr val="C00000"/>
                </a:solidFill>
                <a:latin typeface="Calibri"/>
              </a:rPr>
              <a:t>Leer? Erst fragen!</a:t>
            </a:r>
            <a:r>
              <a:rPr sz="1800" b="0" i="0">
                <a:solidFill>
                  <a:srgbClr val="1F2A37"/>
                </a:solidFill>
                <a:latin typeface="Calibri"/>
              </a:rPr>
              <a:t/>
            </a:r>
          </a:p>
          <a:p>
            <a:pPr>
              <a:spcAft>
                <a:spcPts val="600"/>
              </a:spcAft>
            </a:pPr>
            <a:r>
              <a:rPr sz="1700" b="0" i="0">
                <a:solidFill>
                  <a:srgbClr val="1F4E79"/>
                </a:solidFill>
                <a:latin typeface="Consolas"/>
              </a:rPr>
              <a:t>pop</a:t>
            </a:r>
            <a:r>
              <a:rPr sz="1800" b="0" i="0">
                <a:solidFill>
                  <a:srgbClr val="1F2A37"/>
                </a:solidFill>
                <a:latin typeface="Calibri"/>
              </a:rPr>
              <a:t>, </a:t>
            </a:r>
            <a:r>
              <a:rPr sz="1700" b="0" i="0">
                <a:solidFill>
                  <a:srgbClr val="1F4E79"/>
                </a:solidFill>
                <a:latin typeface="Consolas"/>
              </a:rPr>
              <a:t>top</a:t>
            </a:r>
            <a:r>
              <a:rPr sz="1800" b="0" i="0">
                <a:solidFill>
                  <a:srgbClr val="1F2A37"/>
                </a:solidFill>
                <a:latin typeface="Calibri"/>
              </a:rPr>
              <a:t>, </a:t>
            </a:r>
            <a:r>
              <a:rPr sz="1700" b="0" i="0">
                <a:solidFill>
                  <a:srgbClr val="1F4E79"/>
                </a:solidFill>
                <a:latin typeface="Consolas"/>
              </a:rPr>
              <a:t>dequeue</a:t>
            </a:r>
            <a:r>
              <a:rPr sz="1800" b="0" i="0">
                <a:solidFill>
                  <a:srgbClr val="1F2A37"/>
                </a:solidFill>
                <a:latin typeface="Calibri"/>
              </a:rPr>
              <a:t>, </a:t>
            </a:r>
            <a:r>
              <a:rPr sz="1700" b="0" i="0">
                <a:solidFill>
                  <a:srgbClr val="1F4E79"/>
                </a:solidFill>
                <a:latin typeface="Consolas"/>
              </a:rPr>
              <a:t>head</a:t>
            </a:r>
            <a:r>
              <a:rPr sz="1800" b="0" i="0">
                <a:solidFill>
                  <a:srgbClr val="1F2A37"/>
                </a:solidFill>
                <a:latin typeface="Calibri"/>
              </a:rPr>
              <a:t> auf leerer Struktur → </a:t>
            </a:r>
            <a:r>
              <a:rPr sz="1800" b="1" i="0">
                <a:solidFill>
                  <a:srgbClr val="1F2A37"/>
                </a:solidFill>
                <a:latin typeface="Calibri"/>
              </a:rPr>
              <a:t>IllegalStateException</a:t>
            </a:r>
            <a:r>
              <a:rPr sz="1800" b="0" i="0">
                <a:solidFill>
                  <a:srgbClr val="1F2A37"/>
                </a:solidFill>
                <a:latin typeface="Calibri"/>
              </a:rPr>
              <a:t/>
            </a:r>
          </a:p>
          <a:p>
            <a:pPr>
              <a:spcAft>
                <a:spcPts val="600"/>
              </a:spcAft>
            </a:pPr>
            <a:r>
              <a:rPr sz="1800" b="0" i="0">
                <a:solidFill>
                  <a:srgbClr val="1F2A37"/>
                </a:solidFill>
                <a:latin typeface="Calibri"/>
              </a:rPr>
              <a:t>Nur 2 Gäste da, n = 3 → ohne </a:t>
            </a:r>
            <a:r>
              <a:rPr sz="1700" b="0" i="0">
                <a:solidFill>
                  <a:srgbClr val="1F4E79"/>
                </a:solidFill>
                <a:latin typeface="Consolas"/>
              </a:rPr>
              <a:t>isEmpty</a:t>
            </a:r>
            <a:r>
              <a:rPr sz="1800" b="0" i="0">
                <a:solidFill>
                  <a:srgbClr val="1F2A37"/>
                </a:solidFill>
                <a:latin typeface="Calibri"/>
              </a:rPr>
              <a:t>: Absturz</a:t>
            </a:r>
            <a:r>
              <a:rPr sz="1800" b="0" i="0">
                <a:solidFill>
                  <a:srgbClr val="1F2A37"/>
                </a:solidFill>
                <a:latin typeface="Calibri"/>
              </a:rPr>
              <a:t/>
            </a:r>
          </a:p>
          <a:p>
            <a:pPr>
              <a:spcAft>
                <a:spcPts val="600"/>
              </a:spcAft>
            </a:pPr>
            <a:r>
              <a:rPr sz="1800" b="0" i="0">
                <a:solidFill>
                  <a:srgbClr val="1F2A37"/>
                </a:solidFill>
                <a:latin typeface="Calibri"/>
              </a:rPr>
              <a:t>Mit Abfrage: liefert </a:t>
            </a:r>
            <a:r>
              <a:rPr sz="1800" b="1" i="0">
                <a:solidFill>
                  <a:srgbClr val="1F2A37"/>
                </a:solidFill>
                <a:latin typeface="Calibri"/>
              </a:rPr>
              <a:t>2</a:t>
            </a:r>
            <a:r>
              <a:rPr sz="18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Muster: Struktur unverändert lassen (P2)</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781800" cy="371551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598920" cy="3624072"/>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static int gesamtHeilung(Stack rucksack) {</a:t>
            </a:r>
          </a:p>
          <a:p>
            <a:pPr>
              <a:lnSpc>
                <a:spcPct val="100000"/>
              </a:lnSpc>
            </a:pPr>
            <a:r>
              <a:rPr sz="1600" b="0" i="0">
                <a:solidFill>
                  <a:srgbClr val="A0A7B1"/>
                </a:solidFill>
                <a:latin typeface="Consolas"/>
              </a:rPr>
              <a:t> 2  </a:t>
            </a:r>
            <a:r>
              <a:rPr sz="1600" b="0" i="0">
                <a:solidFill>
                  <a:srgbClr val="1F2A37"/>
                </a:solidFill>
                <a:latin typeface="Consolas"/>
              </a:rPr>
              <a:t>    Stack hilf = new Stack();</a:t>
            </a:r>
          </a:p>
          <a:p>
            <a:pPr>
              <a:lnSpc>
                <a:spcPct val="100000"/>
              </a:lnSpc>
            </a:pPr>
            <a:r>
              <a:rPr sz="1600" b="0" i="0">
                <a:solidFill>
                  <a:srgbClr val="A0A7B1"/>
                </a:solidFill>
                <a:latin typeface="Consolas"/>
              </a:rPr>
              <a:t> 3  </a:t>
            </a:r>
            <a:r>
              <a:rPr sz="1600" b="0" i="0">
                <a:solidFill>
                  <a:srgbClr val="1F2A37"/>
                </a:solidFill>
                <a:latin typeface="Consolas"/>
              </a:rPr>
              <a:t>    int summe = 0;</a:t>
            </a:r>
          </a:p>
          <a:p>
            <a:pPr>
              <a:lnSpc>
                <a:spcPct val="100000"/>
              </a:lnSpc>
            </a:pPr>
            <a:r>
              <a:rPr sz="1600" b="0" i="0">
                <a:solidFill>
                  <a:srgbClr val="A0A7B1"/>
                </a:solidFill>
                <a:latin typeface="Consolas"/>
              </a:rPr>
              <a:t> 4  </a:t>
            </a:r>
            <a:r>
              <a:rPr sz="1600" b="0" i="0">
                <a:solidFill>
                  <a:srgbClr val="1F2A37"/>
                </a:solidFill>
                <a:latin typeface="Consolas"/>
              </a:rPr>
              <a:t>    while (!rucksack.isEmpty()) { </a:t>
            </a:r>
            <a:r>
              <a:rPr sz="1600" b="0" i="0">
                <a:solidFill>
                  <a:srgbClr val="5F7F5F"/>
                </a:solidFill>
                <a:latin typeface="Consolas"/>
              </a:rPr>
              <a:t> // abbauen</a:t>
            </a:r>
          </a:p>
          <a:p>
            <a:pPr>
              <a:lnSpc>
                <a:spcPct val="100000"/>
              </a:lnSpc>
            </a:pPr>
            <a:r>
              <a:rPr sz="1600" b="0" i="0">
                <a:solidFill>
                  <a:srgbClr val="A0A7B1"/>
                </a:solidFill>
                <a:latin typeface="Consolas"/>
              </a:rPr>
              <a:t> 5  </a:t>
            </a:r>
            <a:r>
              <a:rPr sz="1600" b="0" i="0">
                <a:solidFill>
                  <a:srgbClr val="1F2A37"/>
                </a:solidFill>
                <a:latin typeface="Consolas"/>
              </a:rPr>
              <a:t>        int h = (Integer) rucksack.pop();</a:t>
            </a:r>
          </a:p>
          <a:p>
            <a:pPr>
              <a:lnSpc>
                <a:spcPct val="100000"/>
              </a:lnSpc>
            </a:pPr>
            <a:r>
              <a:rPr sz="1600" b="0" i="0">
                <a:solidFill>
                  <a:srgbClr val="A0A7B1"/>
                </a:solidFill>
                <a:latin typeface="Consolas"/>
              </a:rPr>
              <a:t> 6  </a:t>
            </a:r>
            <a:r>
              <a:rPr sz="1600" b="0" i="0">
                <a:solidFill>
                  <a:srgbClr val="1F2A37"/>
                </a:solidFill>
                <a:latin typeface="Consolas"/>
              </a:rPr>
              <a:t>        summe = summe + h;</a:t>
            </a:r>
          </a:p>
          <a:p>
            <a:pPr>
              <a:lnSpc>
                <a:spcPct val="100000"/>
              </a:lnSpc>
            </a:pPr>
            <a:r>
              <a:rPr sz="1600" b="0" i="0">
                <a:solidFill>
                  <a:srgbClr val="A0A7B1"/>
                </a:solidFill>
                <a:latin typeface="Consolas"/>
              </a:rPr>
              <a:t> 7  </a:t>
            </a:r>
            <a:r>
              <a:rPr sz="1600" b="1" i="0">
                <a:solidFill>
                  <a:srgbClr val="C00000"/>
                </a:solidFill>
                <a:latin typeface="Consolas"/>
              </a:rPr>
              <a:t>        hilf.push(h);</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0" i="0">
                <a:solidFill>
                  <a:srgbClr val="1F2A37"/>
                </a:solidFill>
                <a:latin typeface="Consolas"/>
              </a:rPr>
              <a:t>    while (!hilf.isEmpty()) { </a:t>
            </a:r>
            <a:r>
              <a:rPr sz="1600" b="0" i="0">
                <a:solidFill>
                  <a:srgbClr val="5F7F5F"/>
                </a:solidFill>
                <a:latin typeface="Consolas"/>
              </a:rPr>
              <a:t> // zurueck</a:t>
            </a:r>
          </a:p>
          <a:p>
            <a:pPr>
              <a:lnSpc>
                <a:spcPct val="100000"/>
              </a:lnSpc>
            </a:pPr>
            <a:r>
              <a:rPr sz="1600" b="0" i="0">
                <a:solidFill>
                  <a:srgbClr val="A0A7B1"/>
                </a:solidFill>
                <a:latin typeface="Consolas"/>
              </a:rPr>
              <a:t>10  </a:t>
            </a:r>
            <a:r>
              <a:rPr sz="1600" b="1" i="0">
                <a:solidFill>
                  <a:srgbClr val="C00000"/>
                </a:solidFill>
                <a:latin typeface="Consolas"/>
              </a:rPr>
              <a:t>        rucksack.push(hilf.pop());</a:t>
            </a:r>
          </a:p>
          <a:p>
            <a:pPr>
              <a:lnSpc>
                <a:spcPct val="100000"/>
              </a:lnSpc>
            </a:pPr>
            <a:r>
              <a:rPr sz="1600" b="0" i="0">
                <a:solidFill>
                  <a:srgbClr val="A0A7B1"/>
                </a:solidFill>
                <a:latin typeface="Consolas"/>
              </a:rPr>
              <a:t>11  </a:t>
            </a:r>
            <a:r>
              <a:rPr sz="1600" b="0" i="0">
                <a:solidFill>
                  <a:srgbClr val="1F2A37"/>
                </a:solidFill>
                <a:latin typeface="Consolas"/>
              </a:rPr>
              <a:t>    }</a:t>
            </a:r>
          </a:p>
          <a:p>
            <a:pPr>
              <a:lnSpc>
                <a:spcPct val="100000"/>
              </a:lnSpc>
            </a:pPr>
            <a:r>
              <a:rPr sz="1600" b="0" i="0">
                <a:solidFill>
                  <a:srgbClr val="A0A7B1"/>
                </a:solidFill>
                <a:latin typeface="Consolas"/>
              </a:rPr>
              <a:t>12  </a:t>
            </a:r>
            <a:r>
              <a:rPr sz="1600" b="0" i="0">
                <a:solidFill>
                  <a:srgbClr val="1F2A37"/>
                </a:solidFill>
                <a:latin typeface="Consolas"/>
              </a:rPr>
              <a:t>    return summe;</a:t>
            </a:r>
          </a:p>
          <a:p>
            <a:pPr>
              <a:lnSpc>
                <a:spcPct val="100000"/>
              </a:lnSpc>
            </a:pPr>
            <a:r>
              <a:rPr sz="1600" b="0" i="0">
                <a:solidFill>
                  <a:srgbClr val="A0A7B1"/>
                </a:solidFill>
                <a:latin typeface="Consolas"/>
              </a:rPr>
              <a:t>13  </a:t>
            </a:r>
            <a:r>
              <a:rPr sz="1600" b="0" i="0">
                <a:solidFill>
                  <a:srgbClr val="1F2A37"/>
                </a:solidFill>
                <a:latin typeface="Consolas"/>
              </a:rPr>
              <a:t>}</a:t>
            </a:r>
          </a:p>
        </p:txBody>
      </p:sp>
      <p:sp>
        <p:nvSpPr>
          <p:cNvPr id="7" name="Rounded Rectangle 6"/>
          <p:cNvSpPr/>
          <p:nvPr/>
        </p:nvSpPr>
        <p:spPr>
          <a:xfrm>
            <a:off x="7604760" y="1325880"/>
            <a:ext cx="403829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87639" y="1463039"/>
            <a:ext cx="3672535" cy="2377439"/>
          </a:xfrm>
          <a:prstGeom prst="rect">
            <a:avLst/>
          </a:prstGeom>
          <a:noFill/>
        </p:spPr>
        <p:txBody>
          <a:bodyPr wrap="square" anchor="t" lIns="45720" rIns="45720">
            <a:spAutoFit/>
          </a:bodyPr>
          <a:lstStyle/>
          <a:p>
            <a:pPr>
              <a:spcAft>
                <a:spcPts val="800"/>
              </a:spcAft>
            </a:pPr>
            <a:r>
              <a:rPr sz="2000" b="1" i="0">
                <a:solidFill>
                  <a:srgbClr val="B8860B"/>
                </a:solidFill>
                <a:latin typeface="Calibri"/>
              </a:rPr>
              <a:t>Das Muster</a:t>
            </a:r>
            <a:r>
              <a:rPr sz="1800" b="0" i="0">
                <a:solidFill>
                  <a:srgbClr val="1F2A37"/>
                </a:solidFill>
                <a:latin typeface="Calibri"/>
              </a:rPr>
              <a:t/>
            </a:r>
          </a:p>
          <a:p>
            <a:pPr>
              <a:spcAft>
                <a:spcPts val="600"/>
              </a:spcAft>
            </a:pPr>
            <a:r>
              <a:rPr sz="1800" b="1" i="0">
                <a:solidFill>
                  <a:srgbClr val="1F2A37"/>
                </a:solidFill>
                <a:latin typeface="Calibri"/>
              </a:rPr>
              <a:t>Abbauen:</a:t>
            </a:r>
            <a:r>
              <a:rPr sz="1800" b="0" i="0">
                <a:solidFill>
                  <a:srgbClr val="1F2A37"/>
                </a:solidFill>
                <a:latin typeface="Calibri"/>
              </a:rPr>
              <a:t> jedes Element auswerten und auf einen Hilfsstapel legen</a:t>
            </a:r>
            <a:r>
              <a:rPr sz="1800" b="0" i="0">
                <a:solidFill>
                  <a:srgbClr val="1F2A37"/>
                </a:solidFill>
                <a:latin typeface="Calibri"/>
              </a:rPr>
              <a:t/>
            </a:r>
          </a:p>
          <a:p>
            <a:pPr>
              <a:spcAft>
                <a:spcPts val="600"/>
              </a:spcAft>
            </a:pPr>
            <a:r>
              <a:rPr sz="1800" b="1" i="0">
                <a:solidFill>
                  <a:srgbClr val="1F2A37"/>
                </a:solidFill>
                <a:latin typeface="Calibri"/>
              </a:rPr>
              <a:t>Zurückschichten:</a:t>
            </a:r>
            <a:r>
              <a:rPr sz="1800" b="0" i="0">
                <a:solidFill>
                  <a:srgbClr val="1F2A37"/>
                </a:solidFill>
                <a:latin typeface="Calibri"/>
              </a:rPr>
              <a:t> alles wieder auf den Originalstapel</a:t>
            </a:r>
            <a:r>
              <a:rPr sz="1800" b="0" i="0">
                <a:solidFill>
                  <a:srgbClr val="1F2A37"/>
                </a:solidFill>
                <a:latin typeface="Calibri"/>
              </a:rPr>
              <a:t/>
            </a:r>
          </a:p>
          <a:p>
            <a:pPr>
              <a:spcAft>
                <a:spcPts val="600"/>
              </a:spcAft>
            </a:pPr>
            <a:r>
              <a:rPr sz="1800" b="0" i="0">
                <a:solidFill>
                  <a:srgbClr val="1F2A37"/>
                </a:solidFill>
                <a:latin typeface="Calibri"/>
              </a:rPr>
              <a:t>Zweimal umgedreht = alte Reihenfolge</a:t>
            </a:r>
            <a:r>
              <a:rPr sz="18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gesamtHeilung: Schritt für Schritt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772400" cy="388619"/>
          </a:xfrm>
          <a:prstGeom prst="rect">
            <a:avLst/>
          </a:prstGeom>
          <a:noFill/>
        </p:spPr>
        <p:txBody>
          <a:bodyPr wrap="square" anchor="t" lIns="45720" rIns="45720">
            <a:spAutoFit/>
          </a:bodyPr>
          <a:lstStyle/>
          <a:p>
            <a:r>
              <a:rPr sz="2000" b="0" i="0">
                <a:solidFill>
                  <a:srgbClr val="1F2A37"/>
                </a:solidFill>
                <a:latin typeface="Calibri"/>
              </a:rPr>
              <a:t>Start: </a:t>
            </a:r>
            <a:r>
              <a:rPr sz="1900" b="0" i="0">
                <a:solidFill>
                  <a:srgbClr val="1F4E79"/>
                </a:solidFill>
                <a:latin typeface="Consolas"/>
              </a:rPr>
              <a:t>rucksack</a:t>
            </a:r>
            <a:r>
              <a:rPr sz="2000" b="0" i="0">
                <a:solidFill>
                  <a:srgbClr val="1F2A37"/>
                </a:solidFill>
                <a:latin typeface="Calibri"/>
              </a:rPr>
              <a:t> = 10, 50, 20 (oben zuerst)</a:t>
            </a:r>
          </a:p>
        </p:txBody>
      </p:sp>
      <p:graphicFrame>
        <p:nvGraphicFramePr>
          <p:cNvPr id="6" name="Table 5"/>
          <p:cNvGraphicFramePr>
            <a:graphicFrameLocks noGrp="1"/>
          </p:cNvGraphicFramePr>
          <p:nvPr/>
        </p:nvGraphicFramePr>
        <p:xfrm>
          <a:off x="548640" y="1897380"/>
          <a:ext cx="7680958" cy="3088640"/>
        </p:xfrm>
        <a:graphic>
          <a:graphicData uri="http://schemas.openxmlformats.org/drawingml/2006/table">
            <a:tbl>
              <a:tblPr firstRow="1" bandRow="1">
                <a:tableStyleId>{5C22544A-7EE6-4342-B048-85BDC9FD1C3A}</a:tableStyleId>
              </a:tblPr>
              <a:tblGrid>
                <a:gridCol w="1562229"/>
                <a:gridCol w="2603715"/>
                <a:gridCol w="2343343"/>
                <a:gridCol w="1171671"/>
              </a:tblGrid>
              <a:tr h="386080">
                <a:tc>
                  <a:txBody>
                    <a:bodyPr/>
                    <a:lstStyle/>
                    <a:p>
                      <a:pPr algn="ctr"/>
                      <a:r>
                        <a:rPr sz="1600" b="1">
                          <a:solidFill>
                            <a:srgbClr val="FFFFFF"/>
                          </a:solidFill>
                          <a:latin typeface="Calibri"/>
                        </a:rPr>
                        <a:t>Phase</a:t>
                      </a:r>
                    </a:p>
                  </a:txBody>
                  <a:tcPr marL="54864" marR="54864" marT="18288" marB="18288" anchor="ctr">
                    <a:solidFill>
                      <a:srgbClr val="1F4E79"/>
                    </a:solidFill>
                  </a:tcPr>
                </a:tc>
                <a:tc>
                  <a:txBody>
                    <a:bodyPr/>
                    <a:lstStyle/>
                    <a:p>
                      <a:pPr algn="ctr"/>
                      <a:r>
                        <a:rPr sz="1600" b="1">
                          <a:solidFill>
                            <a:srgbClr val="FFFFFF"/>
                          </a:solidFill>
                          <a:latin typeface="Calibri"/>
                        </a:rPr>
                        <a:t>rucksack (oben → unten)</a:t>
                      </a:r>
                    </a:p>
                  </a:txBody>
                  <a:tcPr marL="54864" marR="54864" marT="18288" marB="18288" anchor="ctr">
                    <a:solidFill>
                      <a:srgbClr val="1F4E79"/>
                    </a:solidFill>
                  </a:tcPr>
                </a:tc>
                <a:tc>
                  <a:txBody>
                    <a:bodyPr/>
                    <a:lstStyle/>
                    <a:p>
                      <a:pPr algn="ctr"/>
                      <a:r>
                        <a:rPr sz="1600" b="1">
                          <a:solidFill>
                            <a:srgbClr val="FFFFFF"/>
                          </a:solidFill>
                          <a:latin typeface="Calibri"/>
                        </a:rPr>
                        <a:t>hilf (oben → unten)</a:t>
                      </a:r>
                    </a:p>
                  </a:txBody>
                  <a:tcPr marL="54864" marR="54864" marT="18288" marB="18288" anchor="ctr">
                    <a:solidFill>
                      <a:srgbClr val="1F4E79"/>
                    </a:solidFill>
                  </a:tcPr>
                </a:tc>
                <a:tc>
                  <a:txBody>
                    <a:bodyPr/>
                    <a:lstStyle/>
                    <a:p>
                      <a:pPr algn="ctr"/>
                      <a:r>
                        <a:rPr sz="1600" b="1">
                          <a:solidFill>
                            <a:srgbClr val="FFFFFF"/>
                          </a:solidFill>
                          <a:latin typeface="Calibri"/>
                        </a:rPr>
                        <a:t>summe</a:t>
                      </a:r>
                    </a:p>
                  </a:txBody>
                  <a:tcPr marL="54864" marR="54864" marT="18288" marB="18288" anchor="ctr">
                    <a:solidFill>
                      <a:srgbClr val="1F4E79"/>
                    </a:solidFill>
                  </a:tcPr>
                </a:tc>
              </a:tr>
              <a:tr h="386080">
                <a:tc>
                  <a:txBody>
                    <a:bodyPr/>
                    <a:lstStyle/>
                    <a:p>
                      <a:pPr algn="ctr"/>
                      <a:r>
                        <a:rPr sz="1600" b="0">
                          <a:solidFill>
                            <a:srgbClr val="1F2A37"/>
                          </a:solidFill>
                          <a:latin typeface="Consolas"/>
                        </a:rPr>
                        <a:t>Start</a:t>
                      </a:r>
                    </a:p>
                  </a:txBody>
                  <a:tcPr marL="54864" marR="54864" marT="18288" marB="18288" anchor="ctr">
                    <a:solidFill>
                      <a:srgbClr val="FFFFFF"/>
                    </a:solidFill>
                  </a:tcPr>
                </a:tc>
                <a:tc>
                  <a:txBody>
                    <a:bodyPr/>
                    <a:lstStyle/>
                    <a:p>
                      <a:pPr algn="ctr"/>
                      <a:r>
                        <a:rPr sz="1600" b="0">
                          <a:solidFill>
                            <a:srgbClr val="1F2A37"/>
                          </a:solidFill>
                          <a:latin typeface="Consolas"/>
                        </a:rPr>
                        <a:t>10, 50, 20</a:t>
                      </a:r>
                    </a:p>
                  </a:txBody>
                  <a:tcPr marL="54864" marR="54864" marT="18288" marB="18288" anchor="ctr">
                    <a:solidFill>
                      <a:srgbClr val="FFFFFF"/>
                    </a:solidFill>
                  </a:tcPr>
                </a:tc>
                <a:tc>
                  <a:txBody>
                    <a:bodyPr/>
                    <a:lstStyle/>
                    <a:p>
                      <a:pPr algn="ctr"/>
                      <a:r>
                        <a:rPr sz="1600" b="0">
                          <a:solidFill>
                            <a:srgbClr val="1F2A37"/>
                          </a:solidFill>
                          <a:latin typeface="Consolas"/>
                        </a:rPr>
                        <a:t>–</a:t>
                      </a:r>
                    </a:p>
                  </a:txBody>
                  <a:tcPr marL="54864" marR="54864" marT="18288" marB="18288" anchor="ctr">
                    <a:solidFill>
                      <a:srgbClr val="FFFFFF"/>
                    </a:solidFill>
                  </a:tcPr>
                </a:tc>
                <a:tc>
                  <a:txBody>
                    <a:bodyPr/>
                    <a:lstStyle/>
                    <a:p>
                      <a:pPr algn="ctr"/>
                      <a:r>
                        <a:rPr sz="1600" b="0">
                          <a:solidFill>
                            <a:srgbClr val="1F2A37"/>
                          </a:solidFill>
                          <a:latin typeface="Consolas"/>
                        </a:rPr>
                        <a:t>0</a:t>
                      </a:r>
                    </a:p>
                  </a:txBody>
                  <a:tcPr marL="54864" marR="54864" marT="18288" marB="18288" anchor="ctr">
                    <a:solidFill>
                      <a:srgbClr val="FFFFFF"/>
                    </a:solidFill>
                  </a:tcPr>
                </a:tc>
              </a:tr>
              <a:tr h="386080">
                <a:tc>
                  <a:txBody>
                    <a:bodyPr/>
                    <a:lstStyle/>
                    <a:p>
                      <a:pPr algn="ctr"/>
                      <a:r>
                        <a:rPr sz="1600" b="0">
                          <a:solidFill>
                            <a:srgbClr val="1F2A37"/>
                          </a:solidFill>
                          <a:latin typeface="Consolas"/>
                        </a:rPr>
                        <a:t>abbauen</a:t>
                      </a:r>
                    </a:p>
                  </a:txBody>
                  <a:tcPr marL="54864" marR="54864" marT="18288" marB="18288" anchor="ctr">
                    <a:solidFill>
                      <a:srgbClr val="EEF3FA"/>
                    </a:solidFill>
                  </a:tcPr>
                </a:tc>
                <a:tc>
                  <a:txBody>
                    <a:bodyPr/>
                    <a:lstStyle/>
                    <a:p>
                      <a:pPr algn="ctr"/>
                      <a:r>
                        <a:rPr sz="1600" b="0">
                          <a:solidFill>
                            <a:srgbClr val="1F2A37"/>
                          </a:solidFill>
                          <a:latin typeface="Consolas"/>
                        </a:rPr>
                        <a:t>50, 20</a:t>
                      </a:r>
                    </a:p>
                  </a:txBody>
                  <a:tcPr marL="54864" marR="54864" marT="18288" marB="18288" anchor="ctr">
                    <a:solidFill>
                      <a:srgbClr val="EEF3FA"/>
                    </a:solidFill>
                  </a:tcPr>
                </a:tc>
                <a:tc>
                  <a:txBody>
                    <a:bodyPr/>
                    <a:lstStyle/>
                    <a:p>
                      <a:pPr algn="ctr"/>
                      <a:r>
                        <a:rPr sz="1600" b="0">
                          <a:solidFill>
                            <a:srgbClr val="1F2A37"/>
                          </a:solidFill>
                          <a:latin typeface="Consolas"/>
                        </a:rPr>
                        <a:t>10</a:t>
                      </a:r>
                    </a:p>
                  </a:txBody>
                  <a:tcPr marL="54864" marR="54864" marT="18288" marB="18288" anchor="ctr">
                    <a:solidFill>
                      <a:srgbClr val="EEF3FA"/>
                    </a:solidFill>
                  </a:tcPr>
                </a:tc>
                <a:tc>
                  <a:txBody>
                    <a:bodyPr/>
                    <a:lstStyle/>
                    <a:p>
                      <a:pPr algn="ctr"/>
                      <a:r>
                        <a:rPr sz="1600" b="0">
                          <a:solidFill>
                            <a:srgbClr val="1F2A37"/>
                          </a:solidFill>
                          <a:latin typeface="Consolas"/>
                        </a:rPr>
                        <a:t>10</a:t>
                      </a:r>
                    </a:p>
                  </a:txBody>
                  <a:tcPr marL="54864" marR="54864" marT="18288" marB="18288" anchor="ctr">
                    <a:solidFill>
                      <a:srgbClr val="EEF3FA"/>
                    </a:solidFill>
                  </a:tcPr>
                </a:tc>
              </a:tr>
              <a:tr h="386080">
                <a:tc>
                  <a:txBody>
                    <a:bodyPr/>
                    <a:lstStyle/>
                    <a:p>
                      <a:pPr algn="ctr"/>
                      <a:r>
                        <a:rPr sz="1600" b="0">
                          <a:solidFill>
                            <a:srgbClr val="1F2A37"/>
                          </a:solidFill>
                          <a:latin typeface="Consolas"/>
                        </a:rPr>
                        <a:t>abbauen</a:t>
                      </a:r>
                    </a:p>
                  </a:txBody>
                  <a:tcPr marL="54864" marR="54864" marT="18288" marB="18288" anchor="ctr">
                    <a:solidFill>
                      <a:srgbClr val="FFFFFF"/>
                    </a:solidFill>
                  </a:tcPr>
                </a:tc>
                <a:tc>
                  <a:txBody>
                    <a:bodyPr/>
                    <a:lstStyle/>
                    <a:p>
                      <a:pPr algn="ctr"/>
                      <a:r>
                        <a:rPr sz="1600" b="0">
                          <a:solidFill>
                            <a:srgbClr val="1F2A37"/>
                          </a:solidFill>
                          <a:latin typeface="Consolas"/>
                        </a:rPr>
                        <a:t>20</a:t>
                      </a:r>
                    </a:p>
                  </a:txBody>
                  <a:tcPr marL="54864" marR="54864" marT="18288" marB="18288" anchor="ctr">
                    <a:solidFill>
                      <a:srgbClr val="FFFFFF"/>
                    </a:solidFill>
                  </a:tcPr>
                </a:tc>
                <a:tc>
                  <a:txBody>
                    <a:bodyPr/>
                    <a:lstStyle/>
                    <a:p>
                      <a:pPr algn="ctr"/>
                      <a:r>
                        <a:rPr sz="1600" b="0">
                          <a:solidFill>
                            <a:srgbClr val="1F2A37"/>
                          </a:solidFill>
                          <a:latin typeface="Consolas"/>
                        </a:rPr>
                        <a:t>50, 10</a:t>
                      </a:r>
                    </a:p>
                  </a:txBody>
                  <a:tcPr marL="54864" marR="54864" marT="18288" marB="18288" anchor="ctr">
                    <a:solidFill>
                      <a:srgbClr val="FFFFFF"/>
                    </a:solidFill>
                  </a:tcPr>
                </a:tc>
                <a:tc>
                  <a:txBody>
                    <a:bodyPr/>
                    <a:lstStyle/>
                    <a:p>
                      <a:pPr algn="ctr"/>
                      <a:r>
                        <a:rPr sz="1600" b="0">
                          <a:solidFill>
                            <a:srgbClr val="1F2A37"/>
                          </a:solidFill>
                          <a:latin typeface="Consolas"/>
                        </a:rPr>
                        <a:t>60</a:t>
                      </a:r>
                    </a:p>
                  </a:txBody>
                  <a:tcPr marL="54864" marR="54864" marT="18288" marB="18288" anchor="ctr">
                    <a:solidFill>
                      <a:srgbClr val="FFFFFF"/>
                    </a:solidFill>
                  </a:tcPr>
                </a:tc>
              </a:tr>
              <a:tr h="386080">
                <a:tc>
                  <a:txBody>
                    <a:bodyPr/>
                    <a:lstStyle/>
                    <a:p>
                      <a:pPr algn="ctr"/>
                      <a:r>
                        <a:rPr sz="1600" b="0">
                          <a:solidFill>
                            <a:srgbClr val="1F2A37"/>
                          </a:solidFill>
                          <a:latin typeface="Consolas"/>
                        </a:rPr>
                        <a:t>abbauen</a:t>
                      </a:r>
                    </a:p>
                  </a:txBody>
                  <a:tcPr marL="54864" marR="54864" marT="18288" marB="18288" anchor="ctr">
                    <a:solidFill>
                      <a:srgbClr val="EEF3FA"/>
                    </a:solidFill>
                  </a:tcPr>
                </a:tc>
                <a:tc>
                  <a:txBody>
                    <a:bodyPr/>
                    <a:lstStyle/>
                    <a:p>
                      <a:pPr algn="ctr"/>
                      <a:r>
                        <a:rPr sz="1600" b="0">
                          <a:solidFill>
                            <a:srgbClr val="1F2A37"/>
                          </a:solidFill>
                          <a:latin typeface="Consolas"/>
                        </a:rPr>
                        <a:t>–</a:t>
                      </a:r>
                    </a:p>
                  </a:txBody>
                  <a:tcPr marL="54864" marR="54864" marT="18288" marB="18288" anchor="ctr">
                    <a:solidFill>
                      <a:srgbClr val="EEF3FA"/>
                    </a:solidFill>
                  </a:tcPr>
                </a:tc>
                <a:tc>
                  <a:txBody>
                    <a:bodyPr/>
                    <a:lstStyle/>
                    <a:p>
                      <a:pPr algn="ctr"/>
                      <a:r>
                        <a:rPr sz="1600" b="0">
                          <a:solidFill>
                            <a:srgbClr val="1F2A37"/>
                          </a:solidFill>
                          <a:latin typeface="Consolas"/>
                        </a:rPr>
                        <a:t>20, 50, 10</a:t>
                      </a:r>
                    </a:p>
                  </a:txBody>
                  <a:tcPr marL="54864" marR="54864" marT="18288" marB="18288" anchor="ctr">
                    <a:solidFill>
                      <a:srgbClr val="EEF3FA"/>
                    </a:solidFill>
                  </a:tcPr>
                </a:tc>
                <a:tc>
                  <a:txBody>
                    <a:bodyPr/>
                    <a:lstStyle/>
                    <a:p>
                      <a:pPr algn="ctr"/>
                      <a:r>
                        <a:rPr sz="1600" b="0">
                          <a:solidFill>
                            <a:srgbClr val="1F2A37"/>
                          </a:solidFill>
                          <a:latin typeface="Consolas"/>
                        </a:rPr>
                        <a:t>80</a:t>
                      </a:r>
                    </a:p>
                  </a:txBody>
                  <a:tcPr marL="54864" marR="54864" marT="18288" marB="18288" anchor="ctr">
                    <a:solidFill>
                      <a:srgbClr val="EEF3FA"/>
                    </a:solidFill>
                  </a:tcPr>
                </a:tc>
              </a:tr>
              <a:tr h="386080">
                <a:tc>
                  <a:txBody>
                    <a:bodyPr/>
                    <a:lstStyle/>
                    <a:p>
                      <a:pPr algn="ctr"/>
                      <a:r>
                        <a:rPr sz="1600" b="0">
                          <a:solidFill>
                            <a:srgbClr val="1F2A37"/>
                          </a:solidFill>
                          <a:latin typeface="Consolas"/>
                        </a:rPr>
                        <a:t>zurück</a:t>
                      </a:r>
                    </a:p>
                  </a:txBody>
                  <a:tcPr marL="54864" marR="54864" marT="18288" marB="18288" anchor="ctr">
                    <a:solidFill>
                      <a:srgbClr val="FFFFFF"/>
                    </a:solidFill>
                  </a:tcPr>
                </a:tc>
                <a:tc>
                  <a:txBody>
                    <a:bodyPr/>
                    <a:lstStyle/>
                    <a:p>
                      <a:pPr algn="ctr"/>
                      <a:r>
                        <a:rPr sz="1600" b="0">
                          <a:solidFill>
                            <a:srgbClr val="1F2A37"/>
                          </a:solidFill>
                          <a:latin typeface="Consolas"/>
                        </a:rPr>
                        <a:t>20</a:t>
                      </a:r>
                    </a:p>
                  </a:txBody>
                  <a:tcPr marL="54864" marR="54864" marT="18288" marB="18288" anchor="ctr">
                    <a:solidFill>
                      <a:srgbClr val="FFFFFF"/>
                    </a:solidFill>
                  </a:tcPr>
                </a:tc>
                <a:tc>
                  <a:txBody>
                    <a:bodyPr/>
                    <a:lstStyle/>
                    <a:p>
                      <a:pPr algn="ctr"/>
                      <a:r>
                        <a:rPr sz="1600" b="0">
                          <a:solidFill>
                            <a:srgbClr val="1F2A37"/>
                          </a:solidFill>
                          <a:latin typeface="Consolas"/>
                        </a:rPr>
                        <a:t>50, 10</a:t>
                      </a:r>
                    </a:p>
                  </a:txBody>
                  <a:tcPr marL="54864" marR="54864" marT="18288" marB="18288" anchor="ctr">
                    <a:solidFill>
                      <a:srgbClr val="FFFFFF"/>
                    </a:solidFill>
                  </a:tcPr>
                </a:tc>
                <a:tc>
                  <a:txBody>
                    <a:bodyPr/>
                    <a:lstStyle/>
                    <a:p>
                      <a:pPr algn="ctr"/>
                      <a:r>
                        <a:rPr sz="1600" b="0">
                          <a:solidFill>
                            <a:srgbClr val="1F2A37"/>
                          </a:solidFill>
                          <a:latin typeface="Consolas"/>
                        </a:rPr>
                        <a:t>80</a:t>
                      </a:r>
                    </a:p>
                  </a:txBody>
                  <a:tcPr marL="54864" marR="54864" marT="18288" marB="18288" anchor="ctr">
                    <a:solidFill>
                      <a:srgbClr val="FFFFFF"/>
                    </a:solidFill>
                  </a:tcPr>
                </a:tc>
              </a:tr>
              <a:tr h="386080">
                <a:tc>
                  <a:txBody>
                    <a:bodyPr/>
                    <a:lstStyle/>
                    <a:p>
                      <a:pPr algn="ctr"/>
                      <a:r>
                        <a:rPr sz="1600" b="0">
                          <a:solidFill>
                            <a:srgbClr val="1F2A37"/>
                          </a:solidFill>
                          <a:latin typeface="Consolas"/>
                        </a:rPr>
                        <a:t>zurück</a:t>
                      </a:r>
                    </a:p>
                  </a:txBody>
                  <a:tcPr marL="54864" marR="54864" marT="18288" marB="18288" anchor="ctr">
                    <a:solidFill>
                      <a:srgbClr val="EEF3FA"/>
                    </a:solidFill>
                  </a:tcPr>
                </a:tc>
                <a:tc>
                  <a:txBody>
                    <a:bodyPr/>
                    <a:lstStyle/>
                    <a:p>
                      <a:pPr algn="ctr"/>
                      <a:r>
                        <a:rPr sz="1600" b="0">
                          <a:solidFill>
                            <a:srgbClr val="1F2A37"/>
                          </a:solidFill>
                          <a:latin typeface="Consolas"/>
                        </a:rPr>
                        <a:t>50, 20</a:t>
                      </a:r>
                    </a:p>
                  </a:txBody>
                  <a:tcPr marL="54864" marR="54864" marT="18288" marB="18288" anchor="ctr">
                    <a:solidFill>
                      <a:srgbClr val="EEF3FA"/>
                    </a:solidFill>
                  </a:tcPr>
                </a:tc>
                <a:tc>
                  <a:txBody>
                    <a:bodyPr/>
                    <a:lstStyle/>
                    <a:p>
                      <a:pPr algn="ctr"/>
                      <a:r>
                        <a:rPr sz="1600" b="0">
                          <a:solidFill>
                            <a:srgbClr val="1F2A37"/>
                          </a:solidFill>
                          <a:latin typeface="Consolas"/>
                        </a:rPr>
                        <a:t>10</a:t>
                      </a:r>
                    </a:p>
                  </a:txBody>
                  <a:tcPr marL="54864" marR="54864" marT="18288" marB="18288" anchor="ctr">
                    <a:solidFill>
                      <a:srgbClr val="EEF3FA"/>
                    </a:solidFill>
                  </a:tcPr>
                </a:tc>
                <a:tc>
                  <a:txBody>
                    <a:bodyPr/>
                    <a:lstStyle/>
                    <a:p>
                      <a:pPr algn="ctr"/>
                      <a:r>
                        <a:rPr sz="1600" b="0">
                          <a:solidFill>
                            <a:srgbClr val="1F2A37"/>
                          </a:solidFill>
                          <a:latin typeface="Consolas"/>
                        </a:rPr>
                        <a:t>80</a:t>
                      </a:r>
                    </a:p>
                  </a:txBody>
                  <a:tcPr marL="54864" marR="54864" marT="18288" marB="18288" anchor="ctr">
                    <a:solidFill>
                      <a:srgbClr val="EEF3FA"/>
                    </a:solidFill>
                  </a:tcPr>
                </a:tc>
              </a:tr>
              <a:tr h="386080">
                <a:tc>
                  <a:txBody>
                    <a:bodyPr/>
                    <a:lstStyle/>
                    <a:p>
                      <a:pPr algn="ctr"/>
                      <a:r>
                        <a:rPr sz="1600" b="1">
                          <a:solidFill>
                            <a:srgbClr val="C00000"/>
                          </a:solidFill>
                          <a:latin typeface="Consolas"/>
                        </a:rPr>
                        <a:t>zurück</a:t>
                      </a:r>
                    </a:p>
                  </a:txBody>
                  <a:tcPr marL="54864" marR="54864" marT="18288" marB="18288" anchor="ctr">
                    <a:solidFill>
                      <a:srgbClr val="FFFFFF"/>
                    </a:solidFill>
                  </a:tcPr>
                </a:tc>
                <a:tc>
                  <a:txBody>
                    <a:bodyPr/>
                    <a:lstStyle/>
                    <a:p>
                      <a:pPr algn="ctr"/>
                      <a:r>
                        <a:rPr sz="1600" b="1">
                          <a:solidFill>
                            <a:srgbClr val="C00000"/>
                          </a:solidFill>
                          <a:latin typeface="Consolas"/>
                        </a:rPr>
                        <a:t>10, 50, 20</a:t>
                      </a:r>
                    </a:p>
                  </a:txBody>
                  <a:tcPr marL="54864" marR="54864" marT="18288" marB="18288" anchor="ctr">
                    <a:solidFill>
                      <a:srgbClr val="FFFFFF"/>
                    </a:solidFill>
                  </a:tcPr>
                </a:tc>
                <a:tc>
                  <a:txBody>
                    <a:bodyPr/>
                    <a:lstStyle/>
                    <a:p>
                      <a:pPr algn="ctr"/>
                      <a:r>
                        <a:rPr sz="1600" b="1">
                          <a:solidFill>
                            <a:srgbClr val="C00000"/>
                          </a:solidFill>
                          <a:latin typeface="Consolas"/>
                        </a:rPr>
                        <a:t>–</a:t>
                      </a:r>
                    </a:p>
                  </a:txBody>
                  <a:tcPr marL="54864" marR="54864" marT="18288" marB="18288" anchor="ctr">
                    <a:solidFill>
                      <a:srgbClr val="FFFFFF"/>
                    </a:solidFill>
                  </a:tcPr>
                </a:tc>
                <a:tc>
                  <a:txBody>
                    <a:bodyPr/>
                    <a:lstStyle/>
                    <a:p>
                      <a:pPr algn="ctr"/>
                      <a:r>
                        <a:rPr sz="1600" b="1">
                          <a:solidFill>
                            <a:srgbClr val="C00000"/>
                          </a:solidFill>
                          <a:latin typeface="Consolas"/>
                        </a:rPr>
                        <a:t>80</a:t>
                      </a:r>
                    </a:p>
                  </a:txBody>
                  <a:tcPr marL="54864" marR="54864" marT="18288" marB="18288" anchor="ctr">
                    <a:solidFill>
                      <a:srgbClr val="FFFFFF"/>
                    </a:solidFill>
                  </a:tcPr>
                </a:tc>
              </a:tr>
            </a:tbl>
          </a:graphicData>
        </a:graphic>
      </p:graphicFrame>
      <p:sp>
        <p:nvSpPr>
          <p:cNvPr id="7" name="Rounded Rectangle 6"/>
          <p:cNvSpPr/>
          <p:nvPr/>
        </p:nvSpPr>
        <p:spPr>
          <a:xfrm>
            <a:off x="8503920" y="1325880"/>
            <a:ext cx="313913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463039"/>
            <a:ext cx="277337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Rückgabe: 80</a:t>
            </a:r>
            <a:r>
              <a:rPr sz="2000" b="0" i="0">
                <a:solidFill>
                  <a:srgbClr val="1F2A37"/>
                </a:solidFill>
                <a:latin typeface="Calibri"/>
              </a:rPr>
              <a:t/>
            </a:r>
          </a:p>
          <a:p>
            <a:pPr>
              <a:spcAft>
                <a:spcPts val="600"/>
              </a:spcAft>
            </a:pPr>
            <a:r>
              <a:rPr sz="2000" b="0" i="0">
                <a:solidFill>
                  <a:srgbClr val="1F2A37"/>
                </a:solidFill>
                <a:latin typeface="Calibri"/>
              </a:rPr>
              <a:t>Rucksack wie vorher – dieselben Tränke in derselben Reihenfolge</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Typische Fehler – und wie du sie vermeidest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1" i="0">
                <a:solidFill>
                  <a:srgbClr val="1F2A37"/>
                </a:solidFill>
                <a:latin typeface="Calibri"/>
              </a:rPr>
              <a:t>P1</a:t>
            </a:r>
            <a:r>
              <a:rPr sz="2400" b="0" i="0">
                <a:solidFill>
                  <a:srgbClr val="1F2A37"/>
                </a:solidFill>
                <a:latin typeface="Calibri"/>
              </a:rPr>
              <a:t> </a:t>
            </a:r>
            <a:r>
              <a:rPr sz="2300" b="0" i="0">
                <a:solidFill>
                  <a:srgbClr val="1F4E79"/>
                </a:solidFill>
                <a:latin typeface="Consolas"/>
              </a:rPr>
              <a:t>pop</a:t>
            </a:r>
            <a:r>
              <a:rPr sz="2400" b="0" i="0">
                <a:solidFill>
                  <a:srgbClr val="1F2A37"/>
                </a:solidFill>
                <a:latin typeface="Calibri"/>
              </a:rPr>
              <a:t>/</a:t>
            </a:r>
            <a:r>
              <a:rPr sz="2300" b="0" i="0">
                <a:solidFill>
                  <a:srgbClr val="1F4E79"/>
                </a:solidFill>
                <a:latin typeface="Consolas"/>
              </a:rPr>
              <a:t>dequeue</a:t>
            </a:r>
            <a:r>
              <a:rPr sz="2400" b="0" i="0">
                <a:solidFill>
                  <a:srgbClr val="1F2A37"/>
                </a:solidFill>
                <a:latin typeface="Calibri"/>
              </a:rPr>
              <a:t> ohne </a:t>
            </a:r>
            <a:r>
              <a:rPr sz="2300" b="0" i="0">
                <a:solidFill>
                  <a:srgbClr val="1F4E79"/>
                </a:solidFill>
                <a:latin typeface="Consolas"/>
              </a:rPr>
              <a:t>isEmpty</a:t>
            </a:r>
            <a:r>
              <a:rPr sz="2400" b="0" i="0">
                <a:solidFill>
                  <a:srgbClr val="1F2A37"/>
                </a:solidFill>
                <a:latin typeface="Calibri"/>
              </a:rPr>
              <a:t>-Abfrage → Laufzeitfehler</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P2</a:t>
            </a:r>
            <a:r>
              <a:rPr sz="2400" b="0" i="0">
                <a:solidFill>
                  <a:srgbClr val="1F2A37"/>
                </a:solidFill>
                <a:latin typeface="Calibri"/>
              </a:rPr>
              <a:t> Struktur abgebaut, aber </a:t>
            </a:r>
            <a:r>
              <a:rPr sz="2400" b="1" i="0">
                <a:solidFill>
                  <a:srgbClr val="1F2A37"/>
                </a:solidFill>
                <a:latin typeface="Calibri"/>
              </a:rPr>
              <a:t>nicht zurückgeschichtet</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P4</a:t>
            </a:r>
            <a:r>
              <a:rPr sz="2400" b="0" i="0">
                <a:solidFill>
                  <a:srgbClr val="1F2A37"/>
                </a:solidFill>
                <a:latin typeface="Calibri"/>
              </a:rPr>
              <a:t> Cast vergessen: </a:t>
            </a:r>
            <a:r>
              <a:rPr sz="2300" b="0" i="0">
                <a:solidFill>
                  <a:srgbClr val="1F4E79"/>
                </a:solidFill>
                <a:latin typeface="Consolas"/>
              </a:rPr>
              <a:t>int x = s.pop();</a:t>
            </a:r>
            <a:r>
              <a:rPr sz="2400" b="0" i="0">
                <a:solidFill>
                  <a:srgbClr val="1F2A37"/>
                </a:solidFill>
                <a:latin typeface="Calibri"/>
              </a:rPr>
              <a:t> übersetzt nicht</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P5</a:t>
            </a:r>
            <a:r>
              <a:rPr sz="2400" b="0" i="0">
                <a:solidFill>
                  <a:srgbClr val="1F2A37"/>
                </a:solidFill>
                <a:latin typeface="Calibri"/>
              </a:rPr>
              <a:t> Zeichenketten mit </a:t>
            </a:r>
            <a:r>
              <a:rPr sz="2300" b="0" i="0">
                <a:solidFill>
                  <a:srgbClr val="1F4E79"/>
                </a:solidFill>
                <a:latin typeface="Consolas"/>
              </a:rPr>
              <a:t>==</a:t>
            </a:r>
            <a:r>
              <a:rPr sz="2400" b="0" i="0">
                <a:solidFill>
                  <a:srgbClr val="1F2A37"/>
                </a:solidFill>
                <a:latin typeface="Calibri"/>
              </a:rPr>
              <a:t> statt </a:t>
            </a:r>
            <a:r>
              <a:rPr sz="2300" b="0" i="0">
                <a:solidFill>
                  <a:srgbClr val="1F4E79"/>
                </a:solidFill>
                <a:latin typeface="Consolas"/>
              </a:rPr>
              <a:t>equals</a:t>
            </a:r>
            <a:r>
              <a:rPr sz="2400" b="0" i="0">
                <a:solidFill>
                  <a:srgbClr val="1F2A37"/>
                </a:solidFill>
                <a:latin typeface="Calibri"/>
              </a:rPr>
              <a:t> verglichen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Verwechselt: </a:t>
            </a:r>
            <a:r>
              <a:rPr sz="2300" b="0" i="0">
                <a:solidFill>
                  <a:srgbClr val="1F4E79"/>
                </a:solidFill>
                <a:latin typeface="Consolas"/>
              </a:rPr>
              <a:t>top</a:t>
            </a:r>
            <a:r>
              <a:rPr sz="2400" b="0" i="0">
                <a:solidFill>
                  <a:srgbClr val="1F2A37"/>
                </a:solidFill>
                <a:latin typeface="Calibri"/>
              </a:rPr>
              <a:t>/</a:t>
            </a:r>
            <a:r>
              <a:rPr sz="2300" b="0" i="0">
                <a:solidFill>
                  <a:srgbClr val="1F4E79"/>
                </a:solidFill>
                <a:latin typeface="Consolas"/>
              </a:rPr>
              <a:t>head</a:t>
            </a:r>
            <a:r>
              <a:rPr sz="2400" b="0" i="0">
                <a:solidFill>
                  <a:srgbClr val="1F2A37"/>
                </a:solidFill>
                <a:latin typeface="Calibri"/>
              </a:rPr>
              <a:t> sehen nur nach – </a:t>
            </a:r>
            <a:r>
              <a:rPr sz="2300" b="0" i="0">
                <a:solidFill>
                  <a:srgbClr val="1F4E79"/>
                </a:solidFill>
                <a:latin typeface="Consolas"/>
              </a:rPr>
              <a:t>pop</a:t>
            </a:r>
            <a:r>
              <a:rPr sz="2400" b="0" i="0">
                <a:solidFill>
                  <a:srgbClr val="1F2A37"/>
                </a:solidFill>
                <a:latin typeface="Calibri"/>
              </a:rPr>
              <a:t>/</a:t>
            </a:r>
            <a:r>
              <a:rPr sz="2300" b="0" i="0">
                <a:solidFill>
                  <a:srgbClr val="1F4E79"/>
                </a:solidFill>
                <a:latin typeface="Consolas"/>
              </a:rPr>
              <a:t>dequeue</a:t>
            </a:r>
            <a:r>
              <a:rPr sz="2400" b="0" i="0">
                <a:solidFill>
                  <a:srgbClr val="1F2A37"/>
                </a:solidFill>
                <a:latin typeface="Calibri"/>
              </a:rPr>
              <a:t> entnehmen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Abi-Check</a:t>
            </a:r>
            <a:r>
              <a:rPr sz="2000" b="0" i="0">
                <a:solidFill>
                  <a:srgbClr val="1F2A37"/>
                </a:solidFill>
                <a:latin typeface="Calibri"/>
              </a:rPr>
              <a:t/>
            </a:r>
          </a:p>
          <a:p>
            <a:pPr>
              <a:spcAft>
                <a:spcPts val="600"/>
              </a:spcAft>
            </a:pPr>
            <a:r>
              <a:rPr sz="2000" b="0" i="0">
                <a:solidFill>
                  <a:srgbClr val="1F2A37"/>
                </a:solidFill>
                <a:latin typeface="Calibri"/>
              </a:rPr>
              <a:t>Leer? – vor jedem Entnehmen</a:t>
            </a:r>
            <a:r>
              <a:rPr sz="2000" b="0" i="0">
                <a:solidFill>
                  <a:srgbClr val="1F2A37"/>
                </a:solidFill>
                <a:latin typeface="Calibri"/>
              </a:rPr>
              <a:t/>
            </a:r>
          </a:p>
          <a:p>
            <a:pPr>
              <a:spcAft>
                <a:spcPts val="600"/>
              </a:spcAft>
            </a:pPr>
            <a:r>
              <a:rPr sz="2000" b="0" i="0">
                <a:solidFill>
                  <a:srgbClr val="1F2A37"/>
                </a:solidFill>
                <a:latin typeface="Calibri"/>
              </a:rPr>
              <a:t>Cast beim Herausnehmen?</a:t>
            </a:r>
            <a:r>
              <a:rPr sz="2000" b="0" i="0">
                <a:solidFill>
                  <a:srgbClr val="1F2A37"/>
                </a:solidFill>
                <a:latin typeface="Calibri"/>
              </a:rPr>
              <a:t/>
            </a:r>
          </a:p>
          <a:p>
            <a:pPr>
              <a:spcAft>
                <a:spcPts val="600"/>
              </a:spcAft>
            </a:pPr>
            <a:r>
              <a:rPr sz="2000" b="0" i="0">
                <a:solidFill>
                  <a:srgbClr val="1F2A37"/>
                </a:solidFill>
                <a:latin typeface="Calibri"/>
              </a:rPr>
              <a:t>Struktur wiederhergestellt?</a:t>
            </a:r>
            <a:r>
              <a:rPr sz="2000" b="0" i="0">
                <a:solidFill>
                  <a:srgbClr val="1F2A37"/>
                </a:solidFill>
                <a:latin typeface="Calibri"/>
              </a:rPr>
              <a:t/>
            </a:r>
          </a:p>
          <a:p>
            <a:pPr>
              <a:spcAft>
                <a:spcPts val="600"/>
              </a:spcAft>
            </a:pPr>
            <a:r>
              <a:rPr sz="2000" b="0" i="0">
                <a:solidFill>
                  <a:srgbClr val="1F2A37"/>
                </a:solidFill>
                <a:latin typeface="Calibri"/>
              </a:rPr>
              <a:t>Nur Methoden aus EH §4?</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ADT: Zugriff </a:t>
            </a:r>
            <a:r>
              <a:rPr sz="2200" b="1" i="0">
                <a:solidFill>
                  <a:srgbClr val="1F2A37"/>
                </a:solidFill>
                <a:latin typeface="Calibri"/>
              </a:rPr>
              <a:t>nur über die Schnittstelle</a:t>
            </a:r>
            <a:r>
              <a:rPr sz="2200" b="0" i="0">
                <a:solidFill>
                  <a:srgbClr val="1F2A37"/>
                </a:solidFill>
                <a:latin typeface="Calibri"/>
              </a:rPr>
              <a:t> – Stapel: </a:t>
            </a:r>
            <a:r>
              <a:rPr sz="2100" b="0" i="0">
                <a:solidFill>
                  <a:srgbClr val="1F4E79"/>
                </a:solidFill>
                <a:latin typeface="Consolas"/>
              </a:rPr>
              <a:t>push</a:t>
            </a:r>
            <a:r>
              <a:rPr sz="2200" b="0" i="0">
                <a:solidFill>
                  <a:srgbClr val="1F2A37"/>
                </a:solidFill>
                <a:latin typeface="Calibri"/>
              </a:rPr>
              <a:t>, </a:t>
            </a:r>
            <a:r>
              <a:rPr sz="2100" b="0" i="0">
                <a:solidFill>
                  <a:srgbClr val="1F4E79"/>
                </a:solidFill>
                <a:latin typeface="Consolas"/>
              </a:rPr>
              <a:t>pop</a:t>
            </a:r>
            <a:r>
              <a:rPr sz="2200" b="0" i="0">
                <a:solidFill>
                  <a:srgbClr val="1F2A37"/>
                </a:solidFill>
                <a:latin typeface="Calibri"/>
              </a:rPr>
              <a:t>, </a:t>
            </a:r>
            <a:r>
              <a:rPr sz="2100" b="0" i="0">
                <a:solidFill>
                  <a:srgbClr val="1F4E79"/>
                </a:solidFill>
                <a:latin typeface="Consolas"/>
              </a:rPr>
              <a:t>top</a:t>
            </a:r>
            <a:r>
              <a:rPr sz="2200" b="0" i="0">
                <a:solidFill>
                  <a:srgbClr val="1F2A37"/>
                </a:solidFill>
                <a:latin typeface="Calibri"/>
              </a:rPr>
              <a:t>, </a:t>
            </a:r>
            <a:r>
              <a:rPr sz="2100" b="0" i="0">
                <a:solidFill>
                  <a:srgbClr val="1F4E79"/>
                </a:solidFill>
                <a:latin typeface="Consolas"/>
              </a:rPr>
              <a:t>isEmpty</a:t>
            </a:r>
            <a:r>
              <a:rPr sz="2200" b="0" i="0">
                <a:solidFill>
                  <a:srgbClr val="1F2A37"/>
                </a:solidFill>
                <a:latin typeface="Calibri"/>
              </a:rPr>
              <a:t>; Schlange: </a:t>
            </a:r>
            <a:r>
              <a:rPr sz="2100" b="0" i="0">
                <a:solidFill>
                  <a:srgbClr val="1F4E79"/>
                </a:solidFill>
                <a:latin typeface="Consolas"/>
              </a:rPr>
              <a:t>enqueue</a:t>
            </a:r>
            <a:r>
              <a:rPr sz="2200" b="0" i="0">
                <a:solidFill>
                  <a:srgbClr val="1F2A37"/>
                </a:solidFill>
                <a:latin typeface="Calibri"/>
              </a:rPr>
              <a:t>, </a:t>
            </a:r>
            <a:r>
              <a:rPr sz="2100" b="0" i="0">
                <a:solidFill>
                  <a:srgbClr val="1F4E79"/>
                </a:solidFill>
                <a:latin typeface="Consolas"/>
              </a:rPr>
              <a:t>dequeue</a:t>
            </a:r>
            <a:r>
              <a:rPr sz="2200" b="0" i="0">
                <a:solidFill>
                  <a:srgbClr val="1F2A37"/>
                </a:solidFill>
                <a:latin typeface="Calibri"/>
              </a:rPr>
              <a:t>, </a:t>
            </a:r>
            <a:r>
              <a:rPr sz="2100" b="0" i="0">
                <a:solidFill>
                  <a:srgbClr val="1F4E79"/>
                </a:solidFill>
                <a:latin typeface="Consolas"/>
              </a:rPr>
              <a:t>head</a:t>
            </a:r>
            <a:r>
              <a:rPr sz="2200" b="0" i="0">
                <a:solidFill>
                  <a:srgbClr val="1F2A37"/>
                </a:solidFill>
                <a:latin typeface="Calibri"/>
              </a:rPr>
              <a:t>, </a:t>
            </a:r>
            <a:r>
              <a:rPr sz="2100" b="0" i="0">
                <a:solidFill>
                  <a:srgbClr val="1F4E79"/>
                </a:solidFill>
                <a:latin typeface="Consolas"/>
              </a:rPr>
              <a:t>isEmpty</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Stapel = </a:t>
            </a:r>
            <a:r>
              <a:rPr sz="2200" b="1" i="0">
                <a:solidFill>
                  <a:srgbClr val="1F2A37"/>
                </a:solidFill>
                <a:latin typeface="Calibri"/>
              </a:rPr>
              <a:t>LIFO</a:t>
            </a:r>
            <a:r>
              <a:rPr sz="2200" b="0" i="0">
                <a:solidFill>
                  <a:srgbClr val="1F2A37"/>
                </a:solidFill>
                <a:latin typeface="Calibri"/>
              </a:rPr>
              <a:t> (oben), Schlange = </a:t>
            </a:r>
            <a:r>
              <a:rPr sz="2200" b="1" i="0">
                <a:solidFill>
                  <a:srgbClr val="1F2A37"/>
                </a:solidFill>
                <a:latin typeface="Calibri"/>
              </a:rPr>
              <a:t>FIFO</a:t>
            </a:r>
            <a:r>
              <a:rPr sz="2200" b="0" i="0">
                <a:solidFill>
                  <a:srgbClr val="1F2A37"/>
                </a:solidFill>
                <a:latin typeface="Calibri"/>
              </a:rPr>
              <a:t> (hinten rein, vorne raus)</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Nicht generisch: beim Herausnehmen </a:t>
            </a:r>
            <a:r>
              <a:rPr sz="2200" b="1" i="0">
                <a:solidFill>
                  <a:srgbClr val="1F2A37"/>
                </a:solidFill>
                <a:latin typeface="Calibri"/>
              </a:rPr>
              <a:t>casten</a:t>
            </a:r>
            <a:r>
              <a:rPr sz="2200" b="0" i="0">
                <a:solidFill>
                  <a:srgbClr val="1F2A37"/>
                </a:solidFill>
                <a:latin typeface="Calibri"/>
              </a:rPr>
              <a:t>, z. B. </a:t>
            </a:r>
            <a:r>
              <a:rPr sz="2100" b="0" i="0">
                <a:solidFill>
                  <a:srgbClr val="1F4E79"/>
                </a:solidFill>
                <a:latin typeface="Consolas"/>
              </a:rPr>
              <a:t>(Integer) s.pop()</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Erst </a:t>
            </a:r>
            <a:r>
              <a:rPr sz="2100" b="0" i="0">
                <a:solidFill>
                  <a:srgbClr val="1F4E79"/>
                </a:solidFill>
                <a:latin typeface="Consolas"/>
              </a:rPr>
              <a:t>isEmpty</a:t>
            </a:r>
            <a:r>
              <a:rPr sz="2200" b="0" i="0">
                <a:solidFill>
                  <a:srgbClr val="1F2A37"/>
                </a:solidFill>
                <a:latin typeface="Calibri"/>
              </a:rPr>
              <a:t> fragen, dann nehmen; unverändert lassen mit </a:t>
            </a:r>
            <a:r>
              <a:rPr sz="2200" b="1" i="0">
                <a:solidFill>
                  <a:srgbClr val="1F2A37"/>
                </a:solidFill>
                <a:latin typeface="Calibri"/>
              </a:rPr>
              <a:t>Hilfsstapel</a:t>
            </a:r>
            <a:r>
              <a:rPr sz="2200" b="0" i="0">
                <a:solidFill>
                  <a:srgbClr val="1F2A37"/>
                </a:solidFill>
                <a:latin typeface="Calibri"/>
              </a:rPr>
              <a:t> bzw. </a:t>
            </a:r>
            <a:r>
              <a:rPr sz="2200" b="1" i="0">
                <a:solidFill>
                  <a:srgbClr val="1F2A37"/>
                </a:solidFill>
                <a:latin typeface="Calibri"/>
              </a:rPr>
              <a:t>Hilfsschlange</a:t>
            </a:r>
            <a:r>
              <a:rPr sz="22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4.1 „Kistenturm und Schiffsschlange“ und Level 4.3 „Inventur: Struktur unverändert lassen“</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W4·1 „Stapel und Schlange“ und AB W4·2 Teil 1</a:t>
            </a:r>
            <a:r>
              <a:rPr sz="2200" b="0" i="0">
                <a:solidFill>
                  <a:srgbClr val="1F2A37"/>
                </a:solidFill>
                <a:latin typeface="Calibri"/>
              </a:rPr>
              <a:t/>
            </a:r>
          </a:p>
          <a:p>
            <a:pPr>
              <a:spcAft>
                <a:spcPts val="1200"/>
              </a:spcAft>
            </a:pPr>
            <a:r>
              <a:rPr sz="2200" b="1" i="0">
                <a:solidFill>
                  <a:srgbClr val="1F4E79"/>
                </a:solidFill>
                <a:latin typeface="Calibri"/>
              </a:rPr>
              <a:t>Online-IDE: </a:t>
            </a:r>
            <a:r>
              <a:rPr sz="2200" b="0" i="0">
                <a:solidFill>
                  <a:srgbClr val="1F2A37"/>
                </a:solidFill>
                <a:latin typeface="Calibri"/>
              </a:rPr>
              <a:t>Bibliothek „Niedersachsen“ einschalten (Video 2)</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Binärbäume und Suchbäume</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6: Stapel und Schlange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Stapel und Schlange</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