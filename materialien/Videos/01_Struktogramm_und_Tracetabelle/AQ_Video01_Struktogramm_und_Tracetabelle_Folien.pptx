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freundlicher Einstieg, Titelfolie im Hintergrund.]</a:t>
            </a:r>
          </a:p>
          <a:p/>
          <a:p>
            <a:r>
              <a:t>Hallo und willkommen zur Algo Quest! In diesem Video geht es um zwei Werkzeuge, die du im Informatik-Abitur ständig brauchst: das Struktogramm und die Tracetabelle. Mit dem Struktogramm schreibst du einen Algorithmus so auf, dass jeder ihn versteht – ganz ohne Programmiersprache. Und mit der Tracetabelle zeigst du Schritt für Schritt, was ein Programm tatsächlich tut. Am Ende des Videos weißt du, wie beides aussehen muss, damit du keine Punkte verschenkst.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Abitur begegnen dir dazu vor allem zwei Arbeitsaufträge. Erstens: Stellen Sie den Algorithmus als Struktogramm dar. Zweitens: Dokumentieren Sie den Ablauf in einer Tracetabelle. Wie ein Struktogramm genau aussehen soll, ist in den Ergänzenden Hinweisen zum Abitur festgelegt, im Paragrafen fünf. Das Wichtigste vorweg: Ein Struktogramm ist sprachunabhängig. Es enthält also keine Java-Syntax – kein Gleichheitszeichen als Zuweisung, kein i plus plus, keine geschweiften Klammern. Schauen wir uns an, welche Bausteine es gibt.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Ganz oben steht der Kopf mit der Signatur: der Name, in Klammern die Parameter mit ihrem Typ und hinter dem Doppelpunkt der Rückgabetyp. Als Typnamen verwendest du die deutschen Namen: Ganzzahl, Kommazahl, Wahrheitswert, Zeichen, Zeichenkette – und nichts, wenn nichts zurückgegeben wird. Darunter folgen die Anweisungen von oben nach unten. Eine Zuweisung schreibst du mit dem Pfeil nach links: x bekommt den Wert null. Die Verzweigung erkennst du am Dreieck: Oben steht die Bedingung, links geht es weiter, wenn sie wahr ist, rechts, wenn sie falsch ist. Für Schleifen gibt es die Zählschleife – für i von null bis n minus eins – und die Solange-Schleife, die vor jedem Durchlauf ihre Bedingung prüft. Der Rumpf einer Schleife ist eingerückt. Und mit gib x zurück endet die Methode.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ein Beispiel aus dem Dungeon: Ein Held legt sein Gold an und bekommt jedes Jahr zehn Prozent Zinsen. Die Methode jahreBisZiel berechnet, wie viele Jahre es dauert, bis er sein Ziel erreicht. Achte schon jetzt auf die Zeile gold gleich gold plus gold durch zehn: Das ist eine ganzzahlige Division, der Rest fällt weg. Übersetzen wir das Ganze jetzt Zeile für Zeile in ein Struktogramm.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Methodenkopf wird zur Signatur: jahreBisZiel, gold vom Typ Ganzzahl, ziel vom Typ Ganzzahl, Rückgabetyp Ganzzahl. Aus int jahre gleich null wird jahre bekommt null – mit dem Pfeil. Die while-Schleife wird zur Solange-Schleife: solange gold kleiner als ziel. Ihr Rumpf ist eingerückt. Darin steht gold bekommt gold plus gold durch zehn, und aus jahre plus plus wird jahre bekommt jahre plus eins. Am Ende steht: gib jahre zurück. Fertig ist das Struktogramm – ohne eine einzige Zeile Java-Syntax.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Übersetzungen brauchst du immer wieder, deshalb hier als Spickzettel. Die Zuweisung wird zum Pfeil. Ein Vergleich auf Gleichheit, in Java das doppelte Gleichheitszeichen, wird im Struktogramm zu einem einfachen Gleichheitszeichen. Ungleich, kleiner gleich und größer gleich schreibst du mit den mathematischen Zeichen. Die logischen Operatoren schreibst du aus: und, oder, nicht. Der Rest einer Division heißt mod. Und besonders wichtig: Die for-Schleife von null bis kleiner n wird zu für i von null bis n minus eins. Das minus eins vergisst man leicht – dazu gleich mehr bei den Fehlern.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zweites Beispiel, diesmal mit Verzweigung. Die Methode zählt, wie viele Werte einer Reihung zwischen lo und hi liegen. Für die Reihung zwölf, vier, achtzehn, neun, fünfzehn und den Bereich fünf bis fünfzehn sind das drei Werte: zwölf, neun und fünfzehn.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for-Schleife wird zur Zählschleife: für i von null bis Länge von r minus eins. Das if wird zum Dreieck mit der Bedingung oben. In der Bedingung schreibst du nicht das doppelte kaufmännische Und, sondern das Wort und. Der Wahr-Zweig erhöht anzahl um eins. Der Falsch-Zweig ist leer – im Struktogramm steht dort das Zeichen für die leere Menge. Ganz unten wieder: gib anzahl zurück.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Kommen wir zur Tracetabelle. Wir halten uns in der Algo Quest an feste Regeln. Erstens: Es gibt eine Spalte für jede Variable, dazu bei Bedarf eine Spalte für den Durchlauf und am Ende die Rückgabe. Zweitens: Bedingungen bekommen keine eigene Spalte. Ob gold kleiner als ziel ist, siehst du ja an den Werten. Drittens: Wann eine neue Zeile entsteht, steht im Code. An jeder Stelle mit dem Kommentar Pfeil Tabellenzeile trägst du eine Zeile ein. Die Markierung mit Startwerte steht vor der Schleife, die andere am Ende des Schleifenrumpfs. So bleibt die Tabelle klein, und jede Zeile zeigt einen klar festgelegten Zeitpunkt.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Zeilen der Tabelle nacheinander zeigen; bei Zeile 3 auf 121 / 10 = 12 hinweisen.]</a:t>
            </a:r>
          </a:p>
          <a:p/>
          <a:p>
            <a:r>
              <a:t>Probieren wir es aus: jahreBisZiel mit hundert Gold und dem Ziel hundertfünfzig. Die erste Markierung steht vor der Schleife. Hier tragen wir die Startwerte ein: gold hundert, jahre null. Jetzt läuft die Schleife. Hundert ist kleiner als hundertfünfzig, also rechnen wir: hundert plus zehn gleich hundertzehn, jahre wird eins. Am Ende des Rumpfs steht die Markierung – neue Zeile. Nächster Durchlauf: hundertzehn plus elf gleich hunderteinundzwanzig. Dann hunderteinundzwanzig durch zehn – ganzzahlig! – ist zwölf, also hundertdreiunddreißig. Dann plus dreizehn: hundertsechsundvierzig. Und schließlich plus vierzehn: hundertsechzig, jahre ist fünf. Jetzt ist hundertsechzig nicht mehr kleiner als hundertfünfzig, die Schleife endet. Rückgabe: fünf.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Halte das Video an und führe die Tracetabelle für jahreBisZiel mit fünfzig Gold und dem Ziel siebzig. Denk an die Startzeile und an die ganzzahlige Division. Wenn du fertig bist, geht es weiter mit der Auflösung.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Start: gold fünfzig, jahre null. Fünfzig durch zehn ist fünf, also fünfundfünfzig. Fünfundfünfzig durch zehn ist ebenfalls fünf – der Rest fällt weg – also sechzig. Dann sechzig plus sechs: sechsundsechzig. Und sechsundsechzig plus sechs: zweiundsiebzig. Zweiundsiebzig ist nicht kleiner als siebzig, die Schleife endet. Die Methode gibt vier zurück. Hattest du fünf Zeilen, also auch die Startzeile? Dann ist deine Tabelle vollständig.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die häufigsten Fehler – mit den Nummern aus unserer Fallen-Liste. Falle P9: Java-Syntax im Struktogramm, etwa ein Gleichheitszeichen statt des Pfeils, i plus plus oder das doppelte kaufmännische Und. Falle P6, der Klassiker: für i von null bis n. Richtig ist bis n minus eins, sonst greifst du hinter das Ende der Reihung. Falle P8: In der Tracetabelle fehlt die Startzeile, oder es gibt doch eine Spalte für die Bedingung. Falle P4: die ganzzahlige Division übersehen. Und ganz banal: den Rückgabewert nicht angeben. Rechts siehst du einen kleinen Abi-Check, mit dem du deine Lösung vor der Abgabe prüfen kannst.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Ein Struktogramm nach EH Paragraf fünf hat einen Kopf mit Signatur und deutschen Typnamen, Zuweisungen mit dem Pfeil und endet mit gib zurück. Verzweigungen sind Dreiecke, Schleifen werden eingerückt. Java-Syntax hat im Struktogramm nichts zu suchen. Und in der Tracetabelle stehen nur Variablen – eine neue Zeile gibt es genau an den markierten Stellen.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du! Im Algo Quest Lab findest du dazu Level null Punkt eins, das Portal, und Level null Punkt zwei, die Werkstatt. Dort bekommst du zu jeder Aufgabe sofort eine Rückmeldung. Auf dem Arbeitsblatt Das Portal findest du die Regeln noch einmal zum Nachlesen, und auf den Werkzeugkarten hast du den Spickzettel immer dabei. Im nächsten Video zeige ich dir die Online-IDE, mit der wir programmieren und testen. Bis dahin – viel Erfolg in der Akademie!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1</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Struktogramm und Tracetabelle</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So schreibst du Algorithmen auf, wie es das Abitur verlangt</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7F6000"/>
                </a:solidFill>
                <a:latin typeface="Calibri"/>
              </a:rPr>
              <a:t>Welt 0 · Die Akademie</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Worum geht es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Stellen Sie</a:t>
            </a:r>
            <a:r>
              <a:rPr sz="2400" b="0" i="0">
                <a:solidFill>
                  <a:srgbClr val="1F2A37"/>
                </a:solidFill>
                <a:latin typeface="Calibri"/>
              </a:rPr>
              <a:t> den Algorithmus als Struktogramm </a:t>
            </a:r>
            <a:r>
              <a:rPr sz="2400" b="1" i="0">
                <a:solidFill>
                  <a:srgbClr val="1F2A37"/>
                </a:solidFill>
                <a:latin typeface="Calibri"/>
              </a:rPr>
              <a:t>dar</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Dokumentieren Sie</a:t>
            </a:r>
            <a:r>
              <a:rPr sz="2400" b="0" i="0">
                <a:solidFill>
                  <a:srgbClr val="1F2A37"/>
                </a:solidFill>
                <a:latin typeface="Calibri"/>
              </a:rPr>
              <a:t> den Ablauf in einer Tracetabelle.“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Die Regeln stehen in den Ergänzenden Hinweisen: </a:t>
            </a:r>
            <a:r>
              <a:rPr sz="2400" b="1" i="0">
                <a:solidFill>
                  <a:srgbClr val="1F2A37"/>
                </a:solidFill>
                <a:latin typeface="Calibri"/>
              </a:rPr>
              <a:t>EH §5</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Sprachunabhängig – </a:t>
            </a:r>
            <a:r>
              <a:rPr sz="2400" b="1" i="0">
                <a:solidFill>
                  <a:srgbClr val="1F2A37"/>
                </a:solidFill>
                <a:latin typeface="Calibri"/>
              </a:rPr>
              <a:t>keine Java-Syntax</a:t>
            </a:r>
            <a:r>
              <a:rPr sz="2400" b="0" i="0">
                <a:solidFill>
                  <a:srgbClr val="1F2A37"/>
                </a:solidFill>
                <a:latin typeface="Calibri"/>
              </a:rPr>
              <a:t> im Struktogramm</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Heute</a:t>
            </a:r>
            <a:r>
              <a:rPr sz="2000" b="0" i="0">
                <a:solidFill>
                  <a:srgbClr val="1F2A37"/>
                </a:solidFill>
                <a:latin typeface="Calibri"/>
              </a:rPr>
              <a:t/>
            </a:r>
          </a:p>
          <a:p>
            <a:pPr>
              <a:spcAft>
                <a:spcPts val="600"/>
              </a:spcAft>
            </a:pPr>
            <a:r>
              <a:rPr sz="2000" b="0" i="0">
                <a:solidFill>
                  <a:srgbClr val="1F2A37"/>
                </a:solidFill>
                <a:latin typeface="Calibri"/>
              </a:rPr>
              <a:t>Bausteine des Struktogramms</a:t>
            </a:r>
            <a:r>
              <a:rPr sz="2000" b="0" i="0">
                <a:solidFill>
                  <a:srgbClr val="1F2A37"/>
                </a:solidFill>
                <a:latin typeface="Calibri"/>
              </a:rPr>
              <a:t/>
            </a:r>
          </a:p>
          <a:p>
            <a:pPr>
              <a:spcAft>
                <a:spcPts val="600"/>
              </a:spcAft>
            </a:pPr>
            <a:r>
              <a:rPr sz="2000" b="0" i="0">
                <a:solidFill>
                  <a:srgbClr val="1F2A37"/>
                </a:solidFill>
                <a:latin typeface="Calibri"/>
              </a:rPr>
              <a:t>Von Java zum Struktogramm</a:t>
            </a:r>
            <a:r>
              <a:rPr sz="2000" b="0" i="0">
                <a:solidFill>
                  <a:srgbClr val="1F2A37"/>
                </a:solidFill>
                <a:latin typeface="Calibri"/>
              </a:rPr>
              <a:t/>
            </a:r>
          </a:p>
          <a:p>
            <a:pPr>
              <a:spcAft>
                <a:spcPts val="600"/>
              </a:spcAft>
            </a:pPr>
            <a:r>
              <a:rPr sz="2000" b="0" i="0">
                <a:solidFill>
                  <a:srgbClr val="1F2A37"/>
                </a:solidFill>
                <a:latin typeface="Calibri"/>
              </a:rPr>
              <a:t>Tracetabelle führen</a:t>
            </a:r>
            <a:r>
              <a:rPr sz="2000" b="0" i="0">
                <a:solidFill>
                  <a:srgbClr val="1F2A37"/>
                </a:solidFill>
                <a:latin typeface="Calibri"/>
              </a:rPr>
              <a:t/>
            </a:r>
          </a:p>
          <a:p>
            <a:pPr>
              <a:spcAft>
                <a:spcPts val="600"/>
              </a:spcAft>
            </a:pPr>
            <a:r>
              <a:rPr sz="2000" b="0" i="0">
                <a:solidFill>
                  <a:srgbClr val="1F2A37"/>
                </a:solidFill>
                <a:latin typeface="Calibri"/>
              </a:rPr>
              <a:t>Typische Fehler</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Bausteine nach EH §5</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g_bausteine.png"/>
          <p:cNvPicPr>
            <a:picLocks noChangeAspect="1"/>
          </p:cNvPicPr>
          <p:nvPr/>
        </p:nvPicPr>
        <p:blipFill>
          <a:blip r:embed="rId2"/>
          <a:stretch>
            <a:fillRect/>
          </a:stretch>
        </p:blipFill>
        <p:spPr>
          <a:xfrm>
            <a:off x="548640" y="1417320"/>
            <a:ext cx="3114409" cy="4892040"/>
          </a:xfrm>
          <a:prstGeom prst="rect">
            <a:avLst/>
          </a:prstGeom>
        </p:spPr>
      </p:pic>
      <p:sp>
        <p:nvSpPr>
          <p:cNvPr id="6" name="Rounded Rectangle 5"/>
          <p:cNvSpPr/>
          <p:nvPr/>
        </p:nvSpPr>
        <p:spPr>
          <a:xfrm>
            <a:off x="6766560" y="1325880"/>
            <a:ext cx="48764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463039"/>
            <a:ext cx="4510735" cy="2377439"/>
          </a:xfrm>
          <a:prstGeom prst="rect">
            <a:avLst/>
          </a:prstGeom>
          <a:noFill/>
        </p:spPr>
        <p:txBody>
          <a:bodyPr wrap="square" anchor="t" lIns="45720" rIns="45720">
            <a:spAutoFit/>
          </a:bodyPr>
          <a:lstStyle/>
          <a:p>
            <a:pPr>
              <a:spcAft>
                <a:spcPts val="800"/>
              </a:spcAft>
            </a:pPr>
            <a:r>
              <a:rPr sz="1800" b="1" i="0">
                <a:solidFill>
                  <a:srgbClr val="1F4E79"/>
                </a:solidFill>
                <a:latin typeface="Calibri"/>
              </a:rPr>
              <a:t>Merke</a:t>
            </a:r>
            <a:r>
              <a:rPr sz="1600" b="0" i="0">
                <a:solidFill>
                  <a:srgbClr val="1F2A37"/>
                </a:solidFill>
                <a:latin typeface="Calibri"/>
              </a:rPr>
              <a:t/>
            </a:r>
          </a:p>
          <a:p>
            <a:pPr>
              <a:spcAft>
                <a:spcPts val="600"/>
              </a:spcAft>
            </a:pPr>
            <a:r>
              <a:rPr sz="1600" b="0" i="0">
                <a:solidFill>
                  <a:srgbClr val="1F2A37"/>
                </a:solidFill>
                <a:latin typeface="Calibri"/>
              </a:rPr>
              <a:t>Kopf: </a:t>
            </a:r>
            <a:r>
              <a:rPr sz="1500" b="0" i="0">
                <a:solidFill>
                  <a:srgbClr val="1F4E79"/>
                </a:solidFill>
                <a:latin typeface="Consolas"/>
              </a:rPr>
              <a:t>name(p: Typ): Typ</a:t>
            </a:r>
            <a:r>
              <a:rPr sz="1600" b="0" i="0">
                <a:solidFill>
                  <a:srgbClr val="1F2A37"/>
                </a:solidFill>
                <a:latin typeface="Calibri"/>
              </a:rPr>
              <a:t/>
            </a:r>
          </a:p>
          <a:p>
            <a:pPr>
              <a:spcAft>
                <a:spcPts val="600"/>
              </a:spcAft>
            </a:pPr>
            <a:r>
              <a:rPr sz="1600" b="0" i="0">
                <a:solidFill>
                  <a:srgbClr val="1F2A37"/>
                </a:solidFill>
                <a:latin typeface="Calibri"/>
              </a:rPr>
              <a:t>Zuweisung mit </a:t>
            </a:r>
            <a:r>
              <a:rPr sz="1500" b="0" i="0">
                <a:solidFill>
                  <a:srgbClr val="1F4E79"/>
                </a:solidFill>
                <a:latin typeface="Consolas"/>
              </a:rPr>
              <a:t>←</a:t>
            </a:r>
            <a:r>
              <a:rPr sz="1600" b="0" i="0">
                <a:solidFill>
                  <a:srgbClr val="1F2A37"/>
                </a:solidFill>
                <a:latin typeface="Calibri"/>
              </a:rPr>
              <a:t/>
            </a:r>
          </a:p>
          <a:p>
            <a:pPr>
              <a:spcAft>
                <a:spcPts val="600"/>
              </a:spcAft>
            </a:pPr>
            <a:r>
              <a:rPr sz="1600" b="0" i="0">
                <a:solidFill>
                  <a:srgbClr val="1F2A37"/>
                </a:solidFill>
                <a:latin typeface="Calibri"/>
              </a:rPr>
              <a:t>„gib … zurück“ beendet</a:t>
            </a:r>
            <a:r>
              <a:rPr sz="1600" b="0" i="0">
                <a:solidFill>
                  <a:srgbClr val="1F2A37"/>
                </a:solidFill>
                <a:latin typeface="Calibri"/>
              </a:rPr>
              <a:t/>
            </a:r>
          </a:p>
          <a:p>
            <a:pPr>
              <a:spcAft>
                <a:spcPts val="600"/>
              </a:spcAft>
            </a:pPr>
            <a:r>
              <a:rPr sz="1600" b="0" i="0">
                <a:solidFill>
                  <a:srgbClr val="1F2A37"/>
                </a:solidFill>
                <a:latin typeface="Calibri"/>
              </a:rPr>
              <a:t>Verzweigung: Dreieck, wahr | falsch</a:t>
            </a:r>
            <a:r>
              <a:rPr sz="1600" b="0" i="0">
                <a:solidFill>
                  <a:srgbClr val="1F2A37"/>
                </a:solidFill>
                <a:latin typeface="Calibri"/>
              </a:rPr>
              <a:t/>
            </a:r>
          </a:p>
          <a:p>
            <a:pPr>
              <a:spcAft>
                <a:spcPts val="600"/>
              </a:spcAft>
            </a:pPr>
            <a:r>
              <a:rPr sz="1600" b="0" i="0">
                <a:solidFill>
                  <a:srgbClr val="1F2A37"/>
                </a:solidFill>
                <a:latin typeface="Calibri"/>
              </a:rPr>
              <a:t>„für i von 0 bis n − 1“</a:t>
            </a:r>
            <a:r>
              <a:rPr sz="1600" b="0" i="0">
                <a:solidFill>
                  <a:srgbClr val="1F2A37"/>
                </a:solidFill>
                <a:latin typeface="Calibri"/>
              </a:rPr>
              <a:t/>
            </a:r>
          </a:p>
          <a:p>
            <a:pPr>
              <a:spcAft>
                <a:spcPts val="600"/>
              </a:spcAft>
            </a:pPr>
            <a:r>
              <a:rPr sz="1600" b="0" i="0">
                <a:solidFill>
                  <a:srgbClr val="1F2A37"/>
                </a:solidFill>
                <a:latin typeface="Calibri"/>
              </a:rPr>
              <a:t>„solange …“</a:t>
            </a:r>
            <a:r>
              <a:rPr sz="16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Von Java zum Struktogramm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025640" cy="237439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842760" cy="2282952"/>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public static int jahreBisZiel(int gold, int ziel) {</a:t>
            </a:r>
          </a:p>
          <a:p>
            <a:pPr>
              <a:lnSpc>
                <a:spcPct val="100000"/>
              </a:lnSpc>
            </a:pPr>
            <a:r>
              <a:rPr sz="1600" b="0" i="0">
                <a:solidFill>
                  <a:srgbClr val="A0A7B1"/>
                </a:solidFill>
                <a:latin typeface="Consolas"/>
              </a:rPr>
              <a:t>2  </a:t>
            </a:r>
            <a:r>
              <a:rPr sz="1600" b="0" i="0">
                <a:solidFill>
                  <a:srgbClr val="1F2A37"/>
                </a:solidFill>
                <a:latin typeface="Consolas"/>
              </a:rPr>
              <a:t>    int jahre = 0;</a:t>
            </a:r>
          </a:p>
          <a:p>
            <a:pPr>
              <a:lnSpc>
                <a:spcPct val="100000"/>
              </a:lnSpc>
            </a:pPr>
            <a:r>
              <a:rPr sz="1600" b="0" i="0">
                <a:solidFill>
                  <a:srgbClr val="A0A7B1"/>
                </a:solidFill>
                <a:latin typeface="Consolas"/>
              </a:rPr>
              <a:t>3  </a:t>
            </a:r>
            <a:r>
              <a:rPr sz="1600" b="0" i="0">
                <a:solidFill>
                  <a:srgbClr val="1F2A37"/>
                </a:solidFill>
                <a:latin typeface="Consolas"/>
              </a:rPr>
              <a:t>    while (gold &lt; ziel) {</a:t>
            </a:r>
          </a:p>
          <a:p>
            <a:pPr>
              <a:lnSpc>
                <a:spcPct val="100000"/>
              </a:lnSpc>
            </a:pPr>
            <a:r>
              <a:rPr sz="1600" b="0" i="0">
                <a:solidFill>
                  <a:srgbClr val="A0A7B1"/>
                </a:solidFill>
                <a:latin typeface="Consolas"/>
              </a:rPr>
              <a:t>4  </a:t>
            </a:r>
            <a:r>
              <a:rPr sz="1600" b="0" i="0">
                <a:solidFill>
                  <a:srgbClr val="1F2A37"/>
                </a:solidFill>
                <a:latin typeface="Consolas"/>
              </a:rPr>
              <a:t>        gold = gold + gold / 10;</a:t>
            </a:r>
          </a:p>
          <a:p>
            <a:pPr>
              <a:lnSpc>
                <a:spcPct val="100000"/>
              </a:lnSpc>
            </a:pPr>
            <a:r>
              <a:rPr sz="1600" b="0" i="0">
                <a:solidFill>
                  <a:srgbClr val="A0A7B1"/>
                </a:solidFill>
                <a:latin typeface="Consolas"/>
              </a:rPr>
              <a:t>5  </a:t>
            </a:r>
            <a:r>
              <a:rPr sz="1600" b="0" i="0">
                <a:solidFill>
                  <a:srgbClr val="1F2A37"/>
                </a:solidFill>
                <a:latin typeface="Consolas"/>
              </a:rPr>
              <a:t>        jahre++;</a:t>
            </a:r>
          </a:p>
          <a:p>
            <a:pPr>
              <a:lnSpc>
                <a:spcPct val="100000"/>
              </a:lnSpc>
            </a:pPr>
            <a:r>
              <a:rPr sz="1600" b="0" i="0">
                <a:solidFill>
                  <a:srgbClr val="A0A7B1"/>
                </a:solidFill>
                <a:latin typeface="Consolas"/>
              </a:rPr>
              <a:t>6  </a:t>
            </a:r>
            <a:r>
              <a:rPr sz="1600" b="0" i="0">
                <a:solidFill>
                  <a:srgbClr val="1F2A37"/>
                </a:solidFill>
                <a:latin typeface="Consolas"/>
              </a:rPr>
              <a:t>    }</a:t>
            </a:r>
          </a:p>
          <a:p>
            <a:pPr>
              <a:lnSpc>
                <a:spcPct val="100000"/>
              </a:lnSpc>
            </a:pPr>
            <a:r>
              <a:rPr sz="1600" b="0" i="0">
                <a:solidFill>
                  <a:srgbClr val="A0A7B1"/>
                </a:solidFill>
                <a:latin typeface="Consolas"/>
              </a:rPr>
              <a:t>7  </a:t>
            </a:r>
            <a:r>
              <a:rPr sz="1600" b="0" i="0">
                <a:solidFill>
                  <a:srgbClr val="1F2A37"/>
                </a:solidFill>
                <a:latin typeface="Consolas"/>
              </a:rPr>
              <a:t>    return jahre;</a:t>
            </a:r>
          </a:p>
          <a:p>
            <a:pPr>
              <a:lnSpc>
                <a:spcPct val="100000"/>
              </a:lnSpc>
            </a:pPr>
            <a:r>
              <a:rPr sz="1600" b="0" i="0">
                <a:solidFill>
                  <a:srgbClr val="A0A7B1"/>
                </a:solidFill>
                <a:latin typeface="Consolas"/>
              </a:rPr>
              <a:t>8  </a:t>
            </a:r>
            <a:r>
              <a:rPr sz="1600" b="0" i="0">
                <a:solidFill>
                  <a:srgbClr val="1F2A37"/>
                </a:solidFill>
                <a:latin typeface="Consolas"/>
              </a:rPr>
              <a:t>}</a:t>
            </a:r>
          </a:p>
        </p:txBody>
      </p:sp>
      <p:sp>
        <p:nvSpPr>
          <p:cNvPr id="7" name="Rounded Rectangle 6"/>
          <p:cNvSpPr/>
          <p:nvPr/>
        </p:nvSpPr>
        <p:spPr>
          <a:xfrm>
            <a:off x="7848600" y="1325880"/>
            <a:ext cx="379445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31480" y="1463039"/>
            <a:ext cx="3428695" cy="2377439"/>
          </a:xfrm>
          <a:prstGeom prst="rect">
            <a:avLst/>
          </a:prstGeom>
          <a:noFill/>
        </p:spPr>
        <p:txBody>
          <a:bodyPr wrap="square" anchor="t" lIns="45720" rIns="45720">
            <a:spAutoFit/>
          </a:bodyPr>
          <a:lstStyle/>
          <a:p>
            <a:pPr>
              <a:spcAft>
                <a:spcPts val="800"/>
              </a:spcAft>
            </a:pPr>
            <a:r>
              <a:rPr sz="2000" b="1" i="0">
                <a:solidFill>
                  <a:srgbClr val="B8860B"/>
                </a:solidFill>
                <a:latin typeface="Calibri"/>
              </a:rPr>
              <a:t>Die Idee</a:t>
            </a:r>
            <a:r>
              <a:rPr sz="1800" b="0" i="0">
                <a:solidFill>
                  <a:srgbClr val="1F2A37"/>
                </a:solidFill>
                <a:latin typeface="Calibri"/>
              </a:rPr>
              <a:t/>
            </a:r>
          </a:p>
          <a:p>
            <a:pPr>
              <a:spcAft>
                <a:spcPts val="600"/>
              </a:spcAft>
            </a:pPr>
            <a:r>
              <a:rPr sz="1800" b="0" i="0">
                <a:solidFill>
                  <a:srgbClr val="1F2A37"/>
                </a:solidFill>
                <a:latin typeface="Calibri"/>
              </a:rPr>
              <a:t>Ein Held legt Gold an: </a:t>
            </a:r>
            <a:r>
              <a:rPr sz="1800" b="1" i="0">
                <a:solidFill>
                  <a:srgbClr val="1F2A37"/>
                </a:solidFill>
                <a:latin typeface="Calibri"/>
              </a:rPr>
              <a:t>10 % Zinsen</a:t>
            </a:r>
            <a:r>
              <a:rPr sz="1800" b="0" i="0">
                <a:solidFill>
                  <a:srgbClr val="1F2A37"/>
                </a:solidFill>
                <a:latin typeface="Calibri"/>
              </a:rPr>
              <a:t> pro Jahr.</a:t>
            </a:r>
            <a:r>
              <a:rPr sz="1800" b="0" i="0">
                <a:solidFill>
                  <a:srgbClr val="1F2A37"/>
                </a:solidFill>
                <a:latin typeface="Calibri"/>
              </a:rPr>
              <a:t/>
            </a:r>
          </a:p>
          <a:p>
            <a:pPr>
              <a:spcAft>
                <a:spcPts val="600"/>
              </a:spcAft>
            </a:pPr>
            <a:r>
              <a:rPr sz="1800" b="0" i="0">
                <a:solidFill>
                  <a:srgbClr val="1F2A37"/>
                </a:solidFill>
                <a:latin typeface="Calibri"/>
              </a:rPr>
              <a:t>Wie viele Jahre, bis das </a:t>
            </a:r>
            <a:r>
              <a:rPr sz="1800" b="1" i="0">
                <a:solidFill>
                  <a:srgbClr val="1F2A37"/>
                </a:solidFill>
                <a:latin typeface="Calibri"/>
              </a:rPr>
              <a:t>Ziel</a:t>
            </a:r>
            <a:r>
              <a:rPr sz="1800" b="0" i="0">
                <a:solidFill>
                  <a:srgbClr val="1F2A37"/>
                </a:solidFill>
                <a:latin typeface="Calibri"/>
              </a:rPr>
              <a:t> erreicht ist?</a:t>
            </a:r>
            <a:r>
              <a:rPr sz="1800" b="0" i="0">
                <a:solidFill>
                  <a:srgbClr val="1F2A37"/>
                </a:solidFill>
                <a:latin typeface="Calibri"/>
              </a:rPr>
              <a:t/>
            </a:r>
          </a:p>
          <a:p>
            <a:pPr>
              <a:spcAft>
                <a:spcPts val="600"/>
              </a:spcAft>
            </a:pPr>
            <a:r>
              <a:rPr sz="1800" b="0" i="0">
                <a:solidFill>
                  <a:srgbClr val="1F2A37"/>
                </a:solidFill>
                <a:latin typeface="Calibri"/>
              </a:rPr>
              <a:t>Achtung: </a:t>
            </a:r>
            <a:r>
              <a:rPr sz="1700" b="0" i="0">
                <a:solidFill>
                  <a:srgbClr val="1F4E79"/>
                </a:solidFill>
                <a:latin typeface="Consolas"/>
              </a:rPr>
              <a:t>gold / 10</a:t>
            </a:r>
            <a:r>
              <a:rPr sz="1800" b="0" i="0">
                <a:solidFill>
                  <a:srgbClr val="1F2A37"/>
                </a:solidFill>
                <a:latin typeface="Calibri"/>
              </a:rPr>
              <a:t> ist </a:t>
            </a:r>
            <a:r>
              <a:rPr sz="1800" b="1" i="0">
                <a:solidFill>
                  <a:srgbClr val="1F2A37"/>
                </a:solidFill>
                <a:latin typeface="Calibri"/>
              </a:rPr>
              <a:t>ganzzahlig</a:t>
            </a:r>
            <a:r>
              <a:rPr sz="1800" b="0" i="0">
                <a:solidFill>
                  <a:srgbClr val="1F2A37"/>
                </a:solidFill>
                <a:latin typeface="Calibri"/>
              </a:rPr>
              <a:t>.</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 als Struktogramm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g_jahre.png"/>
          <p:cNvPicPr>
            <a:picLocks noChangeAspect="1"/>
          </p:cNvPicPr>
          <p:nvPr/>
        </p:nvPicPr>
        <p:blipFill>
          <a:blip r:embed="rId2"/>
          <a:stretch>
            <a:fillRect/>
          </a:stretch>
        </p:blipFill>
        <p:spPr>
          <a:xfrm>
            <a:off x="548640" y="1417320"/>
            <a:ext cx="7040880" cy="4713478"/>
          </a:xfrm>
          <a:prstGeom prst="rect">
            <a:avLst/>
          </a:prstGeom>
        </p:spPr>
      </p:pic>
      <p:sp>
        <p:nvSpPr>
          <p:cNvPr id="6" name="Rounded Rectangle 5"/>
          <p:cNvSpPr/>
          <p:nvPr/>
        </p:nvSpPr>
        <p:spPr>
          <a:xfrm>
            <a:off x="7863840" y="1325880"/>
            <a:ext cx="37792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9" y="1463039"/>
            <a:ext cx="3413455" cy="2377439"/>
          </a:xfrm>
          <a:prstGeom prst="rect">
            <a:avLst/>
          </a:prstGeom>
          <a:noFill/>
        </p:spPr>
        <p:txBody>
          <a:bodyPr wrap="square" anchor="t" lIns="45720" rIns="45720">
            <a:spAutoFit/>
          </a:bodyPr>
          <a:lstStyle/>
          <a:p>
            <a:pPr>
              <a:spcAft>
                <a:spcPts val="800"/>
              </a:spcAft>
            </a:pPr>
            <a:r>
              <a:rPr sz="1800" b="1" i="0">
                <a:solidFill>
                  <a:srgbClr val="1F4E79"/>
                </a:solidFill>
                <a:latin typeface="Calibri"/>
              </a:rPr>
              <a:t>Übersetzt</a:t>
            </a:r>
            <a:r>
              <a:rPr sz="1600" b="0" i="0">
                <a:solidFill>
                  <a:srgbClr val="1F2A37"/>
                </a:solidFill>
                <a:latin typeface="Calibri"/>
              </a:rPr>
              <a:t/>
            </a:r>
          </a:p>
          <a:p>
            <a:pPr>
              <a:spcAft>
                <a:spcPts val="600"/>
              </a:spcAft>
            </a:pPr>
            <a:r>
              <a:rPr sz="1600" b="0" i="0">
                <a:solidFill>
                  <a:srgbClr val="1F2A37"/>
                </a:solidFill>
                <a:latin typeface="Calibri"/>
              </a:rPr>
              <a:t>Methodenkopf → Kopf mit Typen</a:t>
            </a:r>
            <a:r>
              <a:rPr sz="1600" b="0" i="0">
                <a:solidFill>
                  <a:srgbClr val="1F2A37"/>
                </a:solidFill>
                <a:latin typeface="Calibri"/>
              </a:rPr>
              <a:t/>
            </a:r>
          </a:p>
          <a:p>
            <a:pPr>
              <a:spcAft>
                <a:spcPts val="600"/>
              </a:spcAft>
            </a:pPr>
            <a:r>
              <a:rPr sz="1500" b="0" i="0">
                <a:solidFill>
                  <a:srgbClr val="1F4E79"/>
                </a:solidFill>
                <a:latin typeface="Consolas"/>
              </a:rPr>
              <a:t>int jahre = 0;</a:t>
            </a:r>
            <a:r>
              <a:rPr sz="1600" b="0" i="0">
                <a:solidFill>
                  <a:srgbClr val="1F2A37"/>
                </a:solidFill>
                <a:latin typeface="Calibri"/>
              </a:rPr>
              <a:t> → </a:t>
            </a:r>
            <a:r>
              <a:rPr sz="1500" b="0" i="0">
                <a:solidFill>
                  <a:srgbClr val="1F4E79"/>
                </a:solidFill>
                <a:latin typeface="Consolas"/>
              </a:rPr>
              <a:t>jahre ← 0</a:t>
            </a:r>
            <a:r>
              <a:rPr sz="1600" b="0" i="0">
                <a:solidFill>
                  <a:srgbClr val="1F2A37"/>
                </a:solidFill>
                <a:latin typeface="Calibri"/>
              </a:rPr>
              <a:t/>
            </a:r>
          </a:p>
          <a:p>
            <a:pPr>
              <a:spcAft>
                <a:spcPts val="600"/>
              </a:spcAft>
            </a:pPr>
            <a:r>
              <a:rPr sz="1500" b="0" i="0">
                <a:solidFill>
                  <a:srgbClr val="1F4E79"/>
                </a:solidFill>
                <a:latin typeface="Consolas"/>
              </a:rPr>
              <a:t>while</a:t>
            </a:r>
            <a:r>
              <a:rPr sz="1600" b="0" i="0">
                <a:solidFill>
                  <a:srgbClr val="1F2A37"/>
                </a:solidFill>
                <a:latin typeface="Calibri"/>
              </a:rPr>
              <a:t> → „solange …“</a:t>
            </a:r>
            <a:r>
              <a:rPr sz="1600" b="0" i="0">
                <a:solidFill>
                  <a:srgbClr val="1F2A37"/>
                </a:solidFill>
                <a:latin typeface="Calibri"/>
              </a:rPr>
              <a:t/>
            </a:r>
          </a:p>
          <a:p>
            <a:pPr>
              <a:spcAft>
                <a:spcPts val="600"/>
              </a:spcAft>
            </a:pPr>
            <a:r>
              <a:rPr sz="1500" b="0" i="0">
                <a:solidFill>
                  <a:srgbClr val="1F4E79"/>
                </a:solidFill>
                <a:latin typeface="Consolas"/>
              </a:rPr>
              <a:t>jahre++;</a:t>
            </a:r>
            <a:r>
              <a:rPr sz="1600" b="0" i="0">
                <a:solidFill>
                  <a:srgbClr val="1F2A37"/>
                </a:solidFill>
                <a:latin typeface="Calibri"/>
              </a:rPr>
              <a:t> → </a:t>
            </a:r>
            <a:r>
              <a:rPr sz="1500" b="0" i="0">
                <a:solidFill>
                  <a:srgbClr val="1F4E79"/>
                </a:solidFill>
                <a:latin typeface="Consolas"/>
              </a:rPr>
              <a:t>jahre ← jahre + 1</a:t>
            </a:r>
            <a:r>
              <a:rPr sz="1600" b="0" i="0">
                <a:solidFill>
                  <a:srgbClr val="1F2A37"/>
                </a:solidFill>
                <a:latin typeface="Calibri"/>
              </a:rPr>
              <a:t/>
            </a:r>
          </a:p>
          <a:p>
            <a:pPr>
              <a:spcAft>
                <a:spcPts val="600"/>
              </a:spcAft>
            </a:pPr>
            <a:r>
              <a:rPr sz="1500" b="0" i="0">
                <a:solidFill>
                  <a:srgbClr val="1F4E79"/>
                </a:solidFill>
                <a:latin typeface="Consolas"/>
              </a:rPr>
              <a:t>return</a:t>
            </a:r>
            <a:r>
              <a:rPr sz="1600" b="0" i="0">
                <a:solidFill>
                  <a:srgbClr val="1F2A37"/>
                </a:solidFill>
                <a:latin typeface="Calibri"/>
              </a:rPr>
              <a:t> → „gib … zurück“</a:t>
            </a:r>
            <a:r>
              <a:rPr sz="16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Spickzettel: Java → Struktogramm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7498080" cy="4102090"/>
        </p:xfrm>
        <a:graphic>
          <a:graphicData uri="http://schemas.openxmlformats.org/drawingml/2006/table">
            <a:tbl>
              <a:tblPr firstRow="1" bandRow="1">
                <a:tableStyleId>{5C22544A-7EE6-4342-B048-85BDC9FD1C3A}</a:tableStyleId>
              </a:tblPr>
              <a:tblGrid>
                <a:gridCol w="4498848"/>
                <a:gridCol w="2999232"/>
              </a:tblGrid>
              <a:tr h="410209">
                <a:tc>
                  <a:txBody>
                    <a:bodyPr/>
                    <a:lstStyle/>
                    <a:p>
                      <a:pPr algn="ctr"/>
                      <a:r>
                        <a:rPr sz="1700" b="1">
                          <a:solidFill>
                            <a:srgbClr val="FFFFFF"/>
                          </a:solidFill>
                          <a:latin typeface="Calibri"/>
                        </a:rPr>
                        <a:t>Java</a:t>
                      </a:r>
                    </a:p>
                  </a:txBody>
                  <a:tcPr marL="54864" marR="54864" marT="18288" marB="18288" anchor="ctr">
                    <a:solidFill>
                      <a:srgbClr val="1F4E79"/>
                    </a:solidFill>
                  </a:tcPr>
                </a:tc>
                <a:tc>
                  <a:txBody>
                    <a:bodyPr/>
                    <a:lstStyle/>
                    <a:p>
                      <a:pPr algn="ctr"/>
                      <a:r>
                        <a:rPr sz="1700" b="1">
                          <a:solidFill>
                            <a:srgbClr val="FFFFFF"/>
                          </a:solidFill>
                          <a:latin typeface="Calibri"/>
                        </a:rPr>
                        <a:t>Struktogramm</a:t>
                      </a:r>
                    </a:p>
                  </a:txBody>
                  <a:tcPr marL="54864" marR="54864" marT="18288" marB="18288" anchor="ctr">
                    <a:solidFill>
                      <a:srgbClr val="1F4E79"/>
                    </a:solidFill>
                  </a:tcPr>
                </a:tc>
              </a:tr>
              <a:tr h="410209">
                <a:tc>
                  <a:txBody>
                    <a:bodyPr/>
                    <a:lstStyle/>
                    <a:p>
                      <a:pPr algn="ctr"/>
                      <a:r>
                        <a:rPr sz="1700" b="0">
                          <a:solidFill>
                            <a:srgbClr val="1F2A37"/>
                          </a:solidFill>
                          <a:latin typeface="Consolas"/>
                        </a:rPr>
                        <a:t>x = 5;</a:t>
                      </a:r>
                    </a:p>
                  </a:txBody>
                  <a:tcPr marL="54864" marR="54864" marT="18288" marB="18288" anchor="ctr">
                    <a:solidFill>
                      <a:srgbClr val="FFFFFF"/>
                    </a:solidFill>
                  </a:tcPr>
                </a:tc>
                <a:tc>
                  <a:txBody>
                    <a:bodyPr/>
                    <a:lstStyle/>
                    <a:p>
                      <a:pPr algn="ctr"/>
                      <a:r>
                        <a:rPr sz="1700" b="0">
                          <a:solidFill>
                            <a:srgbClr val="1F2A37"/>
                          </a:solidFill>
                          <a:latin typeface="Consolas"/>
                        </a:rPr>
                        <a:t>x ← 5</a:t>
                      </a:r>
                    </a:p>
                  </a:txBody>
                  <a:tcPr marL="54864" marR="54864" marT="18288" marB="18288" anchor="ctr">
                    <a:solidFill>
                      <a:srgbClr val="FFFFFF"/>
                    </a:solidFill>
                  </a:tcPr>
                </a:tc>
              </a:tr>
              <a:tr h="410209">
                <a:tc>
                  <a:txBody>
                    <a:bodyPr/>
                    <a:lstStyle/>
                    <a:p>
                      <a:pPr algn="ctr"/>
                      <a:r>
                        <a:rPr sz="1700" b="0">
                          <a:solidFill>
                            <a:srgbClr val="1F2A37"/>
                          </a:solidFill>
                          <a:latin typeface="Consolas"/>
                        </a:rPr>
                        <a:t>x++;</a:t>
                      </a:r>
                    </a:p>
                  </a:txBody>
                  <a:tcPr marL="54864" marR="54864" marT="18288" marB="18288" anchor="ctr">
                    <a:solidFill>
                      <a:srgbClr val="EEF3FA"/>
                    </a:solidFill>
                  </a:tcPr>
                </a:tc>
                <a:tc>
                  <a:txBody>
                    <a:bodyPr/>
                    <a:lstStyle/>
                    <a:p>
                      <a:pPr algn="ctr"/>
                      <a:r>
                        <a:rPr sz="1700" b="0">
                          <a:solidFill>
                            <a:srgbClr val="1F2A37"/>
                          </a:solidFill>
                          <a:latin typeface="Consolas"/>
                        </a:rPr>
                        <a:t>x ← x + 1</a:t>
                      </a:r>
                    </a:p>
                  </a:txBody>
                  <a:tcPr marL="54864" marR="54864" marT="18288" marB="18288" anchor="ctr">
                    <a:solidFill>
                      <a:srgbClr val="EEF3FA"/>
                    </a:solidFill>
                  </a:tcPr>
                </a:tc>
              </a:tr>
              <a:tr h="410209">
                <a:tc>
                  <a:txBody>
                    <a:bodyPr/>
                    <a:lstStyle/>
                    <a:p>
                      <a:pPr algn="ctr"/>
                      <a:r>
                        <a:rPr sz="1700" b="0">
                          <a:solidFill>
                            <a:srgbClr val="1F2A37"/>
                          </a:solidFill>
                          <a:latin typeface="Consolas"/>
                        </a:rPr>
                        <a:t>a == b</a:t>
                      </a:r>
                    </a:p>
                  </a:txBody>
                  <a:tcPr marL="54864" marR="54864" marT="18288" marB="18288" anchor="ctr">
                    <a:solidFill>
                      <a:srgbClr val="FFFFFF"/>
                    </a:solidFill>
                  </a:tcPr>
                </a:tc>
                <a:tc>
                  <a:txBody>
                    <a:bodyPr/>
                    <a:lstStyle/>
                    <a:p>
                      <a:pPr algn="ctr"/>
                      <a:r>
                        <a:rPr sz="1700" b="0">
                          <a:solidFill>
                            <a:srgbClr val="1F2A37"/>
                          </a:solidFill>
                          <a:latin typeface="Consolas"/>
                        </a:rPr>
                        <a:t>a = b</a:t>
                      </a:r>
                    </a:p>
                  </a:txBody>
                  <a:tcPr marL="54864" marR="54864" marT="18288" marB="18288" anchor="ctr">
                    <a:solidFill>
                      <a:srgbClr val="FFFFFF"/>
                    </a:solidFill>
                  </a:tcPr>
                </a:tc>
              </a:tr>
              <a:tr h="410209">
                <a:tc>
                  <a:txBody>
                    <a:bodyPr/>
                    <a:lstStyle/>
                    <a:p>
                      <a:pPr algn="ctr"/>
                      <a:r>
                        <a:rPr sz="1700" b="0">
                          <a:solidFill>
                            <a:srgbClr val="1F2A37"/>
                          </a:solidFill>
                          <a:latin typeface="Consolas"/>
                        </a:rPr>
                        <a:t>a != b</a:t>
                      </a:r>
                    </a:p>
                  </a:txBody>
                  <a:tcPr marL="54864" marR="54864" marT="18288" marB="18288" anchor="ctr">
                    <a:solidFill>
                      <a:srgbClr val="EEF3FA"/>
                    </a:solidFill>
                  </a:tcPr>
                </a:tc>
                <a:tc>
                  <a:txBody>
                    <a:bodyPr/>
                    <a:lstStyle/>
                    <a:p>
                      <a:pPr algn="ctr"/>
                      <a:r>
                        <a:rPr sz="1700" b="0">
                          <a:solidFill>
                            <a:srgbClr val="1F2A37"/>
                          </a:solidFill>
                          <a:latin typeface="Consolas"/>
                        </a:rPr>
                        <a:t>a ≠ b</a:t>
                      </a:r>
                    </a:p>
                  </a:txBody>
                  <a:tcPr marL="54864" marR="54864" marT="18288" marB="18288" anchor="ctr">
                    <a:solidFill>
                      <a:srgbClr val="EEF3FA"/>
                    </a:solidFill>
                  </a:tcPr>
                </a:tc>
              </a:tr>
              <a:tr h="410209">
                <a:tc>
                  <a:txBody>
                    <a:bodyPr/>
                    <a:lstStyle/>
                    <a:p>
                      <a:pPr algn="ctr"/>
                      <a:r>
                        <a:rPr sz="1700" b="0">
                          <a:solidFill>
                            <a:srgbClr val="1F2A37"/>
                          </a:solidFill>
                          <a:latin typeface="Consolas"/>
                        </a:rPr>
                        <a:t>a &lt;= b</a:t>
                      </a:r>
                    </a:p>
                  </a:txBody>
                  <a:tcPr marL="54864" marR="54864" marT="18288" marB="18288" anchor="ctr">
                    <a:solidFill>
                      <a:srgbClr val="FFFFFF"/>
                    </a:solidFill>
                  </a:tcPr>
                </a:tc>
                <a:tc>
                  <a:txBody>
                    <a:bodyPr/>
                    <a:lstStyle/>
                    <a:p>
                      <a:pPr algn="ctr"/>
                      <a:r>
                        <a:rPr sz="1700" b="0">
                          <a:solidFill>
                            <a:srgbClr val="1F2A37"/>
                          </a:solidFill>
                          <a:latin typeface="Consolas"/>
                        </a:rPr>
                        <a:t>a ≤ b</a:t>
                      </a:r>
                    </a:p>
                  </a:txBody>
                  <a:tcPr marL="54864" marR="54864" marT="18288" marB="18288" anchor="ctr">
                    <a:solidFill>
                      <a:srgbClr val="FFFFFF"/>
                    </a:solidFill>
                  </a:tcPr>
                </a:tc>
              </a:tr>
              <a:tr h="410209">
                <a:tc>
                  <a:txBody>
                    <a:bodyPr/>
                    <a:lstStyle/>
                    <a:p>
                      <a:pPr algn="ctr"/>
                      <a:r>
                        <a:rPr sz="1700" b="0">
                          <a:solidFill>
                            <a:srgbClr val="1F2A37"/>
                          </a:solidFill>
                          <a:latin typeface="Consolas"/>
                        </a:rPr>
                        <a:t>&amp;&amp;   ||   !</a:t>
                      </a:r>
                    </a:p>
                  </a:txBody>
                  <a:tcPr marL="54864" marR="54864" marT="18288" marB="18288" anchor="ctr">
                    <a:solidFill>
                      <a:srgbClr val="EEF3FA"/>
                    </a:solidFill>
                  </a:tcPr>
                </a:tc>
                <a:tc>
                  <a:txBody>
                    <a:bodyPr/>
                    <a:lstStyle/>
                    <a:p>
                      <a:pPr algn="ctr"/>
                      <a:r>
                        <a:rPr sz="1700" b="0">
                          <a:solidFill>
                            <a:srgbClr val="1F2A37"/>
                          </a:solidFill>
                          <a:latin typeface="Consolas"/>
                        </a:rPr>
                        <a:t>und   oder   nicht</a:t>
                      </a:r>
                    </a:p>
                  </a:txBody>
                  <a:tcPr marL="54864" marR="54864" marT="18288" marB="18288" anchor="ctr">
                    <a:solidFill>
                      <a:srgbClr val="EEF3FA"/>
                    </a:solidFill>
                  </a:tcPr>
                </a:tc>
              </a:tr>
              <a:tr h="410209">
                <a:tc>
                  <a:txBody>
                    <a:bodyPr/>
                    <a:lstStyle/>
                    <a:p>
                      <a:pPr algn="ctr"/>
                      <a:r>
                        <a:rPr sz="1700" b="0">
                          <a:solidFill>
                            <a:srgbClr val="1F2A37"/>
                          </a:solidFill>
                          <a:latin typeface="Consolas"/>
                        </a:rPr>
                        <a:t>a % b</a:t>
                      </a:r>
                    </a:p>
                  </a:txBody>
                  <a:tcPr marL="54864" marR="54864" marT="18288" marB="18288" anchor="ctr">
                    <a:solidFill>
                      <a:srgbClr val="FFFFFF"/>
                    </a:solidFill>
                  </a:tcPr>
                </a:tc>
                <a:tc>
                  <a:txBody>
                    <a:bodyPr/>
                    <a:lstStyle/>
                    <a:p>
                      <a:pPr algn="ctr"/>
                      <a:r>
                        <a:rPr sz="1700" b="0">
                          <a:solidFill>
                            <a:srgbClr val="1F2A37"/>
                          </a:solidFill>
                          <a:latin typeface="Consolas"/>
                        </a:rPr>
                        <a:t>a mod b</a:t>
                      </a:r>
                    </a:p>
                  </a:txBody>
                  <a:tcPr marL="54864" marR="54864" marT="18288" marB="18288" anchor="ctr">
                    <a:solidFill>
                      <a:srgbClr val="FFFFFF"/>
                    </a:solidFill>
                  </a:tcPr>
                </a:tc>
              </a:tr>
              <a:tr h="410209">
                <a:tc>
                  <a:txBody>
                    <a:bodyPr/>
                    <a:lstStyle/>
                    <a:p>
                      <a:pPr algn="ctr"/>
                      <a:r>
                        <a:rPr sz="1700" b="0">
                          <a:solidFill>
                            <a:srgbClr val="1F2A37"/>
                          </a:solidFill>
                          <a:latin typeface="Consolas"/>
                        </a:rPr>
                        <a:t>return x;</a:t>
                      </a:r>
                    </a:p>
                  </a:txBody>
                  <a:tcPr marL="54864" marR="54864" marT="18288" marB="18288" anchor="ctr">
                    <a:solidFill>
                      <a:srgbClr val="EEF3FA"/>
                    </a:solidFill>
                  </a:tcPr>
                </a:tc>
                <a:tc>
                  <a:txBody>
                    <a:bodyPr/>
                    <a:lstStyle/>
                    <a:p>
                      <a:pPr algn="ctr"/>
                      <a:r>
                        <a:rPr sz="1700" b="0">
                          <a:solidFill>
                            <a:srgbClr val="1F2A37"/>
                          </a:solidFill>
                          <a:latin typeface="Consolas"/>
                        </a:rPr>
                        <a:t>gib x zurück</a:t>
                      </a:r>
                    </a:p>
                  </a:txBody>
                  <a:tcPr marL="54864" marR="54864" marT="18288" marB="18288" anchor="ctr">
                    <a:solidFill>
                      <a:srgbClr val="EEF3FA"/>
                    </a:solidFill>
                  </a:tcPr>
                </a:tc>
              </a:tr>
              <a:tr h="410209">
                <a:tc>
                  <a:txBody>
                    <a:bodyPr/>
                    <a:lstStyle/>
                    <a:p>
                      <a:pPr algn="ctr"/>
                      <a:r>
                        <a:rPr sz="1700" b="0">
                          <a:solidFill>
                            <a:srgbClr val="1F2A37"/>
                          </a:solidFill>
                          <a:latin typeface="Consolas"/>
                        </a:rPr>
                        <a:t>for (int i = 0; i &lt; n; i++)</a:t>
                      </a:r>
                    </a:p>
                  </a:txBody>
                  <a:tcPr marL="54864" marR="54864" marT="18288" marB="18288" anchor="ctr">
                    <a:solidFill>
                      <a:srgbClr val="FFFFFF"/>
                    </a:solidFill>
                  </a:tcPr>
                </a:tc>
                <a:tc>
                  <a:txBody>
                    <a:bodyPr/>
                    <a:lstStyle/>
                    <a:p>
                      <a:pPr algn="ctr"/>
                      <a:r>
                        <a:rPr sz="1700" b="0">
                          <a:solidFill>
                            <a:srgbClr val="1F2A37"/>
                          </a:solidFill>
                          <a:latin typeface="Consolas"/>
                        </a:rPr>
                        <a:t>für i von 0 bis n − 1</a:t>
                      </a:r>
                    </a:p>
                  </a:txBody>
                  <a:tcPr marL="54864" marR="54864" marT="18288" marB="18288" anchor="ctr">
                    <a:solidFill>
                      <a:srgbClr val="FFFFFF"/>
                    </a:solidFill>
                  </a:tcPr>
                </a:tc>
              </a:tr>
            </a:tbl>
          </a:graphicData>
        </a:graphic>
      </p:graphicFrame>
      <p:sp>
        <p:nvSpPr>
          <p:cNvPr id="6" name="TextBox 5"/>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Zweites Beispiel: mit Verzweigung</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24917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2400300"/>
          </a:xfrm>
          <a:prstGeom prst="rect">
            <a:avLst/>
          </a:prstGeom>
          <a:noFill/>
        </p:spPr>
        <p:txBody>
          <a:bodyPr wrap="square" anchor="t" lIns="45720" rIns="45720">
            <a:spAutoFit/>
          </a:bodyPr>
          <a:lstStyle/>
          <a:p>
            <a:pPr>
              <a:lnSpc>
                <a:spcPct val="100000"/>
              </a:lnSpc>
            </a:pPr>
            <a:r>
              <a:rPr sz="1500" b="0" i="0">
                <a:solidFill>
                  <a:srgbClr val="A0A7B1"/>
                </a:solidFill>
                <a:latin typeface="Consolas"/>
              </a:rPr>
              <a:t>1  </a:t>
            </a:r>
            <a:r>
              <a:rPr sz="1500" b="0" i="0">
                <a:solidFill>
                  <a:srgbClr val="1F2A37"/>
                </a:solidFill>
                <a:latin typeface="Consolas"/>
              </a:rPr>
              <a:t>public static int anzahlInBereich(int[] r, int lo, int hi) {</a:t>
            </a:r>
          </a:p>
          <a:p>
            <a:pPr>
              <a:lnSpc>
                <a:spcPct val="100000"/>
              </a:lnSpc>
            </a:pPr>
            <a:r>
              <a:rPr sz="1500" b="0" i="0">
                <a:solidFill>
                  <a:srgbClr val="A0A7B1"/>
                </a:solidFill>
                <a:latin typeface="Consolas"/>
              </a:rPr>
              <a:t>2  </a:t>
            </a:r>
            <a:r>
              <a:rPr sz="1500" b="0" i="0">
                <a:solidFill>
                  <a:srgbClr val="1F2A37"/>
                </a:solidFill>
                <a:latin typeface="Consolas"/>
              </a:rPr>
              <a:t>    int anzahl = 0;</a:t>
            </a:r>
          </a:p>
          <a:p>
            <a:pPr>
              <a:lnSpc>
                <a:spcPct val="100000"/>
              </a:lnSpc>
            </a:pPr>
            <a:r>
              <a:rPr sz="1500" b="0" i="0">
                <a:solidFill>
                  <a:srgbClr val="A0A7B1"/>
                </a:solidFill>
                <a:latin typeface="Consolas"/>
              </a:rPr>
              <a:t>3  </a:t>
            </a:r>
            <a:r>
              <a:rPr sz="1500" b="0" i="0">
                <a:solidFill>
                  <a:srgbClr val="1F2A37"/>
                </a:solidFill>
                <a:latin typeface="Consolas"/>
              </a:rPr>
              <a:t>    for (int i = 0; i &lt; r.length; i++) {</a:t>
            </a:r>
          </a:p>
          <a:p>
            <a:pPr>
              <a:lnSpc>
                <a:spcPct val="100000"/>
              </a:lnSpc>
            </a:pPr>
            <a:r>
              <a:rPr sz="1500" b="0" i="0">
                <a:solidFill>
                  <a:srgbClr val="A0A7B1"/>
                </a:solidFill>
                <a:latin typeface="Consolas"/>
              </a:rPr>
              <a:t>4  </a:t>
            </a:r>
            <a:r>
              <a:rPr sz="1500" b="0" i="0">
                <a:solidFill>
                  <a:srgbClr val="1F2A37"/>
                </a:solidFill>
                <a:latin typeface="Consolas"/>
              </a:rPr>
              <a:t>        if (r[i] &gt;= lo &amp;&amp; r[i] &lt;= hi) {</a:t>
            </a:r>
          </a:p>
          <a:p>
            <a:pPr>
              <a:lnSpc>
                <a:spcPct val="100000"/>
              </a:lnSpc>
            </a:pPr>
            <a:r>
              <a:rPr sz="1500" b="0" i="0">
                <a:solidFill>
                  <a:srgbClr val="A0A7B1"/>
                </a:solidFill>
                <a:latin typeface="Consolas"/>
              </a:rPr>
              <a:t>5  </a:t>
            </a:r>
            <a:r>
              <a:rPr sz="1500" b="0" i="0">
                <a:solidFill>
                  <a:srgbClr val="1F2A37"/>
                </a:solidFill>
                <a:latin typeface="Consolas"/>
              </a:rPr>
              <a:t>            anzahl++;</a:t>
            </a:r>
          </a:p>
          <a:p>
            <a:pPr>
              <a:lnSpc>
                <a:spcPct val="100000"/>
              </a:lnSpc>
            </a:pPr>
            <a:r>
              <a:rPr sz="1500" b="0" i="0">
                <a:solidFill>
                  <a:srgbClr val="A0A7B1"/>
                </a:solidFill>
                <a:latin typeface="Consolas"/>
              </a:rPr>
              <a:t>6  </a:t>
            </a:r>
            <a:r>
              <a:rPr sz="1500" b="0" i="0">
                <a:solidFill>
                  <a:srgbClr val="1F2A37"/>
                </a:solidFill>
                <a:latin typeface="Consolas"/>
              </a:rPr>
              <a:t>        }</a:t>
            </a:r>
          </a:p>
          <a:p>
            <a:pPr>
              <a:lnSpc>
                <a:spcPct val="100000"/>
              </a:lnSpc>
            </a:pPr>
            <a:r>
              <a:rPr sz="1500" b="0" i="0">
                <a:solidFill>
                  <a:srgbClr val="A0A7B1"/>
                </a:solidFill>
                <a:latin typeface="Consolas"/>
              </a:rPr>
              <a:t>7  </a:t>
            </a:r>
            <a:r>
              <a:rPr sz="1500" b="0" i="0">
                <a:solidFill>
                  <a:srgbClr val="1F2A37"/>
                </a:solidFill>
                <a:latin typeface="Consolas"/>
              </a:rPr>
              <a:t>    }</a:t>
            </a:r>
          </a:p>
          <a:p>
            <a:pPr>
              <a:lnSpc>
                <a:spcPct val="100000"/>
              </a:lnSpc>
            </a:pPr>
            <a:r>
              <a:rPr sz="1500" b="0" i="0">
                <a:solidFill>
                  <a:srgbClr val="A0A7B1"/>
                </a:solidFill>
                <a:latin typeface="Consolas"/>
              </a:rPr>
              <a:t>8  </a:t>
            </a:r>
            <a:r>
              <a:rPr sz="1500" b="0" i="0">
                <a:solidFill>
                  <a:srgbClr val="1F2A37"/>
                </a:solidFill>
                <a:latin typeface="Consolas"/>
              </a:rPr>
              <a:t>    return anzahl;</a:t>
            </a:r>
          </a:p>
          <a:p>
            <a:pPr>
              <a:lnSpc>
                <a:spcPct val="100000"/>
              </a:lnSpc>
            </a:pPr>
            <a:r>
              <a:rPr sz="1500" b="0" i="0">
                <a:solidFill>
                  <a:srgbClr val="A0A7B1"/>
                </a:solidFill>
                <a:latin typeface="Consolas"/>
              </a:rPr>
              <a:t>9  </a:t>
            </a:r>
            <a:r>
              <a:rPr sz="1500" b="0" i="0">
                <a:solidFill>
                  <a:srgbClr val="1F2A37"/>
                </a:solidFill>
                <a:latin typeface="Consolas"/>
              </a:rPr>
              <a:t>}</a:t>
            </a:r>
          </a:p>
        </p:txBody>
      </p:sp>
      <p:sp>
        <p:nvSpPr>
          <p:cNvPr id="7" name="TextBox 6"/>
          <p:cNvSpPr txBox="1"/>
          <p:nvPr/>
        </p:nvSpPr>
        <p:spPr>
          <a:xfrm>
            <a:off x="548640" y="4046220"/>
            <a:ext cx="7772400" cy="2308860"/>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1900" b="0" i="0">
                <a:solidFill>
                  <a:srgbClr val="1F4E79"/>
                </a:solidFill>
                <a:latin typeface="Consolas"/>
              </a:rPr>
              <a:t>anzahlInBereich({12, 4, 18, 9, 15}, 5, 15)</a:t>
            </a:r>
            <a:r>
              <a:rPr sz="2000" b="0" i="0">
                <a:solidFill>
                  <a:srgbClr val="1F2A37"/>
                </a:solidFill>
                <a:latin typeface="Calibri"/>
              </a:rPr>
              <a:t> liefert </a:t>
            </a:r>
            <a:r>
              <a:rPr sz="2000" b="1" i="0">
                <a:solidFill>
                  <a:srgbClr val="1F2A37"/>
                </a:solidFill>
                <a:latin typeface="Calibri"/>
              </a:rPr>
              <a:t>3</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 als Struktogramm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g_bereich.png"/>
          <p:cNvPicPr>
            <a:picLocks noChangeAspect="1"/>
          </p:cNvPicPr>
          <p:nvPr/>
        </p:nvPicPr>
        <p:blipFill>
          <a:blip r:embed="rId2"/>
          <a:stretch>
            <a:fillRect/>
          </a:stretch>
        </p:blipFill>
        <p:spPr>
          <a:xfrm>
            <a:off x="548640" y="1417320"/>
            <a:ext cx="7040880" cy="4322772"/>
          </a:xfrm>
          <a:prstGeom prst="rect">
            <a:avLst/>
          </a:prstGeom>
        </p:spPr>
      </p:pic>
      <p:sp>
        <p:nvSpPr>
          <p:cNvPr id="6" name="Rounded Rectangle 5"/>
          <p:cNvSpPr/>
          <p:nvPr/>
        </p:nvSpPr>
        <p:spPr>
          <a:xfrm>
            <a:off x="7863840" y="1325880"/>
            <a:ext cx="37792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9" y="1463039"/>
            <a:ext cx="341345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Übersetzt</a:t>
            </a:r>
            <a:r>
              <a:rPr sz="2000" b="0" i="0">
                <a:solidFill>
                  <a:srgbClr val="1F2A37"/>
                </a:solidFill>
                <a:latin typeface="Calibri"/>
              </a:rPr>
              <a:t/>
            </a:r>
          </a:p>
          <a:p>
            <a:pPr>
              <a:spcAft>
                <a:spcPts val="600"/>
              </a:spcAft>
            </a:pPr>
            <a:r>
              <a:rPr sz="1900" b="0" i="0">
                <a:solidFill>
                  <a:srgbClr val="1F4E79"/>
                </a:solidFill>
                <a:latin typeface="Consolas"/>
              </a:rPr>
              <a:t>for</a:t>
            </a:r>
            <a:r>
              <a:rPr sz="2000" b="0" i="0">
                <a:solidFill>
                  <a:srgbClr val="1F2A37"/>
                </a:solidFill>
                <a:latin typeface="Calibri"/>
              </a:rPr>
              <a:t> → „für i von 0 bis länge(r) − 1“</a:t>
            </a:r>
            <a:r>
              <a:rPr sz="2000" b="0" i="0">
                <a:solidFill>
                  <a:srgbClr val="1F2A37"/>
                </a:solidFill>
                <a:latin typeface="Calibri"/>
              </a:rPr>
              <a:t/>
            </a:r>
          </a:p>
          <a:p>
            <a:pPr>
              <a:spcAft>
                <a:spcPts val="600"/>
              </a:spcAft>
            </a:pPr>
            <a:r>
              <a:rPr sz="1900" b="0" i="0">
                <a:solidFill>
                  <a:srgbClr val="1F4E79"/>
                </a:solidFill>
                <a:latin typeface="Consolas"/>
              </a:rPr>
              <a:t>if</a:t>
            </a:r>
            <a:r>
              <a:rPr sz="2000" b="0" i="0">
                <a:solidFill>
                  <a:srgbClr val="1F2A37"/>
                </a:solidFill>
                <a:latin typeface="Calibri"/>
              </a:rPr>
              <a:t> → Dreieck: wahr | falsch</a:t>
            </a:r>
            <a:r>
              <a:rPr sz="2000" b="0" i="0">
                <a:solidFill>
                  <a:srgbClr val="1F2A37"/>
                </a:solidFill>
                <a:latin typeface="Calibri"/>
              </a:rPr>
              <a:t/>
            </a:r>
          </a:p>
          <a:p>
            <a:pPr>
              <a:spcAft>
                <a:spcPts val="600"/>
              </a:spcAft>
            </a:pPr>
            <a:r>
              <a:rPr sz="1900" b="0" i="0">
                <a:solidFill>
                  <a:srgbClr val="1F4E79"/>
                </a:solidFill>
                <a:latin typeface="Consolas"/>
              </a:rPr>
              <a:t>&amp;&amp;</a:t>
            </a:r>
            <a:r>
              <a:rPr sz="2000" b="0" i="0">
                <a:solidFill>
                  <a:srgbClr val="1F2A37"/>
                </a:solidFill>
                <a:latin typeface="Calibri"/>
              </a:rPr>
              <a:t> → </a:t>
            </a:r>
            <a:r>
              <a:rPr sz="2000" b="1" i="0">
                <a:solidFill>
                  <a:srgbClr val="1F2A37"/>
                </a:solidFill>
                <a:latin typeface="Calibri"/>
              </a:rPr>
              <a:t>und</a:t>
            </a:r>
            <a:r>
              <a:rPr sz="2000" b="0" i="0">
                <a:solidFill>
                  <a:srgbClr val="1F2A37"/>
                </a:solidFill>
                <a:latin typeface="Calibri"/>
              </a:rPr>
              <a:t/>
            </a:r>
          </a:p>
          <a:p>
            <a:pPr>
              <a:spcAft>
                <a:spcPts val="600"/>
              </a:spcAft>
            </a:pPr>
            <a:r>
              <a:rPr sz="2000" b="0" i="0">
                <a:solidFill>
                  <a:srgbClr val="1F2A37"/>
                </a:solidFill>
                <a:latin typeface="Calibri"/>
              </a:rPr>
              <a:t>leerer Zweig → ∅</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Tracetabelle: unsere Regeln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Eine Spalte </a:t>
            </a:r>
            <a:r>
              <a:rPr sz="2400" b="1" i="0">
                <a:solidFill>
                  <a:srgbClr val="1F2A37"/>
                </a:solidFill>
                <a:latin typeface="Calibri"/>
              </a:rPr>
              <a:t>je Variable</a:t>
            </a:r>
            <a:r>
              <a:rPr sz="2400" b="0" i="0">
                <a:solidFill>
                  <a:srgbClr val="1F2A37"/>
                </a:solidFill>
                <a:latin typeface="Calibri"/>
              </a:rPr>
              <a:t> – dazu ggf. Durchlauf und Rückgabe</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Keine Spalten für Bedingungen</a:t>
            </a:r>
            <a:r>
              <a:rPr sz="2400" b="0" i="0">
                <a:solidFill>
                  <a:srgbClr val="1F2A37"/>
                </a:solidFill>
                <a:latin typeface="Calibri"/>
              </a:rPr>
              <a:t> wie </a:t>
            </a:r>
            <a:r>
              <a:rPr sz="2300" b="0" i="0">
                <a:solidFill>
                  <a:srgbClr val="1F4E79"/>
                </a:solidFill>
                <a:latin typeface="Consolas"/>
              </a:rPr>
              <a:t>gold &lt; ziel</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Eine neue Zeile an jeder Stelle mit </a:t>
            </a:r>
            <a:r>
              <a:rPr sz="2300" b="0" i="0">
                <a:solidFill>
                  <a:srgbClr val="1F4E79"/>
                </a:solidFill>
                <a:latin typeface="Consolas"/>
              </a:rPr>
              <a:t>// → Tabellenzeile</a:t>
            </a:r>
            <a:r>
              <a:rPr sz="2400" b="0" i="0">
                <a:solidFill>
                  <a:srgbClr val="1F2A37"/>
                </a:solidFill>
                <a:latin typeface="Calibri"/>
              </a:rPr>
              <a:t/>
            </a:r>
          </a:p>
          <a:p>
            <a:pPr>
              <a:spcAft>
                <a:spcPts val="1000"/>
              </a:spcAft>
            </a:pPr>
            <a:r>
              <a:rPr sz="2400" b="1" i="0">
                <a:solidFill>
                  <a:srgbClr val="7F7F7F"/>
                </a:solidFill>
                <a:latin typeface="Calibri"/>
              </a:rPr>
              <a:t>      – </a:t>
            </a:r>
            <a:r>
              <a:rPr sz="2000" b="0" i="0">
                <a:solidFill>
                  <a:srgbClr val="1F4E79"/>
                </a:solidFill>
                <a:latin typeface="Consolas"/>
              </a:rPr>
              <a:t>(Startwerte)</a:t>
            </a:r>
            <a:r>
              <a:rPr sz="2100" b="0" i="0">
                <a:solidFill>
                  <a:srgbClr val="1F2A37"/>
                </a:solidFill>
                <a:latin typeface="Calibri"/>
              </a:rPr>
              <a:t>: vor der Schleife</a:t>
            </a:r>
            <a:r>
              <a:rPr sz="2400" b="0" i="0">
                <a:solidFill>
                  <a:srgbClr val="1F2A37"/>
                </a:solidFill>
                <a:latin typeface="Calibri"/>
              </a:rPr>
              <a:t/>
            </a:r>
          </a:p>
          <a:p>
            <a:pPr>
              <a:spcAft>
                <a:spcPts val="1000"/>
              </a:spcAft>
            </a:pPr>
            <a:r>
              <a:rPr sz="2400" b="1" i="0">
                <a:solidFill>
                  <a:srgbClr val="7F7F7F"/>
                </a:solidFill>
                <a:latin typeface="Calibri"/>
              </a:rPr>
              <a:t>      – </a:t>
            </a:r>
            <a:r>
              <a:rPr sz="2100" b="0" i="0">
                <a:solidFill>
                  <a:srgbClr val="1F2A37"/>
                </a:solidFill>
                <a:latin typeface="Calibri"/>
              </a:rPr>
              <a:t>sonst: am Ende jedes Durchlaufs</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Am Ende: </a:t>
            </a:r>
            <a:r>
              <a:rPr sz="2400" b="1" i="0">
                <a:solidFill>
                  <a:srgbClr val="1F2A37"/>
                </a:solidFill>
                <a:latin typeface="Calibri"/>
              </a:rPr>
              <a:t>Rückgabewert</a:t>
            </a:r>
            <a:r>
              <a:rPr sz="2400" b="0" i="0">
                <a:solidFill>
                  <a:srgbClr val="1F2A37"/>
                </a:solidFill>
                <a:latin typeface="Calibri"/>
              </a:rPr>
              <a:t> angeben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Warum so?</a:t>
            </a:r>
            <a:r>
              <a:rPr sz="2000" b="0" i="0">
                <a:solidFill>
                  <a:srgbClr val="1F2A37"/>
                </a:solidFill>
                <a:latin typeface="Calibri"/>
              </a:rPr>
              <a:t/>
            </a:r>
          </a:p>
          <a:p>
            <a:pPr>
              <a:spcAft>
                <a:spcPts val="600"/>
              </a:spcAft>
            </a:pPr>
            <a:r>
              <a:rPr sz="2000" b="0" i="0">
                <a:solidFill>
                  <a:srgbClr val="1F2A37"/>
                </a:solidFill>
                <a:latin typeface="Calibri"/>
              </a:rPr>
              <a:t>Die Tabelle bleibt klein und übersichtlich.</a:t>
            </a:r>
            <a:r>
              <a:rPr sz="2000" b="0" i="0">
                <a:solidFill>
                  <a:srgbClr val="1F2A37"/>
                </a:solidFill>
                <a:latin typeface="Calibri"/>
              </a:rPr>
              <a:t/>
            </a:r>
          </a:p>
          <a:p>
            <a:pPr>
              <a:spcAft>
                <a:spcPts val="600"/>
              </a:spcAft>
            </a:pPr>
            <a:r>
              <a:rPr sz="2000" b="0" i="0">
                <a:solidFill>
                  <a:srgbClr val="1F2A37"/>
                </a:solidFill>
                <a:latin typeface="Calibri"/>
              </a:rPr>
              <a:t>Jede Zeile zeigt einen klar definierten Zeitpunkt.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Trace: jahreBisZiel(100, 150)</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050280" cy="1837943"/>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867399" cy="1746503"/>
          </a:xfrm>
          <a:prstGeom prst="rect">
            <a:avLst/>
          </a:prstGeom>
          <a:noFill/>
        </p:spPr>
        <p:txBody>
          <a:bodyPr wrap="square" anchor="t" lIns="45720" rIns="45720">
            <a:spAutoFit/>
          </a:bodyPr>
          <a:lstStyle/>
          <a:p>
            <a:pPr>
              <a:lnSpc>
                <a:spcPct val="100000"/>
              </a:lnSpc>
            </a:pPr>
            <a:r>
              <a:rPr sz="1600" b="0" i="0">
                <a:solidFill>
                  <a:srgbClr val="1F2A37"/>
                </a:solidFill>
                <a:latin typeface="Consolas"/>
              </a:rPr>
              <a:t>int jahre = 0; </a:t>
            </a:r>
            <a:r>
              <a:rPr sz="1600" b="0" i="0">
                <a:solidFill>
                  <a:srgbClr val="5F7F5F"/>
                </a:solidFill>
                <a:latin typeface="Consolas"/>
              </a:rPr>
              <a:t> // → Tabellenzeile (Startwerte)</a:t>
            </a:r>
          </a:p>
          <a:p>
            <a:pPr>
              <a:lnSpc>
                <a:spcPct val="100000"/>
              </a:lnSpc>
            </a:pPr>
            <a:r>
              <a:rPr sz="1600" b="0" i="0">
                <a:solidFill>
                  <a:srgbClr val="1F2A37"/>
                </a:solidFill>
                <a:latin typeface="Consolas"/>
              </a:rPr>
              <a:t>while (gold &lt; ziel) {</a:t>
            </a:r>
          </a:p>
          <a:p>
            <a:pPr>
              <a:lnSpc>
                <a:spcPct val="100000"/>
              </a:lnSpc>
            </a:pPr>
            <a:r>
              <a:rPr sz="1600" b="0" i="0">
                <a:solidFill>
                  <a:srgbClr val="1F2A37"/>
                </a:solidFill>
                <a:latin typeface="Consolas"/>
              </a:rPr>
              <a:t>    gold = gold + gold / 10;</a:t>
            </a:r>
          </a:p>
          <a:p>
            <a:pPr>
              <a:lnSpc>
                <a:spcPct val="100000"/>
              </a:lnSpc>
            </a:pPr>
            <a:r>
              <a:rPr sz="1600" b="0" i="0">
                <a:solidFill>
                  <a:srgbClr val="1F2A37"/>
                </a:solidFill>
                <a:latin typeface="Consolas"/>
              </a:rPr>
              <a:t>    jahre++; </a:t>
            </a:r>
            <a:r>
              <a:rPr sz="1600" b="0" i="0">
                <a:solidFill>
                  <a:srgbClr val="5F7F5F"/>
                </a:solidFill>
                <a:latin typeface="Consolas"/>
              </a:rPr>
              <a:t> // → Tabellenzeile</a:t>
            </a:r>
          </a:p>
          <a:p>
            <a:pPr>
              <a:lnSpc>
                <a:spcPct val="100000"/>
              </a:lnSpc>
            </a:pPr>
            <a:r>
              <a:rPr sz="1600" b="0" i="0">
                <a:solidFill>
                  <a:srgbClr val="1F2A37"/>
                </a:solidFill>
                <a:latin typeface="Consolas"/>
              </a:rPr>
              <a:t>}</a:t>
            </a:r>
          </a:p>
          <a:p>
            <a:pPr>
              <a:lnSpc>
                <a:spcPct val="100000"/>
              </a:lnSpc>
            </a:pPr>
            <a:r>
              <a:rPr sz="1600" b="0" i="0">
                <a:solidFill>
                  <a:srgbClr val="1F2A37"/>
                </a:solidFill>
                <a:latin typeface="Consolas"/>
              </a:rPr>
              <a:t>return jahre;</a:t>
            </a:r>
          </a:p>
        </p:txBody>
      </p:sp>
      <p:sp>
        <p:nvSpPr>
          <p:cNvPr id="7" name="TextBox 6"/>
          <p:cNvSpPr txBox="1"/>
          <p:nvPr/>
        </p:nvSpPr>
        <p:spPr>
          <a:xfrm>
            <a:off x="548640" y="3392424"/>
            <a:ext cx="6050280" cy="2962656"/>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160 &lt; 150 ist falsch → Schleife endet</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Rückgabe: </a:t>
            </a:r>
            <a:r>
              <a:rPr sz="2000" b="1" i="0">
                <a:solidFill>
                  <a:srgbClr val="1F2A37"/>
                </a:solidFill>
                <a:latin typeface="Calibri"/>
              </a:rPr>
              <a:t>5</a:t>
            </a:r>
            <a:r>
              <a:rPr sz="2000" b="0" i="0">
                <a:solidFill>
                  <a:srgbClr val="1F2A37"/>
                </a:solidFill>
                <a:latin typeface="Calibri"/>
              </a:rPr>
              <a:t/>
            </a:r>
          </a:p>
        </p:txBody>
      </p:sp>
      <p:graphicFrame>
        <p:nvGraphicFramePr>
          <p:cNvPr id="8" name="Table 7"/>
          <p:cNvGraphicFramePr>
            <a:graphicFrameLocks noGrp="1"/>
          </p:cNvGraphicFramePr>
          <p:nvPr/>
        </p:nvGraphicFramePr>
        <p:xfrm>
          <a:off x="6873239" y="1325880"/>
          <a:ext cx="4769814" cy="2533650"/>
        </p:xfrm>
        <a:graphic>
          <a:graphicData uri="http://schemas.openxmlformats.org/drawingml/2006/table">
            <a:tbl>
              <a:tblPr firstRow="1" bandRow="1">
                <a:tableStyleId>{5C22544A-7EE6-4342-B048-85BDC9FD1C3A}</a:tableStyleId>
              </a:tblPr>
              <a:tblGrid>
                <a:gridCol w="1788680"/>
                <a:gridCol w="1490567"/>
                <a:gridCol w="1490567"/>
              </a:tblGrid>
              <a:tr h="361950">
                <a:tc>
                  <a:txBody>
                    <a:bodyPr/>
                    <a:lstStyle/>
                    <a:p>
                      <a:pPr algn="ctr"/>
                      <a:r>
                        <a:rPr sz="1500" b="1">
                          <a:solidFill>
                            <a:srgbClr val="FFFFFF"/>
                          </a:solidFill>
                          <a:latin typeface="Calibri"/>
                        </a:rPr>
                        <a:t/>
                      </a:r>
                    </a:p>
                  </a:txBody>
                  <a:tcPr marL="54864" marR="54864" marT="18288" marB="18288" anchor="ctr">
                    <a:solidFill>
                      <a:srgbClr val="1F4E79"/>
                    </a:solidFill>
                  </a:tcPr>
                </a:tc>
                <a:tc>
                  <a:txBody>
                    <a:bodyPr/>
                    <a:lstStyle/>
                    <a:p>
                      <a:pPr algn="ctr"/>
                      <a:r>
                        <a:rPr sz="1500" b="1">
                          <a:solidFill>
                            <a:srgbClr val="FFFFFF"/>
                          </a:solidFill>
                          <a:latin typeface="Calibri"/>
                        </a:rPr>
                        <a:t>gold</a:t>
                      </a:r>
                    </a:p>
                  </a:txBody>
                  <a:tcPr marL="54864" marR="54864" marT="18288" marB="18288" anchor="ctr">
                    <a:solidFill>
                      <a:srgbClr val="1F4E79"/>
                    </a:solidFill>
                  </a:tcPr>
                </a:tc>
                <a:tc>
                  <a:txBody>
                    <a:bodyPr/>
                    <a:lstStyle/>
                    <a:p>
                      <a:pPr algn="ctr"/>
                      <a:r>
                        <a:rPr sz="1500" b="1">
                          <a:solidFill>
                            <a:srgbClr val="FFFFFF"/>
                          </a:solidFill>
                          <a:latin typeface="Calibri"/>
                        </a:rPr>
                        <a:t>jahre</a:t>
                      </a:r>
                    </a:p>
                  </a:txBody>
                  <a:tcPr marL="54864" marR="54864" marT="18288" marB="18288" anchor="ctr">
                    <a:solidFill>
                      <a:srgbClr val="1F4E79"/>
                    </a:solidFill>
                  </a:tcPr>
                </a:tc>
              </a:tr>
              <a:tr h="361950">
                <a:tc>
                  <a:txBody>
                    <a:bodyPr/>
                    <a:lstStyle/>
                    <a:p>
                      <a:pPr algn="ctr"/>
                      <a:r>
                        <a:rPr sz="1500" b="0">
                          <a:solidFill>
                            <a:srgbClr val="1F2A37"/>
                          </a:solidFill>
                          <a:latin typeface="Consolas"/>
                        </a:rPr>
                        <a:t>Start</a:t>
                      </a:r>
                    </a:p>
                  </a:txBody>
                  <a:tcPr marL="54864" marR="54864" marT="18288" marB="18288" anchor="ctr">
                    <a:solidFill>
                      <a:srgbClr val="FFFFFF"/>
                    </a:solidFill>
                  </a:tcPr>
                </a:tc>
                <a:tc>
                  <a:txBody>
                    <a:bodyPr/>
                    <a:lstStyle/>
                    <a:p>
                      <a:pPr algn="ctr"/>
                      <a:r>
                        <a:rPr sz="1500" b="0">
                          <a:solidFill>
                            <a:srgbClr val="1F2A37"/>
                          </a:solidFill>
                          <a:latin typeface="Consolas"/>
                        </a:rPr>
                        <a:t>100</a:t>
                      </a:r>
                    </a:p>
                  </a:txBody>
                  <a:tcPr marL="54864" marR="54864" marT="18288" marB="18288" anchor="ctr">
                    <a:solidFill>
                      <a:srgbClr val="FFFFFF"/>
                    </a:solidFill>
                  </a:tcPr>
                </a:tc>
                <a:tc>
                  <a:txBody>
                    <a:bodyPr/>
                    <a:lstStyle/>
                    <a:p>
                      <a:pPr algn="ctr"/>
                      <a:r>
                        <a:rPr sz="1500" b="0">
                          <a:solidFill>
                            <a:srgbClr val="1F2A37"/>
                          </a:solidFill>
                          <a:latin typeface="Consolas"/>
                        </a:rPr>
                        <a:t>0</a:t>
                      </a:r>
                    </a:p>
                  </a:txBody>
                  <a:tcPr marL="54864" marR="54864" marT="18288" marB="18288" anchor="ctr">
                    <a:solidFill>
                      <a:srgbClr val="FFFFFF"/>
                    </a:solidFill>
                  </a:tcPr>
                </a:tc>
              </a:tr>
              <a:tr h="361950">
                <a:tc>
                  <a:txBody>
                    <a:bodyPr/>
                    <a:lstStyle/>
                    <a:p>
                      <a:pPr algn="ctr"/>
                      <a:r>
                        <a:rPr sz="1500" b="0">
                          <a:solidFill>
                            <a:srgbClr val="1F2A37"/>
                          </a:solidFill>
                          <a:latin typeface="Consolas"/>
                        </a:rPr>
                        <a:t>1</a:t>
                      </a:r>
                    </a:p>
                  </a:txBody>
                  <a:tcPr marL="54864" marR="54864" marT="18288" marB="18288" anchor="ctr">
                    <a:solidFill>
                      <a:srgbClr val="EEF3FA"/>
                    </a:solidFill>
                  </a:tcPr>
                </a:tc>
                <a:tc>
                  <a:txBody>
                    <a:bodyPr/>
                    <a:lstStyle/>
                    <a:p>
                      <a:pPr algn="ctr"/>
                      <a:r>
                        <a:rPr sz="1500" b="0">
                          <a:solidFill>
                            <a:srgbClr val="1F2A37"/>
                          </a:solidFill>
                          <a:latin typeface="Consolas"/>
                        </a:rPr>
                        <a:t>110</a:t>
                      </a:r>
                    </a:p>
                  </a:txBody>
                  <a:tcPr marL="54864" marR="54864" marT="18288" marB="18288" anchor="ctr">
                    <a:solidFill>
                      <a:srgbClr val="EEF3FA"/>
                    </a:solidFill>
                  </a:tcPr>
                </a:tc>
                <a:tc>
                  <a:txBody>
                    <a:bodyPr/>
                    <a:lstStyle/>
                    <a:p>
                      <a:pPr algn="ctr"/>
                      <a:r>
                        <a:rPr sz="1500" b="0">
                          <a:solidFill>
                            <a:srgbClr val="1F2A37"/>
                          </a:solidFill>
                          <a:latin typeface="Consolas"/>
                        </a:rPr>
                        <a:t>1</a:t>
                      </a:r>
                    </a:p>
                  </a:txBody>
                  <a:tcPr marL="54864" marR="54864" marT="18288" marB="18288" anchor="ctr">
                    <a:solidFill>
                      <a:srgbClr val="EEF3FA"/>
                    </a:solidFill>
                  </a:tcPr>
                </a:tc>
              </a:tr>
              <a:tr h="361950">
                <a:tc>
                  <a:txBody>
                    <a:bodyPr/>
                    <a:lstStyle/>
                    <a:p>
                      <a:pPr algn="ctr"/>
                      <a:r>
                        <a:rPr sz="1500" b="0">
                          <a:solidFill>
                            <a:srgbClr val="1F2A37"/>
                          </a:solidFill>
                          <a:latin typeface="Consolas"/>
                        </a:rPr>
                        <a:t>2</a:t>
                      </a:r>
                    </a:p>
                  </a:txBody>
                  <a:tcPr marL="54864" marR="54864" marT="18288" marB="18288" anchor="ctr">
                    <a:solidFill>
                      <a:srgbClr val="FFFFFF"/>
                    </a:solidFill>
                  </a:tcPr>
                </a:tc>
                <a:tc>
                  <a:txBody>
                    <a:bodyPr/>
                    <a:lstStyle/>
                    <a:p>
                      <a:pPr algn="ctr"/>
                      <a:r>
                        <a:rPr sz="1500" b="0">
                          <a:solidFill>
                            <a:srgbClr val="1F2A37"/>
                          </a:solidFill>
                          <a:latin typeface="Consolas"/>
                        </a:rPr>
                        <a:t>121</a:t>
                      </a:r>
                    </a:p>
                  </a:txBody>
                  <a:tcPr marL="54864" marR="54864" marT="18288" marB="18288" anchor="ctr">
                    <a:solidFill>
                      <a:srgbClr val="FFFFFF"/>
                    </a:solidFill>
                  </a:tcPr>
                </a:tc>
                <a:tc>
                  <a:txBody>
                    <a:bodyPr/>
                    <a:lstStyle/>
                    <a:p>
                      <a:pPr algn="ctr"/>
                      <a:r>
                        <a:rPr sz="1500" b="0">
                          <a:solidFill>
                            <a:srgbClr val="1F2A37"/>
                          </a:solidFill>
                          <a:latin typeface="Consolas"/>
                        </a:rPr>
                        <a:t>2</a:t>
                      </a:r>
                    </a:p>
                  </a:txBody>
                  <a:tcPr marL="54864" marR="54864" marT="18288" marB="18288" anchor="ctr">
                    <a:solidFill>
                      <a:srgbClr val="FFFFFF"/>
                    </a:solidFill>
                  </a:tcPr>
                </a:tc>
              </a:tr>
              <a:tr h="361950">
                <a:tc>
                  <a:txBody>
                    <a:bodyPr/>
                    <a:lstStyle/>
                    <a:p>
                      <a:pPr algn="ctr"/>
                      <a:r>
                        <a:rPr sz="1500" b="0">
                          <a:solidFill>
                            <a:srgbClr val="1F2A37"/>
                          </a:solidFill>
                          <a:latin typeface="Consolas"/>
                        </a:rPr>
                        <a:t>3</a:t>
                      </a:r>
                    </a:p>
                  </a:txBody>
                  <a:tcPr marL="54864" marR="54864" marT="18288" marB="18288" anchor="ctr">
                    <a:solidFill>
                      <a:srgbClr val="EEF3FA"/>
                    </a:solidFill>
                  </a:tcPr>
                </a:tc>
                <a:tc>
                  <a:txBody>
                    <a:bodyPr/>
                    <a:lstStyle/>
                    <a:p>
                      <a:pPr algn="ctr"/>
                      <a:r>
                        <a:rPr sz="1500" b="0">
                          <a:solidFill>
                            <a:srgbClr val="1F2A37"/>
                          </a:solidFill>
                          <a:latin typeface="Consolas"/>
                        </a:rPr>
                        <a:t>133</a:t>
                      </a:r>
                    </a:p>
                  </a:txBody>
                  <a:tcPr marL="54864" marR="54864" marT="18288" marB="18288" anchor="ctr">
                    <a:solidFill>
                      <a:srgbClr val="EEF3FA"/>
                    </a:solidFill>
                  </a:tcPr>
                </a:tc>
                <a:tc>
                  <a:txBody>
                    <a:bodyPr/>
                    <a:lstStyle/>
                    <a:p>
                      <a:pPr algn="ctr"/>
                      <a:r>
                        <a:rPr sz="1500" b="0">
                          <a:solidFill>
                            <a:srgbClr val="1F2A37"/>
                          </a:solidFill>
                          <a:latin typeface="Consolas"/>
                        </a:rPr>
                        <a:t>3</a:t>
                      </a:r>
                    </a:p>
                  </a:txBody>
                  <a:tcPr marL="54864" marR="54864" marT="18288" marB="18288" anchor="ctr">
                    <a:solidFill>
                      <a:srgbClr val="EEF3FA"/>
                    </a:solidFill>
                  </a:tcPr>
                </a:tc>
              </a:tr>
              <a:tr h="361950">
                <a:tc>
                  <a:txBody>
                    <a:bodyPr/>
                    <a:lstStyle/>
                    <a:p>
                      <a:pPr algn="ctr"/>
                      <a:r>
                        <a:rPr sz="1500" b="0">
                          <a:solidFill>
                            <a:srgbClr val="1F2A37"/>
                          </a:solidFill>
                          <a:latin typeface="Consolas"/>
                        </a:rPr>
                        <a:t>4</a:t>
                      </a:r>
                    </a:p>
                  </a:txBody>
                  <a:tcPr marL="54864" marR="54864" marT="18288" marB="18288" anchor="ctr">
                    <a:solidFill>
                      <a:srgbClr val="FFFFFF"/>
                    </a:solidFill>
                  </a:tcPr>
                </a:tc>
                <a:tc>
                  <a:txBody>
                    <a:bodyPr/>
                    <a:lstStyle/>
                    <a:p>
                      <a:pPr algn="ctr"/>
                      <a:r>
                        <a:rPr sz="1500" b="0">
                          <a:solidFill>
                            <a:srgbClr val="1F2A37"/>
                          </a:solidFill>
                          <a:latin typeface="Consolas"/>
                        </a:rPr>
                        <a:t>146</a:t>
                      </a:r>
                    </a:p>
                  </a:txBody>
                  <a:tcPr marL="54864" marR="54864" marT="18288" marB="18288" anchor="ctr">
                    <a:solidFill>
                      <a:srgbClr val="FFFFFF"/>
                    </a:solidFill>
                  </a:tcPr>
                </a:tc>
                <a:tc>
                  <a:txBody>
                    <a:bodyPr/>
                    <a:lstStyle/>
                    <a:p>
                      <a:pPr algn="ctr"/>
                      <a:r>
                        <a:rPr sz="1500" b="0">
                          <a:solidFill>
                            <a:srgbClr val="1F2A37"/>
                          </a:solidFill>
                          <a:latin typeface="Consolas"/>
                        </a:rPr>
                        <a:t>4</a:t>
                      </a:r>
                    </a:p>
                  </a:txBody>
                  <a:tcPr marL="54864" marR="54864" marT="18288" marB="18288" anchor="ctr">
                    <a:solidFill>
                      <a:srgbClr val="FFFFFF"/>
                    </a:solidFill>
                  </a:tcPr>
                </a:tc>
              </a:tr>
              <a:tr h="361950">
                <a:tc>
                  <a:txBody>
                    <a:bodyPr/>
                    <a:lstStyle/>
                    <a:p>
                      <a:pPr algn="ctr"/>
                      <a:r>
                        <a:rPr sz="1500" b="0">
                          <a:solidFill>
                            <a:srgbClr val="1F2A37"/>
                          </a:solidFill>
                          <a:latin typeface="Consolas"/>
                        </a:rPr>
                        <a:t>5</a:t>
                      </a:r>
                    </a:p>
                  </a:txBody>
                  <a:tcPr marL="54864" marR="54864" marT="18288" marB="18288" anchor="ctr">
                    <a:solidFill>
                      <a:srgbClr val="EEF3FA"/>
                    </a:solidFill>
                  </a:tcPr>
                </a:tc>
                <a:tc>
                  <a:txBody>
                    <a:bodyPr/>
                    <a:lstStyle/>
                    <a:p>
                      <a:pPr algn="ctr"/>
                      <a:r>
                        <a:rPr sz="1500" b="0">
                          <a:solidFill>
                            <a:srgbClr val="1F2A37"/>
                          </a:solidFill>
                          <a:latin typeface="Consolas"/>
                        </a:rPr>
                        <a:t>160</a:t>
                      </a:r>
                    </a:p>
                  </a:txBody>
                  <a:tcPr marL="54864" marR="54864" marT="18288" marB="18288" anchor="ctr">
                    <a:solidFill>
                      <a:srgbClr val="EEF3FA"/>
                    </a:solidFill>
                  </a:tcPr>
                </a:tc>
                <a:tc>
                  <a:txBody>
                    <a:bodyPr/>
                    <a:lstStyle/>
                    <a:p>
                      <a:pPr algn="ctr"/>
                      <a:r>
                        <a:rPr sz="1500" b="0">
                          <a:solidFill>
                            <a:srgbClr val="1F2A37"/>
                          </a:solidFill>
                          <a:latin typeface="Consolas"/>
                        </a:rPr>
                        <a:t>5</a:t>
                      </a:r>
                    </a:p>
                  </a:txBody>
                  <a:tcPr marL="54864" marR="54864" marT="18288" marB="18288" anchor="ctr">
                    <a:solidFill>
                      <a:srgbClr val="EEF3FA"/>
                    </a:solidFill>
                  </a:tcPr>
                </a:tc>
              </a:tr>
            </a:tbl>
          </a:graphicData>
        </a:graphic>
      </p:graphicFrame>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517904"/>
          </a:xfrm>
          <a:prstGeom prst="rect">
            <a:avLst/>
          </a:prstGeom>
          <a:noFill/>
        </p:spPr>
        <p:txBody>
          <a:bodyPr wrap="square" anchor="t" lIns="45720" rIns="45720">
            <a:spAutoFit/>
          </a:bodyPr>
          <a:lstStyle/>
          <a:p>
            <a:r>
              <a:rPr sz="2400" b="0" i="0">
                <a:solidFill>
                  <a:srgbClr val="1F2A37"/>
                </a:solidFill>
                <a:latin typeface="Calibri"/>
              </a:rPr>
              <a:t>Führe die Tracetabelle für </a:t>
            </a:r>
            <a:r>
              <a:rPr sz="2300" b="0" i="0">
                <a:solidFill>
                  <a:srgbClr val="1F4E79"/>
                </a:solidFill>
                <a:latin typeface="Consolas"/>
              </a:rPr>
              <a:t>jahreBisZiel(50, 70)</a:t>
            </a:r>
            <a:r>
              <a:rPr sz="2400" b="0" i="0">
                <a:solidFill>
                  <a:srgbClr val="1F2A37"/>
                </a:solidFill>
                <a:latin typeface="Calibri"/>
              </a:rPr>
              <a:t>: Spalten </a:t>
            </a:r>
            <a:r>
              <a:rPr sz="2400" b="1" i="0">
                <a:solidFill>
                  <a:srgbClr val="1F2A37"/>
                </a:solidFill>
                <a:latin typeface="Calibri"/>
              </a:rPr>
              <a:t>gold</a:t>
            </a:r>
            <a:r>
              <a:rPr sz="2400" b="0" i="0">
                <a:solidFill>
                  <a:srgbClr val="1F2A37"/>
                </a:solidFill>
                <a:latin typeface="Calibri"/>
              </a:rPr>
              <a:t> und </a:t>
            </a:r>
            <a:r>
              <a:rPr sz="2400" b="1" i="0">
                <a:solidFill>
                  <a:srgbClr val="1F2A37"/>
                </a:solidFill>
                <a:latin typeface="Calibri"/>
              </a:rPr>
              <a:t>jahre</a:t>
            </a:r>
            <a:r>
              <a:rPr sz="2400" b="0" i="0">
                <a:solidFill>
                  <a:srgbClr val="1F2A37"/>
                </a:solidFill>
                <a:latin typeface="Calibri"/>
              </a:rPr>
              <a:t>, eine Zeile an jeder markierten Stelle. Was wird zurückgegeben?</a:t>
            </a:r>
          </a:p>
        </p:txBody>
      </p:sp>
      <p:sp>
        <p:nvSpPr>
          <p:cNvPr id="7" name="Rectangle 6"/>
          <p:cNvSpPr/>
          <p:nvPr/>
        </p:nvSpPr>
        <p:spPr>
          <a:xfrm>
            <a:off x="548640" y="3895344"/>
            <a:ext cx="6675120" cy="1837943"/>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968496"/>
            <a:ext cx="6492240" cy="1746503"/>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int jahre = 0; </a:t>
            </a:r>
            <a:r>
              <a:rPr sz="1600" b="0" i="0">
                <a:solidFill>
                  <a:srgbClr val="5F7F5F"/>
                </a:solidFill>
                <a:latin typeface="Consolas"/>
              </a:rPr>
              <a:t> // → Tabellenzeile (Startwerte)</a:t>
            </a:r>
          </a:p>
          <a:p>
            <a:pPr>
              <a:lnSpc>
                <a:spcPct val="100000"/>
              </a:lnSpc>
            </a:pPr>
            <a:r>
              <a:rPr sz="1600" b="0" i="0">
                <a:solidFill>
                  <a:srgbClr val="A0A7B1"/>
                </a:solidFill>
                <a:latin typeface="Consolas"/>
              </a:rPr>
              <a:t>2  </a:t>
            </a:r>
            <a:r>
              <a:rPr sz="1600" b="0" i="0">
                <a:solidFill>
                  <a:srgbClr val="1F2A37"/>
                </a:solidFill>
                <a:latin typeface="Consolas"/>
              </a:rPr>
              <a:t>while (gold &lt; ziel) {</a:t>
            </a:r>
          </a:p>
          <a:p>
            <a:pPr>
              <a:lnSpc>
                <a:spcPct val="100000"/>
              </a:lnSpc>
            </a:pPr>
            <a:r>
              <a:rPr sz="1600" b="0" i="0">
                <a:solidFill>
                  <a:srgbClr val="A0A7B1"/>
                </a:solidFill>
                <a:latin typeface="Consolas"/>
              </a:rPr>
              <a:t>3  </a:t>
            </a:r>
            <a:r>
              <a:rPr sz="1600" b="0" i="0">
                <a:solidFill>
                  <a:srgbClr val="1F2A37"/>
                </a:solidFill>
                <a:latin typeface="Consolas"/>
              </a:rPr>
              <a:t>    gold = gold + gold / 10;</a:t>
            </a:r>
          </a:p>
          <a:p>
            <a:pPr>
              <a:lnSpc>
                <a:spcPct val="100000"/>
              </a:lnSpc>
            </a:pPr>
            <a:r>
              <a:rPr sz="1600" b="0" i="0">
                <a:solidFill>
                  <a:srgbClr val="A0A7B1"/>
                </a:solidFill>
                <a:latin typeface="Consolas"/>
              </a:rPr>
              <a:t>4  </a:t>
            </a:r>
            <a:r>
              <a:rPr sz="1600" b="0" i="0">
                <a:solidFill>
                  <a:srgbClr val="1F2A37"/>
                </a:solidFill>
                <a:latin typeface="Consolas"/>
              </a:rPr>
              <a:t>    jahre++; </a:t>
            </a:r>
            <a:r>
              <a:rPr sz="1600" b="0" i="0">
                <a:solidFill>
                  <a:srgbClr val="5F7F5F"/>
                </a:solidFill>
                <a:latin typeface="Consolas"/>
              </a:rPr>
              <a:t> // → Tabellenzeile</a:t>
            </a:r>
          </a:p>
          <a:p>
            <a:pPr>
              <a:lnSpc>
                <a:spcPct val="100000"/>
              </a:lnSpc>
            </a:pPr>
            <a:r>
              <a:rPr sz="1600" b="0" i="0">
                <a:solidFill>
                  <a:srgbClr val="A0A7B1"/>
                </a:solidFill>
                <a:latin typeface="Consolas"/>
              </a:rPr>
              <a:t>5  </a:t>
            </a:r>
            <a:r>
              <a:rPr sz="1600" b="0" i="0">
                <a:solidFill>
                  <a:srgbClr val="1F2A37"/>
                </a:solidFill>
                <a:latin typeface="Consolas"/>
              </a:rPr>
              <a:t>}</a:t>
            </a:r>
          </a:p>
          <a:p>
            <a:pPr>
              <a:lnSpc>
                <a:spcPct val="100000"/>
              </a:lnSpc>
            </a:pPr>
            <a:r>
              <a:rPr sz="1600" b="0" i="0">
                <a:solidFill>
                  <a:srgbClr val="A0A7B1"/>
                </a:solidFill>
                <a:latin typeface="Consolas"/>
              </a:rPr>
              <a:t>6  </a:t>
            </a:r>
            <a:r>
              <a:rPr sz="1600" b="0" i="0">
                <a:solidFill>
                  <a:srgbClr val="1F2A37"/>
                </a:solidFill>
                <a:latin typeface="Consolas"/>
              </a:rPr>
              <a:t>return jahre;</a:t>
            </a:r>
          </a:p>
        </p:txBody>
      </p:sp>
      <p:sp>
        <p:nvSpPr>
          <p:cNvPr id="9" name="Rounded Rectangle 8"/>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2000" b="0" i="0">
                <a:solidFill>
                  <a:srgbClr val="1F2A37"/>
                </a:solidFill>
                <a:latin typeface="Calibri"/>
              </a:rPr>
              <a:t>Achte auf die ganzzahlige Division: 55 / 10 = 5.</a:t>
            </a:r>
            <a:r>
              <a:rPr sz="2000" b="0" i="0">
                <a:solidFill>
                  <a:srgbClr val="1F2A37"/>
                </a:solidFill>
                <a:latin typeface="Calibri"/>
              </a:rPr>
              <a:t/>
            </a:r>
          </a:p>
        </p:txBody>
      </p:sp>
      <p:sp>
        <p:nvSpPr>
          <p:cNvPr id="11" name="TextBox 10"/>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jahreBisZiel(50, 70)</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4572000" cy="2606034"/>
        </p:xfrm>
        <a:graphic>
          <a:graphicData uri="http://schemas.openxmlformats.org/drawingml/2006/table">
            <a:tbl>
              <a:tblPr firstRow="1" bandRow="1">
                <a:tableStyleId>{5C22544A-7EE6-4342-B048-85BDC9FD1C3A}</a:tableStyleId>
              </a:tblPr>
              <a:tblGrid>
                <a:gridCol w="1714500"/>
                <a:gridCol w="1428750"/>
                <a:gridCol w="142875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gold</a:t>
                      </a:r>
                    </a:p>
                  </a:txBody>
                  <a:tcPr marL="54864" marR="54864" marT="18288" marB="18288" anchor="ctr">
                    <a:solidFill>
                      <a:srgbClr val="1F4E79"/>
                    </a:solidFill>
                  </a:tcPr>
                </a:tc>
                <a:tc>
                  <a:txBody>
                    <a:bodyPr/>
                    <a:lstStyle/>
                    <a:p>
                      <a:pPr algn="ctr"/>
                      <a:r>
                        <a:rPr sz="1800" b="1">
                          <a:solidFill>
                            <a:srgbClr val="FFFFFF"/>
                          </a:solidFill>
                          <a:latin typeface="Calibri"/>
                        </a:rPr>
                        <a:t>jahre</a:t>
                      </a:r>
                    </a:p>
                  </a:txBody>
                  <a:tcPr marL="54864" marR="54864" marT="18288" marB="18288" anchor="ctr">
                    <a:solidFill>
                      <a:srgbClr val="1F4E79"/>
                    </a:solidFill>
                  </a:tcPr>
                </a:tc>
              </a:tr>
              <a:tr h="434339">
                <a:tc>
                  <a:txBody>
                    <a:bodyPr/>
                    <a:lstStyle/>
                    <a:p>
                      <a:pPr algn="ctr"/>
                      <a:r>
                        <a:rPr sz="1800" b="0">
                          <a:solidFill>
                            <a:srgbClr val="1F2A37"/>
                          </a:solidFill>
                          <a:latin typeface="Consolas"/>
                        </a:rPr>
                        <a:t>Start</a:t>
                      </a:r>
                    </a:p>
                  </a:txBody>
                  <a:tcPr marL="54864" marR="54864" marT="18288" marB="18288" anchor="ctr">
                    <a:solidFill>
                      <a:srgbClr val="FFFFFF"/>
                    </a:solidFill>
                  </a:tcPr>
                </a:tc>
                <a:tc>
                  <a:txBody>
                    <a:bodyPr/>
                    <a:lstStyle/>
                    <a:p>
                      <a:pPr algn="ctr"/>
                      <a:r>
                        <a:rPr sz="1800" b="0">
                          <a:solidFill>
                            <a:srgbClr val="1F2A37"/>
                          </a:solidFill>
                          <a:latin typeface="Consolas"/>
                        </a:rPr>
                        <a:t>50</a:t>
                      </a:r>
                    </a:p>
                  </a:txBody>
                  <a:tcPr marL="54864" marR="54864" marT="18288" marB="18288" anchor="ctr">
                    <a:solidFill>
                      <a:srgbClr val="FFFFFF"/>
                    </a:solidFill>
                  </a:tcPr>
                </a:tc>
                <a:tc>
                  <a:txBody>
                    <a:bodyPr/>
                    <a:lstStyle/>
                    <a:p>
                      <a:pPr algn="ctr"/>
                      <a:r>
                        <a:rPr sz="1800" b="0">
                          <a:solidFill>
                            <a:srgbClr val="1F2A37"/>
                          </a:solidFill>
                          <a:latin typeface="Consolas"/>
                        </a:rPr>
                        <a:t>0</a:t>
                      </a:r>
                    </a:p>
                  </a:txBody>
                  <a:tcPr marL="54864" marR="54864" marT="18288" marB="18288" anchor="ctr">
                    <a:solidFill>
                      <a:srgbClr val="FFFFFF"/>
                    </a:solidFill>
                  </a:tcPr>
                </a:tc>
              </a:tr>
              <a:tr h="434339">
                <a:tc>
                  <a:txBody>
                    <a:bodyPr/>
                    <a:lstStyle/>
                    <a:p>
                      <a:pPr algn="ctr"/>
                      <a:r>
                        <a:rPr sz="1800" b="0">
                          <a:solidFill>
                            <a:srgbClr val="1F2A37"/>
                          </a:solidFill>
                          <a:latin typeface="Consolas"/>
                        </a:rPr>
                        <a:t>1</a:t>
                      </a:r>
                    </a:p>
                  </a:txBody>
                  <a:tcPr marL="54864" marR="54864" marT="18288" marB="18288" anchor="ctr">
                    <a:solidFill>
                      <a:srgbClr val="EEF3FA"/>
                    </a:solidFill>
                  </a:tcPr>
                </a:tc>
                <a:tc>
                  <a:txBody>
                    <a:bodyPr/>
                    <a:lstStyle/>
                    <a:p>
                      <a:pPr algn="ctr"/>
                      <a:r>
                        <a:rPr sz="1800" b="0">
                          <a:solidFill>
                            <a:srgbClr val="1F2A37"/>
                          </a:solidFill>
                          <a:latin typeface="Consolas"/>
                        </a:rPr>
                        <a:t>55</a:t>
                      </a:r>
                    </a:p>
                  </a:txBody>
                  <a:tcPr marL="54864" marR="54864" marT="18288" marB="18288" anchor="ctr">
                    <a:solidFill>
                      <a:srgbClr val="EEF3FA"/>
                    </a:solidFill>
                  </a:tcPr>
                </a:tc>
                <a:tc>
                  <a:txBody>
                    <a:bodyPr/>
                    <a:lstStyle/>
                    <a:p>
                      <a:pPr algn="ctr"/>
                      <a:r>
                        <a:rPr sz="1800" b="0">
                          <a:solidFill>
                            <a:srgbClr val="1F2A37"/>
                          </a:solidFill>
                          <a:latin typeface="Consolas"/>
                        </a:rPr>
                        <a:t>1</a:t>
                      </a:r>
                    </a:p>
                  </a:txBody>
                  <a:tcPr marL="54864" marR="54864" marT="18288" marB="18288" anchor="ctr">
                    <a:solidFill>
                      <a:srgbClr val="EEF3FA"/>
                    </a:solidFill>
                  </a:tcPr>
                </a:tc>
              </a:tr>
              <a:tr h="434339">
                <a:tc>
                  <a:txBody>
                    <a:bodyPr/>
                    <a:lstStyle/>
                    <a:p>
                      <a:pPr algn="ctr"/>
                      <a:r>
                        <a:rPr sz="1800" b="0">
                          <a:solidFill>
                            <a:srgbClr val="1F2A37"/>
                          </a:solidFill>
                          <a:latin typeface="Consolas"/>
                        </a:rPr>
                        <a:t>2</a:t>
                      </a:r>
                    </a:p>
                  </a:txBody>
                  <a:tcPr marL="54864" marR="54864" marT="18288" marB="18288" anchor="ctr">
                    <a:solidFill>
                      <a:srgbClr val="FFFFFF"/>
                    </a:solidFill>
                  </a:tcPr>
                </a:tc>
                <a:tc>
                  <a:txBody>
                    <a:bodyPr/>
                    <a:lstStyle/>
                    <a:p>
                      <a:pPr algn="ctr"/>
                      <a:r>
                        <a:rPr sz="1800" b="0">
                          <a:solidFill>
                            <a:srgbClr val="1F2A37"/>
                          </a:solidFill>
                          <a:latin typeface="Consolas"/>
                        </a:rPr>
                        <a:t>60</a:t>
                      </a:r>
                    </a:p>
                  </a:txBody>
                  <a:tcPr marL="54864" marR="54864" marT="18288" marB="18288" anchor="ctr">
                    <a:solidFill>
                      <a:srgbClr val="FFFFFF"/>
                    </a:solidFill>
                  </a:tcPr>
                </a:tc>
                <a:tc>
                  <a:txBody>
                    <a:bodyPr/>
                    <a:lstStyle/>
                    <a:p>
                      <a:pPr algn="ctr"/>
                      <a:r>
                        <a:rPr sz="1800" b="0">
                          <a:solidFill>
                            <a:srgbClr val="1F2A37"/>
                          </a:solidFill>
                          <a:latin typeface="Consolas"/>
                        </a:rPr>
                        <a:t>2</a:t>
                      </a:r>
                    </a:p>
                  </a:txBody>
                  <a:tcPr marL="54864" marR="54864" marT="18288" marB="18288" anchor="ctr">
                    <a:solidFill>
                      <a:srgbClr val="FFFFFF"/>
                    </a:solidFill>
                  </a:tcPr>
                </a:tc>
              </a:tr>
              <a:tr h="434339">
                <a:tc>
                  <a:txBody>
                    <a:bodyPr/>
                    <a:lstStyle/>
                    <a:p>
                      <a:pPr algn="ctr"/>
                      <a:r>
                        <a:rPr sz="1800" b="0">
                          <a:solidFill>
                            <a:srgbClr val="1F2A37"/>
                          </a:solidFill>
                          <a:latin typeface="Consolas"/>
                        </a:rPr>
                        <a:t>3</a:t>
                      </a:r>
                    </a:p>
                  </a:txBody>
                  <a:tcPr marL="54864" marR="54864" marT="18288" marB="18288" anchor="ctr">
                    <a:solidFill>
                      <a:srgbClr val="EEF3FA"/>
                    </a:solidFill>
                  </a:tcPr>
                </a:tc>
                <a:tc>
                  <a:txBody>
                    <a:bodyPr/>
                    <a:lstStyle/>
                    <a:p>
                      <a:pPr algn="ctr"/>
                      <a:r>
                        <a:rPr sz="1800" b="0">
                          <a:solidFill>
                            <a:srgbClr val="1F2A37"/>
                          </a:solidFill>
                          <a:latin typeface="Consolas"/>
                        </a:rPr>
                        <a:t>66</a:t>
                      </a:r>
                    </a:p>
                  </a:txBody>
                  <a:tcPr marL="54864" marR="54864" marT="18288" marB="18288" anchor="ctr">
                    <a:solidFill>
                      <a:srgbClr val="EEF3FA"/>
                    </a:solidFill>
                  </a:tcPr>
                </a:tc>
                <a:tc>
                  <a:txBody>
                    <a:bodyPr/>
                    <a:lstStyle/>
                    <a:p>
                      <a:pPr algn="ctr"/>
                      <a:r>
                        <a:rPr sz="1800" b="0">
                          <a:solidFill>
                            <a:srgbClr val="1F2A37"/>
                          </a:solidFill>
                          <a:latin typeface="Consolas"/>
                        </a:rPr>
                        <a:t>3</a:t>
                      </a:r>
                    </a:p>
                  </a:txBody>
                  <a:tcPr marL="54864" marR="54864" marT="18288" marB="18288" anchor="ctr">
                    <a:solidFill>
                      <a:srgbClr val="EEF3FA"/>
                    </a:solidFill>
                  </a:tcPr>
                </a:tc>
              </a:tr>
              <a:tr h="434339">
                <a:tc>
                  <a:txBody>
                    <a:bodyPr/>
                    <a:lstStyle/>
                    <a:p>
                      <a:pPr algn="ctr"/>
                      <a:r>
                        <a:rPr sz="1800" b="0">
                          <a:solidFill>
                            <a:srgbClr val="1F2A37"/>
                          </a:solidFill>
                          <a:latin typeface="Consolas"/>
                        </a:rPr>
                        <a:t>4</a:t>
                      </a:r>
                    </a:p>
                  </a:txBody>
                  <a:tcPr marL="54864" marR="54864" marT="18288" marB="18288" anchor="ctr">
                    <a:solidFill>
                      <a:srgbClr val="FFFFFF"/>
                    </a:solidFill>
                  </a:tcPr>
                </a:tc>
                <a:tc>
                  <a:txBody>
                    <a:bodyPr/>
                    <a:lstStyle/>
                    <a:p>
                      <a:pPr algn="ctr"/>
                      <a:r>
                        <a:rPr sz="1800" b="0">
                          <a:solidFill>
                            <a:srgbClr val="1F2A37"/>
                          </a:solidFill>
                          <a:latin typeface="Consolas"/>
                        </a:rPr>
                        <a:t>72</a:t>
                      </a:r>
                    </a:p>
                  </a:txBody>
                  <a:tcPr marL="54864" marR="54864" marT="18288" marB="18288" anchor="ctr">
                    <a:solidFill>
                      <a:srgbClr val="FFFFFF"/>
                    </a:solidFill>
                  </a:tcPr>
                </a:tc>
                <a:tc>
                  <a:txBody>
                    <a:bodyPr/>
                    <a:lstStyle/>
                    <a:p>
                      <a:pPr algn="ctr"/>
                      <a:r>
                        <a:rPr sz="1800" b="0">
                          <a:solidFill>
                            <a:srgbClr val="1F2A37"/>
                          </a:solidFill>
                          <a:latin typeface="Consolas"/>
                        </a:rPr>
                        <a:t>4</a:t>
                      </a:r>
                    </a:p>
                  </a:txBody>
                  <a:tcPr marL="54864" marR="54864" marT="18288" marB="18288" anchor="ctr">
                    <a:solidFill>
                      <a:srgbClr val="FFFFFF"/>
                    </a:solidFill>
                  </a:tcPr>
                </a:tc>
              </a:tr>
            </a:tbl>
          </a:graphicData>
        </a:graphic>
      </p:graphicFrame>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Rückgabe: 4</a:t>
            </a:r>
            <a:r>
              <a:rPr sz="2000" b="0" i="0">
                <a:solidFill>
                  <a:srgbClr val="1F2A37"/>
                </a:solidFill>
                <a:latin typeface="Calibri"/>
              </a:rPr>
              <a:t/>
            </a:r>
          </a:p>
          <a:p>
            <a:pPr>
              <a:spcAft>
                <a:spcPts val="600"/>
              </a:spcAft>
            </a:pPr>
            <a:r>
              <a:rPr sz="2000" b="0" i="0">
                <a:solidFill>
                  <a:srgbClr val="1F2A37"/>
                </a:solidFill>
                <a:latin typeface="Calibri"/>
              </a:rPr>
              <a:t>55 / 10 = 5 → 60</a:t>
            </a:r>
            <a:r>
              <a:rPr sz="2000" b="0" i="0">
                <a:solidFill>
                  <a:srgbClr val="1F2A37"/>
                </a:solidFill>
                <a:latin typeface="Calibri"/>
              </a:rPr>
              <a:t/>
            </a:r>
          </a:p>
          <a:p>
            <a:pPr>
              <a:spcAft>
                <a:spcPts val="600"/>
              </a:spcAft>
            </a:pPr>
            <a:r>
              <a:rPr sz="2000" b="0" i="0">
                <a:solidFill>
                  <a:srgbClr val="1F2A37"/>
                </a:solidFill>
                <a:latin typeface="Calibri"/>
              </a:rPr>
              <a:t>60 / 10 = 6 → 66</a:t>
            </a:r>
            <a:r>
              <a:rPr sz="2000" b="0" i="0">
                <a:solidFill>
                  <a:srgbClr val="1F2A37"/>
                </a:solidFill>
                <a:latin typeface="Calibri"/>
              </a:rPr>
              <a:t/>
            </a:r>
          </a:p>
          <a:p>
            <a:pPr>
              <a:spcAft>
                <a:spcPts val="600"/>
              </a:spcAft>
            </a:pPr>
            <a:r>
              <a:rPr sz="2000" b="0" i="0">
                <a:solidFill>
                  <a:srgbClr val="1F2A37"/>
                </a:solidFill>
                <a:latin typeface="Calibri"/>
              </a:rPr>
              <a:t>66 / 10 = 6 → 72</a:t>
            </a:r>
            <a:r>
              <a:rPr sz="2000" b="0" i="0">
                <a:solidFill>
                  <a:srgbClr val="1F2A37"/>
                </a:solidFill>
                <a:latin typeface="Calibri"/>
              </a:rPr>
              <a:t/>
            </a:r>
          </a:p>
          <a:p>
            <a:pPr>
              <a:spcAft>
                <a:spcPts val="600"/>
              </a:spcAft>
            </a:pPr>
            <a:r>
              <a:rPr sz="2000" b="0" i="0">
                <a:solidFill>
                  <a:srgbClr val="1F2A37"/>
                </a:solidFill>
                <a:latin typeface="Calibri"/>
              </a:rPr>
              <a:t>72 &lt; 70 ist falsch → Ende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 und wie du sie vermeidest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1" i="0">
                <a:solidFill>
                  <a:srgbClr val="1F2A37"/>
                </a:solidFill>
                <a:latin typeface="Calibri"/>
              </a:rPr>
              <a:t>P9</a:t>
            </a:r>
            <a:r>
              <a:rPr sz="2400" b="0" i="0">
                <a:solidFill>
                  <a:srgbClr val="1F2A37"/>
                </a:solidFill>
                <a:latin typeface="Calibri"/>
              </a:rPr>
              <a:t> Java im Struktogramm: </a:t>
            </a:r>
            <a:r>
              <a:rPr sz="2300" b="0" i="0">
                <a:solidFill>
                  <a:srgbClr val="1F4E79"/>
                </a:solidFill>
                <a:latin typeface="Consolas"/>
              </a:rPr>
              <a:t>=</a:t>
            </a:r>
            <a:r>
              <a:rPr sz="2400" b="0" i="0">
                <a:solidFill>
                  <a:srgbClr val="1F2A37"/>
                </a:solidFill>
                <a:latin typeface="Calibri"/>
              </a:rPr>
              <a:t> statt </a:t>
            </a:r>
            <a:r>
              <a:rPr sz="2300" b="0" i="0">
                <a:solidFill>
                  <a:srgbClr val="1F4E79"/>
                </a:solidFill>
                <a:latin typeface="Consolas"/>
              </a:rPr>
              <a:t>←</a:t>
            </a:r>
            <a:r>
              <a:rPr sz="2400" b="0" i="0">
                <a:solidFill>
                  <a:srgbClr val="1F2A37"/>
                </a:solidFill>
                <a:latin typeface="Calibri"/>
              </a:rPr>
              <a:t>, </a:t>
            </a:r>
            <a:r>
              <a:rPr sz="2300" b="0" i="0">
                <a:solidFill>
                  <a:srgbClr val="1F4E79"/>
                </a:solidFill>
                <a:latin typeface="Consolas"/>
              </a:rPr>
              <a:t>i++</a:t>
            </a:r>
            <a:r>
              <a:rPr sz="2400" b="0" i="0">
                <a:solidFill>
                  <a:srgbClr val="1F2A37"/>
                </a:solidFill>
                <a:latin typeface="Calibri"/>
              </a:rPr>
              <a:t>, </a:t>
            </a:r>
            <a:r>
              <a:rPr sz="2300" b="0" i="0">
                <a:solidFill>
                  <a:srgbClr val="1F4E79"/>
                </a:solidFill>
                <a:latin typeface="Consolas"/>
              </a:rPr>
              <a:t>&amp;&amp;</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P6</a:t>
            </a:r>
            <a:r>
              <a:rPr sz="2400" b="0" i="0">
                <a:solidFill>
                  <a:srgbClr val="1F2A37"/>
                </a:solidFill>
                <a:latin typeface="Calibri"/>
              </a:rPr>
              <a:t> „für i von 0 bis n“ – richtig: </a:t>
            </a:r>
            <a:r>
              <a:rPr sz="2400" b="1" i="0">
                <a:solidFill>
                  <a:srgbClr val="1F2A37"/>
                </a:solidFill>
                <a:latin typeface="Calibri"/>
              </a:rPr>
              <a:t>bis n − 1</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P8</a:t>
            </a:r>
            <a:r>
              <a:rPr sz="2400" b="0" i="0">
                <a:solidFill>
                  <a:srgbClr val="1F2A37"/>
                </a:solidFill>
                <a:latin typeface="Calibri"/>
              </a:rPr>
              <a:t> Startzeile vergessen oder Bedingungsspalte geführt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P4</a:t>
            </a:r>
            <a:r>
              <a:rPr sz="2400" b="0" i="0">
                <a:solidFill>
                  <a:srgbClr val="1F2A37"/>
                </a:solidFill>
                <a:latin typeface="Calibri"/>
              </a:rPr>
              <a:t> ganzzahlige Division übersehen: </a:t>
            </a:r>
            <a:r>
              <a:rPr sz="2300" b="0" i="0">
                <a:solidFill>
                  <a:srgbClr val="1F4E79"/>
                </a:solidFill>
                <a:latin typeface="Consolas"/>
              </a:rPr>
              <a:t>121 / 10</a:t>
            </a:r>
            <a:r>
              <a:rPr sz="2400" b="0" i="0">
                <a:solidFill>
                  <a:srgbClr val="1F2A37"/>
                </a:solidFill>
                <a:latin typeface="Calibri"/>
              </a:rPr>
              <a:t> ist </a:t>
            </a:r>
            <a:r>
              <a:rPr sz="2400" b="1" i="0">
                <a:solidFill>
                  <a:srgbClr val="1F2A37"/>
                </a:solidFill>
                <a:latin typeface="Calibri"/>
              </a:rPr>
              <a:t>12</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Rückgabewert nicht angegeben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Abi-Check</a:t>
            </a:r>
            <a:r>
              <a:rPr sz="2000" b="0" i="0">
                <a:solidFill>
                  <a:srgbClr val="1F2A37"/>
                </a:solidFill>
                <a:latin typeface="Calibri"/>
              </a:rPr>
              <a:t/>
            </a:r>
          </a:p>
          <a:p>
            <a:pPr>
              <a:spcAft>
                <a:spcPts val="600"/>
              </a:spcAft>
            </a:pPr>
            <a:r>
              <a:rPr sz="2000" b="0" i="0">
                <a:solidFill>
                  <a:srgbClr val="1F2A37"/>
                </a:solidFill>
                <a:latin typeface="Calibri"/>
              </a:rPr>
              <a:t>Kopf mit Typen?</a:t>
            </a:r>
            <a:r>
              <a:rPr sz="2000" b="0" i="0">
                <a:solidFill>
                  <a:srgbClr val="1F2A37"/>
                </a:solidFill>
                <a:latin typeface="Calibri"/>
              </a:rPr>
              <a:t/>
            </a:r>
          </a:p>
          <a:p>
            <a:pPr>
              <a:spcAft>
                <a:spcPts val="600"/>
              </a:spcAft>
            </a:pPr>
            <a:r>
              <a:rPr sz="2000" b="0" i="0">
                <a:solidFill>
                  <a:srgbClr val="1F2A37"/>
                </a:solidFill>
                <a:latin typeface="Calibri"/>
              </a:rPr>
              <a:t>Nur ←, =, ≠, ≤, und/oder?</a:t>
            </a:r>
            <a:r>
              <a:rPr sz="2000" b="0" i="0">
                <a:solidFill>
                  <a:srgbClr val="1F2A37"/>
                </a:solidFill>
                <a:latin typeface="Calibri"/>
              </a:rPr>
              <a:t/>
            </a:r>
          </a:p>
          <a:p>
            <a:pPr>
              <a:spcAft>
                <a:spcPts val="600"/>
              </a:spcAft>
            </a:pPr>
            <a:r>
              <a:rPr sz="2000" b="0" i="0">
                <a:solidFill>
                  <a:srgbClr val="1F2A37"/>
                </a:solidFill>
                <a:latin typeface="Calibri"/>
              </a:rPr>
              <a:t>Grenzen der Zählschleife?</a:t>
            </a:r>
            <a:r>
              <a:rPr sz="2000" b="0" i="0">
                <a:solidFill>
                  <a:srgbClr val="1F2A37"/>
                </a:solidFill>
                <a:latin typeface="Calibri"/>
              </a:rPr>
              <a:t/>
            </a:r>
          </a:p>
          <a:p>
            <a:pPr>
              <a:spcAft>
                <a:spcPts val="600"/>
              </a:spcAft>
            </a:pPr>
            <a:r>
              <a:rPr sz="2000" b="0" i="0">
                <a:solidFill>
                  <a:srgbClr val="1F2A37"/>
                </a:solidFill>
                <a:latin typeface="Calibri"/>
              </a:rPr>
              <a:t>Startzeile + Rückgabe?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Struktogramm nach EH §5: Kopf </a:t>
            </a:r>
            <a:r>
              <a:rPr sz="2100" b="0" i="0">
                <a:solidFill>
                  <a:srgbClr val="1F4E79"/>
                </a:solidFill>
                <a:latin typeface="Consolas"/>
              </a:rPr>
              <a:t>name(p: Typ): Typ</a:t>
            </a:r>
            <a:r>
              <a:rPr sz="2200" b="0" i="0">
                <a:solidFill>
                  <a:srgbClr val="1F2A37"/>
                </a:solidFill>
                <a:latin typeface="Calibri"/>
              </a:rPr>
              <a:t>, Zuweisung </a:t>
            </a:r>
            <a:r>
              <a:rPr sz="2100" b="0" i="0">
                <a:solidFill>
                  <a:srgbClr val="1F4E79"/>
                </a:solidFill>
                <a:latin typeface="Consolas"/>
              </a:rPr>
              <a:t>←</a:t>
            </a:r>
            <a:r>
              <a:rPr sz="2200" b="0" i="0">
                <a:solidFill>
                  <a:srgbClr val="1F2A37"/>
                </a:solidFill>
                <a:latin typeface="Calibri"/>
              </a:rPr>
              <a:t>, „gib … zurück“</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Verzweigung als Dreieck, Zählschleife „für i von 0 bis n − 1“, „solange …“</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Keine Java-Syntax – Operatoren ausschreiben: und, oder, nicht, mod</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Tracetabelle: nur Variablen, eine Zeile an jeder markierten Stelle, Rückgabe angeben</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0.1 „Das Portal: Notation fürs Abitur“ und Level 0.2 „Die Werkstatt“</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W0·1 „Das Portal“ – Infoteil 3 und Aufgabe 5</a:t>
            </a:r>
            <a:r>
              <a:rPr sz="2200" b="0" i="0">
                <a:solidFill>
                  <a:srgbClr val="1F2A37"/>
                </a:solidFill>
                <a:latin typeface="Calibri"/>
              </a:rPr>
              <a:t/>
            </a:r>
          </a:p>
          <a:p>
            <a:pPr>
              <a:spcAft>
                <a:spcPts val="1200"/>
              </a:spcAft>
            </a:pPr>
            <a:r>
              <a:rPr sz="2200" b="1" i="0">
                <a:solidFill>
                  <a:srgbClr val="1F4E79"/>
                </a:solidFill>
                <a:latin typeface="Calibri"/>
              </a:rPr>
              <a:t>Spickzettel: </a:t>
            </a:r>
            <a:r>
              <a:rPr sz="2200" b="0" i="0">
                <a:solidFill>
                  <a:srgbClr val="1F2A37"/>
                </a:solidFill>
                <a:latin typeface="Calibri"/>
              </a:rPr>
              <a:t>Werkzeugkarten (Struktogramm-Notation, Tracetabelle)</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Die Online-IDE: Gerüst, Testrunner und Bibliothek „Niedersachsen“</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1: Struktogramm und Tracetabelle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Struktogramm und Tracetabelle</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