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Kamera unten rechts, Titelfolie im Hintergrund.]</a:t>
            </a:r>
          </a:p>
          <a:p/>
          <a:p>
            <a:r>
              <a:t>Willkommen im Labyrinth der Algo Quest! Heute geht es um Rekursion – also um Methoden, die sich selbst aufrufen. Das klingt erst einmal nach einem Zaubertrick. Im Abitur ist es aber ganz handfestes Handwerk: Du sollst einen Rekursionsverlauf dokumentieren, Aufrufe zählen und rekursive Struktogramme zeichnen. Nach diesem Video weißt du, wie das geht – und welche Fehler dich dabei Punkte kosten.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Typische Arbeitsaufträge im Abitur lauten zum Beispiel: Dokumentieren Sie den Rekursionsverlauf in einer Rekursionstabelle mit Rekursionstiefe. Bestimmen Sie die Anzahl der Aufrufe. Oder: Stellen Sie die Methode als Struktogramm dar. Eine Konvention solltest du dir sofort merken: Der Erstaufruf hat die Rekursionstiefe null, nicht eins. Rechts siehst du, was wir uns heute vornehmen.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Unser Beispiel: Der Händler im Dungeon zahlt Wechselgeld mit Fünfer- und Einer-Münzen, und zwar mit möglichst wenigen. Die Methode muenzen berechnet, wie viele Münzen er braucht. Jede Rekursion hat zwei Zutaten. Erstens den Basisfall: Hier steht die Antwort sofort fest, ganz ohne Selbstaufruf. Ist der Betrag null, braucht der Händler null Münzen. Zweitens den Rekursionsschritt: Der Händler wählt eine Münze – eine Fünf, wenn das geht, sonst eine Eins – und lässt in der rot markierten Zeile den Rest von muenzen selbst ausrechnen. Wichtig: Der Rest ist echt kleiner, also kommt jeder Aufruf dem Basisfall näher. Und: Das Ergebnis des Selbstaufrufs wird verwendet – eins plus den Rest. Der Trick beim Entwerfen: Vertraue darauf, dass der Selbstaufruf richtig rechnet.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Stapel von unten nach oben zeigen (Abstieg), dann von oben nach unten die Rückgaben (Aufstieg).]</a:t>
            </a:r>
          </a:p>
          <a:p/>
          <a:p>
            <a:r>
              <a:t>Was passiert beim Aufruf muenzen von zwölf? Zwölf ist mindestens fünf, also wartet dieser Aufruf auf muenzen von sieben. Der wiederum wartet auf muenzen von zwei, der auf muenzen von eins, und der auf muenzen von null. Jeder Aufruf legt dabei einen eigenen Rahmen auf den Aufrufstapel, mit einer eigenen Variable betrag. Das ist der Abstieg. Ganz oben liegt jetzt muenzen von null – der Basisfall. Er liefert sofort null. Jetzt beginnt der Aufstieg: Der oberste Rahmen verschwindet, und sein Ergebnis wird im Rahmen darunter eingesetzt. Eins plus null ist eins, dann eins plus eins ist zwei, dann drei, und schließlich liefert der Erstaufruf vier. Vier Münzen: fünf, fünf, eins, eins.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Erst die Spalten Tiefe, Aufruf, betrag von oben nach unten zeigen, dann die Rückgaben von unten nach oben.]</a:t>
            </a:r>
          </a:p>
          <a:p/>
          <a:p>
            <a:r>
              <a:t>Genau diesen Ablauf schreibst du im Abitur als Rekursionstabelle auf. Die Spalten sind: Rekursionstiefe, Aufruf, die Parameter – hier betrag – und die Rückgabe. Beim Abstieg füllst du die Zeilen von oben nach unten: Der Erstaufruf muenzen von zwölf hat die Tiefe null, jeder Selbstaufruf eine Tiefe mehr. Die Rückgaben kannst du beim Abstieg noch nicht eintragen – sie stehen erst fest, wenn der Aufruf darunter fertig ist. Deshalb füllst du die Spalte Rückgabe beim Aufstieg von unten nach oben: null im Basisfall, dann eins plus null, eins plus eins und so weiter. Schreib die Rechnung ruhig mit hin, das macht deine Lösung nachvollziehbar. Ergebnis: fünf Aufrufe, größte Rekursionstiefe vier.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bist du dran. Halte das Video an und führe die Rekursionstabelle für muenzen von neun. Denk daran: Der Erstaufruf hat die Tiefe null, und die Rückgaben trägst du erst beim Aufstieg ein. Wenn du fertig bist, geht es weiter mit der Auflösung.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die Auflösung. Neun ist mindestens fünf, also geht es mit vier weiter. Ab jetzt ist der Betrag kleiner als fünf, und es geht in Einerschritten abwärts: drei, zwei, eins, null. Das sind sechs Aufrufe mit den Tiefen null bis fünf. Beim Aufstieg: null, eins, zwei, drei, vier – und der Erstaufruf liefert fünf. Der Händler zahlt also eine Fünf und vier Einer. Hattest du auch die Zeile für den Basisfall? Sie gehört dazu.</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wie sieht das als Struktogramm aus? Ganz oben steht wie immer der Kopf: muenzen, betrag vom Typ Ganzzahl, Rückgabetyp Ganzzahl. Dann kommt zuerst der Basisfall als Verzweigung: Ist betrag gleich null, gib null zurück. Im Falsch-Zweig steht der Rekursionsschritt: muenze bekommt eins, und wenn betrag mindestens fünf ist, bekommt muenze fünf. Der Selbstaufruf braucht kein besonderes Symbol – er ist eine ganz normale Anweisung, hier innerhalb von gib eins plus muenzen von betrag minus muenze zurück. Achte darauf, dass jeder Pfad mit gib zurück endet, und schreib keine Java-Syntax: Pfeil statt Gleichheitszeichen, größer gleich als ein Zeichen.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Bisher hatte jeder Aufruf höchstens einen Selbstaufruf – die Aufrufe bilden eine Kette. Jetzt ein Monster aus dem Labyrinth: ein Schleim. Trifft man einen Schleim der Größe n, zerfällt er in zwei Schleime, einen der Größe n durch zwei und einen der Größe n durch drei, jeweils ganzzahlig. Schleime kleiner als zwei zerfallen nicht mehr. Die Methode schleim zählt, wie viele Mini-Schleime am Ende übrig sind. In der markierten Zeile stehen zwei Selbstaufrufe. Das nennt man Baumrekursion, denn die Aufrufe verzweigen sich wie ein Baum.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 Reihenfolge des Beginns mit dem Mauszeiger zeigen: s7, s3, s1, s1, s2, s1, s0.]</a:t>
            </a:r>
          </a:p>
          <a:p/>
          <a:p>
            <a:r>
              <a:t>Hier der Aufrufbaum für schleim von sieben. Jeder Knoten ist ein Aufruf; s drei steht für schleim von drei. Die Wurzel ist der Erstaufruf mit Tiefe null. Sieben durch zwei ist drei, sieben durch drei ist zwei. Java wertet die Summe von links nach rechts aus: Erst wird der linke Teilbaum komplett abgearbeitet – s drei mit seinen beiden Kindern s eins und s eins –, erst danach beginnt s zwei mit s eins und s null. Zum Zählen der Aufrufe zählst du einfach alle Knoten: sieben Aufrufe. Die größte Tiefe ist zwei. Und jedes Blatt liefert eins, also ist schleim von sieben gleich vier.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du: Halte das Video an und zeichne den Aufrufbaum für schleim von zehn. Bestimme den Rückgabewert, die Anzahl aller Aufrufe und die größte Rekursionstiefe. Denk an die ganzzahlige Division.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Auflösung: Zehn zerfällt in fünf und drei. Fünf zerfällt in zwei und eins, zwei in eins und null, drei in eins und eins. Der Baum hat neun Knoten, also neun Aufrufe. Der längste Ast führt von s zehn über s fünf und s zwei bis s eins – das ist Tiefe drei, denn die Wurzel hat Tiefe null. Fünf Blätter, also liefert schleim von zehn den Wert fünf. Übrigens: Weil jeder innere Knoten genau zwei Kinder hat, gilt hier immer: Aufrufe gleich zwei mal Blätter minus eins. So kannst du dein Ergebnis kontrollieren.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Jetzt zu den typischen Fehlern, in unserer Fallen-Liste unter P7. Fehler eins: Der Basisfall fehlt. Dann ruft sich die Methode immer weiter selbst auf. Jeder Aufruf belegt einen Rahmen auf dem Aufrufstapel, bis der Speicher voll ist – Java bricht mit einem StackOverflowError ab. Fehler zwei ist tückischer: Der Basisfall ist da, wird aber übersprungen. Gibt es nur Fünferschritte, geht es von zwölf über sieben und zwei direkt zu minus drei – null wird nie getroffen, wieder ein StackOverflowError. Fehler drei: Der Selbstaufruf steht zwar da, aber sein Ergebnis wird weggeworfen. Das Programm läuft, liefert aber immer eins. Merke: Das Ergebnis des Selbstaufrufs muss verwendet werden.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Auch in Tabellen und Bäumen gehen schnell Punkte verloren. Falle P7: Die Tiefe beginnt bei eins statt bei null. Im Abitur gilt: Der Erstaufruf hat die Tiefe null. Falle P8: Die Rückgaben werden schon beim Abstieg eingetragen, oder die Zeile für den Basisfall fehlt. Beim Zählen der Aufrufe gilt: Der Erstaufruf und alle Basisfälle zählen mit – jeder Knoten im Aufrufbaum ist ein Aufruf. Und Falle P9: Java-Syntax im Struktogramm. Rechts der Abi-Check für deine Lösung.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Fassen wir zusammen. Jede Rekursion braucht einen Basisfall und einen Rekursionsschritt, der dem Basisfall näherkommt und das Ergebnis des Selbstaufrufs verwendet. Beim Ausführen geht es erst hinab bis zum Basisfall und dann mit den Rückgaben wieder hinauf. In der Rekursionstabelle steht der Erstaufruf mit Tiefe null, die Rückgaben füllst du von unten nach oben. Und bei Baumrekursion zeichnest du den Aufrufbaum: Jeder Knoten ist ein Aufruf.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 jetzt ab ins Lab! In Level drei Punkt eins, dem Spiegelsaal, übst du Basisfall und Rekursionstabelle, in Level drei Punkt zwei, der Hydra, Aufrufbäume und das Zählen von Aufrufen. Auf dem Arbeitsblatt Rekursion findest du alles noch einmal zum Nachlesen. Im nächsten Video geht es um Stapel und Schlange – und übrigens: Den Aufrufstapel hast du heute schon kennengelernt. Bis dahin – viel Erfolg im Labyrinth!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0"/>
            <a:ext cx="11094415" cy="457200"/>
          </a:xfrm>
          <a:prstGeom prst="rect">
            <a:avLst/>
          </a:prstGeom>
          <a:noFill/>
        </p:spPr>
        <p:txBody>
          <a:bodyPr wrap="square" anchor="t" lIns="45720" rIns="45720">
            <a:spAutoFit/>
          </a:bodyPr>
          <a:lstStyle/>
          <a:p>
            <a:r>
              <a:rPr sz="1800" b="1" i="0">
                <a:solidFill>
                  <a:srgbClr val="B8860B"/>
                </a:solidFill>
                <a:latin typeface="Calibri"/>
              </a:rPr>
              <a:t>ALGO QUEST · ERKLÄRVIDEO 5</a:t>
            </a:r>
          </a:p>
        </p:txBody>
      </p:sp>
      <p:sp>
        <p:nvSpPr>
          <p:cNvPr id="4" name="TextBox 3"/>
          <p:cNvSpPr txBox="1"/>
          <p:nvPr/>
        </p:nvSpPr>
        <p:spPr>
          <a:xfrm>
            <a:off x="548640" y="1645920"/>
            <a:ext cx="11094415" cy="1463040"/>
          </a:xfrm>
          <a:prstGeom prst="rect">
            <a:avLst/>
          </a:prstGeom>
          <a:noFill/>
        </p:spPr>
        <p:txBody>
          <a:bodyPr wrap="square" anchor="t" lIns="45720" rIns="45720">
            <a:spAutoFit/>
          </a:bodyPr>
          <a:lstStyle/>
          <a:p>
            <a:r>
              <a:rPr sz="4800" b="1" i="0">
                <a:solidFill>
                  <a:srgbClr val="1F4E79"/>
                </a:solidFill>
                <a:latin typeface="Calibri"/>
              </a:rPr>
              <a:t>Rekursion verstehen</a:t>
            </a:r>
          </a:p>
        </p:txBody>
      </p:sp>
      <p:sp>
        <p:nvSpPr>
          <p:cNvPr id="5" name="TextBox 4"/>
          <p:cNvSpPr txBox="1"/>
          <p:nvPr/>
        </p:nvSpPr>
        <p:spPr>
          <a:xfrm>
            <a:off x="548640" y="3063240"/>
            <a:ext cx="8229600" cy="914400"/>
          </a:xfrm>
          <a:prstGeom prst="rect">
            <a:avLst/>
          </a:prstGeom>
          <a:noFill/>
        </p:spPr>
        <p:txBody>
          <a:bodyPr wrap="square" anchor="t" lIns="45720" rIns="45720">
            <a:spAutoFit/>
          </a:bodyPr>
          <a:lstStyle/>
          <a:p>
            <a:r>
              <a:rPr sz="2600" b="0" i="0">
                <a:solidFill>
                  <a:srgbClr val="1F2A37"/>
                </a:solidFill>
                <a:latin typeface="Calibri"/>
              </a:rPr>
              <a:t>Basisfall, Aufrufstapel, Rekursionstabelle und Aufrufbaum – so, wie es das Abitur verlangt</a:t>
            </a:r>
          </a:p>
        </p:txBody>
      </p:sp>
      <p:sp>
        <p:nvSpPr>
          <p:cNvPr id="6" name="TextBox 5"/>
          <p:cNvSpPr txBox="1"/>
          <p:nvPr/>
        </p:nvSpPr>
        <p:spPr>
          <a:xfrm>
            <a:off x="548640" y="5120640"/>
            <a:ext cx="7772400" cy="822960"/>
          </a:xfrm>
          <a:prstGeom prst="rect">
            <a:avLst/>
          </a:prstGeom>
          <a:noFill/>
        </p:spPr>
        <p:txBody>
          <a:bodyPr wrap="square" anchor="t" lIns="45720" rIns="45720">
            <a:spAutoFit/>
          </a:bodyPr>
          <a:lstStyle/>
          <a:p>
            <a:r>
              <a:rPr sz="2000" b="1" i="0">
                <a:solidFill>
                  <a:srgbClr val="7030A0"/>
                </a:solidFill>
                <a:latin typeface="Calibri"/>
              </a:rPr>
              <a:t>Welt 3 · Das Labyrinth</a:t>
            </a:r>
          </a:p>
          <a:p>
            <a:r>
              <a:rPr sz="1600" b="0" i="0">
                <a:solidFill>
                  <a:srgbClr val="7F7F7F"/>
                </a:solidFill>
                <a:latin typeface="Calibri"/>
              </a:rPr>
              <a:t>Informatik LK · Abitur Niedersachsen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Rekursion im Abitur</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6675120" cy="4892040"/>
          </a:xfrm>
          <a:prstGeom prst="rect">
            <a:avLst/>
          </a:prstGeom>
          <a:noFill/>
        </p:spPr>
        <p:txBody>
          <a:bodyPr wrap="square" anchor="t" lIns="45720" rIns="45720">
            <a:spAutoFit/>
          </a:bodyPr>
          <a:lstStyle/>
          <a:p>
            <a:pPr>
              <a:spcAft>
                <a:spcPts val="1000"/>
              </a:spcAft>
            </a:pPr>
            <a:r>
              <a:rPr sz="2400" b="1" i="0">
                <a:solidFill>
                  <a:srgbClr val="B8860B"/>
                </a:solidFill>
                <a:latin typeface="Calibri"/>
              </a:rPr>
              <a:t>▸ </a:t>
            </a:r>
            <a:r>
              <a:rPr sz="2400" b="0" i="0">
                <a:solidFill>
                  <a:srgbClr val="1F2A37"/>
                </a:solidFill>
                <a:latin typeface="Calibri"/>
              </a:rPr>
              <a:t>„</a:t>
            </a:r>
            <a:r>
              <a:rPr sz="2400" b="1" i="0">
                <a:solidFill>
                  <a:srgbClr val="1F2A37"/>
                </a:solidFill>
                <a:latin typeface="Calibri"/>
              </a:rPr>
              <a:t>Dokumentieren Sie</a:t>
            </a:r>
            <a:r>
              <a:rPr sz="2400" b="0" i="0">
                <a:solidFill>
                  <a:srgbClr val="1F2A37"/>
                </a:solidFill>
                <a:latin typeface="Calibri"/>
              </a:rPr>
              <a:t> den Rekursionsverlauf in einer Rekursionstabelle mit Rekursionstiefe.“</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a:t>
            </a:r>
            <a:r>
              <a:rPr sz="2400" b="1" i="0">
                <a:solidFill>
                  <a:srgbClr val="1F2A37"/>
                </a:solidFill>
                <a:latin typeface="Calibri"/>
              </a:rPr>
              <a:t>Bestimmen Sie</a:t>
            </a:r>
            <a:r>
              <a:rPr sz="2400" b="0" i="0">
                <a:solidFill>
                  <a:srgbClr val="1F2A37"/>
                </a:solidFill>
                <a:latin typeface="Calibri"/>
              </a:rPr>
              <a:t> die Anzahl der Aufrufe.“</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a:t>
            </a:r>
            <a:r>
              <a:rPr sz="2400" b="1" i="0">
                <a:solidFill>
                  <a:srgbClr val="1F2A37"/>
                </a:solidFill>
                <a:latin typeface="Calibri"/>
              </a:rPr>
              <a:t>Stellen Sie</a:t>
            </a:r>
            <a:r>
              <a:rPr sz="2400" b="0" i="0">
                <a:solidFill>
                  <a:srgbClr val="1F2A37"/>
                </a:solidFill>
                <a:latin typeface="Calibri"/>
              </a:rPr>
              <a:t> die Methode als Struktogramm </a:t>
            </a:r>
            <a:r>
              <a:rPr sz="2400" b="1" i="0">
                <a:solidFill>
                  <a:srgbClr val="1F2A37"/>
                </a:solidFill>
                <a:latin typeface="Calibri"/>
              </a:rPr>
              <a:t>dar</a:t>
            </a:r>
            <a:r>
              <a:rPr sz="2400" b="0" i="0">
                <a:solidFill>
                  <a:srgbClr val="1F2A37"/>
                </a:solidFill>
                <a:latin typeface="Calibri"/>
              </a:rPr>
              <a:t>.“</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Konvention: </a:t>
            </a:r>
            <a:r>
              <a:rPr sz="2400" b="1" i="0">
                <a:solidFill>
                  <a:srgbClr val="1F2A37"/>
                </a:solidFill>
                <a:latin typeface="Calibri"/>
              </a:rPr>
              <a:t>Erstaufruf = Rekursionstiefe 0</a:t>
            </a:r>
            <a:r>
              <a:rPr sz="2400" b="0" i="0">
                <a:solidFill>
                  <a:srgbClr val="1F2A37"/>
                </a:solidFill>
                <a:latin typeface="Calibri"/>
              </a:rPr>
              <a:t/>
            </a:r>
          </a:p>
        </p:txBody>
      </p:sp>
      <p:sp>
        <p:nvSpPr>
          <p:cNvPr id="6" name="Rounded Rectangle 5"/>
          <p:cNvSpPr/>
          <p:nvPr/>
        </p:nvSpPr>
        <p:spPr>
          <a:xfrm>
            <a:off x="7498079" y="1325880"/>
            <a:ext cx="414497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1800" b="1" i="0">
                <a:solidFill>
                  <a:srgbClr val="B8860B"/>
                </a:solidFill>
                <a:latin typeface="Calibri"/>
              </a:rPr>
              <a:t>Heute</a:t>
            </a:r>
            <a:r>
              <a:rPr sz="1600" b="0" i="0">
                <a:solidFill>
                  <a:srgbClr val="1F2A37"/>
                </a:solidFill>
                <a:latin typeface="Calibri"/>
              </a:rPr>
              <a:t/>
            </a:r>
          </a:p>
          <a:p>
            <a:pPr>
              <a:spcAft>
                <a:spcPts val="600"/>
              </a:spcAft>
            </a:pPr>
            <a:r>
              <a:rPr sz="1600" b="0" i="0">
                <a:solidFill>
                  <a:srgbClr val="1F2A37"/>
                </a:solidFill>
                <a:latin typeface="Calibri"/>
              </a:rPr>
              <a:t>Basisfall und Rekursionsschritt</a:t>
            </a:r>
            <a:r>
              <a:rPr sz="1600" b="0" i="0">
                <a:solidFill>
                  <a:srgbClr val="1F2A37"/>
                </a:solidFill>
                <a:latin typeface="Calibri"/>
              </a:rPr>
              <a:t/>
            </a:r>
          </a:p>
          <a:p>
            <a:pPr>
              <a:spcAft>
                <a:spcPts val="600"/>
              </a:spcAft>
            </a:pPr>
            <a:r>
              <a:rPr sz="1600" b="0" i="0">
                <a:solidFill>
                  <a:srgbClr val="1F2A37"/>
                </a:solidFill>
                <a:latin typeface="Calibri"/>
              </a:rPr>
              <a:t>Aufrufstapel</a:t>
            </a:r>
            <a:r>
              <a:rPr sz="1600" b="0" i="0">
                <a:solidFill>
                  <a:srgbClr val="1F2A37"/>
                </a:solidFill>
                <a:latin typeface="Calibri"/>
              </a:rPr>
              <a:t/>
            </a:r>
          </a:p>
          <a:p>
            <a:pPr>
              <a:spcAft>
                <a:spcPts val="600"/>
              </a:spcAft>
            </a:pPr>
            <a:r>
              <a:rPr sz="1600" b="0" i="0">
                <a:solidFill>
                  <a:srgbClr val="1F2A37"/>
                </a:solidFill>
                <a:latin typeface="Calibri"/>
              </a:rPr>
              <a:t>Rekursionstabelle</a:t>
            </a:r>
            <a:r>
              <a:rPr sz="1600" b="0" i="0">
                <a:solidFill>
                  <a:srgbClr val="1F2A37"/>
                </a:solidFill>
                <a:latin typeface="Calibri"/>
              </a:rPr>
              <a:t/>
            </a:r>
          </a:p>
          <a:p>
            <a:pPr>
              <a:spcAft>
                <a:spcPts val="600"/>
              </a:spcAft>
            </a:pPr>
            <a:r>
              <a:rPr sz="1600" b="0" i="0">
                <a:solidFill>
                  <a:srgbClr val="1F2A37"/>
                </a:solidFill>
                <a:latin typeface="Calibri"/>
              </a:rPr>
              <a:t>Struktogramm</a:t>
            </a:r>
            <a:r>
              <a:rPr sz="1600" b="0" i="0">
                <a:solidFill>
                  <a:srgbClr val="1F2A37"/>
                </a:solidFill>
                <a:latin typeface="Calibri"/>
              </a:rPr>
              <a:t/>
            </a:r>
          </a:p>
          <a:p>
            <a:pPr>
              <a:spcAft>
                <a:spcPts val="600"/>
              </a:spcAft>
            </a:pPr>
            <a:r>
              <a:rPr sz="1600" b="0" i="0">
                <a:solidFill>
                  <a:srgbClr val="1F2A37"/>
                </a:solidFill>
                <a:latin typeface="Calibri"/>
              </a:rPr>
              <a:t>Aufrufbaum</a:t>
            </a:r>
            <a:r>
              <a:rPr sz="1600" b="0" i="0">
                <a:solidFill>
                  <a:srgbClr val="1F2A37"/>
                </a:solidFill>
                <a:latin typeface="Calibri"/>
              </a:rPr>
              <a:t/>
            </a:r>
          </a:p>
          <a:p>
            <a:pPr>
              <a:spcAft>
                <a:spcPts val="600"/>
              </a:spcAft>
            </a:pPr>
            <a:r>
              <a:rPr sz="1600" b="0" i="0">
                <a:solidFill>
                  <a:srgbClr val="1F2A37"/>
                </a:solidFill>
                <a:latin typeface="Calibri"/>
              </a:rPr>
              <a:t>Typische Fehler (P7)</a:t>
            </a:r>
            <a:r>
              <a:rPr sz="16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5: Rekursion verstehen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Basisfall und Rekursionsschritt</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5684519" cy="2910840"/>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5501639" cy="2819400"/>
          </a:xfrm>
          <a:prstGeom prst="rect">
            <a:avLst/>
          </a:prstGeom>
          <a:noFill/>
        </p:spPr>
        <p:txBody>
          <a:bodyPr wrap="square" anchor="t" lIns="45720" rIns="45720">
            <a:spAutoFit/>
          </a:bodyPr>
          <a:lstStyle/>
          <a:p>
            <a:pPr>
              <a:lnSpc>
                <a:spcPct val="100000"/>
              </a:lnSpc>
            </a:pPr>
            <a:r>
              <a:rPr sz="1600" b="0" i="0">
                <a:solidFill>
                  <a:srgbClr val="A0A7B1"/>
                </a:solidFill>
                <a:latin typeface="Consolas"/>
              </a:rPr>
              <a:t> 1  </a:t>
            </a:r>
            <a:r>
              <a:rPr sz="1600" b="0" i="0">
                <a:solidFill>
                  <a:srgbClr val="1F2A37"/>
                </a:solidFill>
                <a:latin typeface="Consolas"/>
              </a:rPr>
              <a:t>public static int muenzen(int betrag) {</a:t>
            </a:r>
          </a:p>
          <a:p>
            <a:pPr>
              <a:lnSpc>
                <a:spcPct val="100000"/>
              </a:lnSpc>
            </a:pPr>
            <a:r>
              <a:rPr sz="1600" b="0" i="0">
                <a:solidFill>
                  <a:srgbClr val="A0A7B1"/>
                </a:solidFill>
                <a:latin typeface="Consolas"/>
              </a:rPr>
              <a:t> 2  </a:t>
            </a:r>
            <a:r>
              <a:rPr sz="1600" b="0" i="0">
                <a:solidFill>
                  <a:srgbClr val="1F2A37"/>
                </a:solidFill>
                <a:latin typeface="Consolas"/>
              </a:rPr>
              <a:t>    if (betrag == 0) {</a:t>
            </a:r>
          </a:p>
          <a:p>
            <a:pPr>
              <a:lnSpc>
                <a:spcPct val="100000"/>
              </a:lnSpc>
            </a:pPr>
            <a:r>
              <a:rPr sz="1600" b="0" i="0">
                <a:solidFill>
                  <a:srgbClr val="A0A7B1"/>
                </a:solidFill>
                <a:latin typeface="Consolas"/>
              </a:rPr>
              <a:t> 3  </a:t>
            </a:r>
            <a:r>
              <a:rPr sz="1600" b="0" i="0">
                <a:solidFill>
                  <a:srgbClr val="1F2A37"/>
                </a:solidFill>
                <a:latin typeface="Consolas"/>
              </a:rPr>
              <a:t>        return 0; </a:t>
            </a:r>
            <a:r>
              <a:rPr sz="1600" b="0" i="0">
                <a:solidFill>
                  <a:srgbClr val="5F7F5F"/>
                </a:solidFill>
                <a:latin typeface="Consolas"/>
              </a:rPr>
              <a:t> // Basisfall</a:t>
            </a:r>
          </a:p>
          <a:p>
            <a:pPr>
              <a:lnSpc>
                <a:spcPct val="100000"/>
              </a:lnSpc>
            </a:pPr>
            <a:r>
              <a:rPr sz="1600" b="0" i="0">
                <a:solidFill>
                  <a:srgbClr val="A0A7B1"/>
                </a:solidFill>
                <a:latin typeface="Consolas"/>
              </a:rPr>
              <a:t> 4  </a:t>
            </a:r>
            <a:r>
              <a:rPr sz="1600" b="0" i="0">
                <a:solidFill>
                  <a:srgbClr val="1F2A37"/>
                </a:solidFill>
                <a:latin typeface="Consolas"/>
              </a:rPr>
              <a:t>    }</a:t>
            </a:r>
          </a:p>
          <a:p>
            <a:pPr>
              <a:lnSpc>
                <a:spcPct val="100000"/>
              </a:lnSpc>
            </a:pPr>
            <a:r>
              <a:rPr sz="1600" b="0" i="0">
                <a:solidFill>
                  <a:srgbClr val="A0A7B1"/>
                </a:solidFill>
                <a:latin typeface="Consolas"/>
              </a:rPr>
              <a:t> 5  </a:t>
            </a:r>
            <a:r>
              <a:rPr sz="1600" b="0" i="0">
                <a:solidFill>
                  <a:srgbClr val="1F2A37"/>
                </a:solidFill>
                <a:latin typeface="Consolas"/>
              </a:rPr>
              <a:t>    int muenze = 1;</a:t>
            </a:r>
          </a:p>
          <a:p>
            <a:pPr>
              <a:lnSpc>
                <a:spcPct val="100000"/>
              </a:lnSpc>
            </a:pPr>
            <a:r>
              <a:rPr sz="1600" b="0" i="0">
                <a:solidFill>
                  <a:srgbClr val="A0A7B1"/>
                </a:solidFill>
                <a:latin typeface="Consolas"/>
              </a:rPr>
              <a:t> 6  </a:t>
            </a:r>
            <a:r>
              <a:rPr sz="1600" b="0" i="0">
                <a:solidFill>
                  <a:srgbClr val="1F2A37"/>
                </a:solidFill>
                <a:latin typeface="Consolas"/>
              </a:rPr>
              <a:t>    if (betrag &gt;= 5) {</a:t>
            </a:r>
          </a:p>
          <a:p>
            <a:pPr>
              <a:lnSpc>
                <a:spcPct val="100000"/>
              </a:lnSpc>
            </a:pPr>
            <a:r>
              <a:rPr sz="1600" b="0" i="0">
                <a:solidFill>
                  <a:srgbClr val="A0A7B1"/>
                </a:solidFill>
                <a:latin typeface="Consolas"/>
              </a:rPr>
              <a:t> 7  </a:t>
            </a:r>
            <a:r>
              <a:rPr sz="1600" b="0" i="0">
                <a:solidFill>
                  <a:srgbClr val="1F2A37"/>
                </a:solidFill>
                <a:latin typeface="Consolas"/>
              </a:rPr>
              <a:t>        muenze = 5;</a:t>
            </a:r>
          </a:p>
          <a:p>
            <a:pPr>
              <a:lnSpc>
                <a:spcPct val="100000"/>
              </a:lnSpc>
            </a:pPr>
            <a:r>
              <a:rPr sz="1600" b="0" i="0">
                <a:solidFill>
                  <a:srgbClr val="A0A7B1"/>
                </a:solidFill>
                <a:latin typeface="Consolas"/>
              </a:rPr>
              <a:t> 8  </a:t>
            </a:r>
            <a:r>
              <a:rPr sz="1600" b="0" i="0">
                <a:solidFill>
                  <a:srgbClr val="1F2A37"/>
                </a:solidFill>
                <a:latin typeface="Consolas"/>
              </a:rPr>
              <a:t>    }</a:t>
            </a:r>
          </a:p>
          <a:p>
            <a:pPr>
              <a:lnSpc>
                <a:spcPct val="100000"/>
              </a:lnSpc>
            </a:pPr>
            <a:r>
              <a:rPr sz="1600" b="0" i="0">
                <a:solidFill>
                  <a:srgbClr val="A0A7B1"/>
                </a:solidFill>
                <a:latin typeface="Consolas"/>
              </a:rPr>
              <a:t> 9  </a:t>
            </a:r>
            <a:r>
              <a:rPr sz="1600" b="1" i="0">
                <a:solidFill>
                  <a:srgbClr val="C00000"/>
                </a:solidFill>
                <a:latin typeface="Consolas"/>
              </a:rPr>
              <a:t>    return 1 + muenzen(betrag - muenze);</a:t>
            </a:r>
          </a:p>
          <a:p>
            <a:pPr>
              <a:lnSpc>
                <a:spcPct val="100000"/>
              </a:lnSpc>
            </a:pPr>
            <a:r>
              <a:rPr sz="1600" b="0" i="0">
                <a:solidFill>
                  <a:srgbClr val="A0A7B1"/>
                </a:solidFill>
                <a:latin typeface="Consolas"/>
              </a:rPr>
              <a:t>10  </a:t>
            </a:r>
            <a:r>
              <a:rPr sz="1600" b="0" i="0">
                <a:solidFill>
                  <a:srgbClr val="1F2A37"/>
                </a:solidFill>
                <a:latin typeface="Consolas"/>
              </a:rPr>
              <a:t>}</a:t>
            </a:r>
          </a:p>
        </p:txBody>
      </p:sp>
      <p:sp>
        <p:nvSpPr>
          <p:cNvPr id="7" name="Rounded Rectangle 6"/>
          <p:cNvSpPr/>
          <p:nvPr/>
        </p:nvSpPr>
        <p:spPr>
          <a:xfrm>
            <a:off x="6507479" y="1325880"/>
            <a:ext cx="513557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90359" y="1463039"/>
            <a:ext cx="4769815" cy="2377439"/>
          </a:xfrm>
          <a:prstGeom prst="rect">
            <a:avLst/>
          </a:prstGeom>
          <a:noFill/>
        </p:spPr>
        <p:txBody>
          <a:bodyPr wrap="square" anchor="t" lIns="45720" rIns="45720">
            <a:spAutoFit/>
          </a:bodyPr>
          <a:lstStyle/>
          <a:p>
            <a:pPr>
              <a:spcAft>
                <a:spcPts val="800"/>
              </a:spcAft>
            </a:pPr>
            <a:r>
              <a:rPr sz="2200" b="1" i="0">
                <a:solidFill>
                  <a:srgbClr val="B8860B"/>
                </a:solidFill>
                <a:latin typeface="Calibri"/>
              </a:rPr>
              <a:t>Wechselgeld im Dungeon</a:t>
            </a:r>
            <a:r>
              <a:rPr sz="2000" b="0" i="0">
                <a:solidFill>
                  <a:srgbClr val="1F2A37"/>
                </a:solidFill>
                <a:latin typeface="Calibri"/>
              </a:rPr>
              <a:t/>
            </a:r>
          </a:p>
          <a:p>
            <a:pPr>
              <a:spcAft>
                <a:spcPts val="600"/>
              </a:spcAft>
            </a:pPr>
            <a:r>
              <a:rPr sz="2000" b="0" i="0">
                <a:solidFill>
                  <a:srgbClr val="1F2A37"/>
                </a:solidFill>
                <a:latin typeface="Calibri"/>
              </a:rPr>
              <a:t>Der Händler zahlt mit </a:t>
            </a:r>
            <a:r>
              <a:rPr sz="2000" b="1" i="0">
                <a:solidFill>
                  <a:srgbClr val="1F2A37"/>
                </a:solidFill>
                <a:latin typeface="Calibri"/>
              </a:rPr>
              <a:t>5er</a:t>
            </a:r>
            <a:r>
              <a:rPr sz="2000" b="0" i="0">
                <a:solidFill>
                  <a:srgbClr val="1F2A37"/>
                </a:solidFill>
                <a:latin typeface="Calibri"/>
              </a:rPr>
              <a:t>- und </a:t>
            </a:r>
            <a:r>
              <a:rPr sz="2000" b="1" i="0">
                <a:solidFill>
                  <a:srgbClr val="1F2A37"/>
                </a:solidFill>
                <a:latin typeface="Calibri"/>
              </a:rPr>
              <a:t>1er</a:t>
            </a:r>
            <a:r>
              <a:rPr sz="2000" b="0" i="0">
                <a:solidFill>
                  <a:srgbClr val="1F2A37"/>
                </a:solidFill>
                <a:latin typeface="Calibri"/>
              </a:rPr>
              <a:t>-Münzen – möglichst wenige.</a:t>
            </a:r>
            <a:r>
              <a:rPr sz="2000" b="0" i="0">
                <a:solidFill>
                  <a:srgbClr val="1F2A37"/>
                </a:solidFill>
                <a:latin typeface="Calibri"/>
              </a:rPr>
              <a:t/>
            </a:r>
          </a:p>
          <a:p>
            <a:pPr>
              <a:spcAft>
                <a:spcPts val="600"/>
              </a:spcAft>
            </a:pPr>
            <a:r>
              <a:rPr sz="2000" b="1" i="0">
                <a:solidFill>
                  <a:srgbClr val="1F2A37"/>
                </a:solidFill>
                <a:latin typeface="Calibri"/>
              </a:rPr>
              <a:t>Basisfall:</a:t>
            </a:r>
            <a:r>
              <a:rPr sz="2000" b="0" i="0">
                <a:solidFill>
                  <a:srgbClr val="1F2A37"/>
                </a:solidFill>
                <a:latin typeface="Calibri"/>
              </a:rPr>
              <a:t> betrag = 0 → 0 Münzen</a:t>
            </a:r>
            <a:r>
              <a:rPr sz="2000" b="0" i="0">
                <a:solidFill>
                  <a:srgbClr val="1F2A37"/>
                </a:solidFill>
                <a:latin typeface="Calibri"/>
              </a:rPr>
              <a:t/>
            </a:r>
          </a:p>
          <a:p>
            <a:pPr>
              <a:spcAft>
                <a:spcPts val="600"/>
              </a:spcAft>
            </a:pPr>
            <a:r>
              <a:rPr sz="2000" b="1" i="0">
                <a:solidFill>
                  <a:srgbClr val="1F2A37"/>
                </a:solidFill>
                <a:latin typeface="Calibri"/>
              </a:rPr>
              <a:t>Rekursionsschritt:</a:t>
            </a:r>
            <a:r>
              <a:rPr sz="2000" b="0" i="0">
                <a:solidFill>
                  <a:srgbClr val="1F2A37"/>
                </a:solidFill>
                <a:latin typeface="Calibri"/>
              </a:rPr>
              <a:t> eine Münze + der Rest</a:t>
            </a:r>
            <a:r>
              <a:rPr sz="2000" b="0" i="0">
                <a:solidFill>
                  <a:srgbClr val="1F2A37"/>
                </a:solidFill>
                <a:latin typeface="Calibri"/>
              </a:rPr>
              <a:t/>
            </a:r>
          </a:p>
          <a:p>
            <a:pPr>
              <a:spcAft>
                <a:spcPts val="600"/>
              </a:spcAft>
            </a:pPr>
            <a:r>
              <a:rPr sz="2000" b="0" i="0">
                <a:solidFill>
                  <a:srgbClr val="1F2A37"/>
                </a:solidFill>
                <a:latin typeface="Calibri"/>
              </a:rPr>
              <a:t>Der Rest wird </a:t>
            </a:r>
            <a:r>
              <a:rPr sz="2000" b="1" i="0">
                <a:solidFill>
                  <a:srgbClr val="1F2A37"/>
                </a:solidFill>
                <a:latin typeface="Calibri"/>
              </a:rPr>
              <a:t>kleiner</a:t>
            </a:r>
            <a:r>
              <a:rPr sz="2000" b="0" i="0">
                <a:solidFill>
                  <a:srgbClr val="1F2A37"/>
                </a:solidFill>
                <a:latin typeface="Calibri"/>
              </a:rPr>
              <a:t>: − 5 oder − 1</a:t>
            </a:r>
            <a:r>
              <a:rPr sz="2000" b="0" i="0">
                <a:solidFill>
                  <a:srgbClr val="1F2A37"/>
                </a:solidFill>
                <a:latin typeface="Calibri"/>
              </a:rPr>
              <a:t/>
            </a:r>
          </a:p>
        </p:txBody>
      </p:sp>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5: Rekursion verstehen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Der Aufrufstapel: muenzen(12)</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tapel_tief.png"/>
          <p:cNvPicPr>
            <a:picLocks noChangeAspect="1"/>
          </p:cNvPicPr>
          <p:nvPr/>
        </p:nvPicPr>
        <p:blipFill>
          <a:blip r:embed="rId2"/>
          <a:stretch>
            <a:fillRect/>
          </a:stretch>
        </p:blipFill>
        <p:spPr>
          <a:xfrm>
            <a:off x="548640" y="1417320"/>
            <a:ext cx="5577840" cy="4221480"/>
          </a:xfrm>
          <a:prstGeom prst="rect">
            <a:avLst/>
          </a:prstGeom>
        </p:spPr>
      </p:pic>
      <p:sp>
        <p:nvSpPr>
          <p:cNvPr id="6" name="Rounded Rectangle 5"/>
          <p:cNvSpPr/>
          <p:nvPr/>
        </p:nvSpPr>
        <p:spPr>
          <a:xfrm>
            <a:off x="6400800" y="1325880"/>
            <a:ext cx="5242255" cy="2651759"/>
          </a:xfrm>
          <a:prstGeom prst="roundRect">
            <a:avLst>
              <a:gd name="adj" fmla="val 8000"/>
            </a:avLst>
          </a:prstGeom>
          <a:solidFill>
            <a:srgbClr val="DBE7F5"/>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0" y="1463039"/>
            <a:ext cx="4876495" cy="2377439"/>
          </a:xfrm>
          <a:prstGeom prst="rect">
            <a:avLst/>
          </a:prstGeom>
          <a:noFill/>
        </p:spPr>
        <p:txBody>
          <a:bodyPr wrap="square" anchor="t" lIns="45720" rIns="45720">
            <a:spAutoFit/>
          </a:bodyPr>
          <a:lstStyle/>
          <a:p>
            <a:pPr>
              <a:spcAft>
                <a:spcPts val="800"/>
              </a:spcAft>
            </a:pPr>
            <a:r>
              <a:rPr sz="2000" b="1" i="0">
                <a:solidFill>
                  <a:srgbClr val="1F4E79"/>
                </a:solidFill>
                <a:latin typeface="Calibri"/>
              </a:rPr>
              <a:t>Ablauf</a:t>
            </a:r>
            <a:r>
              <a:rPr sz="1800" b="0" i="0">
                <a:solidFill>
                  <a:srgbClr val="1F2A37"/>
                </a:solidFill>
                <a:latin typeface="Calibri"/>
              </a:rPr>
              <a:t/>
            </a:r>
          </a:p>
          <a:p>
            <a:pPr>
              <a:spcAft>
                <a:spcPts val="600"/>
              </a:spcAft>
            </a:pPr>
            <a:r>
              <a:rPr sz="1800" b="1" i="0">
                <a:solidFill>
                  <a:srgbClr val="1F2A37"/>
                </a:solidFill>
                <a:latin typeface="Calibri"/>
              </a:rPr>
              <a:t>Abstieg:</a:t>
            </a:r>
            <a:r>
              <a:rPr sz="1800" b="0" i="0">
                <a:solidFill>
                  <a:srgbClr val="1F2A37"/>
                </a:solidFill>
                <a:latin typeface="Calibri"/>
              </a:rPr>
              <a:t> Jeder Aufruf legt einen neuen Rahmen </a:t>
            </a:r>
            <a:r>
              <a:rPr sz="1800" b="1" i="0">
                <a:solidFill>
                  <a:srgbClr val="1F2A37"/>
                </a:solidFill>
                <a:latin typeface="Calibri"/>
              </a:rPr>
              <a:t>oben</a:t>
            </a:r>
            <a:r>
              <a:rPr sz="1800" b="0" i="0">
                <a:solidFill>
                  <a:srgbClr val="1F2A37"/>
                </a:solidFill>
                <a:latin typeface="Calibri"/>
              </a:rPr>
              <a:t> auf – mit eigenem </a:t>
            </a:r>
            <a:r>
              <a:rPr sz="1700" b="0" i="0">
                <a:solidFill>
                  <a:srgbClr val="1F4E79"/>
                </a:solidFill>
                <a:latin typeface="Consolas"/>
              </a:rPr>
              <a:t>betrag</a:t>
            </a:r>
            <a:r>
              <a:rPr sz="1800" b="0" i="0">
                <a:solidFill>
                  <a:srgbClr val="1F2A37"/>
                </a:solidFill>
                <a:latin typeface="Calibri"/>
              </a:rPr>
              <a:t>.</a:t>
            </a:r>
            <a:r>
              <a:rPr sz="1800" b="0" i="0">
                <a:solidFill>
                  <a:srgbClr val="1F2A37"/>
                </a:solidFill>
                <a:latin typeface="Calibri"/>
              </a:rPr>
              <a:t/>
            </a:r>
          </a:p>
          <a:p>
            <a:pPr>
              <a:spcAft>
                <a:spcPts val="600"/>
              </a:spcAft>
            </a:pPr>
            <a:r>
              <a:rPr sz="1800" b="1" i="0">
                <a:solidFill>
                  <a:srgbClr val="1F2A37"/>
                </a:solidFill>
                <a:latin typeface="Calibri"/>
              </a:rPr>
              <a:t>Basisfall:</a:t>
            </a:r>
            <a:r>
              <a:rPr sz="1800" b="0" i="0">
                <a:solidFill>
                  <a:srgbClr val="1F2A37"/>
                </a:solidFill>
                <a:latin typeface="Calibri"/>
              </a:rPr>
              <a:t> muenzen(0) ruft niemanden mehr auf.</a:t>
            </a:r>
            <a:r>
              <a:rPr sz="1800" b="0" i="0">
                <a:solidFill>
                  <a:srgbClr val="1F2A37"/>
                </a:solidFill>
                <a:latin typeface="Calibri"/>
              </a:rPr>
              <a:t/>
            </a:r>
          </a:p>
          <a:p>
            <a:pPr>
              <a:spcAft>
                <a:spcPts val="600"/>
              </a:spcAft>
            </a:pPr>
            <a:r>
              <a:rPr sz="1800" b="1" i="0">
                <a:solidFill>
                  <a:srgbClr val="1F2A37"/>
                </a:solidFill>
                <a:latin typeface="Calibri"/>
              </a:rPr>
              <a:t>Aufstieg:</a:t>
            </a:r>
            <a:r>
              <a:rPr sz="1800" b="0" i="0">
                <a:solidFill>
                  <a:srgbClr val="1F2A37"/>
                </a:solidFill>
                <a:latin typeface="Calibri"/>
              </a:rPr>
              <a:t> Der oberste Rahmen liefert sein Ergebnis und verschwindet: 0 → 1 → 2 → 3 → </a:t>
            </a:r>
            <a:r>
              <a:rPr sz="1800" b="1" i="0">
                <a:solidFill>
                  <a:srgbClr val="1F2A37"/>
                </a:solidFill>
                <a:latin typeface="Calibri"/>
              </a:rPr>
              <a:t>4</a:t>
            </a:r>
            <a:r>
              <a:rPr sz="1800" b="0" i="0">
                <a:solidFill>
                  <a:srgbClr val="1F2A37"/>
                </a:solidFill>
                <a:latin typeface="Calibri"/>
              </a:rPr>
              <a:t>.</a:t>
            </a:r>
            <a:r>
              <a:rPr sz="18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5: Rekursion verstehen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Die Rekursionstabelle: muenzen(12)</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417320"/>
          <a:ext cx="6766558" cy="2461254"/>
        </p:xfrm>
        <a:graphic>
          <a:graphicData uri="http://schemas.openxmlformats.org/drawingml/2006/table">
            <a:tbl>
              <a:tblPr firstRow="1" bandRow="1">
                <a:tableStyleId>{5C22544A-7EE6-4342-B048-85BDC9FD1C3A}</a:tableStyleId>
              </a:tblPr>
              <a:tblGrid>
                <a:gridCol w="1774835"/>
                <a:gridCol w="1885762"/>
                <a:gridCol w="1109272"/>
                <a:gridCol w="1996689"/>
              </a:tblGrid>
              <a:tr h="410209">
                <a:tc>
                  <a:txBody>
                    <a:bodyPr/>
                    <a:lstStyle/>
                    <a:p>
                      <a:pPr algn="ctr"/>
                      <a:r>
                        <a:rPr sz="1700" b="1">
                          <a:solidFill>
                            <a:srgbClr val="FFFFFF"/>
                          </a:solidFill>
                          <a:latin typeface="Calibri"/>
                        </a:rPr>
                        <a:t>Rekursionstiefe</a:t>
                      </a:r>
                    </a:p>
                  </a:txBody>
                  <a:tcPr marL="54864" marR="54864" marT="18288" marB="18288" anchor="ctr">
                    <a:solidFill>
                      <a:srgbClr val="1F4E79"/>
                    </a:solidFill>
                  </a:tcPr>
                </a:tc>
                <a:tc>
                  <a:txBody>
                    <a:bodyPr/>
                    <a:lstStyle/>
                    <a:p>
                      <a:pPr algn="ctr"/>
                      <a:r>
                        <a:rPr sz="1700" b="1">
                          <a:solidFill>
                            <a:srgbClr val="FFFFFF"/>
                          </a:solidFill>
                          <a:latin typeface="Calibri"/>
                        </a:rPr>
                        <a:t>Aufruf</a:t>
                      </a:r>
                    </a:p>
                  </a:txBody>
                  <a:tcPr marL="54864" marR="54864" marT="18288" marB="18288" anchor="ctr">
                    <a:solidFill>
                      <a:srgbClr val="1F4E79"/>
                    </a:solidFill>
                  </a:tcPr>
                </a:tc>
                <a:tc>
                  <a:txBody>
                    <a:bodyPr/>
                    <a:lstStyle/>
                    <a:p>
                      <a:pPr algn="ctr"/>
                      <a:r>
                        <a:rPr sz="1700" b="1">
                          <a:solidFill>
                            <a:srgbClr val="FFFFFF"/>
                          </a:solidFill>
                          <a:latin typeface="Calibri"/>
                        </a:rPr>
                        <a:t>betrag</a:t>
                      </a:r>
                    </a:p>
                  </a:txBody>
                  <a:tcPr marL="54864" marR="54864" marT="18288" marB="18288" anchor="ctr">
                    <a:solidFill>
                      <a:srgbClr val="1F4E79"/>
                    </a:solidFill>
                  </a:tcPr>
                </a:tc>
                <a:tc>
                  <a:txBody>
                    <a:bodyPr/>
                    <a:lstStyle/>
                    <a:p>
                      <a:pPr algn="ctr"/>
                      <a:r>
                        <a:rPr sz="1700" b="1">
                          <a:solidFill>
                            <a:srgbClr val="FFFFFF"/>
                          </a:solidFill>
                          <a:latin typeface="Calibri"/>
                        </a:rPr>
                        <a:t>Rückgabe</a:t>
                      </a:r>
                    </a:p>
                  </a:txBody>
                  <a:tcPr marL="54864" marR="54864" marT="18288" marB="18288" anchor="ctr">
                    <a:solidFill>
                      <a:srgbClr val="1F4E79"/>
                    </a:solidFill>
                  </a:tcPr>
                </a:tc>
              </a:tr>
              <a:tr h="410209">
                <a:tc>
                  <a:txBody>
                    <a:bodyPr/>
                    <a:lstStyle/>
                    <a:p>
                      <a:pPr algn="ctr"/>
                      <a:r>
                        <a:rPr sz="1700" b="0">
                          <a:solidFill>
                            <a:srgbClr val="1F2A37"/>
                          </a:solidFill>
                          <a:latin typeface="Consolas"/>
                        </a:rPr>
                        <a:t>0</a:t>
                      </a:r>
                    </a:p>
                  </a:txBody>
                  <a:tcPr marL="54864" marR="54864" marT="18288" marB="18288" anchor="ctr">
                    <a:solidFill>
                      <a:srgbClr val="FFFFFF"/>
                    </a:solidFill>
                  </a:tcPr>
                </a:tc>
                <a:tc>
                  <a:txBody>
                    <a:bodyPr/>
                    <a:lstStyle/>
                    <a:p>
                      <a:pPr algn="ctr"/>
                      <a:r>
                        <a:rPr sz="1700" b="0">
                          <a:solidFill>
                            <a:srgbClr val="1F2A37"/>
                          </a:solidFill>
                          <a:latin typeface="Consolas"/>
                        </a:rPr>
                        <a:t>muenzen(12)</a:t>
                      </a:r>
                    </a:p>
                  </a:txBody>
                  <a:tcPr marL="54864" marR="54864" marT="18288" marB="18288" anchor="ctr">
                    <a:solidFill>
                      <a:srgbClr val="FFFFFF"/>
                    </a:solidFill>
                  </a:tcPr>
                </a:tc>
                <a:tc>
                  <a:txBody>
                    <a:bodyPr/>
                    <a:lstStyle/>
                    <a:p>
                      <a:pPr algn="ctr"/>
                      <a:r>
                        <a:rPr sz="1700" b="0">
                          <a:solidFill>
                            <a:srgbClr val="1F2A37"/>
                          </a:solidFill>
                          <a:latin typeface="Consolas"/>
                        </a:rPr>
                        <a:t>12</a:t>
                      </a:r>
                    </a:p>
                  </a:txBody>
                  <a:tcPr marL="54864" marR="54864" marT="18288" marB="18288" anchor="ctr">
                    <a:solidFill>
                      <a:srgbClr val="FFFFFF"/>
                    </a:solidFill>
                  </a:tcPr>
                </a:tc>
                <a:tc>
                  <a:txBody>
                    <a:bodyPr/>
                    <a:lstStyle/>
                    <a:p>
                      <a:pPr algn="ctr"/>
                      <a:r>
                        <a:rPr sz="1700" b="0">
                          <a:solidFill>
                            <a:srgbClr val="1F2A37"/>
                          </a:solidFill>
                          <a:latin typeface="Consolas"/>
                        </a:rPr>
                        <a:t>1 + 3 = 4</a:t>
                      </a:r>
                    </a:p>
                  </a:txBody>
                  <a:tcPr marL="54864" marR="54864" marT="18288" marB="18288" anchor="ctr">
                    <a:solidFill>
                      <a:srgbClr val="FFFFFF"/>
                    </a:solidFill>
                  </a:tcPr>
                </a:tc>
              </a:tr>
              <a:tr h="410209">
                <a:tc>
                  <a:txBody>
                    <a:bodyPr/>
                    <a:lstStyle/>
                    <a:p>
                      <a:pPr algn="ctr"/>
                      <a:r>
                        <a:rPr sz="1700" b="0">
                          <a:solidFill>
                            <a:srgbClr val="1F2A37"/>
                          </a:solidFill>
                          <a:latin typeface="Consolas"/>
                        </a:rPr>
                        <a:t>1</a:t>
                      </a:r>
                    </a:p>
                  </a:txBody>
                  <a:tcPr marL="54864" marR="54864" marT="18288" marB="18288" anchor="ctr">
                    <a:solidFill>
                      <a:srgbClr val="EEF3FA"/>
                    </a:solidFill>
                  </a:tcPr>
                </a:tc>
                <a:tc>
                  <a:txBody>
                    <a:bodyPr/>
                    <a:lstStyle/>
                    <a:p>
                      <a:pPr algn="ctr"/>
                      <a:r>
                        <a:rPr sz="1700" b="0">
                          <a:solidFill>
                            <a:srgbClr val="1F2A37"/>
                          </a:solidFill>
                          <a:latin typeface="Consolas"/>
                        </a:rPr>
                        <a:t>muenzen(7)</a:t>
                      </a:r>
                    </a:p>
                  </a:txBody>
                  <a:tcPr marL="54864" marR="54864" marT="18288" marB="18288" anchor="ctr">
                    <a:solidFill>
                      <a:srgbClr val="EEF3FA"/>
                    </a:solidFill>
                  </a:tcPr>
                </a:tc>
                <a:tc>
                  <a:txBody>
                    <a:bodyPr/>
                    <a:lstStyle/>
                    <a:p>
                      <a:pPr algn="ctr"/>
                      <a:r>
                        <a:rPr sz="1700" b="0">
                          <a:solidFill>
                            <a:srgbClr val="1F2A37"/>
                          </a:solidFill>
                          <a:latin typeface="Consolas"/>
                        </a:rPr>
                        <a:t>7</a:t>
                      </a:r>
                    </a:p>
                  </a:txBody>
                  <a:tcPr marL="54864" marR="54864" marT="18288" marB="18288" anchor="ctr">
                    <a:solidFill>
                      <a:srgbClr val="EEF3FA"/>
                    </a:solidFill>
                  </a:tcPr>
                </a:tc>
                <a:tc>
                  <a:txBody>
                    <a:bodyPr/>
                    <a:lstStyle/>
                    <a:p>
                      <a:pPr algn="ctr"/>
                      <a:r>
                        <a:rPr sz="1700" b="0">
                          <a:solidFill>
                            <a:srgbClr val="1F2A37"/>
                          </a:solidFill>
                          <a:latin typeface="Consolas"/>
                        </a:rPr>
                        <a:t>1 + 2 = 3</a:t>
                      </a:r>
                    </a:p>
                  </a:txBody>
                  <a:tcPr marL="54864" marR="54864" marT="18288" marB="18288" anchor="ctr">
                    <a:solidFill>
                      <a:srgbClr val="EEF3FA"/>
                    </a:solidFill>
                  </a:tcPr>
                </a:tc>
              </a:tr>
              <a:tr h="410209">
                <a:tc>
                  <a:txBody>
                    <a:bodyPr/>
                    <a:lstStyle/>
                    <a:p>
                      <a:pPr algn="ctr"/>
                      <a:r>
                        <a:rPr sz="1700" b="0">
                          <a:solidFill>
                            <a:srgbClr val="1F2A37"/>
                          </a:solidFill>
                          <a:latin typeface="Consolas"/>
                        </a:rPr>
                        <a:t>2</a:t>
                      </a:r>
                    </a:p>
                  </a:txBody>
                  <a:tcPr marL="54864" marR="54864" marT="18288" marB="18288" anchor="ctr">
                    <a:solidFill>
                      <a:srgbClr val="FFFFFF"/>
                    </a:solidFill>
                  </a:tcPr>
                </a:tc>
                <a:tc>
                  <a:txBody>
                    <a:bodyPr/>
                    <a:lstStyle/>
                    <a:p>
                      <a:pPr algn="ctr"/>
                      <a:r>
                        <a:rPr sz="1700" b="0">
                          <a:solidFill>
                            <a:srgbClr val="1F2A37"/>
                          </a:solidFill>
                          <a:latin typeface="Consolas"/>
                        </a:rPr>
                        <a:t>muenzen(2)</a:t>
                      </a:r>
                    </a:p>
                  </a:txBody>
                  <a:tcPr marL="54864" marR="54864" marT="18288" marB="18288" anchor="ctr">
                    <a:solidFill>
                      <a:srgbClr val="FFFFFF"/>
                    </a:solidFill>
                  </a:tcPr>
                </a:tc>
                <a:tc>
                  <a:txBody>
                    <a:bodyPr/>
                    <a:lstStyle/>
                    <a:p>
                      <a:pPr algn="ctr"/>
                      <a:r>
                        <a:rPr sz="1700" b="0">
                          <a:solidFill>
                            <a:srgbClr val="1F2A37"/>
                          </a:solidFill>
                          <a:latin typeface="Consolas"/>
                        </a:rPr>
                        <a:t>2</a:t>
                      </a:r>
                    </a:p>
                  </a:txBody>
                  <a:tcPr marL="54864" marR="54864" marT="18288" marB="18288" anchor="ctr">
                    <a:solidFill>
                      <a:srgbClr val="FFFFFF"/>
                    </a:solidFill>
                  </a:tcPr>
                </a:tc>
                <a:tc>
                  <a:txBody>
                    <a:bodyPr/>
                    <a:lstStyle/>
                    <a:p>
                      <a:pPr algn="ctr"/>
                      <a:r>
                        <a:rPr sz="1700" b="0">
                          <a:solidFill>
                            <a:srgbClr val="1F2A37"/>
                          </a:solidFill>
                          <a:latin typeface="Consolas"/>
                        </a:rPr>
                        <a:t>1 + 1 = 2</a:t>
                      </a:r>
                    </a:p>
                  </a:txBody>
                  <a:tcPr marL="54864" marR="54864" marT="18288" marB="18288" anchor="ctr">
                    <a:solidFill>
                      <a:srgbClr val="FFFFFF"/>
                    </a:solidFill>
                  </a:tcPr>
                </a:tc>
              </a:tr>
              <a:tr h="410209">
                <a:tc>
                  <a:txBody>
                    <a:bodyPr/>
                    <a:lstStyle/>
                    <a:p>
                      <a:pPr algn="ctr"/>
                      <a:r>
                        <a:rPr sz="1700" b="0">
                          <a:solidFill>
                            <a:srgbClr val="1F2A37"/>
                          </a:solidFill>
                          <a:latin typeface="Consolas"/>
                        </a:rPr>
                        <a:t>3</a:t>
                      </a:r>
                    </a:p>
                  </a:txBody>
                  <a:tcPr marL="54864" marR="54864" marT="18288" marB="18288" anchor="ctr">
                    <a:solidFill>
                      <a:srgbClr val="EEF3FA"/>
                    </a:solidFill>
                  </a:tcPr>
                </a:tc>
                <a:tc>
                  <a:txBody>
                    <a:bodyPr/>
                    <a:lstStyle/>
                    <a:p>
                      <a:pPr algn="ctr"/>
                      <a:r>
                        <a:rPr sz="1700" b="0">
                          <a:solidFill>
                            <a:srgbClr val="1F2A37"/>
                          </a:solidFill>
                          <a:latin typeface="Consolas"/>
                        </a:rPr>
                        <a:t>muenzen(1)</a:t>
                      </a:r>
                    </a:p>
                  </a:txBody>
                  <a:tcPr marL="54864" marR="54864" marT="18288" marB="18288" anchor="ctr">
                    <a:solidFill>
                      <a:srgbClr val="EEF3FA"/>
                    </a:solidFill>
                  </a:tcPr>
                </a:tc>
                <a:tc>
                  <a:txBody>
                    <a:bodyPr/>
                    <a:lstStyle/>
                    <a:p>
                      <a:pPr algn="ctr"/>
                      <a:r>
                        <a:rPr sz="1700" b="0">
                          <a:solidFill>
                            <a:srgbClr val="1F2A37"/>
                          </a:solidFill>
                          <a:latin typeface="Consolas"/>
                        </a:rPr>
                        <a:t>1</a:t>
                      </a:r>
                    </a:p>
                  </a:txBody>
                  <a:tcPr marL="54864" marR="54864" marT="18288" marB="18288" anchor="ctr">
                    <a:solidFill>
                      <a:srgbClr val="EEF3FA"/>
                    </a:solidFill>
                  </a:tcPr>
                </a:tc>
                <a:tc>
                  <a:txBody>
                    <a:bodyPr/>
                    <a:lstStyle/>
                    <a:p>
                      <a:pPr algn="ctr"/>
                      <a:r>
                        <a:rPr sz="1700" b="0">
                          <a:solidFill>
                            <a:srgbClr val="1F2A37"/>
                          </a:solidFill>
                          <a:latin typeface="Consolas"/>
                        </a:rPr>
                        <a:t>1 + 0 = 1</a:t>
                      </a:r>
                    </a:p>
                  </a:txBody>
                  <a:tcPr marL="54864" marR="54864" marT="18288" marB="18288" anchor="ctr">
                    <a:solidFill>
                      <a:srgbClr val="EEF3FA"/>
                    </a:solidFill>
                  </a:tcPr>
                </a:tc>
              </a:tr>
              <a:tr h="410209">
                <a:tc>
                  <a:txBody>
                    <a:bodyPr/>
                    <a:lstStyle/>
                    <a:p>
                      <a:pPr algn="ctr"/>
                      <a:r>
                        <a:rPr sz="1700" b="0">
                          <a:solidFill>
                            <a:srgbClr val="1F2A37"/>
                          </a:solidFill>
                          <a:latin typeface="Consolas"/>
                        </a:rPr>
                        <a:t>4</a:t>
                      </a:r>
                    </a:p>
                  </a:txBody>
                  <a:tcPr marL="54864" marR="54864" marT="18288" marB="18288" anchor="ctr">
                    <a:solidFill>
                      <a:srgbClr val="FFFFFF"/>
                    </a:solidFill>
                  </a:tcPr>
                </a:tc>
                <a:tc>
                  <a:txBody>
                    <a:bodyPr/>
                    <a:lstStyle/>
                    <a:p>
                      <a:pPr algn="ctr"/>
                      <a:r>
                        <a:rPr sz="1700" b="0">
                          <a:solidFill>
                            <a:srgbClr val="1F2A37"/>
                          </a:solidFill>
                          <a:latin typeface="Consolas"/>
                        </a:rPr>
                        <a:t>muenzen(0)</a:t>
                      </a:r>
                    </a:p>
                  </a:txBody>
                  <a:tcPr marL="54864" marR="54864" marT="18288" marB="18288" anchor="ctr">
                    <a:solidFill>
                      <a:srgbClr val="FFFFFF"/>
                    </a:solidFill>
                  </a:tcPr>
                </a:tc>
                <a:tc>
                  <a:txBody>
                    <a:bodyPr/>
                    <a:lstStyle/>
                    <a:p>
                      <a:pPr algn="ctr"/>
                      <a:r>
                        <a:rPr sz="1700" b="0">
                          <a:solidFill>
                            <a:srgbClr val="1F2A37"/>
                          </a:solidFill>
                          <a:latin typeface="Consolas"/>
                        </a:rPr>
                        <a:t>0</a:t>
                      </a:r>
                    </a:p>
                  </a:txBody>
                  <a:tcPr marL="54864" marR="54864" marT="18288" marB="18288" anchor="ctr">
                    <a:solidFill>
                      <a:srgbClr val="FFFFFF"/>
                    </a:solidFill>
                  </a:tcPr>
                </a:tc>
                <a:tc>
                  <a:txBody>
                    <a:bodyPr/>
                    <a:lstStyle/>
                    <a:p>
                      <a:pPr algn="ctr"/>
                      <a:r>
                        <a:rPr sz="1700" b="0">
                          <a:solidFill>
                            <a:srgbClr val="1F2A37"/>
                          </a:solidFill>
                          <a:latin typeface="Consolas"/>
                        </a:rPr>
                        <a:t>0 (Basisfall)</a:t>
                      </a:r>
                    </a:p>
                  </a:txBody>
                  <a:tcPr marL="54864" marR="54864" marT="18288" marB="18288" anchor="ctr">
                    <a:solidFill>
                      <a:srgbClr val="FFFFFF"/>
                    </a:solidFill>
                  </a:tcPr>
                </a:tc>
              </a:tr>
            </a:tbl>
          </a:graphicData>
        </a:graphic>
      </p:graphicFrame>
      <p:sp>
        <p:nvSpPr>
          <p:cNvPr id="6" name="Rounded Rectangle 5"/>
          <p:cNvSpPr/>
          <p:nvPr/>
        </p:nvSpPr>
        <p:spPr>
          <a:xfrm>
            <a:off x="7680960" y="1325880"/>
            <a:ext cx="3962095" cy="2651759"/>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0" y="1463039"/>
            <a:ext cx="3596335" cy="2377439"/>
          </a:xfrm>
          <a:prstGeom prst="rect">
            <a:avLst/>
          </a:prstGeom>
          <a:noFill/>
        </p:spPr>
        <p:txBody>
          <a:bodyPr wrap="square" anchor="t" lIns="45720" rIns="45720">
            <a:spAutoFit/>
          </a:bodyPr>
          <a:lstStyle/>
          <a:p>
            <a:pPr>
              <a:spcAft>
                <a:spcPts val="800"/>
              </a:spcAft>
            </a:pPr>
            <a:r>
              <a:rPr sz="2000" b="1" i="0">
                <a:solidFill>
                  <a:srgbClr val="548235"/>
                </a:solidFill>
                <a:latin typeface="Calibri"/>
              </a:rPr>
              <a:t>Regeln</a:t>
            </a:r>
            <a:r>
              <a:rPr sz="1800" b="0" i="0">
                <a:solidFill>
                  <a:srgbClr val="1F2A37"/>
                </a:solidFill>
                <a:latin typeface="Calibri"/>
              </a:rPr>
              <a:t/>
            </a:r>
          </a:p>
          <a:p>
            <a:pPr>
              <a:spcAft>
                <a:spcPts val="600"/>
              </a:spcAft>
            </a:pPr>
            <a:r>
              <a:rPr sz="1800" b="0" i="0">
                <a:solidFill>
                  <a:srgbClr val="1F2A37"/>
                </a:solidFill>
                <a:latin typeface="Calibri"/>
              </a:rPr>
              <a:t>Erstaufruf: </a:t>
            </a:r>
            <a:r>
              <a:rPr sz="1800" b="1" i="0">
                <a:solidFill>
                  <a:srgbClr val="1F2A37"/>
                </a:solidFill>
                <a:latin typeface="Calibri"/>
              </a:rPr>
              <a:t>Tiefe 0</a:t>
            </a:r>
            <a:r>
              <a:rPr sz="1800" b="0" i="0">
                <a:solidFill>
                  <a:srgbClr val="1F2A37"/>
                </a:solidFill>
                <a:latin typeface="Calibri"/>
              </a:rPr>
              <a:t/>
            </a:r>
          </a:p>
          <a:p>
            <a:pPr>
              <a:spcAft>
                <a:spcPts val="600"/>
              </a:spcAft>
            </a:pPr>
            <a:r>
              <a:rPr sz="1800" b="0" i="0">
                <a:solidFill>
                  <a:srgbClr val="1F2A37"/>
                </a:solidFill>
                <a:latin typeface="Calibri"/>
              </a:rPr>
              <a:t>Abstieg: Zeilen von </a:t>
            </a:r>
            <a:r>
              <a:rPr sz="1800" b="1" i="0">
                <a:solidFill>
                  <a:srgbClr val="1F2A37"/>
                </a:solidFill>
                <a:latin typeface="Calibri"/>
              </a:rPr>
              <a:t>oben nach unten</a:t>
            </a:r>
            <a:r>
              <a:rPr sz="1800" b="0" i="0">
                <a:solidFill>
                  <a:srgbClr val="1F2A37"/>
                </a:solidFill>
                <a:latin typeface="Calibri"/>
              </a:rPr>
              <a:t/>
            </a:r>
          </a:p>
          <a:p>
            <a:pPr>
              <a:spcAft>
                <a:spcPts val="600"/>
              </a:spcAft>
            </a:pPr>
            <a:r>
              <a:rPr sz="1800" b="0" i="0">
                <a:solidFill>
                  <a:srgbClr val="1F2A37"/>
                </a:solidFill>
                <a:latin typeface="Calibri"/>
              </a:rPr>
              <a:t>Aufstieg: Rückgaben von </a:t>
            </a:r>
            <a:r>
              <a:rPr sz="1800" b="1" i="0">
                <a:solidFill>
                  <a:srgbClr val="1F2A37"/>
                </a:solidFill>
                <a:latin typeface="Calibri"/>
              </a:rPr>
              <a:t>unten nach oben</a:t>
            </a:r>
            <a:r>
              <a:rPr sz="1800" b="0" i="0">
                <a:solidFill>
                  <a:srgbClr val="1F2A37"/>
                </a:solidFill>
                <a:latin typeface="Calibri"/>
              </a:rPr>
              <a:t/>
            </a:r>
          </a:p>
          <a:p>
            <a:pPr>
              <a:spcAft>
                <a:spcPts val="600"/>
              </a:spcAft>
            </a:pPr>
            <a:r>
              <a:rPr sz="1800" b="0" i="0">
                <a:solidFill>
                  <a:srgbClr val="1F2A37"/>
                </a:solidFill>
                <a:latin typeface="Calibri"/>
              </a:rPr>
              <a:t>5 Aufrufe · größte Tiefe 4</a:t>
            </a:r>
            <a:r>
              <a:rPr sz="18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5: Rekursion verstehen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Kurz pausieren: Jetzt du!</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463039"/>
            <a:ext cx="3017520" cy="548640"/>
          </a:xfrm>
          <a:prstGeom prst="roundRect">
            <a:avLst>
              <a:gd name="adj" fmla="val 8000"/>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FFFFFF"/>
                </a:solidFill>
                <a:latin typeface="Calibri"/>
              </a:rPr>
              <a:t>⏸  Video anhalten</a:t>
            </a:r>
          </a:p>
        </p:txBody>
      </p:sp>
      <p:sp>
        <p:nvSpPr>
          <p:cNvPr id="6" name="TextBox 5"/>
          <p:cNvSpPr txBox="1"/>
          <p:nvPr/>
        </p:nvSpPr>
        <p:spPr>
          <a:xfrm>
            <a:off x="548640" y="2240280"/>
            <a:ext cx="6675120" cy="1161288"/>
          </a:xfrm>
          <a:prstGeom prst="rect">
            <a:avLst/>
          </a:prstGeom>
          <a:noFill/>
        </p:spPr>
        <p:txBody>
          <a:bodyPr wrap="square" anchor="t" lIns="45720" rIns="45720">
            <a:spAutoFit/>
          </a:bodyPr>
          <a:lstStyle/>
          <a:p>
            <a:r>
              <a:rPr sz="2400" b="0" i="0">
                <a:solidFill>
                  <a:srgbClr val="1F2A37"/>
                </a:solidFill>
                <a:latin typeface="Calibri"/>
              </a:rPr>
              <a:t>Führe die Rekursionstabelle für </a:t>
            </a:r>
            <a:r>
              <a:rPr sz="2300" b="0" i="0">
                <a:solidFill>
                  <a:srgbClr val="1F4E79"/>
                </a:solidFill>
                <a:latin typeface="Consolas"/>
              </a:rPr>
              <a:t>muenzen(9)</a:t>
            </a:r>
            <a:r>
              <a:rPr sz="2400" b="0" i="0">
                <a:solidFill>
                  <a:srgbClr val="1F2A37"/>
                </a:solidFill>
                <a:latin typeface="Calibri"/>
              </a:rPr>
              <a:t> (Tiefe, Aufruf, betrag, Rückgabe). Wie viele Aufrufe gibt es, wie groß ist die größte Tiefe?</a:t>
            </a:r>
          </a:p>
        </p:txBody>
      </p:sp>
      <p:sp>
        <p:nvSpPr>
          <p:cNvPr id="7" name="Rectangle 6"/>
          <p:cNvSpPr/>
          <p:nvPr/>
        </p:nvSpPr>
        <p:spPr>
          <a:xfrm>
            <a:off x="548640" y="3538728"/>
            <a:ext cx="6675120" cy="2910840"/>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611880"/>
            <a:ext cx="6492240" cy="2819400"/>
          </a:xfrm>
          <a:prstGeom prst="rect">
            <a:avLst/>
          </a:prstGeom>
          <a:noFill/>
        </p:spPr>
        <p:txBody>
          <a:bodyPr wrap="square" anchor="t" lIns="45720" rIns="45720">
            <a:spAutoFit/>
          </a:bodyPr>
          <a:lstStyle/>
          <a:p>
            <a:pPr>
              <a:lnSpc>
                <a:spcPct val="100000"/>
              </a:lnSpc>
            </a:pPr>
            <a:r>
              <a:rPr sz="1600" b="0" i="0">
                <a:solidFill>
                  <a:srgbClr val="A0A7B1"/>
                </a:solidFill>
                <a:latin typeface="Consolas"/>
              </a:rPr>
              <a:t> 1  </a:t>
            </a:r>
            <a:r>
              <a:rPr sz="1600" b="0" i="0">
                <a:solidFill>
                  <a:srgbClr val="1F2A37"/>
                </a:solidFill>
                <a:latin typeface="Consolas"/>
              </a:rPr>
              <a:t>public static int muenzen(int betrag) {</a:t>
            </a:r>
          </a:p>
          <a:p>
            <a:pPr>
              <a:lnSpc>
                <a:spcPct val="100000"/>
              </a:lnSpc>
            </a:pPr>
            <a:r>
              <a:rPr sz="1600" b="0" i="0">
                <a:solidFill>
                  <a:srgbClr val="A0A7B1"/>
                </a:solidFill>
                <a:latin typeface="Consolas"/>
              </a:rPr>
              <a:t> 2  </a:t>
            </a:r>
            <a:r>
              <a:rPr sz="1600" b="0" i="0">
                <a:solidFill>
                  <a:srgbClr val="1F2A37"/>
                </a:solidFill>
                <a:latin typeface="Consolas"/>
              </a:rPr>
              <a:t>    if (betrag == 0) {</a:t>
            </a:r>
          </a:p>
          <a:p>
            <a:pPr>
              <a:lnSpc>
                <a:spcPct val="100000"/>
              </a:lnSpc>
            </a:pPr>
            <a:r>
              <a:rPr sz="1600" b="0" i="0">
                <a:solidFill>
                  <a:srgbClr val="A0A7B1"/>
                </a:solidFill>
                <a:latin typeface="Consolas"/>
              </a:rPr>
              <a:t> 3  </a:t>
            </a:r>
            <a:r>
              <a:rPr sz="1600" b="0" i="0">
                <a:solidFill>
                  <a:srgbClr val="1F2A37"/>
                </a:solidFill>
                <a:latin typeface="Consolas"/>
              </a:rPr>
              <a:t>        return 0; </a:t>
            </a:r>
            <a:r>
              <a:rPr sz="1600" b="0" i="0">
                <a:solidFill>
                  <a:srgbClr val="5F7F5F"/>
                </a:solidFill>
                <a:latin typeface="Consolas"/>
              </a:rPr>
              <a:t> // Basisfall</a:t>
            </a:r>
          </a:p>
          <a:p>
            <a:pPr>
              <a:lnSpc>
                <a:spcPct val="100000"/>
              </a:lnSpc>
            </a:pPr>
            <a:r>
              <a:rPr sz="1600" b="0" i="0">
                <a:solidFill>
                  <a:srgbClr val="A0A7B1"/>
                </a:solidFill>
                <a:latin typeface="Consolas"/>
              </a:rPr>
              <a:t> 4  </a:t>
            </a:r>
            <a:r>
              <a:rPr sz="1600" b="0" i="0">
                <a:solidFill>
                  <a:srgbClr val="1F2A37"/>
                </a:solidFill>
                <a:latin typeface="Consolas"/>
              </a:rPr>
              <a:t>    }</a:t>
            </a:r>
          </a:p>
          <a:p>
            <a:pPr>
              <a:lnSpc>
                <a:spcPct val="100000"/>
              </a:lnSpc>
            </a:pPr>
            <a:r>
              <a:rPr sz="1600" b="0" i="0">
                <a:solidFill>
                  <a:srgbClr val="A0A7B1"/>
                </a:solidFill>
                <a:latin typeface="Consolas"/>
              </a:rPr>
              <a:t> 5  </a:t>
            </a:r>
            <a:r>
              <a:rPr sz="1600" b="0" i="0">
                <a:solidFill>
                  <a:srgbClr val="1F2A37"/>
                </a:solidFill>
                <a:latin typeface="Consolas"/>
              </a:rPr>
              <a:t>    int muenze = 1;</a:t>
            </a:r>
          </a:p>
          <a:p>
            <a:pPr>
              <a:lnSpc>
                <a:spcPct val="100000"/>
              </a:lnSpc>
            </a:pPr>
            <a:r>
              <a:rPr sz="1600" b="0" i="0">
                <a:solidFill>
                  <a:srgbClr val="A0A7B1"/>
                </a:solidFill>
                <a:latin typeface="Consolas"/>
              </a:rPr>
              <a:t> 6  </a:t>
            </a:r>
            <a:r>
              <a:rPr sz="1600" b="0" i="0">
                <a:solidFill>
                  <a:srgbClr val="1F2A37"/>
                </a:solidFill>
                <a:latin typeface="Consolas"/>
              </a:rPr>
              <a:t>    if (betrag &gt;= 5) {</a:t>
            </a:r>
          </a:p>
          <a:p>
            <a:pPr>
              <a:lnSpc>
                <a:spcPct val="100000"/>
              </a:lnSpc>
            </a:pPr>
            <a:r>
              <a:rPr sz="1600" b="0" i="0">
                <a:solidFill>
                  <a:srgbClr val="A0A7B1"/>
                </a:solidFill>
                <a:latin typeface="Consolas"/>
              </a:rPr>
              <a:t> 7  </a:t>
            </a:r>
            <a:r>
              <a:rPr sz="1600" b="0" i="0">
                <a:solidFill>
                  <a:srgbClr val="1F2A37"/>
                </a:solidFill>
                <a:latin typeface="Consolas"/>
              </a:rPr>
              <a:t>        muenze = 5;</a:t>
            </a:r>
          </a:p>
          <a:p>
            <a:pPr>
              <a:lnSpc>
                <a:spcPct val="100000"/>
              </a:lnSpc>
            </a:pPr>
            <a:r>
              <a:rPr sz="1600" b="0" i="0">
                <a:solidFill>
                  <a:srgbClr val="A0A7B1"/>
                </a:solidFill>
                <a:latin typeface="Consolas"/>
              </a:rPr>
              <a:t> 8  </a:t>
            </a:r>
            <a:r>
              <a:rPr sz="1600" b="0" i="0">
                <a:solidFill>
                  <a:srgbClr val="1F2A37"/>
                </a:solidFill>
                <a:latin typeface="Consolas"/>
              </a:rPr>
              <a:t>    }</a:t>
            </a:r>
          </a:p>
          <a:p>
            <a:pPr>
              <a:lnSpc>
                <a:spcPct val="100000"/>
              </a:lnSpc>
            </a:pPr>
            <a:r>
              <a:rPr sz="1600" b="0" i="0">
                <a:solidFill>
                  <a:srgbClr val="A0A7B1"/>
                </a:solidFill>
                <a:latin typeface="Consolas"/>
              </a:rPr>
              <a:t> 9  </a:t>
            </a:r>
            <a:r>
              <a:rPr sz="1600" b="0" i="0">
                <a:solidFill>
                  <a:srgbClr val="1F2A37"/>
                </a:solidFill>
                <a:latin typeface="Consolas"/>
              </a:rPr>
              <a:t>    return 1 + muenzen(betrag - muenze);</a:t>
            </a:r>
          </a:p>
          <a:p>
            <a:pPr>
              <a:lnSpc>
                <a:spcPct val="100000"/>
              </a:lnSpc>
            </a:pPr>
            <a:r>
              <a:rPr sz="1600" b="0" i="0">
                <a:solidFill>
                  <a:srgbClr val="A0A7B1"/>
                </a:solidFill>
                <a:latin typeface="Consolas"/>
              </a:rPr>
              <a:t>10  </a:t>
            </a:r>
            <a:r>
              <a:rPr sz="1600" b="0" i="0">
                <a:solidFill>
                  <a:srgbClr val="1F2A37"/>
                </a:solidFill>
                <a:latin typeface="Consolas"/>
              </a:rPr>
              <a:t>}</a:t>
            </a:r>
          </a:p>
        </p:txBody>
      </p:sp>
      <p:sp>
        <p:nvSpPr>
          <p:cNvPr id="9" name="Rounded Rectangle 8"/>
          <p:cNvSpPr/>
          <p:nvPr/>
        </p:nvSpPr>
        <p:spPr>
          <a:xfrm>
            <a:off x="7498079" y="1325880"/>
            <a:ext cx="414497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B8860B"/>
                </a:solidFill>
                <a:latin typeface="Calibri"/>
              </a:rPr>
              <a:t>Tipp</a:t>
            </a:r>
            <a:r>
              <a:rPr sz="2000" b="0" i="0">
                <a:solidFill>
                  <a:srgbClr val="1F2A37"/>
                </a:solidFill>
                <a:latin typeface="Calibri"/>
              </a:rPr>
              <a:t/>
            </a:r>
          </a:p>
          <a:p>
            <a:pPr>
              <a:spcAft>
                <a:spcPts val="600"/>
              </a:spcAft>
            </a:pPr>
            <a:r>
              <a:rPr sz="2000" b="0" i="0">
                <a:solidFill>
                  <a:srgbClr val="1F2A37"/>
                </a:solidFill>
                <a:latin typeface="Calibri"/>
              </a:rPr>
              <a:t>Nach dem ersten Schritt ist der Betrag kleiner als 5.</a:t>
            </a:r>
            <a:r>
              <a:rPr sz="2000" b="0" i="0">
                <a:solidFill>
                  <a:srgbClr val="1F2A37"/>
                </a:solidFill>
                <a:latin typeface="Calibri"/>
              </a:rPr>
              <a:t/>
            </a:r>
          </a:p>
          <a:p>
            <a:pPr>
              <a:spcAft>
                <a:spcPts val="600"/>
              </a:spcAft>
            </a:pPr>
            <a:r>
              <a:rPr sz="2000" b="0" i="0">
                <a:solidFill>
                  <a:srgbClr val="1F2A37"/>
                </a:solidFill>
                <a:latin typeface="Calibri"/>
              </a:rPr>
              <a:t>Erst alle Aufrufe, dann die Rückgaben.</a:t>
            </a:r>
            <a:r>
              <a:rPr sz="2000" b="0" i="0">
                <a:solidFill>
                  <a:srgbClr val="1F2A37"/>
                </a:solidFill>
                <a:latin typeface="Calibri"/>
              </a:rPr>
              <a:t/>
            </a:r>
          </a:p>
        </p:txBody>
      </p:sp>
      <p:sp>
        <p:nvSpPr>
          <p:cNvPr id="11" name="TextBox 10"/>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5: Rekursion verstehen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Auflösung: muenzen(9)</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48640" y="1417320"/>
          <a:ext cx="6766558" cy="2871463"/>
        </p:xfrm>
        <a:graphic>
          <a:graphicData uri="http://schemas.openxmlformats.org/drawingml/2006/table">
            <a:tbl>
              <a:tblPr firstRow="1" bandRow="1">
                <a:tableStyleId>{5C22544A-7EE6-4342-B048-85BDC9FD1C3A}</a:tableStyleId>
              </a:tblPr>
              <a:tblGrid>
                <a:gridCol w="1774835"/>
                <a:gridCol w="1885762"/>
                <a:gridCol w="1109272"/>
                <a:gridCol w="1996689"/>
              </a:tblGrid>
              <a:tr h="410209">
                <a:tc>
                  <a:txBody>
                    <a:bodyPr/>
                    <a:lstStyle/>
                    <a:p>
                      <a:pPr algn="ctr"/>
                      <a:r>
                        <a:rPr sz="1700" b="1">
                          <a:solidFill>
                            <a:srgbClr val="FFFFFF"/>
                          </a:solidFill>
                          <a:latin typeface="Calibri"/>
                        </a:rPr>
                        <a:t>Rekursionstiefe</a:t>
                      </a:r>
                    </a:p>
                  </a:txBody>
                  <a:tcPr marL="54864" marR="54864" marT="18288" marB="18288" anchor="ctr">
                    <a:solidFill>
                      <a:srgbClr val="1F4E79"/>
                    </a:solidFill>
                  </a:tcPr>
                </a:tc>
                <a:tc>
                  <a:txBody>
                    <a:bodyPr/>
                    <a:lstStyle/>
                    <a:p>
                      <a:pPr algn="ctr"/>
                      <a:r>
                        <a:rPr sz="1700" b="1">
                          <a:solidFill>
                            <a:srgbClr val="FFFFFF"/>
                          </a:solidFill>
                          <a:latin typeface="Calibri"/>
                        </a:rPr>
                        <a:t>Aufruf</a:t>
                      </a:r>
                    </a:p>
                  </a:txBody>
                  <a:tcPr marL="54864" marR="54864" marT="18288" marB="18288" anchor="ctr">
                    <a:solidFill>
                      <a:srgbClr val="1F4E79"/>
                    </a:solidFill>
                  </a:tcPr>
                </a:tc>
                <a:tc>
                  <a:txBody>
                    <a:bodyPr/>
                    <a:lstStyle/>
                    <a:p>
                      <a:pPr algn="ctr"/>
                      <a:r>
                        <a:rPr sz="1700" b="1">
                          <a:solidFill>
                            <a:srgbClr val="FFFFFF"/>
                          </a:solidFill>
                          <a:latin typeface="Calibri"/>
                        </a:rPr>
                        <a:t>betrag</a:t>
                      </a:r>
                    </a:p>
                  </a:txBody>
                  <a:tcPr marL="54864" marR="54864" marT="18288" marB="18288" anchor="ctr">
                    <a:solidFill>
                      <a:srgbClr val="1F4E79"/>
                    </a:solidFill>
                  </a:tcPr>
                </a:tc>
                <a:tc>
                  <a:txBody>
                    <a:bodyPr/>
                    <a:lstStyle/>
                    <a:p>
                      <a:pPr algn="ctr"/>
                      <a:r>
                        <a:rPr sz="1700" b="1">
                          <a:solidFill>
                            <a:srgbClr val="FFFFFF"/>
                          </a:solidFill>
                          <a:latin typeface="Calibri"/>
                        </a:rPr>
                        <a:t>Rückgabe</a:t>
                      </a:r>
                    </a:p>
                  </a:txBody>
                  <a:tcPr marL="54864" marR="54864" marT="18288" marB="18288" anchor="ctr">
                    <a:solidFill>
                      <a:srgbClr val="1F4E79"/>
                    </a:solidFill>
                  </a:tcPr>
                </a:tc>
              </a:tr>
              <a:tr h="410209">
                <a:tc>
                  <a:txBody>
                    <a:bodyPr/>
                    <a:lstStyle/>
                    <a:p>
                      <a:pPr algn="ctr"/>
                      <a:r>
                        <a:rPr sz="1700" b="0">
                          <a:solidFill>
                            <a:srgbClr val="1F2A37"/>
                          </a:solidFill>
                          <a:latin typeface="Consolas"/>
                        </a:rPr>
                        <a:t>0</a:t>
                      </a:r>
                    </a:p>
                  </a:txBody>
                  <a:tcPr marL="54864" marR="54864" marT="18288" marB="18288" anchor="ctr">
                    <a:solidFill>
                      <a:srgbClr val="FFFFFF"/>
                    </a:solidFill>
                  </a:tcPr>
                </a:tc>
                <a:tc>
                  <a:txBody>
                    <a:bodyPr/>
                    <a:lstStyle/>
                    <a:p>
                      <a:pPr algn="ctr"/>
                      <a:r>
                        <a:rPr sz="1700" b="0">
                          <a:solidFill>
                            <a:srgbClr val="1F2A37"/>
                          </a:solidFill>
                          <a:latin typeface="Consolas"/>
                        </a:rPr>
                        <a:t>muenzen(9)</a:t>
                      </a:r>
                    </a:p>
                  </a:txBody>
                  <a:tcPr marL="54864" marR="54864" marT="18288" marB="18288" anchor="ctr">
                    <a:solidFill>
                      <a:srgbClr val="FFFFFF"/>
                    </a:solidFill>
                  </a:tcPr>
                </a:tc>
                <a:tc>
                  <a:txBody>
                    <a:bodyPr/>
                    <a:lstStyle/>
                    <a:p>
                      <a:pPr algn="ctr"/>
                      <a:r>
                        <a:rPr sz="1700" b="0">
                          <a:solidFill>
                            <a:srgbClr val="1F2A37"/>
                          </a:solidFill>
                          <a:latin typeface="Consolas"/>
                        </a:rPr>
                        <a:t>9</a:t>
                      </a:r>
                    </a:p>
                  </a:txBody>
                  <a:tcPr marL="54864" marR="54864" marT="18288" marB="18288" anchor="ctr">
                    <a:solidFill>
                      <a:srgbClr val="FFFFFF"/>
                    </a:solidFill>
                  </a:tcPr>
                </a:tc>
                <a:tc>
                  <a:txBody>
                    <a:bodyPr/>
                    <a:lstStyle/>
                    <a:p>
                      <a:pPr algn="ctr"/>
                      <a:r>
                        <a:rPr sz="1700" b="0">
                          <a:solidFill>
                            <a:srgbClr val="1F2A37"/>
                          </a:solidFill>
                          <a:latin typeface="Consolas"/>
                        </a:rPr>
                        <a:t>1 + 4 = 5</a:t>
                      </a:r>
                    </a:p>
                  </a:txBody>
                  <a:tcPr marL="54864" marR="54864" marT="18288" marB="18288" anchor="ctr">
                    <a:solidFill>
                      <a:srgbClr val="FFFFFF"/>
                    </a:solidFill>
                  </a:tcPr>
                </a:tc>
              </a:tr>
              <a:tr h="410209">
                <a:tc>
                  <a:txBody>
                    <a:bodyPr/>
                    <a:lstStyle/>
                    <a:p>
                      <a:pPr algn="ctr"/>
                      <a:r>
                        <a:rPr sz="1700" b="0">
                          <a:solidFill>
                            <a:srgbClr val="1F2A37"/>
                          </a:solidFill>
                          <a:latin typeface="Consolas"/>
                        </a:rPr>
                        <a:t>1</a:t>
                      </a:r>
                    </a:p>
                  </a:txBody>
                  <a:tcPr marL="54864" marR="54864" marT="18288" marB="18288" anchor="ctr">
                    <a:solidFill>
                      <a:srgbClr val="EEF3FA"/>
                    </a:solidFill>
                  </a:tcPr>
                </a:tc>
                <a:tc>
                  <a:txBody>
                    <a:bodyPr/>
                    <a:lstStyle/>
                    <a:p>
                      <a:pPr algn="ctr"/>
                      <a:r>
                        <a:rPr sz="1700" b="0">
                          <a:solidFill>
                            <a:srgbClr val="1F2A37"/>
                          </a:solidFill>
                          <a:latin typeface="Consolas"/>
                        </a:rPr>
                        <a:t>muenzen(4)</a:t>
                      </a:r>
                    </a:p>
                  </a:txBody>
                  <a:tcPr marL="54864" marR="54864" marT="18288" marB="18288" anchor="ctr">
                    <a:solidFill>
                      <a:srgbClr val="EEF3FA"/>
                    </a:solidFill>
                  </a:tcPr>
                </a:tc>
                <a:tc>
                  <a:txBody>
                    <a:bodyPr/>
                    <a:lstStyle/>
                    <a:p>
                      <a:pPr algn="ctr"/>
                      <a:r>
                        <a:rPr sz="1700" b="0">
                          <a:solidFill>
                            <a:srgbClr val="1F2A37"/>
                          </a:solidFill>
                          <a:latin typeface="Consolas"/>
                        </a:rPr>
                        <a:t>4</a:t>
                      </a:r>
                    </a:p>
                  </a:txBody>
                  <a:tcPr marL="54864" marR="54864" marT="18288" marB="18288" anchor="ctr">
                    <a:solidFill>
                      <a:srgbClr val="EEF3FA"/>
                    </a:solidFill>
                  </a:tcPr>
                </a:tc>
                <a:tc>
                  <a:txBody>
                    <a:bodyPr/>
                    <a:lstStyle/>
                    <a:p>
                      <a:pPr algn="ctr"/>
                      <a:r>
                        <a:rPr sz="1700" b="0">
                          <a:solidFill>
                            <a:srgbClr val="1F2A37"/>
                          </a:solidFill>
                          <a:latin typeface="Consolas"/>
                        </a:rPr>
                        <a:t>1 + 3 = 4</a:t>
                      </a:r>
                    </a:p>
                  </a:txBody>
                  <a:tcPr marL="54864" marR="54864" marT="18288" marB="18288" anchor="ctr">
                    <a:solidFill>
                      <a:srgbClr val="EEF3FA"/>
                    </a:solidFill>
                  </a:tcPr>
                </a:tc>
              </a:tr>
              <a:tr h="410209">
                <a:tc>
                  <a:txBody>
                    <a:bodyPr/>
                    <a:lstStyle/>
                    <a:p>
                      <a:pPr algn="ctr"/>
                      <a:r>
                        <a:rPr sz="1700" b="0">
                          <a:solidFill>
                            <a:srgbClr val="1F2A37"/>
                          </a:solidFill>
                          <a:latin typeface="Consolas"/>
                        </a:rPr>
                        <a:t>2</a:t>
                      </a:r>
                    </a:p>
                  </a:txBody>
                  <a:tcPr marL="54864" marR="54864" marT="18288" marB="18288" anchor="ctr">
                    <a:solidFill>
                      <a:srgbClr val="FFFFFF"/>
                    </a:solidFill>
                  </a:tcPr>
                </a:tc>
                <a:tc>
                  <a:txBody>
                    <a:bodyPr/>
                    <a:lstStyle/>
                    <a:p>
                      <a:pPr algn="ctr"/>
                      <a:r>
                        <a:rPr sz="1700" b="0">
                          <a:solidFill>
                            <a:srgbClr val="1F2A37"/>
                          </a:solidFill>
                          <a:latin typeface="Consolas"/>
                        </a:rPr>
                        <a:t>muenzen(3)</a:t>
                      </a:r>
                    </a:p>
                  </a:txBody>
                  <a:tcPr marL="54864" marR="54864" marT="18288" marB="18288" anchor="ctr">
                    <a:solidFill>
                      <a:srgbClr val="FFFFFF"/>
                    </a:solidFill>
                  </a:tcPr>
                </a:tc>
                <a:tc>
                  <a:txBody>
                    <a:bodyPr/>
                    <a:lstStyle/>
                    <a:p>
                      <a:pPr algn="ctr"/>
                      <a:r>
                        <a:rPr sz="1700" b="0">
                          <a:solidFill>
                            <a:srgbClr val="1F2A37"/>
                          </a:solidFill>
                          <a:latin typeface="Consolas"/>
                        </a:rPr>
                        <a:t>3</a:t>
                      </a:r>
                    </a:p>
                  </a:txBody>
                  <a:tcPr marL="54864" marR="54864" marT="18288" marB="18288" anchor="ctr">
                    <a:solidFill>
                      <a:srgbClr val="FFFFFF"/>
                    </a:solidFill>
                  </a:tcPr>
                </a:tc>
                <a:tc>
                  <a:txBody>
                    <a:bodyPr/>
                    <a:lstStyle/>
                    <a:p>
                      <a:pPr algn="ctr"/>
                      <a:r>
                        <a:rPr sz="1700" b="0">
                          <a:solidFill>
                            <a:srgbClr val="1F2A37"/>
                          </a:solidFill>
                          <a:latin typeface="Consolas"/>
                        </a:rPr>
                        <a:t>1 + 2 = 3</a:t>
                      </a:r>
                    </a:p>
                  </a:txBody>
                  <a:tcPr marL="54864" marR="54864" marT="18288" marB="18288" anchor="ctr">
                    <a:solidFill>
                      <a:srgbClr val="FFFFFF"/>
                    </a:solidFill>
                  </a:tcPr>
                </a:tc>
              </a:tr>
              <a:tr h="410209">
                <a:tc>
                  <a:txBody>
                    <a:bodyPr/>
                    <a:lstStyle/>
                    <a:p>
                      <a:pPr algn="ctr"/>
                      <a:r>
                        <a:rPr sz="1700" b="0">
                          <a:solidFill>
                            <a:srgbClr val="1F2A37"/>
                          </a:solidFill>
                          <a:latin typeface="Consolas"/>
                        </a:rPr>
                        <a:t>3</a:t>
                      </a:r>
                    </a:p>
                  </a:txBody>
                  <a:tcPr marL="54864" marR="54864" marT="18288" marB="18288" anchor="ctr">
                    <a:solidFill>
                      <a:srgbClr val="EEF3FA"/>
                    </a:solidFill>
                  </a:tcPr>
                </a:tc>
                <a:tc>
                  <a:txBody>
                    <a:bodyPr/>
                    <a:lstStyle/>
                    <a:p>
                      <a:pPr algn="ctr"/>
                      <a:r>
                        <a:rPr sz="1700" b="0">
                          <a:solidFill>
                            <a:srgbClr val="1F2A37"/>
                          </a:solidFill>
                          <a:latin typeface="Consolas"/>
                        </a:rPr>
                        <a:t>muenzen(2)</a:t>
                      </a:r>
                    </a:p>
                  </a:txBody>
                  <a:tcPr marL="54864" marR="54864" marT="18288" marB="18288" anchor="ctr">
                    <a:solidFill>
                      <a:srgbClr val="EEF3FA"/>
                    </a:solidFill>
                  </a:tcPr>
                </a:tc>
                <a:tc>
                  <a:txBody>
                    <a:bodyPr/>
                    <a:lstStyle/>
                    <a:p>
                      <a:pPr algn="ctr"/>
                      <a:r>
                        <a:rPr sz="1700" b="0">
                          <a:solidFill>
                            <a:srgbClr val="1F2A37"/>
                          </a:solidFill>
                          <a:latin typeface="Consolas"/>
                        </a:rPr>
                        <a:t>2</a:t>
                      </a:r>
                    </a:p>
                  </a:txBody>
                  <a:tcPr marL="54864" marR="54864" marT="18288" marB="18288" anchor="ctr">
                    <a:solidFill>
                      <a:srgbClr val="EEF3FA"/>
                    </a:solidFill>
                  </a:tcPr>
                </a:tc>
                <a:tc>
                  <a:txBody>
                    <a:bodyPr/>
                    <a:lstStyle/>
                    <a:p>
                      <a:pPr algn="ctr"/>
                      <a:r>
                        <a:rPr sz="1700" b="0">
                          <a:solidFill>
                            <a:srgbClr val="1F2A37"/>
                          </a:solidFill>
                          <a:latin typeface="Consolas"/>
                        </a:rPr>
                        <a:t>1 + 1 = 2</a:t>
                      </a:r>
                    </a:p>
                  </a:txBody>
                  <a:tcPr marL="54864" marR="54864" marT="18288" marB="18288" anchor="ctr">
                    <a:solidFill>
                      <a:srgbClr val="EEF3FA"/>
                    </a:solidFill>
                  </a:tcPr>
                </a:tc>
              </a:tr>
              <a:tr h="410209">
                <a:tc>
                  <a:txBody>
                    <a:bodyPr/>
                    <a:lstStyle/>
                    <a:p>
                      <a:pPr algn="ctr"/>
                      <a:r>
                        <a:rPr sz="1700" b="0">
                          <a:solidFill>
                            <a:srgbClr val="1F2A37"/>
                          </a:solidFill>
                          <a:latin typeface="Consolas"/>
                        </a:rPr>
                        <a:t>4</a:t>
                      </a:r>
                    </a:p>
                  </a:txBody>
                  <a:tcPr marL="54864" marR="54864" marT="18288" marB="18288" anchor="ctr">
                    <a:solidFill>
                      <a:srgbClr val="FFFFFF"/>
                    </a:solidFill>
                  </a:tcPr>
                </a:tc>
                <a:tc>
                  <a:txBody>
                    <a:bodyPr/>
                    <a:lstStyle/>
                    <a:p>
                      <a:pPr algn="ctr"/>
                      <a:r>
                        <a:rPr sz="1700" b="0">
                          <a:solidFill>
                            <a:srgbClr val="1F2A37"/>
                          </a:solidFill>
                          <a:latin typeface="Consolas"/>
                        </a:rPr>
                        <a:t>muenzen(1)</a:t>
                      </a:r>
                    </a:p>
                  </a:txBody>
                  <a:tcPr marL="54864" marR="54864" marT="18288" marB="18288" anchor="ctr">
                    <a:solidFill>
                      <a:srgbClr val="FFFFFF"/>
                    </a:solidFill>
                  </a:tcPr>
                </a:tc>
                <a:tc>
                  <a:txBody>
                    <a:bodyPr/>
                    <a:lstStyle/>
                    <a:p>
                      <a:pPr algn="ctr"/>
                      <a:r>
                        <a:rPr sz="1700" b="0">
                          <a:solidFill>
                            <a:srgbClr val="1F2A37"/>
                          </a:solidFill>
                          <a:latin typeface="Consolas"/>
                        </a:rPr>
                        <a:t>1</a:t>
                      </a:r>
                    </a:p>
                  </a:txBody>
                  <a:tcPr marL="54864" marR="54864" marT="18288" marB="18288" anchor="ctr">
                    <a:solidFill>
                      <a:srgbClr val="FFFFFF"/>
                    </a:solidFill>
                  </a:tcPr>
                </a:tc>
                <a:tc>
                  <a:txBody>
                    <a:bodyPr/>
                    <a:lstStyle/>
                    <a:p>
                      <a:pPr algn="ctr"/>
                      <a:r>
                        <a:rPr sz="1700" b="0">
                          <a:solidFill>
                            <a:srgbClr val="1F2A37"/>
                          </a:solidFill>
                          <a:latin typeface="Consolas"/>
                        </a:rPr>
                        <a:t>1 + 0 = 1</a:t>
                      </a:r>
                    </a:p>
                  </a:txBody>
                  <a:tcPr marL="54864" marR="54864" marT="18288" marB="18288" anchor="ctr">
                    <a:solidFill>
                      <a:srgbClr val="FFFFFF"/>
                    </a:solidFill>
                  </a:tcPr>
                </a:tc>
              </a:tr>
              <a:tr h="410209">
                <a:tc>
                  <a:txBody>
                    <a:bodyPr/>
                    <a:lstStyle/>
                    <a:p>
                      <a:pPr algn="ctr"/>
                      <a:r>
                        <a:rPr sz="1700" b="0">
                          <a:solidFill>
                            <a:srgbClr val="1F2A37"/>
                          </a:solidFill>
                          <a:latin typeface="Consolas"/>
                        </a:rPr>
                        <a:t>5</a:t>
                      </a:r>
                    </a:p>
                  </a:txBody>
                  <a:tcPr marL="54864" marR="54864" marT="18288" marB="18288" anchor="ctr">
                    <a:solidFill>
                      <a:srgbClr val="EEF3FA"/>
                    </a:solidFill>
                  </a:tcPr>
                </a:tc>
                <a:tc>
                  <a:txBody>
                    <a:bodyPr/>
                    <a:lstStyle/>
                    <a:p>
                      <a:pPr algn="ctr"/>
                      <a:r>
                        <a:rPr sz="1700" b="0">
                          <a:solidFill>
                            <a:srgbClr val="1F2A37"/>
                          </a:solidFill>
                          <a:latin typeface="Consolas"/>
                        </a:rPr>
                        <a:t>muenzen(0)</a:t>
                      </a:r>
                    </a:p>
                  </a:txBody>
                  <a:tcPr marL="54864" marR="54864" marT="18288" marB="18288" anchor="ctr">
                    <a:solidFill>
                      <a:srgbClr val="EEF3FA"/>
                    </a:solidFill>
                  </a:tcPr>
                </a:tc>
                <a:tc>
                  <a:txBody>
                    <a:bodyPr/>
                    <a:lstStyle/>
                    <a:p>
                      <a:pPr algn="ctr"/>
                      <a:r>
                        <a:rPr sz="1700" b="0">
                          <a:solidFill>
                            <a:srgbClr val="1F2A37"/>
                          </a:solidFill>
                          <a:latin typeface="Consolas"/>
                        </a:rPr>
                        <a:t>0</a:t>
                      </a:r>
                    </a:p>
                  </a:txBody>
                  <a:tcPr marL="54864" marR="54864" marT="18288" marB="18288" anchor="ctr">
                    <a:solidFill>
                      <a:srgbClr val="EEF3FA"/>
                    </a:solidFill>
                  </a:tcPr>
                </a:tc>
                <a:tc>
                  <a:txBody>
                    <a:bodyPr/>
                    <a:lstStyle/>
                    <a:p>
                      <a:pPr algn="ctr"/>
                      <a:r>
                        <a:rPr sz="1700" b="0">
                          <a:solidFill>
                            <a:srgbClr val="1F2A37"/>
                          </a:solidFill>
                          <a:latin typeface="Consolas"/>
                        </a:rPr>
                        <a:t>0 (Basisfall)</a:t>
                      </a:r>
                    </a:p>
                  </a:txBody>
                  <a:tcPr marL="54864" marR="54864" marT="18288" marB="18288" anchor="ctr">
                    <a:solidFill>
                      <a:srgbClr val="EEF3FA"/>
                    </a:solidFill>
                  </a:tcPr>
                </a:tc>
              </a:tr>
            </a:tbl>
          </a:graphicData>
        </a:graphic>
      </p:graphicFrame>
      <p:sp>
        <p:nvSpPr>
          <p:cNvPr id="6" name="Rounded Rectangle 5"/>
          <p:cNvSpPr/>
          <p:nvPr/>
        </p:nvSpPr>
        <p:spPr>
          <a:xfrm>
            <a:off x="7680960" y="1325880"/>
            <a:ext cx="3962095" cy="2651759"/>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0" y="1463039"/>
            <a:ext cx="3596335" cy="2377439"/>
          </a:xfrm>
          <a:prstGeom prst="rect">
            <a:avLst/>
          </a:prstGeom>
          <a:noFill/>
        </p:spPr>
        <p:txBody>
          <a:bodyPr wrap="square" anchor="t" lIns="45720" rIns="45720">
            <a:spAutoFit/>
          </a:bodyPr>
          <a:lstStyle/>
          <a:p>
            <a:pPr>
              <a:spcAft>
                <a:spcPts val="800"/>
              </a:spcAft>
            </a:pPr>
            <a:r>
              <a:rPr sz="2200" b="1" i="0">
                <a:solidFill>
                  <a:srgbClr val="548235"/>
                </a:solidFill>
                <a:latin typeface="Calibri"/>
              </a:rPr>
              <a:t>Rückgabe: 5</a:t>
            </a:r>
            <a:r>
              <a:rPr sz="2000" b="0" i="0">
                <a:solidFill>
                  <a:srgbClr val="1F2A37"/>
                </a:solidFill>
                <a:latin typeface="Calibri"/>
              </a:rPr>
              <a:t/>
            </a:r>
          </a:p>
          <a:p>
            <a:pPr>
              <a:spcAft>
                <a:spcPts val="600"/>
              </a:spcAft>
            </a:pPr>
            <a:r>
              <a:rPr sz="2000" b="0" i="0">
                <a:solidFill>
                  <a:srgbClr val="1F2A37"/>
                </a:solidFill>
                <a:latin typeface="Calibri"/>
              </a:rPr>
              <a:t>5 + 1 + 1 + 1 + 1</a:t>
            </a:r>
            <a:r>
              <a:rPr sz="2000" b="0" i="0">
                <a:solidFill>
                  <a:srgbClr val="1F2A37"/>
                </a:solidFill>
                <a:latin typeface="Calibri"/>
              </a:rPr>
              <a:t/>
            </a:r>
          </a:p>
          <a:p>
            <a:pPr>
              <a:spcAft>
                <a:spcPts val="600"/>
              </a:spcAft>
            </a:pPr>
            <a:r>
              <a:rPr sz="2000" b="0" i="0">
                <a:solidFill>
                  <a:srgbClr val="1F2A37"/>
                </a:solidFill>
                <a:latin typeface="Calibri"/>
              </a:rPr>
              <a:t>6 Aufrufe</a:t>
            </a:r>
            <a:r>
              <a:rPr sz="2000" b="0" i="0">
                <a:solidFill>
                  <a:srgbClr val="1F2A37"/>
                </a:solidFill>
                <a:latin typeface="Calibri"/>
              </a:rPr>
              <a:t/>
            </a:r>
          </a:p>
          <a:p>
            <a:pPr>
              <a:spcAft>
                <a:spcPts val="600"/>
              </a:spcAft>
            </a:pPr>
            <a:r>
              <a:rPr sz="2000" b="0" i="0">
                <a:solidFill>
                  <a:srgbClr val="1F2A37"/>
                </a:solidFill>
                <a:latin typeface="Calibri"/>
              </a:rPr>
              <a:t>größte Tiefe 5</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5: Rekursion verstehen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Rekursive Struktogramme nach EH §5</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g_muenzen.png"/>
          <p:cNvPicPr>
            <a:picLocks noChangeAspect="1"/>
          </p:cNvPicPr>
          <p:nvPr/>
        </p:nvPicPr>
        <p:blipFill>
          <a:blip r:embed="rId2"/>
          <a:stretch>
            <a:fillRect/>
          </a:stretch>
        </p:blipFill>
        <p:spPr>
          <a:xfrm>
            <a:off x="548640" y="1417320"/>
            <a:ext cx="7040879" cy="4180522"/>
          </a:xfrm>
          <a:prstGeom prst="rect">
            <a:avLst/>
          </a:prstGeom>
        </p:spPr>
      </p:pic>
      <p:sp>
        <p:nvSpPr>
          <p:cNvPr id="6" name="Rounded Rectangle 5"/>
          <p:cNvSpPr/>
          <p:nvPr/>
        </p:nvSpPr>
        <p:spPr>
          <a:xfrm>
            <a:off x="7863840" y="1325880"/>
            <a:ext cx="3779215" cy="2651759"/>
          </a:xfrm>
          <a:prstGeom prst="roundRect">
            <a:avLst>
              <a:gd name="adj" fmla="val 8000"/>
            </a:avLst>
          </a:prstGeom>
          <a:solidFill>
            <a:srgbClr val="DBE7F5"/>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19" y="1463039"/>
            <a:ext cx="3413455" cy="2377439"/>
          </a:xfrm>
          <a:prstGeom prst="rect">
            <a:avLst/>
          </a:prstGeom>
          <a:noFill/>
        </p:spPr>
        <p:txBody>
          <a:bodyPr wrap="square" anchor="t" lIns="45720" rIns="45720">
            <a:spAutoFit/>
          </a:bodyPr>
          <a:lstStyle/>
          <a:p>
            <a:pPr>
              <a:spcAft>
                <a:spcPts val="800"/>
              </a:spcAft>
            </a:pPr>
            <a:r>
              <a:rPr sz="2000" b="1" i="0">
                <a:solidFill>
                  <a:srgbClr val="1F4E79"/>
                </a:solidFill>
                <a:latin typeface="Calibri"/>
              </a:rPr>
              <a:t>So geht’s</a:t>
            </a:r>
            <a:r>
              <a:rPr sz="1800" b="0" i="0">
                <a:solidFill>
                  <a:srgbClr val="1F2A37"/>
                </a:solidFill>
                <a:latin typeface="Calibri"/>
              </a:rPr>
              <a:t/>
            </a:r>
          </a:p>
          <a:p>
            <a:pPr>
              <a:spcAft>
                <a:spcPts val="600"/>
              </a:spcAft>
            </a:pPr>
            <a:r>
              <a:rPr sz="1800" b="0" i="0">
                <a:solidFill>
                  <a:srgbClr val="1F2A37"/>
                </a:solidFill>
                <a:latin typeface="Calibri"/>
              </a:rPr>
              <a:t>Kopf mit Signatur und Typen</a:t>
            </a:r>
            <a:r>
              <a:rPr sz="1800" b="0" i="0">
                <a:solidFill>
                  <a:srgbClr val="1F2A37"/>
                </a:solidFill>
                <a:latin typeface="Calibri"/>
              </a:rPr>
              <a:t/>
            </a:r>
          </a:p>
          <a:p>
            <a:pPr>
              <a:spcAft>
                <a:spcPts val="600"/>
              </a:spcAft>
            </a:pPr>
            <a:r>
              <a:rPr sz="1800" b="0" i="0">
                <a:solidFill>
                  <a:srgbClr val="1F2A37"/>
                </a:solidFill>
                <a:latin typeface="Calibri"/>
              </a:rPr>
              <a:t>Basisfall </a:t>
            </a:r>
            <a:r>
              <a:rPr sz="1800" b="1" i="0">
                <a:solidFill>
                  <a:srgbClr val="1F2A37"/>
                </a:solidFill>
                <a:latin typeface="Calibri"/>
              </a:rPr>
              <a:t>zuerst</a:t>
            </a:r>
            <a:r>
              <a:rPr sz="1800" b="0" i="0">
                <a:solidFill>
                  <a:srgbClr val="1F2A37"/>
                </a:solidFill>
                <a:latin typeface="Calibri"/>
              </a:rPr>
              <a:t> als Verzweigung</a:t>
            </a:r>
            <a:r>
              <a:rPr sz="1800" b="0" i="0">
                <a:solidFill>
                  <a:srgbClr val="1F2A37"/>
                </a:solidFill>
                <a:latin typeface="Calibri"/>
              </a:rPr>
              <a:t/>
            </a:r>
          </a:p>
          <a:p>
            <a:pPr>
              <a:spcAft>
                <a:spcPts val="600"/>
              </a:spcAft>
            </a:pPr>
            <a:r>
              <a:rPr sz="1800" b="0" i="0">
                <a:solidFill>
                  <a:srgbClr val="1F2A37"/>
                </a:solidFill>
                <a:latin typeface="Calibri"/>
              </a:rPr>
              <a:t>Selbstaufruf = </a:t>
            </a:r>
            <a:r>
              <a:rPr sz="1800" b="1" i="0">
                <a:solidFill>
                  <a:srgbClr val="1F2A37"/>
                </a:solidFill>
                <a:latin typeface="Calibri"/>
              </a:rPr>
              <a:t>ganz normale Anweisung</a:t>
            </a:r>
            <a:r>
              <a:rPr sz="1800" b="0" i="0">
                <a:solidFill>
                  <a:srgbClr val="1F2A37"/>
                </a:solidFill>
                <a:latin typeface="Calibri"/>
              </a:rPr>
              <a:t> – kein Sondersymbol</a:t>
            </a:r>
            <a:r>
              <a:rPr sz="1800" b="0" i="0">
                <a:solidFill>
                  <a:srgbClr val="1F2A37"/>
                </a:solidFill>
                <a:latin typeface="Calibri"/>
              </a:rPr>
              <a:t/>
            </a:r>
          </a:p>
          <a:p>
            <a:pPr>
              <a:spcAft>
                <a:spcPts val="600"/>
              </a:spcAft>
            </a:pPr>
            <a:r>
              <a:rPr sz="1800" b="0" i="0">
                <a:solidFill>
                  <a:srgbClr val="1F2A37"/>
                </a:solidFill>
                <a:latin typeface="Calibri"/>
              </a:rPr>
              <a:t>Jeder Pfad endet mit „gib … zurück“</a:t>
            </a:r>
            <a:r>
              <a:rPr sz="18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5: Rekursion verstehen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Baumrekursion: zwei Selbstaufrufe</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5928359" cy="1837943"/>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5745479" cy="1746503"/>
          </a:xfrm>
          <a:prstGeom prst="rect">
            <a:avLst/>
          </a:prstGeom>
          <a:noFill/>
        </p:spPr>
        <p:txBody>
          <a:bodyPr wrap="square" anchor="t" lIns="45720" rIns="45720">
            <a:spAutoFit/>
          </a:bodyPr>
          <a:lstStyle/>
          <a:p>
            <a:pPr>
              <a:lnSpc>
                <a:spcPct val="100000"/>
              </a:lnSpc>
            </a:pPr>
            <a:r>
              <a:rPr sz="1600" b="0" i="0">
                <a:solidFill>
                  <a:srgbClr val="A0A7B1"/>
                </a:solidFill>
                <a:latin typeface="Consolas"/>
              </a:rPr>
              <a:t>1  </a:t>
            </a:r>
            <a:r>
              <a:rPr sz="1600" b="0" i="0">
                <a:solidFill>
                  <a:srgbClr val="1F2A37"/>
                </a:solidFill>
                <a:latin typeface="Consolas"/>
              </a:rPr>
              <a:t>public static int schleim(int n) {</a:t>
            </a:r>
          </a:p>
          <a:p>
            <a:pPr>
              <a:lnSpc>
                <a:spcPct val="100000"/>
              </a:lnSpc>
            </a:pPr>
            <a:r>
              <a:rPr sz="1600" b="0" i="0">
                <a:solidFill>
                  <a:srgbClr val="A0A7B1"/>
                </a:solidFill>
                <a:latin typeface="Consolas"/>
              </a:rPr>
              <a:t>2  </a:t>
            </a:r>
            <a:r>
              <a:rPr sz="1600" b="0" i="0">
                <a:solidFill>
                  <a:srgbClr val="1F2A37"/>
                </a:solidFill>
                <a:latin typeface="Consolas"/>
              </a:rPr>
              <a:t>    if (n &lt; 2) {</a:t>
            </a:r>
          </a:p>
          <a:p>
            <a:pPr>
              <a:lnSpc>
                <a:spcPct val="100000"/>
              </a:lnSpc>
            </a:pPr>
            <a:r>
              <a:rPr sz="1600" b="0" i="0">
                <a:solidFill>
                  <a:srgbClr val="A0A7B1"/>
                </a:solidFill>
                <a:latin typeface="Consolas"/>
              </a:rPr>
              <a:t>3  </a:t>
            </a:r>
            <a:r>
              <a:rPr sz="1600" b="0" i="0">
                <a:solidFill>
                  <a:srgbClr val="1F2A37"/>
                </a:solidFill>
                <a:latin typeface="Consolas"/>
              </a:rPr>
              <a:t>        return 1; </a:t>
            </a:r>
            <a:r>
              <a:rPr sz="1600" b="0" i="0">
                <a:solidFill>
                  <a:srgbClr val="5F7F5F"/>
                </a:solidFill>
                <a:latin typeface="Consolas"/>
              </a:rPr>
              <a:t> // Basisfall</a:t>
            </a:r>
          </a:p>
          <a:p>
            <a:pPr>
              <a:lnSpc>
                <a:spcPct val="100000"/>
              </a:lnSpc>
            </a:pPr>
            <a:r>
              <a:rPr sz="1600" b="0" i="0">
                <a:solidFill>
                  <a:srgbClr val="A0A7B1"/>
                </a:solidFill>
                <a:latin typeface="Consolas"/>
              </a:rPr>
              <a:t>4  </a:t>
            </a:r>
            <a:r>
              <a:rPr sz="1600" b="0" i="0">
                <a:solidFill>
                  <a:srgbClr val="1F2A37"/>
                </a:solidFill>
                <a:latin typeface="Consolas"/>
              </a:rPr>
              <a:t>    }</a:t>
            </a:r>
          </a:p>
          <a:p>
            <a:pPr>
              <a:lnSpc>
                <a:spcPct val="100000"/>
              </a:lnSpc>
            </a:pPr>
            <a:r>
              <a:rPr sz="1600" b="0" i="0">
                <a:solidFill>
                  <a:srgbClr val="A0A7B1"/>
                </a:solidFill>
                <a:latin typeface="Consolas"/>
              </a:rPr>
              <a:t>5  </a:t>
            </a:r>
            <a:r>
              <a:rPr sz="1600" b="1" i="0">
                <a:solidFill>
                  <a:srgbClr val="C00000"/>
                </a:solidFill>
                <a:latin typeface="Consolas"/>
              </a:rPr>
              <a:t>    return schleim(n / 2) + schleim(n / 3);</a:t>
            </a:r>
          </a:p>
          <a:p>
            <a:pPr>
              <a:lnSpc>
                <a:spcPct val="100000"/>
              </a:lnSpc>
            </a:pPr>
            <a:r>
              <a:rPr sz="1600" b="0" i="0">
                <a:solidFill>
                  <a:srgbClr val="A0A7B1"/>
                </a:solidFill>
                <a:latin typeface="Consolas"/>
              </a:rPr>
              <a:t>6  </a:t>
            </a:r>
            <a:r>
              <a:rPr sz="1600" b="0" i="0">
                <a:solidFill>
                  <a:srgbClr val="1F2A37"/>
                </a:solidFill>
                <a:latin typeface="Consolas"/>
              </a:rPr>
              <a:t>}</a:t>
            </a:r>
          </a:p>
        </p:txBody>
      </p:sp>
      <p:sp>
        <p:nvSpPr>
          <p:cNvPr id="7" name="Rounded Rectangle 6"/>
          <p:cNvSpPr/>
          <p:nvPr/>
        </p:nvSpPr>
        <p:spPr>
          <a:xfrm>
            <a:off x="6751319" y="1325880"/>
            <a:ext cx="489173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34199" y="1463039"/>
            <a:ext cx="4525975" cy="2377439"/>
          </a:xfrm>
          <a:prstGeom prst="rect">
            <a:avLst/>
          </a:prstGeom>
          <a:noFill/>
        </p:spPr>
        <p:txBody>
          <a:bodyPr wrap="square" anchor="t" lIns="45720" rIns="45720">
            <a:spAutoFit/>
          </a:bodyPr>
          <a:lstStyle/>
          <a:p>
            <a:pPr>
              <a:spcAft>
                <a:spcPts val="800"/>
              </a:spcAft>
            </a:pPr>
            <a:r>
              <a:rPr sz="2200" b="1" i="0">
                <a:solidFill>
                  <a:srgbClr val="B8860B"/>
                </a:solidFill>
                <a:latin typeface="Calibri"/>
              </a:rPr>
              <a:t>Der Schleim</a:t>
            </a:r>
            <a:r>
              <a:rPr sz="2000" b="0" i="0">
                <a:solidFill>
                  <a:srgbClr val="1F2A37"/>
                </a:solidFill>
                <a:latin typeface="Calibri"/>
              </a:rPr>
              <a:t/>
            </a:r>
          </a:p>
          <a:p>
            <a:pPr>
              <a:spcAft>
                <a:spcPts val="600"/>
              </a:spcAft>
            </a:pPr>
            <a:r>
              <a:rPr sz="2000" b="0" i="0">
                <a:solidFill>
                  <a:srgbClr val="1F2A37"/>
                </a:solidFill>
                <a:latin typeface="Calibri"/>
              </a:rPr>
              <a:t>Ein Schleim der Größe n zerfällt in zwei: </a:t>
            </a:r>
            <a:r>
              <a:rPr sz="2000" b="1" i="0">
                <a:solidFill>
                  <a:srgbClr val="1F2A37"/>
                </a:solidFill>
                <a:latin typeface="Calibri"/>
              </a:rPr>
              <a:t>n / 2</a:t>
            </a:r>
            <a:r>
              <a:rPr sz="2000" b="0" i="0">
                <a:solidFill>
                  <a:srgbClr val="1F2A37"/>
                </a:solidFill>
                <a:latin typeface="Calibri"/>
              </a:rPr>
              <a:t> und </a:t>
            </a:r>
            <a:r>
              <a:rPr sz="2000" b="1" i="0">
                <a:solidFill>
                  <a:srgbClr val="1F2A37"/>
                </a:solidFill>
                <a:latin typeface="Calibri"/>
              </a:rPr>
              <a:t>n / 3</a:t>
            </a:r>
            <a:r>
              <a:rPr sz="2000" b="0" i="0">
                <a:solidFill>
                  <a:srgbClr val="1F2A37"/>
                </a:solidFill>
                <a:latin typeface="Calibri"/>
              </a:rPr>
              <a:t> (ganzzahlig).</a:t>
            </a:r>
            <a:r>
              <a:rPr sz="2000" b="0" i="0">
                <a:solidFill>
                  <a:srgbClr val="1F2A37"/>
                </a:solidFill>
                <a:latin typeface="Calibri"/>
              </a:rPr>
              <a:t/>
            </a:r>
          </a:p>
          <a:p>
            <a:pPr>
              <a:spcAft>
                <a:spcPts val="600"/>
              </a:spcAft>
            </a:pPr>
            <a:r>
              <a:rPr sz="2000" b="0" i="0">
                <a:solidFill>
                  <a:srgbClr val="1F2A37"/>
                </a:solidFill>
                <a:latin typeface="Calibri"/>
              </a:rPr>
              <a:t>Kleiner als 2: zerfällt nicht mehr.</a:t>
            </a:r>
            <a:r>
              <a:rPr sz="2000" b="0" i="0">
                <a:solidFill>
                  <a:srgbClr val="1F2A37"/>
                </a:solidFill>
                <a:latin typeface="Calibri"/>
              </a:rPr>
              <a:t/>
            </a:r>
          </a:p>
          <a:p>
            <a:pPr>
              <a:spcAft>
                <a:spcPts val="600"/>
              </a:spcAft>
            </a:pPr>
            <a:r>
              <a:rPr sz="2000" b="0" i="0">
                <a:solidFill>
                  <a:srgbClr val="1F2A37"/>
                </a:solidFill>
                <a:latin typeface="Calibri"/>
              </a:rPr>
              <a:t>Wie viele Mini-Schleime entstehen?</a:t>
            </a:r>
            <a:r>
              <a:rPr sz="2000" b="0" i="0">
                <a:solidFill>
                  <a:srgbClr val="1F2A37"/>
                </a:solidFill>
                <a:latin typeface="Calibri"/>
              </a:rPr>
              <a:t/>
            </a:r>
          </a:p>
        </p:txBody>
      </p:sp>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5: Rekursion verstehen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Der Aufrufbaum von schleim(7)</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aum_s7.png"/>
          <p:cNvPicPr>
            <a:picLocks noChangeAspect="1"/>
          </p:cNvPicPr>
          <p:nvPr/>
        </p:nvPicPr>
        <p:blipFill>
          <a:blip r:embed="rId2"/>
          <a:stretch>
            <a:fillRect/>
          </a:stretch>
        </p:blipFill>
        <p:spPr>
          <a:xfrm>
            <a:off x="548640" y="1417320"/>
            <a:ext cx="6858000" cy="3454213"/>
          </a:xfrm>
          <a:prstGeom prst="rect">
            <a:avLst/>
          </a:prstGeom>
        </p:spPr>
      </p:pic>
      <p:sp>
        <p:nvSpPr>
          <p:cNvPr id="6" name="Rounded Rectangle 5"/>
          <p:cNvSpPr/>
          <p:nvPr/>
        </p:nvSpPr>
        <p:spPr>
          <a:xfrm>
            <a:off x="7680960" y="1325880"/>
            <a:ext cx="3962095" cy="2651759"/>
          </a:xfrm>
          <a:prstGeom prst="roundRect">
            <a:avLst>
              <a:gd name="adj" fmla="val 8000"/>
            </a:avLst>
          </a:prstGeom>
          <a:solidFill>
            <a:srgbClr val="DBE7F5"/>
          </a:solidFill>
          <a:ln w="1905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0" y="1463039"/>
            <a:ext cx="3596335" cy="2377439"/>
          </a:xfrm>
          <a:prstGeom prst="rect">
            <a:avLst/>
          </a:prstGeom>
          <a:noFill/>
        </p:spPr>
        <p:txBody>
          <a:bodyPr wrap="square" anchor="t" lIns="45720" rIns="45720">
            <a:spAutoFit/>
          </a:bodyPr>
          <a:lstStyle/>
          <a:p>
            <a:pPr>
              <a:spcAft>
                <a:spcPts val="800"/>
              </a:spcAft>
            </a:pPr>
            <a:r>
              <a:rPr sz="1900" b="1" i="0">
                <a:solidFill>
                  <a:srgbClr val="1F4E79"/>
                </a:solidFill>
                <a:latin typeface="Calibri"/>
              </a:rPr>
              <a:t>Lesen</a:t>
            </a:r>
            <a:r>
              <a:rPr sz="1700" b="0" i="0">
                <a:solidFill>
                  <a:srgbClr val="1F2A37"/>
                </a:solidFill>
                <a:latin typeface="Calibri"/>
              </a:rPr>
              <a:t/>
            </a:r>
          </a:p>
          <a:p>
            <a:pPr>
              <a:spcAft>
                <a:spcPts val="600"/>
              </a:spcAft>
            </a:pPr>
            <a:r>
              <a:rPr sz="1700" b="0" i="0">
                <a:solidFill>
                  <a:srgbClr val="1F2A37"/>
                </a:solidFill>
                <a:latin typeface="Calibri"/>
              </a:rPr>
              <a:t>Knoten = ein Aufruf, </a:t>
            </a:r>
            <a:r>
              <a:rPr sz="1600" b="0" i="0">
                <a:solidFill>
                  <a:srgbClr val="1F4E79"/>
                </a:solidFill>
                <a:latin typeface="Consolas"/>
              </a:rPr>
              <a:t>s3</a:t>
            </a:r>
            <a:r>
              <a:rPr sz="1700" b="0" i="0">
                <a:solidFill>
                  <a:srgbClr val="1F2A37"/>
                </a:solidFill>
                <a:latin typeface="Calibri"/>
              </a:rPr>
              <a:t> = schleim(3)</a:t>
            </a:r>
            <a:r>
              <a:rPr sz="1700" b="0" i="0">
                <a:solidFill>
                  <a:srgbClr val="1F2A37"/>
                </a:solidFill>
                <a:latin typeface="Calibri"/>
              </a:rPr>
              <a:t/>
            </a:r>
          </a:p>
          <a:p>
            <a:pPr>
              <a:spcAft>
                <a:spcPts val="600"/>
              </a:spcAft>
            </a:pPr>
            <a:r>
              <a:rPr sz="1700" b="0" i="0">
                <a:solidFill>
                  <a:srgbClr val="1F2A37"/>
                </a:solidFill>
                <a:latin typeface="Calibri"/>
              </a:rPr>
              <a:t>Wurzel = Erstaufruf, </a:t>
            </a:r>
            <a:r>
              <a:rPr sz="1700" b="1" i="0">
                <a:solidFill>
                  <a:srgbClr val="1F2A37"/>
                </a:solidFill>
                <a:latin typeface="Calibri"/>
              </a:rPr>
              <a:t>Tiefe 0</a:t>
            </a:r>
            <a:r>
              <a:rPr sz="1700" b="0" i="0">
                <a:solidFill>
                  <a:srgbClr val="1F2A37"/>
                </a:solidFill>
                <a:latin typeface="Calibri"/>
              </a:rPr>
              <a:t/>
            </a:r>
          </a:p>
          <a:p>
            <a:pPr>
              <a:spcAft>
                <a:spcPts val="600"/>
              </a:spcAft>
            </a:pPr>
            <a:r>
              <a:rPr sz="1700" b="0" i="0">
                <a:solidFill>
                  <a:srgbClr val="1F2A37"/>
                </a:solidFill>
                <a:latin typeface="Calibri"/>
              </a:rPr>
              <a:t>links zuerst, ganz in die Tiefe</a:t>
            </a:r>
            <a:r>
              <a:rPr sz="1700" b="0" i="0">
                <a:solidFill>
                  <a:srgbClr val="1F2A37"/>
                </a:solidFill>
                <a:latin typeface="Calibri"/>
              </a:rPr>
              <a:t/>
            </a:r>
          </a:p>
          <a:p>
            <a:pPr>
              <a:spcAft>
                <a:spcPts val="600"/>
              </a:spcAft>
            </a:pPr>
            <a:r>
              <a:rPr sz="1700" b="1" i="0">
                <a:solidFill>
                  <a:srgbClr val="1F2A37"/>
                </a:solidFill>
                <a:latin typeface="Calibri"/>
              </a:rPr>
              <a:t>7 Aufrufe</a:t>
            </a:r>
            <a:r>
              <a:rPr sz="1700" b="0" i="0">
                <a:solidFill>
                  <a:srgbClr val="1F2A37"/>
                </a:solidFill>
                <a:latin typeface="Calibri"/>
              </a:rPr>
              <a:t> · größte Tiefe </a:t>
            </a:r>
            <a:r>
              <a:rPr sz="1700" b="1" i="0">
                <a:solidFill>
                  <a:srgbClr val="1F2A37"/>
                </a:solidFill>
                <a:latin typeface="Calibri"/>
              </a:rPr>
              <a:t>2</a:t>
            </a:r>
            <a:r>
              <a:rPr sz="1700" b="0" i="0">
                <a:solidFill>
                  <a:srgbClr val="1F2A37"/>
                </a:solidFill>
                <a:latin typeface="Calibri"/>
              </a:rPr>
              <a:t/>
            </a:r>
          </a:p>
          <a:p>
            <a:pPr>
              <a:spcAft>
                <a:spcPts val="600"/>
              </a:spcAft>
            </a:pPr>
            <a:r>
              <a:rPr sz="1700" b="0" i="0">
                <a:solidFill>
                  <a:srgbClr val="1F2A37"/>
                </a:solidFill>
                <a:latin typeface="Calibri"/>
              </a:rPr>
              <a:t>schleim(7) = </a:t>
            </a:r>
            <a:r>
              <a:rPr sz="1700" b="1" i="0">
                <a:solidFill>
                  <a:srgbClr val="1F2A37"/>
                </a:solidFill>
                <a:latin typeface="Calibri"/>
              </a:rPr>
              <a:t>4</a:t>
            </a:r>
            <a:r>
              <a:rPr sz="1700" b="0" i="0">
                <a:solidFill>
                  <a:srgbClr val="1F2A37"/>
                </a:solidFill>
                <a:latin typeface="Calibri"/>
              </a:rPr>
              <a:t> (Blätter)</a:t>
            </a:r>
            <a:r>
              <a:rPr sz="17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5: Rekursion verstehen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Kurz pausieren: Zeichne den Aufrufbaum!</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463039"/>
            <a:ext cx="3017520" cy="548640"/>
          </a:xfrm>
          <a:prstGeom prst="roundRect">
            <a:avLst>
              <a:gd name="adj" fmla="val 8000"/>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FFFFFF"/>
                </a:solidFill>
                <a:latin typeface="Calibri"/>
              </a:rPr>
              <a:t>⏸  Video anhalten</a:t>
            </a:r>
          </a:p>
        </p:txBody>
      </p:sp>
      <p:sp>
        <p:nvSpPr>
          <p:cNvPr id="6" name="TextBox 5"/>
          <p:cNvSpPr txBox="1"/>
          <p:nvPr/>
        </p:nvSpPr>
        <p:spPr>
          <a:xfrm>
            <a:off x="548640" y="2240280"/>
            <a:ext cx="6675120" cy="1517904"/>
          </a:xfrm>
          <a:prstGeom prst="rect">
            <a:avLst/>
          </a:prstGeom>
          <a:noFill/>
        </p:spPr>
        <p:txBody>
          <a:bodyPr wrap="square" anchor="t" lIns="45720" rIns="45720">
            <a:spAutoFit/>
          </a:bodyPr>
          <a:lstStyle/>
          <a:p>
            <a:r>
              <a:rPr sz="2400" b="0" i="0">
                <a:solidFill>
                  <a:srgbClr val="1F2A37"/>
                </a:solidFill>
                <a:latin typeface="Calibri"/>
              </a:rPr>
              <a:t>Zeichne den Aufrufbaum für </a:t>
            </a:r>
            <a:r>
              <a:rPr sz="2300" b="0" i="0">
                <a:solidFill>
                  <a:srgbClr val="1F4E79"/>
                </a:solidFill>
                <a:latin typeface="Consolas"/>
              </a:rPr>
              <a:t>schleim(10)</a:t>
            </a:r>
            <a:r>
              <a:rPr sz="2400" b="0" i="0">
                <a:solidFill>
                  <a:srgbClr val="1F2A37"/>
                </a:solidFill>
                <a:latin typeface="Calibri"/>
              </a:rPr>
              <a:t>. Bestimme den </a:t>
            </a:r>
            <a:r>
              <a:rPr sz="2400" b="1" i="0">
                <a:solidFill>
                  <a:srgbClr val="1F2A37"/>
                </a:solidFill>
                <a:latin typeface="Calibri"/>
              </a:rPr>
              <a:t>Rückgabewert</a:t>
            </a:r>
            <a:r>
              <a:rPr sz="2400" b="0" i="0">
                <a:solidFill>
                  <a:srgbClr val="1F2A37"/>
                </a:solidFill>
                <a:latin typeface="Calibri"/>
              </a:rPr>
              <a:t>, die </a:t>
            </a:r>
            <a:r>
              <a:rPr sz="2400" b="1" i="0">
                <a:solidFill>
                  <a:srgbClr val="1F2A37"/>
                </a:solidFill>
                <a:latin typeface="Calibri"/>
              </a:rPr>
              <a:t>Anzahl der Aufrufe</a:t>
            </a:r>
            <a:r>
              <a:rPr sz="2400" b="0" i="0">
                <a:solidFill>
                  <a:srgbClr val="1F2A37"/>
                </a:solidFill>
                <a:latin typeface="Calibri"/>
              </a:rPr>
              <a:t> (Erstaufruf mitgezählt) und die </a:t>
            </a:r>
            <a:r>
              <a:rPr sz="2400" b="1" i="0">
                <a:solidFill>
                  <a:srgbClr val="1F2A37"/>
                </a:solidFill>
                <a:latin typeface="Calibri"/>
              </a:rPr>
              <a:t>größte Rekursionstiefe</a:t>
            </a:r>
            <a:r>
              <a:rPr sz="2400" b="0" i="0">
                <a:solidFill>
                  <a:srgbClr val="1F2A37"/>
                </a:solidFill>
                <a:latin typeface="Calibri"/>
              </a:rPr>
              <a:t>.</a:t>
            </a:r>
          </a:p>
        </p:txBody>
      </p:sp>
      <p:sp>
        <p:nvSpPr>
          <p:cNvPr id="7" name="Rectangle 6"/>
          <p:cNvSpPr/>
          <p:nvPr/>
        </p:nvSpPr>
        <p:spPr>
          <a:xfrm>
            <a:off x="548640" y="3895344"/>
            <a:ext cx="6675120" cy="2039112"/>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968496"/>
            <a:ext cx="6492240" cy="1947672"/>
          </a:xfrm>
          <a:prstGeom prst="rect">
            <a:avLst/>
          </a:prstGeom>
          <a:noFill/>
        </p:spPr>
        <p:txBody>
          <a:bodyPr wrap="square" anchor="t" lIns="45720" rIns="45720">
            <a:spAutoFit/>
          </a:bodyPr>
          <a:lstStyle/>
          <a:p>
            <a:pPr>
              <a:lnSpc>
                <a:spcPct val="100000"/>
              </a:lnSpc>
            </a:pPr>
            <a:r>
              <a:rPr sz="1800" b="0" i="0">
                <a:solidFill>
                  <a:srgbClr val="A0A7B1"/>
                </a:solidFill>
                <a:latin typeface="Consolas"/>
              </a:rPr>
              <a:t>1  </a:t>
            </a:r>
            <a:r>
              <a:rPr sz="1800" b="0" i="0">
                <a:solidFill>
                  <a:srgbClr val="1F2A37"/>
                </a:solidFill>
                <a:latin typeface="Consolas"/>
              </a:rPr>
              <a:t>public static int schleim(int n) {</a:t>
            </a:r>
          </a:p>
          <a:p>
            <a:pPr>
              <a:lnSpc>
                <a:spcPct val="100000"/>
              </a:lnSpc>
            </a:pPr>
            <a:r>
              <a:rPr sz="1800" b="0" i="0">
                <a:solidFill>
                  <a:srgbClr val="A0A7B1"/>
                </a:solidFill>
                <a:latin typeface="Consolas"/>
              </a:rPr>
              <a:t>2  </a:t>
            </a:r>
            <a:r>
              <a:rPr sz="1800" b="0" i="0">
                <a:solidFill>
                  <a:srgbClr val="1F2A37"/>
                </a:solidFill>
                <a:latin typeface="Consolas"/>
              </a:rPr>
              <a:t>    if (n &lt; 2) {</a:t>
            </a:r>
          </a:p>
          <a:p>
            <a:pPr>
              <a:lnSpc>
                <a:spcPct val="100000"/>
              </a:lnSpc>
            </a:pPr>
            <a:r>
              <a:rPr sz="1800" b="0" i="0">
                <a:solidFill>
                  <a:srgbClr val="A0A7B1"/>
                </a:solidFill>
                <a:latin typeface="Consolas"/>
              </a:rPr>
              <a:t>3  </a:t>
            </a:r>
            <a:r>
              <a:rPr sz="1800" b="0" i="0">
                <a:solidFill>
                  <a:srgbClr val="1F2A37"/>
                </a:solidFill>
                <a:latin typeface="Consolas"/>
              </a:rPr>
              <a:t>        return 1; </a:t>
            </a:r>
            <a:r>
              <a:rPr sz="1800" b="0" i="0">
                <a:solidFill>
                  <a:srgbClr val="5F7F5F"/>
                </a:solidFill>
                <a:latin typeface="Consolas"/>
              </a:rPr>
              <a:t> // Basisfall</a:t>
            </a:r>
          </a:p>
          <a:p>
            <a:pPr>
              <a:lnSpc>
                <a:spcPct val="100000"/>
              </a:lnSpc>
            </a:pPr>
            <a:r>
              <a:rPr sz="1800" b="0" i="0">
                <a:solidFill>
                  <a:srgbClr val="A0A7B1"/>
                </a:solidFill>
                <a:latin typeface="Consolas"/>
              </a:rPr>
              <a:t>4  </a:t>
            </a:r>
            <a:r>
              <a:rPr sz="1800" b="0" i="0">
                <a:solidFill>
                  <a:srgbClr val="1F2A37"/>
                </a:solidFill>
                <a:latin typeface="Consolas"/>
              </a:rPr>
              <a:t>    }</a:t>
            </a:r>
          </a:p>
          <a:p>
            <a:pPr>
              <a:lnSpc>
                <a:spcPct val="100000"/>
              </a:lnSpc>
            </a:pPr>
            <a:r>
              <a:rPr sz="1800" b="0" i="0">
                <a:solidFill>
                  <a:srgbClr val="A0A7B1"/>
                </a:solidFill>
                <a:latin typeface="Consolas"/>
              </a:rPr>
              <a:t>5  </a:t>
            </a:r>
            <a:r>
              <a:rPr sz="1800" b="0" i="0">
                <a:solidFill>
                  <a:srgbClr val="1F2A37"/>
                </a:solidFill>
                <a:latin typeface="Consolas"/>
              </a:rPr>
              <a:t>    return schleim(n / 2) + schleim(n / 3);</a:t>
            </a:r>
          </a:p>
          <a:p>
            <a:pPr>
              <a:lnSpc>
                <a:spcPct val="100000"/>
              </a:lnSpc>
            </a:pPr>
            <a:r>
              <a:rPr sz="1800" b="0" i="0">
                <a:solidFill>
                  <a:srgbClr val="A0A7B1"/>
                </a:solidFill>
                <a:latin typeface="Consolas"/>
              </a:rPr>
              <a:t>6  </a:t>
            </a:r>
            <a:r>
              <a:rPr sz="1800" b="0" i="0">
                <a:solidFill>
                  <a:srgbClr val="1F2A37"/>
                </a:solidFill>
                <a:latin typeface="Consolas"/>
              </a:rPr>
              <a:t>}</a:t>
            </a:r>
          </a:p>
        </p:txBody>
      </p:sp>
      <p:sp>
        <p:nvSpPr>
          <p:cNvPr id="9" name="Rounded Rectangle 8"/>
          <p:cNvSpPr/>
          <p:nvPr/>
        </p:nvSpPr>
        <p:spPr>
          <a:xfrm>
            <a:off x="7498079" y="1325880"/>
            <a:ext cx="4144975" cy="2651759"/>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B8860B"/>
                </a:solidFill>
                <a:latin typeface="Calibri"/>
              </a:rPr>
              <a:t>Tipp</a:t>
            </a:r>
            <a:r>
              <a:rPr sz="2000" b="0" i="0">
                <a:solidFill>
                  <a:srgbClr val="1F2A37"/>
                </a:solidFill>
                <a:latin typeface="Calibri"/>
              </a:rPr>
              <a:t/>
            </a:r>
          </a:p>
          <a:p>
            <a:pPr>
              <a:spcAft>
                <a:spcPts val="600"/>
              </a:spcAft>
            </a:pPr>
            <a:r>
              <a:rPr sz="2000" b="0" i="0">
                <a:solidFill>
                  <a:srgbClr val="1F2A37"/>
                </a:solidFill>
                <a:latin typeface="Calibri"/>
              </a:rPr>
              <a:t>Ganzzahlig teilen: 10 / 3 = 3, 5 / 3 = 1.</a:t>
            </a:r>
            <a:r>
              <a:rPr sz="2000" b="0" i="0">
                <a:solidFill>
                  <a:srgbClr val="1F2A37"/>
                </a:solidFill>
                <a:latin typeface="Calibri"/>
              </a:rPr>
              <a:t/>
            </a:r>
          </a:p>
          <a:p>
            <a:pPr>
              <a:spcAft>
                <a:spcPts val="600"/>
              </a:spcAft>
            </a:pPr>
            <a:r>
              <a:rPr sz="2000" b="0" i="0">
                <a:solidFill>
                  <a:srgbClr val="1F2A37"/>
                </a:solidFill>
                <a:latin typeface="Calibri"/>
              </a:rPr>
              <a:t>Ein Knoten mit n &lt; 2 ist ein Blatt.</a:t>
            </a:r>
            <a:r>
              <a:rPr sz="2000" b="0" i="0">
                <a:solidFill>
                  <a:srgbClr val="1F2A37"/>
                </a:solidFill>
                <a:latin typeface="Calibri"/>
              </a:rPr>
              <a:t/>
            </a:r>
          </a:p>
        </p:txBody>
      </p:sp>
      <p:sp>
        <p:nvSpPr>
          <p:cNvPr id="11" name="TextBox 10"/>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5: Rekursion verstehen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Auflösung: schleim(10)</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aum_s10.png"/>
          <p:cNvPicPr>
            <a:picLocks noChangeAspect="1"/>
          </p:cNvPicPr>
          <p:nvPr/>
        </p:nvPicPr>
        <p:blipFill>
          <a:blip r:embed="rId2"/>
          <a:stretch>
            <a:fillRect/>
          </a:stretch>
        </p:blipFill>
        <p:spPr>
          <a:xfrm>
            <a:off x="548640" y="1417320"/>
            <a:ext cx="6858000" cy="3654334"/>
          </a:xfrm>
          <a:prstGeom prst="rect">
            <a:avLst/>
          </a:prstGeom>
        </p:spPr>
      </p:pic>
      <p:sp>
        <p:nvSpPr>
          <p:cNvPr id="6" name="Rounded Rectangle 5"/>
          <p:cNvSpPr/>
          <p:nvPr/>
        </p:nvSpPr>
        <p:spPr>
          <a:xfrm>
            <a:off x="7680960" y="1325880"/>
            <a:ext cx="3962095" cy="2651759"/>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863840" y="1463039"/>
            <a:ext cx="3596335" cy="2377439"/>
          </a:xfrm>
          <a:prstGeom prst="rect">
            <a:avLst/>
          </a:prstGeom>
          <a:noFill/>
        </p:spPr>
        <p:txBody>
          <a:bodyPr wrap="square" anchor="t" lIns="45720" rIns="45720">
            <a:spAutoFit/>
          </a:bodyPr>
          <a:lstStyle/>
          <a:p>
            <a:pPr>
              <a:spcAft>
                <a:spcPts val="800"/>
              </a:spcAft>
            </a:pPr>
            <a:r>
              <a:rPr sz="2200" b="1" i="0">
                <a:solidFill>
                  <a:srgbClr val="548235"/>
                </a:solidFill>
                <a:latin typeface="Calibri"/>
              </a:rPr>
              <a:t>Ergebnis</a:t>
            </a:r>
            <a:r>
              <a:rPr sz="2000" b="0" i="0">
                <a:solidFill>
                  <a:srgbClr val="1F2A37"/>
                </a:solidFill>
                <a:latin typeface="Calibri"/>
              </a:rPr>
              <a:t/>
            </a:r>
          </a:p>
          <a:p>
            <a:pPr>
              <a:spcAft>
                <a:spcPts val="600"/>
              </a:spcAft>
            </a:pPr>
            <a:r>
              <a:rPr sz="2000" b="0" i="0">
                <a:solidFill>
                  <a:srgbClr val="1F2A37"/>
                </a:solidFill>
                <a:latin typeface="Calibri"/>
              </a:rPr>
              <a:t>Rückgabe: </a:t>
            </a:r>
            <a:r>
              <a:rPr sz="2000" b="1" i="0">
                <a:solidFill>
                  <a:srgbClr val="1F2A37"/>
                </a:solidFill>
                <a:latin typeface="Calibri"/>
              </a:rPr>
              <a:t>5</a:t>
            </a:r>
            <a:r>
              <a:rPr sz="2000" b="0" i="0">
                <a:solidFill>
                  <a:srgbClr val="1F2A37"/>
                </a:solidFill>
                <a:latin typeface="Calibri"/>
              </a:rPr>
              <a:t> (Blätter)</a:t>
            </a:r>
            <a:r>
              <a:rPr sz="2000" b="0" i="0">
                <a:solidFill>
                  <a:srgbClr val="1F2A37"/>
                </a:solidFill>
                <a:latin typeface="Calibri"/>
              </a:rPr>
              <a:t/>
            </a:r>
          </a:p>
          <a:p>
            <a:pPr>
              <a:spcAft>
                <a:spcPts val="600"/>
              </a:spcAft>
            </a:pPr>
            <a:r>
              <a:rPr sz="2000" b="1" i="0">
                <a:solidFill>
                  <a:srgbClr val="1F2A37"/>
                </a:solidFill>
                <a:latin typeface="Calibri"/>
              </a:rPr>
              <a:t>9 Aufrufe</a:t>
            </a:r>
            <a:r>
              <a:rPr sz="2000" b="0" i="0">
                <a:solidFill>
                  <a:srgbClr val="1F2A37"/>
                </a:solidFill>
                <a:latin typeface="Calibri"/>
              </a:rPr>
              <a:t/>
            </a:r>
          </a:p>
          <a:p>
            <a:pPr>
              <a:spcAft>
                <a:spcPts val="600"/>
              </a:spcAft>
            </a:pPr>
            <a:r>
              <a:rPr sz="2000" b="0" i="0">
                <a:solidFill>
                  <a:srgbClr val="1F2A37"/>
                </a:solidFill>
                <a:latin typeface="Calibri"/>
              </a:rPr>
              <a:t>größte Tiefe </a:t>
            </a:r>
            <a:r>
              <a:rPr sz="2000" b="1" i="0">
                <a:solidFill>
                  <a:srgbClr val="1F2A37"/>
                </a:solidFill>
                <a:latin typeface="Calibri"/>
              </a:rPr>
              <a:t>3</a:t>
            </a:r>
            <a:r>
              <a:rPr sz="2000" b="0" i="0">
                <a:solidFill>
                  <a:srgbClr val="1F2A37"/>
                </a:solidFill>
                <a:latin typeface="Calibri"/>
              </a:rPr>
              <a:t> (s10 → s5 → s2 → s1)</a:t>
            </a:r>
            <a:r>
              <a:rPr sz="2000" b="0" i="0">
                <a:solidFill>
                  <a:srgbClr val="1F2A37"/>
                </a:solidFill>
                <a:latin typeface="Calibri"/>
              </a:rPr>
              <a:t/>
            </a:r>
          </a:p>
          <a:p>
            <a:pPr>
              <a:spcAft>
                <a:spcPts val="600"/>
              </a:spcAft>
            </a:pPr>
            <a:r>
              <a:rPr sz="2000" b="0" i="0">
                <a:solidFill>
                  <a:srgbClr val="1F2A37"/>
                </a:solidFill>
                <a:latin typeface="Calibri"/>
              </a:rPr>
              <a:t>Aufrufe = 2 · Blätter − 1</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5: Rekursion verstehen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Typische Fehler (P7) – und der StackOverflowError</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17320"/>
            <a:ext cx="6659880" cy="2642616"/>
          </a:xfrm>
          <a:prstGeom prst="rect">
            <a:avLst/>
          </a:prstGeom>
          <a:solidFill>
            <a:srgbClr val="F3F4F6"/>
          </a:solidFill>
          <a:ln w="19050">
            <a:solidFill>
              <a:srgbClr val="D0D5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6477000" cy="2551176"/>
          </a:xfrm>
          <a:prstGeom prst="rect">
            <a:avLst/>
          </a:prstGeom>
          <a:noFill/>
        </p:spPr>
        <p:txBody>
          <a:bodyPr wrap="square" anchor="t" lIns="45720" rIns="45720">
            <a:spAutoFit/>
          </a:bodyPr>
          <a:lstStyle/>
          <a:p>
            <a:pPr>
              <a:lnSpc>
                <a:spcPct val="100000"/>
              </a:lnSpc>
            </a:pPr>
            <a:r>
              <a:rPr sz="1600" b="0" i="0">
                <a:solidFill>
                  <a:srgbClr val="1F2A37"/>
                </a:solidFill>
                <a:latin typeface="Consolas"/>
              </a:rPr>
              <a:t>// (1) Basisfall fehlt</a:t>
            </a:r>
          </a:p>
          <a:p>
            <a:pPr>
              <a:lnSpc>
                <a:spcPct val="100000"/>
              </a:lnSpc>
            </a:pPr>
            <a:r>
              <a:rPr sz="1600" b="0" i="0">
                <a:solidFill>
                  <a:srgbClr val="1F2A37"/>
                </a:solidFill>
                <a:latin typeface="Consolas"/>
              </a:rPr>
              <a:t>return 1 + muenzen(betrag - 1);</a:t>
            </a:r>
          </a:p>
          <a:p>
            <a:pPr>
              <a:lnSpc>
                <a:spcPct val="100000"/>
              </a:lnSpc>
            </a:pPr>
            <a:r>
              <a:rPr sz="1600" b="0" i="0">
                <a:solidFill>
                  <a:srgbClr val="1F2A37"/>
                </a:solidFill>
                <a:latin typeface="Consolas"/>
              </a:rPr>
              <a:t/>
            </a:r>
          </a:p>
          <a:p>
            <a:pPr>
              <a:lnSpc>
                <a:spcPct val="100000"/>
              </a:lnSpc>
            </a:pPr>
            <a:r>
              <a:rPr sz="1600" b="0" i="0">
                <a:solidFill>
                  <a:srgbClr val="1F2A37"/>
                </a:solidFill>
                <a:latin typeface="Consolas"/>
              </a:rPr>
              <a:t>// (2) Basisfall wird uebersprungen</a:t>
            </a:r>
          </a:p>
          <a:p>
            <a:pPr>
              <a:lnSpc>
                <a:spcPct val="100000"/>
              </a:lnSpc>
            </a:pPr>
            <a:r>
              <a:rPr sz="1600" b="0" i="0">
                <a:solidFill>
                  <a:srgbClr val="1F2A37"/>
                </a:solidFill>
                <a:latin typeface="Consolas"/>
              </a:rPr>
              <a:t>return 1 + muenzen(betrag - 5); </a:t>
            </a:r>
            <a:r>
              <a:rPr sz="1600" b="0" i="0">
                <a:solidFill>
                  <a:srgbClr val="5F7F5F"/>
                </a:solidFill>
                <a:latin typeface="Consolas"/>
              </a:rPr>
              <a:t> // 12, 7, 2, -3 ...</a:t>
            </a:r>
          </a:p>
          <a:p>
            <a:pPr>
              <a:lnSpc>
                <a:spcPct val="100000"/>
              </a:lnSpc>
            </a:pPr>
            <a:r>
              <a:rPr sz="1600" b="0" i="0">
                <a:solidFill>
                  <a:srgbClr val="1F2A37"/>
                </a:solidFill>
                <a:latin typeface="Consolas"/>
              </a:rPr>
              <a:t/>
            </a:r>
          </a:p>
          <a:p>
            <a:pPr>
              <a:lnSpc>
                <a:spcPct val="100000"/>
              </a:lnSpc>
            </a:pPr>
            <a:r>
              <a:rPr sz="1600" b="0" i="0">
                <a:solidFill>
                  <a:srgbClr val="1F2A37"/>
                </a:solidFill>
                <a:latin typeface="Consolas"/>
              </a:rPr>
              <a:t>// (3) Ergebnis nicht verwendet</a:t>
            </a:r>
          </a:p>
          <a:p>
            <a:pPr>
              <a:lnSpc>
                <a:spcPct val="100000"/>
              </a:lnSpc>
            </a:pPr>
            <a:r>
              <a:rPr sz="1600" b="0" i="0">
                <a:solidFill>
                  <a:srgbClr val="1F2A37"/>
                </a:solidFill>
                <a:latin typeface="Consolas"/>
              </a:rPr>
              <a:t>muenzen(betrag - muenze);</a:t>
            </a:r>
          </a:p>
          <a:p>
            <a:pPr>
              <a:lnSpc>
                <a:spcPct val="100000"/>
              </a:lnSpc>
            </a:pPr>
            <a:r>
              <a:rPr sz="1600" b="0" i="0">
                <a:solidFill>
                  <a:srgbClr val="1F2A37"/>
                </a:solidFill>
                <a:latin typeface="Consolas"/>
              </a:rPr>
              <a:t>return 1;</a:t>
            </a:r>
          </a:p>
        </p:txBody>
      </p:sp>
      <p:sp>
        <p:nvSpPr>
          <p:cNvPr id="7" name="Rounded Rectangle 6"/>
          <p:cNvSpPr/>
          <p:nvPr/>
        </p:nvSpPr>
        <p:spPr>
          <a:xfrm>
            <a:off x="7482840" y="1325880"/>
            <a:ext cx="4160215" cy="2651759"/>
          </a:xfrm>
          <a:prstGeom prst="roundRect">
            <a:avLst>
              <a:gd name="adj" fmla="val 8000"/>
            </a:avLst>
          </a:prstGeom>
          <a:solidFill>
            <a:srgbClr val="FBE3E3"/>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65720" y="1463039"/>
            <a:ext cx="3794455" cy="2377439"/>
          </a:xfrm>
          <a:prstGeom prst="rect">
            <a:avLst/>
          </a:prstGeom>
          <a:noFill/>
        </p:spPr>
        <p:txBody>
          <a:bodyPr wrap="square" anchor="t" lIns="45720" rIns="45720">
            <a:spAutoFit/>
          </a:bodyPr>
          <a:lstStyle/>
          <a:p>
            <a:pPr>
              <a:spcAft>
                <a:spcPts val="800"/>
              </a:spcAft>
            </a:pPr>
            <a:r>
              <a:rPr sz="2000" b="1" i="0">
                <a:solidFill>
                  <a:srgbClr val="C00000"/>
                </a:solidFill>
                <a:latin typeface="Calibri"/>
              </a:rPr>
              <a:t>StackOverflowError</a:t>
            </a:r>
            <a:r>
              <a:rPr sz="1800" b="0" i="0">
                <a:solidFill>
                  <a:srgbClr val="1F2A37"/>
                </a:solidFill>
                <a:latin typeface="Calibri"/>
              </a:rPr>
              <a:t/>
            </a:r>
          </a:p>
          <a:p>
            <a:pPr>
              <a:spcAft>
                <a:spcPts val="600"/>
              </a:spcAft>
            </a:pPr>
            <a:r>
              <a:rPr sz="1800" b="0" i="0">
                <a:solidFill>
                  <a:srgbClr val="1F2A37"/>
                </a:solidFill>
                <a:latin typeface="Calibri"/>
              </a:rPr>
              <a:t>Jeder Aufruf belegt einen Rahmen auf dem Aufrufstapel.</a:t>
            </a:r>
            <a:r>
              <a:rPr sz="1800" b="0" i="0">
                <a:solidFill>
                  <a:srgbClr val="1F2A37"/>
                </a:solidFill>
                <a:latin typeface="Calibri"/>
              </a:rPr>
              <a:t/>
            </a:r>
          </a:p>
          <a:p>
            <a:pPr>
              <a:spcAft>
                <a:spcPts val="600"/>
              </a:spcAft>
            </a:pPr>
            <a:r>
              <a:rPr sz="1800" b="0" i="0">
                <a:solidFill>
                  <a:srgbClr val="1F2A37"/>
                </a:solidFill>
                <a:latin typeface="Calibri"/>
              </a:rPr>
              <a:t>(1) und (2): Basisfall nie erreicht → der Stapel läuft über.</a:t>
            </a:r>
            <a:r>
              <a:rPr sz="1800" b="0" i="0">
                <a:solidFill>
                  <a:srgbClr val="1F2A37"/>
                </a:solidFill>
                <a:latin typeface="Calibri"/>
              </a:rPr>
              <a:t/>
            </a:r>
          </a:p>
          <a:p>
            <a:pPr>
              <a:spcAft>
                <a:spcPts val="600"/>
              </a:spcAft>
            </a:pPr>
            <a:r>
              <a:rPr sz="1800" b="0" i="0">
                <a:solidFill>
                  <a:srgbClr val="1F2A37"/>
                </a:solidFill>
                <a:latin typeface="Calibri"/>
              </a:rPr>
              <a:t>(3) läuft durch, liefert aber immer </a:t>
            </a:r>
            <a:r>
              <a:rPr sz="1800" b="1" i="0">
                <a:solidFill>
                  <a:srgbClr val="1F2A37"/>
                </a:solidFill>
                <a:latin typeface="Calibri"/>
              </a:rPr>
              <a:t>1</a:t>
            </a:r>
            <a:r>
              <a:rPr sz="1800" b="0" i="0">
                <a:solidFill>
                  <a:srgbClr val="1F2A37"/>
                </a:solidFill>
                <a:latin typeface="Calibri"/>
              </a:rPr>
              <a:t> – muenzen(12) ergibt 1 statt 4.</a:t>
            </a:r>
            <a:r>
              <a:rPr sz="1800" b="0" i="0">
                <a:solidFill>
                  <a:srgbClr val="1F2A37"/>
                </a:solidFill>
                <a:latin typeface="Calibri"/>
              </a:rPr>
              <a:t/>
            </a:r>
          </a:p>
        </p:txBody>
      </p:sp>
      <p:sp>
        <p:nvSpPr>
          <p:cNvPr id="9" name="TextBox 8"/>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5: Rekursion verstehen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Fehler in Tabelle, Baum und Struktogramm</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17320"/>
            <a:ext cx="6675120" cy="4892040"/>
          </a:xfrm>
          <a:prstGeom prst="rect">
            <a:avLst/>
          </a:prstGeom>
          <a:noFill/>
        </p:spPr>
        <p:txBody>
          <a:bodyPr wrap="square" anchor="t" lIns="45720" rIns="45720">
            <a:spAutoFit/>
          </a:bodyPr>
          <a:lstStyle/>
          <a:p>
            <a:pPr>
              <a:spcAft>
                <a:spcPts val="1000"/>
              </a:spcAft>
            </a:pPr>
            <a:r>
              <a:rPr sz="2400" b="1" i="0">
                <a:solidFill>
                  <a:srgbClr val="B8860B"/>
                </a:solidFill>
                <a:latin typeface="Calibri"/>
              </a:rPr>
              <a:t>▸ </a:t>
            </a:r>
            <a:r>
              <a:rPr sz="2400" b="1" i="0">
                <a:solidFill>
                  <a:srgbClr val="1F2A37"/>
                </a:solidFill>
                <a:latin typeface="Calibri"/>
              </a:rPr>
              <a:t>P7</a:t>
            </a:r>
            <a:r>
              <a:rPr sz="2400" b="0" i="0">
                <a:solidFill>
                  <a:srgbClr val="1F2A37"/>
                </a:solidFill>
                <a:latin typeface="Calibri"/>
              </a:rPr>
              <a:t> Tiefe falsch: Erstaufruf mit Tiefe 1 begonnen – richtig ist </a:t>
            </a:r>
            <a:r>
              <a:rPr sz="2400" b="1" i="0">
                <a:solidFill>
                  <a:srgbClr val="1F2A37"/>
                </a:solidFill>
                <a:latin typeface="Calibri"/>
              </a:rPr>
              <a:t>0</a:t>
            </a:r>
            <a:r>
              <a:rPr sz="2400" b="0" i="0">
                <a:solidFill>
                  <a:srgbClr val="1F2A37"/>
                </a:solidFill>
                <a:latin typeface="Calibri"/>
              </a:rPr>
              <a:t/>
            </a:r>
          </a:p>
          <a:p>
            <a:pPr>
              <a:spcAft>
                <a:spcPts val="1000"/>
              </a:spcAft>
            </a:pPr>
            <a:r>
              <a:rPr sz="2400" b="1" i="0">
                <a:solidFill>
                  <a:srgbClr val="B8860B"/>
                </a:solidFill>
                <a:latin typeface="Calibri"/>
              </a:rPr>
              <a:t>▸ </a:t>
            </a:r>
            <a:r>
              <a:rPr sz="2400" b="1" i="0">
                <a:solidFill>
                  <a:srgbClr val="1F2A37"/>
                </a:solidFill>
                <a:latin typeface="Calibri"/>
              </a:rPr>
              <a:t>P8</a:t>
            </a:r>
            <a:r>
              <a:rPr sz="2400" b="0" i="0">
                <a:solidFill>
                  <a:srgbClr val="1F2A37"/>
                </a:solidFill>
                <a:latin typeface="Calibri"/>
              </a:rPr>
              <a:t> Rückgaben schon beim Abstieg eingetragen oder Basisfall-Zeile vergessen</a:t>
            </a:r>
            <a:r>
              <a:rPr sz="2400" b="0" i="0">
                <a:solidFill>
                  <a:srgbClr val="1F2A37"/>
                </a:solidFill>
                <a:latin typeface="Calibri"/>
              </a:rPr>
              <a:t/>
            </a:r>
          </a:p>
          <a:p>
            <a:pPr>
              <a:spcAft>
                <a:spcPts val="1000"/>
              </a:spcAft>
            </a:pPr>
            <a:r>
              <a:rPr sz="2400" b="1" i="0">
                <a:solidFill>
                  <a:srgbClr val="B8860B"/>
                </a:solidFill>
                <a:latin typeface="Calibri"/>
              </a:rPr>
              <a:t>▸ </a:t>
            </a:r>
            <a:r>
              <a:rPr sz="2400" b="0" i="0">
                <a:solidFill>
                  <a:srgbClr val="1F2A37"/>
                </a:solidFill>
                <a:latin typeface="Calibri"/>
              </a:rPr>
              <a:t>Aufrufe zählen: </a:t>
            </a:r>
            <a:r>
              <a:rPr sz="2400" b="1" i="0">
                <a:solidFill>
                  <a:srgbClr val="1F2A37"/>
                </a:solidFill>
                <a:latin typeface="Calibri"/>
              </a:rPr>
              <a:t>Erstaufruf und alle Basisfälle</a:t>
            </a:r>
            <a:r>
              <a:rPr sz="2400" b="0" i="0">
                <a:solidFill>
                  <a:srgbClr val="1F2A37"/>
                </a:solidFill>
                <a:latin typeface="Calibri"/>
              </a:rPr>
              <a:t> mitzählen</a:t>
            </a:r>
            <a:r>
              <a:rPr sz="2400" b="0" i="0">
                <a:solidFill>
                  <a:srgbClr val="1F2A37"/>
                </a:solidFill>
                <a:latin typeface="Calibri"/>
              </a:rPr>
              <a:t/>
            </a:r>
          </a:p>
          <a:p>
            <a:pPr>
              <a:spcAft>
                <a:spcPts val="1000"/>
              </a:spcAft>
            </a:pPr>
            <a:r>
              <a:rPr sz="2400" b="1" i="0">
                <a:solidFill>
                  <a:srgbClr val="B8860B"/>
                </a:solidFill>
                <a:latin typeface="Calibri"/>
              </a:rPr>
              <a:t>▸ </a:t>
            </a:r>
            <a:r>
              <a:rPr sz="2400" b="1" i="0">
                <a:solidFill>
                  <a:srgbClr val="1F2A37"/>
                </a:solidFill>
                <a:latin typeface="Calibri"/>
              </a:rPr>
              <a:t>P9</a:t>
            </a:r>
            <a:r>
              <a:rPr sz="2400" b="0" i="0">
                <a:solidFill>
                  <a:srgbClr val="1F2A37"/>
                </a:solidFill>
                <a:latin typeface="Calibri"/>
              </a:rPr>
              <a:t> Java im Struktogramm: </a:t>
            </a:r>
            <a:r>
              <a:rPr sz="2300" b="0" i="0">
                <a:solidFill>
                  <a:srgbClr val="1F4E79"/>
                </a:solidFill>
                <a:latin typeface="Consolas"/>
              </a:rPr>
              <a:t>==</a:t>
            </a:r>
            <a:r>
              <a:rPr sz="2400" b="0" i="0">
                <a:solidFill>
                  <a:srgbClr val="1F2A37"/>
                </a:solidFill>
                <a:latin typeface="Calibri"/>
              </a:rPr>
              <a:t>, </a:t>
            </a:r>
            <a:r>
              <a:rPr sz="2300" b="0" i="0">
                <a:solidFill>
                  <a:srgbClr val="1F4E79"/>
                </a:solidFill>
                <a:latin typeface="Consolas"/>
              </a:rPr>
              <a:t>;</a:t>
            </a:r>
            <a:r>
              <a:rPr sz="2400" b="0" i="0">
                <a:solidFill>
                  <a:srgbClr val="1F2A37"/>
                </a:solidFill>
                <a:latin typeface="Calibri"/>
              </a:rPr>
              <a:t>, </a:t>
            </a:r>
            <a:r>
              <a:rPr sz="2300" b="0" i="0">
                <a:solidFill>
                  <a:srgbClr val="1F4E79"/>
                </a:solidFill>
                <a:latin typeface="Consolas"/>
              </a:rPr>
              <a:t>return</a:t>
            </a:r>
            <a:r>
              <a:rPr sz="2400" b="0" i="0">
                <a:solidFill>
                  <a:srgbClr val="1F2A37"/>
                </a:solidFill>
                <a:latin typeface="Calibri"/>
              </a:rPr>
              <a:t/>
            </a:r>
          </a:p>
        </p:txBody>
      </p:sp>
      <p:sp>
        <p:nvSpPr>
          <p:cNvPr id="6" name="Rounded Rectangle 5"/>
          <p:cNvSpPr/>
          <p:nvPr/>
        </p:nvSpPr>
        <p:spPr>
          <a:xfrm>
            <a:off x="7498079" y="1325880"/>
            <a:ext cx="4144975" cy="2651759"/>
          </a:xfrm>
          <a:prstGeom prst="roundRect">
            <a:avLst>
              <a:gd name="adj" fmla="val 8000"/>
            </a:avLst>
          </a:prstGeom>
          <a:solidFill>
            <a:srgbClr val="FBE3E3"/>
          </a:solid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80959" y="1463039"/>
            <a:ext cx="3779215" cy="2377439"/>
          </a:xfrm>
          <a:prstGeom prst="rect">
            <a:avLst/>
          </a:prstGeom>
          <a:noFill/>
        </p:spPr>
        <p:txBody>
          <a:bodyPr wrap="square" anchor="t" lIns="45720" rIns="45720">
            <a:spAutoFit/>
          </a:bodyPr>
          <a:lstStyle/>
          <a:p>
            <a:pPr>
              <a:spcAft>
                <a:spcPts val="800"/>
              </a:spcAft>
            </a:pPr>
            <a:r>
              <a:rPr sz="2200" b="1" i="0">
                <a:solidFill>
                  <a:srgbClr val="C00000"/>
                </a:solidFill>
                <a:latin typeface="Calibri"/>
              </a:rPr>
              <a:t>Abi-Check</a:t>
            </a:r>
            <a:r>
              <a:rPr sz="2000" b="0" i="0">
                <a:solidFill>
                  <a:srgbClr val="1F2A37"/>
                </a:solidFill>
                <a:latin typeface="Calibri"/>
              </a:rPr>
              <a:t/>
            </a:r>
          </a:p>
          <a:p>
            <a:pPr>
              <a:spcAft>
                <a:spcPts val="600"/>
              </a:spcAft>
            </a:pPr>
            <a:r>
              <a:rPr sz="2000" b="0" i="0">
                <a:solidFill>
                  <a:srgbClr val="1F2A37"/>
                </a:solidFill>
                <a:latin typeface="Calibri"/>
              </a:rPr>
              <a:t>Basisfall vorhanden und erreichbar?</a:t>
            </a:r>
            <a:r>
              <a:rPr sz="2000" b="0" i="0">
                <a:solidFill>
                  <a:srgbClr val="1F2A37"/>
                </a:solidFill>
                <a:latin typeface="Calibri"/>
              </a:rPr>
              <a:t/>
            </a:r>
          </a:p>
          <a:p>
            <a:pPr>
              <a:spcAft>
                <a:spcPts val="600"/>
              </a:spcAft>
            </a:pPr>
            <a:r>
              <a:rPr sz="2000" b="0" i="0">
                <a:solidFill>
                  <a:srgbClr val="1F2A37"/>
                </a:solidFill>
                <a:latin typeface="Calibri"/>
              </a:rPr>
              <a:t>Ergebnis des Aufrufs verwendet?</a:t>
            </a:r>
            <a:r>
              <a:rPr sz="2000" b="0" i="0">
                <a:solidFill>
                  <a:srgbClr val="1F2A37"/>
                </a:solidFill>
                <a:latin typeface="Calibri"/>
              </a:rPr>
              <a:t/>
            </a:r>
          </a:p>
          <a:p>
            <a:pPr>
              <a:spcAft>
                <a:spcPts val="600"/>
              </a:spcAft>
            </a:pPr>
            <a:r>
              <a:rPr sz="2000" b="0" i="0">
                <a:solidFill>
                  <a:srgbClr val="1F2A37"/>
                </a:solidFill>
                <a:latin typeface="Calibri"/>
              </a:rPr>
              <a:t>Tiefe ab 0?</a:t>
            </a:r>
            <a:r>
              <a:rPr sz="2000" b="0" i="0">
                <a:solidFill>
                  <a:srgbClr val="1F2A37"/>
                </a:solidFill>
                <a:latin typeface="Calibri"/>
              </a:rPr>
              <a:t/>
            </a:r>
          </a:p>
          <a:p>
            <a:pPr>
              <a:spcAft>
                <a:spcPts val="600"/>
              </a:spcAft>
            </a:pPr>
            <a:r>
              <a:rPr sz="2000" b="0" i="0">
                <a:solidFill>
                  <a:srgbClr val="1F2A37"/>
                </a:solidFill>
                <a:latin typeface="Calibri"/>
              </a:rPr>
              <a:t>Rückgaben beim Aufstieg?</a:t>
            </a:r>
            <a:r>
              <a:rPr sz="2000" b="0" i="0">
                <a:solidFill>
                  <a:srgbClr val="1F2A37"/>
                </a:solidFill>
                <a:latin typeface="Calibri"/>
              </a:rPr>
              <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5: Rekursion verstehen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Das nimmst du mit</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417320"/>
            <a:ext cx="7772400" cy="4800600"/>
          </a:xfrm>
          <a:prstGeom prst="roundRect">
            <a:avLst>
              <a:gd name="adj" fmla="val 8000"/>
            </a:avLst>
          </a:prstGeom>
          <a:solidFill>
            <a:srgbClr val="E2EFDA"/>
          </a:solidFill>
          <a:ln w="19050">
            <a:solidFill>
              <a:srgbClr val="54823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600200"/>
            <a:ext cx="7315200" cy="4434840"/>
          </a:xfrm>
          <a:prstGeom prst="rect">
            <a:avLst/>
          </a:prstGeom>
          <a:noFill/>
        </p:spPr>
        <p:txBody>
          <a:bodyPr wrap="square" anchor="t" lIns="45720" rIns="45720">
            <a:spAutoFit/>
          </a:bodyPr>
          <a:lstStyle/>
          <a:p>
            <a:pPr>
              <a:spcAft>
                <a:spcPts val="1000"/>
              </a:spcAft>
            </a:pPr>
            <a:r>
              <a:rPr sz="2200" b="1" i="0">
                <a:solidFill>
                  <a:srgbClr val="B8860B"/>
                </a:solidFill>
                <a:latin typeface="Calibri"/>
              </a:rPr>
              <a:t>▸ </a:t>
            </a:r>
            <a:r>
              <a:rPr sz="2200" b="0" i="0">
                <a:solidFill>
                  <a:srgbClr val="1F2A37"/>
                </a:solidFill>
                <a:latin typeface="Calibri"/>
              </a:rPr>
              <a:t>Jede Rekursion braucht einen </a:t>
            </a:r>
            <a:r>
              <a:rPr sz="2200" b="1" i="0">
                <a:solidFill>
                  <a:srgbClr val="1F2A37"/>
                </a:solidFill>
                <a:latin typeface="Calibri"/>
              </a:rPr>
              <a:t>Basisfall</a:t>
            </a:r>
            <a:r>
              <a:rPr sz="2200" b="0" i="0">
                <a:solidFill>
                  <a:srgbClr val="1F2A37"/>
                </a:solidFill>
                <a:latin typeface="Calibri"/>
              </a:rPr>
              <a:t> und einen Schritt, der dem Basisfall </a:t>
            </a:r>
            <a:r>
              <a:rPr sz="2200" b="1" i="0">
                <a:solidFill>
                  <a:srgbClr val="1F2A37"/>
                </a:solidFill>
                <a:latin typeface="Calibri"/>
              </a:rPr>
              <a:t>näherkommt</a:t>
            </a:r>
            <a:r>
              <a:rPr sz="2200" b="0" i="0">
                <a:solidFill>
                  <a:srgbClr val="1F2A37"/>
                </a:solidFill>
                <a:latin typeface="Calibri"/>
              </a:rPr>
              <a:t> – und das Ergebnis des Aufrufs </a:t>
            </a:r>
            <a:r>
              <a:rPr sz="2200" b="1" i="0">
                <a:solidFill>
                  <a:srgbClr val="1F2A37"/>
                </a:solidFill>
                <a:latin typeface="Calibri"/>
              </a:rPr>
              <a:t>verwendet</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Aufrufstapel: </a:t>
            </a:r>
            <a:r>
              <a:rPr sz="2200" b="1" i="0">
                <a:solidFill>
                  <a:srgbClr val="1F2A37"/>
                </a:solidFill>
                <a:latin typeface="Calibri"/>
              </a:rPr>
              <a:t>Abstieg</a:t>
            </a:r>
            <a:r>
              <a:rPr sz="2200" b="0" i="0">
                <a:solidFill>
                  <a:srgbClr val="1F2A37"/>
                </a:solidFill>
                <a:latin typeface="Calibri"/>
              </a:rPr>
              <a:t> bis zum Basisfall, </a:t>
            </a:r>
            <a:r>
              <a:rPr sz="2200" b="1" i="0">
                <a:solidFill>
                  <a:srgbClr val="1F2A37"/>
                </a:solidFill>
                <a:latin typeface="Calibri"/>
              </a:rPr>
              <a:t>Aufstieg</a:t>
            </a:r>
            <a:r>
              <a:rPr sz="2200" b="0" i="0">
                <a:solidFill>
                  <a:srgbClr val="1F2A37"/>
                </a:solidFill>
                <a:latin typeface="Calibri"/>
              </a:rPr>
              <a:t> mit den Rückgaben</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Rekursionstabelle: Tiefe (Erstaufruf = </a:t>
            </a:r>
            <a:r>
              <a:rPr sz="2200" b="1" i="0">
                <a:solidFill>
                  <a:srgbClr val="1F2A37"/>
                </a:solidFill>
                <a:latin typeface="Calibri"/>
              </a:rPr>
              <a:t>0</a:t>
            </a:r>
            <a:r>
              <a:rPr sz="2200" b="0" i="0">
                <a:solidFill>
                  <a:srgbClr val="1F2A37"/>
                </a:solidFill>
                <a:latin typeface="Calibri"/>
              </a:rPr>
              <a:t>), Aufruf, Parameter, Rückgabe – Rückgaben von unten nach oben</a:t>
            </a:r>
            <a:r>
              <a:rPr sz="2200" b="0" i="0">
                <a:solidFill>
                  <a:srgbClr val="1F2A37"/>
                </a:solidFill>
                <a:latin typeface="Calibri"/>
              </a:rPr>
              <a:t/>
            </a:r>
          </a:p>
          <a:p>
            <a:pPr>
              <a:spcAft>
                <a:spcPts val="1000"/>
              </a:spcAft>
            </a:pPr>
            <a:r>
              <a:rPr sz="2200" b="1" i="0">
                <a:solidFill>
                  <a:srgbClr val="B8860B"/>
                </a:solidFill>
                <a:latin typeface="Calibri"/>
              </a:rPr>
              <a:t>▸ </a:t>
            </a:r>
            <a:r>
              <a:rPr sz="2200" b="0" i="0">
                <a:solidFill>
                  <a:srgbClr val="1F2A37"/>
                </a:solidFill>
                <a:latin typeface="Calibri"/>
              </a:rPr>
              <a:t>Baumrekursion: Aufrufbaum zeichnen, </a:t>
            </a:r>
            <a:r>
              <a:rPr sz="2200" b="1" i="0">
                <a:solidFill>
                  <a:srgbClr val="1F2A37"/>
                </a:solidFill>
                <a:latin typeface="Calibri"/>
              </a:rPr>
              <a:t>Knoten zählen</a:t>
            </a:r>
            <a:r>
              <a:rPr sz="2200" b="0" i="0">
                <a:solidFill>
                  <a:srgbClr val="1F2A37"/>
                </a:solidFill>
                <a:latin typeface="Calibri"/>
              </a:rPr>
              <a:t> = Aufrufe; links zuerst in die Tiefe</a:t>
            </a:r>
            <a:r>
              <a:rPr sz="2200" b="0" i="0">
                <a:solidFill>
                  <a:srgbClr val="1F2A37"/>
                </a:solidFill>
                <a:latin typeface="Calibri"/>
              </a:rPr>
              <a:t/>
            </a:r>
          </a:p>
        </p:txBody>
      </p:sp>
      <p:sp>
        <p:nvSpPr>
          <p:cNvPr id="7" name="TextBox 6"/>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5: Rekursion verstehen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Weltfarbe"/>
          <p:cNvSpPr/>
          <p:nvPr/>
        </p:nvSpPr>
        <p:spPr>
          <a:xfrm>
            <a:off x="0" y="0"/>
            <a:ext cx="201168" cy="6858000"/>
          </a:xfrm>
          <a:prstGeom prst="rect">
            <a:avLst/>
          </a:prstGeom>
          <a:solidFill>
            <a:srgbClr val="7030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0040"/>
            <a:ext cx="11094415" cy="731520"/>
          </a:xfrm>
          <a:prstGeom prst="rect">
            <a:avLst/>
          </a:prstGeom>
          <a:noFill/>
        </p:spPr>
        <p:txBody>
          <a:bodyPr wrap="square" anchor="ctr" lIns="45720" rIns="45720">
            <a:spAutoFit/>
          </a:bodyPr>
          <a:lstStyle/>
          <a:p>
            <a:r>
              <a:rPr sz="3200" b="1" i="0">
                <a:solidFill>
                  <a:srgbClr val="1F4E79"/>
                </a:solidFill>
                <a:latin typeface="Calibri"/>
              </a:rPr>
              <a:t>Weiter geht’s im Algo Quest Lab</a:t>
            </a:r>
          </a:p>
        </p:txBody>
      </p:sp>
      <p:sp>
        <p:nvSpPr>
          <p:cNvPr id="4" name="Goldlinie"/>
          <p:cNvSpPr/>
          <p:nvPr/>
        </p:nvSpPr>
        <p:spPr>
          <a:xfrm>
            <a:off x="548640" y="1078992"/>
            <a:ext cx="1463040" cy="54864"/>
          </a:xfrm>
          <a:prstGeom prst="rect">
            <a:avLst/>
          </a:prstGeom>
          <a:solidFill>
            <a:srgbClr val="B88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508760"/>
            <a:ext cx="7772400" cy="3200400"/>
          </a:xfrm>
          <a:prstGeom prst="rect">
            <a:avLst/>
          </a:prstGeom>
          <a:noFill/>
        </p:spPr>
        <p:txBody>
          <a:bodyPr wrap="square" anchor="t" lIns="45720" rIns="45720">
            <a:spAutoFit/>
          </a:bodyPr>
          <a:lstStyle/>
          <a:p>
            <a:pPr>
              <a:spcAft>
                <a:spcPts val="1200"/>
              </a:spcAft>
            </a:pPr>
            <a:r>
              <a:rPr sz="2200" b="1" i="0">
                <a:solidFill>
                  <a:srgbClr val="1F4E79"/>
                </a:solidFill>
                <a:latin typeface="Calibri"/>
              </a:rPr>
              <a:t>Lab: </a:t>
            </a:r>
            <a:r>
              <a:rPr sz="2200" b="0" i="0">
                <a:solidFill>
                  <a:srgbClr val="1F2A37"/>
                </a:solidFill>
                <a:latin typeface="Calibri"/>
              </a:rPr>
              <a:t>Level 3.1 „Spiegelsaal: Basisfall und Rekursionstabelle“ und Level 3.2 „Hydra: Aufrufbaum und Aufrufe zählen“</a:t>
            </a:r>
            <a:r>
              <a:rPr sz="2200" b="0" i="0">
                <a:solidFill>
                  <a:srgbClr val="1F2A37"/>
                </a:solidFill>
                <a:latin typeface="Calibri"/>
              </a:rPr>
              <a:t/>
            </a:r>
          </a:p>
          <a:p>
            <a:pPr>
              <a:spcAft>
                <a:spcPts val="1200"/>
              </a:spcAft>
            </a:pPr>
            <a:r>
              <a:rPr sz="2200" b="1" i="0">
                <a:solidFill>
                  <a:srgbClr val="1F4E79"/>
                </a:solidFill>
                <a:latin typeface="Calibri"/>
              </a:rPr>
              <a:t>Arbeitsblatt: </a:t>
            </a:r>
            <a:r>
              <a:rPr sz="2200" b="0" i="0">
                <a:solidFill>
                  <a:srgbClr val="1F2A37"/>
                </a:solidFill>
                <a:latin typeface="Calibri"/>
              </a:rPr>
              <a:t>AB W3·1 „Rekursion“</a:t>
            </a:r>
            <a:r>
              <a:rPr sz="2200" b="0" i="0">
                <a:solidFill>
                  <a:srgbClr val="1F2A37"/>
                </a:solidFill>
                <a:latin typeface="Calibri"/>
              </a:rPr>
              <a:t/>
            </a:r>
          </a:p>
          <a:p>
            <a:pPr>
              <a:spcAft>
                <a:spcPts val="1200"/>
              </a:spcAft>
            </a:pPr>
            <a:r>
              <a:rPr sz="2200" b="1" i="0">
                <a:solidFill>
                  <a:srgbClr val="1F4E79"/>
                </a:solidFill>
                <a:latin typeface="Calibri"/>
              </a:rPr>
              <a:t>Spickzettel: </a:t>
            </a:r>
            <a:r>
              <a:rPr sz="2200" b="0" i="0">
                <a:solidFill>
                  <a:srgbClr val="1F2A37"/>
                </a:solidFill>
                <a:latin typeface="Calibri"/>
              </a:rPr>
              <a:t>Werkzeugkarten (Rekursionstabelle, Struktogramm-Notation)</a:t>
            </a:r>
            <a:r>
              <a:rPr sz="2200" b="0" i="0">
                <a:solidFill>
                  <a:srgbClr val="1F2A37"/>
                </a:solidFill>
                <a:latin typeface="Calibri"/>
              </a:rPr>
              <a:t/>
            </a:r>
          </a:p>
          <a:p>
            <a:pPr>
              <a:spcAft>
                <a:spcPts val="1200"/>
              </a:spcAft>
            </a:pPr>
            <a:r>
              <a:rPr sz="2200" b="1" i="0">
                <a:solidFill>
                  <a:srgbClr val="1F4E79"/>
                </a:solidFill>
                <a:latin typeface="Calibri"/>
              </a:rPr>
              <a:t>Online: </a:t>
            </a:r>
            <a:r>
              <a:rPr sz="2200" b="0" i="0">
                <a:solidFill>
                  <a:srgbClr val="1F2A37"/>
                </a:solidFill>
                <a:latin typeface="Calibri"/>
              </a:rPr>
              <a:t>algoquest.frankjuchim.de/themen</a:t>
            </a:r>
            <a:r>
              <a:rPr sz="2200" b="0" i="0">
                <a:solidFill>
                  <a:srgbClr val="1F2A37"/>
                </a:solidFill>
                <a:latin typeface="Calibri"/>
              </a:rPr>
              <a:t/>
            </a:r>
          </a:p>
        </p:txBody>
      </p:sp>
      <p:sp>
        <p:nvSpPr>
          <p:cNvPr id="6" name="Rounded Rectangle 5"/>
          <p:cNvSpPr/>
          <p:nvPr/>
        </p:nvSpPr>
        <p:spPr>
          <a:xfrm>
            <a:off x="548640" y="4846320"/>
            <a:ext cx="7772400" cy="1188720"/>
          </a:xfrm>
          <a:prstGeom prst="roundRect">
            <a:avLst>
              <a:gd name="adj" fmla="val 8000"/>
            </a:avLst>
          </a:prstGeom>
          <a:solidFill>
            <a:srgbClr val="FFF4D6"/>
          </a:solidFill>
          <a:ln w="19050">
            <a:solidFill>
              <a:srgbClr val="B886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937760"/>
            <a:ext cx="7406640" cy="1005840"/>
          </a:xfrm>
          <a:prstGeom prst="rect">
            <a:avLst/>
          </a:prstGeom>
          <a:noFill/>
        </p:spPr>
        <p:txBody>
          <a:bodyPr wrap="square" anchor="ctr" lIns="45720" rIns="45720">
            <a:spAutoFit/>
          </a:bodyPr>
          <a:lstStyle/>
          <a:p>
            <a:r>
              <a:rPr sz="2000" b="1" i="0">
                <a:solidFill>
                  <a:srgbClr val="B8860B"/>
                </a:solidFill>
                <a:latin typeface="Calibri"/>
              </a:rPr>
              <a:t>Nächstes Video: </a:t>
            </a:r>
            <a:r>
              <a:rPr sz="2000" b="0" i="0">
                <a:solidFill>
                  <a:srgbClr val="1F2A37"/>
                </a:solidFill>
                <a:latin typeface="Calibri"/>
              </a:rPr>
              <a:t>Stapel und Schlange: Schnittstellen, Casts und Laufzeitfehler vermeiden</a:t>
            </a:r>
          </a:p>
        </p:txBody>
      </p:sp>
      <p:sp>
        <p:nvSpPr>
          <p:cNvPr id="8" name="TextBox 7"/>
          <p:cNvSpPr txBox="1"/>
          <p:nvPr/>
        </p:nvSpPr>
        <p:spPr>
          <a:xfrm>
            <a:off x="548640" y="6473952"/>
            <a:ext cx="5943600" cy="274320"/>
          </a:xfrm>
          <a:prstGeom prst="rect">
            <a:avLst/>
          </a:prstGeom>
          <a:noFill/>
        </p:spPr>
        <p:txBody>
          <a:bodyPr wrap="square" anchor="t" lIns="45720" rIns="45720">
            <a:spAutoFit/>
          </a:bodyPr>
          <a:lstStyle/>
          <a:p>
            <a:r>
              <a:rPr sz="1100" b="0" i="0">
                <a:solidFill>
                  <a:srgbClr val="7F7F7F"/>
                </a:solidFill>
                <a:latin typeface="Calibri"/>
              </a:rPr>
              <a:t>Algo Quest · Video 5: Rekursion verstehen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Rekursion verstehen</dc:title>
  <dc:subject/>
  <dc:creator>Algo Quest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