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Hallo und willkommen zum Endgegner der Algo Quest! Im Abitur gehen die meisten Punkte nicht verloren, weil jemand gar nichts weiß – sondern durch kleine, immer gleiche Fehler. In diesem Video schauen wir uns an, was die Operatoren von dir verlangen, wie du deine Zeit planst, und dann die zehn Fallen P1 bis P10 – jeweils mit einem kleinen Beispiel.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Teilaufgabe beginnt mit einem Operator, und der legt fest, was du liefern musst. Nennen oder Angeben heißt: kurz aufzählen, ohne Erklärung. Beschreiben heißt: in eigenen Worten, mit Fachsprache. Erläutern ist mehr: Du machst etwas verständlich – wie funktioniert es, warum – am besten mit einem Beispiel aus dem Material. Begründen heißt: auf eine Regel zurückführen, mit einer Weil-deshalb-Kette. Dokumentieren heißt: den Ablauf strukturiert festhalten, etwa in einer Tracetabelle. Implementieren heißt: in Java umsetzen, mit genau der vorgegebenen Signatur. Entwickeln heißt: einen Algorithmus selbst erarbeiten, oft als Struktogramm. Und Beurteilen verlangt ein eigenes Urteil – mit Kriterien und Begründung. Die Anforderungen steigen also: Nennen ist weniger als Beschreiben, Beschreiben weniger als Erläutern, und Begründen und Beurteilen verlangen am meisten. Unterstreiche den Operator beim Lesen – das kostet zwei Sekunden und spart Punkte.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Zur Zeit: Rechne mit zweieinhalb Minuten pro Bewertungseinheit. Eine Aufgabe mit vier BE bekommt also zehn Minuten, eine mit acht BE zwanzig. Für sechzig BE sind das hundertfünfzig Minuten reine Bearbeitungszeit. Schreib dir beim Einlesen neben jede Teilaufgabe ihre Zielzeit. Fang mit dem an, was du sicher kannst, und markiere Stellen, an denen du hängst. Und plane am Ende eine Reserve ein – für den Abi-Check, um den es jetzt geht. Ein Tipp noch: Wenn du bei einer Teilaufgabe deine Zielzeit deutlich überschreitest, mach einen Strich an den Rand und geh weiter. Spätere Teilaufgaben bauen oft gar nicht darauf auf, und am Ende kannst du zurückkommen.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sind die zehn Fallen, wie du sie aus dem Lab und von den Arbeitsblättern kennst. Die ersten sieben betreffen vor allem deinen Code, P8 und P9 die Notation – Tracetabelle und Struktogramm – und P10 die Textaufgaben. Wir gehen sie jetzt paarweise durch, immer mit einem Fehler und seiner Korrektur.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P1: Laufzeitfehler nicht ausgeschlossen. Ist die dynamische Reihung leer, greift getItem auf den Index minus eins zu – Absturz. Vor jedem Zugriff fragst du: Leer? Index gültig? Hier also zuerst isEmpty prüfen. Falle P2: Struktur zerstört statt unverändert. Die Summe stimmt, aber danach ist die Schlange leer. Steht in der Aufgabe unverändert, musst du die Werte in einer Hilfsschlange sammeln und am Ende zurückstellen. Das gilt genauso für Stapel und Bäume: vor top, pop, head, dequeue oder getItem immer erst die Leer-Abfrage.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P3: Signatur verfehlt. Verlangt ist eine Methode, die eine Ganzzahl zurückgibt. Hier steht void, und das Ergebnis wird nur ausgegeben. Ausgeben ist nicht zurückgeben! Übersetze den Kopf eins zu eins und prüfe, ob jeder Weg mit return endet. Falle P4: Typen und Casts. Die Klassen der Bibliothek Niedersachsen sind nicht generisch – pop liefert ein Object, also musst du auf Integer casten. Und charAt liefert ein Zeichen, kein Wort: Vergleiche mit A in einfachen Hochkommas. Übrigens auch typisch für P4: die ganzzahlige Division. Sieben durch zwei ist in Java drei, nicht drei Komma fünf.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P5: Zeichenketten. Erlaubt sind nur wenige Operationen: length, charAt, substring, equals, contains, compareTo und das Plus. endsWith gehört nicht dazu. Also: Länge prüfen, die letzten drei Zeichen mit substring holen und mit equals vergleichen. Und Zeichenketten nie mit doppeltem Gleichheitszeichen vergleichen – die Online-IDE verzeiht das, das Abitur nicht. Falle P6: Off-by-one. Die Schleife soll bis einschließlich b laufen. Mit kleiner statt kleiner gleich fehlt die letzte Zahl: Für drei bis sechs kommt zwölf heraus statt achtzehn. Teste Schleifengrenzen deshalb immer mit einem kleinen Beispiel: erster und letzter Wert.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P7: Rekursion. Oben fehlt der Basisfall – die Methode ruft sich endlos auf, bis der Speicher überläuft. Unten ist er da: Bei null Tagen gibt es ein Blatt. Ebenso wichtig: Das Ergebnis des rekursiven Aufrufs muss verwendet werden, hier mit plus drei. Und in der Rekursionstabelle beginnt die Tiefe beim Erstaufruf mit null: ranke von zwei hat Tiefe null und liefert sieben. Wenn du eine Rekursion schreibst, fang deshalb immer mit dem Basisfall an und frage dich: Was liefert der kleinste Fall?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P8: Tracetabelle unvollständig oder Konvention verletzt. Unsere Regel: nur Variablen, keine Spalte für die Bedingung, und eine Zeile genau an jeder markierten Stelle. Typische Fehler sind eine Spalte gold größer gleich zwölf oder die fehlende Startzeile. Richtig sind hier fünf Zeilen: Start mit fünfzig und null, dann achtunddreißig, sechsundzwanzig, vierzehn und zwei. Prüfe am Ende auch, ob die letzte Zeile zum Abbruch passt: Zwei ist kleiner als zwölf, die Schleife endet, tage ist vier.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P9: Struktogramm nicht nach EH Paragraf fünf. Ein häufiger Fehler: Man schreibt einfach Java in die Kästen – int, das Gleichheitszeichen, for mit i plus plus, plus gleich und return. Das ist sprachabhängig und kostet Punkte. Rechts die richtige Form: der Kopf mit Namen, Parametern und deutschen Typnamen, Zuweisung mit dem Pfeil, die Zählschleife für i von a bis b und am Ende gib s zurück. Mein Tipp: Lies dein fertiges Struktogramm einmal durch und suche nach Semikolons, doppelten Gleichheitszeichen oder plus plus.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Falle P10: Operator verfehlt. Beurteilen Sie, ob die korrigierte Methode für a größer b ein sinnvolles Ergebnis liefert. Ja, sie funktioniert – das ist ein Urteil ohne Begründung. Die Schleife läuft nicht, Rückgabe null – das ist nur beschrieben. Ein Urteil braucht ein Kriterium, eine Begründung am Code und dann das Urteil selbst: Ein leerer Bereich hat die Summe null. Für a größer b ist die Schleifenbedingung sofort falsch, s bleibt null. Also ist das Ergebnis sinnvoll. Genau diese drei Schritte bringen bei Beurteilen die volle Punktzahl.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In dieser kurzen Methode stecken drei Fallen. Halte das Video an, finde sie und nenne jeweils die P-Nummer. Kleiner Tipp: Denk auch an ungewöhnliche Eingaben.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Auflösung. Erstens P6: Die Schleife beginnt bei eins, das erste Wort wird nie geprüft. Richtig ist null. Zweitens P5: Zeichenketten vergleicht man mit equals. Drittens P1: Ist ein Wort leer, löst substring von null bis eins einen Laufzeitfehler aus. Deshalb zuerst prüfen, ob die Länge größer als null ist. Für Ork, Elf, Oger und Orakel mit dem Anfang O liefert die korrigierte Methode drei.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hier die Checkliste für deine Reserve-Zeit am Ende. Geh jede Implementierung durch: Leer? Index? Struktur unverändert? Stimmt die Signatur, endet jeder Weg mit return? Casts und equals? Bei Rekursion: Basisfall und Ergebnis verwendet? Bei Tabellen die Startzeile, beim Struktogramm kein Java. Und zuletzt: Hast du getan, was der Operator verlangt? Am besten ergänzt du die Liste um deine eigenen Top-3-Fehler aus der Generalprobe.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Lies jeden Operator genau – er bestimmt, wie viel du schreiben musst: Nennen ist kurz, Erläutern und Begründen brauchen Zusammenhänge, Beurteilen ein begründetes Urteil. Plane zweieinhalb Minuten pro BE und halte Reserve. Und kenne deine Fallen: Für jede gibt es eine einfache Gegenmaßnahme, und die Checkliste hilft dir, sie am Ende anzuwenden.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Im Lab findest du die Level sechs eins und sechs zwei, die Fallenjagd – dort trainierst du jede Falle mit sofortiger Rückmeldung. Das Arbeitsblatt Korrektur und Fehlerjagd und die Werkzeugkarte Abi-Check helfen dir zusätzlich. Und zum Wiederholen: Schau dir in der Playlist die Videos zu deinen drei häufigsten Fallen noch einmal an. Viel Erfolg im Abitur – du schaffst das!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8</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Abi-Check: die 10 Fallen</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Operatoren, Zeitplanung und die Fallen P1–P10 – damit du keine BE verschenkst</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7A1F2B"/>
                </a:solidFill>
                <a:latin typeface="Calibri"/>
              </a:rPr>
              <a:t>Welt 6 · Der Endgegner</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Operatoren: Was wird erwartet?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7772400" cy="3474720"/>
        </p:xfrm>
        <a:graphic>
          <a:graphicData uri="http://schemas.openxmlformats.org/drawingml/2006/table">
            <a:tbl>
              <a:tblPr firstRow="1" bandRow="1">
                <a:tableStyleId>{5C22544A-7EE6-4342-B048-85BDC9FD1C3A}</a:tableStyleId>
              </a:tblPr>
              <a:tblGrid>
                <a:gridCol w="3017520"/>
                <a:gridCol w="4754880"/>
              </a:tblGrid>
              <a:tr h="386080">
                <a:tc>
                  <a:txBody>
                    <a:bodyPr/>
                    <a:lstStyle/>
                    <a:p>
                      <a:pPr algn="ctr"/>
                      <a:r>
                        <a:rPr sz="1600" b="1">
                          <a:solidFill>
                            <a:srgbClr val="FFFFFF"/>
                          </a:solidFill>
                          <a:latin typeface="Calibri"/>
                        </a:rPr>
                        <a:t>Operator</a:t>
                      </a:r>
                    </a:p>
                  </a:txBody>
                  <a:tcPr marL="54864" marR="54864" marT="18288" marB="18288" anchor="ctr">
                    <a:solidFill>
                      <a:srgbClr val="1F4E79"/>
                    </a:solidFill>
                  </a:tcPr>
                </a:tc>
                <a:tc>
                  <a:txBody>
                    <a:bodyPr/>
                    <a:lstStyle/>
                    <a:p>
                      <a:pPr algn="ctr"/>
                      <a:r>
                        <a:rPr sz="1600" b="1">
                          <a:solidFill>
                            <a:srgbClr val="FFFFFF"/>
                          </a:solidFill>
                          <a:latin typeface="Calibri"/>
                        </a:rPr>
                        <a:t>Was du lieferst</a:t>
                      </a:r>
                    </a:p>
                  </a:txBody>
                  <a:tcPr marL="54864" marR="54864" marT="18288" marB="18288" anchor="ctr">
                    <a:solidFill>
                      <a:srgbClr val="1F4E79"/>
                    </a:solidFill>
                  </a:tcPr>
                </a:tc>
              </a:tr>
              <a:tr h="386080">
                <a:tc>
                  <a:txBody>
                    <a:bodyPr/>
                    <a:lstStyle/>
                    <a:p>
                      <a:pPr algn="ctr"/>
                      <a:r>
                        <a:rPr sz="1600" b="0">
                          <a:solidFill>
                            <a:srgbClr val="1F2A37"/>
                          </a:solidFill>
                          <a:latin typeface="Consolas"/>
                        </a:rPr>
                        <a:t>Nennen / Geben Sie an</a:t>
                      </a:r>
                    </a:p>
                  </a:txBody>
                  <a:tcPr marL="54864" marR="54864" marT="18288" marB="18288" anchor="ctr">
                    <a:solidFill>
                      <a:srgbClr val="FFFFFF"/>
                    </a:solidFill>
                  </a:tcPr>
                </a:tc>
                <a:tc>
                  <a:txBody>
                    <a:bodyPr/>
                    <a:lstStyle/>
                    <a:p>
                      <a:pPr algn="ctr"/>
                      <a:r>
                        <a:rPr sz="1600" b="0">
                          <a:solidFill>
                            <a:srgbClr val="1F2A37"/>
                          </a:solidFill>
                          <a:latin typeface="Consolas"/>
                        </a:rPr>
                        <a:t>kurz aufzählen, ohne Erläuterung</a:t>
                      </a:r>
                    </a:p>
                  </a:txBody>
                  <a:tcPr marL="54864" marR="54864" marT="18288" marB="18288" anchor="ctr">
                    <a:solidFill>
                      <a:srgbClr val="FFFFFF"/>
                    </a:solidFill>
                  </a:tcPr>
                </a:tc>
              </a:tr>
              <a:tr h="386080">
                <a:tc>
                  <a:txBody>
                    <a:bodyPr/>
                    <a:lstStyle/>
                    <a:p>
                      <a:pPr algn="ctr"/>
                      <a:r>
                        <a:rPr sz="1600" b="0">
                          <a:solidFill>
                            <a:srgbClr val="1F2A37"/>
                          </a:solidFill>
                          <a:latin typeface="Consolas"/>
                        </a:rPr>
                        <a:t>Beschreiben Sie</a:t>
                      </a:r>
                    </a:p>
                  </a:txBody>
                  <a:tcPr marL="54864" marR="54864" marT="18288" marB="18288" anchor="ctr">
                    <a:solidFill>
                      <a:srgbClr val="EEF3FA"/>
                    </a:solidFill>
                  </a:tcPr>
                </a:tc>
                <a:tc>
                  <a:txBody>
                    <a:bodyPr/>
                    <a:lstStyle/>
                    <a:p>
                      <a:pPr algn="ctr"/>
                      <a:r>
                        <a:rPr sz="1600" b="0">
                          <a:solidFill>
                            <a:srgbClr val="1F2A37"/>
                          </a:solidFill>
                          <a:latin typeface="Consolas"/>
                        </a:rPr>
                        <a:t>mit eigenen Worten, Fachsprache</a:t>
                      </a:r>
                    </a:p>
                  </a:txBody>
                  <a:tcPr marL="54864" marR="54864" marT="18288" marB="18288" anchor="ctr">
                    <a:solidFill>
                      <a:srgbClr val="EEF3FA"/>
                    </a:solidFill>
                  </a:tcPr>
                </a:tc>
              </a:tr>
              <a:tr h="386080">
                <a:tc>
                  <a:txBody>
                    <a:bodyPr/>
                    <a:lstStyle/>
                    <a:p>
                      <a:pPr algn="ctr"/>
                      <a:r>
                        <a:rPr sz="1600" b="0">
                          <a:solidFill>
                            <a:srgbClr val="1F2A37"/>
                          </a:solidFill>
                          <a:latin typeface="Consolas"/>
                        </a:rPr>
                        <a:t>Erläutern Sie</a:t>
                      </a:r>
                    </a:p>
                  </a:txBody>
                  <a:tcPr marL="54864" marR="54864" marT="18288" marB="18288" anchor="ctr">
                    <a:solidFill>
                      <a:srgbClr val="FFFFFF"/>
                    </a:solidFill>
                  </a:tcPr>
                </a:tc>
                <a:tc>
                  <a:txBody>
                    <a:bodyPr/>
                    <a:lstStyle/>
                    <a:p>
                      <a:pPr algn="ctr"/>
                      <a:r>
                        <a:rPr sz="1600" b="0">
                          <a:solidFill>
                            <a:srgbClr val="1F2A37"/>
                          </a:solidFill>
                          <a:latin typeface="Consolas"/>
                        </a:rPr>
                        <a:t>Wie? Warum? + Beispiel</a:t>
                      </a:r>
                    </a:p>
                  </a:txBody>
                  <a:tcPr marL="54864" marR="54864" marT="18288" marB="18288" anchor="ctr">
                    <a:solidFill>
                      <a:srgbClr val="FFFFFF"/>
                    </a:solidFill>
                  </a:tcPr>
                </a:tc>
              </a:tr>
              <a:tr h="386080">
                <a:tc>
                  <a:txBody>
                    <a:bodyPr/>
                    <a:lstStyle/>
                    <a:p>
                      <a:pPr algn="ctr"/>
                      <a:r>
                        <a:rPr sz="1600" b="0">
                          <a:solidFill>
                            <a:srgbClr val="1F2A37"/>
                          </a:solidFill>
                          <a:latin typeface="Consolas"/>
                        </a:rPr>
                        <a:t>Begründen Sie</a:t>
                      </a:r>
                    </a:p>
                  </a:txBody>
                  <a:tcPr marL="54864" marR="54864" marT="18288" marB="18288" anchor="ctr">
                    <a:solidFill>
                      <a:srgbClr val="EEF3FA"/>
                    </a:solidFill>
                  </a:tcPr>
                </a:tc>
                <a:tc>
                  <a:txBody>
                    <a:bodyPr/>
                    <a:lstStyle/>
                    <a:p>
                      <a:pPr algn="ctr"/>
                      <a:r>
                        <a:rPr sz="1600" b="0">
                          <a:solidFill>
                            <a:srgbClr val="1F2A37"/>
                          </a:solidFill>
                          <a:latin typeface="Consolas"/>
                        </a:rPr>
                        <a:t>„weil …, deshalb …“ bis zur Regel</a:t>
                      </a:r>
                    </a:p>
                  </a:txBody>
                  <a:tcPr marL="54864" marR="54864" marT="18288" marB="18288" anchor="ctr">
                    <a:solidFill>
                      <a:srgbClr val="EEF3FA"/>
                    </a:solidFill>
                  </a:tcPr>
                </a:tc>
              </a:tr>
              <a:tr h="386080">
                <a:tc>
                  <a:txBody>
                    <a:bodyPr/>
                    <a:lstStyle/>
                    <a:p>
                      <a:pPr algn="ctr"/>
                      <a:r>
                        <a:rPr sz="1600" b="0">
                          <a:solidFill>
                            <a:srgbClr val="1F2A37"/>
                          </a:solidFill>
                          <a:latin typeface="Consolas"/>
                        </a:rPr>
                        <a:t>Dokumentieren Sie</a:t>
                      </a:r>
                    </a:p>
                  </a:txBody>
                  <a:tcPr marL="54864" marR="54864" marT="18288" marB="18288" anchor="ctr">
                    <a:solidFill>
                      <a:srgbClr val="FFFFFF"/>
                    </a:solidFill>
                  </a:tcPr>
                </a:tc>
                <a:tc>
                  <a:txBody>
                    <a:bodyPr/>
                    <a:lstStyle/>
                    <a:p>
                      <a:pPr algn="ctr"/>
                      <a:r>
                        <a:rPr sz="1600" b="0">
                          <a:solidFill>
                            <a:srgbClr val="1F2A37"/>
                          </a:solidFill>
                          <a:latin typeface="Consolas"/>
                        </a:rPr>
                        <a:t>Ablauf festhalten, z. B. Tabelle</a:t>
                      </a:r>
                    </a:p>
                  </a:txBody>
                  <a:tcPr marL="54864" marR="54864" marT="18288" marB="18288" anchor="ctr">
                    <a:solidFill>
                      <a:srgbClr val="FFFFFF"/>
                    </a:solidFill>
                  </a:tcPr>
                </a:tc>
              </a:tr>
              <a:tr h="386080">
                <a:tc>
                  <a:txBody>
                    <a:bodyPr/>
                    <a:lstStyle/>
                    <a:p>
                      <a:pPr algn="ctr"/>
                      <a:r>
                        <a:rPr sz="1600" b="0">
                          <a:solidFill>
                            <a:srgbClr val="1F2A37"/>
                          </a:solidFill>
                          <a:latin typeface="Consolas"/>
                        </a:rPr>
                        <a:t>Implementieren Sie</a:t>
                      </a:r>
                    </a:p>
                  </a:txBody>
                  <a:tcPr marL="54864" marR="54864" marT="18288" marB="18288" anchor="ctr">
                    <a:solidFill>
                      <a:srgbClr val="EEF3FA"/>
                    </a:solidFill>
                  </a:tcPr>
                </a:tc>
                <a:tc>
                  <a:txBody>
                    <a:bodyPr/>
                    <a:lstStyle/>
                    <a:p>
                      <a:pPr algn="ctr"/>
                      <a:r>
                        <a:rPr sz="1600" b="0">
                          <a:solidFill>
                            <a:srgbClr val="1F2A37"/>
                          </a:solidFill>
                          <a:latin typeface="Consolas"/>
                        </a:rPr>
                        <a:t>Java – Signatur exakt</a:t>
                      </a:r>
                    </a:p>
                  </a:txBody>
                  <a:tcPr marL="54864" marR="54864" marT="18288" marB="18288" anchor="ctr">
                    <a:solidFill>
                      <a:srgbClr val="EEF3FA"/>
                    </a:solidFill>
                  </a:tcPr>
                </a:tc>
              </a:tr>
              <a:tr h="386080">
                <a:tc>
                  <a:txBody>
                    <a:bodyPr/>
                    <a:lstStyle/>
                    <a:p>
                      <a:pPr algn="ctr"/>
                      <a:r>
                        <a:rPr sz="1600" b="0">
                          <a:solidFill>
                            <a:srgbClr val="1F2A37"/>
                          </a:solidFill>
                          <a:latin typeface="Consolas"/>
                        </a:rPr>
                        <a:t>Entwickeln Sie</a:t>
                      </a:r>
                    </a:p>
                  </a:txBody>
                  <a:tcPr marL="54864" marR="54864" marT="18288" marB="18288" anchor="ctr">
                    <a:solidFill>
                      <a:srgbClr val="FFFFFF"/>
                    </a:solidFill>
                  </a:tcPr>
                </a:tc>
                <a:tc>
                  <a:txBody>
                    <a:bodyPr/>
                    <a:lstStyle/>
                    <a:p>
                      <a:pPr algn="ctr"/>
                      <a:r>
                        <a:rPr sz="1600" b="0">
                          <a:solidFill>
                            <a:srgbClr val="1F2A37"/>
                          </a:solidFill>
                          <a:latin typeface="Consolas"/>
                        </a:rPr>
                        <a:t>selbst erarbeiten, z. B. Struktogramm</a:t>
                      </a:r>
                    </a:p>
                  </a:txBody>
                  <a:tcPr marL="54864" marR="54864" marT="18288" marB="18288" anchor="ctr">
                    <a:solidFill>
                      <a:srgbClr val="FFFFFF"/>
                    </a:solidFill>
                  </a:tcPr>
                </a:tc>
              </a:tr>
              <a:tr h="386080">
                <a:tc>
                  <a:txBody>
                    <a:bodyPr/>
                    <a:lstStyle/>
                    <a:p>
                      <a:pPr algn="ctr"/>
                      <a:r>
                        <a:rPr sz="1600" b="0">
                          <a:solidFill>
                            <a:srgbClr val="1F2A37"/>
                          </a:solidFill>
                          <a:latin typeface="Consolas"/>
                        </a:rPr>
                        <a:t>Beurteilen Sie</a:t>
                      </a:r>
                    </a:p>
                  </a:txBody>
                  <a:tcPr marL="54864" marR="54864" marT="18288" marB="18288" anchor="ctr">
                    <a:solidFill>
                      <a:srgbClr val="EEF3FA"/>
                    </a:solidFill>
                  </a:tcPr>
                </a:tc>
                <a:tc>
                  <a:txBody>
                    <a:bodyPr/>
                    <a:lstStyle/>
                    <a:p>
                      <a:pPr algn="ctr"/>
                      <a:r>
                        <a:rPr sz="1600" b="0">
                          <a:solidFill>
                            <a:srgbClr val="1F2A37"/>
                          </a:solidFill>
                          <a:latin typeface="Consolas"/>
                        </a:rPr>
                        <a:t>Kriterien → Begründung → Urteil</a:t>
                      </a:r>
                    </a:p>
                  </a:txBody>
                  <a:tcPr marL="54864" marR="54864" marT="18288" marB="18288" anchor="ctr">
                    <a:solidFill>
                      <a:srgbClr val="EEF3FA"/>
                    </a:solidFill>
                  </a:tcPr>
                </a:tc>
              </a:tr>
            </a:tbl>
          </a:graphicData>
        </a:graphic>
      </p:graphicFrame>
      <p:sp>
        <p:nvSpPr>
          <p:cNvPr id="6" name="TextBox 5"/>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Zeitplanung: 2,5 Minuten je BE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Faustregel: </a:t>
            </a:r>
            <a:r>
              <a:rPr sz="2400" b="1" i="0">
                <a:solidFill>
                  <a:srgbClr val="1F2A37"/>
                </a:solidFill>
                <a:latin typeface="Calibri"/>
              </a:rPr>
              <a:t>2,5 min je BE</a:t>
            </a:r>
            <a:r>
              <a:rPr sz="2400" b="0" i="0">
                <a:solidFill>
                  <a:srgbClr val="1F2A37"/>
                </a:solidFill>
                <a:latin typeface="Calibri"/>
              </a:rPr>
              <a:t/>
            </a:r>
          </a:p>
          <a:p>
            <a:pPr>
              <a:spcAft>
                <a:spcPts val="1000"/>
              </a:spcAft>
            </a:pPr>
            <a:r>
              <a:rPr sz="2400" b="1" i="0">
                <a:solidFill>
                  <a:srgbClr val="7F7F7F"/>
                </a:solidFill>
                <a:latin typeface="Calibri"/>
              </a:rPr>
              <a:t>      – </a:t>
            </a:r>
            <a:r>
              <a:rPr sz="2100" b="0" i="0">
                <a:solidFill>
                  <a:srgbClr val="1F2A37"/>
                </a:solidFill>
                <a:latin typeface="Calibri"/>
              </a:rPr>
              <a:t>4 BE → 10 min · 8 BE → 20 min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60 BE × 2,5 min = </a:t>
            </a:r>
            <a:r>
              <a:rPr sz="2400" b="1" i="0">
                <a:solidFill>
                  <a:srgbClr val="1F2A37"/>
                </a:solidFill>
                <a:latin typeface="Calibri"/>
              </a:rPr>
              <a:t>150 min</a:t>
            </a:r>
            <a:r>
              <a:rPr sz="2400" b="0" i="0">
                <a:solidFill>
                  <a:srgbClr val="1F2A37"/>
                </a:solidFill>
                <a:latin typeface="Calibri"/>
              </a:rPr>
              <a:t> reine Bearbeitungszeit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Beim Einlesen: </a:t>
            </a:r>
            <a:r>
              <a:rPr sz="2400" b="1" i="0">
                <a:solidFill>
                  <a:srgbClr val="1F2A37"/>
                </a:solidFill>
                <a:latin typeface="Calibri"/>
              </a:rPr>
              <a:t>Zielzeit</a:t>
            </a:r>
            <a:r>
              <a:rPr sz="2400" b="0" i="0">
                <a:solidFill>
                  <a:srgbClr val="1F2A37"/>
                </a:solidFill>
                <a:latin typeface="Calibri"/>
              </a:rPr>
              <a:t> neben jede Teilaufgabe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Sicheres zuerst, Hänger markieren</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Reserve</a:t>
            </a:r>
            <a:r>
              <a:rPr sz="2400" b="0" i="0">
                <a:solidFill>
                  <a:srgbClr val="1F2A37"/>
                </a:solidFill>
                <a:latin typeface="Calibri"/>
              </a:rPr>
              <a:t> für den Abi-Check am Ende</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Strategie</a:t>
            </a:r>
            <a:r>
              <a:rPr sz="2000" b="0" i="0">
                <a:solidFill>
                  <a:srgbClr val="1F2A37"/>
                </a:solidFill>
                <a:latin typeface="Calibri"/>
              </a:rPr>
              <a:t/>
            </a:r>
          </a:p>
          <a:p>
            <a:pPr>
              <a:spcAft>
                <a:spcPts val="600"/>
              </a:spcAft>
            </a:pPr>
            <a:r>
              <a:rPr sz="2000" b="0" i="0">
                <a:solidFill>
                  <a:srgbClr val="1F2A37"/>
                </a:solidFill>
                <a:latin typeface="Calibri"/>
              </a:rPr>
              <a:t>1. Überfliegen</a:t>
            </a:r>
            <a:r>
              <a:rPr sz="2000" b="0" i="0">
                <a:solidFill>
                  <a:srgbClr val="1F2A37"/>
                </a:solidFill>
                <a:latin typeface="Calibri"/>
              </a:rPr>
              <a:t/>
            </a:r>
          </a:p>
          <a:p>
            <a:pPr>
              <a:spcAft>
                <a:spcPts val="600"/>
              </a:spcAft>
            </a:pPr>
            <a:r>
              <a:rPr sz="2000" b="0" i="0">
                <a:solidFill>
                  <a:srgbClr val="1F2A37"/>
                </a:solidFill>
                <a:latin typeface="Calibri"/>
              </a:rPr>
              <a:t>2. Material markieren</a:t>
            </a:r>
            <a:r>
              <a:rPr sz="2000" b="0" i="0">
                <a:solidFill>
                  <a:srgbClr val="1F2A37"/>
                </a:solidFill>
                <a:latin typeface="Calibri"/>
              </a:rPr>
              <a:t/>
            </a:r>
          </a:p>
          <a:p>
            <a:pPr>
              <a:spcAft>
                <a:spcPts val="600"/>
              </a:spcAft>
            </a:pPr>
            <a:r>
              <a:rPr sz="2000" b="0" i="0">
                <a:solidFill>
                  <a:srgbClr val="1F2A37"/>
                </a:solidFill>
                <a:latin typeface="Calibri"/>
              </a:rPr>
              <a:t>3. BE-Plan</a:t>
            </a:r>
            <a:r>
              <a:rPr sz="2000" b="0" i="0">
                <a:solidFill>
                  <a:srgbClr val="1F2A37"/>
                </a:solidFill>
                <a:latin typeface="Calibri"/>
              </a:rPr>
              <a:t/>
            </a:r>
          </a:p>
          <a:p>
            <a:pPr>
              <a:spcAft>
                <a:spcPts val="600"/>
              </a:spcAft>
            </a:pPr>
            <a:r>
              <a:rPr sz="2000" b="0" i="0">
                <a:solidFill>
                  <a:srgbClr val="1F2A37"/>
                </a:solidFill>
                <a:latin typeface="Calibri"/>
              </a:rPr>
              <a:t>4. Reserve: Abi-Check</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zehn Fallen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7772400" cy="4246880"/>
        </p:xfrm>
        <a:graphic>
          <a:graphicData uri="http://schemas.openxmlformats.org/drawingml/2006/table">
            <a:tbl>
              <a:tblPr firstRow="1" bandRow="1">
                <a:tableStyleId>{5C22544A-7EE6-4342-B048-85BDC9FD1C3A}</a:tableStyleId>
              </a:tblPr>
              <a:tblGrid>
                <a:gridCol w="731520"/>
                <a:gridCol w="7040880"/>
              </a:tblGrid>
              <a:tr h="386080">
                <a:tc>
                  <a:txBody>
                    <a:bodyPr/>
                    <a:lstStyle/>
                    <a:p>
                      <a:pPr algn="ctr"/>
                      <a:r>
                        <a:rPr sz="1600" b="1">
                          <a:solidFill>
                            <a:srgbClr val="FFFFFF"/>
                          </a:solidFill>
                          <a:latin typeface="Calibri"/>
                        </a:rPr>
                        <a:t/>
                      </a:r>
                    </a:p>
                  </a:txBody>
                  <a:tcPr marL="54864" marR="54864" marT="18288" marB="18288" anchor="ctr">
                    <a:solidFill>
                      <a:srgbClr val="1F4E79"/>
                    </a:solidFill>
                  </a:tcPr>
                </a:tc>
                <a:tc>
                  <a:txBody>
                    <a:bodyPr/>
                    <a:lstStyle/>
                    <a:p>
                      <a:pPr algn="ctr"/>
                      <a:r>
                        <a:rPr sz="1600" b="1">
                          <a:solidFill>
                            <a:srgbClr val="FFFFFF"/>
                          </a:solidFill>
                          <a:latin typeface="Calibri"/>
                        </a:rPr>
                        <a:t>Falle</a:t>
                      </a:r>
                    </a:p>
                  </a:txBody>
                  <a:tcPr marL="54864" marR="54864" marT="18288" marB="18288" anchor="ctr">
                    <a:solidFill>
                      <a:srgbClr val="1F4E79"/>
                    </a:solidFill>
                  </a:tcPr>
                </a:tc>
              </a:tr>
              <a:tr h="386080">
                <a:tc>
                  <a:txBody>
                    <a:bodyPr/>
                    <a:lstStyle/>
                    <a:p>
                      <a:pPr algn="ctr"/>
                      <a:r>
                        <a:rPr sz="1600" b="0">
                          <a:solidFill>
                            <a:srgbClr val="1F2A37"/>
                          </a:solidFill>
                          <a:latin typeface="Consolas"/>
                        </a:rPr>
                        <a:t>P1</a:t>
                      </a:r>
                    </a:p>
                  </a:txBody>
                  <a:tcPr marL="54864" marR="54864" marT="18288" marB="18288" anchor="ctr">
                    <a:solidFill>
                      <a:srgbClr val="FFFFFF"/>
                    </a:solidFill>
                  </a:tcPr>
                </a:tc>
                <a:tc>
                  <a:txBody>
                    <a:bodyPr/>
                    <a:lstStyle/>
                    <a:p>
                      <a:pPr algn="ctr"/>
                      <a:r>
                        <a:rPr sz="1600" b="0">
                          <a:solidFill>
                            <a:srgbClr val="1F2A37"/>
                          </a:solidFill>
                          <a:latin typeface="Consolas"/>
                        </a:rPr>
                        <a:t>Laufzeitfehler nicht ausgeschlossen</a:t>
                      </a:r>
                    </a:p>
                  </a:txBody>
                  <a:tcPr marL="54864" marR="54864" marT="18288" marB="18288" anchor="ctr">
                    <a:solidFill>
                      <a:srgbClr val="FFFFFF"/>
                    </a:solidFill>
                  </a:tcPr>
                </a:tc>
              </a:tr>
              <a:tr h="386080">
                <a:tc>
                  <a:txBody>
                    <a:bodyPr/>
                    <a:lstStyle/>
                    <a:p>
                      <a:pPr algn="ctr"/>
                      <a:r>
                        <a:rPr sz="1600" b="0">
                          <a:solidFill>
                            <a:srgbClr val="1F2A37"/>
                          </a:solidFill>
                          <a:latin typeface="Consolas"/>
                        </a:rPr>
                        <a:t>P2</a:t>
                      </a:r>
                    </a:p>
                  </a:txBody>
                  <a:tcPr marL="54864" marR="54864" marT="18288" marB="18288" anchor="ctr">
                    <a:solidFill>
                      <a:srgbClr val="EEF3FA"/>
                    </a:solidFill>
                  </a:tcPr>
                </a:tc>
                <a:tc>
                  <a:txBody>
                    <a:bodyPr/>
                    <a:lstStyle/>
                    <a:p>
                      <a:pPr algn="ctr"/>
                      <a:r>
                        <a:rPr sz="1600" b="0">
                          <a:solidFill>
                            <a:srgbClr val="1F2A37"/>
                          </a:solidFill>
                          <a:latin typeface="Consolas"/>
                        </a:rPr>
                        <a:t>Struktur zerstört statt unverändert</a:t>
                      </a:r>
                    </a:p>
                  </a:txBody>
                  <a:tcPr marL="54864" marR="54864" marT="18288" marB="18288" anchor="ctr">
                    <a:solidFill>
                      <a:srgbClr val="EEF3FA"/>
                    </a:solidFill>
                  </a:tcPr>
                </a:tc>
              </a:tr>
              <a:tr h="386080">
                <a:tc>
                  <a:txBody>
                    <a:bodyPr/>
                    <a:lstStyle/>
                    <a:p>
                      <a:pPr algn="ctr"/>
                      <a:r>
                        <a:rPr sz="1600" b="0">
                          <a:solidFill>
                            <a:srgbClr val="1F2A37"/>
                          </a:solidFill>
                          <a:latin typeface="Consolas"/>
                        </a:rPr>
                        <a:t>P3</a:t>
                      </a:r>
                    </a:p>
                  </a:txBody>
                  <a:tcPr marL="54864" marR="54864" marT="18288" marB="18288" anchor="ctr">
                    <a:solidFill>
                      <a:srgbClr val="FFFFFF"/>
                    </a:solidFill>
                  </a:tcPr>
                </a:tc>
                <a:tc>
                  <a:txBody>
                    <a:bodyPr/>
                    <a:lstStyle/>
                    <a:p>
                      <a:pPr algn="ctr"/>
                      <a:r>
                        <a:rPr sz="1600" b="0">
                          <a:solidFill>
                            <a:srgbClr val="1F2A37"/>
                          </a:solidFill>
                          <a:latin typeface="Consolas"/>
                        </a:rPr>
                        <a:t>Signatur verfehlt</a:t>
                      </a:r>
                    </a:p>
                  </a:txBody>
                  <a:tcPr marL="54864" marR="54864" marT="18288" marB="18288" anchor="ctr">
                    <a:solidFill>
                      <a:srgbClr val="FFFFFF"/>
                    </a:solidFill>
                  </a:tcPr>
                </a:tc>
              </a:tr>
              <a:tr h="386080">
                <a:tc>
                  <a:txBody>
                    <a:bodyPr/>
                    <a:lstStyle/>
                    <a:p>
                      <a:pPr algn="ctr"/>
                      <a:r>
                        <a:rPr sz="1600" b="0">
                          <a:solidFill>
                            <a:srgbClr val="1F2A37"/>
                          </a:solidFill>
                          <a:latin typeface="Consolas"/>
                        </a:rPr>
                        <a:t>P4</a:t>
                      </a:r>
                    </a:p>
                  </a:txBody>
                  <a:tcPr marL="54864" marR="54864" marT="18288" marB="18288" anchor="ctr">
                    <a:solidFill>
                      <a:srgbClr val="EEF3FA"/>
                    </a:solidFill>
                  </a:tcPr>
                </a:tc>
                <a:tc>
                  <a:txBody>
                    <a:bodyPr/>
                    <a:lstStyle/>
                    <a:p>
                      <a:pPr algn="ctr"/>
                      <a:r>
                        <a:rPr sz="1600" b="0">
                          <a:solidFill>
                            <a:srgbClr val="1F2A37"/>
                          </a:solidFill>
                          <a:latin typeface="Consolas"/>
                        </a:rPr>
                        <a:t>Typen und Casts</a:t>
                      </a:r>
                    </a:p>
                  </a:txBody>
                  <a:tcPr marL="54864" marR="54864" marT="18288" marB="18288" anchor="ctr">
                    <a:solidFill>
                      <a:srgbClr val="EEF3FA"/>
                    </a:solidFill>
                  </a:tcPr>
                </a:tc>
              </a:tr>
              <a:tr h="386080">
                <a:tc>
                  <a:txBody>
                    <a:bodyPr/>
                    <a:lstStyle/>
                    <a:p>
                      <a:pPr algn="ctr"/>
                      <a:r>
                        <a:rPr sz="1600" b="0">
                          <a:solidFill>
                            <a:srgbClr val="1F2A37"/>
                          </a:solidFill>
                          <a:latin typeface="Consolas"/>
                        </a:rPr>
                        <a:t>P5</a:t>
                      </a:r>
                    </a:p>
                  </a:txBody>
                  <a:tcPr marL="54864" marR="54864" marT="18288" marB="18288" anchor="ctr">
                    <a:solidFill>
                      <a:srgbClr val="FFFFFF"/>
                    </a:solidFill>
                  </a:tcPr>
                </a:tc>
                <a:tc>
                  <a:txBody>
                    <a:bodyPr/>
                    <a:lstStyle/>
                    <a:p>
                      <a:pPr algn="ctr"/>
                      <a:r>
                        <a:rPr sz="1600" b="0">
                          <a:solidFill>
                            <a:srgbClr val="1F2A37"/>
                          </a:solidFill>
                          <a:latin typeface="Consolas"/>
                        </a:rPr>
                        <a:t>Zeichenketten mit == statt equals / unerlaubte Operationen</a:t>
                      </a:r>
                    </a:p>
                  </a:txBody>
                  <a:tcPr marL="54864" marR="54864" marT="18288" marB="18288" anchor="ctr">
                    <a:solidFill>
                      <a:srgbClr val="FFFFFF"/>
                    </a:solidFill>
                  </a:tcPr>
                </a:tc>
              </a:tr>
              <a:tr h="386080">
                <a:tc>
                  <a:txBody>
                    <a:bodyPr/>
                    <a:lstStyle/>
                    <a:p>
                      <a:pPr algn="ctr"/>
                      <a:r>
                        <a:rPr sz="1600" b="0">
                          <a:solidFill>
                            <a:srgbClr val="1F2A37"/>
                          </a:solidFill>
                          <a:latin typeface="Consolas"/>
                        </a:rPr>
                        <a:t>P6</a:t>
                      </a:r>
                    </a:p>
                  </a:txBody>
                  <a:tcPr marL="54864" marR="54864" marT="18288" marB="18288" anchor="ctr">
                    <a:solidFill>
                      <a:srgbClr val="EEF3FA"/>
                    </a:solidFill>
                  </a:tcPr>
                </a:tc>
                <a:tc>
                  <a:txBody>
                    <a:bodyPr/>
                    <a:lstStyle/>
                    <a:p>
                      <a:pPr algn="ctr"/>
                      <a:r>
                        <a:rPr sz="1600" b="0">
                          <a:solidFill>
                            <a:srgbClr val="1F2A37"/>
                          </a:solidFill>
                          <a:latin typeface="Consolas"/>
                        </a:rPr>
                        <a:t>Off-by-one</a:t>
                      </a:r>
                    </a:p>
                  </a:txBody>
                  <a:tcPr marL="54864" marR="54864" marT="18288" marB="18288" anchor="ctr">
                    <a:solidFill>
                      <a:srgbClr val="EEF3FA"/>
                    </a:solidFill>
                  </a:tcPr>
                </a:tc>
              </a:tr>
              <a:tr h="386080">
                <a:tc>
                  <a:txBody>
                    <a:bodyPr/>
                    <a:lstStyle/>
                    <a:p>
                      <a:pPr algn="ctr"/>
                      <a:r>
                        <a:rPr sz="1600" b="0">
                          <a:solidFill>
                            <a:srgbClr val="1F2A37"/>
                          </a:solidFill>
                          <a:latin typeface="Consolas"/>
                        </a:rPr>
                        <a:t>P7</a:t>
                      </a:r>
                    </a:p>
                  </a:txBody>
                  <a:tcPr marL="54864" marR="54864" marT="18288" marB="18288" anchor="ctr">
                    <a:solidFill>
                      <a:srgbClr val="FFFFFF"/>
                    </a:solidFill>
                  </a:tcPr>
                </a:tc>
                <a:tc>
                  <a:txBody>
                    <a:bodyPr/>
                    <a:lstStyle/>
                    <a:p>
                      <a:pPr algn="ctr"/>
                      <a:r>
                        <a:rPr sz="1600" b="0">
                          <a:solidFill>
                            <a:srgbClr val="1F2A37"/>
                          </a:solidFill>
                          <a:latin typeface="Consolas"/>
                        </a:rPr>
                        <a:t>Rekursion (Basisfall, Ergebnis nicht verwendet, Tiefe)</a:t>
                      </a:r>
                    </a:p>
                  </a:txBody>
                  <a:tcPr marL="54864" marR="54864" marT="18288" marB="18288" anchor="ctr">
                    <a:solidFill>
                      <a:srgbClr val="FFFFFF"/>
                    </a:solidFill>
                  </a:tcPr>
                </a:tc>
              </a:tr>
              <a:tr h="386080">
                <a:tc>
                  <a:txBody>
                    <a:bodyPr/>
                    <a:lstStyle/>
                    <a:p>
                      <a:pPr algn="ctr"/>
                      <a:r>
                        <a:rPr sz="1600" b="0">
                          <a:solidFill>
                            <a:srgbClr val="1F2A37"/>
                          </a:solidFill>
                          <a:latin typeface="Consolas"/>
                        </a:rPr>
                        <a:t>P8</a:t>
                      </a:r>
                    </a:p>
                  </a:txBody>
                  <a:tcPr marL="54864" marR="54864" marT="18288" marB="18288" anchor="ctr">
                    <a:solidFill>
                      <a:srgbClr val="EEF3FA"/>
                    </a:solidFill>
                  </a:tcPr>
                </a:tc>
                <a:tc>
                  <a:txBody>
                    <a:bodyPr/>
                    <a:lstStyle/>
                    <a:p>
                      <a:pPr algn="ctr"/>
                      <a:r>
                        <a:rPr sz="1600" b="0">
                          <a:solidFill>
                            <a:srgbClr val="1F2A37"/>
                          </a:solidFill>
                          <a:latin typeface="Consolas"/>
                        </a:rPr>
                        <a:t>Trace-Tabelle unvollständig/Konvention verletzt</a:t>
                      </a:r>
                    </a:p>
                  </a:txBody>
                  <a:tcPr marL="54864" marR="54864" marT="18288" marB="18288" anchor="ctr">
                    <a:solidFill>
                      <a:srgbClr val="EEF3FA"/>
                    </a:solidFill>
                  </a:tcPr>
                </a:tc>
              </a:tr>
              <a:tr h="386080">
                <a:tc>
                  <a:txBody>
                    <a:bodyPr/>
                    <a:lstStyle/>
                    <a:p>
                      <a:pPr algn="ctr"/>
                      <a:r>
                        <a:rPr sz="1600" b="0">
                          <a:solidFill>
                            <a:srgbClr val="1F2A37"/>
                          </a:solidFill>
                          <a:latin typeface="Consolas"/>
                        </a:rPr>
                        <a:t>P9</a:t>
                      </a:r>
                    </a:p>
                  </a:txBody>
                  <a:tcPr marL="54864" marR="54864" marT="18288" marB="18288" anchor="ctr">
                    <a:solidFill>
                      <a:srgbClr val="FFFFFF"/>
                    </a:solidFill>
                  </a:tcPr>
                </a:tc>
                <a:tc>
                  <a:txBody>
                    <a:bodyPr/>
                    <a:lstStyle/>
                    <a:p>
                      <a:pPr algn="ctr"/>
                      <a:r>
                        <a:rPr sz="1600" b="0">
                          <a:solidFill>
                            <a:srgbClr val="1F2A37"/>
                          </a:solidFill>
                          <a:latin typeface="Consolas"/>
                        </a:rPr>
                        <a:t>Struktogramm nicht nach EH §5</a:t>
                      </a:r>
                    </a:p>
                  </a:txBody>
                  <a:tcPr marL="54864" marR="54864" marT="18288" marB="18288" anchor="ctr">
                    <a:solidFill>
                      <a:srgbClr val="FFFFFF"/>
                    </a:solidFill>
                  </a:tcPr>
                </a:tc>
              </a:tr>
              <a:tr h="386080">
                <a:tc>
                  <a:txBody>
                    <a:bodyPr/>
                    <a:lstStyle/>
                    <a:p>
                      <a:pPr algn="ctr"/>
                      <a:r>
                        <a:rPr sz="1600" b="0">
                          <a:solidFill>
                            <a:srgbClr val="1F2A37"/>
                          </a:solidFill>
                          <a:latin typeface="Consolas"/>
                        </a:rPr>
                        <a:t>P10</a:t>
                      </a:r>
                    </a:p>
                  </a:txBody>
                  <a:tcPr marL="54864" marR="54864" marT="18288" marB="18288" anchor="ctr">
                    <a:solidFill>
                      <a:srgbClr val="EEF3FA"/>
                    </a:solidFill>
                  </a:tcPr>
                </a:tc>
                <a:tc>
                  <a:txBody>
                    <a:bodyPr/>
                    <a:lstStyle/>
                    <a:p>
                      <a:pPr algn="ctr"/>
                      <a:r>
                        <a:rPr sz="1600" b="0">
                          <a:solidFill>
                            <a:srgbClr val="1F2A37"/>
                          </a:solidFill>
                          <a:latin typeface="Consolas"/>
                        </a:rPr>
                        <a:t>Operator verfehlt</a:t>
                      </a:r>
                    </a:p>
                  </a:txBody>
                  <a:tcPr marL="54864" marR="54864" marT="18288" marB="18288" anchor="ctr">
                    <a:solidFill>
                      <a:srgbClr val="EEF3FA"/>
                    </a:solidFill>
                  </a:tcPr>
                </a:tc>
              </a:tr>
            </a:tbl>
          </a:graphicData>
        </a:graphic>
      </p:graphicFrame>
      <p:sp>
        <p:nvSpPr>
          <p:cNvPr id="6" name="TextBox 5"/>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P1 und P2</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903720" cy="344728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720840" cy="3355848"/>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 P1: letzter Wert, -1 bei leerer Reihung</a:t>
            </a:r>
          </a:p>
          <a:p>
            <a:pPr>
              <a:lnSpc>
                <a:spcPct val="100000"/>
              </a:lnSpc>
            </a:pPr>
            <a:r>
              <a:rPr sz="1600" b="0" i="0">
                <a:solidFill>
                  <a:srgbClr val="A0A7B1"/>
                </a:solidFill>
                <a:latin typeface="Consolas"/>
              </a:rPr>
              <a:t> 2  </a:t>
            </a:r>
            <a:r>
              <a:rPr sz="1600" b="0" i="0">
                <a:solidFill>
                  <a:srgbClr val="1F2A37"/>
                </a:solidFill>
                <a:latin typeface="Consolas"/>
              </a:rPr>
              <a:t>public static int letzter(DynArray d) {</a:t>
            </a:r>
          </a:p>
          <a:p>
            <a:pPr>
              <a:lnSpc>
                <a:spcPct val="100000"/>
              </a:lnSpc>
            </a:pPr>
            <a:r>
              <a:rPr sz="1600" b="0" i="0">
                <a:solidFill>
                  <a:srgbClr val="A0A7B1"/>
                </a:solidFill>
                <a:latin typeface="Consolas"/>
              </a:rPr>
              <a:t> 3  </a:t>
            </a:r>
            <a:r>
              <a:rPr sz="1600" b="1" i="0">
                <a:solidFill>
                  <a:srgbClr val="C00000"/>
                </a:solidFill>
                <a:latin typeface="Consolas"/>
              </a:rPr>
              <a:t>    return (Integer) d.getItem(d.getLength() - 1);</a:t>
            </a:r>
          </a:p>
          <a:p>
            <a:pPr>
              <a:lnSpc>
                <a:spcPct val="100000"/>
              </a:lnSpc>
            </a:pPr>
            <a:r>
              <a:rPr sz="1600" b="0" i="0">
                <a:solidFill>
                  <a:srgbClr val="A0A7B1"/>
                </a:solidFill>
                <a:latin typeface="Consolas"/>
              </a:rPr>
              <a:t> 4  </a:t>
            </a:r>
            <a:r>
              <a:rPr sz="1600" b="0" i="0">
                <a:solidFill>
                  <a:srgbClr val="1F2A37"/>
                </a:solidFill>
                <a:latin typeface="Consolas"/>
              </a:rPr>
              <a:t>}</a:t>
            </a:r>
          </a:p>
          <a:p>
            <a:pPr>
              <a:lnSpc>
                <a:spcPct val="100000"/>
              </a:lnSpc>
            </a:pPr>
            <a:r>
              <a:rPr sz="1600" b="0" i="0">
                <a:solidFill>
                  <a:srgbClr val="A0A7B1"/>
                </a:solidFill>
                <a:latin typeface="Consolas"/>
              </a:rPr>
              <a:t> 5  </a:t>
            </a:r>
            <a:r>
              <a:rPr sz="1600" b="0" i="0">
                <a:solidFill>
                  <a:srgbClr val="1F2A37"/>
                </a:solidFill>
                <a:latin typeface="Consolas"/>
              </a:rPr>
              <a:t>// P2: Summe – q soll unverändert bleiben</a:t>
            </a:r>
          </a:p>
          <a:p>
            <a:pPr>
              <a:lnSpc>
                <a:spcPct val="100000"/>
              </a:lnSpc>
            </a:pPr>
            <a:r>
              <a:rPr sz="1600" b="0" i="0">
                <a:solidFill>
                  <a:srgbClr val="A0A7B1"/>
                </a:solidFill>
                <a:latin typeface="Consolas"/>
              </a:rPr>
              <a:t> 6  </a:t>
            </a:r>
            <a:r>
              <a:rPr sz="1600" b="0" i="0">
                <a:solidFill>
                  <a:srgbClr val="1F2A37"/>
                </a:solidFill>
                <a:latin typeface="Consolas"/>
              </a:rPr>
              <a:t>public static int summe(Queue q) {</a:t>
            </a:r>
          </a:p>
          <a:p>
            <a:pPr>
              <a:lnSpc>
                <a:spcPct val="100000"/>
              </a:lnSpc>
            </a:pPr>
            <a:r>
              <a:rPr sz="1600" b="0" i="0">
                <a:solidFill>
                  <a:srgbClr val="A0A7B1"/>
                </a:solidFill>
                <a:latin typeface="Consolas"/>
              </a:rPr>
              <a:t> 7  </a:t>
            </a:r>
            <a:r>
              <a:rPr sz="1600" b="0" i="0">
                <a:solidFill>
                  <a:srgbClr val="1F2A37"/>
                </a:solidFill>
                <a:latin typeface="Consolas"/>
              </a:rPr>
              <a:t>    int s = 0;</a:t>
            </a:r>
          </a:p>
          <a:p>
            <a:pPr>
              <a:lnSpc>
                <a:spcPct val="100000"/>
              </a:lnSpc>
            </a:pPr>
            <a:r>
              <a:rPr sz="1600" b="0" i="0">
                <a:solidFill>
                  <a:srgbClr val="A0A7B1"/>
                </a:solidFill>
                <a:latin typeface="Consolas"/>
              </a:rPr>
              <a:t> 8  </a:t>
            </a:r>
            <a:r>
              <a:rPr sz="1600" b="0" i="0">
                <a:solidFill>
                  <a:srgbClr val="1F2A37"/>
                </a:solidFill>
                <a:latin typeface="Consolas"/>
              </a:rPr>
              <a:t>    while (!q.isEmpty()) {</a:t>
            </a:r>
          </a:p>
          <a:p>
            <a:pPr>
              <a:lnSpc>
                <a:spcPct val="100000"/>
              </a:lnSpc>
            </a:pPr>
            <a:r>
              <a:rPr sz="1600" b="0" i="0">
                <a:solidFill>
                  <a:srgbClr val="A0A7B1"/>
                </a:solidFill>
                <a:latin typeface="Consolas"/>
              </a:rPr>
              <a:t> 9  </a:t>
            </a:r>
            <a:r>
              <a:rPr sz="1600" b="1" i="0">
                <a:solidFill>
                  <a:srgbClr val="C00000"/>
                </a:solidFill>
                <a:latin typeface="Consolas"/>
              </a:rPr>
              <a:t>        s = s + (Integer) q.dequeue();</a:t>
            </a:r>
          </a:p>
          <a:p>
            <a:pPr>
              <a:lnSpc>
                <a:spcPct val="100000"/>
              </a:lnSpc>
            </a:pPr>
            <a:r>
              <a:rPr sz="1600" b="0" i="0">
                <a:solidFill>
                  <a:srgbClr val="A0A7B1"/>
                </a:solidFill>
                <a:latin typeface="Consolas"/>
              </a:rPr>
              <a:t>10  </a:t>
            </a:r>
            <a:r>
              <a:rPr sz="1600" b="0" i="0">
                <a:solidFill>
                  <a:srgbClr val="1F2A37"/>
                </a:solidFill>
                <a:latin typeface="Consolas"/>
              </a:rPr>
              <a:t>    }</a:t>
            </a:r>
          </a:p>
          <a:p>
            <a:pPr>
              <a:lnSpc>
                <a:spcPct val="100000"/>
              </a:lnSpc>
            </a:pPr>
            <a:r>
              <a:rPr sz="1600" b="0" i="0">
                <a:solidFill>
                  <a:srgbClr val="A0A7B1"/>
                </a:solidFill>
                <a:latin typeface="Consolas"/>
              </a:rPr>
              <a:t>11  </a:t>
            </a:r>
            <a:r>
              <a:rPr sz="1600" b="0" i="0">
                <a:solidFill>
                  <a:srgbClr val="1F2A37"/>
                </a:solidFill>
                <a:latin typeface="Consolas"/>
              </a:rPr>
              <a:t>    return s;</a:t>
            </a:r>
          </a:p>
          <a:p>
            <a:pPr>
              <a:lnSpc>
                <a:spcPct val="100000"/>
              </a:lnSpc>
            </a:pPr>
            <a:r>
              <a:rPr sz="1600" b="0" i="0">
                <a:solidFill>
                  <a:srgbClr val="A0A7B1"/>
                </a:solidFill>
                <a:latin typeface="Consolas"/>
              </a:rPr>
              <a:t>12  </a:t>
            </a:r>
            <a:r>
              <a:rPr sz="1600" b="0" i="0">
                <a:solidFill>
                  <a:srgbClr val="1F2A37"/>
                </a:solidFill>
                <a:latin typeface="Consolas"/>
              </a:rPr>
              <a:t>}</a:t>
            </a:r>
          </a:p>
        </p:txBody>
      </p:sp>
      <p:sp>
        <p:nvSpPr>
          <p:cNvPr id="7" name="Rounded Rectangle 6"/>
          <p:cNvSpPr/>
          <p:nvPr/>
        </p:nvSpPr>
        <p:spPr>
          <a:xfrm>
            <a:off x="7726679" y="1325880"/>
            <a:ext cx="39163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59" y="1463039"/>
            <a:ext cx="35506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So geht’s</a:t>
            </a:r>
            <a:r>
              <a:rPr sz="2000" b="0" i="0">
                <a:solidFill>
                  <a:srgbClr val="1F2A37"/>
                </a:solidFill>
                <a:latin typeface="Calibri"/>
              </a:rPr>
              <a:t/>
            </a:r>
          </a:p>
          <a:p>
            <a:pPr>
              <a:spcAft>
                <a:spcPts val="600"/>
              </a:spcAft>
            </a:pPr>
            <a:r>
              <a:rPr sz="2000" b="1" i="0">
                <a:solidFill>
                  <a:srgbClr val="1F2A37"/>
                </a:solidFill>
                <a:latin typeface="Calibri"/>
              </a:rPr>
              <a:t>P1</a:t>
            </a:r>
            <a:r>
              <a:rPr sz="2000" b="0" i="0">
                <a:solidFill>
                  <a:srgbClr val="1F2A37"/>
                </a:solidFill>
                <a:latin typeface="Calibri"/>
              </a:rPr>
              <a:t> zuerst: </a:t>
            </a:r>
            <a:r>
              <a:rPr sz="1900" b="0" i="0">
                <a:solidFill>
                  <a:srgbClr val="1F4E79"/>
                </a:solidFill>
                <a:latin typeface="Consolas"/>
              </a:rPr>
              <a:t>if (d.isEmpty())</a:t>
            </a:r>
            <a:r>
              <a:rPr sz="2000" b="0" i="0">
                <a:solidFill>
                  <a:srgbClr val="1F2A37"/>
                </a:solidFill>
                <a:latin typeface="Calibri"/>
              </a:rPr>
              <a:t> → </a:t>
            </a:r>
            <a:r>
              <a:rPr sz="1900" b="0" i="0">
                <a:solidFill>
                  <a:srgbClr val="1F4E79"/>
                </a:solidFill>
                <a:latin typeface="Consolas"/>
              </a:rPr>
              <a:t>return -1;</a:t>
            </a:r>
            <a:r>
              <a:rPr sz="2000" b="0" i="0">
                <a:solidFill>
                  <a:srgbClr val="1F2A37"/>
                </a:solidFill>
                <a:latin typeface="Calibri"/>
              </a:rPr>
              <a:t/>
            </a:r>
          </a:p>
          <a:p>
            <a:pPr>
              <a:spcAft>
                <a:spcPts val="600"/>
              </a:spcAft>
            </a:pPr>
            <a:r>
              <a:rPr sz="2000" b="1" i="0">
                <a:solidFill>
                  <a:srgbClr val="1F2A37"/>
                </a:solidFill>
                <a:latin typeface="Calibri"/>
              </a:rPr>
              <a:t>P2</a:t>
            </a:r>
            <a:r>
              <a:rPr sz="2000" b="0" i="0">
                <a:solidFill>
                  <a:srgbClr val="1F2A37"/>
                </a:solidFill>
                <a:latin typeface="Calibri"/>
              </a:rPr>
              <a:t> jeden Wert in eine Hilfsschlange </a:t>
            </a:r>
            <a:r>
              <a:rPr sz="1900" b="0" i="0">
                <a:solidFill>
                  <a:srgbClr val="1F4E79"/>
                </a:solidFill>
                <a:latin typeface="Consolas"/>
              </a:rPr>
              <a:t>hilf</a:t>
            </a:r>
            <a:r>
              <a:rPr sz="2000" b="0" i="0">
                <a:solidFill>
                  <a:srgbClr val="1F2A37"/>
                </a:solidFill>
                <a:latin typeface="Calibri"/>
              </a:rPr>
              <a:t> stellen und danach zurück nach </a:t>
            </a:r>
            <a:r>
              <a:rPr sz="1900" b="0" i="0">
                <a:solidFill>
                  <a:srgbClr val="1F4E79"/>
                </a:solidFill>
                <a:latin typeface="Consolas"/>
              </a:rPr>
              <a:t>q</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P3 und P4</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294120" cy="210616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111239" cy="2014727"/>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 P3: punkteFuer(treffer: Ganzzahl): Ganzzahl</a:t>
            </a:r>
          </a:p>
          <a:p>
            <a:pPr>
              <a:lnSpc>
                <a:spcPct val="100000"/>
              </a:lnSpc>
            </a:pPr>
            <a:r>
              <a:rPr sz="1600" b="0" i="0">
                <a:solidFill>
                  <a:srgbClr val="A0A7B1"/>
                </a:solidFill>
                <a:latin typeface="Consolas"/>
              </a:rPr>
              <a:t>2  </a:t>
            </a:r>
            <a:r>
              <a:rPr sz="1600" b="1" i="0">
                <a:solidFill>
                  <a:srgbClr val="C00000"/>
                </a:solidFill>
                <a:latin typeface="Consolas"/>
              </a:rPr>
              <a:t>public static void punkteFuer(int treffer) {</a:t>
            </a:r>
          </a:p>
          <a:p>
            <a:pPr>
              <a:lnSpc>
                <a:spcPct val="100000"/>
              </a:lnSpc>
            </a:pPr>
            <a:r>
              <a:rPr sz="1600" b="0" i="0">
                <a:solidFill>
                  <a:srgbClr val="A0A7B1"/>
                </a:solidFill>
                <a:latin typeface="Consolas"/>
              </a:rPr>
              <a:t>3  </a:t>
            </a:r>
            <a:r>
              <a:rPr sz="1600" b="1" i="0">
                <a:solidFill>
                  <a:srgbClr val="C00000"/>
                </a:solidFill>
                <a:latin typeface="Consolas"/>
              </a:rPr>
              <a:t>    println(3 * treffer);</a:t>
            </a:r>
          </a:p>
          <a:p>
            <a:pPr>
              <a:lnSpc>
                <a:spcPct val="100000"/>
              </a:lnSpc>
            </a:pPr>
            <a:r>
              <a:rPr sz="1600" b="0" i="0">
                <a:solidFill>
                  <a:srgbClr val="A0A7B1"/>
                </a:solidFill>
                <a:latin typeface="Consolas"/>
              </a:rPr>
              <a:t>4  </a:t>
            </a:r>
            <a:r>
              <a:rPr sz="1600" b="0" i="0">
                <a:solidFill>
                  <a:srgbClr val="1F2A37"/>
                </a:solidFill>
                <a:latin typeface="Consolas"/>
              </a:rPr>
              <a:t>}</a:t>
            </a:r>
          </a:p>
          <a:p>
            <a:pPr>
              <a:lnSpc>
                <a:spcPct val="100000"/>
              </a:lnSpc>
            </a:pPr>
            <a:r>
              <a:rPr sz="1600" b="0" i="0">
                <a:solidFill>
                  <a:srgbClr val="A0A7B1"/>
                </a:solidFill>
                <a:latin typeface="Consolas"/>
              </a:rPr>
              <a:t>5  </a:t>
            </a:r>
            <a:r>
              <a:rPr sz="1600" b="0" i="0">
                <a:solidFill>
                  <a:srgbClr val="1F2A37"/>
                </a:solidFill>
                <a:latin typeface="Consolas"/>
              </a:rPr>
              <a:t>// P4: s ist ein Stack, wort eine Zeichenkette</a:t>
            </a:r>
          </a:p>
          <a:p>
            <a:pPr>
              <a:lnSpc>
                <a:spcPct val="100000"/>
              </a:lnSpc>
            </a:pPr>
            <a:r>
              <a:rPr sz="1600" b="0" i="0">
                <a:solidFill>
                  <a:srgbClr val="A0A7B1"/>
                </a:solidFill>
                <a:latin typeface="Consolas"/>
              </a:rPr>
              <a:t>6  </a:t>
            </a:r>
            <a:r>
              <a:rPr sz="1600" b="1" i="0">
                <a:solidFill>
                  <a:srgbClr val="C00000"/>
                </a:solidFill>
                <a:latin typeface="Consolas"/>
              </a:rPr>
              <a:t>int x = s.pop();</a:t>
            </a:r>
          </a:p>
          <a:p>
            <a:pPr>
              <a:lnSpc>
                <a:spcPct val="100000"/>
              </a:lnSpc>
            </a:pPr>
            <a:r>
              <a:rPr sz="1600" b="0" i="0">
                <a:solidFill>
                  <a:srgbClr val="A0A7B1"/>
                </a:solidFill>
                <a:latin typeface="Consolas"/>
              </a:rPr>
              <a:t>7  </a:t>
            </a:r>
            <a:r>
              <a:rPr sz="1600" b="1" i="0">
                <a:solidFill>
                  <a:srgbClr val="C00000"/>
                </a:solidFill>
                <a:latin typeface="Consolas"/>
              </a:rPr>
              <a:t>if (wort.charAt(0) == "A") { … }</a:t>
            </a:r>
          </a:p>
        </p:txBody>
      </p:sp>
      <p:sp>
        <p:nvSpPr>
          <p:cNvPr id="7" name="Rounded Rectangle 6"/>
          <p:cNvSpPr/>
          <p:nvPr/>
        </p:nvSpPr>
        <p:spPr>
          <a:xfrm>
            <a:off x="7117079" y="1325880"/>
            <a:ext cx="4525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99959" y="1463039"/>
            <a:ext cx="4160215" cy="2377439"/>
          </a:xfrm>
          <a:prstGeom prst="rect">
            <a:avLst/>
          </a:prstGeom>
          <a:noFill/>
        </p:spPr>
        <p:txBody>
          <a:bodyPr wrap="square" anchor="t" lIns="45720" rIns="45720">
            <a:spAutoFit/>
          </a:bodyPr>
          <a:lstStyle/>
          <a:p>
            <a:pPr>
              <a:spcAft>
                <a:spcPts val="800"/>
              </a:spcAft>
            </a:pPr>
            <a:r>
              <a:rPr sz="2000" b="1" i="0">
                <a:solidFill>
                  <a:srgbClr val="548235"/>
                </a:solidFill>
                <a:latin typeface="Calibri"/>
              </a:rPr>
              <a:t>So geht’s</a:t>
            </a:r>
            <a:r>
              <a:rPr sz="1800" b="0" i="0">
                <a:solidFill>
                  <a:srgbClr val="1F2A37"/>
                </a:solidFill>
                <a:latin typeface="Calibri"/>
              </a:rPr>
              <a:t/>
            </a:r>
          </a:p>
          <a:p>
            <a:pPr>
              <a:spcAft>
                <a:spcPts val="600"/>
              </a:spcAft>
            </a:pPr>
            <a:r>
              <a:rPr sz="1800" b="1" i="0">
                <a:solidFill>
                  <a:srgbClr val="1F2A37"/>
                </a:solidFill>
                <a:latin typeface="Calibri"/>
              </a:rPr>
              <a:t>P3</a:t>
            </a:r>
            <a:r>
              <a:rPr sz="1800" b="0" i="0">
                <a:solidFill>
                  <a:srgbClr val="1F2A37"/>
                </a:solidFill>
                <a:latin typeface="Calibri"/>
              </a:rPr>
              <a:t> </a:t>
            </a:r>
            <a:r>
              <a:rPr sz="1700" b="0" i="0">
                <a:solidFill>
                  <a:srgbClr val="1F4E79"/>
                </a:solidFill>
                <a:latin typeface="Consolas"/>
              </a:rPr>
              <a:t>public static int punkteFuer(int treffer)</a:t>
            </a:r>
            <a:r>
              <a:rPr sz="1800" b="0" i="0">
                <a:solidFill>
                  <a:srgbClr val="1F2A37"/>
                </a:solidFill>
                <a:latin typeface="Calibri"/>
              </a:rPr>
              <a:t> und </a:t>
            </a:r>
            <a:r>
              <a:rPr sz="1700" b="0" i="0">
                <a:solidFill>
                  <a:srgbClr val="1F4E79"/>
                </a:solidFill>
                <a:latin typeface="Consolas"/>
              </a:rPr>
              <a:t>return 3 * treffer;</a:t>
            </a:r>
            <a:r>
              <a:rPr sz="1800" b="0" i="0">
                <a:solidFill>
                  <a:srgbClr val="1F2A37"/>
                </a:solidFill>
                <a:latin typeface="Calibri"/>
              </a:rPr>
              <a:t/>
            </a:r>
          </a:p>
          <a:p>
            <a:pPr>
              <a:spcAft>
                <a:spcPts val="600"/>
              </a:spcAft>
            </a:pPr>
            <a:r>
              <a:rPr sz="1800" b="1" i="0">
                <a:solidFill>
                  <a:srgbClr val="1F2A37"/>
                </a:solidFill>
                <a:latin typeface="Calibri"/>
              </a:rPr>
              <a:t>P4</a:t>
            </a:r>
            <a:r>
              <a:rPr sz="1800" b="0" i="0">
                <a:solidFill>
                  <a:srgbClr val="1F2A37"/>
                </a:solidFill>
                <a:latin typeface="Calibri"/>
              </a:rPr>
              <a:t> </a:t>
            </a:r>
            <a:r>
              <a:rPr sz="1700" b="0" i="0">
                <a:solidFill>
                  <a:srgbClr val="1F4E79"/>
                </a:solidFill>
                <a:latin typeface="Consolas"/>
              </a:rPr>
              <a:t>int x = (Integer) s.pop();</a:t>
            </a:r>
            <a:r>
              <a:rPr sz="1800" b="0" i="0">
                <a:solidFill>
                  <a:srgbClr val="1F2A37"/>
                </a:solidFill>
                <a:latin typeface="Calibri"/>
              </a:rPr>
              <a:t/>
            </a:r>
          </a:p>
          <a:p>
            <a:pPr>
              <a:spcAft>
                <a:spcPts val="600"/>
              </a:spcAft>
            </a:pPr>
            <a:r>
              <a:rPr sz="1800" b="1" i="0">
                <a:solidFill>
                  <a:srgbClr val="1F2A37"/>
                </a:solidFill>
                <a:latin typeface="Calibri"/>
              </a:rPr>
              <a:t>P4</a:t>
            </a:r>
            <a:r>
              <a:rPr sz="1800" b="0" i="0">
                <a:solidFill>
                  <a:srgbClr val="1F2A37"/>
                </a:solidFill>
                <a:latin typeface="Calibri"/>
              </a:rPr>
              <a:t> Zeichen in einfachen Hochkommas: </a:t>
            </a:r>
            <a:r>
              <a:rPr sz="1700" b="0" i="0">
                <a:solidFill>
                  <a:srgbClr val="1F4E79"/>
                </a:solidFill>
                <a:latin typeface="Consolas"/>
              </a:rPr>
              <a:t>'A'</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P5 und P6</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294120" cy="3447288"/>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111239" cy="3355848"/>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 P5: wahr, wenn wort auf "ung" endet</a:t>
            </a:r>
          </a:p>
          <a:p>
            <a:pPr>
              <a:lnSpc>
                <a:spcPct val="100000"/>
              </a:lnSpc>
            </a:pPr>
            <a:r>
              <a:rPr sz="1600" b="0" i="0">
                <a:solidFill>
                  <a:srgbClr val="A0A7B1"/>
                </a:solidFill>
                <a:latin typeface="Consolas"/>
              </a:rPr>
              <a:t> 2  </a:t>
            </a:r>
            <a:r>
              <a:rPr sz="1600" b="0" i="0">
                <a:solidFill>
                  <a:srgbClr val="1F2A37"/>
                </a:solidFill>
                <a:latin typeface="Consolas"/>
              </a:rPr>
              <a:t>public static boolean endetAuf(String wort) {</a:t>
            </a:r>
          </a:p>
          <a:p>
            <a:pPr>
              <a:lnSpc>
                <a:spcPct val="100000"/>
              </a:lnSpc>
            </a:pPr>
            <a:r>
              <a:rPr sz="1600" b="0" i="0">
                <a:solidFill>
                  <a:srgbClr val="A0A7B1"/>
                </a:solidFill>
                <a:latin typeface="Consolas"/>
              </a:rPr>
              <a:t> 3  </a:t>
            </a:r>
            <a:r>
              <a:rPr sz="1600" b="1" i="0">
                <a:solidFill>
                  <a:srgbClr val="C00000"/>
                </a:solidFill>
                <a:latin typeface="Consolas"/>
              </a:rPr>
              <a:t>    return wort.endsWith("ung");</a:t>
            </a:r>
          </a:p>
          <a:p>
            <a:pPr>
              <a:lnSpc>
                <a:spcPct val="100000"/>
              </a:lnSpc>
            </a:pPr>
            <a:r>
              <a:rPr sz="1600" b="0" i="0">
                <a:solidFill>
                  <a:srgbClr val="A0A7B1"/>
                </a:solidFill>
                <a:latin typeface="Consolas"/>
              </a:rPr>
              <a:t> 4  </a:t>
            </a:r>
            <a:r>
              <a:rPr sz="1600" b="0" i="0">
                <a:solidFill>
                  <a:srgbClr val="1F2A37"/>
                </a:solidFill>
                <a:latin typeface="Consolas"/>
              </a:rPr>
              <a:t>}</a:t>
            </a:r>
          </a:p>
          <a:p>
            <a:pPr>
              <a:lnSpc>
                <a:spcPct val="100000"/>
              </a:lnSpc>
            </a:pPr>
            <a:r>
              <a:rPr sz="1600" b="0" i="0">
                <a:solidFill>
                  <a:srgbClr val="A0A7B1"/>
                </a:solidFill>
                <a:latin typeface="Consolas"/>
              </a:rPr>
              <a:t> 5  </a:t>
            </a:r>
            <a:r>
              <a:rPr sz="1600" b="0" i="0">
                <a:solidFill>
                  <a:srgbClr val="1F2A37"/>
                </a:solidFill>
                <a:latin typeface="Consolas"/>
              </a:rPr>
              <a:t>// P6: Summe aller Zahlen von a bis b</a:t>
            </a:r>
          </a:p>
          <a:p>
            <a:pPr>
              <a:lnSpc>
                <a:spcPct val="100000"/>
              </a:lnSpc>
            </a:pPr>
            <a:r>
              <a:rPr sz="1600" b="0" i="0">
                <a:solidFill>
                  <a:srgbClr val="A0A7B1"/>
                </a:solidFill>
                <a:latin typeface="Consolas"/>
              </a:rPr>
              <a:t> 6  </a:t>
            </a:r>
            <a:r>
              <a:rPr sz="1600" b="0" i="0">
                <a:solidFill>
                  <a:srgbClr val="1F2A37"/>
                </a:solidFill>
                <a:latin typeface="Consolas"/>
              </a:rPr>
              <a:t>public static int summeVonBis(int a, int b) {</a:t>
            </a:r>
          </a:p>
          <a:p>
            <a:pPr>
              <a:lnSpc>
                <a:spcPct val="100000"/>
              </a:lnSpc>
            </a:pPr>
            <a:r>
              <a:rPr sz="1600" b="0" i="0">
                <a:solidFill>
                  <a:srgbClr val="A0A7B1"/>
                </a:solidFill>
                <a:latin typeface="Consolas"/>
              </a:rPr>
              <a:t> 7  </a:t>
            </a:r>
            <a:r>
              <a:rPr sz="1600" b="0" i="0">
                <a:solidFill>
                  <a:srgbClr val="1F2A37"/>
                </a:solidFill>
                <a:latin typeface="Consolas"/>
              </a:rPr>
              <a:t>    int s = 0;</a:t>
            </a:r>
          </a:p>
          <a:p>
            <a:pPr>
              <a:lnSpc>
                <a:spcPct val="100000"/>
              </a:lnSpc>
            </a:pPr>
            <a:r>
              <a:rPr sz="1600" b="0" i="0">
                <a:solidFill>
                  <a:srgbClr val="A0A7B1"/>
                </a:solidFill>
                <a:latin typeface="Consolas"/>
              </a:rPr>
              <a:t> 8  </a:t>
            </a:r>
            <a:r>
              <a:rPr sz="1600" b="1" i="0">
                <a:solidFill>
                  <a:srgbClr val="C00000"/>
                </a:solidFill>
                <a:latin typeface="Consolas"/>
              </a:rPr>
              <a:t>    for (int i = a; i &lt; b; i++) {</a:t>
            </a:r>
          </a:p>
          <a:p>
            <a:pPr>
              <a:lnSpc>
                <a:spcPct val="100000"/>
              </a:lnSpc>
            </a:pPr>
            <a:r>
              <a:rPr sz="1600" b="0" i="0">
                <a:solidFill>
                  <a:srgbClr val="A0A7B1"/>
                </a:solidFill>
                <a:latin typeface="Consolas"/>
              </a:rPr>
              <a:t> 9  </a:t>
            </a:r>
            <a:r>
              <a:rPr sz="1600" b="0" i="0">
                <a:solidFill>
                  <a:srgbClr val="1F2A37"/>
                </a:solidFill>
                <a:latin typeface="Consolas"/>
              </a:rPr>
              <a:t>        s = s + i;</a:t>
            </a:r>
          </a:p>
          <a:p>
            <a:pPr>
              <a:lnSpc>
                <a:spcPct val="100000"/>
              </a:lnSpc>
            </a:pPr>
            <a:r>
              <a:rPr sz="1600" b="0" i="0">
                <a:solidFill>
                  <a:srgbClr val="A0A7B1"/>
                </a:solidFill>
                <a:latin typeface="Consolas"/>
              </a:rPr>
              <a:t>10  </a:t>
            </a:r>
            <a:r>
              <a:rPr sz="1600" b="0" i="0">
                <a:solidFill>
                  <a:srgbClr val="1F2A37"/>
                </a:solidFill>
                <a:latin typeface="Consolas"/>
              </a:rPr>
              <a:t>    }</a:t>
            </a:r>
          </a:p>
          <a:p>
            <a:pPr>
              <a:lnSpc>
                <a:spcPct val="100000"/>
              </a:lnSpc>
            </a:pPr>
            <a:r>
              <a:rPr sz="1600" b="0" i="0">
                <a:solidFill>
                  <a:srgbClr val="A0A7B1"/>
                </a:solidFill>
                <a:latin typeface="Consolas"/>
              </a:rPr>
              <a:t>11  </a:t>
            </a:r>
            <a:r>
              <a:rPr sz="1600" b="0" i="0">
                <a:solidFill>
                  <a:srgbClr val="1F2A37"/>
                </a:solidFill>
                <a:latin typeface="Consolas"/>
              </a:rPr>
              <a:t>    return s;</a:t>
            </a:r>
          </a:p>
          <a:p>
            <a:pPr>
              <a:lnSpc>
                <a:spcPct val="100000"/>
              </a:lnSpc>
            </a:pPr>
            <a:r>
              <a:rPr sz="1600" b="0" i="0">
                <a:solidFill>
                  <a:srgbClr val="A0A7B1"/>
                </a:solidFill>
                <a:latin typeface="Consolas"/>
              </a:rPr>
              <a:t>12  </a:t>
            </a:r>
            <a:r>
              <a:rPr sz="1600" b="0" i="0">
                <a:solidFill>
                  <a:srgbClr val="1F2A37"/>
                </a:solidFill>
                <a:latin typeface="Consolas"/>
              </a:rPr>
              <a:t>}</a:t>
            </a:r>
          </a:p>
        </p:txBody>
      </p:sp>
      <p:sp>
        <p:nvSpPr>
          <p:cNvPr id="7" name="Rounded Rectangle 6"/>
          <p:cNvSpPr/>
          <p:nvPr/>
        </p:nvSpPr>
        <p:spPr>
          <a:xfrm>
            <a:off x="7117079" y="1325880"/>
            <a:ext cx="4525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99959" y="1463039"/>
            <a:ext cx="4160215" cy="2377439"/>
          </a:xfrm>
          <a:prstGeom prst="rect">
            <a:avLst/>
          </a:prstGeom>
          <a:noFill/>
        </p:spPr>
        <p:txBody>
          <a:bodyPr wrap="square" anchor="t" lIns="45720" rIns="45720">
            <a:spAutoFit/>
          </a:bodyPr>
          <a:lstStyle/>
          <a:p>
            <a:pPr>
              <a:spcAft>
                <a:spcPts val="800"/>
              </a:spcAft>
            </a:pPr>
            <a:r>
              <a:rPr sz="2100" b="1" i="0">
                <a:solidFill>
                  <a:srgbClr val="548235"/>
                </a:solidFill>
                <a:latin typeface="Calibri"/>
              </a:rPr>
              <a:t>So geht’s</a:t>
            </a:r>
            <a:r>
              <a:rPr sz="1900" b="0" i="0">
                <a:solidFill>
                  <a:srgbClr val="1F2A37"/>
                </a:solidFill>
                <a:latin typeface="Calibri"/>
              </a:rPr>
              <a:t/>
            </a:r>
          </a:p>
          <a:p>
            <a:pPr>
              <a:spcAft>
                <a:spcPts val="600"/>
              </a:spcAft>
            </a:pPr>
            <a:r>
              <a:rPr sz="1900" b="1" i="0">
                <a:solidFill>
                  <a:srgbClr val="1F2A37"/>
                </a:solidFill>
                <a:latin typeface="Calibri"/>
              </a:rPr>
              <a:t>P5</a:t>
            </a:r>
            <a:r>
              <a:rPr sz="1900" b="0" i="0">
                <a:solidFill>
                  <a:srgbClr val="1F2A37"/>
                </a:solidFill>
                <a:latin typeface="Calibri"/>
              </a:rPr>
              <a:t> nur erlaubte Operationen: </a:t>
            </a:r>
            <a:r>
              <a:rPr sz="1800" b="0" i="0">
                <a:solidFill>
                  <a:srgbClr val="1F4E79"/>
                </a:solidFill>
                <a:latin typeface="Consolas"/>
              </a:rPr>
              <a:t>n &gt;= 3 &amp;&amp; wort.substring(n - 3, n).equals("ung")</a:t>
            </a:r>
            <a:r>
              <a:rPr sz="1900" b="0" i="0">
                <a:solidFill>
                  <a:srgbClr val="1F2A37"/>
                </a:solidFill>
                <a:latin typeface="Calibri"/>
              </a:rPr>
              <a:t> mit </a:t>
            </a:r>
            <a:r>
              <a:rPr sz="1800" b="0" i="0">
                <a:solidFill>
                  <a:srgbClr val="1F4E79"/>
                </a:solidFill>
                <a:latin typeface="Consolas"/>
              </a:rPr>
              <a:t>n = wort.length()</a:t>
            </a:r>
            <a:r>
              <a:rPr sz="1900" b="0" i="0">
                <a:solidFill>
                  <a:srgbClr val="1F2A37"/>
                </a:solidFill>
                <a:latin typeface="Calibri"/>
              </a:rPr>
              <a:t/>
            </a:r>
          </a:p>
          <a:p>
            <a:pPr>
              <a:spcAft>
                <a:spcPts val="600"/>
              </a:spcAft>
            </a:pPr>
            <a:r>
              <a:rPr sz="1900" b="1" i="0">
                <a:solidFill>
                  <a:srgbClr val="1F2A37"/>
                </a:solidFill>
                <a:latin typeface="Calibri"/>
              </a:rPr>
              <a:t>P6</a:t>
            </a:r>
            <a:r>
              <a:rPr sz="1900" b="0" i="0">
                <a:solidFill>
                  <a:srgbClr val="1F2A37"/>
                </a:solidFill>
                <a:latin typeface="Calibri"/>
              </a:rPr>
              <a:t> </a:t>
            </a:r>
            <a:r>
              <a:rPr sz="1800" b="0" i="0">
                <a:solidFill>
                  <a:srgbClr val="1F4E79"/>
                </a:solidFill>
                <a:latin typeface="Consolas"/>
              </a:rPr>
              <a:t>i &lt;= b</a:t>
            </a:r>
            <a:r>
              <a:rPr sz="1900" b="0" i="0">
                <a:solidFill>
                  <a:srgbClr val="1F2A37"/>
                </a:solidFill>
                <a:latin typeface="Calibri"/>
              </a:rPr>
              <a:t> – sonst 12 statt 18 für (3, 6)</a:t>
            </a:r>
            <a:r>
              <a:rPr sz="19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P7: Rekursion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806440" cy="3179064"/>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623559" cy="3087624"/>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 ranke(0) = 1, jeden Tag 3 Blätter mehr</a:t>
            </a:r>
          </a:p>
          <a:p>
            <a:pPr>
              <a:lnSpc>
                <a:spcPct val="100000"/>
              </a:lnSpc>
            </a:pPr>
            <a:r>
              <a:rPr sz="1600" b="0" i="0">
                <a:solidFill>
                  <a:srgbClr val="A0A7B1"/>
                </a:solidFill>
                <a:latin typeface="Consolas"/>
              </a:rPr>
              <a:t> 2  </a:t>
            </a:r>
            <a:r>
              <a:rPr sz="1600" b="0" i="0">
                <a:solidFill>
                  <a:srgbClr val="1F2A37"/>
                </a:solidFill>
                <a:latin typeface="Consolas"/>
              </a:rPr>
              <a:t>public static int ranke(int tage) {</a:t>
            </a:r>
          </a:p>
          <a:p>
            <a:pPr>
              <a:lnSpc>
                <a:spcPct val="100000"/>
              </a:lnSpc>
            </a:pPr>
            <a:r>
              <a:rPr sz="1600" b="0" i="0">
                <a:solidFill>
                  <a:srgbClr val="A0A7B1"/>
                </a:solidFill>
                <a:latin typeface="Consolas"/>
              </a:rPr>
              <a:t> 3  </a:t>
            </a:r>
            <a:r>
              <a:rPr sz="1600" b="1" i="0">
                <a:solidFill>
                  <a:srgbClr val="C00000"/>
                </a:solidFill>
                <a:latin typeface="Consolas"/>
              </a:rPr>
              <a:t>    return ranke(tage - 1) + 3;</a:t>
            </a:r>
          </a:p>
          <a:p>
            <a:pPr>
              <a:lnSpc>
                <a:spcPct val="100000"/>
              </a:lnSpc>
            </a:pPr>
            <a:r>
              <a:rPr sz="1600" b="0" i="0">
                <a:solidFill>
                  <a:srgbClr val="A0A7B1"/>
                </a:solidFill>
                <a:latin typeface="Consolas"/>
              </a:rPr>
              <a:t> 4  </a:t>
            </a:r>
            <a:r>
              <a:rPr sz="1600" b="0" i="0">
                <a:solidFill>
                  <a:srgbClr val="1F2A37"/>
                </a:solidFill>
                <a:latin typeface="Consolas"/>
              </a:rPr>
              <a:t>}</a:t>
            </a:r>
          </a:p>
          <a:p>
            <a:pPr>
              <a:lnSpc>
                <a:spcPct val="100000"/>
              </a:lnSpc>
            </a:pPr>
            <a:r>
              <a:rPr sz="1600" b="0" i="0">
                <a:solidFill>
                  <a:srgbClr val="A0A7B1"/>
                </a:solidFill>
                <a:latin typeface="Consolas"/>
              </a:rPr>
              <a:t> 5  </a:t>
            </a:r>
            <a:r>
              <a:rPr sz="1600" b="0" i="0">
                <a:solidFill>
                  <a:srgbClr val="1F2A37"/>
                </a:solidFill>
                <a:latin typeface="Consolas"/>
              </a:rPr>
              <a:t>// richtig:</a:t>
            </a:r>
          </a:p>
          <a:p>
            <a:pPr>
              <a:lnSpc>
                <a:spcPct val="100000"/>
              </a:lnSpc>
            </a:pPr>
            <a:r>
              <a:rPr sz="1600" b="0" i="0">
                <a:solidFill>
                  <a:srgbClr val="A0A7B1"/>
                </a:solidFill>
                <a:latin typeface="Consolas"/>
              </a:rPr>
              <a:t> 6  </a:t>
            </a:r>
            <a:r>
              <a:rPr sz="1600" b="0" i="0">
                <a:solidFill>
                  <a:srgbClr val="1F2A37"/>
                </a:solidFill>
                <a:latin typeface="Consolas"/>
              </a:rPr>
              <a:t>public static int ranke(int tage) {</a:t>
            </a:r>
          </a:p>
          <a:p>
            <a:pPr>
              <a:lnSpc>
                <a:spcPct val="100000"/>
              </a:lnSpc>
            </a:pPr>
            <a:r>
              <a:rPr sz="1600" b="0" i="0">
                <a:solidFill>
                  <a:srgbClr val="A0A7B1"/>
                </a:solidFill>
                <a:latin typeface="Consolas"/>
              </a:rPr>
              <a:t> 7  </a:t>
            </a:r>
            <a:r>
              <a:rPr sz="1600" b="0" i="0">
                <a:solidFill>
                  <a:srgbClr val="1F2A37"/>
                </a:solidFill>
                <a:latin typeface="Consolas"/>
              </a:rPr>
              <a:t>    if (tage == 0) {</a:t>
            </a:r>
          </a:p>
          <a:p>
            <a:pPr>
              <a:lnSpc>
                <a:spcPct val="100000"/>
              </a:lnSpc>
            </a:pPr>
            <a:r>
              <a:rPr sz="1600" b="0" i="0">
                <a:solidFill>
                  <a:srgbClr val="A0A7B1"/>
                </a:solidFill>
                <a:latin typeface="Consolas"/>
              </a:rPr>
              <a:t> 8  </a:t>
            </a:r>
            <a:r>
              <a:rPr sz="1600" b="0" i="0">
                <a:solidFill>
                  <a:srgbClr val="1F2A37"/>
                </a:solidFill>
                <a:latin typeface="Consolas"/>
              </a:rPr>
              <a:t>        return 1;</a:t>
            </a:r>
          </a:p>
          <a:p>
            <a:pPr>
              <a:lnSpc>
                <a:spcPct val="100000"/>
              </a:lnSpc>
            </a:pPr>
            <a:r>
              <a:rPr sz="1600" b="0" i="0">
                <a:solidFill>
                  <a:srgbClr val="A0A7B1"/>
                </a:solidFill>
                <a:latin typeface="Consolas"/>
              </a:rPr>
              <a:t> 9  </a:t>
            </a:r>
            <a:r>
              <a:rPr sz="1600" b="0" i="0">
                <a:solidFill>
                  <a:srgbClr val="1F2A37"/>
                </a:solidFill>
                <a:latin typeface="Consolas"/>
              </a:rPr>
              <a:t>    }</a:t>
            </a:r>
          </a:p>
          <a:p>
            <a:pPr>
              <a:lnSpc>
                <a:spcPct val="100000"/>
              </a:lnSpc>
            </a:pPr>
            <a:r>
              <a:rPr sz="1600" b="0" i="0">
                <a:solidFill>
                  <a:srgbClr val="A0A7B1"/>
                </a:solidFill>
                <a:latin typeface="Consolas"/>
              </a:rPr>
              <a:t>10  </a:t>
            </a:r>
            <a:r>
              <a:rPr sz="1600" b="0" i="0">
                <a:solidFill>
                  <a:srgbClr val="1F2A37"/>
                </a:solidFill>
                <a:latin typeface="Consolas"/>
              </a:rPr>
              <a:t>    return ranke(tage - 1) + 3;</a:t>
            </a:r>
          </a:p>
          <a:p>
            <a:pPr>
              <a:lnSpc>
                <a:spcPct val="100000"/>
              </a:lnSpc>
            </a:pPr>
            <a:r>
              <a:rPr sz="1600" b="0" i="0">
                <a:solidFill>
                  <a:srgbClr val="A0A7B1"/>
                </a:solidFill>
                <a:latin typeface="Consolas"/>
              </a:rPr>
              <a:t>11  </a:t>
            </a:r>
            <a:r>
              <a:rPr sz="1600" b="0" i="0">
                <a:solidFill>
                  <a:srgbClr val="1F2A37"/>
                </a:solidFill>
                <a:latin typeface="Consolas"/>
              </a:rPr>
              <a:t>}</a:t>
            </a:r>
          </a:p>
        </p:txBody>
      </p:sp>
      <p:sp>
        <p:nvSpPr>
          <p:cNvPr id="7" name="TextBox 6"/>
          <p:cNvSpPr txBox="1"/>
          <p:nvPr/>
        </p:nvSpPr>
        <p:spPr>
          <a:xfrm>
            <a:off x="548640" y="4733544"/>
            <a:ext cx="5806440" cy="1621535"/>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Basisfall zuerst · Ergebnis verwenden · Erstaufruf = </a:t>
            </a:r>
            <a:r>
              <a:rPr sz="2000" b="1" i="0">
                <a:solidFill>
                  <a:srgbClr val="1F2A37"/>
                </a:solidFill>
                <a:latin typeface="Calibri"/>
              </a:rPr>
              <a:t>Tiefe 0</a:t>
            </a:r>
            <a:r>
              <a:rPr sz="2000" b="0" i="0">
                <a:solidFill>
                  <a:srgbClr val="1F2A37"/>
                </a:solidFill>
                <a:latin typeface="Calibri"/>
              </a:rPr>
              <a:t/>
            </a:r>
          </a:p>
        </p:txBody>
      </p:sp>
      <p:graphicFrame>
        <p:nvGraphicFramePr>
          <p:cNvPr id="8" name="Table 7"/>
          <p:cNvGraphicFramePr>
            <a:graphicFrameLocks noGrp="1"/>
          </p:cNvGraphicFramePr>
          <p:nvPr/>
        </p:nvGraphicFramePr>
        <p:xfrm>
          <a:off x="6629399" y="1325880"/>
          <a:ext cx="5013654" cy="1640836"/>
        </p:xfrm>
        <a:graphic>
          <a:graphicData uri="http://schemas.openxmlformats.org/drawingml/2006/table">
            <a:tbl>
              <a:tblPr firstRow="1" bandRow="1">
                <a:tableStyleId>{5C22544A-7EE6-4342-B048-85BDC9FD1C3A}</a:tableStyleId>
              </a:tblPr>
              <a:tblGrid>
                <a:gridCol w="1253413"/>
                <a:gridCol w="2005462"/>
                <a:gridCol w="1754779"/>
              </a:tblGrid>
              <a:tr h="410209">
                <a:tc>
                  <a:txBody>
                    <a:bodyPr/>
                    <a:lstStyle/>
                    <a:p>
                      <a:pPr algn="ctr"/>
                      <a:r>
                        <a:rPr sz="1700" b="1">
                          <a:solidFill>
                            <a:srgbClr val="FFFFFF"/>
                          </a:solidFill>
                          <a:latin typeface="Calibri"/>
                        </a:rPr>
                        <a:t>Tiefe</a:t>
                      </a:r>
                    </a:p>
                  </a:txBody>
                  <a:tcPr marL="54864" marR="54864" marT="18288" marB="18288" anchor="ctr">
                    <a:solidFill>
                      <a:srgbClr val="1F4E79"/>
                    </a:solidFill>
                  </a:tcPr>
                </a:tc>
                <a:tc>
                  <a:txBody>
                    <a:bodyPr/>
                    <a:lstStyle/>
                    <a:p>
                      <a:pPr algn="ctr"/>
                      <a:r>
                        <a:rPr sz="1700" b="1">
                          <a:solidFill>
                            <a:srgbClr val="FFFFFF"/>
                          </a:solidFill>
                          <a:latin typeface="Calibri"/>
                        </a:rPr>
                        <a:t>Aufruf</a:t>
                      </a:r>
                    </a:p>
                  </a:txBody>
                  <a:tcPr marL="54864" marR="54864" marT="18288" marB="18288" anchor="ctr">
                    <a:solidFill>
                      <a:srgbClr val="1F4E79"/>
                    </a:solidFill>
                  </a:tcPr>
                </a:tc>
                <a:tc>
                  <a:txBody>
                    <a:bodyPr/>
                    <a:lstStyle/>
                    <a:p>
                      <a:pPr algn="ctr"/>
                      <a:r>
                        <a:rPr sz="1700" b="1">
                          <a:solidFill>
                            <a:srgbClr val="FFFFFF"/>
                          </a:solidFill>
                          <a:latin typeface="Calibri"/>
                        </a:rPr>
                        <a:t>Rückgabe</a:t>
                      </a:r>
                    </a:p>
                  </a:txBody>
                  <a:tcPr marL="54864" marR="54864" marT="18288" marB="18288" anchor="ctr">
                    <a:solidFill>
                      <a:srgbClr val="1F4E79"/>
                    </a:solidFill>
                  </a:tcPr>
                </a:tc>
              </a:tr>
              <a:tr h="410209">
                <a:tc>
                  <a:txBody>
                    <a:bodyPr/>
                    <a:lstStyle/>
                    <a:p>
                      <a:pPr algn="ctr"/>
                      <a:r>
                        <a:rPr sz="1700" b="0">
                          <a:solidFill>
                            <a:srgbClr val="1F2A37"/>
                          </a:solidFill>
                          <a:latin typeface="Consolas"/>
                        </a:rPr>
                        <a:t>0</a:t>
                      </a:r>
                    </a:p>
                  </a:txBody>
                  <a:tcPr marL="54864" marR="54864" marT="18288" marB="18288" anchor="ctr">
                    <a:solidFill>
                      <a:srgbClr val="FFFFFF"/>
                    </a:solidFill>
                  </a:tcPr>
                </a:tc>
                <a:tc>
                  <a:txBody>
                    <a:bodyPr/>
                    <a:lstStyle/>
                    <a:p>
                      <a:pPr algn="ctr"/>
                      <a:r>
                        <a:rPr sz="1700" b="0">
                          <a:solidFill>
                            <a:srgbClr val="1F2A37"/>
                          </a:solidFill>
                          <a:latin typeface="Consolas"/>
                        </a:rPr>
                        <a:t>ranke(2)</a:t>
                      </a:r>
                    </a:p>
                  </a:txBody>
                  <a:tcPr marL="54864" marR="54864" marT="18288" marB="18288" anchor="ctr">
                    <a:solidFill>
                      <a:srgbClr val="FFFFFF"/>
                    </a:solidFill>
                  </a:tcPr>
                </a:tc>
                <a:tc>
                  <a:txBody>
                    <a:bodyPr/>
                    <a:lstStyle/>
                    <a:p>
                      <a:pPr algn="ctr"/>
                      <a:r>
                        <a:rPr sz="1700" b="0">
                          <a:solidFill>
                            <a:srgbClr val="1F2A37"/>
                          </a:solidFill>
                          <a:latin typeface="Consolas"/>
                        </a:rPr>
                        <a:t>7</a:t>
                      </a:r>
                    </a:p>
                  </a:txBody>
                  <a:tcPr marL="54864" marR="54864" marT="18288" marB="18288" anchor="ctr">
                    <a:solidFill>
                      <a:srgbClr val="FFFFFF"/>
                    </a:solidFill>
                  </a:tcPr>
                </a:tc>
              </a:tr>
              <a:tr h="410209">
                <a:tc>
                  <a:txBody>
                    <a:bodyPr/>
                    <a:lstStyle/>
                    <a:p>
                      <a:pPr algn="ctr"/>
                      <a:r>
                        <a:rPr sz="1700" b="0">
                          <a:solidFill>
                            <a:srgbClr val="1F2A37"/>
                          </a:solidFill>
                          <a:latin typeface="Consolas"/>
                        </a:rPr>
                        <a:t>1</a:t>
                      </a:r>
                    </a:p>
                  </a:txBody>
                  <a:tcPr marL="54864" marR="54864" marT="18288" marB="18288" anchor="ctr">
                    <a:solidFill>
                      <a:srgbClr val="EEF3FA"/>
                    </a:solidFill>
                  </a:tcPr>
                </a:tc>
                <a:tc>
                  <a:txBody>
                    <a:bodyPr/>
                    <a:lstStyle/>
                    <a:p>
                      <a:pPr algn="ctr"/>
                      <a:r>
                        <a:rPr sz="1700" b="0">
                          <a:solidFill>
                            <a:srgbClr val="1F2A37"/>
                          </a:solidFill>
                          <a:latin typeface="Consolas"/>
                        </a:rPr>
                        <a:t>ranke(1)</a:t>
                      </a:r>
                    </a:p>
                  </a:txBody>
                  <a:tcPr marL="54864" marR="54864" marT="18288" marB="18288" anchor="ctr">
                    <a:solidFill>
                      <a:srgbClr val="EEF3FA"/>
                    </a:solidFill>
                  </a:tcPr>
                </a:tc>
                <a:tc>
                  <a:txBody>
                    <a:bodyPr/>
                    <a:lstStyle/>
                    <a:p>
                      <a:pPr algn="ctr"/>
                      <a:r>
                        <a:rPr sz="1700" b="0">
                          <a:solidFill>
                            <a:srgbClr val="1F2A37"/>
                          </a:solidFill>
                          <a:latin typeface="Consolas"/>
                        </a:rPr>
                        <a:t>4</a:t>
                      </a:r>
                    </a:p>
                  </a:txBody>
                  <a:tcPr marL="54864" marR="54864" marT="18288" marB="18288" anchor="ctr">
                    <a:solidFill>
                      <a:srgbClr val="EEF3FA"/>
                    </a:solidFill>
                  </a:tcPr>
                </a:tc>
              </a:tr>
              <a:tr h="410209">
                <a:tc>
                  <a:txBody>
                    <a:bodyPr/>
                    <a:lstStyle/>
                    <a:p>
                      <a:pPr algn="ctr"/>
                      <a:r>
                        <a:rPr sz="1700" b="0">
                          <a:solidFill>
                            <a:srgbClr val="1F2A37"/>
                          </a:solidFill>
                          <a:latin typeface="Consolas"/>
                        </a:rPr>
                        <a:t>2</a:t>
                      </a:r>
                    </a:p>
                  </a:txBody>
                  <a:tcPr marL="54864" marR="54864" marT="18288" marB="18288" anchor="ctr">
                    <a:solidFill>
                      <a:srgbClr val="FFFFFF"/>
                    </a:solidFill>
                  </a:tcPr>
                </a:tc>
                <a:tc>
                  <a:txBody>
                    <a:bodyPr/>
                    <a:lstStyle/>
                    <a:p>
                      <a:pPr algn="ctr"/>
                      <a:r>
                        <a:rPr sz="1700" b="0">
                          <a:solidFill>
                            <a:srgbClr val="1F2A37"/>
                          </a:solidFill>
                          <a:latin typeface="Consolas"/>
                        </a:rPr>
                        <a:t>ranke(0)</a:t>
                      </a:r>
                    </a:p>
                  </a:txBody>
                  <a:tcPr marL="54864" marR="54864" marT="18288" marB="18288" anchor="ctr">
                    <a:solidFill>
                      <a:srgbClr val="FFFFFF"/>
                    </a:solidFill>
                  </a:tcPr>
                </a:tc>
                <a:tc>
                  <a:txBody>
                    <a:bodyPr/>
                    <a:lstStyle/>
                    <a:p>
                      <a:pPr algn="ctr"/>
                      <a:r>
                        <a:rPr sz="1700" b="0">
                          <a:solidFill>
                            <a:srgbClr val="1F2A37"/>
                          </a:solidFill>
                          <a:latin typeface="Consolas"/>
                        </a:rPr>
                        <a:t>1</a:t>
                      </a:r>
                    </a:p>
                  </a:txBody>
                  <a:tcPr marL="54864" marR="54864" marT="18288" marB="18288" anchor="ctr">
                    <a:solidFill>
                      <a:srgbClr val="FFFFFF"/>
                    </a:solidFill>
                  </a:tcPr>
                </a:tc>
              </a:tr>
            </a:tbl>
          </a:graphicData>
        </a:graphic>
      </p:graphicFrame>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P8: Tracetabelle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928359" cy="1837943"/>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745479" cy="1746503"/>
          </a:xfrm>
          <a:prstGeom prst="rect">
            <a:avLst/>
          </a:prstGeom>
          <a:noFill/>
        </p:spPr>
        <p:txBody>
          <a:bodyPr wrap="square" anchor="t" lIns="45720" rIns="45720">
            <a:spAutoFit/>
          </a:bodyPr>
          <a:lstStyle/>
          <a:p>
            <a:pPr>
              <a:lnSpc>
                <a:spcPct val="100000"/>
              </a:lnSpc>
            </a:pPr>
            <a:r>
              <a:rPr sz="1600" b="0" i="0">
                <a:solidFill>
                  <a:srgbClr val="1F2A37"/>
                </a:solidFill>
                <a:latin typeface="Consolas"/>
              </a:rPr>
              <a:t>int gold = 50;</a:t>
            </a:r>
          </a:p>
          <a:p>
            <a:pPr>
              <a:lnSpc>
                <a:spcPct val="100000"/>
              </a:lnSpc>
            </a:pPr>
            <a:r>
              <a:rPr sz="1600" b="0" i="0">
                <a:solidFill>
                  <a:srgbClr val="1F2A37"/>
                </a:solidFill>
                <a:latin typeface="Consolas"/>
              </a:rPr>
              <a:t>int tage = 0; </a:t>
            </a:r>
            <a:r>
              <a:rPr sz="1600" b="0" i="0">
                <a:solidFill>
                  <a:srgbClr val="5F7F5F"/>
                </a:solidFill>
                <a:latin typeface="Consolas"/>
              </a:rPr>
              <a:t> // → Tabellenzeile (Startwerte)</a:t>
            </a:r>
          </a:p>
          <a:p>
            <a:pPr>
              <a:lnSpc>
                <a:spcPct val="100000"/>
              </a:lnSpc>
            </a:pPr>
            <a:r>
              <a:rPr sz="1600" b="0" i="0">
                <a:solidFill>
                  <a:srgbClr val="1F2A37"/>
                </a:solidFill>
                <a:latin typeface="Consolas"/>
              </a:rPr>
              <a:t>while (gold &gt;= 12) {</a:t>
            </a:r>
          </a:p>
          <a:p>
            <a:pPr>
              <a:lnSpc>
                <a:spcPct val="100000"/>
              </a:lnSpc>
            </a:pPr>
            <a:r>
              <a:rPr sz="1600" b="0" i="0">
                <a:solidFill>
                  <a:srgbClr val="1F2A37"/>
                </a:solidFill>
                <a:latin typeface="Consolas"/>
              </a:rPr>
              <a:t>    gold = gold - 12;</a:t>
            </a:r>
          </a:p>
          <a:p>
            <a:pPr>
              <a:lnSpc>
                <a:spcPct val="100000"/>
              </a:lnSpc>
            </a:pPr>
            <a:r>
              <a:rPr sz="1600" b="0" i="0">
                <a:solidFill>
                  <a:srgbClr val="1F2A37"/>
                </a:solidFill>
                <a:latin typeface="Consolas"/>
              </a:rPr>
              <a:t>    tage++; </a:t>
            </a:r>
            <a:r>
              <a:rPr sz="1600" b="0" i="0">
                <a:solidFill>
                  <a:srgbClr val="5F7F5F"/>
                </a:solidFill>
                <a:latin typeface="Consolas"/>
              </a:rPr>
              <a:t> // → Tabellenzeile</a:t>
            </a:r>
          </a:p>
          <a:p>
            <a:pPr>
              <a:lnSpc>
                <a:spcPct val="100000"/>
              </a:lnSpc>
            </a:pPr>
            <a:r>
              <a:rPr sz="1600" b="0" i="0">
                <a:solidFill>
                  <a:srgbClr val="1F2A37"/>
                </a:solidFill>
                <a:latin typeface="Consolas"/>
              </a:rPr>
              <a:t>}</a:t>
            </a:r>
          </a:p>
        </p:txBody>
      </p:sp>
      <p:sp>
        <p:nvSpPr>
          <p:cNvPr id="7" name="TextBox 6"/>
          <p:cNvSpPr txBox="1"/>
          <p:nvPr/>
        </p:nvSpPr>
        <p:spPr>
          <a:xfrm>
            <a:off x="548640" y="3392424"/>
            <a:ext cx="5928359" cy="2962656"/>
          </a:xfrm>
          <a:prstGeom prst="rect">
            <a:avLst/>
          </a:prstGeom>
          <a:noFill/>
        </p:spPr>
        <p:txBody>
          <a:bodyPr wrap="square" anchor="t" lIns="45720" rIns="45720">
            <a:spAutoFit/>
          </a:bodyPr>
          <a:lstStyle/>
          <a:p>
            <a:pPr>
              <a:spcAft>
                <a:spcPts val="1000"/>
              </a:spcAft>
            </a:pPr>
            <a:r>
              <a:rPr sz="2000" b="1" i="0">
                <a:solidFill>
                  <a:srgbClr val="B8860B"/>
                </a:solidFill>
                <a:latin typeface="Calibri"/>
              </a:rPr>
              <a:t>▸ </a:t>
            </a:r>
            <a:r>
              <a:rPr sz="2000" b="0" i="0">
                <a:solidFill>
                  <a:srgbClr val="1F2A37"/>
                </a:solidFill>
                <a:latin typeface="Calibri"/>
              </a:rPr>
              <a:t>✗ Spalte </a:t>
            </a:r>
            <a:r>
              <a:rPr sz="1900" b="0" i="0">
                <a:solidFill>
                  <a:srgbClr val="1F4E79"/>
                </a:solidFill>
                <a:latin typeface="Consolas"/>
              </a:rPr>
              <a:t>gold &gt;= 12</a:t>
            </a:r>
            <a:r>
              <a:rPr sz="2000" b="0" i="0">
                <a:solidFill>
                  <a:srgbClr val="1F2A37"/>
                </a:solidFill>
                <a:latin typeface="Calibri"/>
              </a:rPr>
              <a:t> – keine Bedingungsspalten</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 Startzeile vergessen</a:t>
            </a:r>
            <a:r>
              <a:rPr sz="2000" b="0" i="0">
                <a:solidFill>
                  <a:srgbClr val="1F2A37"/>
                </a:solidFill>
                <a:latin typeface="Calibri"/>
              </a:rPr>
              <a:t/>
            </a:r>
          </a:p>
          <a:p>
            <a:pPr>
              <a:spcAft>
                <a:spcPts val="1000"/>
              </a:spcAft>
            </a:pPr>
            <a:r>
              <a:rPr sz="2000" b="1" i="0">
                <a:solidFill>
                  <a:srgbClr val="B8860B"/>
                </a:solidFill>
                <a:latin typeface="Calibri"/>
              </a:rPr>
              <a:t>▸ </a:t>
            </a:r>
            <a:r>
              <a:rPr sz="2000" b="0" i="0">
                <a:solidFill>
                  <a:srgbClr val="1F2A37"/>
                </a:solidFill>
                <a:latin typeface="Calibri"/>
              </a:rPr>
              <a:t>✓ eine Zeile an </a:t>
            </a:r>
            <a:r>
              <a:rPr sz="2000" b="1" i="0">
                <a:solidFill>
                  <a:srgbClr val="1F2A37"/>
                </a:solidFill>
                <a:latin typeface="Calibri"/>
              </a:rPr>
              <a:t>jeder</a:t>
            </a:r>
            <a:r>
              <a:rPr sz="2000" b="0" i="0">
                <a:solidFill>
                  <a:srgbClr val="1F2A37"/>
                </a:solidFill>
                <a:latin typeface="Calibri"/>
              </a:rPr>
              <a:t> markierten Stelle</a:t>
            </a:r>
            <a:r>
              <a:rPr sz="2000" b="0" i="0">
                <a:solidFill>
                  <a:srgbClr val="1F2A37"/>
                </a:solidFill>
                <a:latin typeface="Calibri"/>
              </a:rPr>
              <a:t/>
            </a:r>
          </a:p>
        </p:txBody>
      </p:sp>
      <p:graphicFrame>
        <p:nvGraphicFramePr>
          <p:cNvPr id="8" name="Table 7"/>
          <p:cNvGraphicFramePr>
            <a:graphicFrameLocks noGrp="1"/>
          </p:cNvGraphicFramePr>
          <p:nvPr/>
        </p:nvGraphicFramePr>
        <p:xfrm>
          <a:off x="6751319" y="1325880"/>
          <a:ext cx="4891734" cy="2316480"/>
        </p:xfrm>
        <a:graphic>
          <a:graphicData uri="http://schemas.openxmlformats.org/drawingml/2006/table">
            <a:tbl>
              <a:tblPr firstRow="1" bandRow="1">
                <a:tableStyleId>{5C22544A-7EE6-4342-B048-85BDC9FD1C3A}</a:tableStyleId>
              </a:tblPr>
              <a:tblGrid>
                <a:gridCol w="1834400"/>
                <a:gridCol w="1528667"/>
                <a:gridCol w="1528667"/>
              </a:tblGrid>
              <a:tr h="386080">
                <a:tc>
                  <a:txBody>
                    <a:bodyPr/>
                    <a:lstStyle/>
                    <a:p>
                      <a:pPr algn="ctr"/>
                      <a:r>
                        <a:rPr sz="1600" b="1">
                          <a:solidFill>
                            <a:srgbClr val="FFFFFF"/>
                          </a:solidFill>
                          <a:latin typeface="Calibri"/>
                        </a:rPr>
                        <a:t/>
                      </a:r>
                    </a:p>
                  </a:txBody>
                  <a:tcPr marL="54864" marR="54864" marT="18288" marB="18288" anchor="ctr">
                    <a:solidFill>
                      <a:srgbClr val="1F4E79"/>
                    </a:solidFill>
                  </a:tcPr>
                </a:tc>
                <a:tc>
                  <a:txBody>
                    <a:bodyPr/>
                    <a:lstStyle/>
                    <a:p>
                      <a:pPr algn="ctr"/>
                      <a:r>
                        <a:rPr sz="1600" b="1">
                          <a:solidFill>
                            <a:srgbClr val="FFFFFF"/>
                          </a:solidFill>
                          <a:latin typeface="Calibri"/>
                        </a:rPr>
                        <a:t>gold</a:t>
                      </a:r>
                    </a:p>
                  </a:txBody>
                  <a:tcPr marL="54864" marR="54864" marT="18288" marB="18288" anchor="ctr">
                    <a:solidFill>
                      <a:srgbClr val="1F4E79"/>
                    </a:solidFill>
                  </a:tcPr>
                </a:tc>
                <a:tc>
                  <a:txBody>
                    <a:bodyPr/>
                    <a:lstStyle/>
                    <a:p>
                      <a:pPr algn="ctr"/>
                      <a:r>
                        <a:rPr sz="1600" b="1">
                          <a:solidFill>
                            <a:srgbClr val="FFFFFF"/>
                          </a:solidFill>
                          <a:latin typeface="Calibri"/>
                        </a:rPr>
                        <a:t>tage</a:t>
                      </a:r>
                    </a:p>
                  </a:txBody>
                  <a:tcPr marL="54864" marR="54864" marT="18288" marB="18288" anchor="ctr">
                    <a:solidFill>
                      <a:srgbClr val="1F4E79"/>
                    </a:solidFill>
                  </a:tcPr>
                </a:tc>
              </a:tr>
              <a:tr h="386080">
                <a:tc>
                  <a:txBody>
                    <a:bodyPr/>
                    <a:lstStyle/>
                    <a:p>
                      <a:pPr algn="ctr"/>
                      <a:r>
                        <a:rPr sz="1600" b="0">
                          <a:solidFill>
                            <a:srgbClr val="1F2A37"/>
                          </a:solidFill>
                          <a:latin typeface="Consolas"/>
                        </a:rPr>
                        <a:t>Start</a:t>
                      </a:r>
                    </a:p>
                  </a:txBody>
                  <a:tcPr marL="54864" marR="54864" marT="18288" marB="18288" anchor="ctr">
                    <a:solidFill>
                      <a:srgbClr val="FFFFFF"/>
                    </a:solidFill>
                  </a:tcPr>
                </a:tc>
                <a:tc>
                  <a:txBody>
                    <a:bodyPr/>
                    <a:lstStyle/>
                    <a:p>
                      <a:pPr algn="ctr"/>
                      <a:r>
                        <a:rPr sz="1600" b="0">
                          <a:solidFill>
                            <a:srgbClr val="1F2A37"/>
                          </a:solidFill>
                          <a:latin typeface="Consolas"/>
                        </a:rPr>
                        <a:t>50</a:t>
                      </a:r>
                    </a:p>
                  </a:txBody>
                  <a:tcPr marL="54864" marR="54864" marT="18288" marB="18288" anchor="ctr">
                    <a:solidFill>
                      <a:srgbClr val="FFFFFF"/>
                    </a:solidFill>
                  </a:tcPr>
                </a:tc>
                <a:tc>
                  <a:txBody>
                    <a:bodyPr/>
                    <a:lstStyle/>
                    <a:p>
                      <a:pPr algn="ctr"/>
                      <a:r>
                        <a:rPr sz="1600" b="0">
                          <a:solidFill>
                            <a:srgbClr val="1F2A37"/>
                          </a:solidFill>
                          <a:latin typeface="Consolas"/>
                        </a:rPr>
                        <a:t>0</a:t>
                      </a:r>
                    </a:p>
                  </a:txBody>
                  <a:tcPr marL="54864" marR="54864" marT="18288" marB="18288" anchor="ctr">
                    <a:solidFill>
                      <a:srgbClr val="FFFFFF"/>
                    </a:solidFill>
                  </a:tcPr>
                </a:tc>
              </a:tr>
              <a:tr h="386080">
                <a:tc>
                  <a:txBody>
                    <a:bodyPr/>
                    <a:lstStyle/>
                    <a:p>
                      <a:pPr algn="ctr"/>
                      <a:r>
                        <a:rPr sz="1600" b="0">
                          <a:solidFill>
                            <a:srgbClr val="1F2A37"/>
                          </a:solidFill>
                          <a:latin typeface="Consolas"/>
                        </a:rPr>
                        <a:t>1</a:t>
                      </a:r>
                    </a:p>
                  </a:txBody>
                  <a:tcPr marL="54864" marR="54864" marT="18288" marB="18288" anchor="ctr">
                    <a:solidFill>
                      <a:srgbClr val="EEF3FA"/>
                    </a:solidFill>
                  </a:tcPr>
                </a:tc>
                <a:tc>
                  <a:txBody>
                    <a:bodyPr/>
                    <a:lstStyle/>
                    <a:p>
                      <a:pPr algn="ctr"/>
                      <a:r>
                        <a:rPr sz="1600" b="0">
                          <a:solidFill>
                            <a:srgbClr val="1F2A37"/>
                          </a:solidFill>
                          <a:latin typeface="Consolas"/>
                        </a:rPr>
                        <a:t>38</a:t>
                      </a:r>
                    </a:p>
                  </a:txBody>
                  <a:tcPr marL="54864" marR="54864" marT="18288" marB="18288" anchor="ctr">
                    <a:solidFill>
                      <a:srgbClr val="EEF3FA"/>
                    </a:solidFill>
                  </a:tcPr>
                </a:tc>
                <a:tc>
                  <a:txBody>
                    <a:bodyPr/>
                    <a:lstStyle/>
                    <a:p>
                      <a:pPr algn="ctr"/>
                      <a:r>
                        <a:rPr sz="1600" b="0">
                          <a:solidFill>
                            <a:srgbClr val="1F2A37"/>
                          </a:solidFill>
                          <a:latin typeface="Consolas"/>
                        </a:rPr>
                        <a:t>1</a:t>
                      </a:r>
                    </a:p>
                  </a:txBody>
                  <a:tcPr marL="54864" marR="54864" marT="18288" marB="18288" anchor="ctr">
                    <a:solidFill>
                      <a:srgbClr val="EEF3FA"/>
                    </a:solidFill>
                  </a:tcPr>
                </a:tc>
              </a:tr>
              <a:tr h="386080">
                <a:tc>
                  <a:txBody>
                    <a:bodyPr/>
                    <a:lstStyle/>
                    <a:p>
                      <a:pPr algn="ctr"/>
                      <a:r>
                        <a:rPr sz="1600" b="0">
                          <a:solidFill>
                            <a:srgbClr val="1F2A37"/>
                          </a:solidFill>
                          <a:latin typeface="Consolas"/>
                        </a:rPr>
                        <a:t>2</a:t>
                      </a:r>
                    </a:p>
                  </a:txBody>
                  <a:tcPr marL="54864" marR="54864" marT="18288" marB="18288" anchor="ctr">
                    <a:solidFill>
                      <a:srgbClr val="FFFFFF"/>
                    </a:solidFill>
                  </a:tcPr>
                </a:tc>
                <a:tc>
                  <a:txBody>
                    <a:bodyPr/>
                    <a:lstStyle/>
                    <a:p>
                      <a:pPr algn="ctr"/>
                      <a:r>
                        <a:rPr sz="1600" b="0">
                          <a:solidFill>
                            <a:srgbClr val="1F2A37"/>
                          </a:solidFill>
                          <a:latin typeface="Consolas"/>
                        </a:rPr>
                        <a:t>26</a:t>
                      </a:r>
                    </a:p>
                  </a:txBody>
                  <a:tcPr marL="54864" marR="54864" marT="18288" marB="18288" anchor="ctr">
                    <a:solidFill>
                      <a:srgbClr val="FFFFFF"/>
                    </a:solidFill>
                  </a:tcPr>
                </a:tc>
                <a:tc>
                  <a:txBody>
                    <a:bodyPr/>
                    <a:lstStyle/>
                    <a:p>
                      <a:pPr algn="ctr"/>
                      <a:r>
                        <a:rPr sz="1600" b="0">
                          <a:solidFill>
                            <a:srgbClr val="1F2A37"/>
                          </a:solidFill>
                          <a:latin typeface="Consolas"/>
                        </a:rPr>
                        <a:t>2</a:t>
                      </a:r>
                    </a:p>
                  </a:txBody>
                  <a:tcPr marL="54864" marR="54864" marT="18288" marB="18288" anchor="ctr">
                    <a:solidFill>
                      <a:srgbClr val="FFFFFF"/>
                    </a:solidFill>
                  </a:tcPr>
                </a:tc>
              </a:tr>
              <a:tr h="386080">
                <a:tc>
                  <a:txBody>
                    <a:bodyPr/>
                    <a:lstStyle/>
                    <a:p>
                      <a:pPr algn="ctr"/>
                      <a:r>
                        <a:rPr sz="1600" b="0">
                          <a:solidFill>
                            <a:srgbClr val="1F2A37"/>
                          </a:solidFill>
                          <a:latin typeface="Consolas"/>
                        </a:rPr>
                        <a:t>3</a:t>
                      </a:r>
                    </a:p>
                  </a:txBody>
                  <a:tcPr marL="54864" marR="54864" marT="18288" marB="18288" anchor="ctr">
                    <a:solidFill>
                      <a:srgbClr val="EEF3FA"/>
                    </a:solidFill>
                  </a:tcPr>
                </a:tc>
                <a:tc>
                  <a:txBody>
                    <a:bodyPr/>
                    <a:lstStyle/>
                    <a:p>
                      <a:pPr algn="ctr"/>
                      <a:r>
                        <a:rPr sz="1600" b="0">
                          <a:solidFill>
                            <a:srgbClr val="1F2A37"/>
                          </a:solidFill>
                          <a:latin typeface="Consolas"/>
                        </a:rPr>
                        <a:t>14</a:t>
                      </a:r>
                    </a:p>
                  </a:txBody>
                  <a:tcPr marL="54864" marR="54864" marT="18288" marB="18288" anchor="ctr">
                    <a:solidFill>
                      <a:srgbClr val="EEF3FA"/>
                    </a:solidFill>
                  </a:tcPr>
                </a:tc>
                <a:tc>
                  <a:txBody>
                    <a:bodyPr/>
                    <a:lstStyle/>
                    <a:p>
                      <a:pPr algn="ctr"/>
                      <a:r>
                        <a:rPr sz="1600" b="0">
                          <a:solidFill>
                            <a:srgbClr val="1F2A37"/>
                          </a:solidFill>
                          <a:latin typeface="Consolas"/>
                        </a:rPr>
                        <a:t>3</a:t>
                      </a:r>
                    </a:p>
                  </a:txBody>
                  <a:tcPr marL="54864" marR="54864" marT="18288" marB="18288" anchor="ctr">
                    <a:solidFill>
                      <a:srgbClr val="EEF3FA"/>
                    </a:solidFill>
                  </a:tcPr>
                </a:tc>
              </a:tr>
              <a:tr h="386080">
                <a:tc>
                  <a:txBody>
                    <a:bodyPr/>
                    <a:lstStyle/>
                    <a:p>
                      <a:pPr algn="ctr"/>
                      <a:r>
                        <a:rPr sz="1600" b="0">
                          <a:solidFill>
                            <a:srgbClr val="1F2A37"/>
                          </a:solidFill>
                          <a:latin typeface="Consolas"/>
                        </a:rPr>
                        <a:t>4</a:t>
                      </a:r>
                    </a:p>
                  </a:txBody>
                  <a:tcPr marL="54864" marR="54864" marT="18288" marB="18288" anchor="ctr">
                    <a:solidFill>
                      <a:srgbClr val="FFFFFF"/>
                    </a:solidFill>
                  </a:tcPr>
                </a:tc>
                <a:tc>
                  <a:txBody>
                    <a:bodyPr/>
                    <a:lstStyle/>
                    <a:p>
                      <a:pPr algn="ctr"/>
                      <a:r>
                        <a:rPr sz="1600" b="0">
                          <a:solidFill>
                            <a:srgbClr val="1F2A37"/>
                          </a:solidFill>
                          <a:latin typeface="Consolas"/>
                        </a:rPr>
                        <a:t>2</a:t>
                      </a:r>
                    </a:p>
                  </a:txBody>
                  <a:tcPr marL="54864" marR="54864" marT="18288" marB="18288" anchor="ctr">
                    <a:solidFill>
                      <a:srgbClr val="FFFFFF"/>
                    </a:solidFill>
                  </a:tcPr>
                </a:tc>
                <a:tc>
                  <a:txBody>
                    <a:bodyPr/>
                    <a:lstStyle/>
                    <a:p>
                      <a:pPr algn="ctr"/>
                      <a:r>
                        <a:rPr sz="1600" b="0">
                          <a:solidFill>
                            <a:srgbClr val="1F2A37"/>
                          </a:solidFill>
                          <a:latin typeface="Consolas"/>
                        </a:rPr>
                        <a:t>4</a:t>
                      </a:r>
                    </a:p>
                  </a:txBody>
                  <a:tcPr marL="54864" marR="54864" marT="18288" marB="18288" anchor="ctr">
                    <a:solidFill>
                      <a:srgbClr val="FFFFFF"/>
                    </a:solidFill>
                  </a:tcPr>
                </a:tc>
              </a:tr>
            </a:tbl>
          </a:graphicData>
        </a:graphic>
      </p:graphicFrame>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P9: Struktogramm nach EH §5</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5669280" cy="2461254"/>
        </p:xfrm>
        <a:graphic>
          <a:graphicData uri="http://schemas.openxmlformats.org/drawingml/2006/table">
            <a:tbl>
              <a:tblPr firstRow="1" bandRow="1">
                <a:tableStyleId>{5C22544A-7EE6-4342-B048-85BDC9FD1C3A}</a:tableStyleId>
              </a:tblPr>
              <a:tblGrid>
                <a:gridCol w="2834640"/>
                <a:gridCol w="2834640"/>
              </a:tblGrid>
              <a:tr h="410209">
                <a:tc>
                  <a:txBody>
                    <a:bodyPr/>
                    <a:lstStyle/>
                    <a:p>
                      <a:pPr algn="ctr"/>
                      <a:r>
                        <a:rPr sz="1700" b="1">
                          <a:solidFill>
                            <a:srgbClr val="FFFFFF"/>
                          </a:solidFill>
                          <a:latin typeface="Calibri"/>
                        </a:rPr>
                        <a:t>✗ Java im Struktogramm</a:t>
                      </a:r>
                    </a:p>
                  </a:txBody>
                  <a:tcPr marL="54864" marR="54864" marT="18288" marB="18288" anchor="ctr">
                    <a:solidFill>
                      <a:srgbClr val="1F4E79"/>
                    </a:solidFill>
                  </a:tcPr>
                </a:tc>
                <a:tc>
                  <a:txBody>
                    <a:bodyPr/>
                    <a:lstStyle/>
                    <a:p>
                      <a:pPr algn="ctr"/>
                      <a:r>
                        <a:rPr sz="1700" b="1">
                          <a:solidFill>
                            <a:srgbClr val="FFFFFF"/>
                          </a:solidFill>
                          <a:latin typeface="Calibri"/>
                        </a:rPr>
                        <a:t>✓ nach EH §5</a:t>
                      </a:r>
                    </a:p>
                  </a:txBody>
                  <a:tcPr marL="54864" marR="54864" marT="18288" marB="18288" anchor="ctr">
                    <a:solidFill>
                      <a:srgbClr val="1F4E79"/>
                    </a:solidFill>
                  </a:tcPr>
                </a:tc>
              </a:tr>
              <a:tr h="410209">
                <a:tc>
                  <a:txBody>
                    <a:bodyPr/>
                    <a:lstStyle/>
                    <a:p>
                      <a:pPr algn="ctr"/>
                      <a:r>
                        <a:rPr sz="1700" b="0">
                          <a:solidFill>
                            <a:srgbClr val="1F2A37"/>
                          </a:solidFill>
                          <a:latin typeface="Consolas"/>
                        </a:rPr>
                        <a:t>int vor dem Namen</a:t>
                      </a:r>
                    </a:p>
                  </a:txBody>
                  <a:tcPr marL="54864" marR="54864" marT="18288" marB="18288" anchor="ctr">
                    <a:solidFill>
                      <a:srgbClr val="FFFFFF"/>
                    </a:solidFill>
                  </a:tcPr>
                </a:tc>
                <a:tc>
                  <a:txBody>
                    <a:bodyPr/>
                    <a:lstStyle/>
                    <a:p>
                      <a:pPr algn="ctr"/>
                      <a:r>
                        <a:rPr sz="1700" b="0">
                          <a:solidFill>
                            <a:srgbClr val="1F2A37"/>
                          </a:solidFill>
                          <a:latin typeface="Consolas"/>
                        </a:rPr>
                        <a:t>Typen nach „:“</a:t>
                      </a:r>
                    </a:p>
                  </a:txBody>
                  <a:tcPr marL="54864" marR="54864" marT="18288" marB="18288" anchor="ctr">
                    <a:solidFill>
                      <a:srgbClr val="FFFFFF"/>
                    </a:solidFill>
                  </a:tcPr>
                </a:tc>
              </a:tr>
              <a:tr h="410209">
                <a:tc>
                  <a:txBody>
                    <a:bodyPr/>
                    <a:lstStyle/>
                    <a:p>
                      <a:pPr algn="ctr"/>
                      <a:r>
                        <a:rPr sz="1700" b="0">
                          <a:solidFill>
                            <a:srgbClr val="1F2A37"/>
                          </a:solidFill>
                          <a:latin typeface="Consolas"/>
                        </a:rPr>
                        <a:t>int s = 0;</a:t>
                      </a:r>
                    </a:p>
                  </a:txBody>
                  <a:tcPr marL="54864" marR="54864" marT="18288" marB="18288" anchor="ctr">
                    <a:solidFill>
                      <a:srgbClr val="EEF3FA"/>
                    </a:solidFill>
                  </a:tcPr>
                </a:tc>
                <a:tc>
                  <a:txBody>
                    <a:bodyPr/>
                    <a:lstStyle/>
                    <a:p>
                      <a:pPr algn="ctr"/>
                      <a:r>
                        <a:rPr sz="1700" b="0">
                          <a:solidFill>
                            <a:srgbClr val="1F2A37"/>
                          </a:solidFill>
                          <a:latin typeface="Consolas"/>
                        </a:rPr>
                        <a:t>s ← 0</a:t>
                      </a:r>
                    </a:p>
                  </a:txBody>
                  <a:tcPr marL="54864" marR="54864" marT="18288" marB="18288" anchor="ctr">
                    <a:solidFill>
                      <a:srgbClr val="EEF3FA"/>
                    </a:solidFill>
                  </a:tcPr>
                </a:tc>
              </a:tr>
              <a:tr h="410209">
                <a:tc>
                  <a:txBody>
                    <a:bodyPr/>
                    <a:lstStyle/>
                    <a:p>
                      <a:pPr algn="ctr"/>
                      <a:r>
                        <a:rPr sz="1700" b="0">
                          <a:solidFill>
                            <a:srgbClr val="1F2A37"/>
                          </a:solidFill>
                          <a:latin typeface="Consolas"/>
                        </a:rPr>
                        <a:t>for (…; i &lt;= b; i++)</a:t>
                      </a:r>
                    </a:p>
                  </a:txBody>
                  <a:tcPr marL="54864" marR="54864" marT="18288" marB="18288" anchor="ctr">
                    <a:solidFill>
                      <a:srgbClr val="FFFFFF"/>
                    </a:solidFill>
                  </a:tcPr>
                </a:tc>
                <a:tc>
                  <a:txBody>
                    <a:bodyPr/>
                    <a:lstStyle/>
                    <a:p>
                      <a:pPr algn="ctr"/>
                      <a:r>
                        <a:rPr sz="1700" b="0">
                          <a:solidFill>
                            <a:srgbClr val="1F2A37"/>
                          </a:solidFill>
                          <a:latin typeface="Consolas"/>
                        </a:rPr>
                        <a:t>für i von a bis b</a:t>
                      </a:r>
                    </a:p>
                  </a:txBody>
                  <a:tcPr marL="54864" marR="54864" marT="18288" marB="18288" anchor="ctr">
                    <a:solidFill>
                      <a:srgbClr val="FFFFFF"/>
                    </a:solidFill>
                  </a:tcPr>
                </a:tc>
              </a:tr>
              <a:tr h="410209">
                <a:tc>
                  <a:txBody>
                    <a:bodyPr/>
                    <a:lstStyle/>
                    <a:p>
                      <a:pPr algn="ctr"/>
                      <a:r>
                        <a:rPr sz="1700" b="0">
                          <a:solidFill>
                            <a:srgbClr val="1F2A37"/>
                          </a:solidFill>
                          <a:latin typeface="Consolas"/>
                        </a:rPr>
                        <a:t>s += i;</a:t>
                      </a:r>
                    </a:p>
                  </a:txBody>
                  <a:tcPr marL="54864" marR="54864" marT="18288" marB="18288" anchor="ctr">
                    <a:solidFill>
                      <a:srgbClr val="EEF3FA"/>
                    </a:solidFill>
                  </a:tcPr>
                </a:tc>
                <a:tc>
                  <a:txBody>
                    <a:bodyPr/>
                    <a:lstStyle/>
                    <a:p>
                      <a:pPr algn="ctr"/>
                      <a:r>
                        <a:rPr sz="1700" b="0">
                          <a:solidFill>
                            <a:srgbClr val="1F2A37"/>
                          </a:solidFill>
                          <a:latin typeface="Consolas"/>
                        </a:rPr>
                        <a:t>s ← s + i</a:t>
                      </a:r>
                    </a:p>
                  </a:txBody>
                  <a:tcPr marL="54864" marR="54864" marT="18288" marB="18288" anchor="ctr">
                    <a:solidFill>
                      <a:srgbClr val="EEF3FA"/>
                    </a:solidFill>
                  </a:tcPr>
                </a:tc>
              </a:tr>
              <a:tr h="410209">
                <a:tc>
                  <a:txBody>
                    <a:bodyPr/>
                    <a:lstStyle/>
                    <a:p>
                      <a:pPr algn="ctr"/>
                      <a:r>
                        <a:rPr sz="1700" b="0">
                          <a:solidFill>
                            <a:srgbClr val="1F2A37"/>
                          </a:solidFill>
                          <a:latin typeface="Consolas"/>
                        </a:rPr>
                        <a:t>return s;</a:t>
                      </a:r>
                    </a:p>
                  </a:txBody>
                  <a:tcPr marL="54864" marR="54864" marT="18288" marB="18288" anchor="ctr">
                    <a:solidFill>
                      <a:srgbClr val="FFFFFF"/>
                    </a:solidFill>
                  </a:tcPr>
                </a:tc>
                <a:tc>
                  <a:txBody>
                    <a:bodyPr/>
                    <a:lstStyle/>
                    <a:p>
                      <a:pPr algn="ctr"/>
                      <a:r>
                        <a:rPr sz="1700" b="0">
                          <a:solidFill>
                            <a:srgbClr val="1F2A37"/>
                          </a:solidFill>
                          <a:latin typeface="Consolas"/>
                        </a:rPr>
                        <a:t>gib s zurück</a:t>
                      </a:r>
                    </a:p>
                  </a:txBody>
                  <a:tcPr marL="54864" marR="54864" marT="18288" marB="18288" anchor="ctr">
                    <a:solidFill>
                      <a:srgbClr val="FFFFFF"/>
                    </a:solidFill>
                  </a:tcPr>
                </a:tc>
              </a:tr>
            </a:tbl>
          </a:graphicData>
        </a:graphic>
      </p:graphicFrame>
      <p:pic>
        <p:nvPicPr>
          <p:cNvPr id="6" name="Picture 5" descr="sg_richtig.png"/>
          <p:cNvPicPr>
            <a:picLocks noChangeAspect="1"/>
          </p:cNvPicPr>
          <p:nvPr/>
        </p:nvPicPr>
        <p:blipFill>
          <a:blip r:embed="rId2"/>
          <a:stretch>
            <a:fillRect/>
          </a:stretch>
        </p:blipFill>
        <p:spPr>
          <a:xfrm>
            <a:off x="6492240" y="1325880"/>
            <a:ext cx="4247965" cy="2651759"/>
          </a:xfrm>
          <a:prstGeom prst="rect">
            <a:avLst/>
          </a:prstGeom>
        </p:spPr>
      </p:pic>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P10: Operator verfehlt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4892040"/>
          </a:xfrm>
          <a:prstGeom prst="rect">
            <a:avLst/>
          </a:prstGeom>
          <a:noFill/>
        </p:spPr>
        <p:txBody>
          <a:bodyPr wrap="square" anchor="t" lIns="45720" rIns="45720">
            <a:spAutoFit/>
          </a:bodyPr>
          <a:lstStyle/>
          <a:p>
            <a:pPr>
              <a:spcAft>
                <a:spcPts val="1000"/>
              </a:spcAft>
            </a:pPr>
            <a:r>
              <a:rPr sz="2100" b="1" i="0">
                <a:solidFill>
                  <a:srgbClr val="B8860B"/>
                </a:solidFill>
                <a:latin typeface="Calibri"/>
              </a:rPr>
              <a:t>▸ </a:t>
            </a:r>
            <a:r>
              <a:rPr sz="2100" b="0" i="0">
                <a:solidFill>
                  <a:srgbClr val="1F2A37"/>
                </a:solidFill>
                <a:latin typeface="Calibri"/>
              </a:rPr>
              <a:t>„</a:t>
            </a:r>
            <a:r>
              <a:rPr sz="2100" b="1" i="0">
                <a:solidFill>
                  <a:srgbClr val="1F2A37"/>
                </a:solidFill>
                <a:latin typeface="Calibri"/>
              </a:rPr>
              <a:t>Beurteilen Sie</a:t>
            </a:r>
            <a:r>
              <a:rPr sz="2100" b="0" i="0">
                <a:solidFill>
                  <a:srgbClr val="1F2A37"/>
                </a:solidFill>
                <a:latin typeface="Calibri"/>
              </a:rPr>
              <a:t>, ob </a:t>
            </a:r>
            <a:r>
              <a:rPr sz="2000" b="0" i="0">
                <a:solidFill>
                  <a:srgbClr val="1F4E79"/>
                </a:solidFill>
                <a:latin typeface="Consolas"/>
              </a:rPr>
              <a:t>summeVonBis</a:t>
            </a:r>
            <a:r>
              <a:rPr sz="2100" b="0" i="0">
                <a:solidFill>
                  <a:srgbClr val="1F2A37"/>
                </a:solidFill>
                <a:latin typeface="Calibri"/>
              </a:rPr>
              <a:t> (korrigiert) für a &gt; b ein sinnvolles Ergebnis liefert.“</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 „Ja, die Methode funktioniert.“ – Urteil ohne Begründung</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 „Die Schleife läuft nicht, Rückgabe 0.“ – nur beschrieben</a:t>
            </a:r>
            <a:r>
              <a:rPr sz="2100" b="0" i="0">
                <a:solidFill>
                  <a:srgbClr val="1F2A37"/>
                </a:solidFill>
                <a:latin typeface="Calibri"/>
              </a:rPr>
              <a:t/>
            </a:r>
          </a:p>
          <a:p>
            <a:pPr>
              <a:spcAft>
                <a:spcPts val="1000"/>
              </a:spcAft>
            </a:pPr>
            <a:r>
              <a:rPr sz="2100" b="1" i="0">
                <a:solidFill>
                  <a:srgbClr val="B8860B"/>
                </a:solidFill>
                <a:latin typeface="Calibri"/>
              </a:rPr>
              <a:t>▸ </a:t>
            </a:r>
            <a:r>
              <a:rPr sz="2100" b="0" i="0">
                <a:solidFill>
                  <a:srgbClr val="1F2A37"/>
                </a:solidFill>
                <a:latin typeface="Calibri"/>
              </a:rPr>
              <a:t>✓ Kriterium → Begründung → Urteil:</a:t>
            </a:r>
            <a:r>
              <a:rPr sz="2100" b="0" i="0">
                <a:solidFill>
                  <a:srgbClr val="1F2A37"/>
                </a:solidFill>
                <a:latin typeface="Calibri"/>
              </a:rPr>
              <a:t/>
            </a:r>
          </a:p>
          <a:p>
            <a:pPr>
              <a:spcAft>
                <a:spcPts val="1000"/>
              </a:spcAft>
            </a:pPr>
            <a:r>
              <a:rPr sz="2100" b="1" i="0">
                <a:solidFill>
                  <a:srgbClr val="7F7F7F"/>
                </a:solidFill>
                <a:latin typeface="Calibri"/>
              </a:rPr>
              <a:t>      – </a:t>
            </a:r>
            <a:r>
              <a:rPr sz="1800" b="0" i="0">
                <a:solidFill>
                  <a:srgbClr val="1F2A37"/>
                </a:solidFill>
                <a:latin typeface="Calibri"/>
              </a:rPr>
              <a:t>Ein leerer Bereich hat die Summe 0, ein Laufzeitfehler darf nicht auftreten.</a:t>
            </a:r>
            <a:r>
              <a:rPr sz="2100" b="0" i="0">
                <a:solidFill>
                  <a:srgbClr val="1F2A37"/>
                </a:solidFill>
                <a:latin typeface="Calibri"/>
              </a:rPr>
              <a:t/>
            </a:r>
          </a:p>
          <a:p>
            <a:pPr>
              <a:spcAft>
                <a:spcPts val="1000"/>
              </a:spcAft>
            </a:pPr>
            <a:r>
              <a:rPr sz="2100" b="1" i="0">
                <a:solidFill>
                  <a:srgbClr val="7F7F7F"/>
                </a:solidFill>
                <a:latin typeface="Calibri"/>
              </a:rPr>
              <a:t>      – </a:t>
            </a:r>
            <a:r>
              <a:rPr sz="1800" b="0" i="0">
                <a:solidFill>
                  <a:srgbClr val="1F2A37"/>
                </a:solidFill>
                <a:latin typeface="Calibri"/>
              </a:rPr>
              <a:t>Für a &gt; b ist </a:t>
            </a:r>
            <a:r>
              <a:rPr sz="1700" b="0" i="0">
                <a:solidFill>
                  <a:srgbClr val="1F4E79"/>
                </a:solidFill>
                <a:latin typeface="Consolas"/>
              </a:rPr>
              <a:t>i &lt;= b</a:t>
            </a:r>
            <a:r>
              <a:rPr sz="1800" b="0" i="0">
                <a:solidFill>
                  <a:srgbClr val="1F2A37"/>
                </a:solidFill>
                <a:latin typeface="Calibri"/>
              </a:rPr>
              <a:t> sofort falsch, der Rumpf läuft nie, </a:t>
            </a:r>
            <a:r>
              <a:rPr sz="1700" b="0" i="0">
                <a:solidFill>
                  <a:srgbClr val="1F4E79"/>
                </a:solidFill>
                <a:latin typeface="Consolas"/>
              </a:rPr>
              <a:t>s</a:t>
            </a:r>
            <a:r>
              <a:rPr sz="1800" b="0" i="0">
                <a:solidFill>
                  <a:srgbClr val="1F2A37"/>
                </a:solidFill>
                <a:latin typeface="Calibri"/>
              </a:rPr>
              <a:t> bleibt 0.</a:t>
            </a:r>
            <a:r>
              <a:rPr sz="2100" b="0" i="0">
                <a:solidFill>
                  <a:srgbClr val="1F2A37"/>
                </a:solidFill>
                <a:latin typeface="Calibri"/>
              </a:rPr>
              <a:t/>
            </a:r>
          </a:p>
          <a:p>
            <a:pPr>
              <a:spcAft>
                <a:spcPts val="1000"/>
              </a:spcAft>
            </a:pPr>
            <a:r>
              <a:rPr sz="2100" b="1" i="0">
                <a:solidFill>
                  <a:srgbClr val="7F7F7F"/>
                </a:solidFill>
                <a:latin typeface="Calibri"/>
              </a:rPr>
              <a:t>      – </a:t>
            </a:r>
            <a:r>
              <a:rPr sz="1800" b="0" i="0">
                <a:solidFill>
                  <a:srgbClr val="1F2A37"/>
                </a:solidFill>
                <a:latin typeface="Calibri"/>
              </a:rPr>
              <a:t>Also ist das Ergebnis sinnvoll.</a:t>
            </a:r>
            <a:r>
              <a:rPr sz="2100" b="0" i="0">
                <a:solidFill>
                  <a:srgbClr val="1F2A37"/>
                </a:solidFill>
                <a:latin typeface="Calibri"/>
              </a:rPr>
              <a:t/>
            </a:r>
          </a:p>
        </p:txBody>
      </p:sp>
      <p:sp>
        <p:nvSpPr>
          <p:cNvPr id="6" name="TextBox 5"/>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Finde die Falle!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7772400" cy="804671"/>
          </a:xfrm>
          <a:prstGeom prst="rect">
            <a:avLst/>
          </a:prstGeom>
          <a:noFill/>
        </p:spPr>
        <p:txBody>
          <a:bodyPr wrap="square" anchor="t" lIns="45720" rIns="45720">
            <a:spAutoFit/>
          </a:bodyPr>
          <a:lstStyle/>
          <a:p>
            <a:r>
              <a:rPr sz="2400" b="0" i="0">
                <a:solidFill>
                  <a:srgbClr val="1F2A37"/>
                </a:solidFill>
                <a:latin typeface="Calibri"/>
              </a:rPr>
              <a:t>Die Methode soll zählen, wie viele Wörter in </a:t>
            </a:r>
            <a:r>
              <a:rPr sz="2300" b="0" i="0">
                <a:solidFill>
                  <a:srgbClr val="1F4E79"/>
                </a:solidFill>
                <a:latin typeface="Consolas"/>
              </a:rPr>
              <a:t>r</a:t>
            </a:r>
            <a:r>
              <a:rPr sz="2400" b="0" i="0">
                <a:solidFill>
                  <a:srgbClr val="1F2A37"/>
                </a:solidFill>
                <a:latin typeface="Calibri"/>
              </a:rPr>
              <a:t> mit </a:t>
            </a:r>
            <a:r>
              <a:rPr sz="2300" b="0" i="0">
                <a:solidFill>
                  <a:srgbClr val="1F4E79"/>
                </a:solidFill>
                <a:latin typeface="Consolas"/>
              </a:rPr>
              <a:t>z</a:t>
            </a:r>
            <a:r>
              <a:rPr sz="2400" b="0" i="0">
                <a:solidFill>
                  <a:srgbClr val="1F2A37"/>
                </a:solidFill>
                <a:latin typeface="Calibri"/>
              </a:rPr>
              <a:t> beginnen. Finde </a:t>
            </a:r>
            <a:r>
              <a:rPr sz="2400" b="1" i="0">
                <a:solidFill>
                  <a:srgbClr val="1F2A37"/>
                </a:solidFill>
                <a:latin typeface="Calibri"/>
              </a:rPr>
              <a:t>drei</a:t>
            </a:r>
            <a:r>
              <a:rPr sz="2400" b="0" i="0">
                <a:solidFill>
                  <a:srgbClr val="1F2A37"/>
                </a:solidFill>
                <a:latin typeface="Calibri"/>
              </a:rPr>
              <a:t> Fallen und nenne die P-Nummern.</a:t>
            </a:r>
          </a:p>
        </p:txBody>
      </p:sp>
      <p:sp>
        <p:nvSpPr>
          <p:cNvPr id="7" name="Rectangle 6"/>
          <p:cNvSpPr/>
          <p:nvPr/>
        </p:nvSpPr>
        <p:spPr>
          <a:xfrm>
            <a:off x="548640" y="3182112"/>
            <a:ext cx="7772400" cy="279349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255264"/>
            <a:ext cx="7589520" cy="2702052"/>
          </a:xfrm>
          <a:prstGeom prst="rect">
            <a:avLst/>
          </a:prstGeom>
          <a:noFill/>
        </p:spPr>
        <p:txBody>
          <a:bodyPr wrap="square" anchor="t" lIns="45720" rIns="45720">
            <a:spAutoFit/>
          </a:bodyPr>
          <a:lstStyle/>
          <a:p>
            <a:pPr>
              <a:lnSpc>
                <a:spcPct val="100000"/>
              </a:lnSpc>
            </a:pPr>
            <a:r>
              <a:rPr sz="1700" b="0" i="0">
                <a:solidFill>
                  <a:srgbClr val="A0A7B1"/>
                </a:solidFill>
                <a:latin typeface="Consolas"/>
              </a:rPr>
              <a:t>1  </a:t>
            </a:r>
            <a:r>
              <a:rPr sz="1700" b="0" i="0">
                <a:solidFill>
                  <a:srgbClr val="1F2A37"/>
                </a:solidFill>
                <a:latin typeface="Consolas"/>
              </a:rPr>
              <a:t>public static int zaehleAnfang(String[] r, String z) {</a:t>
            </a:r>
          </a:p>
          <a:p>
            <a:pPr>
              <a:lnSpc>
                <a:spcPct val="100000"/>
              </a:lnSpc>
            </a:pPr>
            <a:r>
              <a:rPr sz="1700" b="0" i="0">
                <a:solidFill>
                  <a:srgbClr val="A0A7B1"/>
                </a:solidFill>
                <a:latin typeface="Consolas"/>
              </a:rPr>
              <a:t>2  </a:t>
            </a:r>
            <a:r>
              <a:rPr sz="1700" b="0" i="0">
                <a:solidFill>
                  <a:srgbClr val="1F2A37"/>
                </a:solidFill>
                <a:latin typeface="Consolas"/>
              </a:rPr>
              <a:t>    int anzahl = 0;</a:t>
            </a:r>
          </a:p>
          <a:p>
            <a:pPr>
              <a:lnSpc>
                <a:spcPct val="100000"/>
              </a:lnSpc>
            </a:pPr>
            <a:r>
              <a:rPr sz="1700" b="0" i="0">
                <a:solidFill>
                  <a:srgbClr val="A0A7B1"/>
                </a:solidFill>
                <a:latin typeface="Consolas"/>
              </a:rPr>
              <a:t>3  </a:t>
            </a:r>
            <a:r>
              <a:rPr sz="1700" b="0" i="0">
                <a:solidFill>
                  <a:srgbClr val="1F2A37"/>
                </a:solidFill>
                <a:latin typeface="Consolas"/>
              </a:rPr>
              <a:t>    for (int i = 1; i &lt; r.length; i++) {</a:t>
            </a:r>
          </a:p>
          <a:p>
            <a:pPr>
              <a:lnSpc>
                <a:spcPct val="100000"/>
              </a:lnSpc>
            </a:pPr>
            <a:r>
              <a:rPr sz="1700" b="0" i="0">
                <a:solidFill>
                  <a:srgbClr val="A0A7B1"/>
                </a:solidFill>
                <a:latin typeface="Consolas"/>
              </a:rPr>
              <a:t>4  </a:t>
            </a:r>
            <a:r>
              <a:rPr sz="1700" b="0" i="0">
                <a:solidFill>
                  <a:srgbClr val="1F2A37"/>
                </a:solidFill>
                <a:latin typeface="Consolas"/>
              </a:rPr>
              <a:t>        if (r[i].substring(0, 1) == z) {</a:t>
            </a:r>
          </a:p>
          <a:p>
            <a:pPr>
              <a:lnSpc>
                <a:spcPct val="100000"/>
              </a:lnSpc>
            </a:pPr>
            <a:r>
              <a:rPr sz="1700" b="0" i="0">
                <a:solidFill>
                  <a:srgbClr val="A0A7B1"/>
                </a:solidFill>
                <a:latin typeface="Consolas"/>
              </a:rPr>
              <a:t>5  </a:t>
            </a:r>
            <a:r>
              <a:rPr sz="1700" b="0" i="0">
                <a:solidFill>
                  <a:srgbClr val="1F2A37"/>
                </a:solidFill>
                <a:latin typeface="Consolas"/>
              </a:rPr>
              <a:t>            anzahl++;</a:t>
            </a:r>
          </a:p>
          <a:p>
            <a:pPr>
              <a:lnSpc>
                <a:spcPct val="100000"/>
              </a:lnSpc>
            </a:pPr>
            <a:r>
              <a:rPr sz="1700" b="0" i="0">
                <a:solidFill>
                  <a:srgbClr val="A0A7B1"/>
                </a:solidFill>
                <a:latin typeface="Consolas"/>
              </a:rPr>
              <a:t>6  </a:t>
            </a:r>
            <a:r>
              <a:rPr sz="1700" b="0" i="0">
                <a:solidFill>
                  <a:srgbClr val="1F2A37"/>
                </a:solidFill>
                <a:latin typeface="Consolas"/>
              </a:rPr>
              <a:t>        }</a:t>
            </a:r>
          </a:p>
          <a:p>
            <a:pPr>
              <a:lnSpc>
                <a:spcPct val="100000"/>
              </a:lnSpc>
            </a:pPr>
            <a:r>
              <a:rPr sz="1700" b="0" i="0">
                <a:solidFill>
                  <a:srgbClr val="A0A7B1"/>
                </a:solidFill>
                <a:latin typeface="Consolas"/>
              </a:rPr>
              <a:t>7  </a:t>
            </a:r>
            <a:r>
              <a:rPr sz="1700" b="0" i="0">
                <a:solidFill>
                  <a:srgbClr val="1F2A37"/>
                </a:solidFill>
                <a:latin typeface="Consolas"/>
              </a:rPr>
              <a:t>    }</a:t>
            </a:r>
          </a:p>
          <a:p>
            <a:pPr>
              <a:lnSpc>
                <a:spcPct val="100000"/>
              </a:lnSpc>
            </a:pPr>
            <a:r>
              <a:rPr sz="1700" b="0" i="0">
                <a:solidFill>
                  <a:srgbClr val="A0A7B1"/>
                </a:solidFill>
                <a:latin typeface="Consolas"/>
              </a:rPr>
              <a:t>8  </a:t>
            </a:r>
            <a:r>
              <a:rPr sz="1700" b="0" i="0">
                <a:solidFill>
                  <a:srgbClr val="1F2A37"/>
                </a:solidFill>
                <a:latin typeface="Consolas"/>
              </a:rPr>
              <a:t>    return anzahl;</a:t>
            </a:r>
          </a:p>
          <a:p>
            <a:pPr>
              <a:lnSpc>
                <a:spcPct val="100000"/>
              </a:lnSpc>
            </a:pPr>
            <a:r>
              <a:rPr sz="1700" b="0" i="0">
                <a:solidFill>
                  <a:srgbClr val="A0A7B1"/>
                </a:solidFill>
                <a:latin typeface="Consolas"/>
              </a:rPr>
              <a:t>9  </a:t>
            </a:r>
            <a:r>
              <a:rPr sz="1700" b="0" i="0">
                <a:solidFill>
                  <a:srgbClr val="1F2A37"/>
                </a:solidFill>
                <a:latin typeface="Consolas"/>
              </a:rPr>
              <a:t>}</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drei Fallen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7162495" cy="274320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979615" cy="2651760"/>
          </a:xfrm>
          <a:prstGeom prst="rect">
            <a:avLst/>
          </a:prstGeom>
          <a:noFill/>
        </p:spPr>
        <p:txBody>
          <a:bodyPr wrap="square" anchor="t" lIns="45720" rIns="45720">
            <a:spAutoFit/>
          </a:bodyPr>
          <a:lstStyle/>
          <a:p>
            <a:pPr>
              <a:lnSpc>
                <a:spcPct val="100000"/>
              </a:lnSpc>
            </a:pPr>
            <a:r>
              <a:rPr sz="1500" b="0" i="0">
                <a:solidFill>
                  <a:srgbClr val="A0A7B1"/>
                </a:solidFill>
                <a:latin typeface="Consolas"/>
              </a:rPr>
              <a:t> 1  </a:t>
            </a:r>
            <a:r>
              <a:rPr sz="1500" b="0" i="0">
                <a:solidFill>
                  <a:srgbClr val="1F2A37"/>
                </a:solidFill>
                <a:latin typeface="Consolas"/>
              </a:rPr>
              <a:t>public static int zaehleAnfang(String[] r, String z) {</a:t>
            </a:r>
          </a:p>
          <a:p>
            <a:pPr>
              <a:lnSpc>
                <a:spcPct val="100000"/>
              </a:lnSpc>
            </a:pPr>
            <a:r>
              <a:rPr sz="1500" b="0" i="0">
                <a:solidFill>
                  <a:srgbClr val="A0A7B1"/>
                </a:solidFill>
                <a:latin typeface="Consolas"/>
              </a:rPr>
              <a:t> 2  </a:t>
            </a:r>
            <a:r>
              <a:rPr sz="1500" b="0" i="0">
                <a:solidFill>
                  <a:srgbClr val="1F2A37"/>
                </a:solidFill>
                <a:latin typeface="Consolas"/>
              </a:rPr>
              <a:t>    int anzahl = 0;</a:t>
            </a:r>
          </a:p>
          <a:p>
            <a:pPr>
              <a:lnSpc>
                <a:spcPct val="100000"/>
              </a:lnSpc>
            </a:pPr>
            <a:r>
              <a:rPr sz="1500" b="0" i="0">
                <a:solidFill>
                  <a:srgbClr val="A0A7B1"/>
                </a:solidFill>
                <a:latin typeface="Consolas"/>
              </a:rPr>
              <a:t> 3  </a:t>
            </a:r>
            <a:r>
              <a:rPr sz="1500" b="1" i="0">
                <a:solidFill>
                  <a:srgbClr val="C00000"/>
                </a:solidFill>
                <a:latin typeface="Consolas"/>
              </a:rPr>
              <a:t>    for (int i = 0; i &lt; r.length; i++) {</a:t>
            </a:r>
          </a:p>
          <a:p>
            <a:pPr>
              <a:lnSpc>
                <a:spcPct val="100000"/>
              </a:lnSpc>
            </a:pPr>
            <a:r>
              <a:rPr sz="1500" b="0" i="0">
                <a:solidFill>
                  <a:srgbClr val="A0A7B1"/>
                </a:solidFill>
                <a:latin typeface="Consolas"/>
              </a:rPr>
              <a:t> 4  </a:t>
            </a:r>
            <a:r>
              <a:rPr sz="1500" b="1" i="0">
                <a:solidFill>
                  <a:srgbClr val="C00000"/>
                </a:solidFill>
                <a:latin typeface="Consolas"/>
              </a:rPr>
              <a:t>        if (r[i].length() &gt; 0</a:t>
            </a:r>
          </a:p>
          <a:p>
            <a:pPr>
              <a:lnSpc>
                <a:spcPct val="100000"/>
              </a:lnSpc>
            </a:pPr>
            <a:r>
              <a:rPr sz="1500" b="0" i="0">
                <a:solidFill>
                  <a:srgbClr val="A0A7B1"/>
                </a:solidFill>
                <a:latin typeface="Consolas"/>
              </a:rPr>
              <a:t> 5  </a:t>
            </a:r>
            <a:r>
              <a:rPr sz="1500" b="1" i="0">
                <a:solidFill>
                  <a:srgbClr val="C00000"/>
                </a:solidFill>
                <a:latin typeface="Consolas"/>
              </a:rPr>
              <a:t>                &amp;&amp; r[i].substring(0, 1).equals(z)) {</a:t>
            </a:r>
          </a:p>
          <a:p>
            <a:pPr>
              <a:lnSpc>
                <a:spcPct val="100000"/>
              </a:lnSpc>
            </a:pPr>
            <a:r>
              <a:rPr sz="1500" b="0" i="0">
                <a:solidFill>
                  <a:srgbClr val="A0A7B1"/>
                </a:solidFill>
                <a:latin typeface="Consolas"/>
              </a:rPr>
              <a:t> 6  </a:t>
            </a:r>
            <a:r>
              <a:rPr sz="1500" b="0" i="0">
                <a:solidFill>
                  <a:srgbClr val="1F2A37"/>
                </a:solidFill>
                <a:latin typeface="Consolas"/>
              </a:rPr>
              <a:t>            anzahl++;</a:t>
            </a:r>
          </a:p>
          <a:p>
            <a:pPr>
              <a:lnSpc>
                <a:spcPct val="100000"/>
              </a:lnSpc>
            </a:pPr>
            <a:r>
              <a:rPr sz="1500" b="0" i="0">
                <a:solidFill>
                  <a:srgbClr val="A0A7B1"/>
                </a:solidFill>
                <a:latin typeface="Consolas"/>
              </a:rPr>
              <a:t> 7  </a:t>
            </a:r>
            <a:r>
              <a:rPr sz="1500" b="0" i="0">
                <a:solidFill>
                  <a:srgbClr val="1F2A37"/>
                </a:solidFill>
                <a:latin typeface="Consolas"/>
              </a:rPr>
              <a:t>        }</a:t>
            </a:r>
          </a:p>
          <a:p>
            <a:pPr>
              <a:lnSpc>
                <a:spcPct val="100000"/>
              </a:lnSpc>
            </a:pPr>
            <a:r>
              <a:rPr sz="1500" b="0" i="0">
                <a:solidFill>
                  <a:srgbClr val="A0A7B1"/>
                </a:solidFill>
                <a:latin typeface="Consolas"/>
              </a:rPr>
              <a:t> 8  </a:t>
            </a:r>
            <a:r>
              <a:rPr sz="1500" b="0" i="0">
                <a:solidFill>
                  <a:srgbClr val="1F2A37"/>
                </a:solidFill>
                <a:latin typeface="Consolas"/>
              </a:rPr>
              <a:t>    }</a:t>
            </a:r>
          </a:p>
          <a:p>
            <a:pPr>
              <a:lnSpc>
                <a:spcPct val="100000"/>
              </a:lnSpc>
            </a:pPr>
            <a:r>
              <a:rPr sz="1500" b="0" i="0">
                <a:solidFill>
                  <a:srgbClr val="A0A7B1"/>
                </a:solidFill>
                <a:latin typeface="Consolas"/>
              </a:rPr>
              <a:t> 9  </a:t>
            </a:r>
            <a:r>
              <a:rPr sz="1500" b="0" i="0">
                <a:solidFill>
                  <a:srgbClr val="1F2A37"/>
                </a:solidFill>
                <a:latin typeface="Consolas"/>
              </a:rPr>
              <a:t>    return anzahl;</a:t>
            </a:r>
          </a:p>
          <a:p>
            <a:pPr>
              <a:lnSpc>
                <a:spcPct val="100000"/>
              </a:lnSpc>
            </a:pPr>
            <a:r>
              <a:rPr sz="1500" b="0" i="0">
                <a:solidFill>
                  <a:srgbClr val="A0A7B1"/>
                </a:solidFill>
                <a:latin typeface="Consolas"/>
              </a:rPr>
              <a:t>10  </a:t>
            </a:r>
            <a:r>
              <a:rPr sz="1500" b="0" i="0">
                <a:solidFill>
                  <a:srgbClr val="1F2A37"/>
                </a:solidFill>
                <a:latin typeface="Consolas"/>
              </a:rPr>
              <a:t>}</a:t>
            </a:r>
          </a:p>
        </p:txBody>
      </p:sp>
      <p:sp>
        <p:nvSpPr>
          <p:cNvPr id="7" name="Rounded Rectangle 6"/>
          <p:cNvSpPr/>
          <p:nvPr/>
        </p:nvSpPr>
        <p:spPr>
          <a:xfrm>
            <a:off x="7985455" y="1325880"/>
            <a:ext cx="3657600"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68335" y="1463039"/>
            <a:ext cx="3291840"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Gefunden?</a:t>
            </a:r>
            <a:r>
              <a:rPr sz="2000" b="0" i="0">
                <a:solidFill>
                  <a:srgbClr val="1F2A37"/>
                </a:solidFill>
                <a:latin typeface="Calibri"/>
              </a:rPr>
              <a:t/>
            </a:r>
          </a:p>
          <a:p>
            <a:pPr>
              <a:spcAft>
                <a:spcPts val="600"/>
              </a:spcAft>
            </a:pPr>
            <a:r>
              <a:rPr sz="2000" b="1" i="0">
                <a:solidFill>
                  <a:srgbClr val="1F2A37"/>
                </a:solidFill>
                <a:latin typeface="Calibri"/>
              </a:rPr>
              <a:t>P6</a:t>
            </a:r>
            <a:r>
              <a:rPr sz="2000" b="0" i="0">
                <a:solidFill>
                  <a:srgbClr val="1F2A37"/>
                </a:solidFill>
                <a:latin typeface="Calibri"/>
              </a:rPr>
              <a:t> Start bei </a:t>
            </a:r>
            <a:r>
              <a:rPr sz="1900" b="0" i="0">
                <a:solidFill>
                  <a:srgbClr val="1F4E79"/>
                </a:solidFill>
                <a:latin typeface="Consolas"/>
              </a:rPr>
              <a:t>i = 0</a:t>
            </a:r>
            <a:r>
              <a:rPr sz="2000" b="0" i="0">
                <a:solidFill>
                  <a:srgbClr val="1F2A37"/>
                </a:solidFill>
                <a:latin typeface="Calibri"/>
              </a:rPr>
              <a:t>, nicht 1</a:t>
            </a:r>
            <a:r>
              <a:rPr sz="2000" b="0" i="0">
                <a:solidFill>
                  <a:srgbClr val="1F2A37"/>
                </a:solidFill>
                <a:latin typeface="Calibri"/>
              </a:rPr>
              <a:t/>
            </a:r>
          </a:p>
          <a:p>
            <a:pPr>
              <a:spcAft>
                <a:spcPts val="600"/>
              </a:spcAft>
            </a:pPr>
            <a:r>
              <a:rPr sz="2000" b="1" i="0">
                <a:solidFill>
                  <a:srgbClr val="1F2A37"/>
                </a:solidFill>
                <a:latin typeface="Calibri"/>
              </a:rPr>
              <a:t>P5</a:t>
            </a:r>
            <a:r>
              <a:rPr sz="2000" b="0" i="0">
                <a:solidFill>
                  <a:srgbClr val="1F2A37"/>
                </a:solidFill>
                <a:latin typeface="Calibri"/>
              </a:rPr>
              <a:t> </a:t>
            </a:r>
            <a:r>
              <a:rPr sz="1900" b="0" i="0">
                <a:solidFill>
                  <a:srgbClr val="1F4E79"/>
                </a:solidFill>
                <a:latin typeface="Consolas"/>
              </a:rPr>
              <a:t>equals</a:t>
            </a:r>
            <a:r>
              <a:rPr sz="2000" b="0" i="0">
                <a:solidFill>
                  <a:srgbClr val="1F2A37"/>
                </a:solidFill>
                <a:latin typeface="Calibri"/>
              </a:rPr>
              <a:t> statt </a:t>
            </a:r>
            <a:r>
              <a:rPr sz="1900" b="0" i="0">
                <a:solidFill>
                  <a:srgbClr val="1F4E79"/>
                </a:solidFill>
                <a:latin typeface="Consolas"/>
              </a:rPr>
              <a:t>==</a:t>
            </a:r>
            <a:r>
              <a:rPr sz="2000" b="0" i="0">
                <a:solidFill>
                  <a:srgbClr val="1F2A37"/>
                </a:solidFill>
                <a:latin typeface="Calibri"/>
              </a:rPr>
              <a:t/>
            </a:r>
          </a:p>
          <a:p>
            <a:pPr>
              <a:spcAft>
                <a:spcPts val="600"/>
              </a:spcAft>
            </a:pPr>
            <a:r>
              <a:rPr sz="2000" b="1" i="0">
                <a:solidFill>
                  <a:srgbClr val="1F2A37"/>
                </a:solidFill>
                <a:latin typeface="Calibri"/>
              </a:rPr>
              <a:t>P1</a:t>
            </a:r>
            <a:r>
              <a:rPr sz="2000" b="0" i="0">
                <a:solidFill>
                  <a:srgbClr val="1F2A37"/>
                </a:solidFill>
                <a:latin typeface="Calibri"/>
              </a:rPr>
              <a:t> leere Zeichenkette: erst </a:t>
            </a:r>
            <a:r>
              <a:rPr sz="1900" b="0" i="0">
                <a:solidFill>
                  <a:srgbClr val="1F4E79"/>
                </a:solidFill>
                <a:latin typeface="Consolas"/>
              </a:rPr>
              <a:t>length() &gt; 0</a:t>
            </a:r>
            <a:r>
              <a:rPr sz="2000" b="0" i="0">
                <a:solidFill>
                  <a:srgbClr val="1F2A37"/>
                </a:solidFill>
                <a:latin typeface="Calibri"/>
              </a:rPr>
              <a:t> prüfen</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Checkliste vor der Abgabe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772400" cy="48920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1" i="0">
                <a:solidFill>
                  <a:srgbClr val="1F2A37"/>
                </a:solidFill>
                <a:latin typeface="Calibri"/>
              </a:rPr>
              <a:t>Leer? Index?</a:t>
            </a:r>
            <a:r>
              <a:rPr sz="2200" b="0" i="0">
                <a:solidFill>
                  <a:srgbClr val="1F2A37"/>
                </a:solidFill>
                <a:latin typeface="Calibri"/>
              </a:rPr>
              <a:t> vor jedem Zugriff (P1, P6)</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Struktur </a:t>
            </a:r>
            <a:r>
              <a:rPr sz="2200" b="1" i="0">
                <a:solidFill>
                  <a:srgbClr val="1F2A37"/>
                </a:solidFill>
                <a:latin typeface="Calibri"/>
              </a:rPr>
              <a:t>unverändert</a:t>
            </a:r>
            <a:r>
              <a:rPr sz="2200" b="0" i="0">
                <a:solidFill>
                  <a:srgbClr val="1F2A37"/>
                </a:solidFill>
                <a:latin typeface="Calibri"/>
              </a:rPr>
              <a:t>, wenn gefordert? (P2)</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Signatur 1 : 1, </a:t>
            </a:r>
            <a:r>
              <a:rPr sz="2100" b="0" i="0">
                <a:solidFill>
                  <a:srgbClr val="1F4E79"/>
                </a:solidFill>
                <a:latin typeface="Consolas"/>
              </a:rPr>
              <a:t>return</a:t>
            </a:r>
            <a:r>
              <a:rPr sz="2200" b="0" i="0">
                <a:solidFill>
                  <a:srgbClr val="1F2A37"/>
                </a:solidFill>
                <a:latin typeface="Calibri"/>
              </a:rPr>
              <a:t> auf jedem Weg? (P3)</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Casts, Zeichen vs. Zeichenkette? (P4) · </a:t>
            </a:r>
            <a:r>
              <a:rPr sz="2100" b="0" i="0">
                <a:solidFill>
                  <a:srgbClr val="1F4E79"/>
                </a:solidFill>
                <a:latin typeface="Consolas"/>
              </a:rPr>
              <a:t>equals</a:t>
            </a:r>
            <a:r>
              <a:rPr sz="2200" b="0" i="0">
                <a:solidFill>
                  <a:srgbClr val="1F2A37"/>
                </a:solidFill>
                <a:latin typeface="Calibri"/>
              </a:rPr>
              <a:t>? (P5)</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Basisfall da, Ergebnis verwendet? (P7)</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Tabelle: Startzeile, nur Variablen? (P8) · Struktogramm ohne Java? (P9)</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Operator unterstrichen und erfüllt? (P10)</a:t>
            </a:r>
            <a:r>
              <a:rPr sz="2200" b="0" i="0">
                <a:solidFill>
                  <a:srgbClr val="1F2A37"/>
                </a:solidFill>
                <a:latin typeface="Calibri"/>
              </a:rPr>
              <a:t/>
            </a:r>
          </a:p>
        </p:txBody>
      </p:sp>
      <p:sp>
        <p:nvSpPr>
          <p:cNvPr id="6" name="TextBox 5"/>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Der Operator bestimmt die Antwort: nennen &lt; beschreiben &lt; erläutern &lt; begründen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2,5 min je BE – Zielzeiten notieren, Reserve einplanen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P1–P10 kennen: jede Falle hat eine einfache Gegenmaßnahme</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Vor der Abgabe: Checkliste Punkt für Punkt</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6.1 „Fallenjagd I – P1 bis P5“ und 6.2 „Fallenjagd II – P6 bis P10“</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W6·1 „Korrektur und Fehlerjagd“</a:t>
            </a:r>
            <a:r>
              <a:rPr sz="2200" b="0" i="0">
                <a:solidFill>
                  <a:srgbClr val="1F2A37"/>
                </a:solidFill>
                <a:latin typeface="Calibri"/>
              </a:rPr>
              <a:t/>
            </a:r>
          </a:p>
          <a:p>
            <a:pPr>
              <a:spcAft>
                <a:spcPts val="1200"/>
              </a:spcAft>
            </a:pPr>
            <a:r>
              <a:rPr sz="2200" b="1" i="0">
                <a:solidFill>
                  <a:srgbClr val="1F4E79"/>
                </a:solidFill>
                <a:latin typeface="Calibri"/>
              </a:rPr>
              <a:t>Spickzettel: </a:t>
            </a:r>
            <a:r>
              <a:rPr sz="2200" b="0" i="0">
                <a:solidFill>
                  <a:srgbClr val="1F2A37"/>
                </a:solidFill>
                <a:latin typeface="Calibri"/>
              </a:rPr>
              <a:t>Werkzeugkarte 1 „Abi-Check“</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Zur Wiederholung: die ganze Playlist „Algo Quest“ – Video 1 bis 7 zu deinen Top-3-Fallen</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8: Abi-Check: die 10 Fallen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Abi-Check: die 10 Fallen</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