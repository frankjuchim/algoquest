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kurzer, lockerer Einstieg.]</a:t>
            </a:r>
          </a:p>
          <a:p/>
          <a:p>
            <a:r>
              <a:t>Hallo und willkommen zur Algo Quest! In diesem kurzen Video zeige ich dir das Algo Quest Lab, unsere Übungsplattform für die ganze Einheit: wie du beitrittst, wie du weiterspielst und wie du Punkte sammelst.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Lab übst du zu jeder Doppelstunde mit Aufgaben im Abitur-Stil, und jede Antwort wird sofort geprüft. Es läuft im Browser, auf Laptop, Tablet oder Handy. Punkte, Ränge und Abzeichen entstehen automatisch.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Auf Kurscode-Feld und Namensfeld zeigen.]</a:t>
            </a:r>
          </a:p>
          <a:p/>
          <a:p>
            <a:r>
              <a:t>Öffne algoquest punkt frankjuchim punkt de oder scanne den QR-Code aus dem Unterricht – dann ist der Kurscode schon eingetragen. Unter Kurs beitreten wählst du deinen Namen: Vorname und Anfangsbuchstabe des Nachnamens, zum Beispiel Lena S. Bitte nicht den vollen Namen, denn er steht im Scoreboard des Kurses.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Auf den großen Code im gestrichelten Kasten zeigen.]</a:t>
            </a:r>
          </a:p>
          <a:p/>
          <a:p>
            <a:r>
              <a:t>Danach zeigt dir das Lab deinen persönlichen Code. Das ist dein Schlüssel: Schreib ihn sofort ins Heft oder mach ein Foto. Den Code behältst du für dich. Und falls er doch verloren geht: Deine Lehrkraft kann ihn dir anzeigen.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Beim nächsten Mal, zu Hause oder an einem anderen Gerät, wählst du Weiterspielen. Dort brauchst du nur deinen Namen und deinen persönlichen Code – keinen Kurscode mehr. Solange du angemeldet bist, findest du den Code auch in deinem Profil.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Nach der Anmeldung landest du auf der Weltkarte. Oben stehen deine Punkte und dein Rang, darunter die sieben Welten. Jede Welt hat ein Level pro Doppelstunde, einen Trainingsplatz und am Ende einen Boss, der anfangs gesperrt 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Level beginnt mit einem Merke-Kasten und nennt das passende Arbeitsblatt. Darunter stehen die Aufgaben. Die Sterne zeigen die Stufe – dafür gibt es zehn, zwanzig oder dreißig Punkte.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Auf die rot markierten Lücken, den Tipp-Kasten und die Meldung „Noch bis zu 11 Punkte möglich“ zeigen.]</a:t>
            </a:r>
          </a:p>
          <a:p/>
          <a:p>
            <a:r>
              <a:t>In jeder Aufgabe gibt es drei Knöpfe: Prüfen gibt dir sofort Rückmeldung, falsche Lücken werden rot. Ein Tipp hilft dir weiter. Und Lösung zeigen zeigt die Lösung mit Erklärung. Unten steht, wie viele Punkte noch möglich sind.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Punkte gibt es nur beim ersten Lösen. Jeder Fehlversuch kostet ein Viertel, jeder Tipp ein Fünftel. Zwanzig Punkte werden mit einem Tipp also zu sechzehn, mit Tipp und Fehlversuch zu elf. Ein Viertel bleibt mindestens. Nur Lösung zeigen bringt null Punkte. Und: Punkte zeigen deinen Fortschritt, in die Note fließen sie nicht ein.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 Ende jeder Welt wartet der Boss – eine Probe auf Zeit wie im Abitur. Er wird frei, sobald du sechzig Prozent der Level-Punkte der Welt hast, außer deine Lehrkraft schaltet ihn anders. Rückmeldung gibt es erst am Ende, ab fünfzig Prozent ist er besiegt. Es zählt dein bester Versuch, danach sind zwölf Stunden Pause.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Auf dem Trainingsplatz bekommst du immer neue Zufallsaufgaben. Jede gelöste bringt einen Punkt, höchstens dreißig pro Tag.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Warm-up-Trainer ist eine Lernkartei: Karte ziehen, auf Papier lösen, aufdecken und ehrlich einschätzen. Sichere Karten kommen seltener dran. Punkte gibt es hier keine.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Auf der Themenseite unter Schrägstrich themen findest du alle Arbeitsblätter als PDF, sortiert nach Welten, Aufgabentypen und den Fallen P1 bis P10. Üben öffnet das passende Level.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bist du dran: Halte das Video an, tritt bei und notiere deinen Code. Melde dich einmal ab und mit Name und Code wieder an – dann weißt du, dass dein Zugang klappt. Und dann löse die erste Aufgabe in Level null Punkt eins.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 gesagt: einmal mit Kurscode und Namen beitreten, den Code notieren, danach überall mit Name und Code weiterspielen. Punkte gibt es beim ersten Lösen, Fehlversuche und Tipps kosten etwas.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Weiter geht es im Lab mit Level null Punkt eins. Im nächsten Video zeige ich dir, wie du Algorithmen als Struktogramm und Tracetabelle aufschreibst. Viel Spaß im Dungeon!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0"/>
            <a:ext cx="11094415" cy="457200"/>
          </a:xfrm>
          <a:prstGeom prst="rect">
            <a:avLst/>
          </a:prstGeom>
          <a:noFill/>
        </p:spPr>
        <p:txBody>
          <a:bodyPr wrap="square" anchor="t" lIns="45720" rIns="45720">
            <a:spAutoFit/>
          </a:bodyPr>
          <a:lstStyle/>
          <a:p>
            <a:r>
              <a:rPr sz="1800" b="1" i="0">
                <a:solidFill>
                  <a:srgbClr val="B8860B"/>
                </a:solidFill>
                <a:latin typeface="Calibri"/>
              </a:rPr>
              <a:t>ALGO QUEST · ERKLÄRVIDEO 0</a:t>
            </a:r>
          </a:p>
        </p:txBody>
      </p:sp>
      <p:sp>
        <p:nvSpPr>
          <p:cNvPr id="4" name="TextBox 3"/>
          <p:cNvSpPr txBox="1"/>
          <p:nvPr/>
        </p:nvSpPr>
        <p:spPr>
          <a:xfrm>
            <a:off x="548640" y="1645920"/>
            <a:ext cx="11094415" cy="1463040"/>
          </a:xfrm>
          <a:prstGeom prst="rect">
            <a:avLst/>
          </a:prstGeom>
          <a:noFill/>
        </p:spPr>
        <p:txBody>
          <a:bodyPr wrap="square" anchor="t" lIns="45720" rIns="45720">
            <a:spAutoFit/>
          </a:bodyPr>
          <a:lstStyle/>
          <a:p>
            <a:r>
              <a:rPr sz="4800" b="1" i="0">
                <a:solidFill>
                  <a:srgbClr val="1F4E79"/>
                </a:solidFill>
                <a:latin typeface="Calibri"/>
              </a:rPr>
              <a:t>Algo Quest Lab: So funktioniert’s</a:t>
            </a:r>
          </a:p>
        </p:txBody>
      </p:sp>
      <p:sp>
        <p:nvSpPr>
          <p:cNvPr id="5" name="TextBox 4"/>
          <p:cNvSpPr txBox="1"/>
          <p:nvPr/>
        </p:nvSpPr>
        <p:spPr>
          <a:xfrm>
            <a:off x="548640" y="3063240"/>
            <a:ext cx="8229600" cy="914400"/>
          </a:xfrm>
          <a:prstGeom prst="rect">
            <a:avLst/>
          </a:prstGeom>
          <a:noFill/>
        </p:spPr>
        <p:txBody>
          <a:bodyPr wrap="square" anchor="t" lIns="45720" rIns="45720">
            <a:spAutoFit/>
          </a:bodyPr>
          <a:lstStyle/>
          <a:p>
            <a:r>
              <a:rPr sz="2600" b="0" i="0">
                <a:solidFill>
                  <a:srgbClr val="1F2A37"/>
                </a:solidFill>
                <a:latin typeface="Calibri"/>
              </a:rPr>
              <a:t>Beitreten, weiterspielen, Punkte sammeln – dein Start in die Übungsplattform</a:t>
            </a:r>
          </a:p>
        </p:txBody>
      </p:sp>
      <p:sp>
        <p:nvSpPr>
          <p:cNvPr id="6" name="TextBox 5"/>
          <p:cNvSpPr txBox="1"/>
          <p:nvPr/>
        </p:nvSpPr>
        <p:spPr>
          <a:xfrm>
            <a:off x="548640" y="5120640"/>
            <a:ext cx="7772400" cy="822960"/>
          </a:xfrm>
          <a:prstGeom prst="rect">
            <a:avLst/>
          </a:prstGeom>
          <a:noFill/>
        </p:spPr>
        <p:txBody>
          <a:bodyPr wrap="square" anchor="t" lIns="45720" rIns="45720">
            <a:spAutoFit/>
          </a:bodyPr>
          <a:lstStyle/>
          <a:p>
            <a:r>
              <a:rPr sz="2000" b="1" i="0">
                <a:solidFill>
                  <a:srgbClr val="7F6000"/>
                </a:solidFill>
                <a:latin typeface="Calibri"/>
              </a:rPr>
              <a:t>Welt 0 · Die Akademie</a:t>
            </a:r>
          </a:p>
          <a:p>
            <a:r>
              <a:rPr sz="1600" b="0" i="0">
                <a:solidFill>
                  <a:srgbClr val="7F7F7F"/>
                </a:solidFill>
                <a:latin typeface="Calibri"/>
              </a:rPr>
              <a:t>Informatik LK · Abitur Niedersachsen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Was ist das Algo Quest Lab?</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Aufgaben im </a:t>
            </a:r>
            <a:r>
              <a:rPr sz="2400" b="1" i="0">
                <a:solidFill>
                  <a:srgbClr val="1F2A37"/>
                </a:solidFill>
                <a:latin typeface="Calibri"/>
              </a:rPr>
              <a:t>Abitur-Stil</a:t>
            </a:r>
            <a:r>
              <a:rPr sz="2400" b="0" i="0">
                <a:solidFill>
                  <a:srgbClr val="1F2A37"/>
                </a:solidFill>
                <a:latin typeface="Calibri"/>
              </a:rPr>
              <a:t> mit </a:t>
            </a:r>
            <a:r>
              <a:rPr sz="2400" b="1" i="0">
                <a:solidFill>
                  <a:srgbClr val="1F2A37"/>
                </a:solidFill>
                <a:latin typeface="Calibri"/>
              </a:rPr>
              <a:t>sofortiger Rückmeldung</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Zu jeder Doppelstunde ein </a:t>
            </a:r>
            <a:r>
              <a:rPr sz="2400" b="1" i="0">
                <a:solidFill>
                  <a:srgbClr val="1F2A37"/>
                </a:solidFill>
                <a:latin typeface="Calibri"/>
              </a:rPr>
              <a:t>Level</a:t>
            </a:r>
            <a:r>
              <a:rPr sz="2400" b="0" i="0">
                <a:solidFill>
                  <a:srgbClr val="1F2A37"/>
                </a:solidFill>
                <a:latin typeface="Calibri"/>
              </a:rPr>
              <a:t> – passend zum Arbeitsblatt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Läuft im Browser: Laptop, Tablet oder Handy</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Punkte, Ränge und Abzeichen entstehen </a:t>
            </a:r>
            <a:r>
              <a:rPr sz="2400" b="1" i="0">
                <a:solidFill>
                  <a:srgbClr val="1F2A37"/>
                </a:solidFill>
                <a:latin typeface="Calibri"/>
              </a:rPr>
              <a:t>automatisch</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Heute</a:t>
            </a:r>
            <a:r>
              <a:rPr sz="2000" b="0" i="0">
                <a:solidFill>
                  <a:srgbClr val="1F2A37"/>
                </a:solidFill>
                <a:latin typeface="Calibri"/>
              </a:rPr>
              <a:t/>
            </a:r>
          </a:p>
          <a:p>
            <a:pPr>
              <a:spcAft>
                <a:spcPts val="600"/>
              </a:spcAft>
            </a:pPr>
            <a:r>
              <a:rPr sz="2000" b="0" i="0">
                <a:solidFill>
                  <a:srgbClr val="1F2A37"/>
                </a:solidFill>
                <a:latin typeface="Calibri"/>
              </a:rPr>
              <a:t>Kurs beitreten</a:t>
            </a:r>
            <a:r>
              <a:rPr sz="2000" b="0" i="0">
                <a:solidFill>
                  <a:srgbClr val="1F2A37"/>
                </a:solidFill>
                <a:latin typeface="Calibri"/>
              </a:rPr>
              <a:t/>
            </a:r>
          </a:p>
          <a:p>
            <a:pPr>
              <a:spcAft>
                <a:spcPts val="600"/>
              </a:spcAft>
            </a:pPr>
            <a:r>
              <a:rPr sz="2000" b="0" i="0">
                <a:solidFill>
                  <a:srgbClr val="1F2A37"/>
                </a:solidFill>
                <a:latin typeface="Calibri"/>
              </a:rPr>
              <a:t>Weiterspielen</a:t>
            </a:r>
            <a:r>
              <a:rPr sz="2000" b="0" i="0">
                <a:solidFill>
                  <a:srgbClr val="1F2A37"/>
                </a:solidFill>
                <a:latin typeface="Calibri"/>
              </a:rPr>
              <a:t/>
            </a:r>
          </a:p>
          <a:p>
            <a:pPr>
              <a:spcAft>
                <a:spcPts val="600"/>
              </a:spcAft>
            </a:pPr>
            <a:r>
              <a:rPr sz="2000" b="0" i="0">
                <a:solidFill>
                  <a:srgbClr val="1F2A37"/>
                </a:solidFill>
                <a:latin typeface="Calibri"/>
              </a:rPr>
              <a:t>Level, Punkte, Tipps</a:t>
            </a:r>
            <a:r>
              <a:rPr sz="2000" b="0" i="0">
                <a:solidFill>
                  <a:srgbClr val="1F2A37"/>
                </a:solidFill>
                <a:latin typeface="Calibri"/>
              </a:rPr>
              <a:t/>
            </a:r>
          </a:p>
          <a:p>
            <a:pPr>
              <a:spcAft>
                <a:spcPts val="600"/>
              </a:spcAft>
            </a:pPr>
            <a:r>
              <a:rPr sz="2000" b="0" i="0">
                <a:solidFill>
                  <a:srgbClr val="1F2A37"/>
                </a:solidFill>
                <a:latin typeface="Calibri"/>
              </a:rPr>
              <a:t>Boss, Training, Warm-up</a:t>
            </a:r>
            <a:r>
              <a:rPr sz="2000" b="0" i="0">
                <a:solidFill>
                  <a:srgbClr val="1F2A37"/>
                </a:solidFill>
                <a:latin typeface="Calibri"/>
              </a:rPr>
              <a:t/>
            </a:r>
          </a:p>
          <a:p>
            <a:pPr>
              <a:spcAft>
                <a:spcPts val="600"/>
              </a:spcAft>
            </a:pPr>
            <a:r>
              <a:rPr sz="2000" b="0" i="0">
                <a:solidFill>
                  <a:srgbClr val="1F2A37"/>
                </a:solidFill>
                <a:latin typeface="Calibri"/>
              </a:rPr>
              <a:t>Themenseite</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Schritt 1: Kurs beitreten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eitreten.jpg"/>
          <p:cNvPicPr>
            <a:picLocks noChangeAspect="1"/>
          </p:cNvPicPr>
          <p:nvPr/>
        </p:nvPicPr>
        <p:blipFill>
          <a:blip r:embed="rId2"/>
          <a:stretch>
            <a:fillRect/>
          </a:stretch>
        </p:blipFill>
        <p:spPr>
          <a:xfrm>
            <a:off x="548640" y="1417320"/>
            <a:ext cx="3913632" cy="4892040"/>
          </a:xfrm>
          <a:prstGeom prst="rect">
            <a:avLst/>
          </a:prstGeom>
        </p:spPr>
      </p:pic>
      <p:sp>
        <p:nvSpPr>
          <p:cNvPr id="6" name="Rounded Rectangle 5"/>
          <p:cNvSpPr/>
          <p:nvPr/>
        </p:nvSpPr>
        <p:spPr>
          <a:xfrm>
            <a:off x="5486400" y="1325880"/>
            <a:ext cx="615665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0" y="1463039"/>
            <a:ext cx="5790895" cy="2377439"/>
          </a:xfrm>
          <a:prstGeom prst="rect">
            <a:avLst/>
          </a:prstGeom>
          <a:noFill/>
        </p:spPr>
        <p:txBody>
          <a:bodyPr wrap="square" anchor="t" lIns="45720" rIns="45720">
            <a:spAutoFit/>
          </a:bodyPr>
          <a:lstStyle/>
          <a:p>
            <a:pPr>
              <a:spcAft>
                <a:spcPts val="800"/>
              </a:spcAft>
            </a:pPr>
            <a:r>
              <a:rPr sz="2200" b="1" i="0">
                <a:solidFill>
                  <a:srgbClr val="1F4E79"/>
                </a:solidFill>
                <a:latin typeface="Calibri"/>
              </a:rPr>
              <a:t>So geht’s</a:t>
            </a:r>
            <a:r>
              <a:rPr sz="2000" b="0" i="0">
                <a:solidFill>
                  <a:srgbClr val="1F2A37"/>
                </a:solidFill>
                <a:latin typeface="Calibri"/>
              </a:rPr>
              <a:t/>
            </a:r>
          </a:p>
          <a:p>
            <a:pPr>
              <a:spcAft>
                <a:spcPts val="600"/>
              </a:spcAft>
            </a:pPr>
            <a:r>
              <a:rPr sz="2000" b="1" i="0">
                <a:solidFill>
                  <a:srgbClr val="1F2A37"/>
                </a:solidFill>
                <a:latin typeface="Calibri"/>
              </a:rPr>
              <a:t>algoquest.frankjuchim.de</a:t>
            </a:r>
            <a:r>
              <a:rPr sz="2000" b="0" i="0">
                <a:solidFill>
                  <a:srgbClr val="1F2A37"/>
                </a:solidFill>
                <a:latin typeface="Calibri"/>
              </a:rPr>
              <a:t> öffnen oder QR-Code scannen</a:t>
            </a:r>
            <a:r>
              <a:rPr sz="2000" b="0" i="0">
                <a:solidFill>
                  <a:srgbClr val="1F2A37"/>
                </a:solidFill>
                <a:latin typeface="Calibri"/>
              </a:rPr>
              <a:t/>
            </a:r>
          </a:p>
          <a:p>
            <a:pPr>
              <a:spcAft>
                <a:spcPts val="600"/>
              </a:spcAft>
            </a:pPr>
            <a:r>
              <a:rPr sz="2000" b="0" i="0">
                <a:solidFill>
                  <a:srgbClr val="1F2A37"/>
                </a:solidFill>
                <a:latin typeface="Calibri"/>
              </a:rPr>
              <a:t>„Kurs beitreten“: </a:t>
            </a:r>
            <a:r>
              <a:rPr sz="2000" b="1" i="0">
                <a:solidFill>
                  <a:srgbClr val="1F2A37"/>
                </a:solidFill>
                <a:latin typeface="Calibri"/>
              </a:rPr>
              <a:t>Kurscode</a:t>
            </a:r>
            <a:r>
              <a:rPr sz="2000" b="0" i="0">
                <a:solidFill>
                  <a:srgbClr val="1F2A37"/>
                </a:solidFill>
                <a:latin typeface="Calibri"/>
              </a:rPr>
              <a:t> + </a:t>
            </a:r>
            <a:r>
              <a:rPr sz="2000" b="1" i="0">
                <a:solidFill>
                  <a:srgbClr val="1F2A37"/>
                </a:solidFill>
                <a:latin typeface="Calibri"/>
              </a:rPr>
              <a:t>Name</a:t>
            </a:r>
            <a:r>
              <a:rPr sz="2000" b="0" i="0">
                <a:solidFill>
                  <a:srgbClr val="1F2A37"/>
                </a:solidFill>
                <a:latin typeface="Calibri"/>
              </a:rPr>
              <a:t/>
            </a:r>
          </a:p>
          <a:p>
            <a:pPr>
              <a:spcAft>
                <a:spcPts val="600"/>
              </a:spcAft>
            </a:pPr>
            <a:r>
              <a:rPr sz="2000" b="0" i="0">
                <a:solidFill>
                  <a:srgbClr val="1F2A37"/>
                </a:solidFill>
                <a:latin typeface="Calibri"/>
              </a:rPr>
              <a:t>Name: Vorname + Initial, z. B. „Lena S.“</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Schritt 2: Deinen Code notieren!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de.jpg"/>
          <p:cNvPicPr>
            <a:picLocks noChangeAspect="1"/>
          </p:cNvPicPr>
          <p:nvPr/>
        </p:nvPicPr>
        <p:blipFill>
          <a:blip r:embed="rId2"/>
          <a:stretch>
            <a:fillRect/>
          </a:stretch>
        </p:blipFill>
        <p:spPr>
          <a:xfrm>
            <a:off x="548640" y="1417320"/>
            <a:ext cx="4371274" cy="4892040"/>
          </a:xfrm>
          <a:prstGeom prst="rect">
            <a:avLst/>
          </a:prstGeom>
        </p:spPr>
      </p:pic>
      <p:sp>
        <p:nvSpPr>
          <p:cNvPr id="6" name="Rounded Rectangle 5"/>
          <p:cNvSpPr/>
          <p:nvPr/>
        </p:nvSpPr>
        <p:spPr>
          <a:xfrm>
            <a:off x="5486400" y="1325880"/>
            <a:ext cx="615665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0" y="1463039"/>
            <a:ext cx="579089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Wichtig</a:t>
            </a:r>
            <a:r>
              <a:rPr sz="2000" b="0" i="0">
                <a:solidFill>
                  <a:srgbClr val="1F2A37"/>
                </a:solidFill>
                <a:latin typeface="Calibri"/>
              </a:rPr>
              <a:t/>
            </a:r>
          </a:p>
          <a:p>
            <a:pPr>
              <a:spcAft>
                <a:spcPts val="600"/>
              </a:spcAft>
            </a:pPr>
            <a:r>
              <a:rPr sz="2000" b="0" i="0">
                <a:solidFill>
                  <a:srgbClr val="1F2A37"/>
                </a:solidFill>
                <a:latin typeface="Calibri"/>
              </a:rPr>
              <a:t>Code </a:t>
            </a:r>
            <a:r>
              <a:rPr sz="2000" b="1" i="0">
                <a:solidFill>
                  <a:srgbClr val="1F2A37"/>
                </a:solidFill>
                <a:latin typeface="Calibri"/>
              </a:rPr>
              <a:t>sofort</a:t>
            </a:r>
            <a:r>
              <a:rPr sz="2000" b="0" i="0">
                <a:solidFill>
                  <a:srgbClr val="1F2A37"/>
                </a:solidFill>
                <a:latin typeface="Calibri"/>
              </a:rPr>
              <a:t> notieren: Heft oder Foto</a:t>
            </a:r>
            <a:r>
              <a:rPr sz="2000" b="0" i="0">
                <a:solidFill>
                  <a:srgbClr val="1F2A37"/>
                </a:solidFill>
                <a:latin typeface="Calibri"/>
              </a:rPr>
              <a:t/>
            </a:r>
          </a:p>
          <a:p>
            <a:pPr>
              <a:spcAft>
                <a:spcPts val="600"/>
              </a:spcAft>
            </a:pPr>
            <a:r>
              <a:rPr sz="2000" b="0" i="0">
                <a:solidFill>
                  <a:srgbClr val="1F2A37"/>
                </a:solidFill>
                <a:latin typeface="Calibri"/>
              </a:rPr>
              <a:t>Den Code behältst du </a:t>
            </a:r>
            <a:r>
              <a:rPr sz="2000" b="1" i="0">
                <a:solidFill>
                  <a:srgbClr val="1F2A37"/>
                </a:solidFill>
                <a:latin typeface="Calibri"/>
              </a:rPr>
              <a:t>für dich</a:t>
            </a:r>
            <a:r>
              <a:rPr sz="2000" b="0" i="0">
                <a:solidFill>
                  <a:srgbClr val="1F2A37"/>
                </a:solidFill>
                <a:latin typeface="Calibri"/>
              </a:rPr>
              <a:t/>
            </a:r>
          </a:p>
          <a:p>
            <a:pPr>
              <a:spcAft>
                <a:spcPts val="600"/>
              </a:spcAft>
            </a:pPr>
            <a:r>
              <a:rPr sz="2000" b="0" i="0">
                <a:solidFill>
                  <a:srgbClr val="1F2A37"/>
                </a:solidFill>
                <a:latin typeface="Calibri"/>
              </a:rPr>
              <a:t>Vergessen? Deine Lehrkraft kann ihn dir anzeigen</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Weiterspielen: Name + Code</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eiterspielen.jpg"/>
          <p:cNvPicPr>
            <a:picLocks noChangeAspect="1"/>
          </p:cNvPicPr>
          <p:nvPr/>
        </p:nvPicPr>
        <p:blipFill>
          <a:blip r:embed="rId2"/>
          <a:stretch>
            <a:fillRect/>
          </a:stretch>
        </p:blipFill>
        <p:spPr>
          <a:xfrm>
            <a:off x="548640" y="1417320"/>
            <a:ext cx="4201845" cy="4892040"/>
          </a:xfrm>
          <a:prstGeom prst="rect">
            <a:avLst/>
          </a:prstGeom>
        </p:spPr>
      </p:pic>
      <p:sp>
        <p:nvSpPr>
          <p:cNvPr id="6" name="Rounded Rectangle 5"/>
          <p:cNvSpPr/>
          <p:nvPr/>
        </p:nvSpPr>
        <p:spPr>
          <a:xfrm>
            <a:off x="5486400" y="1325880"/>
            <a:ext cx="615665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0" y="1463039"/>
            <a:ext cx="579089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Auf jedem Gerät</a:t>
            </a:r>
            <a:r>
              <a:rPr sz="2000" b="0" i="0">
                <a:solidFill>
                  <a:srgbClr val="1F2A37"/>
                </a:solidFill>
                <a:latin typeface="Calibri"/>
              </a:rPr>
              <a:t/>
            </a:r>
          </a:p>
          <a:p>
            <a:pPr>
              <a:spcAft>
                <a:spcPts val="600"/>
              </a:spcAft>
            </a:pPr>
            <a:r>
              <a:rPr sz="2000" b="0" i="0">
                <a:solidFill>
                  <a:srgbClr val="1F2A37"/>
                </a:solidFill>
                <a:latin typeface="Calibri"/>
              </a:rPr>
              <a:t>Reiter „Weiterspielen“</a:t>
            </a:r>
            <a:r>
              <a:rPr sz="2000" b="0" i="0">
                <a:solidFill>
                  <a:srgbClr val="1F2A37"/>
                </a:solidFill>
                <a:latin typeface="Calibri"/>
              </a:rPr>
              <a:t/>
            </a:r>
          </a:p>
          <a:p>
            <a:pPr>
              <a:spcAft>
                <a:spcPts val="600"/>
              </a:spcAft>
            </a:pPr>
            <a:r>
              <a:rPr sz="2000" b="1" i="0">
                <a:solidFill>
                  <a:srgbClr val="1F2A37"/>
                </a:solidFill>
                <a:latin typeface="Calibri"/>
              </a:rPr>
              <a:t>Name + persönlicher Code</a:t>
            </a:r>
            <a:r>
              <a:rPr sz="2000" b="0" i="0">
                <a:solidFill>
                  <a:srgbClr val="1F2A37"/>
                </a:solidFill>
                <a:latin typeface="Calibri"/>
              </a:rPr>
              <a:t/>
            </a:r>
          </a:p>
          <a:p>
            <a:pPr>
              <a:spcAft>
                <a:spcPts val="600"/>
              </a:spcAft>
            </a:pPr>
            <a:r>
              <a:rPr sz="2000" b="1" i="0">
                <a:solidFill>
                  <a:srgbClr val="1F2A37"/>
                </a:solidFill>
                <a:latin typeface="Calibri"/>
              </a:rPr>
              <a:t>Kein Kurscode</a:t>
            </a:r>
            <a:r>
              <a:rPr sz="2000" b="0" i="0">
                <a:solidFill>
                  <a:srgbClr val="1F2A37"/>
                </a:solidFill>
                <a:latin typeface="Calibri"/>
              </a:rPr>
              <a:t> mehr nötig</a:t>
            </a:r>
            <a:r>
              <a:rPr sz="2000" b="0" i="0">
                <a:solidFill>
                  <a:srgbClr val="1F2A37"/>
                </a:solidFill>
                <a:latin typeface="Calibri"/>
              </a:rPr>
              <a:t/>
            </a:r>
          </a:p>
          <a:p>
            <a:pPr>
              <a:spcAft>
                <a:spcPts val="600"/>
              </a:spcAft>
            </a:pPr>
            <a:r>
              <a:rPr sz="2000" b="0" i="0">
                <a:solidFill>
                  <a:srgbClr val="1F2A37"/>
                </a:solidFill>
                <a:latin typeface="Calibri"/>
              </a:rPr>
              <a:t>Code später wieder ansehen: </a:t>
            </a:r>
            <a:r>
              <a:rPr sz="2000" b="1" i="0">
                <a:solidFill>
                  <a:srgbClr val="1F2A37"/>
                </a:solidFill>
                <a:latin typeface="Calibri"/>
              </a:rPr>
              <a:t>Profil</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Die Weltkarte</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eltkarte.jpg"/>
          <p:cNvPicPr>
            <a:picLocks noChangeAspect="1"/>
          </p:cNvPicPr>
          <p:nvPr/>
        </p:nvPicPr>
        <p:blipFill>
          <a:blip r:embed="rId2"/>
          <a:stretch>
            <a:fillRect/>
          </a:stretch>
        </p:blipFill>
        <p:spPr>
          <a:xfrm>
            <a:off x="548640" y="1417320"/>
            <a:ext cx="7772400" cy="4857750"/>
          </a:xfrm>
          <a:prstGeom prst="rect">
            <a:avLst/>
          </a:prstGeom>
        </p:spPr>
      </p:pic>
      <p:sp>
        <p:nvSpPr>
          <p:cNvPr id="6" name="Rounded Rectangle 5"/>
          <p:cNvSpPr/>
          <p:nvPr/>
        </p:nvSpPr>
        <p:spPr>
          <a:xfrm>
            <a:off x="8595360" y="1325880"/>
            <a:ext cx="304769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0" y="1463039"/>
            <a:ext cx="2681935" cy="2377439"/>
          </a:xfrm>
          <a:prstGeom prst="rect">
            <a:avLst/>
          </a:prstGeom>
          <a:noFill/>
        </p:spPr>
        <p:txBody>
          <a:bodyPr wrap="square" anchor="t" lIns="45720" rIns="45720">
            <a:spAutoFit/>
          </a:bodyPr>
          <a:lstStyle/>
          <a:p>
            <a:pPr>
              <a:spcAft>
                <a:spcPts val="800"/>
              </a:spcAft>
            </a:pPr>
            <a:r>
              <a:rPr sz="2200" b="1" i="0">
                <a:solidFill>
                  <a:srgbClr val="1F4E79"/>
                </a:solidFill>
                <a:latin typeface="Calibri"/>
              </a:rPr>
              <a:t>Auf der Karte</a:t>
            </a:r>
            <a:r>
              <a:rPr sz="2000" b="0" i="0">
                <a:solidFill>
                  <a:srgbClr val="1F2A37"/>
                </a:solidFill>
                <a:latin typeface="Calibri"/>
              </a:rPr>
              <a:t/>
            </a:r>
          </a:p>
          <a:p>
            <a:pPr>
              <a:spcAft>
                <a:spcPts val="600"/>
              </a:spcAft>
            </a:pPr>
            <a:r>
              <a:rPr sz="2000" b="0" i="0">
                <a:solidFill>
                  <a:srgbClr val="1F2A37"/>
                </a:solidFill>
                <a:latin typeface="Calibri"/>
              </a:rPr>
              <a:t>Welten 0 bis 6</a:t>
            </a:r>
            <a:r>
              <a:rPr sz="2000" b="0" i="0">
                <a:solidFill>
                  <a:srgbClr val="1F2A37"/>
                </a:solidFill>
                <a:latin typeface="Calibri"/>
              </a:rPr>
              <a:t/>
            </a:r>
          </a:p>
          <a:p>
            <a:pPr>
              <a:spcAft>
                <a:spcPts val="600"/>
              </a:spcAft>
            </a:pPr>
            <a:r>
              <a:rPr sz="2000" b="0" i="0">
                <a:solidFill>
                  <a:srgbClr val="1F2A37"/>
                </a:solidFill>
                <a:latin typeface="Calibri"/>
              </a:rPr>
              <a:t>Level je Doppelstunde</a:t>
            </a:r>
            <a:r>
              <a:rPr sz="2000" b="0" i="0">
                <a:solidFill>
                  <a:srgbClr val="1F2A37"/>
                </a:solidFill>
                <a:latin typeface="Calibri"/>
              </a:rPr>
              <a:t/>
            </a:r>
          </a:p>
          <a:p>
            <a:pPr>
              <a:spcAft>
                <a:spcPts val="600"/>
              </a:spcAft>
            </a:pPr>
            <a:r>
              <a:rPr sz="2000" b="0" i="0">
                <a:solidFill>
                  <a:srgbClr val="1F2A37"/>
                </a:solidFill>
                <a:latin typeface="Calibri"/>
              </a:rPr>
              <a:t>🎯 Trainingsplatz</a:t>
            </a:r>
            <a:r>
              <a:rPr sz="2000" b="0" i="0">
                <a:solidFill>
                  <a:srgbClr val="1F2A37"/>
                </a:solidFill>
                <a:latin typeface="Calibri"/>
              </a:rPr>
              <a:t/>
            </a:r>
          </a:p>
          <a:p>
            <a:pPr>
              <a:spcAft>
                <a:spcPts val="600"/>
              </a:spcAft>
            </a:pPr>
            <a:r>
              <a:rPr sz="2000" b="0" i="0">
                <a:solidFill>
                  <a:srgbClr val="1F2A37"/>
                </a:solidFill>
                <a:latin typeface="Calibri"/>
              </a:rPr>
              <a:t>🔒 Boss</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Ein Level von innen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evel.jpg"/>
          <p:cNvPicPr>
            <a:picLocks noChangeAspect="1"/>
          </p:cNvPicPr>
          <p:nvPr/>
        </p:nvPicPr>
        <p:blipFill>
          <a:blip r:embed="rId2"/>
          <a:stretch>
            <a:fillRect/>
          </a:stretch>
        </p:blipFill>
        <p:spPr>
          <a:xfrm>
            <a:off x="548640" y="1417320"/>
            <a:ext cx="7772400" cy="4857750"/>
          </a:xfrm>
          <a:prstGeom prst="rect">
            <a:avLst/>
          </a:prstGeom>
        </p:spPr>
      </p:pic>
      <p:sp>
        <p:nvSpPr>
          <p:cNvPr id="6" name="Rounded Rectangle 5"/>
          <p:cNvSpPr/>
          <p:nvPr/>
        </p:nvSpPr>
        <p:spPr>
          <a:xfrm>
            <a:off x="8595360" y="1325880"/>
            <a:ext cx="304769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0" y="1463039"/>
            <a:ext cx="2681935" cy="2377439"/>
          </a:xfrm>
          <a:prstGeom prst="rect">
            <a:avLst/>
          </a:prstGeom>
          <a:noFill/>
        </p:spPr>
        <p:txBody>
          <a:bodyPr wrap="square" anchor="t" lIns="45720" rIns="45720">
            <a:spAutoFit/>
          </a:bodyPr>
          <a:lstStyle/>
          <a:p>
            <a:pPr>
              <a:spcAft>
                <a:spcPts val="800"/>
              </a:spcAft>
            </a:pPr>
            <a:r>
              <a:rPr sz="2200" b="1" i="0">
                <a:solidFill>
                  <a:srgbClr val="1F4E79"/>
                </a:solidFill>
                <a:latin typeface="Calibri"/>
              </a:rPr>
              <a:t>Im Level</a:t>
            </a:r>
            <a:r>
              <a:rPr sz="2000" b="0" i="0">
                <a:solidFill>
                  <a:srgbClr val="1F2A37"/>
                </a:solidFill>
                <a:latin typeface="Calibri"/>
              </a:rPr>
              <a:t/>
            </a:r>
          </a:p>
          <a:p>
            <a:pPr>
              <a:spcAft>
                <a:spcPts val="600"/>
              </a:spcAft>
            </a:pPr>
            <a:r>
              <a:rPr sz="2000" b="1" i="0">
                <a:solidFill>
                  <a:srgbClr val="1F2A37"/>
                </a:solidFill>
                <a:latin typeface="Calibri"/>
              </a:rPr>
              <a:t>Merke</a:t>
            </a:r>
            <a:r>
              <a:rPr sz="2000" b="0" i="0">
                <a:solidFill>
                  <a:srgbClr val="1F2A37"/>
                </a:solidFill>
                <a:latin typeface="Calibri"/>
              </a:rPr>
              <a:t>-Kasten</a:t>
            </a:r>
            <a:r>
              <a:rPr sz="2000" b="0" i="0">
                <a:solidFill>
                  <a:srgbClr val="1F2A37"/>
                </a:solidFill>
                <a:latin typeface="Calibri"/>
              </a:rPr>
              <a:t/>
            </a:r>
          </a:p>
          <a:p>
            <a:pPr>
              <a:spcAft>
                <a:spcPts val="600"/>
              </a:spcAft>
            </a:pPr>
            <a:r>
              <a:rPr sz="2000" b="0" i="0">
                <a:solidFill>
                  <a:srgbClr val="1F2A37"/>
                </a:solidFill>
                <a:latin typeface="Calibri"/>
              </a:rPr>
              <a:t>Arbeitsblatt</a:t>
            </a:r>
            <a:r>
              <a:rPr sz="2000" b="0" i="0">
                <a:solidFill>
                  <a:srgbClr val="1F2A37"/>
                </a:solidFill>
                <a:latin typeface="Calibri"/>
              </a:rPr>
              <a:t/>
            </a:r>
          </a:p>
          <a:p>
            <a:pPr>
              <a:spcAft>
                <a:spcPts val="600"/>
              </a:spcAft>
            </a:pPr>
            <a:r>
              <a:rPr sz="2000" b="0" i="0">
                <a:solidFill>
                  <a:srgbClr val="1F2A37"/>
                </a:solidFill>
                <a:latin typeface="Calibri"/>
              </a:rPr>
              <a:t>★ bis ★★★ = 10 bis 30 P.</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Prüfen, Tipp, Lösung zeigen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ufgabe.jpg"/>
          <p:cNvPicPr>
            <a:picLocks noChangeAspect="1"/>
          </p:cNvPicPr>
          <p:nvPr/>
        </p:nvPicPr>
        <p:blipFill>
          <a:blip r:embed="rId2"/>
          <a:stretch>
            <a:fillRect/>
          </a:stretch>
        </p:blipFill>
        <p:spPr>
          <a:xfrm>
            <a:off x="548640" y="1417320"/>
            <a:ext cx="5928341" cy="4892040"/>
          </a:xfrm>
          <a:prstGeom prst="rect">
            <a:avLst/>
          </a:prstGeom>
        </p:spPr>
      </p:pic>
      <p:sp>
        <p:nvSpPr>
          <p:cNvPr id="6" name="Rounded Rectangle 5"/>
          <p:cNvSpPr/>
          <p:nvPr/>
        </p:nvSpPr>
        <p:spPr>
          <a:xfrm>
            <a:off x="7040880" y="1325880"/>
            <a:ext cx="460217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463039"/>
            <a:ext cx="4236415" cy="2377439"/>
          </a:xfrm>
          <a:prstGeom prst="rect">
            <a:avLst/>
          </a:prstGeom>
          <a:noFill/>
        </p:spPr>
        <p:txBody>
          <a:bodyPr wrap="square" anchor="t" lIns="45720" rIns="45720">
            <a:spAutoFit/>
          </a:bodyPr>
          <a:lstStyle/>
          <a:p>
            <a:pPr>
              <a:spcAft>
                <a:spcPts val="800"/>
              </a:spcAft>
            </a:pPr>
            <a:r>
              <a:rPr sz="2200" b="1" i="0">
                <a:solidFill>
                  <a:srgbClr val="1F4E79"/>
                </a:solidFill>
                <a:latin typeface="Calibri"/>
              </a:rPr>
              <a:t>Drei Knöpfe</a:t>
            </a:r>
            <a:r>
              <a:rPr sz="2000" b="0" i="0">
                <a:solidFill>
                  <a:srgbClr val="1F2A37"/>
                </a:solidFill>
                <a:latin typeface="Calibri"/>
              </a:rPr>
              <a:t/>
            </a:r>
          </a:p>
          <a:p>
            <a:pPr>
              <a:spcAft>
                <a:spcPts val="600"/>
              </a:spcAft>
            </a:pPr>
            <a:r>
              <a:rPr sz="2000" b="1" i="0">
                <a:solidFill>
                  <a:srgbClr val="1F2A37"/>
                </a:solidFill>
                <a:latin typeface="Calibri"/>
              </a:rPr>
              <a:t>Prüfen</a:t>
            </a:r>
            <a:r>
              <a:rPr sz="2000" b="0" i="0">
                <a:solidFill>
                  <a:srgbClr val="1F2A37"/>
                </a:solidFill>
                <a:latin typeface="Calibri"/>
              </a:rPr>
              <a:t>: sofort Rückmeldung, falsche Lücken rot</a:t>
            </a:r>
            <a:r>
              <a:rPr sz="2000" b="0" i="0">
                <a:solidFill>
                  <a:srgbClr val="1F2A37"/>
                </a:solidFill>
                <a:latin typeface="Calibri"/>
              </a:rPr>
              <a:t/>
            </a:r>
          </a:p>
          <a:p>
            <a:pPr>
              <a:spcAft>
                <a:spcPts val="600"/>
              </a:spcAft>
            </a:pPr>
            <a:r>
              <a:rPr sz="2000" b="1" i="0">
                <a:solidFill>
                  <a:srgbClr val="1F2A37"/>
                </a:solidFill>
                <a:latin typeface="Calibri"/>
              </a:rPr>
              <a:t>Tipp</a:t>
            </a:r>
            <a:r>
              <a:rPr sz="2000" b="0" i="0">
                <a:solidFill>
                  <a:srgbClr val="1F2A37"/>
                </a:solidFill>
                <a:latin typeface="Calibri"/>
              </a:rPr>
              <a:t>: hilft weiter, kostet Punkte</a:t>
            </a:r>
            <a:r>
              <a:rPr sz="2000" b="0" i="0">
                <a:solidFill>
                  <a:srgbClr val="1F2A37"/>
                </a:solidFill>
                <a:latin typeface="Calibri"/>
              </a:rPr>
              <a:t/>
            </a:r>
          </a:p>
          <a:p>
            <a:pPr>
              <a:spcAft>
                <a:spcPts val="600"/>
              </a:spcAft>
            </a:pPr>
            <a:r>
              <a:rPr sz="2000" b="1" i="0">
                <a:solidFill>
                  <a:srgbClr val="1F2A37"/>
                </a:solidFill>
                <a:latin typeface="Calibri"/>
              </a:rPr>
              <a:t>Lösung zeigen</a:t>
            </a:r>
            <a:r>
              <a:rPr sz="2000" b="0" i="0">
                <a:solidFill>
                  <a:srgbClr val="1F2A37"/>
                </a:solidFill>
                <a:latin typeface="Calibri"/>
              </a:rPr>
              <a:t>: 0 Punkte</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So entstehen deine Punkte</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6035039" cy="2606034"/>
        </p:xfrm>
        <a:graphic>
          <a:graphicData uri="http://schemas.openxmlformats.org/drawingml/2006/table">
            <a:tbl>
              <a:tblPr firstRow="1" bandRow="1">
                <a:tableStyleId>{5C22544A-7EE6-4342-B048-85BDC9FD1C3A}</a:tableStyleId>
              </a:tblPr>
              <a:tblGrid>
                <a:gridCol w="4723074"/>
                <a:gridCol w="1311965"/>
              </a:tblGrid>
              <a:tr h="434339">
                <a:tc>
                  <a:txBody>
                    <a:bodyPr/>
                    <a:lstStyle/>
                    <a:p>
                      <a:pPr algn="ctr"/>
                      <a:r>
                        <a:rPr sz="1800" b="1">
                          <a:solidFill>
                            <a:srgbClr val="FFFFFF"/>
                          </a:solidFill>
                          <a:latin typeface="Calibri"/>
                        </a:rPr>
                        <a:t>Aufgabe</a:t>
                      </a:r>
                    </a:p>
                  </a:txBody>
                  <a:tcPr marL="54864" marR="54864" marT="18288" marB="18288" anchor="ctr">
                    <a:solidFill>
                      <a:srgbClr val="1F4E79"/>
                    </a:solidFill>
                  </a:tcPr>
                </a:tc>
                <a:tc>
                  <a:txBody>
                    <a:bodyPr/>
                    <a:lstStyle/>
                    <a:p>
                      <a:pPr algn="ctr"/>
                      <a:r>
                        <a:rPr sz="1800" b="1">
                          <a:solidFill>
                            <a:srgbClr val="FFFFFF"/>
                          </a:solidFill>
                          <a:latin typeface="Calibri"/>
                        </a:rPr>
                        <a:t>Punkte</a:t>
                      </a:r>
                    </a:p>
                  </a:txBody>
                  <a:tcPr marL="54864" marR="54864" marT="18288" marB="18288" anchor="ctr">
                    <a:solidFill>
                      <a:srgbClr val="1F4E79"/>
                    </a:solidFill>
                  </a:tcPr>
                </a:tc>
              </a:tr>
              <a:tr h="434339">
                <a:tc>
                  <a:txBody>
                    <a:bodyPr/>
                    <a:lstStyle/>
                    <a:p>
                      <a:pPr algn="ctr"/>
                      <a:r>
                        <a:rPr sz="1800" b="0">
                          <a:solidFill>
                            <a:srgbClr val="1F2A37"/>
                          </a:solidFill>
                          <a:latin typeface="Consolas"/>
                        </a:rPr>
                        <a:t>★ 10 P., sofort richtig</a:t>
                      </a:r>
                    </a:p>
                  </a:txBody>
                  <a:tcPr marL="54864" marR="54864" marT="18288" marB="18288" anchor="ctr">
                    <a:solidFill>
                      <a:srgbClr val="FFFFFF"/>
                    </a:solidFill>
                  </a:tcPr>
                </a:tc>
                <a:tc>
                  <a:txBody>
                    <a:bodyPr/>
                    <a:lstStyle/>
                    <a:p>
                      <a:pPr algn="ctr"/>
                      <a:r>
                        <a:rPr sz="1800" b="0">
                          <a:solidFill>
                            <a:srgbClr val="1F2A37"/>
                          </a:solidFill>
                          <a:latin typeface="Consolas"/>
                        </a:rPr>
                        <a:t>10</a:t>
                      </a:r>
                    </a:p>
                  </a:txBody>
                  <a:tcPr marL="54864" marR="54864" marT="18288" marB="18288" anchor="ctr">
                    <a:solidFill>
                      <a:srgbClr val="FFFFFF"/>
                    </a:solidFill>
                  </a:tcPr>
                </a:tc>
              </a:tr>
              <a:tr h="434339">
                <a:tc>
                  <a:txBody>
                    <a:bodyPr/>
                    <a:lstStyle/>
                    <a:p>
                      <a:pPr algn="ctr"/>
                      <a:r>
                        <a:rPr sz="1800" b="0">
                          <a:solidFill>
                            <a:srgbClr val="1F2A37"/>
                          </a:solidFill>
                          <a:latin typeface="Consolas"/>
                        </a:rPr>
                        <a:t>★★ 20 P., mit 1 Tipp</a:t>
                      </a:r>
                    </a:p>
                  </a:txBody>
                  <a:tcPr marL="54864" marR="54864" marT="18288" marB="18288" anchor="ctr">
                    <a:solidFill>
                      <a:srgbClr val="EEF3FA"/>
                    </a:solidFill>
                  </a:tcPr>
                </a:tc>
                <a:tc>
                  <a:txBody>
                    <a:bodyPr/>
                    <a:lstStyle/>
                    <a:p>
                      <a:pPr algn="ctr"/>
                      <a:r>
                        <a:rPr sz="1800" b="0">
                          <a:solidFill>
                            <a:srgbClr val="1F2A37"/>
                          </a:solidFill>
                          <a:latin typeface="Consolas"/>
                        </a:rPr>
                        <a:t>16</a:t>
                      </a:r>
                    </a:p>
                  </a:txBody>
                  <a:tcPr marL="54864" marR="54864" marT="18288" marB="18288" anchor="ctr">
                    <a:solidFill>
                      <a:srgbClr val="EEF3FA"/>
                    </a:solidFill>
                  </a:tcPr>
                </a:tc>
              </a:tr>
              <a:tr h="434339">
                <a:tc>
                  <a:txBody>
                    <a:bodyPr/>
                    <a:lstStyle/>
                    <a:p>
                      <a:pPr algn="ctr"/>
                      <a:r>
                        <a:rPr sz="1800" b="0">
                          <a:solidFill>
                            <a:srgbClr val="1F2A37"/>
                          </a:solidFill>
                          <a:latin typeface="Consolas"/>
                        </a:rPr>
                        <a:t>★★ 20 P., Tipp + Fehlversuch</a:t>
                      </a:r>
                    </a:p>
                  </a:txBody>
                  <a:tcPr marL="54864" marR="54864" marT="18288" marB="18288" anchor="ctr">
                    <a:solidFill>
                      <a:srgbClr val="FFFFFF"/>
                    </a:solidFill>
                  </a:tcPr>
                </a:tc>
                <a:tc>
                  <a:txBody>
                    <a:bodyPr/>
                    <a:lstStyle/>
                    <a:p>
                      <a:pPr algn="ctr"/>
                      <a:r>
                        <a:rPr sz="1800" b="0">
                          <a:solidFill>
                            <a:srgbClr val="1F2A37"/>
                          </a:solidFill>
                          <a:latin typeface="Consolas"/>
                        </a:rPr>
                        <a:t>11</a:t>
                      </a:r>
                    </a:p>
                  </a:txBody>
                  <a:tcPr marL="54864" marR="54864" marT="18288" marB="18288" anchor="ctr">
                    <a:solidFill>
                      <a:srgbClr val="FFFFFF"/>
                    </a:solidFill>
                  </a:tcPr>
                </a:tc>
              </a:tr>
              <a:tr h="434339">
                <a:tc>
                  <a:txBody>
                    <a:bodyPr/>
                    <a:lstStyle/>
                    <a:p>
                      <a:pPr algn="ctr"/>
                      <a:r>
                        <a:rPr sz="1800" b="0">
                          <a:solidFill>
                            <a:srgbClr val="1F2A37"/>
                          </a:solidFill>
                          <a:latin typeface="Consolas"/>
                        </a:rPr>
                        <a:t>★★ 20 P., 4 Fehlversuche</a:t>
                      </a:r>
                    </a:p>
                  </a:txBody>
                  <a:tcPr marL="54864" marR="54864" marT="18288" marB="18288" anchor="ctr">
                    <a:solidFill>
                      <a:srgbClr val="EEF3FA"/>
                    </a:solidFill>
                  </a:tcPr>
                </a:tc>
                <a:tc>
                  <a:txBody>
                    <a:bodyPr/>
                    <a:lstStyle/>
                    <a:p>
                      <a:pPr algn="ctr"/>
                      <a:r>
                        <a:rPr sz="1800" b="0">
                          <a:solidFill>
                            <a:srgbClr val="1F2A37"/>
                          </a:solidFill>
                          <a:latin typeface="Consolas"/>
                        </a:rPr>
                        <a:t>5</a:t>
                      </a:r>
                    </a:p>
                  </a:txBody>
                  <a:tcPr marL="54864" marR="54864" marT="18288" marB="18288" anchor="ctr">
                    <a:solidFill>
                      <a:srgbClr val="EEF3FA"/>
                    </a:solidFill>
                  </a:tcPr>
                </a:tc>
              </a:tr>
              <a:tr h="434339">
                <a:tc>
                  <a:txBody>
                    <a:bodyPr/>
                    <a:lstStyle/>
                    <a:p>
                      <a:pPr algn="ctr"/>
                      <a:r>
                        <a:rPr sz="1800" b="0">
                          <a:solidFill>
                            <a:srgbClr val="1F2A37"/>
                          </a:solidFill>
                          <a:latin typeface="Consolas"/>
                        </a:rPr>
                        <a:t>„Lösung zeigen“</a:t>
                      </a:r>
                    </a:p>
                  </a:txBody>
                  <a:tcPr marL="54864" marR="54864" marT="18288" marB="18288" anchor="ctr">
                    <a:solidFill>
                      <a:srgbClr val="FFFFFF"/>
                    </a:solidFill>
                  </a:tcPr>
                </a:tc>
                <a:tc>
                  <a:txBody>
                    <a:bodyPr/>
                    <a:lstStyle/>
                    <a:p>
                      <a:pPr algn="ctr"/>
                      <a:r>
                        <a:rPr sz="1800" b="0">
                          <a:solidFill>
                            <a:srgbClr val="1F2A37"/>
                          </a:solidFill>
                          <a:latin typeface="Consolas"/>
                        </a:rPr>
                        <a:t>0</a:t>
                      </a:r>
                    </a:p>
                  </a:txBody>
                  <a:tcPr marL="54864" marR="54864" marT="18288" marB="18288" anchor="ctr">
                    <a:solidFill>
                      <a:srgbClr val="FFFFFF"/>
                    </a:solidFill>
                  </a:tcPr>
                </a:tc>
              </a:tr>
            </a:tbl>
          </a:graphicData>
        </a:graphic>
      </p:graphicFrame>
      <p:sp>
        <p:nvSpPr>
          <p:cNvPr id="6" name="Rounded Rectangle 5"/>
          <p:cNvSpPr/>
          <p:nvPr/>
        </p:nvSpPr>
        <p:spPr>
          <a:xfrm>
            <a:off x="6949440" y="1325880"/>
            <a:ext cx="469361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0" y="1463039"/>
            <a:ext cx="432785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Die Regeln</a:t>
            </a:r>
            <a:r>
              <a:rPr sz="2000" b="0" i="0">
                <a:solidFill>
                  <a:srgbClr val="1F2A37"/>
                </a:solidFill>
                <a:latin typeface="Calibri"/>
              </a:rPr>
              <a:t/>
            </a:r>
          </a:p>
          <a:p>
            <a:pPr>
              <a:spcAft>
                <a:spcPts val="600"/>
              </a:spcAft>
            </a:pPr>
            <a:r>
              <a:rPr sz="2000" b="0" i="0">
                <a:solidFill>
                  <a:srgbClr val="1F2A37"/>
                </a:solidFill>
                <a:latin typeface="Calibri"/>
              </a:rPr>
              <a:t>Punkte nur beim </a:t>
            </a:r>
            <a:r>
              <a:rPr sz="2000" b="1" i="0">
                <a:solidFill>
                  <a:srgbClr val="1F2A37"/>
                </a:solidFill>
                <a:latin typeface="Calibri"/>
              </a:rPr>
              <a:t>ersten</a:t>
            </a:r>
            <a:r>
              <a:rPr sz="2000" b="0" i="0">
                <a:solidFill>
                  <a:srgbClr val="1F2A37"/>
                </a:solidFill>
                <a:latin typeface="Calibri"/>
              </a:rPr>
              <a:t> Lösen</a:t>
            </a:r>
            <a:r>
              <a:rPr sz="2000" b="0" i="0">
                <a:solidFill>
                  <a:srgbClr val="1F2A37"/>
                </a:solidFill>
                <a:latin typeface="Calibri"/>
              </a:rPr>
              <a:t/>
            </a:r>
          </a:p>
          <a:p>
            <a:pPr>
              <a:spcAft>
                <a:spcPts val="600"/>
              </a:spcAft>
            </a:pPr>
            <a:r>
              <a:rPr sz="2000" b="0" i="0">
                <a:solidFill>
                  <a:srgbClr val="1F2A37"/>
                </a:solidFill>
                <a:latin typeface="Calibri"/>
              </a:rPr>
              <a:t>je Fehlversuch </a:t>
            </a:r>
            <a:r>
              <a:rPr sz="2000" b="1" i="0">
                <a:solidFill>
                  <a:srgbClr val="1F2A37"/>
                </a:solidFill>
                <a:latin typeface="Calibri"/>
              </a:rPr>
              <a:t>− 25 %</a:t>
            </a:r>
            <a:r>
              <a:rPr sz="2000" b="0" i="0">
                <a:solidFill>
                  <a:srgbClr val="1F2A37"/>
                </a:solidFill>
                <a:latin typeface="Calibri"/>
              </a:rPr>
              <a:t/>
            </a:r>
          </a:p>
          <a:p>
            <a:pPr>
              <a:spcAft>
                <a:spcPts val="600"/>
              </a:spcAft>
            </a:pPr>
            <a:r>
              <a:rPr sz="2000" b="0" i="0">
                <a:solidFill>
                  <a:srgbClr val="1F2A37"/>
                </a:solidFill>
                <a:latin typeface="Calibri"/>
              </a:rPr>
              <a:t>je Tipp </a:t>
            </a:r>
            <a:r>
              <a:rPr sz="2000" b="1" i="0">
                <a:solidFill>
                  <a:srgbClr val="1F2A37"/>
                </a:solidFill>
                <a:latin typeface="Calibri"/>
              </a:rPr>
              <a:t>− 20 %</a:t>
            </a:r>
            <a:r>
              <a:rPr sz="2000" b="0" i="0">
                <a:solidFill>
                  <a:srgbClr val="1F2A37"/>
                </a:solidFill>
                <a:latin typeface="Calibri"/>
              </a:rPr>
              <a:t/>
            </a:r>
          </a:p>
          <a:p>
            <a:pPr>
              <a:spcAft>
                <a:spcPts val="600"/>
              </a:spcAft>
            </a:pPr>
            <a:r>
              <a:rPr sz="2000" b="0" i="0">
                <a:solidFill>
                  <a:srgbClr val="1F2A37"/>
                </a:solidFill>
                <a:latin typeface="Calibri"/>
              </a:rPr>
              <a:t>mindestens </a:t>
            </a:r>
            <a:r>
              <a:rPr sz="2000" b="1" i="0">
                <a:solidFill>
                  <a:srgbClr val="1F2A37"/>
                </a:solidFill>
                <a:latin typeface="Calibri"/>
              </a:rPr>
              <a:t>25 %</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Der Boss: Abi auf Zeit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ss.jpg"/>
          <p:cNvPicPr>
            <a:picLocks noChangeAspect="1"/>
          </p:cNvPicPr>
          <p:nvPr/>
        </p:nvPicPr>
        <p:blipFill>
          <a:blip r:embed="rId2"/>
          <a:stretch>
            <a:fillRect/>
          </a:stretch>
        </p:blipFill>
        <p:spPr>
          <a:xfrm>
            <a:off x="548640" y="1417320"/>
            <a:ext cx="7772400" cy="4857750"/>
          </a:xfrm>
          <a:prstGeom prst="rect">
            <a:avLst/>
          </a:prstGeom>
        </p:spPr>
      </p:pic>
      <p:sp>
        <p:nvSpPr>
          <p:cNvPr id="6" name="Rounded Rectangle 5"/>
          <p:cNvSpPr/>
          <p:nvPr/>
        </p:nvSpPr>
        <p:spPr>
          <a:xfrm>
            <a:off x="8595360" y="1325880"/>
            <a:ext cx="304769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0" y="1463039"/>
            <a:ext cx="2681935" cy="2377439"/>
          </a:xfrm>
          <a:prstGeom prst="rect">
            <a:avLst/>
          </a:prstGeom>
          <a:noFill/>
        </p:spPr>
        <p:txBody>
          <a:bodyPr wrap="square" anchor="t" lIns="45720" rIns="45720">
            <a:spAutoFit/>
          </a:bodyPr>
          <a:lstStyle/>
          <a:p>
            <a:pPr>
              <a:spcAft>
                <a:spcPts val="800"/>
              </a:spcAft>
            </a:pPr>
            <a:r>
              <a:rPr sz="2200" b="1" i="0">
                <a:solidFill>
                  <a:srgbClr val="C00000"/>
                </a:solidFill>
                <a:latin typeface="Calibri"/>
              </a:rPr>
              <a:t>Boss-Regeln</a:t>
            </a:r>
            <a:r>
              <a:rPr sz="2000" b="0" i="0">
                <a:solidFill>
                  <a:srgbClr val="1F2A37"/>
                </a:solidFill>
                <a:latin typeface="Calibri"/>
              </a:rPr>
              <a:t/>
            </a:r>
          </a:p>
          <a:p>
            <a:pPr>
              <a:spcAft>
                <a:spcPts val="600"/>
              </a:spcAft>
            </a:pPr>
            <a:r>
              <a:rPr sz="2000" b="0" i="0">
                <a:solidFill>
                  <a:srgbClr val="1F2A37"/>
                </a:solidFill>
                <a:latin typeface="Calibri"/>
              </a:rPr>
              <a:t>frei ab </a:t>
            </a:r>
            <a:r>
              <a:rPr sz="2000" b="1" i="0">
                <a:solidFill>
                  <a:srgbClr val="1F2A37"/>
                </a:solidFill>
                <a:latin typeface="Calibri"/>
              </a:rPr>
              <a:t>60 %</a:t>
            </a:r>
            <a:r>
              <a:rPr sz="2000" b="0" i="0">
                <a:solidFill>
                  <a:srgbClr val="1F2A37"/>
                </a:solidFill>
                <a:latin typeface="Calibri"/>
              </a:rPr>
              <a:t/>
            </a:r>
          </a:p>
          <a:p>
            <a:pPr>
              <a:spcAft>
                <a:spcPts val="600"/>
              </a:spcAft>
            </a:pPr>
            <a:r>
              <a:rPr sz="2000" b="0" i="0">
                <a:solidFill>
                  <a:srgbClr val="1F2A37"/>
                </a:solidFill>
                <a:latin typeface="Calibri"/>
              </a:rPr>
              <a:t>auf Zeit, Auswertung am Ende</a:t>
            </a:r>
            <a:r>
              <a:rPr sz="2000" b="0" i="0">
                <a:solidFill>
                  <a:srgbClr val="1F2A37"/>
                </a:solidFill>
                <a:latin typeface="Calibri"/>
              </a:rPr>
              <a:t/>
            </a:r>
          </a:p>
          <a:p>
            <a:pPr>
              <a:spcAft>
                <a:spcPts val="600"/>
              </a:spcAft>
            </a:pPr>
            <a:r>
              <a:rPr sz="2000" b="0" i="0">
                <a:solidFill>
                  <a:srgbClr val="1F2A37"/>
                </a:solidFill>
                <a:latin typeface="Calibri"/>
              </a:rPr>
              <a:t>besiegt ab </a:t>
            </a:r>
            <a:r>
              <a:rPr sz="2000" b="1" i="0">
                <a:solidFill>
                  <a:srgbClr val="1F2A37"/>
                </a:solidFill>
                <a:latin typeface="Calibri"/>
              </a:rPr>
              <a:t>50 %</a:t>
            </a:r>
            <a:r>
              <a:rPr sz="2000" b="0" i="0">
                <a:solidFill>
                  <a:srgbClr val="1F2A37"/>
                </a:solidFill>
                <a:latin typeface="Calibri"/>
              </a:rPr>
              <a:t/>
            </a:r>
          </a:p>
          <a:p>
            <a:pPr>
              <a:spcAft>
                <a:spcPts val="600"/>
              </a:spcAft>
            </a:pPr>
            <a:r>
              <a:rPr sz="2000" b="1" i="0">
                <a:solidFill>
                  <a:srgbClr val="1F2A37"/>
                </a:solidFill>
                <a:latin typeface="Calibri"/>
              </a:rPr>
              <a:t>12 h</a:t>
            </a:r>
            <a:r>
              <a:rPr sz="2000" b="0" i="0">
                <a:solidFill>
                  <a:srgbClr val="1F2A37"/>
                </a:solidFill>
                <a:latin typeface="Calibri"/>
              </a:rPr>
              <a:t> Pause</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Der Trainingsplatz</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ining.jpg"/>
          <p:cNvPicPr>
            <a:picLocks noChangeAspect="1"/>
          </p:cNvPicPr>
          <p:nvPr/>
        </p:nvPicPr>
        <p:blipFill>
          <a:blip r:embed="rId2"/>
          <a:stretch>
            <a:fillRect/>
          </a:stretch>
        </p:blipFill>
        <p:spPr>
          <a:xfrm>
            <a:off x="548640" y="1417320"/>
            <a:ext cx="7772400" cy="4857750"/>
          </a:xfrm>
          <a:prstGeom prst="rect">
            <a:avLst/>
          </a:prstGeom>
        </p:spPr>
      </p:pic>
      <p:sp>
        <p:nvSpPr>
          <p:cNvPr id="6" name="Rounded Rectangle 5"/>
          <p:cNvSpPr/>
          <p:nvPr/>
        </p:nvSpPr>
        <p:spPr>
          <a:xfrm>
            <a:off x="8595360" y="1325880"/>
            <a:ext cx="304769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0" y="1463039"/>
            <a:ext cx="268193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Zufallsaufgaben</a:t>
            </a:r>
            <a:r>
              <a:rPr sz="2000" b="0" i="0">
                <a:solidFill>
                  <a:srgbClr val="1F2A37"/>
                </a:solidFill>
                <a:latin typeface="Calibri"/>
              </a:rPr>
              <a:t/>
            </a:r>
          </a:p>
          <a:p>
            <a:pPr>
              <a:spcAft>
                <a:spcPts val="600"/>
              </a:spcAft>
            </a:pPr>
            <a:r>
              <a:rPr sz="2000" b="0" i="0">
                <a:solidFill>
                  <a:srgbClr val="1F2A37"/>
                </a:solidFill>
                <a:latin typeface="Calibri"/>
              </a:rPr>
              <a:t>immer </a:t>
            </a:r>
            <a:r>
              <a:rPr sz="2000" b="1" i="0">
                <a:solidFill>
                  <a:srgbClr val="1F2A37"/>
                </a:solidFill>
                <a:latin typeface="Calibri"/>
              </a:rPr>
              <a:t>neue</a:t>
            </a:r>
            <a:r>
              <a:rPr sz="2000" b="0" i="0">
                <a:solidFill>
                  <a:srgbClr val="1F2A37"/>
                </a:solidFill>
                <a:latin typeface="Calibri"/>
              </a:rPr>
              <a:t> Aufgaben</a:t>
            </a:r>
            <a:r>
              <a:rPr sz="2000" b="0" i="0">
                <a:solidFill>
                  <a:srgbClr val="1F2A37"/>
                </a:solidFill>
                <a:latin typeface="Calibri"/>
              </a:rPr>
              <a:t/>
            </a:r>
          </a:p>
          <a:p>
            <a:pPr>
              <a:spcAft>
                <a:spcPts val="600"/>
              </a:spcAft>
            </a:pPr>
            <a:r>
              <a:rPr sz="2000" b="1" i="0">
                <a:solidFill>
                  <a:srgbClr val="1F2A37"/>
                </a:solidFill>
                <a:latin typeface="Calibri"/>
              </a:rPr>
              <a:t>1 Punkt</a:t>
            </a:r>
            <a:r>
              <a:rPr sz="2000" b="0" i="0">
                <a:solidFill>
                  <a:srgbClr val="1F2A37"/>
                </a:solidFill>
                <a:latin typeface="Calibri"/>
              </a:rPr>
              <a:t> je Aufgabe</a:t>
            </a:r>
            <a:r>
              <a:rPr sz="2000" b="0" i="0">
                <a:solidFill>
                  <a:srgbClr val="1F2A37"/>
                </a:solidFill>
                <a:latin typeface="Calibri"/>
              </a:rPr>
              <a:t/>
            </a:r>
          </a:p>
          <a:p>
            <a:pPr>
              <a:spcAft>
                <a:spcPts val="600"/>
              </a:spcAft>
            </a:pPr>
            <a:r>
              <a:rPr sz="2000" b="0" i="0">
                <a:solidFill>
                  <a:srgbClr val="1F2A37"/>
                </a:solidFill>
                <a:latin typeface="Calibri"/>
              </a:rPr>
              <a:t>max. </a:t>
            </a:r>
            <a:r>
              <a:rPr sz="2000" b="1" i="0">
                <a:solidFill>
                  <a:srgbClr val="1F2A37"/>
                </a:solidFill>
                <a:latin typeface="Calibri"/>
              </a:rPr>
              <a:t>30</a:t>
            </a:r>
            <a:r>
              <a:rPr sz="2000" b="0" i="0">
                <a:solidFill>
                  <a:srgbClr val="1F2A37"/>
                </a:solidFill>
                <a:latin typeface="Calibri"/>
              </a:rPr>
              <a:t> pro Tag</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Der Warm-up-Trainer</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armup.jpg"/>
          <p:cNvPicPr>
            <a:picLocks noChangeAspect="1"/>
          </p:cNvPicPr>
          <p:nvPr/>
        </p:nvPicPr>
        <p:blipFill>
          <a:blip r:embed="rId2"/>
          <a:stretch>
            <a:fillRect/>
          </a:stretch>
        </p:blipFill>
        <p:spPr>
          <a:xfrm>
            <a:off x="548640" y="1417320"/>
            <a:ext cx="7772400" cy="4705945"/>
          </a:xfrm>
          <a:prstGeom prst="rect">
            <a:avLst/>
          </a:prstGeom>
        </p:spPr>
      </p:pic>
      <p:sp>
        <p:nvSpPr>
          <p:cNvPr id="6" name="Rounded Rectangle 5"/>
          <p:cNvSpPr/>
          <p:nvPr/>
        </p:nvSpPr>
        <p:spPr>
          <a:xfrm>
            <a:off x="8595360" y="1325880"/>
            <a:ext cx="304769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0" y="1463039"/>
            <a:ext cx="2681935" cy="2377439"/>
          </a:xfrm>
          <a:prstGeom prst="rect">
            <a:avLst/>
          </a:prstGeom>
          <a:noFill/>
        </p:spPr>
        <p:txBody>
          <a:bodyPr wrap="square" anchor="t" lIns="45720" rIns="45720">
            <a:spAutoFit/>
          </a:bodyPr>
          <a:lstStyle/>
          <a:p>
            <a:pPr>
              <a:spcAft>
                <a:spcPts val="800"/>
              </a:spcAft>
            </a:pPr>
            <a:r>
              <a:rPr sz="2200" b="1" i="0">
                <a:solidFill>
                  <a:srgbClr val="1F4E79"/>
                </a:solidFill>
                <a:latin typeface="Calibri"/>
              </a:rPr>
              <a:t>Wie im Abi</a:t>
            </a:r>
            <a:r>
              <a:rPr sz="2000" b="0" i="0">
                <a:solidFill>
                  <a:srgbClr val="1F2A37"/>
                </a:solidFill>
                <a:latin typeface="Calibri"/>
              </a:rPr>
              <a:t/>
            </a:r>
          </a:p>
          <a:p>
            <a:pPr>
              <a:spcAft>
                <a:spcPts val="600"/>
              </a:spcAft>
            </a:pPr>
            <a:r>
              <a:rPr sz="2000" b="0" i="0">
                <a:solidFill>
                  <a:srgbClr val="1F2A37"/>
                </a:solidFill>
                <a:latin typeface="Calibri"/>
              </a:rPr>
              <a:t>Karte ziehen</a:t>
            </a:r>
            <a:r>
              <a:rPr sz="2000" b="0" i="0">
                <a:solidFill>
                  <a:srgbClr val="1F2A37"/>
                </a:solidFill>
                <a:latin typeface="Calibri"/>
              </a:rPr>
              <a:t/>
            </a:r>
          </a:p>
          <a:p>
            <a:pPr>
              <a:spcAft>
                <a:spcPts val="600"/>
              </a:spcAft>
            </a:pPr>
            <a:r>
              <a:rPr sz="2000" b="1" i="0">
                <a:solidFill>
                  <a:srgbClr val="1F2A37"/>
                </a:solidFill>
                <a:latin typeface="Calibri"/>
              </a:rPr>
              <a:t>auf Papier</a:t>
            </a:r>
            <a:r>
              <a:rPr sz="2000" b="0" i="0">
                <a:solidFill>
                  <a:srgbClr val="1F2A37"/>
                </a:solidFill>
                <a:latin typeface="Calibri"/>
              </a:rPr>
              <a:t> lösen</a:t>
            </a:r>
            <a:r>
              <a:rPr sz="2000" b="0" i="0">
                <a:solidFill>
                  <a:srgbClr val="1F2A37"/>
                </a:solidFill>
                <a:latin typeface="Calibri"/>
              </a:rPr>
              <a:t/>
            </a:r>
          </a:p>
          <a:p>
            <a:pPr>
              <a:spcAft>
                <a:spcPts val="600"/>
              </a:spcAft>
            </a:pPr>
            <a:r>
              <a:rPr sz="2000" b="0" i="0">
                <a:solidFill>
                  <a:srgbClr val="1F2A37"/>
                </a:solidFill>
                <a:latin typeface="Calibri"/>
              </a:rPr>
              <a:t>aufdecken, einschätzen</a:t>
            </a:r>
            <a:r>
              <a:rPr sz="2000" b="0" i="0">
                <a:solidFill>
                  <a:srgbClr val="1F2A37"/>
                </a:solidFill>
                <a:latin typeface="Calibri"/>
              </a:rPr>
              <a:t/>
            </a:r>
          </a:p>
          <a:p>
            <a:pPr>
              <a:spcAft>
                <a:spcPts val="600"/>
              </a:spcAft>
            </a:pPr>
            <a:r>
              <a:rPr sz="2000" b="0" i="0">
                <a:solidFill>
                  <a:srgbClr val="1F2A37"/>
                </a:solidFill>
                <a:latin typeface="Calibri"/>
              </a:rPr>
              <a:t>ohne Punkte</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Die Themenseite /themen</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hemen.jpg"/>
          <p:cNvPicPr>
            <a:picLocks noChangeAspect="1"/>
          </p:cNvPicPr>
          <p:nvPr/>
        </p:nvPicPr>
        <p:blipFill>
          <a:blip r:embed="rId2"/>
          <a:stretch>
            <a:fillRect/>
          </a:stretch>
        </p:blipFill>
        <p:spPr>
          <a:xfrm>
            <a:off x="548640" y="1417320"/>
            <a:ext cx="7772400" cy="4857750"/>
          </a:xfrm>
          <a:prstGeom prst="rect">
            <a:avLst/>
          </a:prstGeom>
        </p:spPr>
      </p:pic>
      <p:sp>
        <p:nvSpPr>
          <p:cNvPr id="6" name="Rounded Rectangle 5"/>
          <p:cNvSpPr/>
          <p:nvPr/>
        </p:nvSpPr>
        <p:spPr>
          <a:xfrm>
            <a:off x="8595360" y="1325880"/>
            <a:ext cx="304769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0" y="1463039"/>
            <a:ext cx="268193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Alles an einem Ort</a:t>
            </a:r>
            <a:r>
              <a:rPr sz="2000" b="0" i="0">
                <a:solidFill>
                  <a:srgbClr val="1F2A37"/>
                </a:solidFill>
                <a:latin typeface="Calibri"/>
              </a:rPr>
              <a:t/>
            </a:r>
          </a:p>
          <a:p>
            <a:pPr>
              <a:spcAft>
                <a:spcPts val="600"/>
              </a:spcAft>
            </a:pPr>
            <a:r>
              <a:rPr sz="2000" b="1" i="0">
                <a:solidFill>
                  <a:srgbClr val="1F2A37"/>
                </a:solidFill>
                <a:latin typeface="Calibri"/>
              </a:rPr>
              <a:t>Arbeitsblätter</a:t>
            </a:r>
            <a:r>
              <a:rPr sz="2000" b="0" i="0">
                <a:solidFill>
                  <a:srgbClr val="1F2A37"/>
                </a:solidFill>
                <a:latin typeface="Calibri"/>
              </a:rPr>
              <a:t> (PDF)</a:t>
            </a:r>
            <a:r>
              <a:rPr sz="2000" b="0" i="0">
                <a:solidFill>
                  <a:srgbClr val="1F2A37"/>
                </a:solidFill>
                <a:latin typeface="Calibri"/>
              </a:rPr>
              <a:t/>
            </a:r>
          </a:p>
          <a:p>
            <a:pPr>
              <a:spcAft>
                <a:spcPts val="600"/>
              </a:spcAft>
            </a:pPr>
            <a:r>
              <a:rPr sz="2000" b="0" i="0">
                <a:solidFill>
                  <a:srgbClr val="1F2A37"/>
                </a:solidFill>
                <a:latin typeface="Calibri"/>
              </a:rPr>
              <a:t>nach Welt, Typ, Falle</a:t>
            </a:r>
            <a:r>
              <a:rPr sz="2000" b="0" i="0">
                <a:solidFill>
                  <a:srgbClr val="1F2A37"/>
                </a:solidFill>
                <a:latin typeface="Calibri"/>
              </a:rPr>
              <a:t/>
            </a:r>
          </a:p>
          <a:p>
            <a:pPr>
              <a:spcAft>
                <a:spcPts val="600"/>
              </a:spcAft>
            </a:pPr>
            <a:r>
              <a:rPr sz="2000" b="0" i="0">
                <a:solidFill>
                  <a:srgbClr val="1F2A37"/>
                </a:solidFill>
                <a:latin typeface="Calibri"/>
              </a:rPr>
              <a:t>„Üben →“ öffnet das Level</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Probier es aus!</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39"/>
            <a:ext cx="3017520" cy="548640"/>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FFFFFF"/>
                </a:solidFill>
                <a:latin typeface="Calibri"/>
              </a:rPr>
              <a:t>⏸  Video anhalten</a:t>
            </a:r>
          </a:p>
        </p:txBody>
      </p:sp>
      <p:sp>
        <p:nvSpPr>
          <p:cNvPr id="6" name="TextBox 5"/>
          <p:cNvSpPr txBox="1"/>
          <p:nvPr/>
        </p:nvSpPr>
        <p:spPr>
          <a:xfrm>
            <a:off x="548640" y="2240280"/>
            <a:ext cx="6675120" cy="1161288"/>
          </a:xfrm>
          <a:prstGeom prst="rect">
            <a:avLst/>
          </a:prstGeom>
          <a:noFill/>
        </p:spPr>
        <p:txBody>
          <a:bodyPr wrap="square" anchor="t" lIns="45720" rIns="45720">
            <a:spAutoFit/>
          </a:bodyPr>
          <a:lstStyle/>
          <a:p>
            <a:r>
              <a:rPr sz="2400" b="0" i="0">
                <a:solidFill>
                  <a:srgbClr val="1F2A37"/>
                </a:solidFill>
                <a:latin typeface="Calibri"/>
              </a:rPr>
              <a:t>Tritt deinem Kurs bei und </a:t>
            </a:r>
            <a:r>
              <a:rPr sz="2400" b="1" i="0">
                <a:solidFill>
                  <a:srgbClr val="1F2A37"/>
                </a:solidFill>
                <a:latin typeface="Calibri"/>
              </a:rPr>
              <a:t>notiere deinen Code</a:t>
            </a:r>
            <a:r>
              <a:rPr sz="2400" b="0" i="0">
                <a:solidFill>
                  <a:srgbClr val="1F2A37"/>
                </a:solidFill>
                <a:latin typeface="Calibri"/>
              </a:rPr>
              <a:t>. Melde dich ab und mit </a:t>
            </a:r>
            <a:r>
              <a:rPr sz="2400" b="1" i="0">
                <a:solidFill>
                  <a:srgbClr val="1F2A37"/>
                </a:solidFill>
                <a:latin typeface="Calibri"/>
              </a:rPr>
              <a:t>Name + Code</a:t>
            </a:r>
            <a:r>
              <a:rPr sz="2400" b="0" i="0">
                <a:solidFill>
                  <a:srgbClr val="1F2A37"/>
                </a:solidFill>
                <a:latin typeface="Calibri"/>
              </a:rPr>
              <a:t> wieder an. Löse dann die erste Aufgabe in </a:t>
            </a:r>
            <a:r>
              <a:rPr sz="2400" b="1" i="0">
                <a:solidFill>
                  <a:srgbClr val="1F2A37"/>
                </a:solidFill>
                <a:latin typeface="Calibri"/>
              </a:rPr>
              <a:t>Level 0.1</a:t>
            </a:r>
            <a:r>
              <a:rPr sz="2400" b="0" i="0">
                <a:solidFill>
                  <a:srgbClr val="1F2A37"/>
                </a:solidFill>
                <a:latin typeface="Calibri"/>
              </a:rPr>
              <a:t>.</a:t>
            </a:r>
          </a:p>
        </p:txBody>
      </p:sp>
      <p:sp>
        <p:nvSpPr>
          <p:cNvPr id="7" name="Rounded Rectangle 6"/>
          <p:cNvSpPr/>
          <p:nvPr/>
        </p:nvSpPr>
        <p:spPr>
          <a:xfrm>
            <a:off x="7498079" y="1325880"/>
            <a:ext cx="414497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Geschafft, wenn …</a:t>
            </a:r>
            <a:r>
              <a:rPr sz="2000" b="0" i="0">
                <a:solidFill>
                  <a:srgbClr val="1F2A37"/>
                </a:solidFill>
                <a:latin typeface="Calibri"/>
              </a:rPr>
              <a:t/>
            </a:r>
          </a:p>
          <a:p>
            <a:pPr>
              <a:spcAft>
                <a:spcPts val="600"/>
              </a:spcAft>
            </a:pPr>
            <a:r>
              <a:rPr sz="2000" b="0" i="0">
                <a:solidFill>
                  <a:srgbClr val="1F2A37"/>
                </a:solidFill>
                <a:latin typeface="Calibri"/>
              </a:rPr>
              <a:t>dein Code im Heft steht</a:t>
            </a:r>
            <a:r>
              <a:rPr sz="2000" b="0" i="0">
                <a:solidFill>
                  <a:srgbClr val="1F2A37"/>
                </a:solidFill>
                <a:latin typeface="Calibri"/>
              </a:rPr>
              <a:t/>
            </a:r>
          </a:p>
          <a:p>
            <a:pPr>
              <a:spcAft>
                <a:spcPts val="600"/>
              </a:spcAft>
            </a:pPr>
            <a:r>
              <a:rPr sz="2000" b="0" i="0">
                <a:solidFill>
                  <a:srgbClr val="1F2A37"/>
                </a:solidFill>
                <a:latin typeface="Calibri"/>
              </a:rPr>
              <a:t>das Weiterspielen klappt</a:t>
            </a:r>
            <a:r>
              <a:rPr sz="2000" b="0" i="0">
                <a:solidFill>
                  <a:srgbClr val="1F2A37"/>
                </a:solidFill>
                <a:latin typeface="Calibri"/>
              </a:rPr>
              <a:t/>
            </a:r>
          </a:p>
          <a:p>
            <a:pPr>
              <a:spcAft>
                <a:spcPts val="600"/>
              </a:spcAft>
            </a:pPr>
            <a:r>
              <a:rPr sz="2000" b="0" i="0">
                <a:solidFill>
                  <a:srgbClr val="1F2A37"/>
                </a:solidFill>
                <a:latin typeface="Calibri"/>
              </a:rPr>
              <a:t>die ersten Punkte da sind</a:t>
            </a:r>
            <a:r>
              <a:rPr sz="20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Das nimmst du mit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17320"/>
            <a:ext cx="7772400" cy="4800600"/>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7315200" cy="443484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Beitreten: </a:t>
            </a:r>
            <a:r>
              <a:rPr sz="2200" b="1" i="0">
                <a:solidFill>
                  <a:srgbClr val="1F2A37"/>
                </a:solidFill>
                <a:latin typeface="Calibri"/>
              </a:rPr>
              <a:t>Kurscode + Name</a:t>
            </a:r>
            <a:r>
              <a:rPr sz="2200" b="0" i="0">
                <a:solidFill>
                  <a:srgbClr val="1F2A37"/>
                </a:solidFill>
                <a:latin typeface="Calibri"/>
              </a:rPr>
              <a:t> (Vorname + Initial)</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Persönlichen Code </a:t>
            </a:r>
            <a:r>
              <a:rPr sz="2200" b="1" i="0">
                <a:solidFill>
                  <a:srgbClr val="1F2A37"/>
                </a:solidFill>
                <a:latin typeface="Calibri"/>
              </a:rPr>
              <a:t>sofort notieren</a:t>
            </a:r>
            <a:r>
              <a:rPr sz="2200" b="0" i="0">
                <a:solidFill>
                  <a:srgbClr val="1F2A37"/>
                </a:solidFill>
                <a:latin typeface="Calibri"/>
              </a:rPr>
              <a:t> – weiterspielen nur mit </a:t>
            </a:r>
            <a:r>
              <a:rPr sz="2200" b="1" i="0">
                <a:solidFill>
                  <a:srgbClr val="1F2A37"/>
                </a:solidFill>
                <a:latin typeface="Calibri"/>
              </a:rPr>
              <a:t>Name + Code</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Punkte beim ersten Lösen: Fehlversuch − 25 %, Tipp − 20 %, „Lösung zeigen“ 0</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Boss auf Zeit, Trainingsplatz, Warm-up-Trainer, Arbeitsblätter unter /themen</a:t>
            </a:r>
            <a:r>
              <a:rPr sz="2200" b="0" i="0">
                <a:solidFill>
                  <a:srgbClr val="1F2A37"/>
                </a:solidFill>
                <a:latin typeface="Calibri"/>
              </a:rPr>
              <a:t/>
            </a:r>
          </a:p>
        </p:txBody>
      </p:sp>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F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Weiter geht’s im Algo Quest Lab</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7772400" cy="3200400"/>
          </a:xfrm>
          <a:prstGeom prst="rect">
            <a:avLst/>
          </a:prstGeom>
          <a:noFill/>
        </p:spPr>
        <p:txBody>
          <a:bodyPr wrap="square" anchor="t" lIns="45720" rIns="45720">
            <a:spAutoFit/>
          </a:bodyPr>
          <a:lstStyle/>
          <a:p>
            <a:pPr>
              <a:spcAft>
                <a:spcPts val="1200"/>
              </a:spcAft>
            </a:pPr>
            <a:r>
              <a:rPr sz="2200" b="1" i="0">
                <a:solidFill>
                  <a:srgbClr val="1F4E79"/>
                </a:solidFill>
                <a:latin typeface="Calibri"/>
              </a:rPr>
              <a:t>Lab: </a:t>
            </a:r>
            <a:r>
              <a:rPr sz="2200" b="0" i="0">
                <a:solidFill>
                  <a:srgbClr val="1F2A37"/>
                </a:solidFill>
                <a:latin typeface="Calibri"/>
              </a:rPr>
              <a:t>Level 0.1 „Das Portal: Notation fürs Abitur“</a:t>
            </a:r>
            <a:r>
              <a:rPr sz="2200" b="0" i="0">
                <a:solidFill>
                  <a:srgbClr val="1F2A37"/>
                </a:solidFill>
                <a:latin typeface="Calibri"/>
              </a:rPr>
              <a:t/>
            </a:r>
          </a:p>
          <a:p>
            <a:pPr>
              <a:spcAft>
                <a:spcPts val="1200"/>
              </a:spcAft>
            </a:pPr>
            <a:r>
              <a:rPr sz="2200" b="1" i="0">
                <a:solidFill>
                  <a:srgbClr val="1F4E79"/>
                </a:solidFill>
                <a:latin typeface="Calibri"/>
              </a:rPr>
              <a:t>Arbeitsblatt: </a:t>
            </a:r>
            <a:r>
              <a:rPr sz="2200" b="0" i="0">
                <a:solidFill>
                  <a:srgbClr val="1F2A37"/>
                </a:solidFill>
                <a:latin typeface="Calibri"/>
              </a:rPr>
              <a:t>AB W0·1 „Das Portal“ – Infoteil „So funktioniert Algo Quest“, Aufgabe 2</a:t>
            </a:r>
            <a:r>
              <a:rPr sz="2200" b="0" i="0">
                <a:solidFill>
                  <a:srgbClr val="1F2A37"/>
                </a:solidFill>
                <a:latin typeface="Calibri"/>
              </a:rPr>
              <a:t/>
            </a:r>
          </a:p>
          <a:p>
            <a:pPr>
              <a:spcAft>
                <a:spcPts val="1200"/>
              </a:spcAft>
            </a:pPr>
            <a:r>
              <a:rPr sz="2200" b="1" i="0">
                <a:solidFill>
                  <a:srgbClr val="1F4E79"/>
                </a:solidFill>
                <a:latin typeface="Calibri"/>
              </a:rPr>
              <a:t>Online: </a:t>
            </a:r>
            <a:r>
              <a:rPr sz="2200" b="0" i="0">
                <a:solidFill>
                  <a:srgbClr val="1F2A37"/>
                </a:solidFill>
                <a:latin typeface="Calibri"/>
              </a:rPr>
              <a:t>algoquest.frankjuchim.de</a:t>
            </a:r>
            <a:r>
              <a:rPr sz="2200" b="0" i="0">
                <a:solidFill>
                  <a:srgbClr val="1F2A37"/>
                </a:solidFill>
                <a:latin typeface="Calibri"/>
              </a:rPr>
              <a:t/>
            </a:r>
          </a:p>
        </p:txBody>
      </p:sp>
      <p:sp>
        <p:nvSpPr>
          <p:cNvPr id="6" name="Rounded Rectangle 5"/>
          <p:cNvSpPr/>
          <p:nvPr/>
        </p:nvSpPr>
        <p:spPr>
          <a:xfrm>
            <a:off x="548640" y="4846320"/>
            <a:ext cx="7772400" cy="1188720"/>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37760"/>
            <a:ext cx="7406640" cy="1005840"/>
          </a:xfrm>
          <a:prstGeom prst="rect">
            <a:avLst/>
          </a:prstGeom>
          <a:noFill/>
        </p:spPr>
        <p:txBody>
          <a:bodyPr wrap="square" anchor="ctr" lIns="45720" rIns="45720">
            <a:spAutoFit/>
          </a:bodyPr>
          <a:lstStyle/>
          <a:p>
            <a:r>
              <a:rPr sz="2000" b="1" i="0">
                <a:solidFill>
                  <a:srgbClr val="B8860B"/>
                </a:solidFill>
                <a:latin typeface="Calibri"/>
              </a:rPr>
              <a:t>Nächstes Video: </a:t>
            </a:r>
            <a:r>
              <a:rPr sz="2000" b="0" i="0">
                <a:solidFill>
                  <a:srgbClr val="1F2A37"/>
                </a:solidFill>
                <a:latin typeface="Calibri"/>
              </a:rPr>
              <a:t>Struktogramm und Tracetabelle</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0: Algo Quest Lab: So funktioniert’s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 Quest Lab: So funktioniert’s</dc:title>
  <dc:subject/>
  <dc:creator>Algo Quest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