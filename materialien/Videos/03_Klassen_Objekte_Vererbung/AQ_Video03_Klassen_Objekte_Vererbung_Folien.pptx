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Kamera unten rechts, freundlicher Einstieg, Titelfolie im Hintergrund.]</a:t>
            </a:r>
          </a:p>
          <a:p/>
          <a:p>
            <a:r>
              <a:t>Hallo und willkommen zur Algo Quest! Heute geht es um das Fundament der objektorientierten Programmierung: Klassen, Objekte und Vererbung. Im Abitur musst du Klassen lesen, erläutern, als Klassenkarte darstellen und in Java implementieren. Dafür gibt es feste Regeln – und ein paar Fallen, in die fast jeder einmal tappt. Wir bauen heute gemeinsam ein kleines Beispiel aus dem Dungeon: die Wächter, die die Tore bewachen.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Typische Arbeitsaufträge im Abitur sind zum Beispiel: Erläutern Sie die Klasse. Stellen Sie die Klasse als Klassenkarte dar. Implementieren Sie den Konstruktor oder eine Methode. Oder: Geben Sie die Ausgabe des Programms an. Für die Klassenkarte gelten die Regeln aus den Ergänzenden Hinweisen, Paragraf sechs. Rechts siehst du, was heute drankommt.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Zuerst der wichtigste Unterschied. Eine Klasse ist ein Bauplan. Sie legt fest, welche Eigenschaften – die Attribute – und welche Fähigkeiten – die Methoden – alle Objekte dieser Art haben. Ein Objekt ist ein konkretes Exemplar nach diesem Bauplan, mit eigenen Werten. Erzeugt wird es mit new, und dabei setzt der Konstruktor die Startwerte. Aus einer Klasse kannst du beliebig viele Objekte bauen. Unser Beispiel: die Wächter des Dungeons. Jeder Wächter hat einen Namen und eine Rüstung, und seine Abwehr hängt von der Rüstung ab.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Beim Konstruktor auf Zeile 6 zeigen: this.name links, Parameter name rechts.]</a:t>
            </a:r>
          </a:p>
          <a:p/>
          <a:p>
            <a:r>
              <a:t>So sieht die Klasse in Java aus. Oben stehen die Attribute name und ruestung. Sie sind private – von außen kommt niemand direkt heran, das nennt man Datenkapselung. Darunter der Konstruktor. Er heißt genau wie die Klasse und hat keinen Rückgabetyp, nicht einmal void. Achte auf this: Der Parameter heißt auch name. Mit this Punkt name ist das Attribut des Objekts gemeint, rechts steht der Parameter. Dann folgen die öffentlichen Methoden: getName liefert den Namen, verstaerken erhöht die Rüstung, und abwehr gibt den Abwehrwert zurück – vorerst einfach die Rüstung.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Abitur stellst du eine Klasse als Klassenkarte dar. Sie hat drei Felder: oben der Klassenname, in der Mitte die Attribute, unten Konstruktoren und Methoden. Die Sichtbarkeit ist Pflicht: Plus für öffentlich, Minus für privat. Vor den Konstruktor schreibst du ein kleines c. Der Typ steht immer hinter dem Namen, durch einen Doppelpunkt getrennt, und zwar mit den deutschen Typnamen: Ganzzahl statt int, Zeichenkette statt String, und nichts statt void.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erzeugen wir zwei Objekte: Torvak mit Rüstung sechs und Elra mit Rüstung vier. Danach wird Elra um fünf verstärkt. Den Zustand zur Laufzeit zeigst du mit Objektkarten. Im Kopf steht der Objektname, ein Doppelpunkt und die Klasse. Darunter stehen keine Typen, sondern die aktuellen Werte – Zeichenketten in Anführungszeichen. Beide Objekte haben dieselben Attribute, aber eigene Werte: Torvak hat Rüstung sechs, Elra inzwischen neun.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wird es spannend. Eine Variable wie a enthält nicht das Objekt selbst, sondern eine Referenz darauf – einen Verweis. Die Zuweisung b gleich a kopiert deshalb nur diese Referenz. a und b zeigen auf dasselbe Objekt. Wenn wir über b verstärken, ändert sich auch das, was wir über a sehen: Die Ausgabe ist acht, nicht sechs. In der Objektkarte zeichnest du eine Referenz als Pfeil. Und null bedeutet: Diese Variable zeigt auf gar kein Objekt. Rufst du darauf eine Methode auf, stürzt das Programm mit einer NullPointerException ab.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Objekte arbeiten zusammen. Ein Tor im Dungeon hat einen Wächter: Die Klasse Tor hat ein Attribut waechter vom Typ Waechter. Eine solche Beziehung heißt Assoziation. Im Klassendiagramm nach EH zeichnest du sie als einfache Linie zwischen den beiden Klassen – ohne Zahlen an den Enden, also ohne Kardinalitäten. Solange noch kein Wächter zugeteilt ist, ist das Attribut waechter null.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genau deshalb musst du vor dem Zugriff prüfen. Die Methode istSicher soll wahr liefern, wenn das Tor einen Wächter mit Abwehr mindestens zehn hat. Ohne die Abfrage in Zeile zwei würde waechter Punkt abwehr bei einem Tor ohne Wächter abstürzen. Das ist Falle P1: Laufzeitfehler nicht ausgeschlossen. Merke dir: erst prüfen, dann zugreifen.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Nun zur Vererbung. Ein Hauptmann ist ein besonderer Wächter: Er hat zusätzlich einen Schild. Mit extends erbt Hauptmann alles von Waechter – Attribute und Methoden. Neu ist nur das Attribut schild. Im Konstruktor ruft super den Konstruktor der Oberklasse auf, der name und ruestung setzt. Das muss die erste Anweisung sein. Und die Methode abwehr wird überschrieben: gleiche Signatur, neues Verhalten. Weil ruestung in Waechter private ist, holt sich Hauptmann den Wert über super Punkt abwehr und addiert den Schild.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Klassendiagramm zeigt ein Pfeil mit hohler Dreiecksspitze von der Unterklasse zur Oberklasse. Lies ihn als: Ein Hauptmann ist ein Waechter. In der Karte der Unterklasse stehen nur die neuen Elemente – hier schild und der eigene Konstruktor – und die überschriebenen Methoden. Steht abwehr in beiden Karten, weißt du: Die Methode wird in Hauptmann überschrieben. Was nicht gezeigt wird, kannst du in der Oberklasse mit drei Punkten andeuten.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die Frage, die im Abitur gern gestellt wird: Welche Methode läuft? Die Variable w hat den Typ Waechter, das Objekt ist aber ein Hauptmann. Das ist erlaubt, denn ein Hauptmann ist ein Waechter. Bei w Punkt abwehr entscheidet das Objekt: Es läuft die Version von Hauptmann, also sechs plus fünf gleich elf. Das nennt man dynamische Bindung. getName ist nicht überschrieben, also läuft die geerbte Version. Umgekehrt geht es nicht: Ein beliebiger Waechter ist kein Hauptmann – die letzte Zeile lässt sich nicht übersetzen.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bist du dran. Halte das Video an und gib die drei Ausgaben des Programms an. Zeichne dir dazu die Objekte und die Pfeile der Referenzen auf. Überlege: Wie viele Objekte gibt es eigentlich, und welche Version von abwehr läuft jeweils?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die Auflösung. Es gibt nur zwei Objekte: Brom und Kael. r gleich q kopiert nur die Referenz, r und q zeigen also beide auf Kael. Durch r Punkt verstaerken steigt Kaels Rüstung von vier auf sechs. Brom bleibt unverändert, seine Abwehr ist sechs. Bei q und r läuft die Version von Hauptmann, denn das Objekt ist ein Hauptmann: sechs plus drei gleich neun – zweimal. Wer bei r sechs oder bei q sieben geschrieben hat, hat entweder die Referenz oder die dynamische Bindung übersehen.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häufigsten Fehler, mit den Nummern aus unserer Fallen-Liste. P1: eine Methode auf null aufrufen, ohne vorher abzufragen. P3, Signatur verfehlt: Wer dem Konstruktor einen Rückgabetyp wie void gibt, schreibt in Java eine gewöhnliche Methode und keinen Konstruktor mehr. P4: Typen, die nicht zusammenpassen – ein Waechter-Objekt in einer Hauptmann-Variablen. Ein Klassiker ist auch name gleich name ohne this: Dann weist du den Parameter sich selbst zu, und das Attribut bleibt null. In der Unterklasse kommst du an private Attribute der Oberklasse nicht direkt heran – nutze super oder einen Getter. Und in der Klassenkarte fehlen gern die Sichtbarkeiten, oder es stehen Java-Typen und Kardinalitäten darin.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Fassen wir zusammen. Eine Klasse ist der Bauplan, ein Objekt ein Exemplar mit eigenen Werten, und der Konstruktor setzt die Startwerte. In der Klassenkarte sind Sichtbarkeiten Pflicht, Konstruktoren bekommen ein c, und die Typen stehen deutsch hinter dem Namen. Variablen speichern Referenzen – frag null ab, bevor du zugreifst. Assoziationen sind einfache Linien, Vererbung ein hohler Pfeil zur Oberklasse. Und bei überschriebenen Methoden entscheidet immer das Objekt.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jetzt du! Im Algo Quest Lab findest du dazu die Level eins Punkt eins bis eins Punkt vier – von der Schmiede bis zur Waffenkammer, jeweils mit sofortiger Rückmeldung. Auf den Arbeitsblättern Klassen und Objekte und Vererbung kannst du alles noch einmal nachlesen und üben. Im nächsten Video geht es in die Rangliste: Wir sortieren und suchen – und zählen, wie viel Arbeit das eigentlich ist. Bis dahin – viel Erfolg in der Heldenschmiede!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A05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0"/>
            <a:ext cx="11094415" cy="457200"/>
          </a:xfrm>
          <a:prstGeom prst="rect">
            <a:avLst/>
          </a:prstGeom>
          <a:noFill/>
        </p:spPr>
        <p:txBody>
          <a:bodyPr wrap="square" anchor="t" lIns="45720" rIns="45720">
            <a:spAutoFit/>
          </a:bodyPr>
          <a:lstStyle/>
          <a:p>
            <a:r>
              <a:rPr sz="1800" b="1" i="0">
                <a:solidFill>
                  <a:srgbClr val="B8860B"/>
                </a:solidFill>
                <a:latin typeface="Calibri"/>
              </a:rPr>
              <a:t>ALGO QUEST · ERKLÄRVIDEO 3</a:t>
            </a:r>
          </a:p>
        </p:txBody>
      </p:sp>
      <p:sp>
        <p:nvSpPr>
          <p:cNvPr id="4" name="TextBox 3"/>
          <p:cNvSpPr txBox="1"/>
          <p:nvPr/>
        </p:nvSpPr>
        <p:spPr>
          <a:xfrm>
            <a:off x="548640" y="1645920"/>
            <a:ext cx="11094415" cy="1463040"/>
          </a:xfrm>
          <a:prstGeom prst="rect">
            <a:avLst/>
          </a:prstGeom>
          <a:noFill/>
        </p:spPr>
        <p:txBody>
          <a:bodyPr wrap="square" anchor="t" lIns="45720" rIns="45720">
            <a:spAutoFit/>
          </a:bodyPr>
          <a:lstStyle/>
          <a:p>
            <a:r>
              <a:rPr sz="4800" b="1" i="0">
                <a:solidFill>
                  <a:srgbClr val="1F4E79"/>
                </a:solidFill>
                <a:latin typeface="Calibri"/>
              </a:rPr>
              <a:t>Klassen, Objekte und Vererbung</a:t>
            </a:r>
          </a:p>
        </p:txBody>
      </p:sp>
      <p:sp>
        <p:nvSpPr>
          <p:cNvPr id="5" name="TextBox 4"/>
          <p:cNvSpPr txBox="1"/>
          <p:nvPr/>
        </p:nvSpPr>
        <p:spPr>
          <a:xfrm>
            <a:off x="548640" y="3063240"/>
            <a:ext cx="8229600" cy="914400"/>
          </a:xfrm>
          <a:prstGeom prst="rect">
            <a:avLst/>
          </a:prstGeom>
          <a:noFill/>
        </p:spPr>
        <p:txBody>
          <a:bodyPr wrap="square" anchor="t" lIns="45720" rIns="45720">
            <a:spAutoFit/>
          </a:bodyPr>
          <a:lstStyle/>
          <a:p>
            <a:r>
              <a:rPr sz="2600" b="0" i="0">
                <a:solidFill>
                  <a:srgbClr val="1F2A37"/>
                </a:solidFill>
                <a:latin typeface="Calibri"/>
              </a:rPr>
              <a:t>Vom Bauplan zum Objekt – mit Klassenkarte nach EH §6</a:t>
            </a:r>
          </a:p>
        </p:txBody>
      </p:sp>
      <p:sp>
        <p:nvSpPr>
          <p:cNvPr id="6" name="TextBox 5"/>
          <p:cNvSpPr txBox="1"/>
          <p:nvPr/>
        </p:nvSpPr>
        <p:spPr>
          <a:xfrm>
            <a:off x="548640" y="5120640"/>
            <a:ext cx="7772400" cy="822960"/>
          </a:xfrm>
          <a:prstGeom prst="rect">
            <a:avLst/>
          </a:prstGeom>
          <a:noFill/>
        </p:spPr>
        <p:txBody>
          <a:bodyPr wrap="square" anchor="t" lIns="45720" rIns="45720">
            <a:spAutoFit/>
          </a:bodyPr>
          <a:lstStyle/>
          <a:p>
            <a:r>
              <a:rPr sz="2000" b="1" i="0">
                <a:solidFill>
                  <a:srgbClr val="A0522D"/>
                </a:solidFill>
                <a:latin typeface="Calibri"/>
              </a:rPr>
              <a:t>Welt 1 · Die Heldenschmiede</a:t>
            </a:r>
          </a:p>
          <a:p>
            <a:r>
              <a:rPr sz="1600" b="0" i="0">
                <a:solidFill>
                  <a:srgbClr val="7F7F7F"/>
                </a:solidFill>
                <a:latin typeface="Calibri"/>
              </a:rPr>
              <a:t>Informatik LK · Abitur Niedersachsen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A05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Worum geht es im Abitur?</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0" i="0">
                <a:solidFill>
                  <a:srgbClr val="1F2A37"/>
                </a:solidFill>
                <a:latin typeface="Calibri"/>
              </a:rPr>
              <a:t>„</a:t>
            </a:r>
            <a:r>
              <a:rPr sz="2400" b="1" i="0">
                <a:solidFill>
                  <a:srgbClr val="1F2A37"/>
                </a:solidFill>
                <a:latin typeface="Calibri"/>
              </a:rPr>
              <a:t>Erläutern Sie</a:t>
            </a:r>
            <a:r>
              <a:rPr sz="2400" b="0" i="0">
                <a:solidFill>
                  <a:srgbClr val="1F2A37"/>
                </a:solidFill>
                <a:latin typeface="Calibri"/>
              </a:rPr>
              <a:t> die Klasse …“</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a:t>
            </a:r>
            <a:r>
              <a:rPr sz="2400" b="1" i="0">
                <a:solidFill>
                  <a:srgbClr val="1F2A37"/>
                </a:solidFill>
                <a:latin typeface="Calibri"/>
              </a:rPr>
              <a:t>Stellen Sie</a:t>
            </a:r>
            <a:r>
              <a:rPr sz="2400" b="0" i="0">
                <a:solidFill>
                  <a:srgbClr val="1F2A37"/>
                </a:solidFill>
                <a:latin typeface="Calibri"/>
              </a:rPr>
              <a:t> die Klasse als Klassenkarte </a:t>
            </a:r>
            <a:r>
              <a:rPr sz="2400" b="1" i="0">
                <a:solidFill>
                  <a:srgbClr val="1F2A37"/>
                </a:solidFill>
                <a:latin typeface="Calibri"/>
              </a:rPr>
              <a:t>dar</a:t>
            </a:r>
            <a:r>
              <a:rPr sz="2400" b="0" i="0">
                <a:solidFill>
                  <a:srgbClr val="1F2A37"/>
                </a:solidFill>
                <a:latin typeface="Calibri"/>
              </a:rPr>
              <a:t>.“</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a:t>
            </a:r>
            <a:r>
              <a:rPr sz="2400" b="1" i="0">
                <a:solidFill>
                  <a:srgbClr val="1F2A37"/>
                </a:solidFill>
                <a:latin typeface="Calibri"/>
              </a:rPr>
              <a:t>Implementieren Sie</a:t>
            </a:r>
            <a:r>
              <a:rPr sz="2400" b="0" i="0">
                <a:solidFill>
                  <a:srgbClr val="1F2A37"/>
                </a:solidFill>
                <a:latin typeface="Calibri"/>
              </a:rPr>
              <a:t> den Konstruktor / die Methode …“</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a:t>
            </a:r>
            <a:r>
              <a:rPr sz="2400" b="1" i="0">
                <a:solidFill>
                  <a:srgbClr val="1F2A37"/>
                </a:solidFill>
                <a:latin typeface="Calibri"/>
              </a:rPr>
              <a:t>Geben Sie</a:t>
            </a:r>
            <a:r>
              <a:rPr sz="2400" b="0" i="0">
                <a:solidFill>
                  <a:srgbClr val="1F2A37"/>
                </a:solidFill>
                <a:latin typeface="Calibri"/>
              </a:rPr>
              <a:t> die Ausgabe des Programms </a:t>
            </a:r>
            <a:r>
              <a:rPr sz="2400" b="1" i="0">
                <a:solidFill>
                  <a:srgbClr val="1F2A37"/>
                </a:solidFill>
                <a:latin typeface="Calibri"/>
              </a:rPr>
              <a:t>an</a:t>
            </a:r>
            <a:r>
              <a:rPr sz="2400" b="0" i="0">
                <a:solidFill>
                  <a:srgbClr val="1F2A37"/>
                </a:solidFill>
                <a:latin typeface="Calibri"/>
              </a:rPr>
              <a:t>.“</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Die Regeln für Klassenkarten stehen in </a:t>
            </a:r>
            <a:r>
              <a:rPr sz="2400" b="1" i="0">
                <a:solidFill>
                  <a:srgbClr val="1F2A37"/>
                </a:solidFill>
                <a:latin typeface="Calibri"/>
              </a:rPr>
              <a:t>EH §6</a:t>
            </a:r>
            <a:r>
              <a:rPr sz="24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Heute</a:t>
            </a:r>
            <a:r>
              <a:rPr sz="2000" b="0" i="0">
                <a:solidFill>
                  <a:srgbClr val="1F2A37"/>
                </a:solidFill>
                <a:latin typeface="Calibri"/>
              </a:rPr>
              <a:t/>
            </a:r>
          </a:p>
          <a:p>
            <a:pPr>
              <a:spcAft>
                <a:spcPts val="600"/>
              </a:spcAft>
            </a:pPr>
            <a:r>
              <a:rPr sz="2000" b="0" i="0">
                <a:solidFill>
                  <a:srgbClr val="1F2A37"/>
                </a:solidFill>
                <a:latin typeface="Calibri"/>
              </a:rPr>
              <a:t>Klasse und Objekt</a:t>
            </a:r>
            <a:r>
              <a:rPr sz="2000" b="0" i="0">
                <a:solidFill>
                  <a:srgbClr val="1F2A37"/>
                </a:solidFill>
                <a:latin typeface="Calibri"/>
              </a:rPr>
              <a:t/>
            </a:r>
          </a:p>
          <a:p>
            <a:pPr>
              <a:spcAft>
                <a:spcPts val="600"/>
              </a:spcAft>
            </a:pPr>
            <a:r>
              <a:rPr sz="2000" b="0" i="0">
                <a:solidFill>
                  <a:srgbClr val="1F2A37"/>
                </a:solidFill>
                <a:latin typeface="Calibri"/>
              </a:rPr>
              <a:t>Klassenkarte und Objektkarte</a:t>
            </a:r>
            <a:r>
              <a:rPr sz="2000" b="0" i="0">
                <a:solidFill>
                  <a:srgbClr val="1F2A37"/>
                </a:solidFill>
                <a:latin typeface="Calibri"/>
              </a:rPr>
              <a:t/>
            </a:r>
          </a:p>
          <a:p>
            <a:pPr>
              <a:spcAft>
                <a:spcPts val="600"/>
              </a:spcAft>
            </a:pPr>
            <a:r>
              <a:rPr sz="2000" b="0" i="0">
                <a:solidFill>
                  <a:srgbClr val="1F2A37"/>
                </a:solidFill>
                <a:latin typeface="Calibri"/>
              </a:rPr>
              <a:t>Referenzen und null</a:t>
            </a:r>
            <a:r>
              <a:rPr sz="2000" b="0" i="0">
                <a:solidFill>
                  <a:srgbClr val="1F2A37"/>
                </a:solidFill>
                <a:latin typeface="Calibri"/>
              </a:rPr>
              <a:t/>
            </a:r>
          </a:p>
          <a:p>
            <a:pPr>
              <a:spcAft>
                <a:spcPts val="600"/>
              </a:spcAft>
            </a:pPr>
            <a:r>
              <a:rPr sz="2000" b="0" i="0">
                <a:solidFill>
                  <a:srgbClr val="1F2A37"/>
                </a:solidFill>
                <a:latin typeface="Calibri"/>
              </a:rPr>
              <a:t>Assoziation und Vererbung</a:t>
            </a:r>
            <a:r>
              <a:rPr sz="2000" b="0" i="0">
                <a:solidFill>
                  <a:srgbClr val="1F2A37"/>
                </a:solidFill>
                <a:latin typeface="Calibri"/>
              </a:rPr>
              <a:t/>
            </a:r>
          </a:p>
          <a:p>
            <a:pPr>
              <a:spcAft>
                <a:spcPts val="600"/>
              </a:spcAft>
            </a:pPr>
            <a:r>
              <a:rPr sz="2000" b="0" i="0">
                <a:solidFill>
                  <a:srgbClr val="1F2A37"/>
                </a:solidFill>
                <a:latin typeface="Calibri"/>
              </a:rPr>
              <a:t>Welche Methode läuft?</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3: Klassen, Objekte und Vererbung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A05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Klasse und Objekt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1" i="0">
                <a:solidFill>
                  <a:srgbClr val="1F2A37"/>
                </a:solidFill>
                <a:latin typeface="Calibri"/>
              </a:rPr>
              <a:t>Klasse</a:t>
            </a:r>
            <a:r>
              <a:rPr sz="2400" b="0" i="0">
                <a:solidFill>
                  <a:srgbClr val="1F2A37"/>
                </a:solidFill>
                <a:latin typeface="Calibri"/>
              </a:rPr>
              <a:t> = Bauplan: legt Attribute und Methoden fest</a:t>
            </a:r>
            <a:r>
              <a:rPr sz="2400" b="0" i="0">
                <a:solidFill>
                  <a:srgbClr val="1F2A37"/>
                </a:solidFill>
                <a:latin typeface="Calibri"/>
              </a:rPr>
              <a:t/>
            </a:r>
          </a:p>
          <a:p>
            <a:pPr>
              <a:spcAft>
                <a:spcPts val="1000"/>
              </a:spcAft>
            </a:pPr>
            <a:r>
              <a:rPr sz="2400" b="1" i="0">
                <a:solidFill>
                  <a:srgbClr val="B8860B"/>
                </a:solidFill>
                <a:latin typeface="Calibri"/>
              </a:rPr>
              <a:t>▸ </a:t>
            </a:r>
            <a:r>
              <a:rPr sz="2400" b="1" i="0">
                <a:solidFill>
                  <a:srgbClr val="1F2A37"/>
                </a:solidFill>
                <a:latin typeface="Calibri"/>
              </a:rPr>
              <a:t>Objekt</a:t>
            </a:r>
            <a:r>
              <a:rPr sz="2400" b="0" i="0">
                <a:solidFill>
                  <a:srgbClr val="1F2A37"/>
                </a:solidFill>
                <a:latin typeface="Calibri"/>
              </a:rPr>
              <a:t> = Exemplar nach diesem Bauplan, mit eigenen Werten</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Erzeugt wird ein Objekt mit </a:t>
            </a:r>
            <a:r>
              <a:rPr sz="2300" b="0" i="0">
                <a:solidFill>
                  <a:srgbClr val="1F4E79"/>
                </a:solidFill>
                <a:latin typeface="Consolas"/>
              </a:rPr>
              <a:t>new</a:t>
            </a:r>
            <a:r>
              <a:rPr sz="2400" b="0" i="0">
                <a:solidFill>
                  <a:srgbClr val="1F2A37"/>
                </a:solidFill>
                <a:latin typeface="Calibri"/>
              </a:rPr>
              <a:t> – der </a:t>
            </a:r>
            <a:r>
              <a:rPr sz="2400" b="1" i="0">
                <a:solidFill>
                  <a:srgbClr val="1F2A37"/>
                </a:solidFill>
                <a:latin typeface="Calibri"/>
              </a:rPr>
              <a:t>Konstruktor</a:t>
            </a:r>
            <a:r>
              <a:rPr sz="2400" b="0" i="0">
                <a:solidFill>
                  <a:srgbClr val="1F2A37"/>
                </a:solidFill>
                <a:latin typeface="Calibri"/>
              </a:rPr>
              <a:t> setzt die Startwerte</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Eine Klasse – beliebig viele Objekte</a:t>
            </a:r>
            <a:r>
              <a:rPr sz="24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Unser Beispiel</a:t>
            </a:r>
            <a:r>
              <a:rPr sz="2000" b="0" i="0">
                <a:solidFill>
                  <a:srgbClr val="1F2A37"/>
                </a:solidFill>
                <a:latin typeface="Calibri"/>
              </a:rPr>
              <a:t/>
            </a:r>
          </a:p>
          <a:p>
            <a:pPr>
              <a:spcAft>
                <a:spcPts val="600"/>
              </a:spcAft>
            </a:pPr>
            <a:r>
              <a:rPr sz="2000" b="0" i="0">
                <a:solidFill>
                  <a:srgbClr val="1F2A37"/>
                </a:solidFill>
                <a:latin typeface="Calibri"/>
              </a:rPr>
              <a:t>Die </a:t>
            </a:r>
            <a:r>
              <a:rPr sz="2000" b="1" i="0">
                <a:solidFill>
                  <a:srgbClr val="1F2A37"/>
                </a:solidFill>
                <a:latin typeface="Calibri"/>
              </a:rPr>
              <a:t>Wächter</a:t>
            </a:r>
            <a:r>
              <a:rPr sz="2000" b="0" i="0">
                <a:solidFill>
                  <a:srgbClr val="1F2A37"/>
                </a:solidFill>
                <a:latin typeface="Calibri"/>
              </a:rPr>
              <a:t> des Dungeons.</a:t>
            </a:r>
            <a:r>
              <a:rPr sz="2000" b="0" i="0">
                <a:solidFill>
                  <a:srgbClr val="1F2A37"/>
                </a:solidFill>
                <a:latin typeface="Calibri"/>
              </a:rPr>
              <a:t/>
            </a:r>
          </a:p>
          <a:p>
            <a:pPr>
              <a:spcAft>
                <a:spcPts val="600"/>
              </a:spcAft>
            </a:pPr>
            <a:r>
              <a:rPr sz="2000" b="0" i="0">
                <a:solidFill>
                  <a:srgbClr val="1F2A37"/>
                </a:solidFill>
                <a:latin typeface="Calibri"/>
              </a:rPr>
              <a:t>Jeder hat einen </a:t>
            </a:r>
            <a:r>
              <a:rPr sz="2000" b="1" i="0">
                <a:solidFill>
                  <a:srgbClr val="1F2A37"/>
                </a:solidFill>
                <a:latin typeface="Calibri"/>
              </a:rPr>
              <a:t>Namen</a:t>
            </a:r>
            <a:r>
              <a:rPr sz="2000" b="0" i="0">
                <a:solidFill>
                  <a:srgbClr val="1F2A37"/>
                </a:solidFill>
                <a:latin typeface="Calibri"/>
              </a:rPr>
              <a:t> und eine </a:t>
            </a:r>
            <a:r>
              <a:rPr sz="2000" b="1" i="0">
                <a:solidFill>
                  <a:srgbClr val="1F2A37"/>
                </a:solidFill>
                <a:latin typeface="Calibri"/>
              </a:rPr>
              <a:t>Rüstung</a:t>
            </a:r>
            <a:r>
              <a:rPr sz="2000" b="0" i="0">
                <a:solidFill>
                  <a:srgbClr val="1F2A37"/>
                </a:solidFill>
                <a:latin typeface="Calibri"/>
              </a:rPr>
              <a:t>.</a:t>
            </a:r>
            <a:r>
              <a:rPr sz="2000" b="0" i="0">
                <a:solidFill>
                  <a:srgbClr val="1F2A37"/>
                </a:solidFill>
                <a:latin typeface="Calibri"/>
              </a:rPr>
              <a:t/>
            </a:r>
          </a:p>
          <a:p>
            <a:pPr>
              <a:spcAft>
                <a:spcPts val="600"/>
              </a:spcAft>
            </a:pPr>
            <a:r>
              <a:rPr sz="2000" b="0" i="0">
                <a:solidFill>
                  <a:srgbClr val="1F2A37"/>
                </a:solidFill>
                <a:latin typeface="Calibri"/>
              </a:rPr>
              <a:t>Seine Abwehr hängt von der Rüstung ab.</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3: Klassen, Objekte und Vererbung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A05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Die Klasse Waechter in Java</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6659880" cy="4788408"/>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6477000" cy="4696968"/>
          </a:xfrm>
          <a:prstGeom prst="rect">
            <a:avLst/>
          </a:prstGeom>
          <a:noFill/>
        </p:spPr>
        <p:txBody>
          <a:bodyPr wrap="square" anchor="t" lIns="45720" rIns="45720">
            <a:spAutoFit/>
          </a:bodyPr>
          <a:lstStyle/>
          <a:p>
            <a:pPr>
              <a:lnSpc>
                <a:spcPct val="100000"/>
              </a:lnSpc>
            </a:pPr>
            <a:r>
              <a:rPr sz="1600" b="0" i="0">
                <a:solidFill>
                  <a:srgbClr val="A0A7B1"/>
                </a:solidFill>
                <a:latin typeface="Consolas"/>
              </a:rPr>
              <a:t> 1  </a:t>
            </a:r>
            <a:r>
              <a:rPr sz="1600" b="0" i="0">
                <a:solidFill>
                  <a:srgbClr val="1F2A37"/>
                </a:solidFill>
                <a:latin typeface="Consolas"/>
              </a:rPr>
              <a:t>public class Waechter {</a:t>
            </a:r>
          </a:p>
          <a:p>
            <a:pPr>
              <a:lnSpc>
                <a:spcPct val="100000"/>
              </a:lnSpc>
            </a:pPr>
            <a:r>
              <a:rPr sz="1600" b="0" i="0">
                <a:solidFill>
                  <a:srgbClr val="A0A7B1"/>
                </a:solidFill>
                <a:latin typeface="Consolas"/>
              </a:rPr>
              <a:t> 2  </a:t>
            </a:r>
            <a:r>
              <a:rPr sz="1600" b="0" i="0">
                <a:solidFill>
                  <a:srgbClr val="1F2A37"/>
                </a:solidFill>
                <a:latin typeface="Consolas"/>
              </a:rPr>
              <a:t>    private String name;</a:t>
            </a:r>
          </a:p>
          <a:p>
            <a:pPr>
              <a:lnSpc>
                <a:spcPct val="100000"/>
              </a:lnSpc>
            </a:pPr>
            <a:r>
              <a:rPr sz="1600" b="0" i="0">
                <a:solidFill>
                  <a:srgbClr val="A0A7B1"/>
                </a:solidFill>
                <a:latin typeface="Consolas"/>
              </a:rPr>
              <a:t> 3  </a:t>
            </a:r>
            <a:r>
              <a:rPr sz="1600" b="0" i="0">
                <a:solidFill>
                  <a:srgbClr val="1F2A37"/>
                </a:solidFill>
                <a:latin typeface="Consolas"/>
              </a:rPr>
              <a:t>    private int ruestung;</a:t>
            </a:r>
          </a:p>
          <a:p>
            <a:pPr>
              <a:lnSpc>
                <a:spcPct val="100000"/>
              </a:lnSpc>
            </a:pPr>
            <a:r>
              <a:rPr sz="1600" b="0" i="0">
                <a:solidFill>
                  <a:srgbClr val="A0A7B1"/>
                </a:solidFill>
                <a:latin typeface="Consolas"/>
              </a:rPr>
              <a:t> 4  </a:t>
            </a:r>
            <a:r>
              <a:rPr sz="1600" b="0" i="0">
                <a:solidFill>
                  <a:srgbClr val="1F2A37"/>
                </a:solidFill>
                <a:latin typeface="Consolas"/>
              </a:rPr>
              <a:t/>
            </a:r>
          </a:p>
          <a:p>
            <a:pPr>
              <a:lnSpc>
                <a:spcPct val="100000"/>
              </a:lnSpc>
            </a:pPr>
            <a:r>
              <a:rPr sz="1600" b="0" i="0">
                <a:solidFill>
                  <a:srgbClr val="A0A7B1"/>
                </a:solidFill>
                <a:latin typeface="Consolas"/>
              </a:rPr>
              <a:t> 5  </a:t>
            </a:r>
            <a:r>
              <a:rPr sz="1600" b="0" i="0">
                <a:solidFill>
                  <a:srgbClr val="1F2A37"/>
                </a:solidFill>
                <a:latin typeface="Consolas"/>
              </a:rPr>
              <a:t>    public Waechter(String name, int ruestung) {</a:t>
            </a:r>
          </a:p>
          <a:p>
            <a:pPr>
              <a:lnSpc>
                <a:spcPct val="100000"/>
              </a:lnSpc>
            </a:pPr>
            <a:r>
              <a:rPr sz="1600" b="0" i="0">
                <a:solidFill>
                  <a:srgbClr val="A0A7B1"/>
                </a:solidFill>
                <a:latin typeface="Consolas"/>
              </a:rPr>
              <a:t> 6  </a:t>
            </a:r>
            <a:r>
              <a:rPr sz="1600" b="0" i="0">
                <a:solidFill>
                  <a:srgbClr val="1F2A37"/>
                </a:solidFill>
                <a:latin typeface="Consolas"/>
              </a:rPr>
              <a:t>        this.name = name;</a:t>
            </a:r>
          </a:p>
          <a:p>
            <a:pPr>
              <a:lnSpc>
                <a:spcPct val="100000"/>
              </a:lnSpc>
            </a:pPr>
            <a:r>
              <a:rPr sz="1600" b="0" i="0">
                <a:solidFill>
                  <a:srgbClr val="A0A7B1"/>
                </a:solidFill>
                <a:latin typeface="Consolas"/>
              </a:rPr>
              <a:t> 7  </a:t>
            </a:r>
            <a:r>
              <a:rPr sz="1600" b="0" i="0">
                <a:solidFill>
                  <a:srgbClr val="1F2A37"/>
                </a:solidFill>
                <a:latin typeface="Consolas"/>
              </a:rPr>
              <a:t>        this.ruestung = ruestung;</a:t>
            </a:r>
          </a:p>
          <a:p>
            <a:pPr>
              <a:lnSpc>
                <a:spcPct val="100000"/>
              </a:lnSpc>
            </a:pPr>
            <a:r>
              <a:rPr sz="1600" b="0" i="0">
                <a:solidFill>
                  <a:srgbClr val="A0A7B1"/>
                </a:solidFill>
                <a:latin typeface="Consolas"/>
              </a:rPr>
              <a:t> 8  </a:t>
            </a:r>
            <a:r>
              <a:rPr sz="1600" b="0" i="0">
                <a:solidFill>
                  <a:srgbClr val="1F2A37"/>
                </a:solidFill>
                <a:latin typeface="Consolas"/>
              </a:rPr>
              <a:t>    }</a:t>
            </a:r>
          </a:p>
          <a:p>
            <a:pPr>
              <a:lnSpc>
                <a:spcPct val="100000"/>
              </a:lnSpc>
            </a:pPr>
            <a:r>
              <a:rPr sz="1600" b="0" i="0">
                <a:solidFill>
                  <a:srgbClr val="A0A7B1"/>
                </a:solidFill>
                <a:latin typeface="Consolas"/>
              </a:rPr>
              <a:t> 9  </a:t>
            </a:r>
            <a:r>
              <a:rPr sz="1600" b="0" i="0">
                <a:solidFill>
                  <a:srgbClr val="1F2A37"/>
                </a:solidFill>
                <a:latin typeface="Consolas"/>
              </a:rPr>
              <a:t/>
            </a:r>
          </a:p>
          <a:p>
            <a:pPr>
              <a:lnSpc>
                <a:spcPct val="100000"/>
              </a:lnSpc>
            </a:pPr>
            <a:r>
              <a:rPr sz="1600" b="0" i="0">
                <a:solidFill>
                  <a:srgbClr val="A0A7B1"/>
                </a:solidFill>
                <a:latin typeface="Consolas"/>
              </a:rPr>
              <a:t>10  </a:t>
            </a:r>
            <a:r>
              <a:rPr sz="1600" b="0" i="0">
                <a:solidFill>
                  <a:srgbClr val="1F2A37"/>
                </a:solidFill>
                <a:latin typeface="Consolas"/>
              </a:rPr>
              <a:t>    public String getName() { return name; }</a:t>
            </a:r>
          </a:p>
          <a:p>
            <a:pPr>
              <a:lnSpc>
                <a:spcPct val="100000"/>
              </a:lnSpc>
            </a:pPr>
            <a:r>
              <a:rPr sz="1600" b="0" i="0">
                <a:solidFill>
                  <a:srgbClr val="A0A7B1"/>
                </a:solidFill>
                <a:latin typeface="Consolas"/>
              </a:rPr>
              <a:t>11  </a:t>
            </a:r>
            <a:r>
              <a:rPr sz="1600" b="0" i="0">
                <a:solidFill>
                  <a:srgbClr val="1F2A37"/>
                </a:solidFill>
                <a:latin typeface="Consolas"/>
              </a:rPr>
              <a:t>    public void verstaerken(int punkte) {</a:t>
            </a:r>
          </a:p>
          <a:p>
            <a:pPr>
              <a:lnSpc>
                <a:spcPct val="100000"/>
              </a:lnSpc>
            </a:pPr>
            <a:r>
              <a:rPr sz="1600" b="0" i="0">
                <a:solidFill>
                  <a:srgbClr val="A0A7B1"/>
                </a:solidFill>
                <a:latin typeface="Consolas"/>
              </a:rPr>
              <a:t>12  </a:t>
            </a:r>
            <a:r>
              <a:rPr sz="1600" b="0" i="0">
                <a:solidFill>
                  <a:srgbClr val="1F2A37"/>
                </a:solidFill>
                <a:latin typeface="Consolas"/>
              </a:rPr>
              <a:t>        ruestung = ruestung + punkte;</a:t>
            </a:r>
          </a:p>
          <a:p>
            <a:pPr>
              <a:lnSpc>
                <a:spcPct val="100000"/>
              </a:lnSpc>
            </a:pPr>
            <a:r>
              <a:rPr sz="1600" b="0" i="0">
                <a:solidFill>
                  <a:srgbClr val="A0A7B1"/>
                </a:solidFill>
                <a:latin typeface="Consolas"/>
              </a:rPr>
              <a:t>13  </a:t>
            </a:r>
            <a:r>
              <a:rPr sz="1600" b="0" i="0">
                <a:solidFill>
                  <a:srgbClr val="1F2A37"/>
                </a:solidFill>
                <a:latin typeface="Consolas"/>
              </a:rPr>
              <a:t>    }</a:t>
            </a:r>
          </a:p>
          <a:p>
            <a:pPr>
              <a:lnSpc>
                <a:spcPct val="100000"/>
              </a:lnSpc>
            </a:pPr>
            <a:r>
              <a:rPr sz="1600" b="0" i="0">
                <a:solidFill>
                  <a:srgbClr val="A0A7B1"/>
                </a:solidFill>
                <a:latin typeface="Consolas"/>
              </a:rPr>
              <a:t>14  </a:t>
            </a:r>
            <a:r>
              <a:rPr sz="1600" b="0" i="0">
                <a:solidFill>
                  <a:srgbClr val="1F2A37"/>
                </a:solidFill>
                <a:latin typeface="Consolas"/>
              </a:rPr>
              <a:t>    public int abwehr() {</a:t>
            </a:r>
          </a:p>
          <a:p>
            <a:pPr>
              <a:lnSpc>
                <a:spcPct val="100000"/>
              </a:lnSpc>
            </a:pPr>
            <a:r>
              <a:rPr sz="1600" b="0" i="0">
                <a:solidFill>
                  <a:srgbClr val="A0A7B1"/>
                </a:solidFill>
                <a:latin typeface="Consolas"/>
              </a:rPr>
              <a:t>15  </a:t>
            </a:r>
            <a:r>
              <a:rPr sz="1600" b="0" i="0">
                <a:solidFill>
                  <a:srgbClr val="1F2A37"/>
                </a:solidFill>
                <a:latin typeface="Consolas"/>
              </a:rPr>
              <a:t>        return ruestung;</a:t>
            </a:r>
          </a:p>
          <a:p>
            <a:pPr>
              <a:lnSpc>
                <a:spcPct val="100000"/>
              </a:lnSpc>
            </a:pPr>
            <a:r>
              <a:rPr sz="1600" b="0" i="0">
                <a:solidFill>
                  <a:srgbClr val="A0A7B1"/>
                </a:solidFill>
                <a:latin typeface="Consolas"/>
              </a:rPr>
              <a:t>16  </a:t>
            </a:r>
            <a:r>
              <a:rPr sz="1600" b="0" i="0">
                <a:solidFill>
                  <a:srgbClr val="1F2A37"/>
                </a:solidFill>
                <a:latin typeface="Consolas"/>
              </a:rPr>
              <a:t>    }</a:t>
            </a:r>
          </a:p>
          <a:p>
            <a:pPr>
              <a:lnSpc>
                <a:spcPct val="100000"/>
              </a:lnSpc>
            </a:pPr>
            <a:r>
              <a:rPr sz="1600" b="0" i="0">
                <a:solidFill>
                  <a:srgbClr val="A0A7B1"/>
                </a:solidFill>
                <a:latin typeface="Consolas"/>
              </a:rPr>
              <a:t>17  </a:t>
            </a:r>
            <a:r>
              <a:rPr sz="1600" b="0" i="0">
                <a:solidFill>
                  <a:srgbClr val="1F2A37"/>
                </a:solidFill>
                <a:latin typeface="Consolas"/>
              </a:rPr>
              <a:t>}</a:t>
            </a:r>
          </a:p>
        </p:txBody>
      </p:sp>
      <p:sp>
        <p:nvSpPr>
          <p:cNvPr id="7" name="Rounded Rectangle 6"/>
          <p:cNvSpPr/>
          <p:nvPr/>
        </p:nvSpPr>
        <p:spPr>
          <a:xfrm>
            <a:off x="7482840" y="1325880"/>
            <a:ext cx="416021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65720" y="1463039"/>
            <a:ext cx="3794455" cy="2377439"/>
          </a:xfrm>
          <a:prstGeom prst="rect">
            <a:avLst/>
          </a:prstGeom>
          <a:noFill/>
        </p:spPr>
        <p:txBody>
          <a:bodyPr wrap="square" anchor="t" lIns="45720" rIns="45720">
            <a:spAutoFit/>
          </a:bodyPr>
          <a:lstStyle/>
          <a:p>
            <a:pPr>
              <a:spcAft>
                <a:spcPts val="800"/>
              </a:spcAft>
            </a:pPr>
            <a:r>
              <a:rPr sz="1900" b="1" i="0">
                <a:solidFill>
                  <a:srgbClr val="1F4E79"/>
                </a:solidFill>
                <a:latin typeface="Calibri"/>
              </a:rPr>
              <a:t>Bestandteile</a:t>
            </a:r>
            <a:r>
              <a:rPr sz="1700" b="0" i="0">
                <a:solidFill>
                  <a:srgbClr val="1F2A37"/>
                </a:solidFill>
                <a:latin typeface="Calibri"/>
              </a:rPr>
              <a:t/>
            </a:r>
          </a:p>
          <a:p>
            <a:pPr>
              <a:spcAft>
                <a:spcPts val="600"/>
              </a:spcAft>
            </a:pPr>
            <a:r>
              <a:rPr sz="1700" b="1" i="0">
                <a:solidFill>
                  <a:srgbClr val="1F2A37"/>
                </a:solidFill>
                <a:latin typeface="Calibri"/>
              </a:rPr>
              <a:t>Attribute</a:t>
            </a:r>
            <a:r>
              <a:rPr sz="1700" b="0" i="0">
                <a:solidFill>
                  <a:srgbClr val="1F2A37"/>
                </a:solidFill>
                <a:latin typeface="Calibri"/>
              </a:rPr>
              <a:t> </a:t>
            </a:r>
            <a:r>
              <a:rPr sz="1600" b="0" i="0">
                <a:solidFill>
                  <a:srgbClr val="1F4E79"/>
                </a:solidFill>
                <a:latin typeface="Consolas"/>
              </a:rPr>
              <a:t>private</a:t>
            </a:r>
            <a:r>
              <a:rPr sz="1700" b="0" i="0">
                <a:solidFill>
                  <a:srgbClr val="1F2A37"/>
                </a:solidFill>
                <a:latin typeface="Calibri"/>
              </a:rPr>
              <a:t>: Datenkapselung</a:t>
            </a:r>
            <a:r>
              <a:rPr sz="1700" b="0" i="0">
                <a:solidFill>
                  <a:srgbClr val="1F2A37"/>
                </a:solidFill>
                <a:latin typeface="Calibri"/>
              </a:rPr>
              <a:t/>
            </a:r>
          </a:p>
          <a:p>
            <a:pPr>
              <a:spcAft>
                <a:spcPts val="600"/>
              </a:spcAft>
            </a:pPr>
            <a:r>
              <a:rPr sz="1700" b="1" i="0">
                <a:solidFill>
                  <a:srgbClr val="1F2A37"/>
                </a:solidFill>
                <a:latin typeface="Calibri"/>
              </a:rPr>
              <a:t>Konstruktor</a:t>
            </a:r>
            <a:r>
              <a:rPr sz="1700" b="0" i="0">
                <a:solidFill>
                  <a:srgbClr val="1F2A37"/>
                </a:solidFill>
                <a:latin typeface="Calibri"/>
              </a:rPr>
              <a:t>: heißt wie die Klasse, </a:t>
            </a:r>
            <a:r>
              <a:rPr sz="1700" b="1" i="0">
                <a:solidFill>
                  <a:srgbClr val="1F2A37"/>
                </a:solidFill>
                <a:latin typeface="Calibri"/>
              </a:rPr>
              <a:t>kein</a:t>
            </a:r>
            <a:r>
              <a:rPr sz="1700" b="0" i="0">
                <a:solidFill>
                  <a:srgbClr val="1F2A37"/>
                </a:solidFill>
                <a:latin typeface="Calibri"/>
              </a:rPr>
              <a:t> Rückgabetyp</a:t>
            </a:r>
            <a:r>
              <a:rPr sz="1700" b="0" i="0">
                <a:solidFill>
                  <a:srgbClr val="1F2A37"/>
                </a:solidFill>
                <a:latin typeface="Calibri"/>
              </a:rPr>
              <a:t/>
            </a:r>
          </a:p>
          <a:p>
            <a:pPr>
              <a:spcAft>
                <a:spcPts val="600"/>
              </a:spcAft>
            </a:pPr>
            <a:r>
              <a:rPr sz="1600" b="0" i="0">
                <a:solidFill>
                  <a:srgbClr val="1F4E79"/>
                </a:solidFill>
                <a:latin typeface="Consolas"/>
              </a:rPr>
              <a:t>this.name</a:t>
            </a:r>
            <a:r>
              <a:rPr sz="1700" b="0" i="0">
                <a:solidFill>
                  <a:srgbClr val="1F2A37"/>
                </a:solidFill>
                <a:latin typeface="Calibri"/>
              </a:rPr>
              <a:t> = Attribut, </a:t>
            </a:r>
            <a:r>
              <a:rPr sz="1600" b="0" i="0">
                <a:solidFill>
                  <a:srgbClr val="1F4E79"/>
                </a:solidFill>
                <a:latin typeface="Consolas"/>
              </a:rPr>
              <a:t>name</a:t>
            </a:r>
            <a:r>
              <a:rPr sz="1700" b="0" i="0">
                <a:solidFill>
                  <a:srgbClr val="1F2A37"/>
                </a:solidFill>
                <a:latin typeface="Calibri"/>
              </a:rPr>
              <a:t> = Parameter</a:t>
            </a:r>
            <a:r>
              <a:rPr sz="1700" b="0" i="0">
                <a:solidFill>
                  <a:srgbClr val="1F2A37"/>
                </a:solidFill>
                <a:latin typeface="Calibri"/>
              </a:rPr>
              <a:t/>
            </a:r>
          </a:p>
          <a:p>
            <a:pPr>
              <a:spcAft>
                <a:spcPts val="600"/>
              </a:spcAft>
            </a:pPr>
            <a:r>
              <a:rPr sz="1700" b="1" i="0">
                <a:solidFill>
                  <a:srgbClr val="1F2A37"/>
                </a:solidFill>
                <a:latin typeface="Calibri"/>
              </a:rPr>
              <a:t>Methoden</a:t>
            </a:r>
            <a:r>
              <a:rPr sz="1700" b="0" i="0">
                <a:solidFill>
                  <a:srgbClr val="1F2A37"/>
                </a:solidFill>
                <a:latin typeface="Calibri"/>
              </a:rPr>
              <a:t> </a:t>
            </a:r>
            <a:r>
              <a:rPr sz="1600" b="0" i="0">
                <a:solidFill>
                  <a:srgbClr val="1F4E79"/>
                </a:solidFill>
                <a:latin typeface="Consolas"/>
              </a:rPr>
              <a:t>public</a:t>
            </a:r>
            <a:r>
              <a:rPr sz="1700" b="0" i="0">
                <a:solidFill>
                  <a:srgbClr val="1F2A37"/>
                </a:solidFill>
                <a:latin typeface="Calibri"/>
              </a:rPr>
              <a:t>: die Schnittstelle</a:t>
            </a:r>
            <a:r>
              <a:rPr sz="17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3: Klassen, Objekte und Vererbung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A05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Die Klassenkarte nach EH §6</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kk_waechter.png"/>
          <p:cNvPicPr>
            <a:picLocks noChangeAspect="1"/>
          </p:cNvPicPr>
          <p:nvPr/>
        </p:nvPicPr>
        <p:blipFill>
          <a:blip r:embed="rId2"/>
          <a:stretch>
            <a:fillRect/>
          </a:stretch>
        </p:blipFill>
        <p:spPr>
          <a:xfrm>
            <a:off x="548640" y="1417320"/>
            <a:ext cx="6126480" cy="3564198"/>
          </a:xfrm>
          <a:prstGeom prst="rect">
            <a:avLst/>
          </a:prstGeom>
        </p:spPr>
      </p:pic>
      <p:sp>
        <p:nvSpPr>
          <p:cNvPr id="6" name="Rounded Rectangle 5"/>
          <p:cNvSpPr/>
          <p:nvPr/>
        </p:nvSpPr>
        <p:spPr>
          <a:xfrm>
            <a:off x="6949440" y="1325880"/>
            <a:ext cx="469361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0" y="1463039"/>
            <a:ext cx="4327855" cy="2377439"/>
          </a:xfrm>
          <a:prstGeom prst="rect">
            <a:avLst/>
          </a:prstGeom>
          <a:noFill/>
        </p:spPr>
        <p:txBody>
          <a:bodyPr wrap="square" anchor="t" lIns="45720" rIns="45720">
            <a:spAutoFit/>
          </a:bodyPr>
          <a:lstStyle/>
          <a:p>
            <a:pPr>
              <a:spcAft>
                <a:spcPts val="800"/>
              </a:spcAft>
            </a:pPr>
            <a:r>
              <a:rPr sz="2000" b="1" i="0">
                <a:solidFill>
                  <a:srgbClr val="1F4E79"/>
                </a:solidFill>
                <a:latin typeface="Calibri"/>
              </a:rPr>
              <a:t>Regeln</a:t>
            </a:r>
            <a:r>
              <a:rPr sz="1800" b="0" i="0">
                <a:solidFill>
                  <a:srgbClr val="1F2A37"/>
                </a:solidFill>
                <a:latin typeface="Calibri"/>
              </a:rPr>
              <a:t/>
            </a:r>
          </a:p>
          <a:p>
            <a:pPr>
              <a:spcAft>
                <a:spcPts val="600"/>
              </a:spcAft>
            </a:pPr>
            <a:r>
              <a:rPr sz="1800" b="0" i="0">
                <a:solidFill>
                  <a:srgbClr val="1F2A37"/>
                </a:solidFill>
                <a:latin typeface="Calibri"/>
              </a:rPr>
              <a:t>Sichtbarkeit </a:t>
            </a:r>
            <a:r>
              <a:rPr sz="1800" b="1" i="0">
                <a:solidFill>
                  <a:srgbClr val="1F2A37"/>
                </a:solidFill>
                <a:latin typeface="Calibri"/>
              </a:rPr>
              <a:t>Pflicht</a:t>
            </a:r>
            <a:r>
              <a:rPr sz="1800" b="0" i="0">
                <a:solidFill>
                  <a:srgbClr val="1F2A37"/>
                </a:solidFill>
                <a:latin typeface="Calibri"/>
              </a:rPr>
              <a:t>: </a:t>
            </a:r>
            <a:r>
              <a:rPr sz="1700" b="0" i="0">
                <a:solidFill>
                  <a:srgbClr val="1F4E79"/>
                </a:solidFill>
                <a:latin typeface="Consolas"/>
              </a:rPr>
              <a:t>+</a:t>
            </a:r>
            <a:r>
              <a:rPr sz="1800" b="0" i="0">
                <a:solidFill>
                  <a:srgbClr val="1F2A37"/>
                </a:solidFill>
                <a:latin typeface="Calibri"/>
              </a:rPr>
              <a:t> öffentlich, </a:t>
            </a:r>
            <a:r>
              <a:rPr sz="1700" b="0" i="0">
                <a:solidFill>
                  <a:srgbClr val="1F4E79"/>
                </a:solidFill>
                <a:latin typeface="Consolas"/>
              </a:rPr>
              <a:t>-</a:t>
            </a:r>
            <a:r>
              <a:rPr sz="1800" b="0" i="0">
                <a:solidFill>
                  <a:srgbClr val="1F2A37"/>
                </a:solidFill>
                <a:latin typeface="Calibri"/>
              </a:rPr>
              <a:t> privat</a:t>
            </a:r>
            <a:r>
              <a:rPr sz="1800" b="0" i="0">
                <a:solidFill>
                  <a:srgbClr val="1F2A37"/>
                </a:solidFill>
                <a:latin typeface="Calibri"/>
              </a:rPr>
              <a:t/>
            </a:r>
          </a:p>
          <a:p>
            <a:pPr>
              <a:spcAft>
                <a:spcPts val="600"/>
              </a:spcAft>
            </a:pPr>
            <a:r>
              <a:rPr sz="1800" b="0" i="0">
                <a:solidFill>
                  <a:srgbClr val="1F2A37"/>
                </a:solidFill>
                <a:latin typeface="Calibri"/>
              </a:rPr>
              <a:t>Konstruktor mit </a:t>
            </a:r>
            <a:r>
              <a:rPr sz="1700" b="0" i="0">
                <a:solidFill>
                  <a:srgbClr val="1F4E79"/>
                </a:solidFill>
                <a:latin typeface="Consolas"/>
              </a:rPr>
              <a:t>c</a:t>
            </a:r>
            <a:r>
              <a:rPr sz="1800" b="0" i="0">
                <a:solidFill>
                  <a:srgbClr val="1F2A37"/>
                </a:solidFill>
                <a:latin typeface="Calibri"/>
              </a:rPr>
              <a:t/>
            </a:r>
          </a:p>
          <a:p>
            <a:pPr>
              <a:spcAft>
                <a:spcPts val="600"/>
              </a:spcAft>
            </a:pPr>
            <a:r>
              <a:rPr sz="1700" b="0" i="0">
                <a:solidFill>
                  <a:srgbClr val="1F4E79"/>
                </a:solidFill>
                <a:latin typeface="Consolas"/>
              </a:rPr>
              <a:t>name: Typ</a:t>
            </a:r>
            <a:r>
              <a:rPr sz="1800" b="0" i="0">
                <a:solidFill>
                  <a:srgbClr val="1F2A37"/>
                </a:solidFill>
                <a:latin typeface="Calibri"/>
              </a:rPr>
              <a:t> – der Typ steht </a:t>
            </a:r>
            <a:r>
              <a:rPr sz="1800" b="1" i="0">
                <a:solidFill>
                  <a:srgbClr val="1F2A37"/>
                </a:solidFill>
                <a:latin typeface="Calibri"/>
              </a:rPr>
              <a:t>hinten</a:t>
            </a:r>
            <a:r>
              <a:rPr sz="1800" b="0" i="0">
                <a:solidFill>
                  <a:srgbClr val="1F2A37"/>
                </a:solidFill>
                <a:latin typeface="Calibri"/>
              </a:rPr>
              <a:t/>
            </a:r>
          </a:p>
          <a:p>
            <a:pPr>
              <a:spcAft>
                <a:spcPts val="600"/>
              </a:spcAft>
            </a:pPr>
            <a:r>
              <a:rPr sz="1800" b="0" i="0">
                <a:solidFill>
                  <a:srgbClr val="1F2A37"/>
                </a:solidFill>
                <a:latin typeface="Calibri"/>
              </a:rPr>
              <a:t>Typen deutsch: Ganzzahl, Zeichenkette, Wahrheitswert, nichts …</a:t>
            </a:r>
            <a:r>
              <a:rPr sz="18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3: Klassen, Objekte und Vererbung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A05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Objekte erzeugen – die Objektkarte</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6964680" cy="1234440"/>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6781800" cy="1143000"/>
          </a:xfrm>
          <a:prstGeom prst="rect">
            <a:avLst/>
          </a:prstGeom>
          <a:noFill/>
        </p:spPr>
        <p:txBody>
          <a:bodyPr wrap="square" anchor="t" lIns="45720" rIns="45720">
            <a:spAutoFit/>
          </a:bodyPr>
          <a:lstStyle/>
          <a:p>
            <a:pPr>
              <a:lnSpc>
                <a:spcPct val="100000"/>
              </a:lnSpc>
            </a:pPr>
            <a:r>
              <a:rPr sz="2000" b="0" i="0">
                <a:solidFill>
                  <a:srgbClr val="A0A7B1"/>
                </a:solidFill>
                <a:latin typeface="Consolas"/>
              </a:rPr>
              <a:t>1  </a:t>
            </a:r>
            <a:r>
              <a:rPr sz="2000" b="0" i="0">
                <a:solidFill>
                  <a:srgbClr val="1F2A37"/>
                </a:solidFill>
                <a:latin typeface="Consolas"/>
              </a:rPr>
              <a:t>Waechter w1 = new Waechter("Torvak", 6);</a:t>
            </a:r>
          </a:p>
          <a:p>
            <a:pPr>
              <a:lnSpc>
                <a:spcPct val="100000"/>
              </a:lnSpc>
            </a:pPr>
            <a:r>
              <a:rPr sz="2000" b="0" i="0">
                <a:solidFill>
                  <a:srgbClr val="A0A7B1"/>
                </a:solidFill>
                <a:latin typeface="Consolas"/>
              </a:rPr>
              <a:t>2  </a:t>
            </a:r>
            <a:r>
              <a:rPr sz="2000" b="0" i="0">
                <a:solidFill>
                  <a:srgbClr val="1F2A37"/>
                </a:solidFill>
                <a:latin typeface="Consolas"/>
              </a:rPr>
              <a:t>Waechter w2 = new Waechter("Elra", 4);</a:t>
            </a:r>
          </a:p>
          <a:p>
            <a:pPr>
              <a:lnSpc>
                <a:spcPct val="100000"/>
              </a:lnSpc>
            </a:pPr>
            <a:r>
              <a:rPr sz="2000" b="0" i="0">
                <a:solidFill>
                  <a:srgbClr val="A0A7B1"/>
                </a:solidFill>
                <a:latin typeface="Consolas"/>
              </a:rPr>
              <a:t>3  </a:t>
            </a:r>
            <a:r>
              <a:rPr sz="2000" b="0" i="0">
                <a:solidFill>
                  <a:srgbClr val="1F2A37"/>
                </a:solidFill>
                <a:latin typeface="Consolas"/>
              </a:rPr>
              <a:t>w2.verstaerken(5);</a:t>
            </a:r>
          </a:p>
        </p:txBody>
      </p:sp>
      <p:sp>
        <p:nvSpPr>
          <p:cNvPr id="7" name="TextBox 6"/>
          <p:cNvSpPr txBox="1"/>
          <p:nvPr/>
        </p:nvSpPr>
        <p:spPr>
          <a:xfrm>
            <a:off x="548640" y="2834640"/>
            <a:ext cx="7772400" cy="411480"/>
          </a:xfrm>
          <a:prstGeom prst="rect">
            <a:avLst/>
          </a:prstGeom>
          <a:noFill/>
        </p:spPr>
        <p:txBody>
          <a:bodyPr wrap="square" anchor="t" lIns="45720" rIns="45720">
            <a:spAutoFit/>
          </a:bodyPr>
          <a:lstStyle/>
          <a:p>
            <a:pPr>
              <a:spcAft>
                <a:spcPts val="1000"/>
              </a:spcAft>
            </a:pPr>
            <a:r>
              <a:rPr sz="2000" b="1" i="0">
                <a:solidFill>
                  <a:srgbClr val="B8860B"/>
                </a:solidFill>
                <a:latin typeface="Calibri"/>
              </a:rPr>
              <a:t>▸ </a:t>
            </a:r>
            <a:r>
              <a:rPr sz="2000" b="0" i="0">
                <a:solidFill>
                  <a:srgbClr val="1F2A37"/>
                </a:solidFill>
                <a:latin typeface="Calibri"/>
              </a:rPr>
              <a:t>Kopf </a:t>
            </a:r>
            <a:r>
              <a:rPr sz="1900" b="0" i="0">
                <a:solidFill>
                  <a:srgbClr val="1F4E79"/>
                </a:solidFill>
                <a:latin typeface="Consolas"/>
              </a:rPr>
              <a:t>objektname: Klasse</a:t>
            </a:r>
            <a:r>
              <a:rPr sz="2000" b="0" i="0">
                <a:solidFill>
                  <a:srgbClr val="1F2A37"/>
                </a:solidFill>
                <a:latin typeface="Calibri"/>
              </a:rPr>
              <a:t>, darunter die </a:t>
            </a:r>
            <a:r>
              <a:rPr sz="2000" b="1" i="0">
                <a:solidFill>
                  <a:srgbClr val="1F2A37"/>
                </a:solidFill>
                <a:latin typeface="Calibri"/>
              </a:rPr>
              <a:t>aktuellen Werte</a:t>
            </a:r>
            <a:r>
              <a:rPr sz="2000" b="0" i="0">
                <a:solidFill>
                  <a:srgbClr val="1F2A37"/>
                </a:solidFill>
                <a:latin typeface="Calibri"/>
              </a:rPr>
              <a:t/>
            </a:r>
          </a:p>
        </p:txBody>
      </p:sp>
      <p:pic>
        <p:nvPicPr>
          <p:cNvPr id="8" name="Picture 7" descr="ok_beide.png"/>
          <p:cNvPicPr>
            <a:picLocks noChangeAspect="1"/>
          </p:cNvPicPr>
          <p:nvPr/>
        </p:nvPicPr>
        <p:blipFill>
          <a:blip r:embed="rId2"/>
          <a:stretch>
            <a:fillRect/>
          </a:stretch>
        </p:blipFill>
        <p:spPr>
          <a:xfrm>
            <a:off x="548640" y="3246120"/>
            <a:ext cx="7772400" cy="1544884"/>
          </a:xfrm>
          <a:prstGeom prst="rect">
            <a:avLst/>
          </a:prstGeom>
        </p:spPr>
      </p:pic>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3: Klassen, Objekte und Vererbung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A05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Referenzen und null</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5684519" cy="2106168"/>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5501639" cy="2014727"/>
          </a:xfrm>
          <a:prstGeom prst="rect">
            <a:avLst/>
          </a:prstGeom>
          <a:noFill/>
        </p:spPr>
        <p:txBody>
          <a:bodyPr wrap="square" anchor="t" lIns="45720" rIns="45720">
            <a:spAutoFit/>
          </a:bodyPr>
          <a:lstStyle/>
          <a:p>
            <a:pPr>
              <a:lnSpc>
                <a:spcPct val="100000"/>
              </a:lnSpc>
            </a:pPr>
            <a:r>
              <a:rPr sz="1600" b="0" i="0">
                <a:solidFill>
                  <a:srgbClr val="A0A7B1"/>
                </a:solidFill>
                <a:latin typeface="Consolas"/>
              </a:rPr>
              <a:t>1  </a:t>
            </a:r>
            <a:r>
              <a:rPr sz="1600" b="0" i="0">
                <a:solidFill>
                  <a:srgbClr val="1F2A37"/>
                </a:solidFill>
                <a:latin typeface="Consolas"/>
              </a:rPr>
              <a:t>Waechter a = new Waechter("Brom", 6);</a:t>
            </a:r>
          </a:p>
          <a:p>
            <a:pPr>
              <a:lnSpc>
                <a:spcPct val="100000"/>
              </a:lnSpc>
            </a:pPr>
            <a:r>
              <a:rPr sz="1600" b="0" i="0">
                <a:solidFill>
                  <a:srgbClr val="A0A7B1"/>
                </a:solidFill>
                <a:latin typeface="Consolas"/>
              </a:rPr>
              <a:t>2  </a:t>
            </a:r>
            <a:r>
              <a:rPr sz="1600" b="0" i="0">
                <a:solidFill>
                  <a:srgbClr val="1F2A37"/>
                </a:solidFill>
                <a:latin typeface="Consolas"/>
              </a:rPr>
              <a:t>Waechter b = a;</a:t>
            </a:r>
          </a:p>
          <a:p>
            <a:pPr>
              <a:lnSpc>
                <a:spcPct val="100000"/>
              </a:lnSpc>
            </a:pPr>
            <a:r>
              <a:rPr sz="1600" b="0" i="0">
                <a:solidFill>
                  <a:srgbClr val="A0A7B1"/>
                </a:solidFill>
                <a:latin typeface="Consolas"/>
              </a:rPr>
              <a:t>3  </a:t>
            </a:r>
            <a:r>
              <a:rPr sz="1600" b="0" i="0">
                <a:solidFill>
                  <a:srgbClr val="1F2A37"/>
                </a:solidFill>
                <a:latin typeface="Consolas"/>
              </a:rPr>
              <a:t>b.verstaerken(2);</a:t>
            </a:r>
          </a:p>
          <a:p>
            <a:pPr>
              <a:lnSpc>
                <a:spcPct val="100000"/>
              </a:lnSpc>
            </a:pPr>
            <a:r>
              <a:rPr sz="1600" b="0" i="0">
                <a:solidFill>
                  <a:srgbClr val="A0A7B1"/>
                </a:solidFill>
                <a:latin typeface="Consolas"/>
              </a:rPr>
              <a:t>4  </a:t>
            </a:r>
            <a:r>
              <a:rPr sz="1600" b="0" i="0">
                <a:solidFill>
                  <a:srgbClr val="1F2A37"/>
                </a:solidFill>
                <a:latin typeface="Consolas"/>
              </a:rPr>
              <a:t>println(a.abwehr());  </a:t>
            </a:r>
            <a:r>
              <a:rPr sz="1600" b="0" i="0">
                <a:solidFill>
                  <a:srgbClr val="5F7F5F"/>
                </a:solidFill>
                <a:latin typeface="Consolas"/>
              </a:rPr>
              <a:t> // 8</a:t>
            </a:r>
          </a:p>
          <a:p>
            <a:pPr>
              <a:lnSpc>
                <a:spcPct val="100000"/>
              </a:lnSpc>
            </a:pPr>
            <a:r>
              <a:rPr sz="1600" b="0" i="0">
                <a:solidFill>
                  <a:srgbClr val="A0A7B1"/>
                </a:solidFill>
                <a:latin typeface="Consolas"/>
              </a:rPr>
              <a:t>5  </a:t>
            </a:r>
            <a:r>
              <a:rPr sz="1600" b="0" i="0">
                <a:solidFill>
                  <a:srgbClr val="1F2A37"/>
                </a:solidFill>
                <a:latin typeface="Consolas"/>
              </a:rPr>
              <a:t/>
            </a:r>
          </a:p>
          <a:p>
            <a:pPr>
              <a:lnSpc>
                <a:spcPct val="100000"/>
              </a:lnSpc>
            </a:pPr>
            <a:r>
              <a:rPr sz="1600" b="0" i="0">
                <a:solidFill>
                  <a:srgbClr val="A0A7B1"/>
                </a:solidFill>
                <a:latin typeface="Consolas"/>
              </a:rPr>
              <a:t>6  </a:t>
            </a:r>
            <a:r>
              <a:rPr sz="1600" b="0" i="0">
                <a:solidFill>
                  <a:srgbClr val="1F2A37"/>
                </a:solidFill>
                <a:latin typeface="Consolas"/>
              </a:rPr>
              <a:t>Waechter c = null;</a:t>
            </a:r>
          </a:p>
          <a:p>
            <a:pPr>
              <a:lnSpc>
                <a:spcPct val="100000"/>
              </a:lnSpc>
            </a:pPr>
            <a:r>
              <a:rPr sz="1600" b="0" i="0">
                <a:solidFill>
                  <a:srgbClr val="A0A7B1"/>
                </a:solidFill>
                <a:latin typeface="Consolas"/>
              </a:rPr>
              <a:t>7  </a:t>
            </a:r>
            <a:r>
              <a:rPr sz="1600" b="1" i="0">
                <a:solidFill>
                  <a:srgbClr val="C00000"/>
                </a:solidFill>
                <a:latin typeface="Consolas"/>
              </a:rPr>
              <a:t>println(c.abwehr());  </a:t>
            </a:r>
            <a:r>
              <a:rPr sz="1600" b="0" i="0">
                <a:solidFill>
                  <a:srgbClr val="5F7F5F"/>
                </a:solidFill>
                <a:latin typeface="Consolas"/>
              </a:rPr>
              <a:t> // Laufzeitfehler!</a:t>
            </a:r>
          </a:p>
        </p:txBody>
      </p:sp>
      <p:sp>
        <p:nvSpPr>
          <p:cNvPr id="7" name="TextBox 6"/>
          <p:cNvSpPr txBox="1"/>
          <p:nvPr/>
        </p:nvSpPr>
        <p:spPr>
          <a:xfrm>
            <a:off x="548640" y="3660647"/>
            <a:ext cx="5684519" cy="2694432"/>
          </a:xfrm>
          <a:prstGeom prst="rect">
            <a:avLst/>
          </a:prstGeom>
          <a:noFill/>
        </p:spPr>
        <p:txBody>
          <a:bodyPr wrap="square" anchor="t" lIns="45720" rIns="45720">
            <a:spAutoFit/>
          </a:bodyPr>
          <a:lstStyle/>
          <a:p>
            <a:pPr>
              <a:spcAft>
                <a:spcPts val="1000"/>
              </a:spcAft>
            </a:pPr>
            <a:r>
              <a:rPr sz="2000" b="1" i="0">
                <a:solidFill>
                  <a:srgbClr val="B8860B"/>
                </a:solidFill>
                <a:latin typeface="Calibri"/>
              </a:rPr>
              <a:t>▸ </a:t>
            </a:r>
            <a:r>
              <a:rPr sz="1900" b="0" i="0">
                <a:solidFill>
                  <a:srgbClr val="1F4E79"/>
                </a:solidFill>
                <a:latin typeface="Consolas"/>
              </a:rPr>
              <a:t>b = a</a:t>
            </a:r>
            <a:r>
              <a:rPr sz="2000" b="0" i="0">
                <a:solidFill>
                  <a:srgbClr val="1F2A37"/>
                </a:solidFill>
                <a:latin typeface="Calibri"/>
              </a:rPr>
              <a:t> kopiert nur die </a:t>
            </a:r>
            <a:r>
              <a:rPr sz="2000" b="1" i="0">
                <a:solidFill>
                  <a:srgbClr val="1F2A37"/>
                </a:solidFill>
                <a:latin typeface="Calibri"/>
              </a:rPr>
              <a:t>Referenz</a:t>
            </a:r>
            <a:r>
              <a:rPr sz="2000" b="0" i="0">
                <a:solidFill>
                  <a:srgbClr val="1F2A37"/>
                </a:solidFill>
                <a:latin typeface="Calibri"/>
              </a:rPr>
              <a:t>: zwei Namen, </a:t>
            </a:r>
            <a:r>
              <a:rPr sz="2000" b="1" i="0">
                <a:solidFill>
                  <a:srgbClr val="1F2A37"/>
                </a:solidFill>
                <a:latin typeface="Calibri"/>
              </a:rPr>
              <a:t>ein</a:t>
            </a:r>
            <a:r>
              <a:rPr sz="2000" b="0" i="0">
                <a:solidFill>
                  <a:srgbClr val="1F2A37"/>
                </a:solidFill>
                <a:latin typeface="Calibri"/>
              </a:rPr>
              <a:t> Objekt</a:t>
            </a:r>
            <a:r>
              <a:rPr sz="2000" b="0" i="0">
                <a:solidFill>
                  <a:srgbClr val="1F2A37"/>
                </a:solidFill>
                <a:latin typeface="Calibri"/>
              </a:rPr>
              <a:t/>
            </a:r>
          </a:p>
          <a:p>
            <a:pPr>
              <a:spcAft>
                <a:spcPts val="1000"/>
              </a:spcAft>
            </a:pPr>
            <a:r>
              <a:rPr sz="2000" b="1" i="0">
                <a:solidFill>
                  <a:srgbClr val="B8860B"/>
                </a:solidFill>
                <a:latin typeface="Calibri"/>
              </a:rPr>
              <a:t>▸ </a:t>
            </a:r>
            <a:r>
              <a:rPr sz="1900" b="0" i="0">
                <a:solidFill>
                  <a:srgbClr val="1F4E79"/>
                </a:solidFill>
                <a:latin typeface="Consolas"/>
              </a:rPr>
              <a:t>null</a:t>
            </a:r>
            <a:r>
              <a:rPr sz="2000" b="0" i="0">
                <a:solidFill>
                  <a:srgbClr val="1F2A37"/>
                </a:solidFill>
                <a:latin typeface="Calibri"/>
              </a:rPr>
              <a:t>: kein Objekt – Methodenaufruf führt zum Absturz</a:t>
            </a:r>
            <a:r>
              <a:rPr sz="2000" b="0" i="0">
                <a:solidFill>
                  <a:srgbClr val="1F2A37"/>
                </a:solidFill>
                <a:latin typeface="Calibri"/>
              </a:rPr>
              <a:t/>
            </a:r>
          </a:p>
        </p:txBody>
      </p:sp>
      <p:pic>
        <p:nvPicPr>
          <p:cNvPr id="8" name="Picture 7" descr="ref_ab.png"/>
          <p:cNvPicPr>
            <a:picLocks noChangeAspect="1"/>
          </p:cNvPicPr>
          <p:nvPr/>
        </p:nvPicPr>
        <p:blipFill>
          <a:blip r:embed="rId2"/>
          <a:stretch>
            <a:fillRect/>
          </a:stretch>
        </p:blipFill>
        <p:spPr>
          <a:xfrm>
            <a:off x="6507479" y="1325880"/>
            <a:ext cx="5135575" cy="1667964"/>
          </a:xfrm>
          <a:prstGeom prst="rect">
            <a:avLst/>
          </a:prstGeom>
        </p:spPr>
      </p:pic>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3: Klassen, Objekte und Vererbung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A05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Assoziation: Ein Tor kennt seinen Wächter</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kd_assoziation.png"/>
          <p:cNvPicPr>
            <a:picLocks noChangeAspect="1"/>
          </p:cNvPicPr>
          <p:nvPr/>
        </p:nvPicPr>
        <p:blipFill>
          <a:blip r:embed="rId2"/>
          <a:stretch>
            <a:fillRect/>
          </a:stretch>
        </p:blipFill>
        <p:spPr>
          <a:xfrm>
            <a:off x="548640" y="1417320"/>
            <a:ext cx="4394253" cy="4892040"/>
          </a:xfrm>
          <a:prstGeom prst="rect">
            <a:avLst/>
          </a:prstGeom>
        </p:spPr>
      </p:pic>
      <p:sp>
        <p:nvSpPr>
          <p:cNvPr id="6" name="Rounded Rectangle 5"/>
          <p:cNvSpPr/>
          <p:nvPr/>
        </p:nvSpPr>
        <p:spPr>
          <a:xfrm>
            <a:off x="7315200" y="1325880"/>
            <a:ext cx="432785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1463039"/>
            <a:ext cx="3962095" cy="2377439"/>
          </a:xfrm>
          <a:prstGeom prst="rect">
            <a:avLst/>
          </a:prstGeom>
          <a:noFill/>
        </p:spPr>
        <p:txBody>
          <a:bodyPr wrap="square" anchor="t" lIns="45720" rIns="45720">
            <a:spAutoFit/>
          </a:bodyPr>
          <a:lstStyle/>
          <a:p>
            <a:pPr>
              <a:spcAft>
                <a:spcPts val="800"/>
              </a:spcAft>
            </a:pPr>
            <a:r>
              <a:rPr sz="2200" b="1" i="0">
                <a:solidFill>
                  <a:srgbClr val="1F4E79"/>
                </a:solidFill>
                <a:latin typeface="Calibri"/>
              </a:rPr>
              <a:t>Assoziation</a:t>
            </a:r>
            <a:r>
              <a:rPr sz="2000" b="0" i="0">
                <a:solidFill>
                  <a:srgbClr val="1F2A37"/>
                </a:solidFill>
                <a:latin typeface="Calibri"/>
              </a:rPr>
              <a:t/>
            </a:r>
          </a:p>
          <a:p>
            <a:pPr>
              <a:spcAft>
                <a:spcPts val="600"/>
              </a:spcAft>
            </a:pPr>
            <a:r>
              <a:rPr sz="2000" b="0" i="0">
                <a:solidFill>
                  <a:srgbClr val="1F2A37"/>
                </a:solidFill>
                <a:latin typeface="Calibri"/>
              </a:rPr>
              <a:t>Attribut vom Typ einer </a:t>
            </a:r>
            <a:r>
              <a:rPr sz="2000" b="1" i="0">
                <a:solidFill>
                  <a:srgbClr val="1F2A37"/>
                </a:solidFill>
                <a:latin typeface="Calibri"/>
              </a:rPr>
              <a:t>anderen Klasse</a:t>
            </a:r>
            <a:r>
              <a:rPr sz="2000" b="0" i="0">
                <a:solidFill>
                  <a:srgbClr val="1F2A37"/>
                </a:solidFill>
                <a:latin typeface="Calibri"/>
              </a:rPr>
              <a:t/>
            </a:r>
          </a:p>
          <a:p>
            <a:pPr>
              <a:spcAft>
                <a:spcPts val="600"/>
              </a:spcAft>
            </a:pPr>
            <a:r>
              <a:rPr sz="2000" b="0" i="0">
                <a:solidFill>
                  <a:srgbClr val="1F2A37"/>
                </a:solidFill>
                <a:latin typeface="Calibri"/>
              </a:rPr>
              <a:t>einfache Linie – </a:t>
            </a:r>
            <a:r>
              <a:rPr sz="2000" b="1" i="0">
                <a:solidFill>
                  <a:srgbClr val="1F2A37"/>
                </a:solidFill>
                <a:latin typeface="Calibri"/>
              </a:rPr>
              <a:t>ohne Kardinalitäten</a:t>
            </a:r>
            <a:r>
              <a:rPr sz="2000" b="0" i="0">
                <a:solidFill>
                  <a:srgbClr val="1F2A37"/>
                </a:solidFill>
                <a:latin typeface="Calibri"/>
              </a:rPr>
              <a:t/>
            </a:r>
          </a:p>
          <a:p>
            <a:pPr>
              <a:spcAft>
                <a:spcPts val="600"/>
              </a:spcAft>
            </a:pPr>
            <a:r>
              <a:rPr sz="1900" b="0" i="0">
                <a:solidFill>
                  <a:srgbClr val="1F4E79"/>
                </a:solidFill>
                <a:latin typeface="Consolas"/>
              </a:rPr>
              <a:t>waechter</a:t>
            </a:r>
            <a:r>
              <a:rPr sz="2000" b="0" i="0">
                <a:solidFill>
                  <a:srgbClr val="1F2A37"/>
                </a:solidFill>
                <a:latin typeface="Calibri"/>
              </a:rPr>
              <a:t> ist anfangs </a:t>
            </a:r>
            <a:r>
              <a:rPr sz="1900" b="0" i="0">
                <a:solidFill>
                  <a:srgbClr val="1F4E79"/>
                </a:solidFill>
                <a:latin typeface="Consolas"/>
              </a:rPr>
              <a:t>null</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3: Klassen, Objekte und Vererbung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A05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Vor dem Zugriff: null abfragen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4952999" cy="1737360"/>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4770119" cy="1645920"/>
          </a:xfrm>
          <a:prstGeom prst="rect">
            <a:avLst/>
          </a:prstGeom>
          <a:noFill/>
        </p:spPr>
        <p:txBody>
          <a:bodyPr wrap="square" anchor="t" lIns="45720" rIns="45720">
            <a:spAutoFit/>
          </a:bodyPr>
          <a:lstStyle/>
          <a:p>
            <a:pPr>
              <a:lnSpc>
                <a:spcPct val="100000"/>
              </a:lnSpc>
            </a:pPr>
            <a:r>
              <a:rPr sz="1500" b="0" i="0">
                <a:solidFill>
                  <a:srgbClr val="A0A7B1"/>
                </a:solidFill>
                <a:latin typeface="Consolas"/>
              </a:rPr>
              <a:t>1  </a:t>
            </a:r>
            <a:r>
              <a:rPr sz="1500" b="0" i="0">
                <a:solidFill>
                  <a:srgbClr val="1F2A37"/>
                </a:solidFill>
                <a:latin typeface="Consolas"/>
              </a:rPr>
              <a:t>public boolean istSicher() {</a:t>
            </a:r>
          </a:p>
          <a:p>
            <a:pPr>
              <a:lnSpc>
                <a:spcPct val="100000"/>
              </a:lnSpc>
            </a:pPr>
            <a:r>
              <a:rPr sz="1500" b="0" i="0">
                <a:solidFill>
                  <a:srgbClr val="A0A7B1"/>
                </a:solidFill>
                <a:latin typeface="Consolas"/>
              </a:rPr>
              <a:t>2  </a:t>
            </a:r>
            <a:r>
              <a:rPr sz="1500" b="1" i="0">
                <a:solidFill>
                  <a:srgbClr val="C00000"/>
                </a:solidFill>
                <a:latin typeface="Consolas"/>
              </a:rPr>
              <a:t>    if (waechter == null) {</a:t>
            </a:r>
          </a:p>
          <a:p>
            <a:pPr>
              <a:lnSpc>
                <a:spcPct val="100000"/>
              </a:lnSpc>
            </a:pPr>
            <a:r>
              <a:rPr sz="1500" b="0" i="0">
                <a:solidFill>
                  <a:srgbClr val="A0A7B1"/>
                </a:solidFill>
                <a:latin typeface="Consolas"/>
              </a:rPr>
              <a:t>3  </a:t>
            </a:r>
            <a:r>
              <a:rPr sz="1500" b="0" i="0">
                <a:solidFill>
                  <a:srgbClr val="1F2A37"/>
                </a:solidFill>
                <a:latin typeface="Consolas"/>
              </a:rPr>
              <a:t>        return false;</a:t>
            </a:r>
          </a:p>
          <a:p>
            <a:pPr>
              <a:lnSpc>
                <a:spcPct val="100000"/>
              </a:lnSpc>
            </a:pPr>
            <a:r>
              <a:rPr sz="1500" b="0" i="0">
                <a:solidFill>
                  <a:srgbClr val="A0A7B1"/>
                </a:solidFill>
                <a:latin typeface="Consolas"/>
              </a:rPr>
              <a:t>4  </a:t>
            </a:r>
            <a:r>
              <a:rPr sz="1500" b="0" i="0">
                <a:solidFill>
                  <a:srgbClr val="1F2A37"/>
                </a:solidFill>
                <a:latin typeface="Consolas"/>
              </a:rPr>
              <a:t>    }</a:t>
            </a:r>
          </a:p>
          <a:p>
            <a:pPr>
              <a:lnSpc>
                <a:spcPct val="100000"/>
              </a:lnSpc>
            </a:pPr>
            <a:r>
              <a:rPr sz="1500" b="0" i="0">
                <a:solidFill>
                  <a:srgbClr val="A0A7B1"/>
                </a:solidFill>
                <a:latin typeface="Consolas"/>
              </a:rPr>
              <a:t>5  </a:t>
            </a:r>
            <a:r>
              <a:rPr sz="1500" b="0" i="0">
                <a:solidFill>
                  <a:srgbClr val="1F2A37"/>
                </a:solidFill>
                <a:latin typeface="Consolas"/>
              </a:rPr>
              <a:t>    return waechter.abwehr() &gt;= 10;</a:t>
            </a:r>
          </a:p>
          <a:p>
            <a:pPr>
              <a:lnSpc>
                <a:spcPct val="100000"/>
              </a:lnSpc>
            </a:pPr>
            <a:r>
              <a:rPr sz="1500" b="0" i="0">
                <a:solidFill>
                  <a:srgbClr val="A0A7B1"/>
                </a:solidFill>
                <a:latin typeface="Consolas"/>
              </a:rPr>
              <a:t>6  </a:t>
            </a:r>
            <a:r>
              <a:rPr sz="1500" b="0" i="0">
                <a:solidFill>
                  <a:srgbClr val="1F2A37"/>
                </a:solidFill>
                <a:latin typeface="Consolas"/>
              </a:rPr>
              <a:t>}</a:t>
            </a:r>
          </a:p>
        </p:txBody>
      </p:sp>
      <p:sp>
        <p:nvSpPr>
          <p:cNvPr id="7" name="Rounded Rectangle 6"/>
          <p:cNvSpPr/>
          <p:nvPr/>
        </p:nvSpPr>
        <p:spPr>
          <a:xfrm>
            <a:off x="5775959" y="1325880"/>
            <a:ext cx="5867095" cy="2651759"/>
          </a:xfrm>
          <a:prstGeom prst="roundRect">
            <a:avLst>
              <a:gd name="adj" fmla="val 8000"/>
            </a:avLst>
          </a:prstGeom>
          <a:solidFill>
            <a:srgbClr val="FBE3E3"/>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58839" y="1463039"/>
            <a:ext cx="5501335" cy="2377439"/>
          </a:xfrm>
          <a:prstGeom prst="rect">
            <a:avLst/>
          </a:prstGeom>
          <a:noFill/>
        </p:spPr>
        <p:txBody>
          <a:bodyPr wrap="square" anchor="t" lIns="45720" rIns="45720">
            <a:spAutoFit/>
          </a:bodyPr>
          <a:lstStyle/>
          <a:p>
            <a:pPr>
              <a:spcAft>
                <a:spcPts val="800"/>
              </a:spcAft>
            </a:pPr>
            <a:r>
              <a:rPr sz="2200" b="1" i="0">
                <a:solidFill>
                  <a:srgbClr val="C00000"/>
                </a:solidFill>
                <a:latin typeface="Calibri"/>
              </a:rPr>
              <a:t>P1 Laufzeitfehler</a:t>
            </a:r>
            <a:r>
              <a:rPr sz="2000" b="0" i="0">
                <a:solidFill>
                  <a:srgbClr val="1F2A37"/>
                </a:solidFill>
                <a:latin typeface="Calibri"/>
              </a:rPr>
              <a:t/>
            </a:r>
          </a:p>
          <a:p>
            <a:pPr>
              <a:spcAft>
                <a:spcPts val="600"/>
              </a:spcAft>
            </a:pPr>
            <a:r>
              <a:rPr sz="2000" b="0" i="0">
                <a:solidFill>
                  <a:srgbClr val="1F2A37"/>
                </a:solidFill>
                <a:latin typeface="Calibri"/>
              </a:rPr>
              <a:t>Ohne die Abfrage stürzt </a:t>
            </a:r>
            <a:r>
              <a:rPr sz="1900" b="0" i="0">
                <a:solidFill>
                  <a:srgbClr val="1F4E79"/>
                </a:solidFill>
                <a:latin typeface="Consolas"/>
              </a:rPr>
              <a:t>istSicher()</a:t>
            </a:r>
            <a:r>
              <a:rPr sz="2000" b="0" i="0">
                <a:solidFill>
                  <a:srgbClr val="1F2A37"/>
                </a:solidFill>
                <a:latin typeface="Calibri"/>
              </a:rPr>
              <a:t> ab, solange kein Wächter zugeteilt ist.</a:t>
            </a:r>
            <a:r>
              <a:rPr sz="2000" b="0" i="0">
                <a:solidFill>
                  <a:srgbClr val="1F2A37"/>
                </a:solidFill>
                <a:latin typeface="Calibri"/>
              </a:rPr>
              <a:t/>
            </a:r>
          </a:p>
          <a:p>
            <a:pPr>
              <a:spcAft>
                <a:spcPts val="600"/>
              </a:spcAft>
            </a:pPr>
            <a:r>
              <a:rPr sz="2000" b="0" i="0">
                <a:solidFill>
                  <a:srgbClr val="1F2A37"/>
                </a:solidFill>
                <a:latin typeface="Calibri"/>
              </a:rPr>
              <a:t>Erst prüfen, dann zugreifen.</a:t>
            </a:r>
            <a:r>
              <a:rPr sz="20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3: Klassen, Objekte und Vererbung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A05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Vererbung: Ein Hauptmann ist ein Waechter</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7772400" cy="3715512"/>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7589520" cy="3624072"/>
          </a:xfrm>
          <a:prstGeom prst="rect">
            <a:avLst/>
          </a:prstGeom>
          <a:noFill/>
        </p:spPr>
        <p:txBody>
          <a:bodyPr wrap="square" anchor="t" lIns="45720" rIns="45720">
            <a:spAutoFit/>
          </a:bodyPr>
          <a:lstStyle/>
          <a:p>
            <a:pPr>
              <a:lnSpc>
                <a:spcPct val="100000"/>
              </a:lnSpc>
            </a:pPr>
            <a:r>
              <a:rPr sz="1600" b="0" i="0">
                <a:solidFill>
                  <a:srgbClr val="1F2A37"/>
                </a:solidFill>
                <a:latin typeface="Consolas"/>
              </a:rPr>
              <a:t>public class Hauptmann extends Waechter {</a:t>
            </a:r>
          </a:p>
          <a:p>
            <a:pPr>
              <a:lnSpc>
                <a:spcPct val="100000"/>
              </a:lnSpc>
            </a:pPr>
            <a:r>
              <a:rPr sz="1600" b="0" i="0">
                <a:solidFill>
                  <a:srgbClr val="1F2A37"/>
                </a:solidFill>
                <a:latin typeface="Consolas"/>
              </a:rPr>
              <a:t>    private int schild;</a:t>
            </a:r>
          </a:p>
          <a:p>
            <a:pPr>
              <a:lnSpc>
                <a:spcPct val="100000"/>
              </a:lnSpc>
            </a:pPr>
            <a:r>
              <a:rPr sz="1600" b="0" i="0">
                <a:solidFill>
                  <a:srgbClr val="1F2A37"/>
                </a:solidFill>
                <a:latin typeface="Consolas"/>
              </a:rPr>
              <a:t/>
            </a:r>
          </a:p>
          <a:p>
            <a:pPr>
              <a:lnSpc>
                <a:spcPct val="100000"/>
              </a:lnSpc>
            </a:pPr>
            <a:r>
              <a:rPr sz="1600" b="0" i="0">
                <a:solidFill>
                  <a:srgbClr val="1F2A37"/>
                </a:solidFill>
                <a:latin typeface="Consolas"/>
              </a:rPr>
              <a:t>    public Hauptmann(String name, int ruestung, int schild) {</a:t>
            </a:r>
          </a:p>
          <a:p>
            <a:pPr>
              <a:lnSpc>
                <a:spcPct val="100000"/>
              </a:lnSpc>
            </a:pPr>
            <a:r>
              <a:rPr sz="1600" b="0" i="0">
                <a:solidFill>
                  <a:srgbClr val="1F2A37"/>
                </a:solidFill>
                <a:latin typeface="Consolas"/>
              </a:rPr>
              <a:t>        super(name, ruestung);</a:t>
            </a:r>
          </a:p>
          <a:p>
            <a:pPr>
              <a:lnSpc>
                <a:spcPct val="100000"/>
              </a:lnSpc>
            </a:pPr>
            <a:r>
              <a:rPr sz="1600" b="0" i="0">
                <a:solidFill>
                  <a:srgbClr val="1F2A37"/>
                </a:solidFill>
                <a:latin typeface="Consolas"/>
              </a:rPr>
              <a:t>        this.schild = schild;</a:t>
            </a:r>
          </a:p>
          <a:p>
            <a:pPr>
              <a:lnSpc>
                <a:spcPct val="100000"/>
              </a:lnSpc>
            </a:pPr>
            <a:r>
              <a:rPr sz="1600" b="0" i="0">
                <a:solidFill>
                  <a:srgbClr val="1F2A37"/>
                </a:solidFill>
                <a:latin typeface="Consolas"/>
              </a:rPr>
              <a:t>    }</a:t>
            </a:r>
          </a:p>
          <a:p>
            <a:pPr>
              <a:lnSpc>
                <a:spcPct val="100000"/>
              </a:lnSpc>
            </a:pPr>
            <a:r>
              <a:rPr sz="1600" b="0" i="0">
                <a:solidFill>
                  <a:srgbClr val="1F2A37"/>
                </a:solidFill>
                <a:latin typeface="Consolas"/>
              </a:rPr>
              <a:t/>
            </a:r>
          </a:p>
          <a:p>
            <a:pPr>
              <a:lnSpc>
                <a:spcPct val="100000"/>
              </a:lnSpc>
            </a:pPr>
            <a:r>
              <a:rPr sz="1600" b="0" i="0">
                <a:solidFill>
                  <a:srgbClr val="1F2A37"/>
                </a:solidFill>
                <a:latin typeface="Consolas"/>
              </a:rPr>
              <a:t>    @Override</a:t>
            </a:r>
          </a:p>
          <a:p>
            <a:pPr>
              <a:lnSpc>
                <a:spcPct val="100000"/>
              </a:lnSpc>
            </a:pPr>
            <a:r>
              <a:rPr sz="1600" b="0" i="0">
                <a:solidFill>
                  <a:srgbClr val="1F2A37"/>
                </a:solidFill>
                <a:latin typeface="Consolas"/>
              </a:rPr>
              <a:t>    public int abwehr() {</a:t>
            </a:r>
          </a:p>
          <a:p>
            <a:pPr>
              <a:lnSpc>
                <a:spcPct val="100000"/>
              </a:lnSpc>
            </a:pPr>
            <a:r>
              <a:rPr sz="1600" b="0" i="0">
                <a:solidFill>
                  <a:srgbClr val="1F2A37"/>
                </a:solidFill>
                <a:latin typeface="Consolas"/>
              </a:rPr>
              <a:t>        return super.abwehr() + schild;</a:t>
            </a:r>
          </a:p>
          <a:p>
            <a:pPr>
              <a:lnSpc>
                <a:spcPct val="100000"/>
              </a:lnSpc>
            </a:pPr>
            <a:r>
              <a:rPr sz="1600" b="0" i="0">
                <a:solidFill>
                  <a:srgbClr val="1F2A37"/>
                </a:solidFill>
                <a:latin typeface="Consolas"/>
              </a:rPr>
              <a:t>    }</a:t>
            </a:r>
          </a:p>
          <a:p>
            <a:pPr>
              <a:lnSpc>
                <a:spcPct val="100000"/>
              </a:lnSpc>
            </a:pPr>
            <a:r>
              <a:rPr sz="1600" b="0" i="0">
                <a:solidFill>
                  <a:srgbClr val="1F2A37"/>
                </a:solidFill>
                <a:latin typeface="Consolas"/>
              </a:rPr>
              <a:t>}</a:t>
            </a:r>
          </a:p>
        </p:txBody>
      </p:sp>
      <p:sp>
        <p:nvSpPr>
          <p:cNvPr id="7" name="TextBox 6"/>
          <p:cNvSpPr txBox="1"/>
          <p:nvPr/>
        </p:nvSpPr>
        <p:spPr>
          <a:xfrm>
            <a:off x="548640" y="5269992"/>
            <a:ext cx="7772400" cy="1085087"/>
          </a:xfrm>
          <a:prstGeom prst="rect">
            <a:avLst/>
          </a:prstGeom>
          <a:noFill/>
        </p:spPr>
        <p:txBody>
          <a:bodyPr wrap="square" anchor="t" lIns="45720" rIns="45720">
            <a:spAutoFit/>
          </a:bodyPr>
          <a:lstStyle/>
          <a:p>
            <a:pPr>
              <a:spcAft>
                <a:spcPts val="1000"/>
              </a:spcAft>
            </a:pPr>
            <a:r>
              <a:rPr sz="2000" b="1" i="0">
                <a:solidFill>
                  <a:srgbClr val="B8860B"/>
                </a:solidFill>
                <a:latin typeface="Calibri"/>
              </a:rPr>
              <a:t>▸ </a:t>
            </a:r>
            <a:r>
              <a:rPr sz="1900" b="0" i="0">
                <a:solidFill>
                  <a:srgbClr val="1F4E79"/>
                </a:solidFill>
                <a:latin typeface="Consolas"/>
              </a:rPr>
              <a:t>super(…)</a:t>
            </a:r>
            <a:r>
              <a:rPr sz="2000" b="0" i="0">
                <a:solidFill>
                  <a:srgbClr val="1F2A37"/>
                </a:solidFill>
                <a:latin typeface="Calibri"/>
              </a:rPr>
              <a:t>: Konstruktor der Oberklasse – </a:t>
            </a:r>
            <a:r>
              <a:rPr sz="2000" b="1" i="0">
                <a:solidFill>
                  <a:srgbClr val="1F2A37"/>
                </a:solidFill>
                <a:latin typeface="Calibri"/>
              </a:rPr>
              <a:t>erste</a:t>
            </a:r>
            <a:r>
              <a:rPr sz="2000" b="0" i="0">
                <a:solidFill>
                  <a:srgbClr val="1F2A37"/>
                </a:solidFill>
                <a:latin typeface="Calibri"/>
              </a:rPr>
              <a:t> Anweisung</a:t>
            </a:r>
            <a:r>
              <a:rPr sz="2000" b="0" i="0">
                <a:solidFill>
                  <a:srgbClr val="1F2A37"/>
                </a:solidFill>
                <a:latin typeface="Calibri"/>
              </a:rPr>
              <a:t/>
            </a:r>
          </a:p>
          <a:p>
            <a:pPr>
              <a:spcAft>
                <a:spcPts val="1000"/>
              </a:spcAft>
            </a:pPr>
            <a:r>
              <a:rPr sz="2000" b="1" i="0">
                <a:solidFill>
                  <a:srgbClr val="B8860B"/>
                </a:solidFill>
                <a:latin typeface="Calibri"/>
              </a:rPr>
              <a:t>▸ </a:t>
            </a:r>
            <a:r>
              <a:rPr sz="1900" b="0" i="0">
                <a:solidFill>
                  <a:srgbClr val="1F4E79"/>
                </a:solidFill>
                <a:latin typeface="Consolas"/>
              </a:rPr>
              <a:t>super.abwehr()</a:t>
            </a:r>
            <a:r>
              <a:rPr sz="2000" b="0" i="0">
                <a:solidFill>
                  <a:srgbClr val="1F2A37"/>
                </a:solidFill>
                <a:latin typeface="Calibri"/>
              </a:rPr>
              <a:t>: die geerbte Version aufrufen</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3: Klassen, Objekte und Vererbung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A05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Vererbung im Klassendiagramm</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kd_vererbung.png"/>
          <p:cNvPicPr>
            <a:picLocks noChangeAspect="1"/>
          </p:cNvPicPr>
          <p:nvPr/>
        </p:nvPicPr>
        <p:blipFill>
          <a:blip r:embed="rId2"/>
          <a:stretch>
            <a:fillRect/>
          </a:stretch>
        </p:blipFill>
        <p:spPr>
          <a:xfrm>
            <a:off x="548640" y="1417320"/>
            <a:ext cx="5047786" cy="4892040"/>
          </a:xfrm>
          <a:prstGeom prst="rect">
            <a:avLst/>
          </a:prstGeom>
        </p:spPr>
      </p:pic>
      <p:sp>
        <p:nvSpPr>
          <p:cNvPr id="6" name="Rounded Rectangle 5"/>
          <p:cNvSpPr/>
          <p:nvPr/>
        </p:nvSpPr>
        <p:spPr>
          <a:xfrm>
            <a:off x="6766560" y="1325880"/>
            <a:ext cx="487649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0" y="1463039"/>
            <a:ext cx="4510735" cy="2377439"/>
          </a:xfrm>
          <a:prstGeom prst="rect">
            <a:avLst/>
          </a:prstGeom>
          <a:noFill/>
        </p:spPr>
        <p:txBody>
          <a:bodyPr wrap="square" anchor="t" lIns="45720" rIns="45720">
            <a:spAutoFit/>
          </a:bodyPr>
          <a:lstStyle/>
          <a:p>
            <a:pPr>
              <a:spcAft>
                <a:spcPts val="800"/>
              </a:spcAft>
            </a:pPr>
            <a:r>
              <a:rPr sz="2000" b="1" i="0">
                <a:solidFill>
                  <a:srgbClr val="1F4E79"/>
                </a:solidFill>
                <a:latin typeface="Calibri"/>
              </a:rPr>
              <a:t>So zeichnest du sie</a:t>
            </a:r>
            <a:r>
              <a:rPr sz="1800" b="0" i="0">
                <a:solidFill>
                  <a:srgbClr val="1F2A37"/>
                </a:solidFill>
                <a:latin typeface="Calibri"/>
              </a:rPr>
              <a:t/>
            </a:r>
          </a:p>
          <a:p>
            <a:pPr>
              <a:spcAft>
                <a:spcPts val="600"/>
              </a:spcAft>
            </a:pPr>
            <a:r>
              <a:rPr sz="1800" b="0" i="0">
                <a:solidFill>
                  <a:srgbClr val="1F2A37"/>
                </a:solidFill>
                <a:latin typeface="Calibri"/>
              </a:rPr>
              <a:t>Pfeil mit </a:t>
            </a:r>
            <a:r>
              <a:rPr sz="1800" b="1" i="0">
                <a:solidFill>
                  <a:srgbClr val="1F2A37"/>
                </a:solidFill>
                <a:latin typeface="Calibri"/>
              </a:rPr>
              <a:t>hohler Dreiecksspitze</a:t>
            </a:r>
            <a:r>
              <a:rPr sz="1800" b="0" i="0">
                <a:solidFill>
                  <a:srgbClr val="1F2A37"/>
                </a:solidFill>
                <a:latin typeface="Calibri"/>
              </a:rPr>
              <a:t> zur Oberklasse</a:t>
            </a:r>
            <a:r>
              <a:rPr sz="1800" b="0" i="0">
                <a:solidFill>
                  <a:srgbClr val="1F2A37"/>
                </a:solidFill>
                <a:latin typeface="Calibri"/>
              </a:rPr>
              <a:t/>
            </a:r>
          </a:p>
          <a:p>
            <a:pPr>
              <a:spcAft>
                <a:spcPts val="600"/>
              </a:spcAft>
            </a:pPr>
            <a:r>
              <a:rPr sz="1800" b="0" i="0">
                <a:solidFill>
                  <a:srgbClr val="1F2A37"/>
                </a:solidFill>
                <a:latin typeface="Calibri"/>
              </a:rPr>
              <a:t>Unterklasse zeigt nur </a:t>
            </a:r>
            <a:r>
              <a:rPr sz="1800" b="1" i="0">
                <a:solidFill>
                  <a:srgbClr val="1F2A37"/>
                </a:solidFill>
                <a:latin typeface="Calibri"/>
              </a:rPr>
              <a:t>Neues</a:t>
            </a:r>
            <a:r>
              <a:rPr sz="1800" b="0" i="0">
                <a:solidFill>
                  <a:srgbClr val="1F2A37"/>
                </a:solidFill>
                <a:latin typeface="Calibri"/>
              </a:rPr>
              <a:t> und </a:t>
            </a:r>
            <a:r>
              <a:rPr sz="1800" b="1" i="0">
                <a:solidFill>
                  <a:srgbClr val="1F2A37"/>
                </a:solidFill>
                <a:latin typeface="Calibri"/>
              </a:rPr>
              <a:t>Überschriebenes</a:t>
            </a:r>
            <a:r>
              <a:rPr sz="1800" b="0" i="0">
                <a:solidFill>
                  <a:srgbClr val="1F2A37"/>
                </a:solidFill>
                <a:latin typeface="Calibri"/>
              </a:rPr>
              <a:t/>
            </a:r>
          </a:p>
          <a:p>
            <a:pPr>
              <a:spcAft>
                <a:spcPts val="600"/>
              </a:spcAft>
            </a:pPr>
            <a:r>
              <a:rPr sz="1700" b="0" i="0">
                <a:solidFill>
                  <a:srgbClr val="1F4E79"/>
                </a:solidFill>
                <a:latin typeface="Consolas"/>
              </a:rPr>
              <a:t>abwehr()</a:t>
            </a:r>
            <a:r>
              <a:rPr sz="1800" b="0" i="0">
                <a:solidFill>
                  <a:srgbClr val="1F2A37"/>
                </a:solidFill>
                <a:latin typeface="Calibri"/>
              </a:rPr>
              <a:t> in beiden Karten: überschrieben</a:t>
            </a:r>
            <a:r>
              <a:rPr sz="18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3: Klassen, Objekte und Vererbung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A05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Welche Methode läuft?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7772400" cy="1737360"/>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7589520" cy="1645920"/>
          </a:xfrm>
          <a:prstGeom prst="rect">
            <a:avLst/>
          </a:prstGeom>
          <a:noFill/>
        </p:spPr>
        <p:txBody>
          <a:bodyPr wrap="square" anchor="t" lIns="45720" rIns="45720">
            <a:spAutoFit/>
          </a:bodyPr>
          <a:lstStyle/>
          <a:p>
            <a:pPr>
              <a:lnSpc>
                <a:spcPct val="100000"/>
              </a:lnSpc>
            </a:pPr>
            <a:r>
              <a:rPr sz="1800" b="0" i="0">
                <a:solidFill>
                  <a:srgbClr val="A0A7B1"/>
                </a:solidFill>
                <a:latin typeface="Consolas"/>
              </a:rPr>
              <a:t>1  </a:t>
            </a:r>
            <a:r>
              <a:rPr sz="1800" b="0" i="0">
                <a:solidFill>
                  <a:srgbClr val="1F2A37"/>
                </a:solidFill>
                <a:latin typeface="Consolas"/>
              </a:rPr>
              <a:t>Waechter w = new Hauptmann("Elra", 6, 5);</a:t>
            </a:r>
          </a:p>
          <a:p>
            <a:pPr>
              <a:lnSpc>
                <a:spcPct val="100000"/>
              </a:lnSpc>
            </a:pPr>
            <a:r>
              <a:rPr sz="1800" b="0" i="0">
                <a:solidFill>
                  <a:srgbClr val="A0A7B1"/>
                </a:solidFill>
                <a:latin typeface="Consolas"/>
              </a:rPr>
              <a:t>2  </a:t>
            </a:r>
            <a:r>
              <a:rPr sz="1800" b="0" i="0">
                <a:solidFill>
                  <a:srgbClr val="1F2A37"/>
                </a:solidFill>
                <a:latin typeface="Consolas"/>
              </a:rPr>
              <a:t>println(w.abwehr());   </a:t>
            </a:r>
            <a:r>
              <a:rPr sz="1800" b="0" i="0">
                <a:solidFill>
                  <a:srgbClr val="5F7F5F"/>
                </a:solidFill>
                <a:latin typeface="Consolas"/>
              </a:rPr>
              <a:t> // 11</a:t>
            </a:r>
          </a:p>
          <a:p>
            <a:pPr>
              <a:lnSpc>
                <a:spcPct val="100000"/>
              </a:lnSpc>
            </a:pPr>
            <a:r>
              <a:rPr sz="1800" b="0" i="0">
                <a:solidFill>
                  <a:srgbClr val="A0A7B1"/>
                </a:solidFill>
                <a:latin typeface="Consolas"/>
              </a:rPr>
              <a:t>3  </a:t>
            </a:r>
            <a:r>
              <a:rPr sz="1800" b="0" i="0">
                <a:solidFill>
                  <a:srgbClr val="1F2A37"/>
                </a:solidFill>
                <a:latin typeface="Consolas"/>
              </a:rPr>
              <a:t>println(w.getName());  </a:t>
            </a:r>
            <a:r>
              <a:rPr sz="1800" b="0" i="0">
                <a:solidFill>
                  <a:srgbClr val="5F7F5F"/>
                </a:solidFill>
                <a:latin typeface="Consolas"/>
              </a:rPr>
              <a:t> // Elra</a:t>
            </a:r>
          </a:p>
          <a:p>
            <a:pPr>
              <a:lnSpc>
                <a:spcPct val="100000"/>
              </a:lnSpc>
            </a:pPr>
            <a:r>
              <a:rPr sz="1800" b="0" i="0">
                <a:solidFill>
                  <a:srgbClr val="A0A7B1"/>
                </a:solidFill>
                <a:latin typeface="Consolas"/>
              </a:rPr>
              <a:t>4  </a:t>
            </a:r>
            <a:r>
              <a:rPr sz="1800" b="0" i="0">
                <a:solidFill>
                  <a:srgbClr val="1F2A37"/>
                </a:solidFill>
                <a:latin typeface="Consolas"/>
              </a:rPr>
              <a:t/>
            </a:r>
          </a:p>
          <a:p>
            <a:pPr>
              <a:lnSpc>
                <a:spcPct val="100000"/>
              </a:lnSpc>
            </a:pPr>
            <a:r>
              <a:rPr sz="1800" b="0" i="0">
                <a:solidFill>
                  <a:srgbClr val="A0A7B1"/>
                </a:solidFill>
                <a:latin typeface="Consolas"/>
              </a:rPr>
              <a:t>5  </a:t>
            </a:r>
            <a:r>
              <a:rPr sz="1800" b="1" i="0">
                <a:solidFill>
                  <a:srgbClr val="C00000"/>
                </a:solidFill>
                <a:latin typeface="Consolas"/>
              </a:rPr>
              <a:t>Hauptmann h = new Waechter("Brom", 6); </a:t>
            </a:r>
            <a:r>
              <a:rPr sz="1800" b="0" i="0">
                <a:solidFill>
                  <a:srgbClr val="5F7F5F"/>
                </a:solidFill>
                <a:latin typeface="Consolas"/>
              </a:rPr>
              <a:t> // Fehler!</a:t>
            </a:r>
          </a:p>
        </p:txBody>
      </p:sp>
      <p:sp>
        <p:nvSpPr>
          <p:cNvPr id="7" name="TextBox 6"/>
          <p:cNvSpPr txBox="1"/>
          <p:nvPr/>
        </p:nvSpPr>
        <p:spPr>
          <a:xfrm>
            <a:off x="548640" y="3291840"/>
            <a:ext cx="7772400" cy="3063239"/>
          </a:xfrm>
          <a:prstGeom prst="rect">
            <a:avLst/>
          </a:prstGeom>
          <a:noFill/>
        </p:spPr>
        <p:txBody>
          <a:bodyPr wrap="square" anchor="t" lIns="45720" rIns="45720">
            <a:spAutoFit/>
          </a:bodyPr>
          <a:lstStyle/>
          <a:p>
            <a:pPr>
              <a:spcAft>
                <a:spcPts val="1000"/>
              </a:spcAft>
            </a:pPr>
            <a:r>
              <a:rPr sz="2000" b="1" i="0">
                <a:solidFill>
                  <a:srgbClr val="B8860B"/>
                </a:solidFill>
                <a:latin typeface="Calibri"/>
              </a:rPr>
              <a:t>▸ </a:t>
            </a:r>
            <a:r>
              <a:rPr sz="2000" b="1" i="0">
                <a:solidFill>
                  <a:srgbClr val="1F2A37"/>
                </a:solidFill>
                <a:latin typeface="Calibri"/>
              </a:rPr>
              <a:t>Typ der Variablen</a:t>
            </a:r>
            <a:r>
              <a:rPr sz="2000" b="0" i="0">
                <a:solidFill>
                  <a:srgbClr val="1F2A37"/>
                </a:solidFill>
                <a:latin typeface="Calibri"/>
              </a:rPr>
              <a:t> bestimmt, was aufgerufen werden </a:t>
            </a:r>
            <a:r>
              <a:rPr sz="2000" b="1" i="0">
                <a:solidFill>
                  <a:srgbClr val="1F2A37"/>
                </a:solidFill>
                <a:latin typeface="Calibri"/>
              </a:rPr>
              <a:t>darf</a:t>
            </a:r>
            <a:r>
              <a:rPr sz="2000" b="0" i="0">
                <a:solidFill>
                  <a:srgbClr val="1F2A37"/>
                </a:solidFill>
                <a:latin typeface="Calibri"/>
              </a:rPr>
              <a:t/>
            </a:r>
          </a:p>
          <a:p>
            <a:pPr>
              <a:spcAft>
                <a:spcPts val="1000"/>
              </a:spcAft>
            </a:pPr>
            <a:r>
              <a:rPr sz="2000" b="1" i="0">
                <a:solidFill>
                  <a:srgbClr val="B8860B"/>
                </a:solidFill>
                <a:latin typeface="Calibri"/>
              </a:rPr>
              <a:t>▸ </a:t>
            </a:r>
            <a:r>
              <a:rPr sz="2000" b="1" i="0">
                <a:solidFill>
                  <a:srgbClr val="1F2A37"/>
                </a:solidFill>
                <a:latin typeface="Calibri"/>
              </a:rPr>
              <a:t>Typ des Objekts</a:t>
            </a:r>
            <a:r>
              <a:rPr sz="2000" b="0" i="0">
                <a:solidFill>
                  <a:srgbClr val="1F2A37"/>
                </a:solidFill>
                <a:latin typeface="Calibri"/>
              </a:rPr>
              <a:t> bestimmt, </a:t>
            </a:r>
            <a:r>
              <a:rPr sz="2000" b="1" i="0">
                <a:solidFill>
                  <a:srgbClr val="1F2A37"/>
                </a:solidFill>
                <a:latin typeface="Calibri"/>
              </a:rPr>
              <a:t>welche Version läuft</a:t>
            </a:r>
            <a:r>
              <a:rPr sz="2000" b="0" i="0">
                <a:solidFill>
                  <a:srgbClr val="1F2A37"/>
                </a:solidFill>
                <a:latin typeface="Calibri"/>
              </a:rPr>
              <a:t/>
            </a:r>
          </a:p>
          <a:p>
            <a:pPr>
              <a:spcAft>
                <a:spcPts val="1000"/>
              </a:spcAft>
            </a:pPr>
            <a:r>
              <a:rPr sz="2000" b="1" i="0">
                <a:solidFill>
                  <a:srgbClr val="B8860B"/>
                </a:solidFill>
                <a:latin typeface="Calibri"/>
              </a:rPr>
              <a:t>▸ </a:t>
            </a:r>
            <a:r>
              <a:rPr sz="2000" b="0" i="0">
                <a:solidFill>
                  <a:srgbClr val="1F2A37"/>
                </a:solidFill>
                <a:latin typeface="Calibri"/>
              </a:rPr>
              <a:t>Ein Hauptmann ist ein Waechter – </a:t>
            </a:r>
            <a:r>
              <a:rPr sz="2000" b="1" i="0">
                <a:solidFill>
                  <a:srgbClr val="1F2A37"/>
                </a:solidFill>
                <a:latin typeface="Calibri"/>
              </a:rPr>
              <a:t>nicht umgekehrt</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3: Klassen, Objekte und Vererbung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A05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Kurz pausieren: Jetzt du!</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63039"/>
            <a:ext cx="3017520" cy="548640"/>
          </a:xfrm>
          <a:prstGeom prst="roundRect">
            <a:avLst>
              <a:gd name="adj" fmla="val 8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FFFFFF"/>
                </a:solidFill>
                <a:latin typeface="Calibri"/>
              </a:rPr>
              <a:t>⏸  Video anhalten</a:t>
            </a:r>
          </a:p>
        </p:txBody>
      </p:sp>
      <p:sp>
        <p:nvSpPr>
          <p:cNvPr id="6" name="TextBox 5"/>
          <p:cNvSpPr txBox="1"/>
          <p:nvPr/>
        </p:nvSpPr>
        <p:spPr>
          <a:xfrm>
            <a:off x="548640" y="2240280"/>
            <a:ext cx="6675120" cy="1161288"/>
          </a:xfrm>
          <a:prstGeom prst="rect">
            <a:avLst/>
          </a:prstGeom>
          <a:noFill/>
        </p:spPr>
        <p:txBody>
          <a:bodyPr wrap="square" anchor="t" lIns="45720" rIns="45720">
            <a:spAutoFit/>
          </a:bodyPr>
          <a:lstStyle/>
          <a:p>
            <a:r>
              <a:rPr sz="2400" b="0" i="0">
                <a:solidFill>
                  <a:srgbClr val="1F2A37"/>
                </a:solidFill>
                <a:latin typeface="Calibri"/>
              </a:rPr>
              <a:t>Gib die </a:t>
            </a:r>
            <a:r>
              <a:rPr sz="2400" b="1" i="0">
                <a:solidFill>
                  <a:srgbClr val="1F2A37"/>
                </a:solidFill>
                <a:latin typeface="Calibri"/>
              </a:rPr>
              <a:t>drei Ausgaben</a:t>
            </a:r>
            <a:r>
              <a:rPr sz="2400" b="0" i="0">
                <a:solidFill>
                  <a:srgbClr val="1F2A37"/>
                </a:solidFill>
                <a:latin typeface="Calibri"/>
              </a:rPr>
              <a:t> des Programms an. Zeichne dazu die Objekte und die Pfeile der Referenzen.</a:t>
            </a:r>
          </a:p>
        </p:txBody>
      </p:sp>
      <p:sp>
        <p:nvSpPr>
          <p:cNvPr id="7" name="Rectangle 6"/>
          <p:cNvSpPr/>
          <p:nvPr/>
        </p:nvSpPr>
        <p:spPr>
          <a:xfrm>
            <a:off x="548640" y="3538728"/>
            <a:ext cx="6675120" cy="2340864"/>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611880"/>
            <a:ext cx="6492240" cy="2249424"/>
          </a:xfrm>
          <a:prstGeom prst="rect">
            <a:avLst/>
          </a:prstGeom>
          <a:noFill/>
        </p:spPr>
        <p:txBody>
          <a:bodyPr wrap="square" anchor="t" lIns="45720" rIns="45720">
            <a:spAutoFit/>
          </a:bodyPr>
          <a:lstStyle/>
          <a:p>
            <a:pPr>
              <a:lnSpc>
                <a:spcPct val="100000"/>
              </a:lnSpc>
            </a:pPr>
            <a:r>
              <a:rPr sz="1800" b="0" i="0">
                <a:solidFill>
                  <a:srgbClr val="A0A7B1"/>
                </a:solidFill>
                <a:latin typeface="Consolas"/>
              </a:rPr>
              <a:t>1  </a:t>
            </a:r>
            <a:r>
              <a:rPr sz="1800" b="0" i="0">
                <a:solidFill>
                  <a:srgbClr val="1F2A37"/>
                </a:solidFill>
                <a:latin typeface="Consolas"/>
              </a:rPr>
              <a:t>Waechter p = new Waechter("Brom", 6);</a:t>
            </a:r>
          </a:p>
          <a:p>
            <a:pPr>
              <a:lnSpc>
                <a:spcPct val="100000"/>
              </a:lnSpc>
            </a:pPr>
            <a:r>
              <a:rPr sz="1800" b="0" i="0">
                <a:solidFill>
                  <a:srgbClr val="A0A7B1"/>
                </a:solidFill>
                <a:latin typeface="Consolas"/>
              </a:rPr>
              <a:t>2  </a:t>
            </a:r>
            <a:r>
              <a:rPr sz="1800" b="0" i="0">
                <a:solidFill>
                  <a:srgbClr val="1F2A37"/>
                </a:solidFill>
                <a:latin typeface="Consolas"/>
              </a:rPr>
              <a:t>Waechter q = new Hauptmann("Kael", 4, 3);</a:t>
            </a:r>
          </a:p>
          <a:p>
            <a:pPr>
              <a:lnSpc>
                <a:spcPct val="100000"/>
              </a:lnSpc>
            </a:pPr>
            <a:r>
              <a:rPr sz="1800" b="0" i="0">
                <a:solidFill>
                  <a:srgbClr val="A0A7B1"/>
                </a:solidFill>
                <a:latin typeface="Consolas"/>
              </a:rPr>
              <a:t>3  </a:t>
            </a:r>
            <a:r>
              <a:rPr sz="1800" b="0" i="0">
                <a:solidFill>
                  <a:srgbClr val="1F2A37"/>
                </a:solidFill>
                <a:latin typeface="Consolas"/>
              </a:rPr>
              <a:t>Waechter r = q;</a:t>
            </a:r>
          </a:p>
          <a:p>
            <a:pPr>
              <a:lnSpc>
                <a:spcPct val="100000"/>
              </a:lnSpc>
            </a:pPr>
            <a:r>
              <a:rPr sz="1800" b="0" i="0">
                <a:solidFill>
                  <a:srgbClr val="A0A7B1"/>
                </a:solidFill>
                <a:latin typeface="Consolas"/>
              </a:rPr>
              <a:t>4  </a:t>
            </a:r>
            <a:r>
              <a:rPr sz="1800" b="0" i="0">
                <a:solidFill>
                  <a:srgbClr val="1F2A37"/>
                </a:solidFill>
                <a:latin typeface="Consolas"/>
              </a:rPr>
              <a:t>r.verstaerken(2);</a:t>
            </a:r>
          </a:p>
          <a:p>
            <a:pPr>
              <a:lnSpc>
                <a:spcPct val="100000"/>
              </a:lnSpc>
            </a:pPr>
            <a:r>
              <a:rPr sz="1800" b="0" i="0">
                <a:solidFill>
                  <a:srgbClr val="A0A7B1"/>
                </a:solidFill>
                <a:latin typeface="Consolas"/>
              </a:rPr>
              <a:t>5  </a:t>
            </a:r>
            <a:r>
              <a:rPr sz="1800" b="0" i="0">
                <a:solidFill>
                  <a:srgbClr val="1F2A37"/>
                </a:solidFill>
                <a:latin typeface="Consolas"/>
              </a:rPr>
              <a:t>println(p.abwehr());</a:t>
            </a:r>
          </a:p>
          <a:p>
            <a:pPr>
              <a:lnSpc>
                <a:spcPct val="100000"/>
              </a:lnSpc>
            </a:pPr>
            <a:r>
              <a:rPr sz="1800" b="0" i="0">
                <a:solidFill>
                  <a:srgbClr val="A0A7B1"/>
                </a:solidFill>
                <a:latin typeface="Consolas"/>
              </a:rPr>
              <a:t>6  </a:t>
            </a:r>
            <a:r>
              <a:rPr sz="1800" b="0" i="0">
                <a:solidFill>
                  <a:srgbClr val="1F2A37"/>
                </a:solidFill>
                <a:latin typeface="Consolas"/>
              </a:rPr>
              <a:t>println(q.abwehr());</a:t>
            </a:r>
          </a:p>
          <a:p>
            <a:pPr>
              <a:lnSpc>
                <a:spcPct val="100000"/>
              </a:lnSpc>
            </a:pPr>
            <a:r>
              <a:rPr sz="1800" b="0" i="0">
                <a:solidFill>
                  <a:srgbClr val="A0A7B1"/>
                </a:solidFill>
                <a:latin typeface="Consolas"/>
              </a:rPr>
              <a:t>7  </a:t>
            </a:r>
            <a:r>
              <a:rPr sz="1800" b="0" i="0">
                <a:solidFill>
                  <a:srgbClr val="1F2A37"/>
                </a:solidFill>
                <a:latin typeface="Consolas"/>
              </a:rPr>
              <a:t>println(r.abwehr());</a:t>
            </a:r>
          </a:p>
        </p:txBody>
      </p:sp>
      <p:sp>
        <p:nvSpPr>
          <p:cNvPr id="9" name="Rounded Rectangle 8"/>
          <p:cNvSpPr/>
          <p:nvPr/>
        </p:nvSpPr>
        <p:spPr>
          <a:xfrm>
            <a:off x="7498079" y="1325880"/>
            <a:ext cx="414497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Tipp</a:t>
            </a:r>
            <a:r>
              <a:rPr sz="2000" b="0" i="0">
                <a:solidFill>
                  <a:srgbClr val="1F2A37"/>
                </a:solidFill>
                <a:latin typeface="Calibri"/>
              </a:rPr>
              <a:t/>
            </a:r>
          </a:p>
          <a:p>
            <a:pPr>
              <a:spcAft>
                <a:spcPts val="600"/>
              </a:spcAft>
            </a:pPr>
            <a:r>
              <a:rPr sz="2000" b="0" i="0">
                <a:solidFill>
                  <a:srgbClr val="1F2A37"/>
                </a:solidFill>
                <a:latin typeface="Calibri"/>
              </a:rPr>
              <a:t>Wie viele Objekte gibt es?</a:t>
            </a:r>
            <a:r>
              <a:rPr sz="2000" b="0" i="0">
                <a:solidFill>
                  <a:srgbClr val="1F2A37"/>
                </a:solidFill>
                <a:latin typeface="Calibri"/>
              </a:rPr>
              <a:t/>
            </a:r>
          </a:p>
          <a:p>
            <a:pPr>
              <a:spcAft>
                <a:spcPts val="600"/>
              </a:spcAft>
            </a:pPr>
            <a:r>
              <a:rPr sz="2000" b="0" i="0">
                <a:solidFill>
                  <a:srgbClr val="1F2A37"/>
                </a:solidFill>
                <a:latin typeface="Calibri"/>
              </a:rPr>
              <a:t>Welche Version von </a:t>
            </a:r>
            <a:r>
              <a:rPr sz="1900" b="0" i="0">
                <a:solidFill>
                  <a:srgbClr val="1F4E79"/>
                </a:solidFill>
                <a:latin typeface="Consolas"/>
              </a:rPr>
              <a:t>abwehr()</a:t>
            </a:r>
            <a:r>
              <a:rPr sz="2000" b="0" i="0">
                <a:solidFill>
                  <a:srgbClr val="1F2A37"/>
                </a:solidFill>
                <a:latin typeface="Calibri"/>
              </a:rPr>
              <a:t> läuft jeweils?</a:t>
            </a:r>
            <a:r>
              <a:rPr sz="2000" b="0" i="0">
                <a:solidFill>
                  <a:srgbClr val="1F2A37"/>
                </a:solidFill>
                <a:latin typeface="Calibri"/>
              </a:rPr>
              <a:t/>
            </a:r>
          </a:p>
        </p:txBody>
      </p:sp>
      <p:sp>
        <p:nvSpPr>
          <p:cNvPr id="11" name="TextBox 10"/>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3: Klassen, Objekte und Vererbung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A05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Auflösung</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6035039" cy="1930400"/>
        </p:xfrm>
        <a:graphic>
          <a:graphicData uri="http://schemas.openxmlformats.org/drawingml/2006/table">
            <a:tbl>
              <a:tblPr firstRow="1" bandRow="1">
                <a:tableStyleId>{5C22544A-7EE6-4342-B048-85BDC9FD1C3A}</a:tableStyleId>
              </a:tblPr>
              <a:tblGrid>
                <a:gridCol w="4526279"/>
                <a:gridCol w="1508760"/>
              </a:tblGrid>
              <a:tr h="482600">
                <a:tc>
                  <a:txBody>
                    <a:bodyPr/>
                    <a:lstStyle/>
                    <a:p>
                      <a:pPr algn="ctr"/>
                      <a:r>
                        <a:rPr sz="2000" b="1">
                          <a:solidFill>
                            <a:srgbClr val="FFFFFF"/>
                          </a:solidFill>
                          <a:latin typeface="Calibri"/>
                        </a:rPr>
                        <a:t>Anweisung</a:t>
                      </a:r>
                    </a:p>
                  </a:txBody>
                  <a:tcPr marL="54864" marR="54864" marT="18288" marB="18288" anchor="ctr">
                    <a:solidFill>
                      <a:srgbClr val="1F4E79"/>
                    </a:solidFill>
                  </a:tcPr>
                </a:tc>
                <a:tc>
                  <a:txBody>
                    <a:bodyPr/>
                    <a:lstStyle/>
                    <a:p>
                      <a:pPr algn="ctr"/>
                      <a:r>
                        <a:rPr sz="2000" b="1">
                          <a:solidFill>
                            <a:srgbClr val="FFFFFF"/>
                          </a:solidFill>
                          <a:latin typeface="Calibri"/>
                        </a:rPr>
                        <a:t>Ausgabe</a:t>
                      </a:r>
                    </a:p>
                  </a:txBody>
                  <a:tcPr marL="54864" marR="54864" marT="18288" marB="18288" anchor="ctr">
                    <a:solidFill>
                      <a:srgbClr val="1F4E79"/>
                    </a:solidFill>
                  </a:tcPr>
                </a:tc>
              </a:tr>
              <a:tr h="482600">
                <a:tc>
                  <a:txBody>
                    <a:bodyPr/>
                    <a:lstStyle/>
                    <a:p>
                      <a:pPr algn="ctr"/>
                      <a:r>
                        <a:rPr sz="2000" b="0">
                          <a:solidFill>
                            <a:srgbClr val="1F2A37"/>
                          </a:solidFill>
                          <a:latin typeface="Consolas"/>
                        </a:rPr>
                        <a:t>println(p.abwehr());</a:t>
                      </a:r>
                    </a:p>
                  </a:txBody>
                  <a:tcPr marL="54864" marR="54864" marT="18288" marB="18288" anchor="ctr">
                    <a:solidFill>
                      <a:srgbClr val="FFFFFF"/>
                    </a:solidFill>
                  </a:tcPr>
                </a:tc>
                <a:tc>
                  <a:txBody>
                    <a:bodyPr/>
                    <a:lstStyle/>
                    <a:p>
                      <a:pPr algn="ctr"/>
                      <a:r>
                        <a:rPr sz="2000" b="0">
                          <a:solidFill>
                            <a:srgbClr val="1F2A37"/>
                          </a:solidFill>
                          <a:latin typeface="Consolas"/>
                        </a:rPr>
                        <a:t>6</a:t>
                      </a:r>
                    </a:p>
                  </a:txBody>
                  <a:tcPr marL="54864" marR="54864" marT="18288" marB="18288" anchor="ctr">
                    <a:solidFill>
                      <a:srgbClr val="FFFFFF"/>
                    </a:solidFill>
                  </a:tcPr>
                </a:tc>
              </a:tr>
              <a:tr h="482600">
                <a:tc>
                  <a:txBody>
                    <a:bodyPr/>
                    <a:lstStyle/>
                    <a:p>
                      <a:pPr algn="ctr"/>
                      <a:r>
                        <a:rPr sz="2000" b="0">
                          <a:solidFill>
                            <a:srgbClr val="1F2A37"/>
                          </a:solidFill>
                          <a:latin typeface="Consolas"/>
                        </a:rPr>
                        <a:t>println(q.abwehr());</a:t>
                      </a:r>
                    </a:p>
                  </a:txBody>
                  <a:tcPr marL="54864" marR="54864" marT="18288" marB="18288" anchor="ctr">
                    <a:solidFill>
                      <a:srgbClr val="EEF3FA"/>
                    </a:solidFill>
                  </a:tcPr>
                </a:tc>
                <a:tc>
                  <a:txBody>
                    <a:bodyPr/>
                    <a:lstStyle/>
                    <a:p>
                      <a:pPr algn="ctr"/>
                      <a:r>
                        <a:rPr sz="2000" b="0">
                          <a:solidFill>
                            <a:srgbClr val="1F2A37"/>
                          </a:solidFill>
                          <a:latin typeface="Consolas"/>
                        </a:rPr>
                        <a:t>9</a:t>
                      </a:r>
                    </a:p>
                  </a:txBody>
                  <a:tcPr marL="54864" marR="54864" marT="18288" marB="18288" anchor="ctr">
                    <a:solidFill>
                      <a:srgbClr val="EEF3FA"/>
                    </a:solidFill>
                  </a:tcPr>
                </a:tc>
              </a:tr>
              <a:tr h="482600">
                <a:tc>
                  <a:txBody>
                    <a:bodyPr/>
                    <a:lstStyle/>
                    <a:p>
                      <a:pPr algn="ctr"/>
                      <a:r>
                        <a:rPr sz="2000" b="0">
                          <a:solidFill>
                            <a:srgbClr val="1F2A37"/>
                          </a:solidFill>
                          <a:latin typeface="Consolas"/>
                        </a:rPr>
                        <a:t>println(r.abwehr());</a:t>
                      </a:r>
                    </a:p>
                  </a:txBody>
                  <a:tcPr marL="54864" marR="54864" marT="18288" marB="18288" anchor="ctr">
                    <a:solidFill>
                      <a:srgbClr val="FFFFFF"/>
                    </a:solidFill>
                  </a:tcPr>
                </a:tc>
                <a:tc>
                  <a:txBody>
                    <a:bodyPr/>
                    <a:lstStyle/>
                    <a:p>
                      <a:pPr algn="ctr"/>
                      <a:r>
                        <a:rPr sz="2000" b="0">
                          <a:solidFill>
                            <a:srgbClr val="1F2A37"/>
                          </a:solidFill>
                          <a:latin typeface="Consolas"/>
                        </a:rPr>
                        <a:t>9</a:t>
                      </a:r>
                    </a:p>
                  </a:txBody>
                  <a:tcPr marL="54864" marR="54864" marT="18288" marB="18288" anchor="ctr">
                    <a:solidFill>
                      <a:srgbClr val="FFFFFF"/>
                    </a:solidFill>
                  </a:tcPr>
                </a:tc>
              </a:tr>
            </a:tbl>
          </a:graphicData>
        </a:graphic>
      </p:graphicFrame>
      <p:sp>
        <p:nvSpPr>
          <p:cNvPr id="6" name="Rounded Rectangle 5"/>
          <p:cNvSpPr/>
          <p:nvPr/>
        </p:nvSpPr>
        <p:spPr>
          <a:xfrm>
            <a:off x="6949440" y="1325880"/>
            <a:ext cx="469361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0" y="1463039"/>
            <a:ext cx="4327855" cy="2377439"/>
          </a:xfrm>
          <a:prstGeom prst="rect">
            <a:avLst/>
          </a:prstGeom>
          <a:noFill/>
        </p:spPr>
        <p:txBody>
          <a:bodyPr wrap="square" anchor="t" lIns="45720" rIns="45720">
            <a:spAutoFit/>
          </a:bodyPr>
          <a:lstStyle/>
          <a:p>
            <a:pPr>
              <a:spcAft>
                <a:spcPts val="800"/>
              </a:spcAft>
            </a:pPr>
            <a:r>
              <a:rPr sz="2000" b="1" i="0">
                <a:solidFill>
                  <a:srgbClr val="548235"/>
                </a:solidFill>
                <a:latin typeface="Calibri"/>
              </a:rPr>
              <a:t>Warum?</a:t>
            </a:r>
            <a:r>
              <a:rPr sz="1800" b="0" i="0">
                <a:solidFill>
                  <a:srgbClr val="1F2A37"/>
                </a:solidFill>
                <a:latin typeface="Calibri"/>
              </a:rPr>
              <a:t/>
            </a:r>
          </a:p>
          <a:p>
            <a:pPr>
              <a:spcAft>
                <a:spcPts val="600"/>
              </a:spcAft>
            </a:pPr>
            <a:r>
              <a:rPr sz="1800" b="0" i="0">
                <a:solidFill>
                  <a:srgbClr val="1F2A37"/>
                </a:solidFill>
                <a:latin typeface="Calibri"/>
              </a:rPr>
              <a:t>Nur </a:t>
            </a:r>
            <a:r>
              <a:rPr sz="1800" b="1" i="0">
                <a:solidFill>
                  <a:srgbClr val="1F2A37"/>
                </a:solidFill>
                <a:latin typeface="Calibri"/>
              </a:rPr>
              <a:t>zwei</a:t>
            </a:r>
            <a:r>
              <a:rPr sz="1800" b="0" i="0">
                <a:solidFill>
                  <a:srgbClr val="1F2A37"/>
                </a:solidFill>
                <a:latin typeface="Calibri"/>
              </a:rPr>
              <a:t> Objekte: </a:t>
            </a:r>
            <a:r>
              <a:rPr sz="1700" b="0" i="0">
                <a:solidFill>
                  <a:srgbClr val="1F4E79"/>
                </a:solidFill>
                <a:latin typeface="Consolas"/>
              </a:rPr>
              <a:t>r = q</a:t>
            </a:r>
            <a:r>
              <a:rPr sz="1800" b="0" i="0">
                <a:solidFill>
                  <a:srgbClr val="1F2A37"/>
                </a:solidFill>
                <a:latin typeface="Calibri"/>
              </a:rPr>
              <a:t> kopiert die Referenz.</a:t>
            </a:r>
            <a:r>
              <a:rPr sz="1800" b="0" i="0">
                <a:solidFill>
                  <a:srgbClr val="1F2A37"/>
                </a:solidFill>
                <a:latin typeface="Calibri"/>
              </a:rPr>
              <a:t/>
            </a:r>
          </a:p>
          <a:p>
            <a:pPr>
              <a:spcAft>
                <a:spcPts val="600"/>
              </a:spcAft>
            </a:pPr>
            <a:r>
              <a:rPr sz="1700" b="0" i="0">
                <a:solidFill>
                  <a:srgbClr val="1F4E79"/>
                </a:solidFill>
                <a:latin typeface="Consolas"/>
              </a:rPr>
              <a:t>r.verstaerken(2)</a:t>
            </a:r>
            <a:r>
              <a:rPr sz="1800" b="0" i="0">
                <a:solidFill>
                  <a:srgbClr val="1F2A37"/>
                </a:solidFill>
                <a:latin typeface="Calibri"/>
              </a:rPr>
              <a:t>: Kaels Rüstung 4 → 6</a:t>
            </a:r>
            <a:r>
              <a:rPr sz="1800" b="0" i="0">
                <a:solidFill>
                  <a:srgbClr val="1F2A37"/>
                </a:solidFill>
                <a:latin typeface="Calibri"/>
              </a:rPr>
              <a:t/>
            </a:r>
          </a:p>
          <a:p>
            <a:pPr>
              <a:spcAft>
                <a:spcPts val="600"/>
              </a:spcAft>
            </a:pPr>
            <a:r>
              <a:rPr sz="1800" b="0" i="0">
                <a:solidFill>
                  <a:srgbClr val="1F2A37"/>
                </a:solidFill>
                <a:latin typeface="Calibri"/>
              </a:rPr>
              <a:t>Hauptmann-Version: 6 + 3 = </a:t>
            </a:r>
            <a:r>
              <a:rPr sz="1800" b="1" i="0">
                <a:solidFill>
                  <a:srgbClr val="1F2A37"/>
                </a:solidFill>
                <a:latin typeface="Calibri"/>
              </a:rPr>
              <a:t>9</a:t>
            </a:r>
            <a:r>
              <a:rPr sz="1800" b="0" i="0">
                <a:solidFill>
                  <a:srgbClr val="1F2A37"/>
                </a:solidFill>
                <a:latin typeface="Calibri"/>
              </a:rPr>
              <a:t/>
            </a:r>
          </a:p>
          <a:p>
            <a:pPr>
              <a:spcAft>
                <a:spcPts val="600"/>
              </a:spcAft>
            </a:pPr>
            <a:r>
              <a:rPr sz="1800" b="0" i="0">
                <a:solidFill>
                  <a:srgbClr val="1F2A37"/>
                </a:solidFill>
                <a:latin typeface="Calibri"/>
              </a:rPr>
              <a:t>Brom bleibt unverändert: </a:t>
            </a:r>
            <a:r>
              <a:rPr sz="1800" b="1" i="0">
                <a:solidFill>
                  <a:srgbClr val="1F2A37"/>
                </a:solidFill>
                <a:latin typeface="Calibri"/>
              </a:rPr>
              <a:t>6</a:t>
            </a:r>
            <a:r>
              <a:rPr sz="18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3: Klassen, Objekte und Vererbung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A05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Typische Fehler – und wie du sie vermeidest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200" b="1" i="0">
                <a:solidFill>
                  <a:srgbClr val="B8860B"/>
                </a:solidFill>
                <a:latin typeface="Calibri"/>
              </a:rPr>
              <a:t>▸ </a:t>
            </a:r>
            <a:r>
              <a:rPr sz="2200" b="1" i="0">
                <a:solidFill>
                  <a:srgbClr val="1F2A37"/>
                </a:solidFill>
                <a:latin typeface="Calibri"/>
              </a:rPr>
              <a:t>P1</a:t>
            </a:r>
            <a:r>
              <a:rPr sz="2200" b="0" i="0">
                <a:solidFill>
                  <a:srgbClr val="1F2A37"/>
                </a:solidFill>
                <a:latin typeface="Calibri"/>
              </a:rPr>
              <a:t> Methode auf </a:t>
            </a:r>
            <a:r>
              <a:rPr sz="2100" b="0" i="0">
                <a:solidFill>
                  <a:srgbClr val="1F4E79"/>
                </a:solidFill>
                <a:latin typeface="Consolas"/>
              </a:rPr>
              <a:t>null</a:t>
            </a:r>
            <a:r>
              <a:rPr sz="2200" b="0" i="0">
                <a:solidFill>
                  <a:srgbClr val="1F2A37"/>
                </a:solidFill>
                <a:latin typeface="Calibri"/>
              </a:rPr>
              <a:t> aufgerufen – vorher abfragen</a:t>
            </a:r>
            <a:r>
              <a:rPr sz="2200" b="0" i="0">
                <a:solidFill>
                  <a:srgbClr val="1F2A37"/>
                </a:solidFill>
                <a:latin typeface="Calibri"/>
              </a:rPr>
              <a:t/>
            </a:r>
          </a:p>
          <a:p>
            <a:pPr>
              <a:spcAft>
                <a:spcPts val="1000"/>
              </a:spcAft>
            </a:pPr>
            <a:r>
              <a:rPr sz="2200" b="1" i="0">
                <a:solidFill>
                  <a:srgbClr val="B8860B"/>
                </a:solidFill>
                <a:latin typeface="Calibri"/>
              </a:rPr>
              <a:t>▸ </a:t>
            </a:r>
            <a:r>
              <a:rPr sz="2200" b="1" i="0">
                <a:solidFill>
                  <a:srgbClr val="1F2A37"/>
                </a:solidFill>
                <a:latin typeface="Calibri"/>
              </a:rPr>
              <a:t>P3</a:t>
            </a:r>
            <a:r>
              <a:rPr sz="2200" b="0" i="0">
                <a:solidFill>
                  <a:srgbClr val="1F2A37"/>
                </a:solidFill>
                <a:latin typeface="Calibri"/>
              </a:rPr>
              <a:t> Konstruktor mit Rückgabetyp: </a:t>
            </a:r>
            <a:r>
              <a:rPr sz="2100" b="0" i="0">
                <a:solidFill>
                  <a:srgbClr val="1F4E79"/>
                </a:solidFill>
                <a:latin typeface="Consolas"/>
              </a:rPr>
              <a:t>public void Waechter(…)</a:t>
            </a:r>
            <a:r>
              <a:rPr sz="2200" b="0" i="0">
                <a:solidFill>
                  <a:srgbClr val="1F2A37"/>
                </a:solidFill>
                <a:latin typeface="Calibri"/>
              </a:rPr>
              <a:t/>
            </a:r>
          </a:p>
          <a:p>
            <a:pPr>
              <a:spcAft>
                <a:spcPts val="1000"/>
              </a:spcAft>
            </a:pPr>
            <a:r>
              <a:rPr sz="2200" b="1" i="0">
                <a:solidFill>
                  <a:srgbClr val="B8860B"/>
                </a:solidFill>
                <a:latin typeface="Calibri"/>
              </a:rPr>
              <a:t>▸ </a:t>
            </a:r>
            <a:r>
              <a:rPr sz="2200" b="1" i="0">
                <a:solidFill>
                  <a:srgbClr val="1F2A37"/>
                </a:solidFill>
                <a:latin typeface="Calibri"/>
              </a:rPr>
              <a:t>P4</a:t>
            </a:r>
            <a:r>
              <a:rPr sz="2200" b="0" i="0">
                <a:solidFill>
                  <a:srgbClr val="1F2A37"/>
                </a:solidFill>
                <a:latin typeface="Calibri"/>
              </a:rPr>
              <a:t> </a:t>
            </a:r>
            <a:r>
              <a:rPr sz="2100" b="0" i="0">
                <a:solidFill>
                  <a:srgbClr val="1F4E79"/>
                </a:solidFill>
                <a:latin typeface="Consolas"/>
              </a:rPr>
              <a:t>Hauptmann h = new Waechter(…)</a:t>
            </a:r>
            <a:r>
              <a:rPr sz="2200" b="0" i="0">
                <a:solidFill>
                  <a:srgbClr val="1F2A37"/>
                </a:solidFill>
                <a:latin typeface="Calibri"/>
              </a:rPr>
              <a:t> – Typen passen nicht</a:t>
            </a:r>
            <a:r>
              <a:rPr sz="2200" b="0" i="0">
                <a:solidFill>
                  <a:srgbClr val="1F2A37"/>
                </a:solidFill>
                <a:latin typeface="Calibri"/>
              </a:rPr>
              <a:t/>
            </a:r>
          </a:p>
          <a:p>
            <a:pPr>
              <a:spcAft>
                <a:spcPts val="1000"/>
              </a:spcAft>
            </a:pPr>
            <a:r>
              <a:rPr sz="2200" b="1" i="0">
                <a:solidFill>
                  <a:srgbClr val="B8860B"/>
                </a:solidFill>
                <a:latin typeface="Calibri"/>
              </a:rPr>
              <a:t>▸ </a:t>
            </a:r>
            <a:r>
              <a:rPr sz="2100" b="0" i="0">
                <a:solidFill>
                  <a:srgbClr val="1F4E79"/>
                </a:solidFill>
                <a:latin typeface="Consolas"/>
              </a:rPr>
              <a:t>name = name;</a:t>
            </a:r>
            <a:r>
              <a:rPr sz="2200" b="0" i="0">
                <a:solidFill>
                  <a:srgbClr val="1F2A37"/>
                </a:solidFill>
                <a:latin typeface="Calibri"/>
              </a:rPr>
              <a:t> ohne </a:t>
            </a:r>
            <a:r>
              <a:rPr sz="2100" b="0" i="0">
                <a:solidFill>
                  <a:srgbClr val="1F4E79"/>
                </a:solidFill>
                <a:latin typeface="Consolas"/>
              </a:rPr>
              <a:t>this</a:t>
            </a:r>
            <a:r>
              <a:rPr sz="2200" b="0" i="0">
                <a:solidFill>
                  <a:srgbClr val="1F2A37"/>
                </a:solidFill>
                <a:latin typeface="Calibri"/>
              </a:rPr>
              <a:t> – Attribut bleibt </a:t>
            </a:r>
            <a:r>
              <a:rPr sz="2100" b="0" i="0">
                <a:solidFill>
                  <a:srgbClr val="1F4E79"/>
                </a:solidFill>
                <a:latin typeface="Consolas"/>
              </a:rPr>
              <a:t>null</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In der Unterklasse auf </a:t>
            </a:r>
            <a:r>
              <a:rPr sz="2100" b="0" i="0">
                <a:solidFill>
                  <a:srgbClr val="1F4E79"/>
                </a:solidFill>
                <a:latin typeface="Consolas"/>
              </a:rPr>
              <a:t>private</a:t>
            </a:r>
            <a:r>
              <a:rPr sz="2200" b="0" i="0">
                <a:solidFill>
                  <a:srgbClr val="1F2A37"/>
                </a:solidFill>
                <a:latin typeface="Calibri"/>
              </a:rPr>
              <a:t> Attribute der Oberklasse zugreifen</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Klassenkarte: </a:t>
            </a:r>
            <a:r>
              <a:rPr sz="2100" b="0" i="0">
                <a:solidFill>
                  <a:srgbClr val="1F4E79"/>
                </a:solidFill>
                <a:latin typeface="Consolas"/>
              </a:rPr>
              <a:t>+</a:t>
            </a:r>
            <a:r>
              <a:rPr sz="2200" b="0" i="0">
                <a:solidFill>
                  <a:srgbClr val="1F2A37"/>
                </a:solidFill>
                <a:latin typeface="Calibri"/>
              </a:rPr>
              <a:t>/</a:t>
            </a:r>
            <a:r>
              <a:rPr sz="2100" b="0" i="0">
                <a:solidFill>
                  <a:srgbClr val="1F4E79"/>
                </a:solidFill>
                <a:latin typeface="Consolas"/>
              </a:rPr>
              <a:t>-</a:t>
            </a:r>
            <a:r>
              <a:rPr sz="2200" b="0" i="0">
                <a:solidFill>
                  <a:srgbClr val="1F2A37"/>
                </a:solidFill>
                <a:latin typeface="Calibri"/>
              </a:rPr>
              <a:t> fehlen, </a:t>
            </a:r>
            <a:r>
              <a:rPr sz="2100" b="0" i="0">
                <a:solidFill>
                  <a:srgbClr val="1F4E79"/>
                </a:solidFill>
                <a:latin typeface="Consolas"/>
              </a:rPr>
              <a:t>int</a:t>
            </a:r>
            <a:r>
              <a:rPr sz="2200" b="0" i="0">
                <a:solidFill>
                  <a:srgbClr val="1F2A37"/>
                </a:solidFill>
                <a:latin typeface="Calibri"/>
              </a:rPr>
              <a:t> statt Ganzzahl, Kardinalitäten</a:t>
            </a:r>
            <a:r>
              <a:rPr sz="22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FBE3E3"/>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C00000"/>
                </a:solidFill>
                <a:latin typeface="Calibri"/>
              </a:rPr>
              <a:t>Abi-Check</a:t>
            </a:r>
            <a:r>
              <a:rPr sz="2000" b="0" i="0">
                <a:solidFill>
                  <a:srgbClr val="1F2A37"/>
                </a:solidFill>
                <a:latin typeface="Calibri"/>
              </a:rPr>
              <a:t/>
            </a:r>
          </a:p>
          <a:p>
            <a:pPr>
              <a:spcAft>
                <a:spcPts val="600"/>
              </a:spcAft>
            </a:pPr>
            <a:r>
              <a:rPr sz="2000" b="0" i="0">
                <a:solidFill>
                  <a:srgbClr val="1F2A37"/>
                </a:solidFill>
                <a:latin typeface="Calibri"/>
              </a:rPr>
              <a:t>Sichtbarkeit überall?</a:t>
            </a:r>
            <a:r>
              <a:rPr sz="2000" b="0" i="0">
                <a:solidFill>
                  <a:srgbClr val="1F2A37"/>
                </a:solidFill>
                <a:latin typeface="Calibri"/>
              </a:rPr>
              <a:t/>
            </a:r>
          </a:p>
          <a:p>
            <a:pPr>
              <a:spcAft>
                <a:spcPts val="600"/>
              </a:spcAft>
            </a:pPr>
            <a:r>
              <a:rPr sz="2000" b="0" i="0">
                <a:solidFill>
                  <a:srgbClr val="1F2A37"/>
                </a:solidFill>
                <a:latin typeface="Calibri"/>
              </a:rPr>
              <a:t>Konstruktor mit c, ohne Rückgabetyp?</a:t>
            </a:r>
            <a:r>
              <a:rPr sz="2000" b="0" i="0">
                <a:solidFill>
                  <a:srgbClr val="1F2A37"/>
                </a:solidFill>
                <a:latin typeface="Calibri"/>
              </a:rPr>
              <a:t/>
            </a:r>
          </a:p>
          <a:p>
            <a:pPr>
              <a:spcAft>
                <a:spcPts val="600"/>
              </a:spcAft>
            </a:pPr>
            <a:r>
              <a:rPr sz="2000" b="0" i="0">
                <a:solidFill>
                  <a:srgbClr val="1F2A37"/>
                </a:solidFill>
                <a:latin typeface="Calibri"/>
              </a:rPr>
              <a:t>super(…) als erste Anweisung?</a:t>
            </a:r>
            <a:r>
              <a:rPr sz="2000" b="0" i="0">
                <a:solidFill>
                  <a:srgbClr val="1F2A37"/>
                </a:solidFill>
                <a:latin typeface="Calibri"/>
              </a:rPr>
              <a:t/>
            </a:r>
          </a:p>
          <a:p>
            <a:pPr>
              <a:spcAft>
                <a:spcPts val="600"/>
              </a:spcAft>
            </a:pPr>
            <a:r>
              <a:rPr sz="2000" b="0" i="0">
                <a:solidFill>
                  <a:srgbClr val="1F2A37"/>
                </a:solidFill>
                <a:latin typeface="Calibri"/>
              </a:rPr>
              <a:t>null abgefragt?</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3: Klassen, Objekte und Vererbung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A05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Das nimmst du mit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17320"/>
            <a:ext cx="7772400" cy="4800600"/>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00200"/>
            <a:ext cx="7315200" cy="4434840"/>
          </a:xfrm>
          <a:prstGeom prst="rect">
            <a:avLst/>
          </a:prstGeom>
          <a:noFill/>
        </p:spPr>
        <p:txBody>
          <a:bodyPr wrap="square" anchor="t" lIns="45720" rIns="45720">
            <a:spAutoFit/>
          </a:bodyPr>
          <a:lstStyle/>
          <a:p>
            <a:pPr>
              <a:spcAft>
                <a:spcPts val="1000"/>
              </a:spcAft>
            </a:pPr>
            <a:r>
              <a:rPr sz="2100" b="1" i="0">
                <a:solidFill>
                  <a:srgbClr val="B8860B"/>
                </a:solidFill>
                <a:latin typeface="Calibri"/>
              </a:rPr>
              <a:t>▸ </a:t>
            </a:r>
            <a:r>
              <a:rPr sz="2100" b="0" i="0">
                <a:solidFill>
                  <a:srgbClr val="1F2A37"/>
                </a:solidFill>
                <a:latin typeface="Calibri"/>
              </a:rPr>
              <a:t>Klasse = Bauplan, Objekt = Exemplar mit eigenen Werten; der Konstruktor setzt die Startwerte (</a:t>
            </a:r>
            <a:r>
              <a:rPr sz="2000" b="0" i="0">
                <a:solidFill>
                  <a:srgbClr val="1F4E79"/>
                </a:solidFill>
                <a:latin typeface="Consolas"/>
              </a:rPr>
              <a:t>this.name = name</a:t>
            </a:r>
            <a:r>
              <a:rPr sz="2100" b="0" i="0">
                <a:solidFill>
                  <a:srgbClr val="1F2A37"/>
                </a:solidFill>
                <a:latin typeface="Calibri"/>
              </a:rPr>
              <a:t>)</a:t>
            </a:r>
            <a:r>
              <a:rPr sz="2100" b="0" i="0">
                <a:solidFill>
                  <a:srgbClr val="1F2A37"/>
                </a:solidFill>
                <a:latin typeface="Calibri"/>
              </a:rPr>
              <a:t/>
            </a:r>
          </a:p>
          <a:p>
            <a:pPr>
              <a:spcAft>
                <a:spcPts val="1000"/>
              </a:spcAft>
            </a:pPr>
            <a:r>
              <a:rPr sz="2100" b="1" i="0">
                <a:solidFill>
                  <a:srgbClr val="B8860B"/>
                </a:solidFill>
                <a:latin typeface="Calibri"/>
              </a:rPr>
              <a:t>▸ </a:t>
            </a:r>
            <a:r>
              <a:rPr sz="2100" b="0" i="0">
                <a:solidFill>
                  <a:srgbClr val="1F2A37"/>
                </a:solidFill>
                <a:latin typeface="Calibri"/>
              </a:rPr>
              <a:t>Klassenkarte nach EH §6: </a:t>
            </a:r>
            <a:r>
              <a:rPr sz="2000" b="0" i="0">
                <a:solidFill>
                  <a:srgbClr val="1F4E79"/>
                </a:solidFill>
                <a:latin typeface="Consolas"/>
              </a:rPr>
              <a:t>+</a:t>
            </a:r>
            <a:r>
              <a:rPr sz="2100" b="0" i="0">
                <a:solidFill>
                  <a:srgbClr val="1F2A37"/>
                </a:solidFill>
                <a:latin typeface="Calibri"/>
              </a:rPr>
              <a:t>/</a:t>
            </a:r>
            <a:r>
              <a:rPr sz="2000" b="0" i="0">
                <a:solidFill>
                  <a:srgbClr val="1F4E79"/>
                </a:solidFill>
                <a:latin typeface="Consolas"/>
              </a:rPr>
              <a:t>-</a:t>
            </a:r>
            <a:r>
              <a:rPr sz="2100" b="0" i="0">
                <a:solidFill>
                  <a:srgbClr val="1F2A37"/>
                </a:solidFill>
                <a:latin typeface="Calibri"/>
              </a:rPr>
              <a:t> Pflicht, Konstruktor mit </a:t>
            </a:r>
            <a:r>
              <a:rPr sz="2000" b="0" i="0">
                <a:solidFill>
                  <a:srgbClr val="1F4E79"/>
                </a:solidFill>
                <a:latin typeface="Consolas"/>
              </a:rPr>
              <a:t>c</a:t>
            </a:r>
            <a:r>
              <a:rPr sz="2100" b="0" i="0">
                <a:solidFill>
                  <a:srgbClr val="1F2A37"/>
                </a:solidFill>
                <a:latin typeface="Calibri"/>
              </a:rPr>
              <a:t>, </a:t>
            </a:r>
            <a:r>
              <a:rPr sz="2000" b="0" i="0">
                <a:solidFill>
                  <a:srgbClr val="1F4E79"/>
                </a:solidFill>
                <a:latin typeface="Consolas"/>
              </a:rPr>
              <a:t>name: Typ</a:t>
            </a:r>
            <a:r>
              <a:rPr sz="2100" b="0" i="0">
                <a:solidFill>
                  <a:srgbClr val="1F2A37"/>
                </a:solidFill>
                <a:latin typeface="Calibri"/>
              </a:rPr>
              <a:t> mit deutschen Typnamen</a:t>
            </a:r>
            <a:r>
              <a:rPr sz="2100" b="0" i="0">
                <a:solidFill>
                  <a:srgbClr val="1F2A37"/>
                </a:solidFill>
                <a:latin typeface="Calibri"/>
              </a:rPr>
              <a:t/>
            </a:r>
          </a:p>
          <a:p>
            <a:pPr>
              <a:spcAft>
                <a:spcPts val="1000"/>
              </a:spcAft>
            </a:pPr>
            <a:r>
              <a:rPr sz="2100" b="1" i="0">
                <a:solidFill>
                  <a:srgbClr val="B8860B"/>
                </a:solidFill>
                <a:latin typeface="Calibri"/>
              </a:rPr>
              <a:t>▸ </a:t>
            </a:r>
            <a:r>
              <a:rPr sz="2100" b="0" i="0">
                <a:solidFill>
                  <a:srgbClr val="1F2A37"/>
                </a:solidFill>
                <a:latin typeface="Calibri"/>
              </a:rPr>
              <a:t>Variablen speichern Referenzen: </a:t>
            </a:r>
            <a:r>
              <a:rPr sz="2000" b="0" i="0">
                <a:solidFill>
                  <a:srgbClr val="1F4E79"/>
                </a:solidFill>
                <a:latin typeface="Consolas"/>
              </a:rPr>
              <a:t>b = a</a:t>
            </a:r>
            <a:r>
              <a:rPr sz="2100" b="0" i="0">
                <a:solidFill>
                  <a:srgbClr val="1F2A37"/>
                </a:solidFill>
                <a:latin typeface="Calibri"/>
              </a:rPr>
              <a:t> heißt ein Objekt, zwei Namen; vor dem Zugriff </a:t>
            </a:r>
            <a:r>
              <a:rPr sz="2000" b="0" i="0">
                <a:solidFill>
                  <a:srgbClr val="1F4E79"/>
                </a:solidFill>
                <a:latin typeface="Consolas"/>
              </a:rPr>
              <a:t>null</a:t>
            </a:r>
            <a:r>
              <a:rPr sz="2100" b="0" i="0">
                <a:solidFill>
                  <a:srgbClr val="1F2A37"/>
                </a:solidFill>
                <a:latin typeface="Calibri"/>
              </a:rPr>
              <a:t> abfragen</a:t>
            </a:r>
            <a:r>
              <a:rPr sz="2100" b="0" i="0">
                <a:solidFill>
                  <a:srgbClr val="1F2A37"/>
                </a:solidFill>
                <a:latin typeface="Calibri"/>
              </a:rPr>
              <a:t/>
            </a:r>
          </a:p>
          <a:p>
            <a:pPr>
              <a:spcAft>
                <a:spcPts val="1000"/>
              </a:spcAft>
            </a:pPr>
            <a:r>
              <a:rPr sz="2100" b="1" i="0">
                <a:solidFill>
                  <a:srgbClr val="B8860B"/>
                </a:solidFill>
                <a:latin typeface="Calibri"/>
              </a:rPr>
              <a:t>▸ </a:t>
            </a:r>
            <a:r>
              <a:rPr sz="2100" b="0" i="0">
                <a:solidFill>
                  <a:srgbClr val="1F2A37"/>
                </a:solidFill>
                <a:latin typeface="Calibri"/>
              </a:rPr>
              <a:t>Assoziation: einfache Linie; Vererbung: hohler Pfeil zur Oberklasse, </a:t>
            </a:r>
            <a:r>
              <a:rPr sz="2000" b="0" i="0">
                <a:solidFill>
                  <a:srgbClr val="1F4E79"/>
                </a:solidFill>
                <a:latin typeface="Consolas"/>
              </a:rPr>
              <a:t>super(…)</a:t>
            </a:r>
            <a:r>
              <a:rPr sz="2100" b="0" i="0">
                <a:solidFill>
                  <a:srgbClr val="1F2A37"/>
                </a:solidFill>
                <a:latin typeface="Calibri"/>
              </a:rPr>
              <a:t> zuerst</a:t>
            </a:r>
            <a:r>
              <a:rPr sz="2100" b="0" i="0">
                <a:solidFill>
                  <a:srgbClr val="1F2A37"/>
                </a:solidFill>
                <a:latin typeface="Calibri"/>
              </a:rPr>
              <a:t/>
            </a:r>
          </a:p>
          <a:p>
            <a:pPr>
              <a:spcAft>
                <a:spcPts val="1000"/>
              </a:spcAft>
            </a:pPr>
            <a:r>
              <a:rPr sz="2100" b="1" i="0">
                <a:solidFill>
                  <a:srgbClr val="B8860B"/>
                </a:solidFill>
                <a:latin typeface="Calibri"/>
              </a:rPr>
              <a:t>▸ </a:t>
            </a:r>
            <a:r>
              <a:rPr sz="2100" b="0" i="0">
                <a:solidFill>
                  <a:srgbClr val="1F2A37"/>
                </a:solidFill>
                <a:latin typeface="Calibri"/>
              </a:rPr>
              <a:t>Überschrieben? Das </a:t>
            </a:r>
            <a:r>
              <a:rPr sz="2100" b="1" i="0">
                <a:solidFill>
                  <a:srgbClr val="1F2A37"/>
                </a:solidFill>
                <a:latin typeface="Calibri"/>
              </a:rPr>
              <a:t>Objekt</a:t>
            </a:r>
            <a:r>
              <a:rPr sz="2100" b="0" i="0">
                <a:solidFill>
                  <a:srgbClr val="1F2A37"/>
                </a:solidFill>
                <a:latin typeface="Calibri"/>
              </a:rPr>
              <a:t> entscheidet, welche Version läuft</a:t>
            </a:r>
            <a:r>
              <a:rPr sz="2100" b="0" i="0">
                <a:solidFill>
                  <a:srgbClr val="1F2A37"/>
                </a:solidFill>
                <a:latin typeface="Calibri"/>
              </a:rPr>
              <a:t/>
            </a:r>
          </a:p>
        </p:txBody>
      </p:sp>
      <p:sp>
        <p:nvSpPr>
          <p:cNvPr id="7" name="TextBox 6"/>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3: Klassen, Objekte und Vererbung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A05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Weiter geht’s im Algo Quest Lab</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7772400" cy="3200400"/>
          </a:xfrm>
          <a:prstGeom prst="rect">
            <a:avLst/>
          </a:prstGeom>
          <a:noFill/>
        </p:spPr>
        <p:txBody>
          <a:bodyPr wrap="square" anchor="t" lIns="45720" rIns="45720">
            <a:spAutoFit/>
          </a:bodyPr>
          <a:lstStyle/>
          <a:p>
            <a:pPr>
              <a:spcAft>
                <a:spcPts val="1200"/>
              </a:spcAft>
            </a:pPr>
            <a:r>
              <a:rPr sz="2200" b="1" i="0">
                <a:solidFill>
                  <a:srgbClr val="1F4E79"/>
                </a:solidFill>
                <a:latin typeface="Calibri"/>
              </a:rPr>
              <a:t>Lab: </a:t>
            </a:r>
            <a:r>
              <a:rPr sz="2200" b="0" i="0">
                <a:solidFill>
                  <a:srgbClr val="1F2A37"/>
                </a:solidFill>
                <a:latin typeface="Calibri"/>
              </a:rPr>
              <a:t>Level 1.1 „Die Schmiede öffnet“ bis Level 1.4 „Die Waffenkammer“</a:t>
            </a:r>
            <a:r>
              <a:rPr sz="2200" b="0" i="0">
                <a:solidFill>
                  <a:srgbClr val="1F2A37"/>
                </a:solidFill>
                <a:latin typeface="Calibri"/>
              </a:rPr>
              <a:t/>
            </a:r>
          </a:p>
          <a:p>
            <a:pPr>
              <a:spcAft>
                <a:spcPts val="1200"/>
              </a:spcAft>
            </a:pPr>
            <a:r>
              <a:rPr sz="2200" b="1" i="0">
                <a:solidFill>
                  <a:srgbClr val="1F4E79"/>
                </a:solidFill>
                <a:latin typeface="Calibri"/>
              </a:rPr>
              <a:t>Arbeitsblatt: </a:t>
            </a:r>
            <a:r>
              <a:rPr sz="2200" b="0" i="0">
                <a:solidFill>
                  <a:srgbClr val="1F2A37"/>
                </a:solidFill>
                <a:latin typeface="Calibri"/>
              </a:rPr>
              <a:t>AB W1·1 „Klassen und Objekte“ und AB W1·2 „Vererbung“</a:t>
            </a:r>
            <a:r>
              <a:rPr sz="2200" b="0" i="0">
                <a:solidFill>
                  <a:srgbClr val="1F2A37"/>
                </a:solidFill>
                <a:latin typeface="Calibri"/>
              </a:rPr>
              <a:t/>
            </a:r>
          </a:p>
          <a:p>
            <a:pPr>
              <a:spcAft>
                <a:spcPts val="1200"/>
              </a:spcAft>
            </a:pPr>
            <a:r>
              <a:rPr sz="2200" b="1" i="0">
                <a:solidFill>
                  <a:srgbClr val="1F4E79"/>
                </a:solidFill>
                <a:latin typeface="Calibri"/>
              </a:rPr>
              <a:t>Spickzettel: </a:t>
            </a:r>
            <a:r>
              <a:rPr sz="2200" b="0" i="0">
                <a:solidFill>
                  <a:srgbClr val="1F2A37"/>
                </a:solidFill>
                <a:latin typeface="Calibri"/>
              </a:rPr>
              <a:t>Werkzeugkarten (Klassendiagramm nach EH §6, Abi-Check)</a:t>
            </a:r>
            <a:r>
              <a:rPr sz="2200" b="0" i="0">
                <a:solidFill>
                  <a:srgbClr val="1F2A37"/>
                </a:solidFill>
                <a:latin typeface="Calibri"/>
              </a:rPr>
              <a:t/>
            </a:r>
          </a:p>
          <a:p>
            <a:pPr>
              <a:spcAft>
                <a:spcPts val="1200"/>
              </a:spcAft>
            </a:pPr>
            <a:r>
              <a:rPr sz="2200" b="1" i="0">
                <a:solidFill>
                  <a:srgbClr val="1F4E79"/>
                </a:solidFill>
                <a:latin typeface="Calibri"/>
              </a:rPr>
              <a:t>Online: </a:t>
            </a:r>
            <a:r>
              <a:rPr sz="2200" b="0" i="0">
                <a:solidFill>
                  <a:srgbClr val="1F2A37"/>
                </a:solidFill>
                <a:latin typeface="Calibri"/>
              </a:rPr>
              <a:t>algoquest.frankjuchim.de/themen</a:t>
            </a:r>
            <a:r>
              <a:rPr sz="2200" b="0" i="0">
                <a:solidFill>
                  <a:srgbClr val="1F2A37"/>
                </a:solidFill>
                <a:latin typeface="Calibri"/>
              </a:rPr>
              <a:t/>
            </a:r>
          </a:p>
        </p:txBody>
      </p:sp>
      <p:sp>
        <p:nvSpPr>
          <p:cNvPr id="6" name="Rounded Rectangle 5"/>
          <p:cNvSpPr/>
          <p:nvPr/>
        </p:nvSpPr>
        <p:spPr>
          <a:xfrm>
            <a:off x="548640" y="4846320"/>
            <a:ext cx="7772400" cy="1188720"/>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937760"/>
            <a:ext cx="7406640" cy="1005840"/>
          </a:xfrm>
          <a:prstGeom prst="rect">
            <a:avLst/>
          </a:prstGeom>
          <a:noFill/>
        </p:spPr>
        <p:txBody>
          <a:bodyPr wrap="square" anchor="ctr" lIns="45720" rIns="45720">
            <a:spAutoFit/>
          </a:bodyPr>
          <a:lstStyle/>
          <a:p>
            <a:r>
              <a:rPr sz="2000" b="1" i="0">
                <a:solidFill>
                  <a:srgbClr val="B8860B"/>
                </a:solidFill>
                <a:latin typeface="Calibri"/>
              </a:rPr>
              <a:t>Nächstes Video: </a:t>
            </a:r>
            <a:r>
              <a:rPr sz="2000" b="0" i="0">
                <a:solidFill>
                  <a:srgbClr val="1F2A37"/>
                </a:solidFill>
                <a:latin typeface="Calibri"/>
              </a:rPr>
              <a:t>Sortieren und binäre Suche</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3: Klassen, Objekte und Vererbung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Klassen, Objekte und Vererbung</dc:title>
  <dc:subject/>
  <dc:creator>Algo Quest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