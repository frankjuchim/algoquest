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freundlicher Einstieg, Titelfolie im Hintergrund.]</a:t>
            </a:r>
          </a:p>
          <a:p/>
          <a:p>
            <a:r>
              <a:t>Hallo und willkommen zur Algo Quest! Heute geht es in die Rangliste: ums Sortieren und ums Suchen. Du lernst drei Sortierverfahren kennen – Selectionsort, Insertionsort und Bubblesort – und wie du ihren Aufwand bestimmst, indem du Vergleiche zählst. Danach zeige ich dir die binäre Suche, die in einer sortierten Reihung unglaublich schnell findet, was sie sucht. Alles genau so, wie es im Abitur verlangt wird.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Abitur heißt es zum Beispiel: Geben Sie den Zustand der Reihung nach jedem Durchlauf an. Bestimmen Sie die Anzahl der Vergleiche. Beurteilen Sie, wie sich der Aufwand bei doppelt so vielen Elementen ändert. Oder: Dokumentieren Sie die binäre Suche in einer Tracetabelle. Effizienz wird dabei immer durch Zählen untersucht – du brauchst keine O-Notation. Wir sortieren heute immer dieselbe Reihung aufsteigend.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Beginnen wir mit Selectionsort, dem Sortieren durch Auswahl. Die Idee: Suche im unsortierten Rest das kleinste Element und tausche es an die erste Stelle dieses Rests. Die äußere Schleife läuft mit i von links nach rechts. Die innere Schleife sucht ab i plus eins den Index des Minimums. Getauscht wird nur, wenn das Minimum nicht schon an der Stelle i steht. tausche vertauscht zwei Elemente. Im Lab sortiert die Rangliste übrigens absteigend – dann suchst du das Maximum.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Zeilen nacheinander zeigen; bei i = 1 betonen, dass 27 schon richtig steht.]</a:t>
            </a:r>
          </a:p>
          <a:p/>
          <a:p>
            <a:r>
              <a:t>So entwickelt sich die Reihung. Im ersten Durchlauf ist zwölf das Minimum, es tauscht mit vierundsechzig. Dafür waren vier Vergleiche nötig. Im zweiten Durchlauf ist siebenundzwanzig schon das Minimum – kein Tausch, aber trotzdem drei Vergleiche. Dann wandert neunundvierzig nach vorn, und im letzten Durchlauf bleibt alles, wie es ist. Insgesamt vier plus drei plus zwei plus eins gleich zehn Vergleiche – und das bei jeder Eingabe, selbst wenn die Reihung schon sortiert ist. Dafür tauscht Selectionsort sehr selten.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Insertionsort arbeitet wie beim Sortieren von Spielkarten auf der Hand. Du nimmst das nächste Element und lässt es so lange nach links wandern, wie es kleiner ist als sein linker Nachbar. Im Code startet i bei eins, denn ein einzelnes Element ist schon sortiert. Die while-Schleife tauscht das Element Schritt für Schritt nach links. j größer null steht zuerst, damit wir nie vor den Anfang der Reihung greifen. Auch der letzte Vergleich, der die Schleife beendet, zählt 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siebenundzwanzig wandert an der vierundsechzig vorbei nach vorn: ein Vergleich. Die fünfundachtzig bleibt stehen, denn sie ist größer als ihr Nachbar – wieder nur ein Vergleich. Die zwölf dagegen wandert ganz nach vorn: drei Vergleiche, jetzt sind es fünf. Und die neunundvierzig wandert zwei Plätze nach links und stoppt an der siebenundzwanzig: drei Vergleiche, insgesamt acht. Insertionsort hängt also von den Daten ab: sortiert nur vier Vergleiche, umgekehrt zehn.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dritte Verfahren ist Bubblesort. Hier vergleichst du immer zwei Nachbarn von links nach rechts und tauschst, wenn der rechte kleiner ist. So steigt das größte Element wie eine Blase nach hinten auf. Nach jedem Lauf steht also ein Element mehr am Ende fest, deshalb wird der Bereich um durchlauf kürzer. Und unsere Variante hat einen Abbruch: Die Variable getauscht merkt sich, ob in einem Lauf überhaupt getauscht wurde. Wenn nicht, ist die Reihung sortiert, und die Schleife endet.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ersten Lauf steigt die fünfundachtzig bis ans Ende auf. Dabei werden vier Nachbarpaare verglichen. Im zweiten Lauf landet die vierundsechzig auf ihrem Platz, drei Vergleiche. Im dritten Lauf rutscht die zwölf nach vorn. Jetzt ist sie sortiert – aber das weiß der Algorithmus noch nicht. Erst Lauf vier ohne einen einzigen Tausch löst den Abbruch aus. Insgesamt zehn Vergleiche. Ist die Reihung von Anfang an sortiert, reicht ein einziger Lauf mit n minus eins Vergleichen.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das Zählen zusammen. Selectionsort braucht immer n mal n minus eins halbe Vergleiche, egal wie die Daten aussehen. Insertionsort und Bubblesort mit Abbruch sind im besten Fall viel schneller: Bei einer schon sortierten Reihung brauchen sie nur n minus eins Vergleiche. Im schlechtesten Fall, bei umgekehrt sortierten Daten, sind es auch dort n mal n minus eins halbe. Die Formel kommt daher, dass jeder Durchlauf einen Vergleich weniger braucht: vier plus drei plus zwei plus eins gleich zehn. Wichtig im Abitur: Gib zum schlechtesten Fall immer eine konkrete Eingabe an, zum Beispiel eine absteigend sortierte Reihung.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was passiert, wenn die Rangliste doppelt so lang wird? Rechnen wir: Dreißig Elemente brauchen im schlechtesten Fall dreißig mal neunundzwanzig halbe, also vierhundertfünfunddreißig Vergleiche. Sechzig Elemente brauchen sechzig mal neunundfünfzig halbe, also tausendsiebenhundertsiebzig. Das ist ungefähr das Vierfache. Der Grund: Die Formel enthält n mal n, sie wächst quadratisch. Doppelt so viele Elemente bedeuten also etwa viermal so viel Arbeit. Im besten Fall mit n minus eins Vergleichen verdoppelt sich der Aufwand dagegen nur. Rechts steht eine passende Formulierung fürs Abitur.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bist du dran. Halte das Video an und sortiere die Reihung einunddreißig, siebzehn, sechsundvierzig, achtundfünfzig, zweiundfünfzig mit Bubblesort mit Abbruch. Gib den Zustand nach jedem Lauf an und zähle die Vergleiche. Denk daran: Der Bereich wird in jedem Lauf um eins kürzer.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Auflösung. Im ersten Lauf werden einunddreißig und siebzehn getauscht, dann achtundfünfzig und zweiundfünfzig. Danach ist die Reihung schon sortiert, nach vier Vergleichen. Der zweite Lauf vergleicht noch drei Paare, findet nichts zum Tauschen – und bricht ab. Insgesamt sieben Vergleiche statt zehn. Hattest du einen dritten Lauf? Dann hast du den Abbruch übersehen.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zum Suchen. Statt ein Element nach dem anderen zu prüfen, geht es in einer sortierten Reihung viel schneller – mit der binären Suche. lo und hi begrenzen den Bereich, in dem der gesuchte Wert noch liegen kann. In jedem Durchlauf schauen wir in die Mitte, mid, ganzzahlig berechnet. Treffer? Dann geben wir mid zurück. Ist der Wert in der Mitte zu klein, suchen wir rechts weiter, lo wird mid plus eins. Sonst links, hi wird mid minus eins. Wird lo größer als hi, ist der Bereich leer, und wir geben minus eins zurück. Das funktioniert nur auf sortierten Daten.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Mit dem Mauszeiger die besuchten Felder 6, 9 und 7 zeigen; danach die Tabellenzeilen.]</a:t>
            </a:r>
          </a:p>
          <a:p/>
          <a:p>
            <a:r>
              <a:t>Probieren wir es aus: Wir suchen siebenundvierzig in dieser Reihung mit dreizehn Elementen. Eine Zeile entsteht an der Markierung hinter mid. Erster Durchlauf: lo null, hi zwölf, mid sechs. An der Stelle sechs steht vierzig, das ist kleiner als siebenundvierzig, also lo gleich sieben. Zweiter Durchlauf: lo sieben, hi zwölf, mid neun. Dort steht einundsechzig, zu groß, also hi gleich acht. Dritter Durchlauf: lo sieben, hi acht, mid sieben – und dort steht siebenundvierzig. Treffer, Rückgabe sieben. Beachte: In der Tabelle stehen nur Variablen, keine Spalte für Bedingungen.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noch einmal du. Halte das Video an und führe die Tracetabelle für die Suche nach zwanzig in derselben Reihung. Zwanzig kommt dort nicht vor – überlege genau, wann die Schleife endet und was zurückgegeben wird.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Auflösung. Erster Durchlauf: mid sechs, vierzig ist zu groß, hi wird fünf. Zweiter Durchlauf: lo null, hi fünf, mid zwei. Vierzehn ist zu klein, lo wird drei. Dritter Durchlauf: lo drei, hi fünf, mid vier. Fünfundzwanzig ist zu groß, hi wird drei. Vierter Durchlauf: lo und hi sind beide drei, mid drei. Neunzehn ist zu klein, lo wird vier. Jetzt ist lo größer als hi, die Schleife endet, und die Methode gibt minus eins zurück. Mehr als vier Durchläufe braucht es bei dreizehn Elementen nie.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Lineare und binäre Suche im Vergleich. Die lineare Suche braucht im schlechtesten Fall so viele Durchläufe, wie es Elemente gibt. Die binäre Suche halbiert den Bereich in jedem Durchlauf. Verdoppelst du n, kommt nur ein einziger Durchlauf dazu: bei dreißig Elementen höchstens fünf, bei sechzig höchstens sechs. Bei einer Million Elementen sind es höchstens zwanzig statt einer Million. Aber denk an die Voraussetzung: Die Daten müssen sortiert sein. Wer nur einmal sucht, sortiert dafür nicht extra.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die typischen Fehler. P6, Off-by-one: Die Grenzen der Schleifen sind entscheidend – bei Bubblesort r Punkt length minus eins minus durchlauf, bei der binären Suche lo kleiner gleich hi, bei Insertionsort j größer null. P8: Zustand zum falschen Zeitpunkt, Startzeile vergessen oder eine Bedingungsspalte. P4: mid wird ganzzahlig berechnet, null plus fünf durch zwei ist zwei. P10: Beim schlechtesten Fall fehlt die konkrete Eingabe, oder beim Beurteilen fehlt die Begründung. Und: Vertauschungen sind keine Vergleiche.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zusammen. Selectionsort holt das Minimum nach vorn, Insertionsort lässt Elemente nach links wandern, Bubblesort tauscht Nachbarn und bricht ab, wenn ein Lauf ohne Tausch bleibt. Im schlechtesten Fall brauchen alle drei n mal n minus eins halbe Vergleiche, doppelt so viele Elemente bedeuten etwa viermal so viel Arbeit. Die binäre Suche funktioniert nur auf sortierten Daten, halbiert den Bereich in jedem Schritt und braucht bei doppelter Länge nur einen Durchlauf mehr.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du! Im Algo Quest Lab findest du dazu Level zwei Punkt zwei, Ordnung im Ranking, das Sortier-Duell in Level zwei Punkt drei und die binäre Suche in Level zwei Punkt vier – jeweils mit sofortiger Rückmeldung. Auf den Arbeitsblättern Sortieren sowie Effizienz und binäre Suche kannst du weiter üben. Im nächsten Video geht es ins Labyrinth: Wir lernen die Rekursion kennen – Methoden, die sich selbst aufrufen. Bis dahin – viel Erfolg in der Rangliste!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4</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Sortieren und binäre Suche</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Drei Sortierverfahren, Vergleiche zählen und halbieren statt durchsuchen</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1F7A7A"/>
                </a:solidFill>
                <a:latin typeface="Calibri"/>
              </a:rPr>
              <a:t>Welt 2 · Die Rangliste</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Worum geht es im Abitur?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Geben Sie</a:t>
            </a:r>
            <a:r>
              <a:rPr sz="2400" b="0" i="0">
                <a:solidFill>
                  <a:srgbClr val="1F2A37"/>
                </a:solidFill>
                <a:latin typeface="Calibri"/>
              </a:rPr>
              <a:t> den Zustand der Reihung nach jedem Durchlauf </a:t>
            </a:r>
            <a:r>
              <a:rPr sz="2400" b="1" i="0">
                <a:solidFill>
                  <a:srgbClr val="1F2A37"/>
                </a:solidFill>
                <a:latin typeface="Calibri"/>
              </a:rPr>
              <a:t>an</a:t>
            </a:r>
            <a:r>
              <a:rPr sz="2400" b="0" i="0">
                <a:solidFill>
                  <a:srgbClr val="1F2A37"/>
                </a:solidFill>
                <a:latin typeface="Calibri"/>
              </a:rPr>
              <a: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Bestimmen Sie</a:t>
            </a:r>
            <a:r>
              <a:rPr sz="2400" b="0" i="0">
                <a:solidFill>
                  <a:srgbClr val="1F2A37"/>
                </a:solidFill>
                <a:latin typeface="Calibri"/>
              </a:rPr>
              <a:t> die Anzahl der Vergleiche …“</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Beurteilen Sie</a:t>
            </a:r>
            <a:r>
              <a:rPr sz="2400" b="0" i="0">
                <a:solidFill>
                  <a:srgbClr val="1F2A37"/>
                </a:solidFill>
                <a:latin typeface="Calibri"/>
              </a:rPr>
              <a:t>, wie sich der Aufwand bei doppelt so vielen Elementen ändert.“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Dokumentieren Sie</a:t>
            </a:r>
            <a:r>
              <a:rPr sz="2400" b="0" i="0">
                <a:solidFill>
                  <a:srgbClr val="1F2A37"/>
                </a:solidFill>
                <a:latin typeface="Calibri"/>
              </a:rPr>
              <a:t> die binäre Suche in einer Tracetabelle.“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Effizienz wird </a:t>
            </a:r>
            <a:r>
              <a:rPr sz="2400" b="1" i="0">
                <a:solidFill>
                  <a:srgbClr val="1F2A37"/>
                </a:solidFill>
                <a:latin typeface="Calibri"/>
              </a:rPr>
              <a:t>gezählt</a:t>
            </a:r>
            <a:r>
              <a:rPr sz="2400" b="0" i="0">
                <a:solidFill>
                  <a:srgbClr val="1F2A37"/>
                </a:solidFill>
                <a:latin typeface="Calibri"/>
              </a:rPr>
              <a:t> – keine O-Notation nötig</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Heute</a:t>
            </a:r>
            <a:r>
              <a:rPr sz="2000" b="0" i="0">
                <a:solidFill>
                  <a:srgbClr val="1F2A37"/>
                </a:solidFill>
                <a:latin typeface="Calibri"/>
              </a:rPr>
              <a:t/>
            </a:r>
          </a:p>
          <a:p>
            <a:pPr>
              <a:spcAft>
                <a:spcPts val="600"/>
              </a:spcAft>
            </a:pPr>
            <a:r>
              <a:rPr sz="2000" b="0" i="0">
                <a:solidFill>
                  <a:srgbClr val="1F2A37"/>
                </a:solidFill>
                <a:latin typeface="Calibri"/>
              </a:rPr>
              <a:t>Selectionsort</a:t>
            </a:r>
            <a:r>
              <a:rPr sz="2000" b="0" i="0">
                <a:solidFill>
                  <a:srgbClr val="1F2A37"/>
                </a:solidFill>
                <a:latin typeface="Calibri"/>
              </a:rPr>
              <a:t/>
            </a:r>
          </a:p>
          <a:p>
            <a:pPr>
              <a:spcAft>
                <a:spcPts val="600"/>
              </a:spcAft>
            </a:pPr>
            <a:r>
              <a:rPr sz="2000" b="0" i="0">
                <a:solidFill>
                  <a:srgbClr val="1F2A37"/>
                </a:solidFill>
                <a:latin typeface="Calibri"/>
              </a:rPr>
              <a:t>Insertionsort</a:t>
            </a:r>
            <a:r>
              <a:rPr sz="2000" b="0" i="0">
                <a:solidFill>
                  <a:srgbClr val="1F2A37"/>
                </a:solidFill>
                <a:latin typeface="Calibri"/>
              </a:rPr>
              <a:t/>
            </a:r>
          </a:p>
          <a:p>
            <a:pPr>
              <a:spcAft>
                <a:spcPts val="600"/>
              </a:spcAft>
            </a:pPr>
            <a:r>
              <a:rPr sz="2000" b="0" i="0">
                <a:solidFill>
                  <a:srgbClr val="1F2A37"/>
                </a:solidFill>
                <a:latin typeface="Calibri"/>
              </a:rPr>
              <a:t>Bubblesort</a:t>
            </a:r>
            <a:r>
              <a:rPr sz="2000" b="0" i="0">
                <a:solidFill>
                  <a:srgbClr val="1F2A37"/>
                </a:solidFill>
                <a:latin typeface="Calibri"/>
              </a:rPr>
              <a:t/>
            </a:r>
          </a:p>
          <a:p>
            <a:pPr>
              <a:spcAft>
                <a:spcPts val="600"/>
              </a:spcAft>
            </a:pPr>
            <a:r>
              <a:rPr sz="2000" b="0" i="0">
                <a:solidFill>
                  <a:srgbClr val="1F2A37"/>
                </a:solidFill>
                <a:latin typeface="Calibri"/>
              </a:rPr>
              <a:t>Vergleiche zählen</a:t>
            </a:r>
            <a:r>
              <a:rPr sz="2000" b="0" i="0">
                <a:solidFill>
                  <a:srgbClr val="1F2A37"/>
                </a:solidFill>
                <a:latin typeface="Calibri"/>
              </a:rPr>
              <a:t/>
            </a:r>
          </a:p>
          <a:p>
            <a:pPr>
              <a:spcAft>
                <a:spcPts val="600"/>
              </a:spcAft>
            </a:pPr>
            <a:r>
              <a:rPr sz="2000" b="0" i="0">
                <a:solidFill>
                  <a:srgbClr val="1F2A37"/>
                </a:solidFill>
                <a:latin typeface="Calibri"/>
              </a:rPr>
              <a:t>Binäre Suche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Selectionsort: das Kleinste nach vorn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659880" cy="371551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477000" cy="3624072"/>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public static void selectionSort(int[] r) {</a:t>
            </a:r>
          </a:p>
          <a:p>
            <a:pPr>
              <a:lnSpc>
                <a:spcPct val="100000"/>
              </a:lnSpc>
            </a:pPr>
            <a:r>
              <a:rPr sz="1600" b="0" i="0">
                <a:solidFill>
                  <a:srgbClr val="A0A7B1"/>
                </a:solidFill>
                <a:latin typeface="Consolas"/>
              </a:rPr>
              <a:t> 2  </a:t>
            </a:r>
            <a:r>
              <a:rPr sz="1600" b="0" i="0">
                <a:solidFill>
                  <a:srgbClr val="1F2A37"/>
                </a:solidFill>
                <a:latin typeface="Consolas"/>
              </a:rPr>
              <a:t>    for (int i = 0; i &lt; r.length - 1; i++) {</a:t>
            </a:r>
          </a:p>
          <a:p>
            <a:pPr>
              <a:lnSpc>
                <a:spcPct val="100000"/>
              </a:lnSpc>
            </a:pPr>
            <a:r>
              <a:rPr sz="1600" b="0" i="0">
                <a:solidFill>
                  <a:srgbClr val="A0A7B1"/>
                </a:solidFill>
                <a:latin typeface="Consolas"/>
              </a:rPr>
              <a:t> 3  </a:t>
            </a:r>
            <a:r>
              <a:rPr sz="1600" b="0" i="0">
                <a:solidFill>
                  <a:srgbClr val="1F2A37"/>
                </a:solidFill>
                <a:latin typeface="Consolas"/>
              </a:rPr>
              <a:t>        int minIndex = i;</a:t>
            </a:r>
          </a:p>
          <a:p>
            <a:pPr>
              <a:lnSpc>
                <a:spcPct val="100000"/>
              </a:lnSpc>
            </a:pPr>
            <a:r>
              <a:rPr sz="1600" b="0" i="0">
                <a:solidFill>
                  <a:srgbClr val="A0A7B1"/>
                </a:solidFill>
                <a:latin typeface="Consolas"/>
              </a:rPr>
              <a:t> 4  </a:t>
            </a:r>
            <a:r>
              <a:rPr sz="1600" b="0" i="0">
                <a:solidFill>
                  <a:srgbClr val="1F2A37"/>
                </a:solidFill>
                <a:latin typeface="Consolas"/>
              </a:rPr>
              <a:t>        for (int j = i + 1; j &lt; r.length; j++) {</a:t>
            </a:r>
          </a:p>
          <a:p>
            <a:pPr>
              <a:lnSpc>
                <a:spcPct val="100000"/>
              </a:lnSpc>
            </a:pPr>
            <a:r>
              <a:rPr sz="1600" b="0" i="0">
                <a:solidFill>
                  <a:srgbClr val="A0A7B1"/>
                </a:solidFill>
                <a:latin typeface="Consolas"/>
              </a:rPr>
              <a:t> 5  </a:t>
            </a:r>
            <a:r>
              <a:rPr sz="1600" b="0" i="0">
                <a:solidFill>
                  <a:srgbClr val="1F2A37"/>
                </a:solidFill>
                <a:latin typeface="Consolas"/>
              </a:rPr>
              <a:t>            if (r[j] &lt; r[minIndex]) {</a:t>
            </a:r>
          </a:p>
          <a:p>
            <a:pPr>
              <a:lnSpc>
                <a:spcPct val="100000"/>
              </a:lnSpc>
            </a:pPr>
            <a:r>
              <a:rPr sz="1600" b="0" i="0">
                <a:solidFill>
                  <a:srgbClr val="A0A7B1"/>
                </a:solidFill>
                <a:latin typeface="Consolas"/>
              </a:rPr>
              <a:t> 6  </a:t>
            </a:r>
            <a:r>
              <a:rPr sz="1600" b="0" i="0">
                <a:solidFill>
                  <a:srgbClr val="1F2A37"/>
                </a:solidFill>
                <a:latin typeface="Consolas"/>
              </a:rPr>
              <a:t>                minIndex = j;</a:t>
            </a:r>
          </a:p>
          <a:p>
            <a:pPr>
              <a:lnSpc>
                <a:spcPct val="100000"/>
              </a:lnSpc>
            </a:pPr>
            <a:r>
              <a:rPr sz="1600" b="0" i="0">
                <a:solidFill>
                  <a:srgbClr val="A0A7B1"/>
                </a:solidFill>
                <a:latin typeface="Consolas"/>
              </a:rPr>
              <a:t> 7  </a:t>
            </a:r>
            <a:r>
              <a:rPr sz="1600" b="0" i="0">
                <a:solidFill>
                  <a:srgbClr val="1F2A37"/>
                </a:solidFill>
                <a:latin typeface="Consolas"/>
              </a:rPr>
              <a:t>            }</a:t>
            </a:r>
          </a:p>
          <a:p>
            <a:pPr>
              <a:lnSpc>
                <a:spcPct val="100000"/>
              </a:lnSpc>
            </a:pPr>
            <a:r>
              <a:rPr sz="1600" b="0" i="0">
                <a:solidFill>
                  <a:srgbClr val="A0A7B1"/>
                </a:solidFill>
                <a:latin typeface="Consolas"/>
              </a:rPr>
              <a:t> 8  </a:t>
            </a:r>
            <a:r>
              <a:rPr sz="1600" b="0" i="0">
                <a:solidFill>
                  <a:srgbClr val="1F2A37"/>
                </a:solidFill>
                <a:latin typeface="Consolas"/>
              </a:rPr>
              <a:t>        }</a:t>
            </a:r>
          </a:p>
          <a:p>
            <a:pPr>
              <a:lnSpc>
                <a:spcPct val="100000"/>
              </a:lnSpc>
            </a:pPr>
            <a:r>
              <a:rPr sz="1600" b="0" i="0">
                <a:solidFill>
                  <a:srgbClr val="A0A7B1"/>
                </a:solidFill>
                <a:latin typeface="Consolas"/>
              </a:rPr>
              <a:t> 9  </a:t>
            </a:r>
            <a:r>
              <a:rPr sz="1600" b="0" i="0">
                <a:solidFill>
                  <a:srgbClr val="1F2A37"/>
                </a:solidFill>
                <a:latin typeface="Consolas"/>
              </a:rPr>
              <a:t>        if (minIndex != i) {</a:t>
            </a:r>
          </a:p>
          <a:p>
            <a:pPr>
              <a:lnSpc>
                <a:spcPct val="100000"/>
              </a:lnSpc>
            </a:pPr>
            <a:r>
              <a:rPr sz="1600" b="0" i="0">
                <a:solidFill>
                  <a:srgbClr val="A0A7B1"/>
                </a:solidFill>
                <a:latin typeface="Consolas"/>
              </a:rPr>
              <a:t>10  </a:t>
            </a:r>
            <a:r>
              <a:rPr sz="1600" b="0" i="0">
                <a:solidFill>
                  <a:srgbClr val="1F2A37"/>
                </a:solidFill>
                <a:latin typeface="Consolas"/>
              </a:rPr>
              <a:t>            tausche(r, i, minIndex);</a:t>
            </a:r>
          </a:p>
          <a:p>
            <a:pPr>
              <a:lnSpc>
                <a:spcPct val="100000"/>
              </a:lnSpc>
            </a:pPr>
            <a:r>
              <a:rPr sz="1600" b="0" i="0">
                <a:solidFill>
                  <a:srgbClr val="A0A7B1"/>
                </a:solidFill>
                <a:latin typeface="Consolas"/>
              </a:rPr>
              <a:t>11  </a:t>
            </a:r>
            <a:r>
              <a:rPr sz="1600" b="0" i="0">
                <a:solidFill>
                  <a:srgbClr val="1F2A37"/>
                </a:solidFill>
                <a:latin typeface="Consolas"/>
              </a:rPr>
              <a:t>        }</a:t>
            </a:r>
          </a:p>
          <a:p>
            <a:pPr>
              <a:lnSpc>
                <a:spcPct val="100000"/>
              </a:lnSpc>
            </a:pPr>
            <a:r>
              <a:rPr sz="1600" b="0" i="0">
                <a:solidFill>
                  <a:srgbClr val="A0A7B1"/>
                </a:solidFill>
                <a:latin typeface="Consolas"/>
              </a:rPr>
              <a:t>12  </a:t>
            </a:r>
            <a:r>
              <a:rPr sz="1600" b="0" i="0">
                <a:solidFill>
                  <a:srgbClr val="1F2A37"/>
                </a:solidFill>
                <a:latin typeface="Consolas"/>
              </a:rPr>
              <a:t>    }</a:t>
            </a:r>
          </a:p>
          <a:p>
            <a:pPr>
              <a:lnSpc>
                <a:spcPct val="100000"/>
              </a:lnSpc>
            </a:pPr>
            <a:r>
              <a:rPr sz="1600" b="0" i="0">
                <a:solidFill>
                  <a:srgbClr val="A0A7B1"/>
                </a:solidFill>
                <a:latin typeface="Consolas"/>
              </a:rPr>
              <a:t>13  </a:t>
            </a:r>
            <a:r>
              <a:rPr sz="1600" b="0" i="0">
                <a:solidFill>
                  <a:srgbClr val="1F2A37"/>
                </a:solidFill>
                <a:latin typeface="Consolas"/>
              </a:rPr>
              <a:t>}</a:t>
            </a:r>
          </a:p>
        </p:txBody>
      </p:sp>
      <p:sp>
        <p:nvSpPr>
          <p:cNvPr id="7" name="Rounded Rectangle 6"/>
          <p:cNvSpPr/>
          <p:nvPr/>
        </p:nvSpPr>
        <p:spPr>
          <a:xfrm>
            <a:off x="7482840" y="1325880"/>
            <a:ext cx="416021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65720" y="1463039"/>
            <a:ext cx="3794455" cy="2377439"/>
          </a:xfrm>
          <a:prstGeom prst="rect">
            <a:avLst/>
          </a:prstGeom>
          <a:noFill/>
        </p:spPr>
        <p:txBody>
          <a:bodyPr wrap="square" anchor="t" lIns="45720" rIns="45720">
            <a:spAutoFit/>
          </a:bodyPr>
          <a:lstStyle/>
          <a:p>
            <a:pPr>
              <a:spcAft>
                <a:spcPts val="800"/>
              </a:spcAft>
            </a:pPr>
            <a:r>
              <a:rPr sz="1800" b="1" i="0">
                <a:solidFill>
                  <a:srgbClr val="1F4E79"/>
                </a:solidFill>
                <a:latin typeface="Calibri"/>
              </a:rPr>
              <a:t>Idee</a:t>
            </a:r>
            <a:r>
              <a:rPr sz="1600" b="0" i="0">
                <a:solidFill>
                  <a:srgbClr val="1F2A37"/>
                </a:solidFill>
                <a:latin typeface="Calibri"/>
              </a:rPr>
              <a:t/>
            </a:r>
          </a:p>
          <a:p>
            <a:pPr>
              <a:spcAft>
                <a:spcPts val="600"/>
              </a:spcAft>
            </a:pPr>
            <a:r>
              <a:rPr sz="1600" b="0" i="0">
                <a:solidFill>
                  <a:srgbClr val="1F2A37"/>
                </a:solidFill>
                <a:latin typeface="Calibri"/>
              </a:rPr>
              <a:t>Suche im unsortierten Rest das </a:t>
            </a:r>
            <a:r>
              <a:rPr sz="1600" b="1" i="0">
                <a:solidFill>
                  <a:srgbClr val="1F2A37"/>
                </a:solidFill>
                <a:latin typeface="Calibri"/>
              </a:rPr>
              <a:t>Minimum</a:t>
            </a:r>
            <a:r>
              <a:rPr sz="1600" b="0" i="0">
                <a:solidFill>
                  <a:srgbClr val="1F2A37"/>
                </a:solidFill>
                <a:latin typeface="Calibri"/>
              </a:rPr>
              <a:t>.</a:t>
            </a:r>
            <a:r>
              <a:rPr sz="1600" b="0" i="0">
                <a:solidFill>
                  <a:srgbClr val="1F2A37"/>
                </a:solidFill>
                <a:latin typeface="Calibri"/>
              </a:rPr>
              <a:t/>
            </a:r>
          </a:p>
          <a:p>
            <a:pPr>
              <a:spcAft>
                <a:spcPts val="600"/>
              </a:spcAft>
            </a:pPr>
            <a:r>
              <a:rPr sz="1600" b="0" i="0">
                <a:solidFill>
                  <a:srgbClr val="1F2A37"/>
                </a:solidFill>
                <a:latin typeface="Calibri"/>
              </a:rPr>
              <a:t>Tausche es an die </a:t>
            </a:r>
            <a:r>
              <a:rPr sz="1600" b="1" i="0">
                <a:solidFill>
                  <a:srgbClr val="1F2A37"/>
                </a:solidFill>
                <a:latin typeface="Calibri"/>
              </a:rPr>
              <a:t>erste Stelle</a:t>
            </a:r>
            <a:r>
              <a:rPr sz="1600" b="0" i="0">
                <a:solidFill>
                  <a:srgbClr val="1F2A37"/>
                </a:solidFill>
                <a:latin typeface="Calibri"/>
              </a:rPr>
              <a:t> des Rests.</a:t>
            </a:r>
            <a:r>
              <a:rPr sz="1600" b="0" i="0">
                <a:solidFill>
                  <a:srgbClr val="1F2A37"/>
                </a:solidFill>
                <a:latin typeface="Calibri"/>
              </a:rPr>
              <a:t/>
            </a:r>
          </a:p>
          <a:p>
            <a:pPr>
              <a:spcAft>
                <a:spcPts val="600"/>
              </a:spcAft>
            </a:pPr>
            <a:r>
              <a:rPr sz="1600" b="0" i="0">
                <a:solidFill>
                  <a:srgbClr val="1F2A37"/>
                </a:solidFill>
                <a:latin typeface="Calibri"/>
              </a:rPr>
              <a:t>Der sortierte Bereich wächst von links.</a:t>
            </a:r>
            <a:r>
              <a:rPr sz="1600" b="0" i="0">
                <a:solidFill>
                  <a:srgbClr val="1F2A37"/>
                </a:solidFill>
                <a:latin typeface="Calibri"/>
              </a:rPr>
              <a:t/>
            </a:r>
          </a:p>
          <a:p>
            <a:pPr>
              <a:spcAft>
                <a:spcPts val="600"/>
              </a:spcAft>
            </a:pPr>
            <a:r>
              <a:rPr sz="1500" b="0" i="0">
                <a:solidFill>
                  <a:srgbClr val="1F4E79"/>
                </a:solidFill>
                <a:latin typeface="Consolas"/>
              </a:rPr>
              <a:t>tausche(r, i, j)</a:t>
            </a:r>
            <a:r>
              <a:rPr sz="1600" b="0" i="0">
                <a:solidFill>
                  <a:srgbClr val="1F2A37"/>
                </a:solidFill>
                <a:latin typeface="Calibri"/>
              </a:rPr>
              <a:t> vertauscht </a:t>
            </a:r>
            <a:r>
              <a:rPr sz="1500" b="0" i="0">
                <a:solidFill>
                  <a:srgbClr val="1F4E79"/>
                </a:solidFill>
                <a:latin typeface="Consolas"/>
              </a:rPr>
              <a:t>r[i]</a:t>
            </a:r>
            <a:r>
              <a:rPr sz="1600" b="0" i="0">
                <a:solidFill>
                  <a:srgbClr val="1F2A37"/>
                </a:solidFill>
                <a:latin typeface="Calibri"/>
              </a:rPr>
              <a:t> und </a:t>
            </a:r>
            <a:r>
              <a:rPr sz="1500" b="0" i="0">
                <a:solidFill>
                  <a:srgbClr val="1F4E79"/>
                </a:solidFill>
                <a:latin typeface="Consolas"/>
              </a:rPr>
              <a:t>r[j]</a:t>
            </a:r>
            <a:r>
              <a:rPr sz="1600" b="0" i="0">
                <a:solidFill>
                  <a:srgbClr val="1F2A37"/>
                </a:solidFill>
                <a:latin typeface="Calibri"/>
              </a:rPr>
              <a:t>.</a:t>
            </a:r>
            <a:r>
              <a:rPr sz="16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Selectionsort: Zustand nach jedem Durchlauf</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766555" cy="2606034"/>
        </p:xfrm>
        <a:graphic>
          <a:graphicData uri="http://schemas.openxmlformats.org/drawingml/2006/table">
            <a:tbl>
              <a:tblPr firstRow="1" bandRow="1">
                <a:tableStyleId>{5C22544A-7EE6-4342-B048-85BDC9FD1C3A}</a:tableStyleId>
              </a:tblPr>
              <a:tblGrid>
                <a:gridCol w="1335505"/>
                <a:gridCol w="890336"/>
                <a:gridCol w="890336"/>
                <a:gridCol w="890336"/>
                <a:gridCol w="890336"/>
                <a:gridCol w="890336"/>
                <a:gridCol w="979370"/>
              </a:tblGrid>
              <a:tr h="434339">
                <a:tc>
                  <a:txBody>
                    <a:bodyPr/>
                    <a:lstStyle/>
                    <a:p>
                      <a:pPr algn="ctr"/>
                      <a:r>
                        <a:rPr sz="1800" b="1">
                          <a:solidFill>
                            <a:srgbClr val="FFFFFF"/>
                          </a:solidFill>
                          <a:latin typeface="Calibri"/>
                        </a:rPr>
                        <a:t/>
                      </a:r>
                    </a:p>
                  </a:txBody>
                  <a:tcPr marL="54864" marR="54864" marT="18288" marB="18288" anchor="ctr">
                    <a:solidFill>
                      <a:srgbClr val="1F4E79"/>
                    </a:solidFill>
                  </a:tcPr>
                </a:tc>
                <a:tc>
                  <a:txBody>
                    <a:bodyPr/>
                    <a:lstStyle/>
                    <a:p>
                      <a:pPr algn="ctr"/>
                      <a:r>
                        <a:rPr sz="1800" b="1">
                          <a:solidFill>
                            <a:srgbClr val="FFFFFF"/>
                          </a:solidFill>
                          <a:latin typeface="Calibri"/>
                        </a:rPr>
                        <a:t>0</a:t>
                      </a:r>
                    </a:p>
                  </a:txBody>
                  <a:tcPr marL="54864" marR="54864" marT="18288" marB="18288" anchor="ctr">
                    <a:solidFill>
                      <a:srgbClr val="1F4E79"/>
                    </a:solidFill>
                  </a:tcPr>
                </a:tc>
                <a:tc>
                  <a:txBody>
                    <a:bodyPr/>
                    <a:lstStyle/>
                    <a:p>
                      <a:pPr algn="ctr"/>
                      <a:r>
                        <a:rPr sz="1800" b="1">
                          <a:solidFill>
                            <a:srgbClr val="FFFFFF"/>
                          </a:solidFill>
                          <a:latin typeface="Calibri"/>
                        </a:rPr>
                        <a:t>1</a:t>
                      </a:r>
                    </a:p>
                  </a:txBody>
                  <a:tcPr marL="54864" marR="54864" marT="18288" marB="18288" anchor="ctr">
                    <a:solidFill>
                      <a:srgbClr val="1F4E79"/>
                    </a:solidFill>
                  </a:tcPr>
                </a:tc>
                <a:tc>
                  <a:txBody>
                    <a:bodyPr/>
                    <a:lstStyle/>
                    <a:p>
                      <a:pPr algn="ctr"/>
                      <a:r>
                        <a:rPr sz="1800" b="1">
                          <a:solidFill>
                            <a:srgbClr val="FFFFFF"/>
                          </a:solidFill>
                          <a:latin typeface="Calibri"/>
                        </a:rPr>
                        <a:t>2</a:t>
                      </a:r>
                    </a:p>
                  </a:txBody>
                  <a:tcPr marL="54864" marR="54864" marT="18288" marB="18288" anchor="ctr">
                    <a:solidFill>
                      <a:srgbClr val="1F4E79"/>
                    </a:solidFill>
                  </a:tcPr>
                </a:tc>
                <a:tc>
                  <a:txBody>
                    <a:bodyPr/>
                    <a:lstStyle/>
                    <a:p>
                      <a:pPr algn="ctr"/>
                      <a:r>
                        <a:rPr sz="1800" b="1">
                          <a:solidFill>
                            <a:srgbClr val="FFFFFF"/>
                          </a:solidFill>
                          <a:latin typeface="Calibri"/>
                        </a:rPr>
                        <a:t>3</a:t>
                      </a:r>
                    </a:p>
                  </a:txBody>
                  <a:tcPr marL="54864" marR="54864" marT="18288" marB="18288" anchor="ctr">
                    <a:solidFill>
                      <a:srgbClr val="1F4E79"/>
                    </a:solidFill>
                  </a:tcPr>
                </a:tc>
                <a:tc>
                  <a:txBody>
                    <a:bodyPr/>
                    <a:lstStyle/>
                    <a:p>
                      <a:pPr algn="ctr"/>
                      <a:r>
                        <a:rPr sz="1800" b="1">
                          <a:solidFill>
                            <a:srgbClr val="FFFFFF"/>
                          </a:solidFill>
                          <a:latin typeface="Calibri"/>
                        </a:rPr>
                        <a:t>4</a:t>
                      </a:r>
                    </a:p>
                  </a:txBody>
                  <a:tcPr marL="54864" marR="54864" marT="18288" marB="18288" anchor="ctr">
                    <a:solidFill>
                      <a:srgbClr val="1F4E79"/>
                    </a:solidFill>
                  </a:tcPr>
                </a:tc>
                <a:tc>
                  <a:txBody>
                    <a:bodyPr/>
                    <a:lstStyle/>
                    <a:p>
                      <a:pPr algn="ctr"/>
                      <a:r>
                        <a:rPr sz="1800" b="1">
                          <a:solidFill>
                            <a:srgbClr val="FFFFFF"/>
                          </a:solidFill>
                          <a:latin typeface="Calibri"/>
                        </a:rPr>
                        <a:t>Vergl.</a:t>
                      </a:r>
                    </a:p>
                  </a:txBody>
                  <a:tcPr marL="54864" marR="54864" marT="18288" marB="18288" anchor="ctr">
                    <a:solidFill>
                      <a:srgbClr val="1F4E79"/>
                    </a:solidFill>
                  </a:tcPr>
                </a:tc>
              </a:tr>
              <a:tr h="434339">
                <a:tc>
                  <a:txBody>
                    <a:bodyPr/>
                    <a:lstStyle/>
                    <a:p>
                      <a:pPr algn="ctr"/>
                      <a:r>
                        <a:rPr sz="1800" b="0">
                          <a:solidFill>
                            <a:srgbClr val="1F2A37"/>
                          </a:solidFill>
                          <a:latin typeface="Consolas"/>
                        </a:rPr>
                        <a:t>Start</a:t>
                      </a:r>
                    </a:p>
                  </a:txBody>
                  <a:tcPr marL="54864" marR="54864" marT="18288" marB="18288" anchor="ctr">
                    <a:solidFill>
                      <a:srgbClr val="FFFFFF"/>
                    </a:solidFill>
                  </a:tcPr>
                </a:tc>
                <a:tc>
                  <a:txBody>
                    <a:bodyPr/>
                    <a:lstStyle/>
                    <a:p>
                      <a:pPr algn="ctr"/>
                      <a:r>
                        <a:rPr sz="1800" b="0">
                          <a:solidFill>
                            <a:srgbClr val="1F2A37"/>
                          </a:solidFill>
                          <a:latin typeface="Consolas"/>
                        </a:rPr>
                        <a:t>64</a:t>
                      </a:r>
                    </a:p>
                  </a:txBody>
                  <a:tcPr marL="54864" marR="54864" marT="18288" marB="18288" anchor="ctr">
                    <a:solidFill>
                      <a:srgbClr val="FFFFFF"/>
                    </a:solidFill>
                  </a:tcPr>
                </a:tc>
                <a:tc>
                  <a:txBody>
                    <a:bodyPr/>
                    <a:lstStyle/>
                    <a:p>
                      <a:pPr algn="ctr"/>
                      <a:r>
                        <a:rPr sz="1800" b="0">
                          <a:solidFill>
                            <a:srgbClr val="1F2A37"/>
                          </a:solidFill>
                          <a:latin typeface="Consolas"/>
                        </a:rPr>
                        <a:t>27</a:t>
                      </a:r>
                    </a:p>
                  </a:txBody>
                  <a:tcPr marL="54864" marR="54864" marT="18288" marB="18288" anchor="ctr">
                    <a:solidFill>
                      <a:srgbClr val="FFFFFF"/>
                    </a:solidFill>
                  </a:tcPr>
                </a:tc>
                <a:tc>
                  <a:txBody>
                    <a:bodyPr/>
                    <a:lstStyle/>
                    <a:p>
                      <a:pPr algn="ctr"/>
                      <a:r>
                        <a:rPr sz="1800" b="0">
                          <a:solidFill>
                            <a:srgbClr val="1F2A37"/>
                          </a:solidFill>
                          <a:latin typeface="Consolas"/>
                        </a:rPr>
                        <a:t>85</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49</a:t>
                      </a:r>
                    </a:p>
                  </a:txBody>
                  <a:tcPr marL="54864" marR="54864" marT="18288" marB="18288" anchor="ctr">
                    <a:solidFill>
                      <a:srgbClr val="FFFFFF"/>
                    </a:solidFill>
                  </a:tcPr>
                </a:tc>
                <a:tc>
                  <a:txBody>
                    <a:bodyPr/>
                    <a:lstStyle/>
                    <a:p>
                      <a:pPr algn="ctr"/>
                      <a:r>
                        <a:rPr sz="1800" b="0">
                          <a:solidFill>
                            <a:srgbClr val="1F2A37"/>
                          </a:solidFill>
                          <a:latin typeface="Consolas"/>
                        </a:rPr>
                        <a:t>–</a:t>
                      </a:r>
                    </a:p>
                  </a:txBody>
                  <a:tcPr marL="54864" marR="54864" marT="18288" marB="18288" anchor="ctr">
                    <a:solidFill>
                      <a:srgbClr val="FFFFFF"/>
                    </a:solidFill>
                  </a:tcPr>
                </a:tc>
              </a:tr>
              <a:tr h="434339">
                <a:tc>
                  <a:txBody>
                    <a:bodyPr/>
                    <a:lstStyle/>
                    <a:p>
                      <a:pPr algn="ctr"/>
                      <a:r>
                        <a:rPr sz="1800" b="0">
                          <a:solidFill>
                            <a:srgbClr val="1F2A37"/>
                          </a:solidFill>
                          <a:latin typeface="Consolas"/>
                        </a:rPr>
                        <a:t>i = 0</a:t>
                      </a:r>
                    </a:p>
                  </a:txBody>
                  <a:tcPr marL="54864" marR="54864" marT="18288" marB="18288" anchor="ctr">
                    <a:solidFill>
                      <a:srgbClr val="EEF3FA"/>
                    </a:solidFill>
                  </a:tcPr>
                </a:tc>
                <a:tc>
                  <a:txBody>
                    <a:bodyPr/>
                    <a:lstStyle/>
                    <a:p>
                      <a:pPr algn="ctr"/>
                      <a:r>
                        <a:rPr sz="1800" b="0">
                          <a:solidFill>
                            <a:srgbClr val="1F2A37"/>
                          </a:solidFill>
                          <a:latin typeface="Consolas"/>
                        </a:rPr>
                        <a:t>12</a:t>
                      </a:r>
                    </a:p>
                  </a:txBody>
                  <a:tcPr marL="54864" marR="54864" marT="18288" marB="18288" anchor="ctr">
                    <a:solidFill>
                      <a:srgbClr val="EEF3FA"/>
                    </a:solidFill>
                  </a:tcPr>
                </a:tc>
                <a:tc>
                  <a:txBody>
                    <a:bodyPr/>
                    <a:lstStyle/>
                    <a:p>
                      <a:pPr algn="ctr"/>
                      <a:r>
                        <a:rPr sz="1800" b="0">
                          <a:solidFill>
                            <a:srgbClr val="1F2A37"/>
                          </a:solidFill>
                          <a:latin typeface="Consolas"/>
                        </a:rPr>
                        <a:t>27</a:t>
                      </a:r>
                    </a:p>
                  </a:txBody>
                  <a:tcPr marL="54864" marR="54864" marT="18288" marB="18288" anchor="ctr">
                    <a:solidFill>
                      <a:srgbClr val="EEF3FA"/>
                    </a:solidFill>
                  </a:tcPr>
                </a:tc>
                <a:tc>
                  <a:txBody>
                    <a:bodyPr/>
                    <a:lstStyle/>
                    <a:p>
                      <a:pPr algn="ctr"/>
                      <a:r>
                        <a:rPr sz="1800" b="0">
                          <a:solidFill>
                            <a:srgbClr val="1F2A37"/>
                          </a:solidFill>
                          <a:latin typeface="Consolas"/>
                        </a:rPr>
                        <a:t>85</a:t>
                      </a:r>
                    </a:p>
                  </a:txBody>
                  <a:tcPr marL="54864" marR="54864" marT="18288" marB="18288" anchor="ctr">
                    <a:solidFill>
                      <a:srgbClr val="EEF3FA"/>
                    </a:solidFill>
                  </a:tcPr>
                </a:tc>
                <a:tc>
                  <a:txBody>
                    <a:bodyPr/>
                    <a:lstStyle/>
                    <a:p>
                      <a:pPr algn="ctr"/>
                      <a:r>
                        <a:rPr sz="1800" b="0">
                          <a:solidFill>
                            <a:srgbClr val="1F2A37"/>
                          </a:solidFill>
                          <a:latin typeface="Consolas"/>
                        </a:rPr>
                        <a:t>64</a:t>
                      </a:r>
                    </a:p>
                  </a:txBody>
                  <a:tcPr marL="54864" marR="54864" marT="18288" marB="18288" anchor="ctr">
                    <a:solidFill>
                      <a:srgbClr val="EEF3FA"/>
                    </a:solidFill>
                  </a:tcPr>
                </a:tc>
                <a:tc>
                  <a:txBody>
                    <a:bodyPr/>
                    <a:lstStyle/>
                    <a:p>
                      <a:pPr algn="ctr"/>
                      <a:r>
                        <a:rPr sz="1800" b="0">
                          <a:solidFill>
                            <a:srgbClr val="1F2A37"/>
                          </a:solidFill>
                          <a:latin typeface="Consolas"/>
                        </a:rPr>
                        <a:t>49</a:t>
                      </a:r>
                    </a:p>
                  </a:txBody>
                  <a:tcPr marL="54864" marR="54864" marT="18288" marB="18288" anchor="ctr">
                    <a:solidFill>
                      <a:srgbClr val="EEF3FA"/>
                    </a:solidFill>
                  </a:tcPr>
                </a:tc>
                <a:tc>
                  <a:txBody>
                    <a:bodyPr/>
                    <a:lstStyle/>
                    <a:p>
                      <a:pPr algn="ctr"/>
                      <a:r>
                        <a:rPr sz="1800" b="0">
                          <a:solidFill>
                            <a:srgbClr val="1F2A37"/>
                          </a:solidFill>
                          <a:latin typeface="Consolas"/>
                        </a:rPr>
                        <a:t>4</a:t>
                      </a:r>
                    </a:p>
                  </a:txBody>
                  <a:tcPr marL="54864" marR="54864" marT="18288" marB="18288" anchor="ctr">
                    <a:solidFill>
                      <a:srgbClr val="EEF3FA"/>
                    </a:solidFill>
                  </a:tcPr>
                </a:tc>
              </a:tr>
              <a:tr h="434339">
                <a:tc>
                  <a:txBody>
                    <a:bodyPr/>
                    <a:lstStyle/>
                    <a:p>
                      <a:pPr algn="ctr"/>
                      <a:r>
                        <a:rPr sz="1800" b="0">
                          <a:solidFill>
                            <a:srgbClr val="1F2A37"/>
                          </a:solidFill>
                          <a:latin typeface="Consolas"/>
                        </a:rPr>
                        <a:t>i = 1</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27</a:t>
                      </a:r>
                    </a:p>
                  </a:txBody>
                  <a:tcPr marL="54864" marR="54864" marT="18288" marB="18288" anchor="ctr">
                    <a:solidFill>
                      <a:srgbClr val="FFFFFF"/>
                    </a:solidFill>
                  </a:tcPr>
                </a:tc>
                <a:tc>
                  <a:txBody>
                    <a:bodyPr/>
                    <a:lstStyle/>
                    <a:p>
                      <a:pPr algn="ctr"/>
                      <a:r>
                        <a:rPr sz="1800" b="0">
                          <a:solidFill>
                            <a:srgbClr val="1F2A37"/>
                          </a:solidFill>
                          <a:latin typeface="Consolas"/>
                        </a:rPr>
                        <a:t>85</a:t>
                      </a:r>
                    </a:p>
                  </a:txBody>
                  <a:tcPr marL="54864" marR="54864" marT="18288" marB="18288" anchor="ctr">
                    <a:solidFill>
                      <a:srgbClr val="FFFFFF"/>
                    </a:solidFill>
                  </a:tcPr>
                </a:tc>
                <a:tc>
                  <a:txBody>
                    <a:bodyPr/>
                    <a:lstStyle/>
                    <a:p>
                      <a:pPr algn="ctr"/>
                      <a:r>
                        <a:rPr sz="1800" b="0">
                          <a:solidFill>
                            <a:srgbClr val="1F2A37"/>
                          </a:solidFill>
                          <a:latin typeface="Consolas"/>
                        </a:rPr>
                        <a:t>64</a:t>
                      </a:r>
                    </a:p>
                  </a:txBody>
                  <a:tcPr marL="54864" marR="54864" marT="18288" marB="18288" anchor="ctr">
                    <a:solidFill>
                      <a:srgbClr val="FFFFFF"/>
                    </a:solidFill>
                  </a:tcPr>
                </a:tc>
                <a:tc>
                  <a:txBody>
                    <a:bodyPr/>
                    <a:lstStyle/>
                    <a:p>
                      <a:pPr algn="ctr"/>
                      <a:r>
                        <a:rPr sz="1800" b="0">
                          <a:solidFill>
                            <a:srgbClr val="1F2A37"/>
                          </a:solidFill>
                          <a:latin typeface="Consolas"/>
                        </a:rPr>
                        <a:t>49</a:t>
                      </a:r>
                    </a:p>
                  </a:txBody>
                  <a:tcPr marL="54864" marR="54864" marT="18288" marB="18288" anchor="ctr">
                    <a:solidFill>
                      <a:srgbClr val="FFFFFF"/>
                    </a:solidFill>
                  </a:tcPr>
                </a:tc>
                <a:tc>
                  <a:txBody>
                    <a:bodyPr/>
                    <a:lstStyle/>
                    <a:p>
                      <a:pPr algn="ctr"/>
                      <a:r>
                        <a:rPr sz="1800" b="0">
                          <a:solidFill>
                            <a:srgbClr val="1F2A37"/>
                          </a:solidFill>
                          <a:latin typeface="Consolas"/>
                        </a:rPr>
                        <a:t>7</a:t>
                      </a:r>
                    </a:p>
                  </a:txBody>
                  <a:tcPr marL="54864" marR="54864" marT="18288" marB="18288" anchor="ctr">
                    <a:solidFill>
                      <a:srgbClr val="FFFFFF"/>
                    </a:solidFill>
                  </a:tcPr>
                </a:tc>
              </a:tr>
              <a:tr h="434339">
                <a:tc>
                  <a:txBody>
                    <a:bodyPr/>
                    <a:lstStyle/>
                    <a:p>
                      <a:pPr algn="ctr"/>
                      <a:r>
                        <a:rPr sz="1800" b="0">
                          <a:solidFill>
                            <a:srgbClr val="1F2A37"/>
                          </a:solidFill>
                          <a:latin typeface="Consolas"/>
                        </a:rPr>
                        <a:t>i = 2</a:t>
                      </a:r>
                    </a:p>
                  </a:txBody>
                  <a:tcPr marL="54864" marR="54864" marT="18288" marB="18288" anchor="ctr">
                    <a:solidFill>
                      <a:srgbClr val="EEF3FA"/>
                    </a:solidFill>
                  </a:tcPr>
                </a:tc>
                <a:tc>
                  <a:txBody>
                    <a:bodyPr/>
                    <a:lstStyle/>
                    <a:p>
                      <a:pPr algn="ctr"/>
                      <a:r>
                        <a:rPr sz="1800" b="0">
                          <a:solidFill>
                            <a:srgbClr val="1F2A37"/>
                          </a:solidFill>
                          <a:latin typeface="Consolas"/>
                        </a:rPr>
                        <a:t>12</a:t>
                      </a:r>
                    </a:p>
                  </a:txBody>
                  <a:tcPr marL="54864" marR="54864" marT="18288" marB="18288" anchor="ctr">
                    <a:solidFill>
                      <a:srgbClr val="EEF3FA"/>
                    </a:solidFill>
                  </a:tcPr>
                </a:tc>
                <a:tc>
                  <a:txBody>
                    <a:bodyPr/>
                    <a:lstStyle/>
                    <a:p>
                      <a:pPr algn="ctr"/>
                      <a:r>
                        <a:rPr sz="1800" b="0">
                          <a:solidFill>
                            <a:srgbClr val="1F2A37"/>
                          </a:solidFill>
                          <a:latin typeface="Consolas"/>
                        </a:rPr>
                        <a:t>27</a:t>
                      </a:r>
                    </a:p>
                  </a:txBody>
                  <a:tcPr marL="54864" marR="54864" marT="18288" marB="18288" anchor="ctr">
                    <a:solidFill>
                      <a:srgbClr val="EEF3FA"/>
                    </a:solidFill>
                  </a:tcPr>
                </a:tc>
                <a:tc>
                  <a:txBody>
                    <a:bodyPr/>
                    <a:lstStyle/>
                    <a:p>
                      <a:pPr algn="ctr"/>
                      <a:r>
                        <a:rPr sz="1800" b="0">
                          <a:solidFill>
                            <a:srgbClr val="1F2A37"/>
                          </a:solidFill>
                          <a:latin typeface="Consolas"/>
                        </a:rPr>
                        <a:t>49</a:t>
                      </a:r>
                    </a:p>
                  </a:txBody>
                  <a:tcPr marL="54864" marR="54864" marT="18288" marB="18288" anchor="ctr">
                    <a:solidFill>
                      <a:srgbClr val="EEF3FA"/>
                    </a:solidFill>
                  </a:tcPr>
                </a:tc>
                <a:tc>
                  <a:txBody>
                    <a:bodyPr/>
                    <a:lstStyle/>
                    <a:p>
                      <a:pPr algn="ctr"/>
                      <a:r>
                        <a:rPr sz="1800" b="0">
                          <a:solidFill>
                            <a:srgbClr val="1F2A37"/>
                          </a:solidFill>
                          <a:latin typeface="Consolas"/>
                        </a:rPr>
                        <a:t>64</a:t>
                      </a:r>
                    </a:p>
                  </a:txBody>
                  <a:tcPr marL="54864" marR="54864" marT="18288" marB="18288" anchor="ctr">
                    <a:solidFill>
                      <a:srgbClr val="EEF3FA"/>
                    </a:solidFill>
                  </a:tcPr>
                </a:tc>
                <a:tc>
                  <a:txBody>
                    <a:bodyPr/>
                    <a:lstStyle/>
                    <a:p>
                      <a:pPr algn="ctr"/>
                      <a:r>
                        <a:rPr sz="1800" b="0">
                          <a:solidFill>
                            <a:srgbClr val="1F2A37"/>
                          </a:solidFill>
                          <a:latin typeface="Consolas"/>
                        </a:rPr>
                        <a:t>85</a:t>
                      </a:r>
                    </a:p>
                  </a:txBody>
                  <a:tcPr marL="54864" marR="54864" marT="18288" marB="18288" anchor="ctr">
                    <a:solidFill>
                      <a:srgbClr val="EEF3FA"/>
                    </a:solidFill>
                  </a:tcPr>
                </a:tc>
                <a:tc>
                  <a:txBody>
                    <a:bodyPr/>
                    <a:lstStyle/>
                    <a:p>
                      <a:pPr algn="ctr"/>
                      <a:r>
                        <a:rPr sz="1800" b="0">
                          <a:solidFill>
                            <a:srgbClr val="1F2A37"/>
                          </a:solidFill>
                          <a:latin typeface="Consolas"/>
                        </a:rPr>
                        <a:t>9</a:t>
                      </a:r>
                    </a:p>
                  </a:txBody>
                  <a:tcPr marL="54864" marR="54864" marT="18288" marB="18288" anchor="ctr">
                    <a:solidFill>
                      <a:srgbClr val="EEF3FA"/>
                    </a:solidFill>
                  </a:tcPr>
                </a:tc>
              </a:tr>
              <a:tr h="434339">
                <a:tc>
                  <a:txBody>
                    <a:bodyPr/>
                    <a:lstStyle/>
                    <a:p>
                      <a:pPr algn="ctr"/>
                      <a:r>
                        <a:rPr sz="1800" b="0">
                          <a:solidFill>
                            <a:srgbClr val="1F2A37"/>
                          </a:solidFill>
                          <a:latin typeface="Consolas"/>
                        </a:rPr>
                        <a:t>i = 3</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27</a:t>
                      </a:r>
                    </a:p>
                  </a:txBody>
                  <a:tcPr marL="54864" marR="54864" marT="18288" marB="18288" anchor="ctr">
                    <a:solidFill>
                      <a:srgbClr val="FFFFFF"/>
                    </a:solidFill>
                  </a:tcPr>
                </a:tc>
                <a:tc>
                  <a:txBody>
                    <a:bodyPr/>
                    <a:lstStyle/>
                    <a:p>
                      <a:pPr algn="ctr"/>
                      <a:r>
                        <a:rPr sz="1800" b="0">
                          <a:solidFill>
                            <a:srgbClr val="1F2A37"/>
                          </a:solidFill>
                          <a:latin typeface="Consolas"/>
                        </a:rPr>
                        <a:t>49</a:t>
                      </a:r>
                    </a:p>
                  </a:txBody>
                  <a:tcPr marL="54864" marR="54864" marT="18288" marB="18288" anchor="ctr">
                    <a:solidFill>
                      <a:srgbClr val="FFFFFF"/>
                    </a:solidFill>
                  </a:tcPr>
                </a:tc>
                <a:tc>
                  <a:txBody>
                    <a:bodyPr/>
                    <a:lstStyle/>
                    <a:p>
                      <a:pPr algn="ctr"/>
                      <a:r>
                        <a:rPr sz="1800" b="0">
                          <a:solidFill>
                            <a:srgbClr val="1F2A37"/>
                          </a:solidFill>
                          <a:latin typeface="Consolas"/>
                        </a:rPr>
                        <a:t>64</a:t>
                      </a:r>
                    </a:p>
                  </a:txBody>
                  <a:tcPr marL="54864" marR="54864" marT="18288" marB="18288" anchor="ctr">
                    <a:solidFill>
                      <a:srgbClr val="FFFFFF"/>
                    </a:solidFill>
                  </a:tcPr>
                </a:tc>
                <a:tc>
                  <a:txBody>
                    <a:bodyPr/>
                    <a:lstStyle/>
                    <a:p>
                      <a:pPr algn="ctr"/>
                      <a:r>
                        <a:rPr sz="1800" b="0">
                          <a:solidFill>
                            <a:srgbClr val="1F2A37"/>
                          </a:solidFill>
                          <a:latin typeface="Consolas"/>
                        </a:rPr>
                        <a:t>85</a:t>
                      </a:r>
                    </a:p>
                  </a:txBody>
                  <a:tcPr marL="54864" marR="54864" marT="18288" marB="18288" anchor="ctr">
                    <a:solidFill>
                      <a:srgbClr val="FFFFFF"/>
                    </a:solidFill>
                  </a:tcPr>
                </a:tc>
                <a:tc>
                  <a:txBody>
                    <a:bodyPr/>
                    <a:lstStyle/>
                    <a:p>
                      <a:pPr algn="ctr"/>
                      <a:r>
                        <a:rPr sz="1800" b="0">
                          <a:solidFill>
                            <a:srgbClr val="1F2A37"/>
                          </a:solidFill>
                          <a:latin typeface="Consolas"/>
                        </a:rPr>
                        <a:t>10</a:t>
                      </a:r>
                    </a:p>
                  </a:txBody>
                  <a:tcPr marL="54864" marR="54864" marT="18288" marB="18288" anchor="ctr">
                    <a:solidFill>
                      <a:srgbClr val="FFFFFF"/>
                    </a:solidFill>
                  </a:tcPr>
                </a:tc>
              </a:tr>
            </a:tbl>
          </a:graphicData>
        </a:graphic>
      </p:graphicFrame>
      <p:sp>
        <p:nvSpPr>
          <p:cNvPr id="6" name="Rounded Rectangle 5"/>
          <p:cNvSpPr/>
          <p:nvPr/>
        </p:nvSpPr>
        <p:spPr>
          <a:xfrm>
            <a:off x="7498079" y="1325880"/>
            <a:ext cx="4144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Beobachtung</a:t>
            </a:r>
            <a:r>
              <a:rPr sz="2000" b="0" i="0">
                <a:solidFill>
                  <a:srgbClr val="1F2A37"/>
                </a:solidFill>
                <a:latin typeface="Calibri"/>
              </a:rPr>
              <a:t/>
            </a:r>
          </a:p>
          <a:p>
            <a:pPr>
              <a:spcAft>
                <a:spcPts val="600"/>
              </a:spcAft>
            </a:pPr>
            <a:r>
              <a:rPr sz="2000" b="0" i="0">
                <a:solidFill>
                  <a:srgbClr val="1F2A37"/>
                </a:solidFill>
                <a:latin typeface="Calibri"/>
              </a:rPr>
              <a:t>Vergleiche: 4 + 3 + 2 + 1 = </a:t>
            </a:r>
            <a:r>
              <a:rPr sz="2000" b="1" i="0">
                <a:solidFill>
                  <a:srgbClr val="1F2A37"/>
                </a:solidFill>
                <a:latin typeface="Calibri"/>
              </a:rPr>
              <a:t>10</a:t>
            </a:r>
            <a:r>
              <a:rPr sz="2000" b="0" i="0">
                <a:solidFill>
                  <a:srgbClr val="1F2A37"/>
                </a:solidFill>
                <a:latin typeface="Calibri"/>
              </a:rPr>
              <a:t> – bei jeder Eingabe</a:t>
            </a:r>
            <a:r>
              <a:rPr sz="2000" b="0" i="0">
                <a:solidFill>
                  <a:srgbClr val="1F2A37"/>
                </a:solidFill>
                <a:latin typeface="Calibri"/>
              </a:rPr>
              <a:t/>
            </a:r>
          </a:p>
          <a:p>
            <a:pPr>
              <a:spcAft>
                <a:spcPts val="600"/>
              </a:spcAft>
            </a:pPr>
            <a:r>
              <a:rPr sz="2000" b="0" i="0">
                <a:solidFill>
                  <a:srgbClr val="1F2A37"/>
                </a:solidFill>
                <a:latin typeface="Calibri"/>
              </a:rPr>
              <a:t>Nur </a:t>
            </a:r>
            <a:r>
              <a:rPr sz="2000" b="1" i="0">
                <a:solidFill>
                  <a:srgbClr val="1F2A37"/>
                </a:solidFill>
                <a:latin typeface="Calibri"/>
              </a:rPr>
              <a:t>2</a:t>
            </a:r>
            <a:r>
              <a:rPr sz="2000" b="0" i="0">
                <a:solidFill>
                  <a:srgbClr val="1F2A37"/>
                </a:solidFill>
                <a:latin typeface="Calibri"/>
              </a:rPr>
              <a:t> Vertauschungen</a:t>
            </a:r>
            <a:r>
              <a:rPr sz="2000" b="0" i="0">
                <a:solidFill>
                  <a:srgbClr val="1F2A37"/>
                </a:solidFill>
                <a:latin typeface="Calibri"/>
              </a:rPr>
              <a:t/>
            </a:r>
          </a:p>
          <a:p>
            <a:pPr>
              <a:spcAft>
                <a:spcPts val="600"/>
              </a:spcAft>
            </a:pPr>
            <a:r>
              <a:rPr sz="2000" b="0" i="0">
                <a:solidFill>
                  <a:srgbClr val="1F2A37"/>
                </a:solidFill>
                <a:latin typeface="Calibri"/>
              </a:rPr>
              <a:t>Nach Durchlauf i steht Platz i fest.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Insertionsort: einsortieren wie Spielkarten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5928359" cy="2642616"/>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745479" cy="2551176"/>
          </a:xfrm>
          <a:prstGeom prst="rect">
            <a:avLst/>
          </a:prstGeom>
          <a:noFill/>
        </p:spPr>
        <p:txBody>
          <a:bodyPr wrap="square" anchor="t" lIns="45720" rIns="45720">
            <a:spAutoFit/>
          </a:bodyPr>
          <a:lstStyle/>
          <a:p>
            <a:pPr>
              <a:lnSpc>
                <a:spcPct val="100000"/>
              </a:lnSpc>
            </a:pPr>
            <a:r>
              <a:rPr sz="1600" b="0" i="0">
                <a:solidFill>
                  <a:srgbClr val="A0A7B1"/>
                </a:solidFill>
                <a:latin typeface="Consolas"/>
              </a:rPr>
              <a:t>1  </a:t>
            </a:r>
            <a:r>
              <a:rPr sz="1600" b="0" i="0">
                <a:solidFill>
                  <a:srgbClr val="1F2A37"/>
                </a:solidFill>
                <a:latin typeface="Consolas"/>
              </a:rPr>
              <a:t>public static void insertionSort(int[] r) {</a:t>
            </a:r>
          </a:p>
          <a:p>
            <a:pPr>
              <a:lnSpc>
                <a:spcPct val="100000"/>
              </a:lnSpc>
            </a:pPr>
            <a:r>
              <a:rPr sz="1600" b="0" i="0">
                <a:solidFill>
                  <a:srgbClr val="A0A7B1"/>
                </a:solidFill>
                <a:latin typeface="Consolas"/>
              </a:rPr>
              <a:t>2  </a:t>
            </a:r>
            <a:r>
              <a:rPr sz="1600" b="0" i="0">
                <a:solidFill>
                  <a:srgbClr val="1F2A37"/>
                </a:solidFill>
                <a:latin typeface="Consolas"/>
              </a:rPr>
              <a:t>    for (int i = 1; i &lt; r.length; i++) {</a:t>
            </a:r>
          </a:p>
          <a:p>
            <a:pPr>
              <a:lnSpc>
                <a:spcPct val="100000"/>
              </a:lnSpc>
            </a:pPr>
            <a:r>
              <a:rPr sz="1600" b="0" i="0">
                <a:solidFill>
                  <a:srgbClr val="A0A7B1"/>
                </a:solidFill>
                <a:latin typeface="Consolas"/>
              </a:rPr>
              <a:t>3  </a:t>
            </a:r>
            <a:r>
              <a:rPr sz="1600" b="0" i="0">
                <a:solidFill>
                  <a:srgbClr val="1F2A37"/>
                </a:solidFill>
                <a:latin typeface="Consolas"/>
              </a:rPr>
              <a:t>        int j = i;</a:t>
            </a:r>
          </a:p>
          <a:p>
            <a:pPr>
              <a:lnSpc>
                <a:spcPct val="100000"/>
              </a:lnSpc>
            </a:pPr>
            <a:r>
              <a:rPr sz="1600" b="0" i="0">
                <a:solidFill>
                  <a:srgbClr val="A0A7B1"/>
                </a:solidFill>
                <a:latin typeface="Consolas"/>
              </a:rPr>
              <a:t>4  </a:t>
            </a:r>
            <a:r>
              <a:rPr sz="1600" b="0" i="0">
                <a:solidFill>
                  <a:srgbClr val="1F2A37"/>
                </a:solidFill>
                <a:latin typeface="Consolas"/>
              </a:rPr>
              <a:t>        while (j &gt; 0 &amp;&amp; r[j] &lt; r[j - 1]) {</a:t>
            </a:r>
          </a:p>
          <a:p>
            <a:pPr>
              <a:lnSpc>
                <a:spcPct val="100000"/>
              </a:lnSpc>
            </a:pPr>
            <a:r>
              <a:rPr sz="1600" b="0" i="0">
                <a:solidFill>
                  <a:srgbClr val="A0A7B1"/>
                </a:solidFill>
                <a:latin typeface="Consolas"/>
              </a:rPr>
              <a:t>5  </a:t>
            </a:r>
            <a:r>
              <a:rPr sz="1600" b="0" i="0">
                <a:solidFill>
                  <a:srgbClr val="1F2A37"/>
                </a:solidFill>
                <a:latin typeface="Consolas"/>
              </a:rPr>
              <a:t>            tausche(r, j, j - 1);</a:t>
            </a:r>
          </a:p>
          <a:p>
            <a:pPr>
              <a:lnSpc>
                <a:spcPct val="100000"/>
              </a:lnSpc>
            </a:pPr>
            <a:r>
              <a:rPr sz="1600" b="0" i="0">
                <a:solidFill>
                  <a:srgbClr val="A0A7B1"/>
                </a:solidFill>
                <a:latin typeface="Consolas"/>
              </a:rPr>
              <a:t>6  </a:t>
            </a:r>
            <a:r>
              <a:rPr sz="1600" b="0" i="0">
                <a:solidFill>
                  <a:srgbClr val="1F2A37"/>
                </a:solidFill>
                <a:latin typeface="Consolas"/>
              </a:rPr>
              <a:t>            j--;</a:t>
            </a:r>
          </a:p>
          <a:p>
            <a:pPr>
              <a:lnSpc>
                <a:spcPct val="100000"/>
              </a:lnSpc>
            </a:pPr>
            <a:r>
              <a:rPr sz="1600" b="0" i="0">
                <a:solidFill>
                  <a:srgbClr val="A0A7B1"/>
                </a:solidFill>
                <a:latin typeface="Consolas"/>
              </a:rPr>
              <a:t>7  </a:t>
            </a:r>
            <a:r>
              <a:rPr sz="1600" b="0" i="0">
                <a:solidFill>
                  <a:srgbClr val="1F2A37"/>
                </a:solidFill>
                <a:latin typeface="Consolas"/>
              </a:rPr>
              <a:t>        }</a:t>
            </a:r>
          </a:p>
          <a:p>
            <a:pPr>
              <a:lnSpc>
                <a:spcPct val="100000"/>
              </a:lnSpc>
            </a:pPr>
            <a:r>
              <a:rPr sz="1600" b="0" i="0">
                <a:solidFill>
                  <a:srgbClr val="A0A7B1"/>
                </a:solidFill>
                <a:latin typeface="Consolas"/>
              </a:rPr>
              <a:t>8  </a:t>
            </a:r>
            <a:r>
              <a:rPr sz="1600" b="0" i="0">
                <a:solidFill>
                  <a:srgbClr val="1F2A37"/>
                </a:solidFill>
                <a:latin typeface="Consolas"/>
              </a:rPr>
              <a:t>    }</a:t>
            </a:r>
          </a:p>
          <a:p>
            <a:pPr>
              <a:lnSpc>
                <a:spcPct val="100000"/>
              </a:lnSpc>
            </a:pPr>
            <a:r>
              <a:rPr sz="1600" b="0" i="0">
                <a:solidFill>
                  <a:srgbClr val="A0A7B1"/>
                </a:solidFill>
                <a:latin typeface="Consolas"/>
              </a:rPr>
              <a:t>9  </a:t>
            </a:r>
            <a:r>
              <a:rPr sz="1600" b="0" i="0">
                <a:solidFill>
                  <a:srgbClr val="1F2A37"/>
                </a:solidFill>
                <a:latin typeface="Consolas"/>
              </a:rPr>
              <a:t>}</a:t>
            </a:r>
          </a:p>
        </p:txBody>
      </p:sp>
      <p:sp>
        <p:nvSpPr>
          <p:cNvPr id="7" name="Rounded Rectangle 6"/>
          <p:cNvSpPr/>
          <p:nvPr/>
        </p:nvSpPr>
        <p:spPr>
          <a:xfrm>
            <a:off x="6751319" y="1325880"/>
            <a:ext cx="489173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34199" y="1463039"/>
            <a:ext cx="452597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Idee</a:t>
            </a:r>
            <a:r>
              <a:rPr sz="2000" b="0" i="0">
                <a:solidFill>
                  <a:srgbClr val="1F2A37"/>
                </a:solidFill>
                <a:latin typeface="Calibri"/>
              </a:rPr>
              <a:t/>
            </a:r>
          </a:p>
          <a:p>
            <a:pPr>
              <a:spcAft>
                <a:spcPts val="600"/>
              </a:spcAft>
            </a:pPr>
            <a:r>
              <a:rPr sz="2000" b="0" i="0">
                <a:solidFill>
                  <a:srgbClr val="1F2A37"/>
                </a:solidFill>
                <a:latin typeface="Calibri"/>
              </a:rPr>
              <a:t>Nimm das nächste Element.</a:t>
            </a:r>
            <a:r>
              <a:rPr sz="2000" b="0" i="0">
                <a:solidFill>
                  <a:srgbClr val="1F2A37"/>
                </a:solidFill>
                <a:latin typeface="Calibri"/>
              </a:rPr>
              <a:t/>
            </a:r>
          </a:p>
          <a:p>
            <a:pPr>
              <a:spcAft>
                <a:spcPts val="600"/>
              </a:spcAft>
            </a:pPr>
            <a:r>
              <a:rPr sz="2000" b="0" i="0">
                <a:solidFill>
                  <a:srgbClr val="1F2A37"/>
                </a:solidFill>
                <a:latin typeface="Calibri"/>
              </a:rPr>
              <a:t>Lass es nach </a:t>
            </a:r>
            <a:r>
              <a:rPr sz="2000" b="1" i="0">
                <a:solidFill>
                  <a:srgbClr val="1F2A37"/>
                </a:solidFill>
                <a:latin typeface="Calibri"/>
              </a:rPr>
              <a:t>links wandern</a:t>
            </a:r>
            <a:r>
              <a:rPr sz="2000" b="0" i="0">
                <a:solidFill>
                  <a:srgbClr val="1F2A37"/>
                </a:solidFill>
                <a:latin typeface="Calibri"/>
              </a:rPr>
              <a:t>, solange es kleiner ist als sein linker Nachbar.</a:t>
            </a:r>
            <a:r>
              <a:rPr sz="2000" b="0" i="0">
                <a:solidFill>
                  <a:srgbClr val="1F2A37"/>
                </a:solidFill>
                <a:latin typeface="Calibri"/>
              </a:rPr>
              <a:t/>
            </a:r>
          </a:p>
          <a:p>
            <a:pPr>
              <a:spcAft>
                <a:spcPts val="600"/>
              </a:spcAft>
            </a:pPr>
            <a:r>
              <a:rPr sz="2000" b="0" i="0">
                <a:solidFill>
                  <a:srgbClr val="1F2A37"/>
                </a:solidFill>
                <a:latin typeface="Calibri"/>
              </a:rPr>
              <a:t>Links entsteht ein sortierter Bereich.</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Insertionsort: Zustand nach jedem Durchlauf</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766555" cy="2606034"/>
        </p:xfrm>
        <a:graphic>
          <a:graphicData uri="http://schemas.openxmlformats.org/drawingml/2006/table">
            <a:tbl>
              <a:tblPr firstRow="1" bandRow="1">
                <a:tableStyleId>{5C22544A-7EE6-4342-B048-85BDC9FD1C3A}</a:tableStyleId>
              </a:tblPr>
              <a:tblGrid>
                <a:gridCol w="1335505"/>
                <a:gridCol w="890336"/>
                <a:gridCol w="890336"/>
                <a:gridCol w="890336"/>
                <a:gridCol w="890336"/>
                <a:gridCol w="890336"/>
                <a:gridCol w="979370"/>
              </a:tblGrid>
              <a:tr h="434339">
                <a:tc>
                  <a:txBody>
                    <a:bodyPr/>
                    <a:lstStyle/>
                    <a:p>
                      <a:pPr algn="ctr"/>
                      <a:r>
                        <a:rPr sz="1800" b="1">
                          <a:solidFill>
                            <a:srgbClr val="FFFFFF"/>
                          </a:solidFill>
                          <a:latin typeface="Calibri"/>
                        </a:rPr>
                        <a:t/>
                      </a:r>
                    </a:p>
                  </a:txBody>
                  <a:tcPr marL="54864" marR="54864" marT="18288" marB="18288" anchor="ctr">
                    <a:solidFill>
                      <a:srgbClr val="1F4E79"/>
                    </a:solidFill>
                  </a:tcPr>
                </a:tc>
                <a:tc>
                  <a:txBody>
                    <a:bodyPr/>
                    <a:lstStyle/>
                    <a:p>
                      <a:pPr algn="ctr"/>
                      <a:r>
                        <a:rPr sz="1800" b="1">
                          <a:solidFill>
                            <a:srgbClr val="FFFFFF"/>
                          </a:solidFill>
                          <a:latin typeface="Calibri"/>
                        </a:rPr>
                        <a:t>0</a:t>
                      </a:r>
                    </a:p>
                  </a:txBody>
                  <a:tcPr marL="54864" marR="54864" marT="18288" marB="18288" anchor="ctr">
                    <a:solidFill>
                      <a:srgbClr val="1F4E79"/>
                    </a:solidFill>
                  </a:tcPr>
                </a:tc>
                <a:tc>
                  <a:txBody>
                    <a:bodyPr/>
                    <a:lstStyle/>
                    <a:p>
                      <a:pPr algn="ctr"/>
                      <a:r>
                        <a:rPr sz="1800" b="1">
                          <a:solidFill>
                            <a:srgbClr val="FFFFFF"/>
                          </a:solidFill>
                          <a:latin typeface="Calibri"/>
                        </a:rPr>
                        <a:t>1</a:t>
                      </a:r>
                    </a:p>
                  </a:txBody>
                  <a:tcPr marL="54864" marR="54864" marT="18288" marB="18288" anchor="ctr">
                    <a:solidFill>
                      <a:srgbClr val="1F4E79"/>
                    </a:solidFill>
                  </a:tcPr>
                </a:tc>
                <a:tc>
                  <a:txBody>
                    <a:bodyPr/>
                    <a:lstStyle/>
                    <a:p>
                      <a:pPr algn="ctr"/>
                      <a:r>
                        <a:rPr sz="1800" b="1">
                          <a:solidFill>
                            <a:srgbClr val="FFFFFF"/>
                          </a:solidFill>
                          <a:latin typeface="Calibri"/>
                        </a:rPr>
                        <a:t>2</a:t>
                      </a:r>
                    </a:p>
                  </a:txBody>
                  <a:tcPr marL="54864" marR="54864" marT="18288" marB="18288" anchor="ctr">
                    <a:solidFill>
                      <a:srgbClr val="1F4E79"/>
                    </a:solidFill>
                  </a:tcPr>
                </a:tc>
                <a:tc>
                  <a:txBody>
                    <a:bodyPr/>
                    <a:lstStyle/>
                    <a:p>
                      <a:pPr algn="ctr"/>
                      <a:r>
                        <a:rPr sz="1800" b="1">
                          <a:solidFill>
                            <a:srgbClr val="FFFFFF"/>
                          </a:solidFill>
                          <a:latin typeface="Calibri"/>
                        </a:rPr>
                        <a:t>3</a:t>
                      </a:r>
                    </a:p>
                  </a:txBody>
                  <a:tcPr marL="54864" marR="54864" marT="18288" marB="18288" anchor="ctr">
                    <a:solidFill>
                      <a:srgbClr val="1F4E79"/>
                    </a:solidFill>
                  </a:tcPr>
                </a:tc>
                <a:tc>
                  <a:txBody>
                    <a:bodyPr/>
                    <a:lstStyle/>
                    <a:p>
                      <a:pPr algn="ctr"/>
                      <a:r>
                        <a:rPr sz="1800" b="1">
                          <a:solidFill>
                            <a:srgbClr val="FFFFFF"/>
                          </a:solidFill>
                          <a:latin typeface="Calibri"/>
                        </a:rPr>
                        <a:t>4</a:t>
                      </a:r>
                    </a:p>
                  </a:txBody>
                  <a:tcPr marL="54864" marR="54864" marT="18288" marB="18288" anchor="ctr">
                    <a:solidFill>
                      <a:srgbClr val="1F4E79"/>
                    </a:solidFill>
                  </a:tcPr>
                </a:tc>
                <a:tc>
                  <a:txBody>
                    <a:bodyPr/>
                    <a:lstStyle/>
                    <a:p>
                      <a:pPr algn="ctr"/>
                      <a:r>
                        <a:rPr sz="1800" b="1">
                          <a:solidFill>
                            <a:srgbClr val="FFFFFF"/>
                          </a:solidFill>
                          <a:latin typeface="Calibri"/>
                        </a:rPr>
                        <a:t>Vergl.</a:t>
                      </a:r>
                    </a:p>
                  </a:txBody>
                  <a:tcPr marL="54864" marR="54864" marT="18288" marB="18288" anchor="ctr">
                    <a:solidFill>
                      <a:srgbClr val="1F4E79"/>
                    </a:solidFill>
                  </a:tcPr>
                </a:tc>
              </a:tr>
              <a:tr h="434339">
                <a:tc>
                  <a:txBody>
                    <a:bodyPr/>
                    <a:lstStyle/>
                    <a:p>
                      <a:pPr algn="ctr"/>
                      <a:r>
                        <a:rPr sz="1800" b="0">
                          <a:solidFill>
                            <a:srgbClr val="1F2A37"/>
                          </a:solidFill>
                          <a:latin typeface="Consolas"/>
                        </a:rPr>
                        <a:t>Start</a:t>
                      </a:r>
                    </a:p>
                  </a:txBody>
                  <a:tcPr marL="54864" marR="54864" marT="18288" marB="18288" anchor="ctr">
                    <a:solidFill>
                      <a:srgbClr val="FFFFFF"/>
                    </a:solidFill>
                  </a:tcPr>
                </a:tc>
                <a:tc>
                  <a:txBody>
                    <a:bodyPr/>
                    <a:lstStyle/>
                    <a:p>
                      <a:pPr algn="ctr"/>
                      <a:r>
                        <a:rPr sz="1800" b="0">
                          <a:solidFill>
                            <a:srgbClr val="1F2A37"/>
                          </a:solidFill>
                          <a:latin typeface="Consolas"/>
                        </a:rPr>
                        <a:t>64</a:t>
                      </a:r>
                    </a:p>
                  </a:txBody>
                  <a:tcPr marL="54864" marR="54864" marT="18288" marB="18288" anchor="ctr">
                    <a:solidFill>
                      <a:srgbClr val="FFFFFF"/>
                    </a:solidFill>
                  </a:tcPr>
                </a:tc>
                <a:tc>
                  <a:txBody>
                    <a:bodyPr/>
                    <a:lstStyle/>
                    <a:p>
                      <a:pPr algn="ctr"/>
                      <a:r>
                        <a:rPr sz="1800" b="0">
                          <a:solidFill>
                            <a:srgbClr val="1F2A37"/>
                          </a:solidFill>
                          <a:latin typeface="Consolas"/>
                        </a:rPr>
                        <a:t>27</a:t>
                      </a:r>
                    </a:p>
                  </a:txBody>
                  <a:tcPr marL="54864" marR="54864" marT="18288" marB="18288" anchor="ctr">
                    <a:solidFill>
                      <a:srgbClr val="FFFFFF"/>
                    </a:solidFill>
                  </a:tcPr>
                </a:tc>
                <a:tc>
                  <a:txBody>
                    <a:bodyPr/>
                    <a:lstStyle/>
                    <a:p>
                      <a:pPr algn="ctr"/>
                      <a:r>
                        <a:rPr sz="1800" b="0">
                          <a:solidFill>
                            <a:srgbClr val="1F2A37"/>
                          </a:solidFill>
                          <a:latin typeface="Consolas"/>
                        </a:rPr>
                        <a:t>85</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49</a:t>
                      </a:r>
                    </a:p>
                  </a:txBody>
                  <a:tcPr marL="54864" marR="54864" marT="18288" marB="18288" anchor="ctr">
                    <a:solidFill>
                      <a:srgbClr val="FFFFFF"/>
                    </a:solidFill>
                  </a:tcPr>
                </a:tc>
                <a:tc>
                  <a:txBody>
                    <a:bodyPr/>
                    <a:lstStyle/>
                    <a:p>
                      <a:pPr algn="ctr"/>
                      <a:r>
                        <a:rPr sz="1800" b="0">
                          <a:solidFill>
                            <a:srgbClr val="1F2A37"/>
                          </a:solidFill>
                          <a:latin typeface="Consolas"/>
                        </a:rPr>
                        <a:t>–</a:t>
                      </a:r>
                    </a:p>
                  </a:txBody>
                  <a:tcPr marL="54864" marR="54864" marT="18288" marB="18288" anchor="ctr">
                    <a:solidFill>
                      <a:srgbClr val="FFFFFF"/>
                    </a:solidFill>
                  </a:tcPr>
                </a:tc>
              </a:tr>
              <a:tr h="434339">
                <a:tc>
                  <a:txBody>
                    <a:bodyPr/>
                    <a:lstStyle/>
                    <a:p>
                      <a:pPr algn="ctr"/>
                      <a:r>
                        <a:rPr sz="1800" b="0">
                          <a:solidFill>
                            <a:srgbClr val="1F2A37"/>
                          </a:solidFill>
                          <a:latin typeface="Consolas"/>
                        </a:rPr>
                        <a:t>i = 1</a:t>
                      </a:r>
                    </a:p>
                  </a:txBody>
                  <a:tcPr marL="54864" marR="54864" marT="18288" marB="18288" anchor="ctr">
                    <a:solidFill>
                      <a:srgbClr val="EEF3FA"/>
                    </a:solidFill>
                  </a:tcPr>
                </a:tc>
                <a:tc>
                  <a:txBody>
                    <a:bodyPr/>
                    <a:lstStyle/>
                    <a:p>
                      <a:pPr algn="ctr"/>
                      <a:r>
                        <a:rPr sz="1800" b="0">
                          <a:solidFill>
                            <a:srgbClr val="1F2A37"/>
                          </a:solidFill>
                          <a:latin typeface="Consolas"/>
                        </a:rPr>
                        <a:t>27</a:t>
                      </a:r>
                    </a:p>
                  </a:txBody>
                  <a:tcPr marL="54864" marR="54864" marT="18288" marB="18288" anchor="ctr">
                    <a:solidFill>
                      <a:srgbClr val="EEF3FA"/>
                    </a:solidFill>
                  </a:tcPr>
                </a:tc>
                <a:tc>
                  <a:txBody>
                    <a:bodyPr/>
                    <a:lstStyle/>
                    <a:p>
                      <a:pPr algn="ctr"/>
                      <a:r>
                        <a:rPr sz="1800" b="0">
                          <a:solidFill>
                            <a:srgbClr val="1F2A37"/>
                          </a:solidFill>
                          <a:latin typeface="Consolas"/>
                        </a:rPr>
                        <a:t>64</a:t>
                      </a:r>
                    </a:p>
                  </a:txBody>
                  <a:tcPr marL="54864" marR="54864" marT="18288" marB="18288" anchor="ctr">
                    <a:solidFill>
                      <a:srgbClr val="EEF3FA"/>
                    </a:solidFill>
                  </a:tcPr>
                </a:tc>
                <a:tc>
                  <a:txBody>
                    <a:bodyPr/>
                    <a:lstStyle/>
                    <a:p>
                      <a:pPr algn="ctr"/>
                      <a:r>
                        <a:rPr sz="1800" b="0">
                          <a:solidFill>
                            <a:srgbClr val="1F2A37"/>
                          </a:solidFill>
                          <a:latin typeface="Consolas"/>
                        </a:rPr>
                        <a:t>85</a:t>
                      </a:r>
                    </a:p>
                  </a:txBody>
                  <a:tcPr marL="54864" marR="54864" marT="18288" marB="18288" anchor="ctr">
                    <a:solidFill>
                      <a:srgbClr val="EEF3FA"/>
                    </a:solidFill>
                  </a:tcPr>
                </a:tc>
                <a:tc>
                  <a:txBody>
                    <a:bodyPr/>
                    <a:lstStyle/>
                    <a:p>
                      <a:pPr algn="ctr"/>
                      <a:r>
                        <a:rPr sz="1800" b="0">
                          <a:solidFill>
                            <a:srgbClr val="1F2A37"/>
                          </a:solidFill>
                          <a:latin typeface="Consolas"/>
                        </a:rPr>
                        <a:t>12</a:t>
                      </a:r>
                    </a:p>
                  </a:txBody>
                  <a:tcPr marL="54864" marR="54864" marT="18288" marB="18288" anchor="ctr">
                    <a:solidFill>
                      <a:srgbClr val="EEF3FA"/>
                    </a:solidFill>
                  </a:tcPr>
                </a:tc>
                <a:tc>
                  <a:txBody>
                    <a:bodyPr/>
                    <a:lstStyle/>
                    <a:p>
                      <a:pPr algn="ctr"/>
                      <a:r>
                        <a:rPr sz="1800" b="0">
                          <a:solidFill>
                            <a:srgbClr val="1F2A37"/>
                          </a:solidFill>
                          <a:latin typeface="Consolas"/>
                        </a:rPr>
                        <a:t>49</a:t>
                      </a:r>
                    </a:p>
                  </a:txBody>
                  <a:tcPr marL="54864" marR="54864" marT="18288" marB="18288" anchor="ctr">
                    <a:solidFill>
                      <a:srgbClr val="EEF3FA"/>
                    </a:solidFill>
                  </a:tcPr>
                </a:tc>
                <a:tc>
                  <a:txBody>
                    <a:bodyPr/>
                    <a:lstStyle/>
                    <a:p>
                      <a:pPr algn="ctr"/>
                      <a:r>
                        <a:rPr sz="1800" b="0">
                          <a:solidFill>
                            <a:srgbClr val="1F2A37"/>
                          </a:solidFill>
                          <a:latin typeface="Consolas"/>
                        </a:rPr>
                        <a:t>1</a:t>
                      </a:r>
                    </a:p>
                  </a:txBody>
                  <a:tcPr marL="54864" marR="54864" marT="18288" marB="18288" anchor="ctr">
                    <a:solidFill>
                      <a:srgbClr val="EEF3FA"/>
                    </a:solidFill>
                  </a:tcPr>
                </a:tc>
              </a:tr>
              <a:tr h="434339">
                <a:tc>
                  <a:txBody>
                    <a:bodyPr/>
                    <a:lstStyle/>
                    <a:p>
                      <a:pPr algn="ctr"/>
                      <a:r>
                        <a:rPr sz="1800" b="0">
                          <a:solidFill>
                            <a:srgbClr val="1F2A37"/>
                          </a:solidFill>
                          <a:latin typeface="Consolas"/>
                        </a:rPr>
                        <a:t>i = 2</a:t>
                      </a:r>
                    </a:p>
                  </a:txBody>
                  <a:tcPr marL="54864" marR="54864" marT="18288" marB="18288" anchor="ctr">
                    <a:solidFill>
                      <a:srgbClr val="FFFFFF"/>
                    </a:solidFill>
                  </a:tcPr>
                </a:tc>
                <a:tc>
                  <a:txBody>
                    <a:bodyPr/>
                    <a:lstStyle/>
                    <a:p>
                      <a:pPr algn="ctr"/>
                      <a:r>
                        <a:rPr sz="1800" b="0">
                          <a:solidFill>
                            <a:srgbClr val="1F2A37"/>
                          </a:solidFill>
                          <a:latin typeface="Consolas"/>
                        </a:rPr>
                        <a:t>27</a:t>
                      </a:r>
                    </a:p>
                  </a:txBody>
                  <a:tcPr marL="54864" marR="54864" marT="18288" marB="18288" anchor="ctr">
                    <a:solidFill>
                      <a:srgbClr val="FFFFFF"/>
                    </a:solidFill>
                  </a:tcPr>
                </a:tc>
                <a:tc>
                  <a:txBody>
                    <a:bodyPr/>
                    <a:lstStyle/>
                    <a:p>
                      <a:pPr algn="ctr"/>
                      <a:r>
                        <a:rPr sz="1800" b="0">
                          <a:solidFill>
                            <a:srgbClr val="1F2A37"/>
                          </a:solidFill>
                          <a:latin typeface="Consolas"/>
                        </a:rPr>
                        <a:t>64</a:t>
                      </a:r>
                    </a:p>
                  </a:txBody>
                  <a:tcPr marL="54864" marR="54864" marT="18288" marB="18288" anchor="ctr">
                    <a:solidFill>
                      <a:srgbClr val="FFFFFF"/>
                    </a:solidFill>
                  </a:tcPr>
                </a:tc>
                <a:tc>
                  <a:txBody>
                    <a:bodyPr/>
                    <a:lstStyle/>
                    <a:p>
                      <a:pPr algn="ctr"/>
                      <a:r>
                        <a:rPr sz="1800" b="0">
                          <a:solidFill>
                            <a:srgbClr val="1F2A37"/>
                          </a:solidFill>
                          <a:latin typeface="Consolas"/>
                        </a:rPr>
                        <a:t>85</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49</a:t>
                      </a:r>
                    </a:p>
                  </a:txBody>
                  <a:tcPr marL="54864" marR="54864" marT="18288" marB="18288" anchor="ctr">
                    <a:solidFill>
                      <a:srgbClr val="FFFFFF"/>
                    </a:solidFill>
                  </a:tcPr>
                </a:tc>
                <a:tc>
                  <a:txBody>
                    <a:bodyPr/>
                    <a:lstStyle/>
                    <a:p>
                      <a:pPr algn="ctr"/>
                      <a:r>
                        <a:rPr sz="1800" b="0">
                          <a:solidFill>
                            <a:srgbClr val="1F2A37"/>
                          </a:solidFill>
                          <a:latin typeface="Consolas"/>
                        </a:rPr>
                        <a:t>2</a:t>
                      </a:r>
                    </a:p>
                  </a:txBody>
                  <a:tcPr marL="54864" marR="54864" marT="18288" marB="18288" anchor="ctr">
                    <a:solidFill>
                      <a:srgbClr val="FFFFFF"/>
                    </a:solidFill>
                  </a:tcPr>
                </a:tc>
              </a:tr>
              <a:tr h="434339">
                <a:tc>
                  <a:txBody>
                    <a:bodyPr/>
                    <a:lstStyle/>
                    <a:p>
                      <a:pPr algn="ctr"/>
                      <a:r>
                        <a:rPr sz="1800" b="0">
                          <a:solidFill>
                            <a:srgbClr val="1F2A37"/>
                          </a:solidFill>
                          <a:latin typeface="Consolas"/>
                        </a:rPr>
                        <a:t>i = 3</a:t>
                      </a:r>
                    </a:p>
                  </a:txBody>
                  <a:tcPr marL="54864" marR="54864" marT="18288" marB="18288" anchor="ctr">
                    <a:solidFill>
                      <a:srgbClr val="EEF3FA"/>
                    </a:solidFill>
                  </a:tcPr>
                </a:tc>
                <a:tc>
                  <a:txBody>
                    <a:bodyPr/>
                    <a:lstStyle/>
                    <a:p>
                      <a:pPr algn="ctr"/>
                      <a:r>
                        <a:rPr sz="1800" b="0">
                          <a:solidFill>
                            <a:srgbClr val="1F2A37"/>
                          </a:solidFill>
                          <a:latin typeface="Consolas"/>
                        </a:rPr>
                        <a:t>12</a:t>
                      </a:r>
                    </a:p>
                  </a:txBody>
                  <a:tcPr marL="54864" marR="54864" marT="18288" marB="18288" anchor="ctr">
                    <a:solidFill>
                      <a:srgbClr val="EEF3FA"/>
                    </a:solidFill>
                  </a:tcPr>
                </a:tc>
                <a:tc>
                  <a:txBody>
                    <a:bodyPr/>
                    <a:lstStyle/>
                    <a:p>
                      <a:pPr algn="ctr"/>
                      <a:r>
                        <a:rPr sz="1800" b="0">
                          <a:solidFill>
                            <a:srgbClr val="1F2A37"/>
                          </a:solidFill>
                          <a:latin typeface="Consolas"/>
                        </a:rPr>
                        <a:t>27</a:t>
                      </a:r>
                    </a:p>
                  </a:txBody>
                  <a:tcPr marL="54864" marR="54864" marT="18288" marB="18288" anchor="ctr">
                    <a:solidFill>
                      <a:srgbClr val="EEF3FA"/>
                    </a:solidFill>
                  </a:tcPr>
                </a:tc>
                <a:tc>
                  <a:txBody>
                    <a:bodyPr/>
                    <a:lstStyle/>
                    <a:p>
                      <a:pPr algn="ctr"/>
                      <a:r>
                        <a:rPr sz="1800" b="0">
                          <a:solidFill>
                            <a:srgbClr val="1F2A37"/>
                          </a:solidFill>
                          <a:latin typeface="Consolas"/>
                        </a:rPr>
                        <a:t>64</a:t>
                      </a:r>
                    </a:p>
                  </a:txBody>
                  <a:tcPr marL="54864" marR="54864" marT="18288" marB="18288" anchor="ctr">
                    <a:solidFill>
                      <a:srgbClr val="EEF3FA"/>
                    </a:solidFill>
                  </a:tcPr>
                </a:tc>
                <a:tc>
                  <a:txBody>
                    <a:bodyPr/>
                    <a:lstStyle/>
                    <a:p>
                      <a:pPr algn="ctr"/>
                      <a:r>
                        <a:rPr sz="1800" b="0">
                          <a:solidFill>
                            <a:srgbClr val="1F2A37"/>
                          </a:solidFill>
                          <a:latin typeface="Consolas"/>
                        </a:rPr>
                        <a:t>85</a:t>
                      </a:r>
                    </a:p>
                  </a:txBody>
                  <a:tcPr marL="54864" marR="54864" marT="18288" marB="18288" anchor="ctr">
                    <a:solidFill>
                      <a:srgbClr val="EEF3FA"/>
                    </a:solidFill>
                  </a:tcPr>
                </a:tc>
                <a:tc>
                  <a:txBody>
                    <a:bodyPr/>
                    <a:lstStyle/>
                    <a:p>
                      <a:pPr algn="ctr"/>
                      <a:r>
                        <a:rPr sz="1800" b="0">
                          <a:solidFill>
                            <a:srgbClr val="1F2A37"/>
                          </a:solidFill>
                          <a:latin typeface="Consolas"/>
                        </a:rPr>
                        <a:t>49</a:t>
                      </a:r>
                    </a:p>
                  </a:txBody>
                  <a:tcPr marL="54864" marR="54864" marT="18288" marB="18288" anchor="ctr">
                    <a:solidFill>
                      <a:srgbClr val="EEF3FA"/>
                    </a:solidFill>
                  </a:tcPr>
                </a:tc>
                <a:tc>
                  <a:txBody>
                    <a:bodyPr/>
                    <a:lstStyle/>
                    <a:p>
                      <a:pPr algn="ctr"/>
                      <a:r>
                        <a:rPr sz="1800" b="0">
                          <a:solidFill>
                            <a:srgbClr val="1F2A37"/>
                          </a:solidFill>
                          <a:latin typeface="Consolas"/>
                        </a:rPr>
                        <a:t>5</a:t>
                      </a:r>
                    </a:p>
                  </a:txBody>
                  <a:tcPr marL="54864" marR="54864" marT="18288" marB="18288" anchor="ctr">
                    <a:solidFill>
                      <a:srgbClr val="EEF3FA"/>
                    </a:solidFill>
                  </a:tcPr>
                </a:tc>
              </a:tr>
              <a:tr h="434339">
                <a:tc>
                  <a:txBody>
                    <a:bodyPr/>
                    <a:lstStyle/>
                    <a:p>
                      <a:pPr algn="ctr"/>
                      <a:r>
                        <a:rPr sz="1800" b="0">
                          <a:solidFill>
                            <a:srgbClr val="1F2A37"/>
                          </a:solidFill>
                          <a:latin typeface="Consolas"/>
                        </a:rPr>
                        <a:t>i = 4</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27</a:t>
                      </a:r>
                    </a:p>
                  </a:txBody>
                  <a:tcPr marL="54864" marR="54864" marT="18288" marB="18288" anchor="ctr">
                    <a:solidFill>
                      <a:srgbClr val="FFFFFF"/>
                    </a:solidFill>
                  </a:tcPr>
                </a:tc>
                <a:tc>
                  <a:txBody>
                    <a:bodyPr/>
                    <a:lstStyle/>
                    <a:p>
                      <a:pPr algn="ctr"/>
                      <a:r>
                        <a:rPr sz="1800" b="0">
                          <a:solidFill>
                            <a:srgbClr val="1F2A37"/>
                          </a:solidFill>
                          <a:latin typeface="Consolas"/>
                        </a:rPr>
                        <a:t>49</a:t>
                      </a:r>
                    </a:p>
                  </a:txBody>
                  <a:tcPr marL="54864" marR="54864" marT="18288" marB="18288" anchor="ctr">
                    <a:solidFill>
                      <a:srgbClr val="FFFFFF"/>
                    </a:solidFill>
                  </a:tcPr>
                </a:tc>
                <a:tc>
                  <a:txBody>
                    <a:bodyPr/>
                    <a:lstStyle/>
                    <a:p>
                      <a:pPr algn="ctr"/>
                      <a:r>
                        <a:rPr sz="1800" b="0">
                          <a:solidFill>
                            <a:srgbClr val="1F2A37"/>
                          </a:solidFill>
                          <a:latin typeface="Consolas"/>
                        </a:rPr>
                        <a:t>64</a:t>
                      </a:r>
                    </a:p>
                  </a:txBody>
                  <a:tcPr marL="54864" marR="54864" marT="18288" marB="18288" anchor="ctr">
                    <a:solidFill>
                      <a:srgbClr val="FFFFFF"/>
                    </a:solidFill>
                  </a:tcPr>
                </a:tc>
                <a:tc>
                  <a:txBody>
                    <a:bodyPr/>
                    <a:lstStyle/>
                    <a:p>
                      <a:pPr algn="ctr"/>
                      <a:r>
                        <a:rPr sz="1800" b="0">
                          <a:solidFill>
                            <a:srgbClr val="1F2A37"/>
                          </a:solidFill>
                          <a:latin typeface="Consolas"/>
                        </a:rPr>
                        <a:t>85</a:t>
                      </a:r>
                    </a:p>
                  </a:txBody>
                  <a:tcPr marL="54864" marR="54864" marT="18288" marB="18288" anchor="ctr">
                    <a:solidFill>
                      <a:srgbClr val="FFFFFF"/>
                    </a:solidFill>
                  </a:tcPr>
                </a:tc>
                <a:tc>
                  <a:txBody>
                    <a:bodyPr/>
                    <a:lstStyle/>
                    <a:p>
                      <a:pPr algn="ctr"/>
                      <a:r>
                        <a:rPr sz="1800" b="0">
                          <a:solidFill>
                            <a:srgbClr val="1F2A37"/>
                          </a:solidFill>
                          <a:latin typeface="Consolas"/>
                        </a:rPr>
                        <a:t>8</a:t>
                      </a:r>
                    </a:p>
                  </a:txBody>
                  <a:tcPr marL="54864" marR="54864" marT="18288" marB="18288" anchor="ctr">
                    <a:solidFill>
                      <a:srgbClr val="FFFFFF"/>
                    </a:solidFill>
                  </a:tcPr>
                </a:tc>
              </a:tr>
            </a:tbl>
          </a:graphicData>
        </a:graphic>
      </p:graphicFrame>
      <p:sp>
        <p:nvSpPr>
          <p:cNvPr id="6" name="Rounded Rectangle 5"/>
          <p:cNvSpPr/>
          <p:nvPr/>
        </p:nvSpPr>
        <p:spPr>
          <a:xfrm>
            <a:off x="7498079" y="1325880"/>
            <a:ext cx="4144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Beobachtung</a:t>
            </a:r>
            <a:r>
              <a:rPr sz="2000" b="0" i="0">
                <a:solidFill>
                  <a:srgbClr val="1F2A37"/>
                </a:solidFill>
                <a:latin typeface="Calibri"/>
              </a:rPr>
              <a:t/>
            </a:r>
          </a:p>
          <a:p>
            <a:pPr>
              <a:spcAft>
                <a:spcPts val="600"/>
              </a:spcAft>
            </a:pPr>
            <a:r>
              <a:rPr sz="2000" b="1" i="0">
                <a:solidFill>
                  <a:srgbClr val="1F2A37"/>
                </a:solidFill>
                <a:latin typeface="Calibri"/>
              </a:rPr>
              <a:t>8</a:t>
            </a:r>
            <a:r>
              <a:rPr sz="2000" b="0" i="0">
                <a:solidFill>
                  <a:srgbClr val="1F2A37"/>
                </a:solidFill>
                <a:latin typeface="Calibri"/>
              </a:rPr>
              <a:t> Vergleiche, 6 Vertauschungen</a:t>
            </a:r>
            <a:r>
              <a:rPr sz="2000" b="0" i="0">
                <a:solidFill>
                  <a:srgbClr val="1F2A37"/>
                </a:solidFill>
                <a:latin typeface="Calibri"/>
              </a:rPr>
              <a:t/>
            </a:r>
          </a:p>
          <a:p>
            <a:pPr>
              <a:spcAft>
                <a:spcPts val="600"/>
              </a:spcAft>
            </a:pPr>
            <a:r>
              <a:rPr sz="2000" b="0" i="0">
                <a:solidFill>
                  <a:srgbClr val="1F2A37"/>
                </a:solidFill>
                <a:latin typeface="Calibri"/>
              </a:rPr>
              <a:t>Hängt von den Daten ab:</a:t>
            </a:r>
            <a:r>
              <a:rPr sz="2000" b="0" i="0">
                <a:solidFill>
                  <a:srgbClr val="1F2A37"/>
                </a:solidFill>
                <a:latin typeface="Calibri"/>
              </a:rPr>
              <a:t/>
            </a:r>
          </a:p>
          <a:p>
            <a:pPr>
              <a:spcAft>
                <a:spcPts val="600"/>
              </a:spcAft>
            </a:pPr>
            <a:r>
              <a:rPr sz="2000" b="0" i="0">
                <a:solidFill>
                  <a:srgbClr val="1F2A37"/>
                </a:solidFill>
                <a:latin typeface="Calibri"/>
              </a:rPr>
              <a:t>sortiert: n − 1 = </a:t>
            </a:r>
            <a:r>
              <a:rPr sz="2000" b="1" i="0">
                <a:solidFill>
                  <a:srgbClr val="1F2A37"/>
                </a:solidFill>
                <a:latin typeface="Calibri"/>
              </a:rPr>
              <a:t>4</a:t>
            </a:r>
            <a:r>
              <a:rPr sz="2000" b="0" i="0">
                <a:solidFill>
                  <a:srgbClr val="1F2A37"/>
                </a:solidFill>
                <a:latin typeface="Calibri"/>
              </a:rPr>
              <a:t/>
            </a:r>
          </a:p>
          <a:p>
            <a:pPr>
              <a:spcAft>
                <a:spcPts val="600"/>
              </a:spcAft>
            </a:pPr>
            <a:r>
              <a:rPr sz="2000" b="0" i="0">
                <a:solidFill>
                  <a:srgbClr val="1F2A37"/>
                </a:solidFill>
                <a:latin typeface="Calibri"/>
              </a:rPr>
              <a:t>umgekehrt: </a:t>
            </a:r>
            <a:r>
              <a:rPr sz="2000" b="1" i="0">
                <a:solidFill>
                  <a:srgbClr val="1F2A37"/>
                </a:solidFill>
                <a:latin typeface="Calibri"/>
              </a:rPr>
              <a:t>10</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Bubblesort: Nachbarn tauschen – mit Abbruch</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3983736"/>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3892296"/>
          </a:xfrm>
          <a:prstGeom prst="rect">
            <a:avLst/>
          </a:prstGeom>
          <a:noFill/>
        </p:spPr>
        <p:txBody>
          <a:bodyPr wrap="square" anchor="t" lIns="45720" rIns="45720">
            <a:spAutoFit/>
          </a:bodyPr>
          <a:lstStyle/>
          <a:p>
            <a:pPr>
              <a:lnSpc>
                <a:spcPct val="100000"/>
              </a:lnSpc>
            </a:pPr>
            <a:r>
              <a:rPr sz="1600" b="0" i="0">
                <a:solidFill>
                  <a:srgbClr val="1F2A37"/>
                </a:solidFill>
                <a:latin typeface="Consolas"/>
              </a:rPr>
              <a:t>public static void bubbleSort(int[] r) {</a:t>
            </a:r>
          </a:p>
          <a:p>
            <a:pPr>
              <a:lnSpc>
                <a:spcPct val="100000"/>
              </a:lnSpc>
            </a:pPr>
            <a:r>
              <a:rPr sz="1600" b="0" i="0">
                <a:solidFill>
                  <a:srgbClr val="1F2A37"/>
                </a:solidFill>
                <a:latin typeface="Consolas"/>
              </a:rPr>
              <a:t>    boolean getauscht = true;</a:t>
            </a:r>
          </a:p>
          <a:p>
            <a:pPr>
              <a:lnSpc>
                <a:spcPct val="100000"/>
              </a:lnSpc>
            </a:pPr>
            <a:r>
              <a:rPr sz="1600" b="0" i="0">
                <a:solidFill>
                  <a:srgbClr val="1F2A37"/>
                </a:solidFill>
                <a:latin typeface="Consolas"/>
              </a:rPr>
              <a:t>    int durchlauf = 0;</a:t>
            </a:r>
          </a:p>
          <a:p>
            <a:pPr>
              <a:lnSpc>
                <a:spcPct val="100000"/>
              </a:lnSpc>
            </a:pPr>
            <a:r>
              <a:rPr sz="1600" b="0" i="0">
                <a:solidFill>
                  <a:srgbClr val="1F2A37"/>
                </a:solidFill>
                <a:latin typeface="Consolas"/>
              </a:rPr>
              <a:t>    while (getauscht) {</a:t>
            </a:r>
          </a:p>
          <a:p>
            <a:pPr>
              <a:lnSpc>
                <a:spcPct val="100000"/>
              </a:lnSpc>
            </a:pPr>
            <a:r>
              <a:rPr sz="1600" b="0" i="0">
                <a:solidFill>
                  <a:srgbClr val="1F2A37"/>
                </a:solidFill>
                <a:latin typeface="Consolas"/>
              </a:rPr>
              <a:t>        getauscht = false;</a:t>
            </a:r>
          </a:p>
          <a:p>
            <a:pPr>
              <a:lnSpc>
                <a:spcPct val="100000"/>
              </a:lnSpc>
            </a:pPr>
            <a:r>
              <a:rPr sz="1600" b="0" i="0">
                <a:solidFill>
                  <a:srgbClr val="1F2A37"/>
                </a:solidFill>
                <a:latin typeface="Consolas"/>
              </a:rPr>
              <a:t>        for (int j = 0; j &lt; r.length - 1 - durchlauf; j++) {</a:t>
            </a:r>
          </a:p>
          <a:p>
            <a:pPr>
              <a:lnSpc>
                <a:spcPct val="100000"/>
              </a:lnSpc>
            </a:pPr>
            <a:r>
              <a:rPr sz="1600" b="0" i="0">
                <a:solidFill>
                  <a:srgbClr val="1F2A37"/>
                </a:solidFill>
                <a:latin typeface="Consolas"/>
              </a:rPr>
              <a:t>            if (r[j + 1] &lt; r[j]) {</a:t>
            </a:r>
          </a:p>
          <a:p>
            <a:pPr>
              <a:lnSpc>
                <a:spcPct val="100000"/>
              </a:lnSpc>
            </a:pPr>
            <a:r>
              <a:rPr sz="1600" b="0" i="0">
                <a:solidFill>
                  <a:srgbClr val="1F2A37"/>
                </a:solidFill>
                <a:latin typeface="Consolas"/>
              </a:rPr>
              <a:t>                tausche(r, j, j + 1);</a:t>
            </a:r>
          </a:p>
          <a:p>
            <a:pPr>
              <a:lnSpc>
                <a:spcPct val="100000"/>
              </a:lnSpc>
            </a:pPr>
            <a:r>
              <a:rPr sz="1600" b="0" i="0">
                <a:solidFill>
                  <a:srgbClr val="1F2A37"/>
                </a:solidFill>
                <a:latin typeface="Consolas"/>
              </a:rPr>
              <a:t>                getauscht = true;</a:t>
            </a:r>
          </a:p>
          <a:p>
            <a:pPr>
              <a:lnSpc>
                <a:spcPct val="100000"/>
              </a:lnSpc>
            </a:pPr>
            <a:r>
              <a:rPr sz="1600" b="0" i="0">
                <a:solidFill>
                  <a:srgbClr val="1F2A37"/>
                </a:solidFill>
                <a:latin typeface="Consolas"/>
              </a:rPr>
              <a:t>            }</a:t>
            </a:r>
          </a:p>
          <a:p>
            <a:pPr>
              <a:lnSpc>
                <a:spcPct val="100000"/>
              </a:lnSpc>
            </a:pPr>
            <a:r>
              <a:rPr sz="1600" b="0" i="0">
                <a:solidFill>
                  <a:srgbClr val="1F2A37"/>
                </a:solidFill>
                <a:latin typeface="Consolas"/>
              </a:rPr>
              <a:t>        }</a:t>
            </a:r>
          </a:p>
          <a:p>
            <a:pPr>
              <a:lnSpc>
                <a:spcPct val="100000"/>
              </a:lnSpc>
            </a:pPr>
            <a:r>
              <a:rPr sz="1600" b="0" i="0">
                <a:solidFill>
                  <a:srgbClr val="1F2A37"/>
                </a:solidFill>
                <a:latin typeface="Consolas"/>
              </a:rPr>
              <a:t>        durchlauf++;</a:t>
            </a:r>
          </a:p>
          <a:p>
            <a:pPr>
              <a:lnSpc>
                <a:spcPct val="100000"/>
              </a:lnSpc>
            </a:pPr>
            <a:r>
              <a:rPr sz="1600" b="0" i="0">
                <a:solidFill>
                  <a:srgbClr val="1F2A37"/>
                </a:solidFill>
                <a:latin typeface="Consolas"/>
              </a:rPr>
              <a:t>    }</a:t>
            </a:r>
          </a:p>
          <a:p>
            <a:pPr>
              <a:lnSpc>
                <a:spcPct val="100000"/>
              </a:lnSpc>
            </a:pPr>
            <a:r>
              <a:rPr sz="1600" b="0" i="0">
                <a:solidFill>
                  <a:srgbClr val="1F2A37"/>
                </a:solidFill>
                <a:latin typeface="Consolas"/>
              </a:rPr>
              <a:t>}</a:t>
            </a:r>
          </a:p>
        </p:txBody>
      </p:sp>
      <p:sp>
        <p:nvSpPr>
          <p:cNvPr id="7" name="TextBox 6"/>
          <p:cNvSpPr txBox="1"/>
          <p:nvPr/>
        </p:nvSpPr>
        <p:spPr>
          <a:xfrm>
            <a:off x="548640" y="5538216"/>
            <a:ext cx="7772400" cy="816864"/>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0" i="0">
                <a:solidFill>
                  <a:srgbClr val="1F2A37"/>
                </a:solidFill>
                <a:latin typeface="Calibri"/>
              </a:rPr>
              <a:t>Nachbarn vergleichen, tauschen – </a:t>
            </a:r>
            <a:r>
              <a:rPr sz="2000" b="1" i="0">
                <a:solidFill>
                  <a:srgbClr val="1F2A37"/>
                </a:solidFill>
                <a:latin typeface="Calibri"/>
              </a:rPr>
              <a:t>Abbruch</a:t>
            </a:r>
            <a:r>
              <a:rPr sz="2000" b="0" i="0">
                <a:solidFill>
                  <a:srgbClr val="1F2A37"/>
                </a:solidFill>
                <a:latin typeface="Calibri"/>
              </a:rPr>
              <a:t>, wenn ein Lauf ohne Tausch bleibt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Bubblesort: Zustand nach jedem Lauf</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766555" cy="2606034"/>
        </p:xfrm>
        <a:graphic>
          <a:graphicData uri="http://schemas.openxmlformats.org/drawingml/2006/table">
            <a:tbl>
              <a:tblPr firstRow="1" bandRow="1">
                <a:tableStyleId>{5C22544A-7EE6-4342-B048-85BDC9FD1C3A}</a:tableStyleId>
              </a:tblPr>
              <a:tblGrid>
                <a:gridCol w="1335505"/>
                <a:gridCol w="890336"/>
                <a:gridCol w="890336"/>
                <a:gridCol w="890336"/>
                <a:gridCol w="890336"/>
                <a:gridCol w="890336"/>
                <a:gridCol w="979370"/>
              </a:tblGrid>
              <a:tr h="434339">
                <a:tc>
                  <a:txBody>
                    <a:bodyPr/>
                    <a:lstStyle/>
                    <a:p>
                      <a:pPr algn="ctr"/>
                      <a:r>
                        <a:rPr sz="1800" b="1">
                          <a:solidFill>
                            <a:srgbClr val="FFFFFF"/>
                          </a:solidFill>
                          <a:latin typeface="Calibri"/>
                        </a:rPr>
                        <a:t/>
                      </a:r>
                    </a:p>
                  </a:txBody>
                  <a:tcPr marL="54864" marR="54864" marT="18288" marB="18288" anchor="ctr">
                    <a:solidFill>
                      <a:srgbClr val="1F4E79"/>
                    </a:solidFill>
                  </a:tcPr>
                </a:tc>
                <a:tc>
                  <a:txBody>
                    <a:bodyPr/>
                    <a:lstStyle/>
                    <a:p>
                      <a:pPr algn="ctr"/>
                      <a:r>
                        <a:rPr sz="1800" b="1">
                          <a:solidFill>
                            <a:srgbClr val="FFFFFF"/>
                          </a:solidFill>
                          <a:latin typeface="Calibri"/>
                        </a:rPr>
                        <a:t>0</a:t>
                      </a:r>
                    </a:p>
                  </a:txBody>
                  <a:tcPr marL="54864" marR="54864" marT="18288" marB="18288" anchor="ctr">
                    <a:solidFill>
                      <a:srgbClr val="1F4E79"/>
                    </a:solidFill>
                  </a:tcPr>
                </a:tc>
                <a:tc>
                  <a:txBody>
                    <a:bodyPr/>
                    <a:lstStyle/>
                    <a:p>
                      <a:pPr algn="ctr"/>
                      <a:r>
                        <a:rPr sz="1800" b="1">
                          <a:solidFill>
                            <a:srgbClr val="FFFFFF"/>
                          </a:solidFill>
                          <a:latin typeface="Calibri"/>
                        </a:rPr>
                        <a:t>1</a:t>
                      </a:r>
                    </a:p>
                  </a:txBody>
                  <a:tcPr marL="54864" marR="54864" marT="18288" marB="18288" anchor="ctr">
                    <a:solidFill>
                      <a:srgbClr val="1F4E79"/>
                    </a:solidFill>
                  </a:tcPr>
                </a:tc>
                <a:tc>
                  <a:txBody>
                    <a:bodyPr/>
                    <a:lstStyle/>
                    <a:p>
                      <a:pPr algn="ctr"/>
                      <a:r>
                        <a:rPr sz="1800" b="1">
                          <a:solidFill>
                            <a:srgbClr val="FFFFFF"/>
                          </a:solidFill>
                          <a:latin typeface="Calibri"/>
                        </a:rPr>
                        <a:t>2</a:t>
                      </a:r>
                    </a:p>
                  </a:txBody>
                  <a:tcPr marL="54864" marR="54864" marT="18288" marB="18288" anchor="ctr">
                    <a:solidFill>
                      <a:srgbClr val="1F4E79"/>
                    </a:solidFill>
                  </a:tcPr>
                </a:tc>
                <a:tc>
                  <a:txBody>
                    <a:bodyPr/>
                    <a:lstStyle/>
                    <a:p>
                      <a:pPr algn="ctr"/>
                      <a:r>
                        <a:rPr sz="1800" b="1">
                          <a:solidFill>
                            <a:srgbClr val="FFFFFF"/>
                          </a:solidFill>
                          <a:latin typeface="Calibri"/>
                        </a:rPr>
                        <a:t>3</a:t>
                      </a:r>
                    </a:p>
                  </a:txBody>
                  <a:tcPr marL="54864" marR="54864" marT="18288" marB="18288" anchor="ctr">
                    <a:solidFill>
                      <a:srgbClr val="1F4E79"/>
                    </a:solidFill>
                  </a:tcPr>
                </a:tc>
                <a:tc>
                  <a:txBody>
                    <a:bodyPr/>
                    <a:lstStyle/>
                    <a:p>
                      <a:pPr algn="ctr"/>
                      <a:r>
                        <a:rPr sz="1800" b="1">
                          <a:solidFill>
                            <a:srgbClr val="FFFFFF"/>
                          </a:solidFill>
                          <a:latin typeface="Calibri"/>
                        </a:rPr>
                        <a:t>4</a:t>
                      </a:r>
                    </a:p>
                  </a:txBody>
                  <a:tcPr marL="54864" marR="54864" marT="18288" marB="18288" anchor="ctr">
                    <a:solidFill>
                      <a:srgbClr val="1F4E79"/>
                    </a:solidFill>
                  </a:tcPr>
                </a:tc>
                <a:tc>
                  <a:txBody>
                    <a:bodyPr/>
                    <a:lstStyle/>
                    <a:p>
                      <a:pPr algn="ctr"/>
                      <a:r>
                        <a:rPr sz="1800" b="1">
                          <a:solidFill>
                            <a:srgbClr val="FFFFFF"/>
                          </a:solidFill>
                          <a:latin typeface="Calibri"/>
                        </a:rPr>
                        <a:t>Vergl.</a:t>
                      </a:r>
                    </a:p>
                  </a:txBody>
                  <a:tcPr marL="54864" marR="54864" marT="18288" marB="18288" anchor="ctr">
                    <a:solidFill>
                      <a:srgbClr val="1F4E79"/>
                    </a:solidFill>
                  </a:tcPr>
                </a:tc>
              </a:tr>
              <a:tr h="434339">
                <a:tc>
                  <a:txBody>
                    <a:bodyPr/>
                    <a:lstStyle/>
                    <a:p>
                      <a:pPr algn="ctr"/>
                      <a:r>
                        <a:rPr sz="1800" b="0">
                          <a:solidFill>
                            <a:srgbClr val="1F2A37"/>
                          </a:solidFill>
                          <a:latin typeface="Consolas"/>
                        </a:rPr>
                        <a:t>Start</a:t>
                      </a:r>
                    </a:p>
                  </a:txBody>
                  <a:tcPr marL="54864" marR="54864" marT="18288" marB="18288" anchor="ctr">
                    <a:solidFill>
                      <a:srgbClr val="FFFFFF"/>
                    </a:solidFill>
                  </a:tcPr>
                </a:tc>
                <a:tc>
                  <a:txBody>
                    <a:bodyPr/>
                    <a:lstStyle/>
                    <a:p>
                      <a:pPr algn="ctr"/>
                      <a:r>
                        <a:rPr sz="1800" b="0">
                          <a:solidFill>
                            <a:srgbClr val="1F2A37"/>
                          </a:solidFill>
                          <a:latin typeface="Consolas"/>
                        </a:rPr>
                        <a:t>64</a:t>
                      </a:r>
                    </a:p>
                  </a:txBody>
                  <a:tcPr marL="54864" marR="54864" marT="18288" marB="18288" anchor="ctr">
                    <a:solidFill>
                      <a:srgbClr val="FFFFFF"/>
                    </a:solidFill>
                  </a:tcPr>
                </a:tc>
                <a:tc>
                  <a:txBody>
                    <a:bodyPr/>
                    <a:lstStyle/>
                    <a:p>
                      <a:pPr algn="ctr"/>
                      <a:r>
                        <a:rPr sz="1800" b="0">
                          <a:solidFill>
                            <a:srgbClr val="1F2A37"/>
                          </a:solidFill>
                          <a:latin typeface="Consolas"/>
                        </a:rPr>
                        <a:t>27</a:t>
                      </a:r>
                    </a:p>
                  </a:txBody>
                  <a:tcPr marL="54864" marR="54864" marT="18288" marB="18288" anchor="ctr">
                    <a:solidFill>
                      <a:srgbClr val="FFFFFF"/>
                    </a:solidFill>
                  </a:tcPr>
                </a:tc>
                <a:tc>
                  <a:txBody>
                    <a:bodyPr/>
                    <a:lstStyle/>
                    <a:p>
                      <a:pPr algn="ctr"/>
                      <a:r>
                        <a:rPr sz="1800" b="0">
                          <a:solidFill>
                            <a:srgbClr val="1F2A37"/>
                          </a:solidFill>
                          <a:latin typeface="Consolas"/>
                        </a:rPr>
                        <a:t>85</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49</a:t>
                      </a:r>
                    </a:p>
                  </a:txBody>
                  <a:tcPr marL="54864" marR="54864" marT="18288" marB="18288" anchor="ctr">
                    <a:solidFill>
                      <a:srgbClr val="FFFFFF"/>
                    </a:solidFill>
                  </a:tcPr>
                </a:tc>
                <a:tc>
                  <a:txBody>
                    <a:bodyPr/>
                    <a:lstStyle/>
                    <a:p>
                      <a:pPr algn="ctr"/>
                      <a:r>
                        <a:rPr sz="1800" b="0">
                          <a:solidFill>
                            <a:srgbClr val="1F2A37"/>
                          </a:solidFill>
                          <a:latin typeface="Consolas"/>
                        </a:rPr>
                        <a:t>–</a:t>
                      </a:r>
                    </a:p>
                  </a:txBody>
                  <a:tcPr marL="54864" marR="54864" marT="18288" marB="18288" anchor="ctr">
                    <a:solidFill>
                      <a:srgbClr val="FFFFFF"/>
                    </a:solidFill>
                  </a:tcPr>
                </a:tc>
              </a:tr>
              <a:tr h="434339">
                <a:tc>
                  <a:txBody>
                    <a:bodyPr/>
                    <a:lstStyle/>
                    <a:p>
                      <a:pPr algn="ctr"/>
                      <a:r>
                        <a:rPr sz="1800" b="0">
                          <a:solidFill>
                            <a:srgbClr val="1F2A37"/>
                          </a:solidFill>
                          <a:latin typeface="Consolas"/>
                        </a:rPr>
                        <a:t>Lauf 1</a:t>
                      </a:r>
                    </a:p>
                  </a:txBody>
                  <a:tcPr marL="54864" marR="54864" marT="18288" marB="18288" anchor="ctr">
                    <a:solidFill>
                      <a:srgbClr val="EEF3FA"/>
                    </a:solidFill>
                  </a:tcPr>
                </a:tc>
                <a:tc>
                  <a:txBody>
                    <a:bodyPr/>
                    <a:lstStyle/>
                    <a:p>
                      <a:pPr algn="ctr"/>
                      <a:r>
                        <a:rPr sz="1800" b="0">
                          <a:solidFill>
                            <a:srgbClr val="1F2A37"/>
                          </a:solidFill>
                          <a:latin typeface="Consolas"/>
                        </a:rPr>
                        <a:t>27</a:t>
                      </a:r>
                    </a:p>
                  </a:txBody>
                  <a:tcPr marL="54864" marR="54864" marT="18288" marB="18288" anchor="ctr">
                    <a:solidFill>
                      <a:srgbClr val="EEF3FA"/>
                    </a:solidFill>
                  </a:tcPr>
                </a:tc>
                <a:tc>
                  <a:txBody>
                    <a:bodyPr/>
                    <a:lstStyle/>
                    <a:p>
                      <a:pPr algn="ctr"/>
                      <a:r>
                        <a:rPr sz="1800" b="0">
                          <a:solidFill>
                            <a:srgbClr val="1F2A37"/>
                          </a:solidFill>
                          <a:latin typeface="Consolas"/>
                        </a:rPr>
                        <a:t>64</a:t>
                      </a:r>
                    </a:p>
                  </a:txBody>
                  <a:tcPr marL="54864" marR="54864" marT="18288" marB="18288" anchor="ctr">
                    <a:solidFill>
                      <a:srgbClr val="EEF3FA"/>
                    </a:solidFill>
                  </a:tcPr>
                </a:tc>
                <a:tc>
                  <a:txBody>
                    <a:bodyPr/>
                    <a:lstStyle/>
                    <a:p>
                      <a:pPr algn="ctr"/>
                      <a:r>
                        <a:rPr sz="1800" b="0">
                          <a:solidFill>
                            <a:srgbClr val="1F2A37"/>
                          </a:solidFill>
                          <a:latin typeface="Consolas"/>
                        </a:rPr>
                        <a:t>12</a:t>
                      </a:r>
                    </a:p>
                  </a:txBody>
                  <a:tcPr marL="54864" marR="54864" marT="18288" marB="18288" anchor="ctr">
                    <a:solidFill>
                      <a:srgbClr val="EEF3FA"/>
                    </a:solidFill>
                  </a:tcPr>
                </a:tc>
                <a:tc>
                  <a:txBody>
                    <a:bodyPr/>
                    <a:lstStyle/>
                    <a:p>
                      <a:pPr algn="ctr"/>
                      <a:r>
                        <a:rPr sz="1800" b="0">
                          <a:solidFill>
                            <a:srgbClr val="1F2A37"/>
                          </a:solidFill>
                          <a:latin typeface="Consolas"/>
                        </a:rPr>
                        <a:t>49</a:t>
                      </a:r>
                    </a:p>
                  </a:txBody>
                  <a:tcPr marL="54864" marR="54864" marT="18288" marB="18288" anchor="ctr">
                    <a:solidFill>
                      <a:srgbClr val="EEF3FA"/>
                    </a:solidFill>
                  </a:tcPr>
                </a:tc>
                <a:tc>
                  <a:txBody>
                    <a:bodyPr/>
                    <a:lstStyle/>
                    <a:p>
                      <a:pPr algn="ctr"/>
                      <a:r>
                        <a:rPr sz="1800" b="0">
                          <a:solidFill>
                            <a:srgbClr val="1F2A37"/>
                          </a:solidFill>
                          <a:latin typeface="Consolas"/>
                        </a:rPr>
                        <a:t>85</a:t>
                      </a:r>
                    </a:p>
                  </a:txBody>
                  <a:tcPr marL="54864" marR="54864" marT="18288" marB="18288" anchor="ctr">
                    <a:solidFill>
                      <a:srgbClr val="EEF3FA"/>
                    </a:solidFill>
                  </a:tcPr>
                </a:tc>
                <a:tc>
                  <a:txBody>
                    <a:bodyPr/>
                    <a:lstStyle/>
                    <a:p>
                      <a:pPr algn="ctr"/>
                      <a:r>
                        <a:rPr sz="1800" b="0">
                          <a:solidFill>
                            <a:srgbClr val="1F2A37"/>
                          </a:solidFill>
                          <a:latin typeface="Consolas"/>
                        </a:rPr>
                        <a:t>4</a:t>
                      </a:r>
                    </a:p>
                  </a:txBody>
                  <a:tcPr marL="54864" marR="54864" marT="18288" marB="18288" anchor="ctr">
                    <a:solidFill>
                      <a:srgbClr val="EEF3FA"/>
                    </a:solidFill>
                  </a:tcPr>
                </a:tc>
              </a:tr>
              <a:tr h="434339">
                <a:tc>
                  <a:txBody>
                    <a:bodyPr/>
                    <a:lstStyle/>
                    <a:p>
                      <a:pPr algn="ctr"/>
                      <a:r>
                        <a:rPr sz="1800" b="0">
                          <a:solidFill>
                            <a:srgbClr val="1F2A37"/>
                          </a:solidFill>
                          <a:latin typeface="Consolas"/>
                        </a:rPr>
                        <a:t>Lauf 2</a:t>
                      </a:r>
                    </a:p>
                  </a:txBody>
                  <a:tcPr marL="54864" marR="54864" marT="18288" marB="18288" anchor="ctr">
                    <a:solidFill>
                      <a:srgbClr val="FFFFFF"/>
                    </a:solidFill>
                  </a:tcPr>
                </a:tc>
                <a:tc>
                  <a:txBody>
                    <a:bodyPr/>
                    <a:lstStyle/>
                    <a:p>
                      <a:pPr algn="ctr"/>
                      <a:r>
                        <a:rPr sz="1800" b="0">
                          <a:solidFill>
                            <a:srgbClr val="1F2A37"/>
                          </a:solidFill>
                          <a:latin typeface="Consolas"/>
                        </a:rPr>
                        <a:t>27</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49</a:t>
                      </a:r>
                    </a:p>
                  </a:txBody>
                  <a:tcPr marL="54864" marR="54864" marT="18288" marB="18288" anchor="ctr">
                    <a:solidFill>
                      <a:srgbClr val="FFFFFF"/>
                    </a:solidFill>
                  </a:tcPr>
                </a:tc>
                <a:tc>
                  <a:txBody>
                    <a:bodyPr/>
                    <a:lstStyle/>
                    <a:p>
                      <a:pPr algn="ctr"/>
                      <a:r>
                        <a:rPr sz="1800" b="0">
                          <a:solidFill>
                            <a:srgbClr val="1F2A37"/>
                          </a:solidFill>
                          <a:latin typeface="Consolas"/>
                        </a:rPr>
                        <a:t>64</a:t>
                      </a:r>
                    </a:p>
                  </a:txBody>
                  <a:tcPr marL="54864" marR="54864" marT="18288" marB="18288" anchor="ctr">
                    <a:solidFill>
                      <a:srgbClr val="FFFFFF"/>
                    </a:solidFill>
                  </a:tcPr>
                </a:tc>
                <a:tc>
                  <a:txBody>
                    <a:bodyPr/>
                    <a:lstStyle/>
                    <a:p>
                      <a:pPr algn="ctr"/>
                      <a:r>
                        <a:rPr sz="1800" b="0">
                          <a:solidFill>
                            <a:srgbClr val="1F2A37"/>
                          </a:solidFill>
                          <a:latin typeface="Consolas"/>
                        </a:rPr>
                        <a:t>85</a:t>
                      </a:r>
                    </a:p>
                  </a:txBody>
                  <a:tcPr marL="54864" marR="54864" marT="18288" marB="18288" anchor="ctr">
                    <a:solidFill>
                      <a:srgbClr val="FFFFFF"/>
                    </a:solidFill>
                  </a:tcPr>
                </a:tc>
                <a:tc>
                  <a:txBody>
                    <a:bodyPr/>
                    <a:lstStyle/>
                    <a:p>
                      <a:pPr algn="ctr"/>
                      <a:r>
                        <a:rPr sz="1800" b="0">
                          <a:solidFill>
                            <a:srgbClr val="1F2A37"/>
                          </a:solidFill>
                          <a:latin typeface="Consolas"/>
                        </a:rPr>
                        <a:t>7</a:t>
                      </a:r>
                    </a:p>
                  </a:txBody>
                  <a:tcPr marL="54864" marR="54864" marT="18288" marB="18288" anchor="ctr">
                    <a:solidFill>
                      <a:srgbClr val="FFFFFF"/>
                    </a:solidFill>
                  </a:tcPr>
                </a:tc>
              </a:tr>
              <a:tr h="434339">
                <a:tc>
                  <a:txBody>
                    <a:bodyPr/>
                    <a:lstStyle/>
                    <a:p>
                      <a:pPr algn="ctr"/>
                      <a:r>
                        <a:rPr sz="1800" b="0">
                          <a:solidFill>
                            <a:srgbClr val="1F2A37"/>
                          </a:solidFill>
                          <a:latin typeface="Consolas"/>
                        </a:rPr>
                        <a:t>Lauf 3</a:t>
                      </a:r>
                    </a:p>
                  </a:txBody>
                  <a:tcPr marL="54864" marR="54864" marT="18288" marB="18288" anchor="ctr">
                    <a:solidFill>
                      <a:srgbClr val="EEF3FA"/>
                    </a:solidFill>
                  </a:tcPr>
                </a:tc>
                <a:tc>
                  <a:txBody>
                    <a:bodyPr/>
                    <a:lstStyle/>
                    <a:p>
                      <a:pPr algn="ctr"/>
                      <a:r>
                        <a:rPr sz="1800" b="0">
                          <a:solidFill>
                            <a:srgbClr val="1F2A37"/>
                          </a:solidFill>
                          <a:latin typeface="Consolas"/>
                        </a:rPr>
                        <a:t>12</a:t>
                      </a:r>
                    </a:p>
                  </a:txBody>
                  <a:tcPr marL="54864" marR="54864" marT="18288" marB="18288" anchor="ctr">
                    <a:solidFill>
                      <a:srgbClr val="EEF3FA"/>
                    </a:solidFill>
                  </a:tcPr>
                </a:tc>
                <a:tc>
                  <a:txBody>
                    <a:bodyPr/>
                    <a:lstStyle/>
                    <a:p>
                      <a:pPr algn="ctr"/>
                      <a:r>
                        <a:rPr sz="1800" b="0">
                          <a:solidFill>
                            <a:srgbClr val="1F2A37"/>
                          </a:solidFill>
                          <a:latin typeface="Consolas"/>
                        </a:rPr>
                        <a:t>27</a:t>
                      </a:r>
                    </a:p>
                  </a:txBody>
                  <a:tcPr marL="54864" marR="54864" marT="18288" marB="18288" anchor="ctr">
                    <a:solidFill>
                      <a:srgbClr val="EEF3FA"/>
                    </a:solidFill>
                  </a:tcPr>
                </a:tc>
                <a:tc>
                  <a:txBody>
                    <a:bodyPr/>
                    <a:lstStyle/>
                    <a:p>
                      <a:pPr algn="ctr"/>
                      <a:r>
                        <a:rPr sz="1800" b="0">
                          <a:solidFill>
                            <a:srgbClr val="1F2A37"/>
                          </a:solidFill>
                          <a:latin typeface="Consolas"/>
                        </a:rPr>
                        <a:t>49</a:t>
                      </a:r>
                    </a:p>
                  </a:txBody>
                  <a:tcPr marL="54864" marR="54864" marT="18288" marB="18288" anchor="ctr">
                    <a:solidFill>
                      <a:srgbClr val="EEF3FA"/>
                    </a:solidFill>
                  </a:tcPr>
                </a:tc>
                <a:tc>
                  <a:txBody>
                    <a:bodyPr/>
                    <a:lstStyle/>
                    <a:p>
                      <a:pPr algn="ctr"/>
                      <a:r>
                        <a:rPr sz="1800" b="0">
                          <a:solidFill>
                            <a:srgbClr val="1F2A37"/>
                          </a:solidFill>
                          <a:latin typeface="Consolas"/>
                        </a:rPr>
                        <a:t>64</a:t>
                      </a:r>
                    </a:p>
                  </a:txBody>
                  <a:tcPr marL="54864" marR="54864" marT="18288" marB="18288" anchor="ctr">
                    <a:solidFill>
                      <a:srgbClr val="EEF3FA"/>
                    </a:solidFill>
                  </a:tcPr>
                </a:tc>
                <a:tc>
                  <a:txBody>
                    <a:bodyPr/>
                    <a:lstStyle/>
                    <a:p>
                      <a:pPr algn="ctr"/>
                      <a:r>
                        <a:rPr sz="1800" b="0">
                          <a:solidFill>
                            <a:srgbClr val="1F2A37"/>
                          </a:solidFill>
                          <a:latin typeface="Consolas"/>
                        </a:rPr>
                        <a:t>85</a:t>
                      </a:r>
                    </a:p>
                  </a:txBody>
                  <a:tcPr marL="54864" marR="54864" marT="18288" marB="18288" anchor="ctr">
                    <a:solidFill>
                      <a:srgbClr val="EEF3FA"/>
                    </a:solidFill>
                  </a:tcPr>
                </a:tc>
                <a:tc>
                  <a:txBody>
                    <a:bodyPr/>
                    <a:lstStyle/>
                    <a:p>
                      <a:pPr algn="ctr"/>
                      <a:r>
                        <a:rPr sz="1800" b="0">
                          <a:solidFill>
                            <a:srgbClr val="1F2A37"/>
                          </a:solidFill>
                          <a:latin typeface="Consolas"/>
                        </a:rPr>
                        <a:t>9</a:t>
                      </a:r>
                    </a:p>
                  </a:txBody>
                  <a:tcPr marL="54864" marR="54864" marT="18288" marB="18288" anchor="ctr">
                    <a:solidFill>
                      <a:srgbClr val="EEF3FA"/>
                    </a:solidFill>
                  </a:tcPr>
                </a:tc>
              </a:tr>
              <a:tr h="434339">
                <a:tc>
                  <a:txBody>
                    <a:bodyPr/>
                    <a:lstStyle/>
                    <a:p>
                      <a:pPr algn="ctr"/>
                      <a:r>
                        <a:rPr sz="1800" b="1">
                          <a:solidFill>
                            <a:srgbClr val="C00000"/>
                          </a:solidFill>
                          <a:latin typeface="Consolas"/>
                        </a:rPr>
                        <a:t>Lauf 4</a:t>
                      </a:r>
                    </a:p>
                  </a:txBody>
                  <a:tcPr marL="54864" marR="54864" marT="18288" marB="18288" anchor="ctr">
                    <a:solidFill>
                      <a:srgbClr val="FFFFFF"/>
                    </a:solidFill>
                  </a:tcPr>
                </a:tc>
                <a:tc>
                  <a:txBody>
                    <a:bodyPr/>
                    <a:lstStyle/>
                    <a:p>
                      <a:pPr algn="ctr"/>
                      <a:r>
                        <a:rPr sz="1800" b="1">
                          <a:solidFill>
                            <a:srgbClr val="C00000"/>
                          </a:solidFill>
                          <a:latin typeface="Consolas"/>
                        </a:rPr>
                        <a:t>12</a:t>
                      </a:r>
                    </a:p>
                  </a:txBody>
                  <a:tcPr marL="54864" marR="54864" marT="18288" marB="18288" anchor="ctr">
                    <a:solidFill>
                      <a:srgbClr val="FFFFFF"/>
                    </a:solidFill>
                  </a:tcPr>
                </a:tc>
                <a:tc>
                  <a:txBody>
                    <a:bodyPr/>
                    <a:lstStyle/>
                    <a:p>
                      <a:pPr algn="ctr"/>
                      <a:r>
                        <a:rPr sz="1800" b="1">
                          <a:solidFill>
                            <a:srgbClr val="C00000"/>
                          </a:solidFill>
                          <a:latin typeface="Consolas"/>
                        </a:rPr>
                        <a:t>27</a:t>
                      </a:r>
                    </a:p>
                  </a:txBody>
                  <a:tcPr marL="54864" marR="54864" marT="18288" marB="18288" anchor="ctr">
                    <a:solidFill>
                      <a:srgbClr val="FFFFFF"/>
                    </a:solidFill>
                  </a:tcPr>
                </a:tc>
                <a:tc>
                  <a:txBody>
                    <a:bodyPr/>
                    <a:lstStyle/>
                    <a:p>
                      <a:pPr algn="ctr"/>
                      <a:r>
                        <a:rPr sz="1800" b="1">
                          <a:solidFill>
                            <a:srgbClr val="C00000"/>
                          </a:solidFill>
                          <a:latin typeface="Consolas"/>
                        </a:rPr>
                        <a:t>49</a:t>
                      </a:r>
                    </a:p>
                  </a:txBody>
                  <a:tcPr marL="54864" marR="54864" marT="18288" marB="18288" anchor="ctr">
                    <a:solidFill>
                      <a:srgbClr val="FFFFFF"/>
                    </a:solidFill>
                  </a:tcPr>
                </a:tc>
                <a:tc>
                  <a:txBody>
                    <a:bodyPr/>
                    <a:lstStyle/>
                    <a:p>
                      <a:pPr algn="ctr"/>
                      <a:r>
                        <a:rPr sz="1800" b="1">
                          <a:solidFill>
                            <a:srgbClr val="C00000"/>
                          </a:solidFill>
                          <a:latin typeface="Consolas"/>
                        </a:rPr>
                        <a:t>64</a:t>
                      </a:r>
                    </a:p>
                  </a:txBody>
                  <a:tcPr marL="54864" marR="54864" marT="18288" marB="18288" anchor="ctr">
                    <a:solidFill>
                      <a:srgbClr val="FFFFFF"/>
                    </a:solidFill>
                  </a:tcPr>
                </a:tc>
                <a:tc>
                  <a:txBody>
                    <a:bodyPr/>
                    <a:lstStyle/>
                    <a:p>
                      <a:pPr algn="ctr"/>
                      <a:r>
                        <a:rPr sz="1800" b="1">
                          <a:solidFill>
                            <a:srgbClr val="C00000"/>
                          </a:solidFill>
                          <a:latin typeface="Consolas"/>
                        </a:rPr>
                        <a:t>85</a:t>
                      </a:r>
                    </a:p>
                  </a:txBody>
                  <a:tcPr marL="54864" marR="54864" marT="18288" marB="18288" anchor="ctr">
                    <a:solidFill>
                      <a:srgbClr val="FFFFFF"/>
                    </a:solidFill>
                  </a:tcPr>
                </a:tc>
                <a:tc>
                  <a:txBody>
                    <a:bodyPr/>
                    <a:lstStyle/>
                    <a:p>
                      <a:pPr algn="ctr"/>
                      <a:r>
                        <a:rPr sz="1800" b="1">
                          <a:solidFill>
                            <a:srgbClr val="C00000"/>
                          </a:solidFill>
                          <a:latin typeface="Consolas"/>
                        </a:rPr>
                        <a:t>10</a:t>
                      </a:r>
                    </a:p>
                  </a:txBody>
                  <a:tcPr marL="54864" marR="54864" marT="18288" marB="18288" anchor="ctr">
                    <a:solidFill>
                      <a:srgbClr val="FFFFFF"/>
                    </a:solidFill>
                  </a:tcPr>
                </a:tc>
              </a:tr>
            </a:tbl>
          </a:graphicData>
        </a:graphic>
      </p:graphicFrame>
      <p:sp>
        <p:nvSpPr>
          <p:cNvPr id="6" name="Rounded Rectangle 5"/>
          <p:cNvSpPr/>
          <p:nvPr/>
        </p:nvSpPr>
        <p:spPr>
          <a:xfrm>
            <a:off x="7498079" y="1325880"/>
            <a:ext cx="4144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Beobachtung</a:t>
            </a:r>
            <a:r>
              <a:rPr sz="2000" b="0" i="0">
                <a:solidFill>
                  <a:srgbClr val="1F2A37"/>
                </a:solidFill>
                <a:latin typeface="Calibri"/>
              </a:rPr>
              <a:t/>
            </a:r>
          </a:p>
          <a:p>
            <a:pPr>
              <a:spcAft>
                <a:spcPts val="600"/>
              </a:spcAft>
            </a:pPr>
            <a:r>
              <a:rPr sz="2000" b="0" i="0">
                <a:solidFill>
                  <a:srgbClr val="1F2A37"/>
                </a:solidFill>
                <a:latin typeface="Calibri"/>
              </a:rPr>
              <a:t>Lauf 4: kein Tausch → </a:t>
            </a:r>
            <a:r>
              <a:rPr sz="2000" b="1" i="0">
                <a:solidFill>
                  <a:srgbClr val="1F2A37"/>
                </a:solidFill>
                <a:latin typeface="Calibri"/>
              </a:rPr>
              <a:t>Abbruch</a:t>
            </a:r>
            <a:r>
              <a:rPr sz="2000" b="0" i="0">
                <a:solidFill>
                  <a:srgbClr val="1F2A37"/>
                </a:solidFill>
                <a:latin typeface="Calibri"/>
              </a:rPr>
              <a:t/>
            </a:r>
          </a:p>
          <a:p>
            <a:pPr>
              <a:spcAft>
                <a:spcPts val="600"/>
              </a:spcAft>
            </a:pPr>
            <a:r>
              <a:rPr sz="2000" b="1" i="0">
                <a:solidFill>
                  <a:srgbClr val="1F2A37"/>
                </a:solidFill>
                <a:latin typeface="Calibri"/>
              </a:rPr>
              <a:t>10</a:t>
            </a:r>
            <a:r>
              <a:rPr sz="2000" b="0" i="0">
                <a:solidFill>
                  <a:srgbClr val="1F2A37"/>
                </a:solidFill>
                <a:latin typeface="Calibri"/>
              </a:rPr>
              <a:t> Vergleiche, 6 Vertauschungen</a:t>
            </a:r>
            <a:r>
              <a:rPr sz="2000" b="0" i="0">
                <a:solidFill>
                  <a:srgbClr val="1F2A37"/>
                </a:solidFill>
                <a:latin typeface="Calibri"/>
              </a:rPr>
              <a:t/>
            </a:r>
          </a:p>
          <a:p>
            <a:pPr>
              <a:spcAft>
                <a:spcPts val="600"/>
              </a:spcAft>
            </a:pPr>
            <a:r>
              <a:rPr sz="2000" b="0" i="0">
                <a:solidFill>
                  <a:srgbClr val="1F2A37"/>
                </a:solidFill>
                <a:latin typeface="Calibri"/>
              </a:rPr>
              <a:t>sortiert: nur ein Lauf, n − 1 = </a:t>
            </a:r>
            <a:r>
              <a:rPr sz="2000" b="1" i="0">
                <a:solidFill>
                  <a:srgbClr val="1F2A37"/>
                </a:solidFill>
                <a:latin typeface="Calibri"/>
              </a:rPr>
              <a:t>4</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Vergleiche zählen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7772398" cy="1930400"/>
        </p:xfrm>
        <a:graphic>
          <a:graphicData uri="http://schemas.openxmlformats.org/drawingml/2006/table">
            <a:tbl>
              <a:tblPr firstRow="1" bandRow="1">
                <a:tableStyleId>{5C22544A-7EE6-4342-B048-85BDC9FD1C3A}</a:tableStyleId>
              </a:tblPr>
              <a:tblGrid>
                <a:gridCol w="2886891"/>
                <a:gridCol w="2220685"/>
                <a:gridCol w="2664822"/>
              </a:tblGrid>
              <a:tr h="482600">
                <a:tc>
                  <a:txBody>
                    <a:bodyPr/>
                    <a:lstStyle/>
                    <a:p>
                      <a:pPr algn="ctr"/>
                      <a:r>
                        <a:rPr sz="2000" b="1">
                          <a:solidFill>
                            <a:srgbClr val="FFFFFF"/>
                          </a:solidFill>
                          <a:latin typeface="Calibri"/>
                        </a:rPr>
                        <a:t>Verfahren</a:t>
                      </a:r>
                    </a:p>
                  </a:txBody>
                  <a:tcPr marL="54864" marR="54864" marT="18288" marB="18288" anchor="ctr">
                    <a:solidFill>
                      <a:srgbClr val="1F4E79"/>
                    </a:solidFill>
                  </a:tcPr>
                </a:tc>
                <a:tc>
                  <a:txBody>
                    <a:bodyPr/>
                    <a:lstStyle/>
                    <a:p>
                      <a:pPr algn="ctr"/>
                      <a:r>
                        <a:rPr sz="2000" b="1">
                          <a:solidFill>
                            <a:srgbClr val="FFFFFF"/>
                          </a:solidFill>
                          <a:latin typeface="Calibri"/>
                        </a:rPr>
                        <a:t>bester Fall</a:t>
                      </a:r>
                    </a:p>
                  </a:txBody>
                  <a:tcPr marL="54864" marR="54864" marT="18288" marB="18288" anchor="ctr">
                    <a:solidFill>
                      <a:srgbClr val="1F4E79"/>
                    </a:solidFill>
                  </a:tcPr>
                </a:tc>
                <a:tc>
                  <a:txBody>
                    <a:bodyPr/>
                    <a:lstStyle/>
                    <a:p>
                      <a:pPr algn="ctr"/>
                      <a:r>
                        <a:rPr sz="2000" b="1">
                          <a:solidFill>
                            <a:srgbClr val="FFFFFF"/>
                          </a:solidFill>
                          <a:latin typeface="Calibri"/>
                        </a:rPr>
                        <a:t>schlechtester Fall</a:t>
                      </a:r>
                    </a:p>
                  </a:txBody>
                  <a:tcPr marL="54864" marR="54864" marT="18288" marB="18288" anchor="ctr">
                    <a:solidFill>
                      <a:srgbClr val="1F4E79"/>
                    </a:solidFill>
                  </a:tcPr>
                </a:tc>
              </a:tr>
              <a:tr h="482600">
                <a:tc>
                  <a:txBody>
                    <a:bodyPr/>
                    <a:lstStyle/>
                    <a:p>
                      <a:pPr algn="ctr"/>
                      <a:r>
                        <a:rPr sz="2000" b="0">
                          <a:solidFill>
                            <a:srgbClr val="1F2A37"/>
                          </a:solidFill>
                          <a:latin typeface="Consolas"/>
                        </a:rPr>
                        <a:t>Selectionsort</a:t>
                      </a:r>
                    </a:p>
                  </a:txBody>
                  <a:tcPr marL="54864" marR="54864" marT="18288" marB="18288" anchor="ctr">
                    <a:solidFill>
                      <a:srgbClr val="FFFFFF"/>
                    </a:solidFill>
                  </a:tcPr>
                </a:tc>
                <a:tc>
                  <a:txBody>
                    <a:bodyPr/>
                    <a:lstStyle/>
                    <a:p>
                      <a:pPr algn="ctr"/>
                      <a:r>
                        <a:rPr sz="2000" b="0">
                          <a:solidFill>
                            <a:srgbClr val="1F2A37"/>
                          </a:solidFill>
                          <a:latin typeface="Consolas"/>
                        </a:rPr>
                        <a:t>n(n − 1)/2</a:t>
                      </a:r>
                    </a:p>
                  </a:txBody>
                  <a:tcPr marL="54864" marR="54864" marT="18288" marB="18288" anchor="ctr">
                    <a:solidFill>
                      <a:srgbClr val="FFFFFF"/>
                    </a:solidFill>
                  </a:tcPr>
                </a:tc>
                <a:tc>
                  <a:txBody>
                    <a:bodyPr/>
                    <a:lstStyle/>
                    <a:p>
                      <a:pPr algn="ctr"/>
                      <a:r>
                        <a:rPr sz="2000" b="0">
                          <a:solidFill>
                            <a:srgbClr val="1F2A37"/>
                          </a:solidFill>
                          <a:latin typeface="Consolas"/>
                        </a:rPr>
                        <a:t>n(n − 1)/2</a:t>
                      </a:r>
                    </a:p>
                  </a:txBody>
                  <a:tcPr marL="54864" marR="54864" marT="18288" marB="18288" anchor="ctr">
                    <a:solidFill>
                      <a:srgbClr val="FFFFFF"/>
                    </a:solidFill>
                  </a:tcPr>
                </a:tc>
              </a:tr>
              <a:tr h="482600">
                <a:tc>
                  <a:txBody>
                    <a:bodyPr/>
                    <a:lstStyle/>
                    <a:p>
                      <a:pPr algn="ctr"/>
                      <a:r>
                        <a:rPr sz="2000" b="0">
                          <a:solidFill>
                            <a:srgbClr val="1F2A37"/>
                          </a:solidFill>
                          <a:latin typeface="Consolas"/>
                        </a:rPr>
                        <a:t>Insertionsort</a:t>
                      </a:r>
                    </a:p>
                  </a:txBody>
                  <a:tcPr marL="54864" marR="54864" marT="18288" marB="18288" anchor="ctr">
                    <a:solidFill>
                      <a:srgbClr val="EEF3FA"/>
                    </a:solidFill>
                  </a:tcPr>
                </a:tc>
                <a:tc>
                  <a:txBody>
                    <a:bodyPr/>
                    <a:lstStyle/>
                    <a:p>
                      <a:pPr algn="ctr"/>
                      <a:r>
                        <a:rPr sz="2000" b="0">
                          <a:solidFill>
                            <a:srgbClr val="1F2A37"/>
                          </a:solidFill>
                          <a:latin typeface="Consolas"/>
                        </a:rPr>
                        <a:t>n − 1</a:t>
                      </a:r>
                    </a:p>
                  </a:txBody>
                  <a:tcPr marL="54864" marR="54864" marT="18288" marB="18288" anchor="ctr">
                    <a:solidFill>
                      <a:srgbClr val="EEF3FA"/>
                    </a:solidFill>
                  </a:tcPr>
                </a:tc>
                <a:tc>
                  <a:txBody>
                    <a:bodyPr/>
                    <a:lstStyle/>
                    <a:p>
                      <a:pPr algn="ctr"/>
                      <a:r>
                        <a:rPr sz="2000" b="0">
                          <a:solidFill>
                            <a:srgbClr val="1F2A37"/>
                          </a:solidFill>
                          <a:latin typeface="Consolas"/>
                        </a:rPr>
                        <a:t>n(n − 1)/2</a:t>
                      </a:r>
                    </a:p>
                  </a:txBody>
                  <a:tcPr marL="54864" marR="54864" marT="18288" marB="18288" anchor="ctr">
                    <a:solidFill>
                      <a:srgbClr val="EEF3FA"/>
                    </a:solidFill>
                  </a:tcPr>
                </a:tc>
              </a:tr>
              <a:tr h="482600">
                <a:tc>
                  <a:txBody>
                    <a:bodyPr/>
                    <a:lstStyle/>
                    <a:p>
                      <a:pPr algn="ctr"/>
                      <a:r>
                        <a:rPr sz="2000" b="0">
                          <a:solidFill>
                            <a:srgbClr val="1F2A37"/>
                          </a:solidFill>
                          <a:latin typeface="Consolas"/>
                        </a:rPr>
                        <a:t>Bubblesort</a:t>
                      </a:r>
                    </a:p>
                  </a:txBody>
                  <a:tcPr marL="54864" marR="54864" marT="18288" marB="18288" anchor="ctr">
                    <a:solidFill>
                      <a:srgbClr val="FFFFFF"/>
                    </a:solidFill>
                  </a:tcPr>
                </a:tc>
                <a:tc>
                  <a:txBody>
                    <a:bodyPr/>
                    <a:lstStyle/>
                    <a:p>
                      <a:pPr algn="ctr"/>
                      <a:r>
                        <a:rPr sz="2000" b="0">
                          <a:solidFill>
                            <a:srgbClr val="1F2A37"/>
                          </a:solidFill>
                          <a:latin typeface="Consolas"/>
                        </a:rPr>
                        <a:t>n − 1</a:t>
                      </a:r>
                    </a:p>
                  </a:txBody>
                  <a:tcPr marL="54864" marR="54864" marT="18288" marB="18288" anchor="ctr">
                    <a:solidFill>
                      <a:srgbClr val="FFFFFF"/>
                    </a:solidFill>
                  </a:tcPr>
                </a:tc>
                <a:tc>
                  <a:txBody>
                    <a:bodyPr/>
                    <a:lstStyle/>
                    <a:p>
                      <a:pPr algn="ctr"/>
                      <a:r>
                        <a:rPr sz="2000" b="0">
                          <a:solidFill>
                            <a:srgbClr val="1F2A37"/>
                          </a:solidFill>
                          <a:latin typeface="Consolas"/>
                        </a:rPr>
                        <a:t>n(n − 1)/2</a:t>
                      </a:r>
                    </a:p>
                  </a:txBody>
                  <a:tcPr marL="54864" marR="54864" marT="18288" marB="18288" anchor="ctr">
                    <a:solidFill>
                      <a:srgbClr val="FFFFFF"/>
                    </a:solidFill>
                  </a:tcPr>
                </a:tc>
              </a:tr>
            </a:tbl>
          </a:graphicData>
        </a:graphic>
      </p:graphicFrame>
      <p:sp>
        <p:nvSpPr>
          <p:cNvPr id="6" name="Rounded Rectangle 5"/>
          <p:cNvSpPr/>
          <p:nvPr/>
        </p:nvSpPr>
        <p:spPr>
          <a:xfrm>
            <a:off x="8595360" y="1325880"/>
            <a:ext cx="304769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0" y="1463039"/>
            <a:ext cx="2681935" cy="2377439"/>
          </a:xfrm>
          <a:prstGeom prst="rect">
            <a:avLst/>
          </a:prstGeom>
          <a:noFill/>
        </p:spPr>
        <p:txBody>
          <a:bodyPr wrap="square" anchor="t" lIns="45720" rIns="45720">
            <a:spAutoFit/>
          </a:bodyPr>
          <a:lstStyle/>
          <a:p>
            <a:pPr>
              <a:spcAft>
                <a:spcPts val="800"/>
              </a:spcAft>
            </a:pPr>
            <a:r>
              <a:rPr sz="2000" b="1" i="0">
                <a:solidFill>
                  <a:srgbClr val="B8860B"/>
                </a:solidFill>
                <a:latin typeface="Calibri"/>
              </a:rPr>
              <a:t>Woher die Formel?</a:t>
            </a:r>
            <a:r>
              <a:rPr sz="1800" b="0" i="0">
                <a:solidFill>
                  <a:srgbClr val="1F2A37"/>
                </a:solidFill>
                <a:latin typeface="Calibri"/>
              </a:rPr>
              <a:t/>
            </a:r>
          </a:p>
          <a:p>
            <a:pPr>
              <a:spcAft>
                <a:spcPts val="600"/>
              </a:spcAft>
            </a:pPr>
            <a:r>
              <a:rPr sz="1800" b="0" i="0">
                <a:solidFill>
                  <a:srgbClr val="1F2A37"/>
                </a:solidFill>
                <a:latin typeface="Calibri"/>
              </a:rPr>
              <a:t>(n − 1) + (n − 2) + … + 1</a:t>
            </a:r>
            <a:r>
              <a:rPr sz="1800" b="0" i="0">
                <a:solidFill>
                  <a:srgbClr val="1F2A37"/>
                </a:solidFill>
                <a:latin typeface="Calibri"/>
              </a:rPr>
              <a:t/>
            </a:r>
          </a:p>
          <a:p>
            <a:pPr>
              <a:spcAft>
                <a:spcPts val="600"/>
              </a:spcAft>
            </a:pPr>
            <a:r>
              <a:rPr sz="1800" b="0" i="0">
                <a:solidFill>
                  <a:srgbClr val="1F2A37"/>
                </a:solidFill>
                <a:latin typeface="Calibri"/>
              </a:rPr>
              <a:t>n = 5: 4 + 3 + 2 + 1 = </a:t>
            </a:r>
            <a:r>
              <a:rPr sz="1800" b="1" i="0">
                <a:solidFill>
                  <a:srgbClr val="1F2A37"/>
                </a:solidFill>
                <a:latin typeface="Calibri"/>
              </a:rPr>
              <a:t>10</a:t>
            </a:r>
            <a:r>
              <a:rPr sz="1800" b="0" i="0">
                <a:solidFill>
                  <a:srgbClr val="1F2A37"/>
                </a:solidFill>
                <a:latin typeface="Calibri"/>
              </a:rPr>
              <a:t/>
            </a:r>
          </a:p>
          <a:p>
            <a:pPr>
              <a:spcAft>
                <a:spcPts val="600"/>
              </a:spcAft>
            </a:pPr>
            <a:r>
              <a:rPr sz="1800" b="0" i="0">
                <a:solidFill>
                  <a:srgbClr val="1F2A37"/>
                </a:solidFill>
                <a:latin typeface="Calibri"/>
              </a:rPr>
              <a:t>bester Fall: </a:t>
            </a:r>
            <a:r>
              <a:rPr sz="1800" b="1" i="0">
                <a:solidFill>
                  <a:srgbClr val="1F2A37"/>
                </a:solidFill>
                <a:latin typeface="Calibri"/>
              </a:rPr>
              <a:t>sortiert</a:t>
            </a:r>
            <a:r>
              <a:rPr sz="1800" b="0" i="0">
                <a:solidFill>
                  <a:srgbClr val="1F2A37"/>
                </a:solidFill>
                <a:latin typeface="Calibri"/>
              </a:rPr>
              <a:t/>
            </a:r>
          </a:p>
          <a:p>
            <a:pPr>
              <a:spcAft>
                <a:spcPts val="600"/>
              </a:spcAft>
            </a:pPr>
            <a:r>
              <a:rPr sz="1800" b="0" i="0">
                <a:solidFill>
                  <a:srgbClr val="1F2A37"/>
                </a:solidFill>
                <a:latin typeface="Calibri"/>
              </a:rPr>
              <a:t>schlechtester: </a:t>
            </a:r>
            <a:r>
              <a:rPr sz="1800" b="1" i="0">
                <a:solidFill>
                  <a:srgbClr val="1F2A37"/>
                </a:solidFill>
                <a:latin typeface="Calibri"/>
              </a:rPr>
              <a:t>umgekehrt</a:t>
            </a:r>
            <a:r>
              <a:rPr sz="18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Doppelt so viele Elemente – viermal so viel Arbeit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n = 30: 30 · 29 / 2 = </a:t>
            </a:r>
            <a:r>
              <a:rPr sz="2400" b="1" i="0">
                <a:solidFill>
                  <a:srgbClr val="1F2A37"/>
                </a:solidFill>
                <a:latin typeface="Calibri"/>
              </a:rPr>
              <a:t>435</a:t>
            </a:r>
            <a:r>
              <a:rPr sz="2400" b="0" i="0">
                <a:solidFill>
                  <a:srgbClr val="1F2A37"/>
                </a:solidFill>
                <a:latin typeface="Calibri"/>
              </a:rPr>
              <a:t> Vergleiche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n = 60: 60 · 59 / 2 = </a:t>
            </a:r>
            <a:r>
              <a:rPr sz="2400" b="1" i="0">
                <a:solidFill>
                  <a:srgbClr val="1F2A37"/>
                </a:solidFill>
                <a:latin typeface="Calibri"/>
              </a:rPr>
              <a:t>1770</a:t>
            </a:r>
            <a:r>
              <a:rPr sz="2400" b="0" i="0">
                <a:solidFill>
                  <a:srgbClr val="1F2A37"/>
                </a:solidFill>
                <a:latin typeface="Calibri"/>
              </a:rPr>
              <a:t> Vergleiche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1770 / 435 ≈ </a:t>
            </a:r>
            <a:r>
              <a:rPr sz="2400" b="1" i="0">
                <a:solidFill>
                  <a:srgbClr val="1F2A37"/>
                </a:solidFill>
                <a:latin typeface="Calibri"/>
              </a:rPr>
              <a:t>4</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Grund: n(n − 1)/2 ≈ n²/2 wächst </a:t>
            </a:r>
            <a:r>
              <a:rPr sz="2400" b="1" i="0">
                <a:solidFill>
                  <a:srgbClr val="1F2A37"/>
                </a:solidFill>
                <a:latin typeface="Calibri"/>
              </a:rPr>
              <a:t>quadratisch</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Bester Fall n − 1: nur </a:t>
            </a:r>
            <a:r>
              <a:rPr sz="2400" b="1" i="0">
                <a:solidFill>
                  <a:srgbClr val="1F2A37"/>
                </a:solidFill>
                <a:latin typeface="Calibri"/>
              </a:rPr>
              <a:t>doppelt</a:t>
            </a:r>
            <a:r>
              <a:rPr sz="2400" b="0" i="0">
                <a:solidFill>
                  <a:srgbClr val="1F2A37"/>
                </a:solidFill>
                <a:latin typeface="Calibri"/>
              </a:rPr>
              <a:t> so viel</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So formulierst du es</a:t>
            </a:r>
            <a:r>
              <a:rPr sz="2000" b="0" i="0">
                <a:solidFill>
                  <a:srgbClr val="1F2A37"/>
                </a:solidFill>
                <a:latin typeface="Calibri"/>
              </a:rPr>
              <a:t/>
            </a:r>
          </a:p>
          <a:p>
            <a:pPr>
              <a:spcAft>
                <a:spcPts val="600"/>
              </a:spcAft>
            </a:pPr>
            <a:r>
              <a:rPr sz="2000" b="0" i="0">
                <a:solidFill>
                  <a:srgbClr val="1F2A37"/>
                </a:solidFill>
                <a:latin typeface="Calibri"/>
              </a:rPr>
              <a:t>„Verdoppelt man n, vervierfacht sich die Anzahl der Vergleiche ungefähr, da sie quadratisch von n abhängt.“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492240" cy="1161288"/>
          </a:xfrm>
          <a:prstGeom prst="rect">
            <a:avLst/>
          </a:prstGeom>
          <a:noFill/>
        </p:spPr>
        <p:txBody>
          <a:bodyPr wrap="square" anchor="t" lIns="45720" rIns="45720">
            <a:spAutoFit/>
          </a:bodyPr>
          <a:lstStyle/>
          <a:p>
            <a:r>
              <a:rPr sz="2400" b="0" i="0">
                <a:solidFill>
                  <a:srgbClr val="1F2A37"/>
                </a:solidFill>
                <a:latin typeface="Calibri"/>
              </a:rPr>
              <a:t>Sortiere die Reihung mit </a:t>
            </a:r>
            <a:r>
              <a:rPr sz="2400" b="1" i="0">
                <a:solidFill>
                  <a:srgbClr val="1F2A37"/>
                </a:solidFill>
                <a:latin typeface="Calibri"/>
              </a:rPr>
              <a:t>Bubblesort mit Abbruch</a:t>
            </a:r>
            <a:r>
              <a:rPr sz="2400" b="0" i="0">
                <a:solidFill>
                  <a:srgbClr val="1F2A37"/>
                </a:solidFill>
                <a:latin typeface="Calibri"/>
              </a:rPr>
              <a:t> aufsteigend. Gib den Zustand nach </a:t>
            </a:r>
            <a:r>
              <a:rPr sz="2400" b="1" i="0">
                <a:solidFill>
                  <a:srgbClr val="1F2A37"/>
                </a:solidFill>
                <a:latin typeface="Calibri"/>
              </a:rPr>
              <a:t>jedem Lauf</a:t>
            </a:r>
            <a:r>
              <a:rPr sz="2400" b="0" i="0">
                <a:solidFill>
                  <a:srgbClr val="1F2A37"/>
                </a:solidFill>
                <a:latin typeface="Calibri"/>
              </a:rPr>
              <a:t> an und </a:t>
            </a:r>
            <a:r>
              <a:rPr sz="2400" b="1" i="0">
                <a:solidFill>
                  <a:srgbClr val="1F2A37"/>
                </a:solidFill>
                <a:latin typeface="Calibri"/>
              </a:rPr>
              <a:t>zähle die Vergleiche</a:t>
            </a:r>
            <a:r>
              <a:rPr sz="2400" b="0" i="0">
                <a:solidFill>
                  <a:srgbClr val="1F2A37"/>
                </a:solidFill>
                <a:latin typeface="Calibri"/>
              </a:rPr>
              <a:t>.</a:t>
            </a:r>
          </a:p>
        </p:txBody>
      </p:sp>
      <p:pic>
        <p:nvPicPr>
          <p:cNvPr id="7" name="Picture 6" descr="r_pause1.png"/>
          <p:cNvPicPr>
            <a:picLocks noChangeAspect="1"/>
          </p:cNvPicPr>
          <p:nvPr/>
        </p:nvPicPr>
        <p:blipFill>
          <a:blip r:embed="rId2"/>
          <a:stretch>
            <a:fillRect/>
          </a:stretch>
        </p:blipFill>
        <p:spPr>
          <a:xfrm>
            <a:off x="7315200" y="1325880"/>
            <a:ext cx="4327855" cy="1175677"/>
          </a:xfrm>
          <a:prstGeom prst="rect">
            <a:avLst/>
          </a:prstGeom>
        </p:spPr>
      </p:pic>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Bubblesort mit Abbruch</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766555" cy="1737356"/>
        </p:xfrm>
        <a:graphic>
          <a:graphicData uri="http://schemas.openxmlformats.org/drawingml/2006/table">
            <a:tbl>
              <a:tblPr firstRow="1" bandRow="1">
                <a:tableStyleId>{5C22544A-7EE6-4342-B048-85BDC9FD1C3A}</a:tableStyleId>
              </a:tblPr>
              <a:tblGrid>
                <a:gridCol w="1335505"/>
                <a:gridCol w="890336"/>
                <a:gridCol w="890336"/>
                <a:gridCol w="890336"/>
                <a:gridCol w="890336"/>
                <a:gridCol w="890336"/>
                <a:gridCol w="979370"/>
              </a:tblGrid>
              <a:tr h="434339">
                <a:tc>
                  <a:txBody>
                    <a:bodyPr/>
                    <a:lstStyle/>
                    <a:p>
                      <a:pPr algn="ctr"/>
                      <a:r>
                        <a:rPr sz="1800" b="1">
                          <a:solidFill>
                            <a:srgbClr val="FFFFFF"/>
                          </a:solidFill>
                          <a:latin typeface="Calibri"/>
                        </a:rPr>
                        <a:t/>
                      </a:r>
                    </a:p>
                  </a:txBody>
                  <a:tcPr marL="54864" marR="54864" marT="18288" marB="18288" anchor="ctr">
                    <a:solidFill>
                      <a:srgbClr val="1F4E79"/>
                    </a:solidFill>
                  </a:tcPr>
                </a:tc>
                <a:tc>
                  <a:txBody>
                    <a:bodyPr/>
                    <a:lstStyle/>
                    <a:p>
                      <a:pPr algn="ctr"/>
                      <a:r>
                        <a:rPr sz="1800" b="1">
                          <a:solidFill>
                            <a:srgbClr val="FFFFFF"/>
                          </a:solidFill>
                          <a:latin typeface="Calibri"/>
                        </a:rPr>
                        <a:t>0</a:t>
                      </a:r>
                    </a:p>
                  </a:txBody>
                  <a:tcPr marL="54864" marR="54864" marT="18288" marB="18288" anchor="ctr">
                    <a:solidFill>
                      <a:srgbClr val="1F4E79"/>
                    </a:solidFill>
                  </a:tcPr>
                </a:tc>
                <a:tc>
                  <a:txBody>
                    <a:bodyPr/>
                    <a:lstStyle/>
                    <a:p>
                      <a:pPr algn="ctr"/>
                      <a:r>
                        <a:rPr sz="1800" b="1">
                          <a:solidFill>
                            <a:srgbClr val="FFFFFF"/>
                          </a:solidFill>
                          <a:latin typeface="Calibri"/>
                        </a:rPr>
                        <a:t>1</a:t>
                      </a:r>
                    </a:p>
                  </a:txBody>
                  <a:tcPr marL="54864" marR="54864" marT="18288" marB="18288" anchor="ctr">
                    <a:solidFill>
                      <a:srgbClr val="1F4E79"/>
                    </a:solidFill>
                  </a:tcPr>
                </a:tc>
                <a:tc>
                  <a:txBody>
                    <a:bodyPr/>
                    <a:lstStyle/>
                    <a:p>
                      <a:pPr algn="ctr"/>
                      <a:r>
                        <a:rPr sz="1800" b="1">
                          <a:solidFill>
                            <a:srgbClr val="FFFFFF"/>
                          </a:solidFill>
                          <a:latin typeface="Calibri"/>
                        </a:rPr>
                        <a:t>2</a:t>
                      </a:r>
                    </a:p>
                  </a:txBody>
                  <a:tcPr marL="54864" marR="54864" marT="18288" marB="18288" anchor="ctr">
                    <a:solidFill>
                      <a:srgbClr val="1F4E79"/>
                    </a:solidFill>
                  </a:tcPr>
                </a:tc>
                <a:tc>
                  <a:txBody>
                    <a:bodyPr/>
                    <a:lstStyle/>
                    <a:p>
                      <a:pPr algn="ctr"/>
                      <a:r>
                        <a:rPr sz="1800" b="1">
                          <a:solidFill>
                            <a:srgbClr val="FFFFFF"/>
                          </a:solidFill>
                          <a:latin typeface="Calibri"/>
                        </a:rPr>
                        <a:t>3</a:t>
                      </a:r>
                    </a:p>
                  </a:txBody>
                  <a:tcPr marL="54864" marR="54864" marT="18288" marB="18288" anchor="ctr">
                    <a:solidFill>
                      <a:srgbClr val="1F4E79"/>
                    </a:solidFill>
                  </a:tcPr>
                </a:tc>
                <a:tc>
                  <a:txBody>
                    <a:bodyPr/>
                    <a:lstStyle/>
                    <a:p>
                      <a:pPr algn="ctr"/>
                      <a:r>
                        <a:rPr sz="1800" b="1">
                          <a:solidFill>
                            <a:srgbClr val="FFFFFF"/>
                          </a:solidFill>
                          <a:latin typeface="Calibri"/>
                        </a:rPr>
                        <a:t>4</a:t>
                      </a:r>
                    </a:p>
                  </a:txBody>
                  <a:tcPr marL="54864" marR="54864" marT="18288" marB="18288" anchor="ctr">
                    <a:solidFill>
                      <a:srgbClr val="1F4E79"/>
                    </a:solidFill>
                  </a:tcPr>
                </a:tc>
                <a:tc>
                  <a:txBody>
                    <a:bodyPr/>
                    <a:lstStyle/>
                    <a:p>
                      <a:pPr algn="ctr"/>
                      <a:r>
                        <a:rPr sz="1800" b="1">
                          <a:solidFill>
                            <a:srgbClr val="FFFFFF"/>
                          </a:solidFill>
                          <a:latin typeface="Calibri"/>
                        </a:rPr>
                        <a:t>Vergl.</a:t>
                      </a:r>
                    </a:p>
                  </a:txBody>
                  <a:tcPr marL="54864" marR="54864" marT="18288" marB="18288" anchor="ctr">
                    <a:solidFill>
                      <a:srgbClr val="1F4E79"/>
                    </a:solidFill>
                  </a:tcPr>
                </a:tc>
              </a:tr>
              <a:tr h="434339">
                <a:tc>
                  <a:txBody>
                    <a:bodyPr/>
                    <a:lstStyle/>
                    <a:p>
                      <a:pPr algn="ctr"/>
                      <a:r>
                        <a:rPr sz="1800" b="0">
                          <a:solidFill>
                            <a:srgbClr val="1F2A37"/>
                          </a:solidFill>
                          <a:latin typeface="Consolas"/>
                        </a:rPr>
                        <a:t>Start</a:t>
                      </a:r>
                    </a:p>
                  </a:txBody>
                  <a:tcPr marL="54864" marR="54864" marT="18288" marB="18288" anchor="ctr">
                    <a:solidFill>
                      <a:srgbClr val="FFFFFF"/>
                    </a:solidFill>
                  </a:tcPr>
                </a:tc>
                <a:tc>
                  <a:txBody>
                    <a:bodyPr/>
                    <a:lstStyle/>
                    <a:p>
                      <a:pPr algn="ctr"/>
                      <a:r>
                        <a:rPr sz="1800" b="0">
                          <a:solidFill>
                            <a:srgbClr val="1F2A37"/>
                          </a:solidFill>
                          <a:latin typeface="Consolas"/>
                        </a:rPr>
                        <a:t>31</a:t>
                      </a:r>
                    </a:p>
                  </a:txBody>
                  <a:tcPr marL="54864" marR="54864" marT="18288" marB="18288" anchor="ctr">
                    <a:solidFill>
                      <a:srgbClr val="FFFFFF"/>
                    </a:solidFill>
                  </a:tcPr>
                </a:tc>
                <a:tc>
                  <a:txBody>
                    <a:bodyPr/>
                    <a:lstStyle/>
                    <a:p>
                      <a:pPr algn="ctr"/>
                      <a:r>
                        <a:rPr sz="1800" b="0">
                          <a:solidFill>
                            <a:srgbClr val="1F2A37"/>
                          </a:solidFill>
                          <a:latin typeface="Consolas"/>
                        </a:rPr>
                        <a:t>17</a:t>
                      </a:r>
                    </a:p>
                  </a:txBody>
                  <a:tcPr marL="54864" marR="54864" marT="18288" marB="18288" anchor="ctr">
                    <a:solidFill>
                      <a:srgbClr val="FFFFFF"/>
                    </a:solidFill>
                  </a:tcPr>
                </a:tc>
                <a:tc>
                  <a:txBody>
                    <a:bodyPr/>
                    <a:lstStyle/>
                    <a:p>
                      <a:pPr algn="ctr"/>
                      <a:r>
                        <a:rPr sz="1800" b="0">
                          <a:solidFill>
                            <a:srgbClr val="1F2A37"/>
                          </a:solidFill>
                          <a:latin typeface="Consolas"/>
                        </a:rPr>
                        <a:t>46</a:t>
                      </a:r>
                    </a:p>
                  </a:txBody>
                  <a:tcPr marL="54864" marR="54864" marT="18288" marB="18288" anchor="ctr">
                    <a:solidFill>
                      <a:srgbClr val="FFFFFF"/>
                    </a:solidFill>
                  </a:tcPr>
                </a:tc>
                <a:tc>
                  <a:txBody>
                    <a:bodyPr/>
                    <a:lstStyle/>
                    <a:p>
                      <a:pPr algn="ctr"/>
                      <a:r>
                        <a:rPr sz="1800" b="0">
                          <a:solidFill>
                            <a:srgbClr val="1F2A37"/>
                          </a:solidFill>
                          <a:latin typeface="Consolas"/>
                        </a:rPr>
                        <a:t>58</a:t>
                      </a:r>
                    </a:p>
                  </a:txBody>
                  <a:tcPr marL="54864" marR="54864" marT="18288" marB="18288" anchor="ctr">
                    <a:solidFill>
                      <a:srgbClr val="FFFFFF"/>
                    </a:solidFill>
                  </a:tcPr>
                </a:tc>
                <a:tc>
                  <a:txBody>
                    <a:bodyPr/>
                    <a:lstStyle/>
                    <a:p>
                      <a:pPr algn="ctr"/>
                      <a:r>
                        <a:rPr sz="1800" b="0">
                          <a:solidFill>
                            <a:srgbClr val="1F2A37"/>
                          </a:solidFill>
                          <a:latin typeface="Consolas"/>
                        </a:rPr>
                        <a:t>52</a:t>
                      </a:r>
                    </a:p>
                  </a:txBody>
                  <a:tcPr marL="54864" marR="54864" marT="18288" marB="18288" anchor="ctr">
                    <a:solidFill>
                      <a:srgbClr val="FFFFFF"/>
                    </a:solidFill>
                  </a:tcPr>
                </a:tc>
                <a:tc>
                  <a:txBody>
                    <a:bodyPr/>
                    <a:lstStyle/>
                    <a:p>
                      <a:pPr algn="ctr"/>
                      <a:r>
                        <a:rPr sz="1800" b="0">
                          <a:solidFill>
                            <a:srgbClr val="1F2A37"/>
                          </a:solidFill>
                          <a:latin typeface="Consolas"/>
                        </a:rPr>
                        <a:t>–</a:t>
                      </a:r>
                    </a:p>
                  </a:txBody>
                  <a:tcPr marL="54864" marR="54864" marT="18288" marB="18288" anchor="ctr">
                    <a:solidFill>
                      <a:srgbClr val="FFFFFF"/>
                    </a:solidFill>
                  </a:tcPr>
                </a:tc>
              </a:tr>
              <a:tr h="434339">
                <a:tc>
                  <a:txBody>
                    <a:bodyPr/>
                    <a:lstStyle/>
                    <a:p>
                      <a:pPr algn="ctr"/>
                      <a:r>
                        <a:rPr sz="1800" b="0">
                          <a:solidFill>
                            <a:srgbClr val="1F2A37"/>
                          </a:solidFill>
                          <a:latin typeface="Consolas"/>
                        </a:rPr>
                        <a:t>Lauf 1</a:t>
                      </a:r>
                    </a:p>
                  </a:txBody>
                  <a:tcPr marL="54864" marR="54864" marT="18288" marB="18288" anchor="ctr">
                    <a:solidFill>
                      <a:srgbClr val="EEF3FA"/>
                    </a:solidFill>
                  </a:tcPr>
                </a:tc>
                <a:tc>
                  <a:txBody>
                    <a:bodyPr/>
                    <a:lstStyle/>
                    <a:p>
                      <a:pPr algn="ctr"/>
                      <a:r>
                        <a:rPr sz="1800" b="0">
                          <a:solidFill>
                            <a:srgbClr val="1F2A37"/>
                          </a:solidFill>
                          <a:latin typeface="Consolas"/>
                        </a:rPr>
                        <a:t>17</a:t>
                      </a:r>
                    </a:p>
                  </a:txBody>
                  <a:tcPr marL="54864" marR="54864" marT="18288" marB="18288" anchor="ctr">
                    <a:solidFill>
                      <a:srgbClr val="EEF3FA"/>
                    </a:solidFill>
                  </a:tcPr>
                </a:tc>
                <a:tc>
                  <a:txBody>
                    <a:bodyPr/>
                    <a:lstStyle/>
                    <a:p>
                      <a:pPr algn="ctr"/>
                      <a:r>
                        <a:rPr sz="1800" b="0">
                          <a:solidFill>
                            <a:srgbClr val="1F2A37"/>
                          </a:solidFill>
                          <a:latin typeface="Consolas"/>
                        </a:rPr>
                        <a:t>31</a:t>
                      </a:r>
                    </a:p>
                  </a:txBody>
                  <a:tcPr marL="54864" marR="54864" marT="18288" marB="18288" anchor="ctr">
                    <a:solidFill>
                      <a:srgbClr val="EEF3FA"/>
                    </a:solidFill>
                  </a:tcPr>
                </a:tc>
                <a:tc>
                  <a:txBody>
                    <a:bodyPr/>
                    <a:lstStyle/>
                    <a:p>
                      <a:pPr algn="ctr"/>
                      <a:r>
                        <a:rPr sz="1800" b="0">
                          <a:solidFill>
                            <a:srgbClr val="1F2A37"/>
                          </a:solidFill>
                          <a:latin typeface="Consolas"/>
                        </a:rPr>
                        <a:t>46</a:t>
                      </a:r>
                    </a:p>
                  </a:txBody>
                  <a:tcPr marL="54864" marR="54864" marT="18288" marB="18288" anchor="ctr">
                    <a:solidFill>
                      <a:srgbClr val="EEF3FA"/>
                    </a:solidFill>
                  </a:tcPr>
                </a:tc>
                <a:tc>
                  <a:txBody>
                    <a:bodyPr/>
                    <a:lstStyle/>
                    <a:p>
                      <a:pPr algn="ctr"/>
                      <a:r>
                        <a:rPr sz="1800" b="0">
                          <a:solidFill>
                            <a:srgbClr val="1F2A37"/>
                          </a:solidFill>
                          <a:latin typeface="Consolas"/>
                        </a:rPr>
                        <a:t>52</a:t>
                      </a:r>
                    </a:p>
                  </a:txBody>
                  <a:tcPr marL="54864" marR="54864" marT="18288" marB="18288" anchor="ctr">
                    <a:solidFill>
                      <a:srgbClr val="EEF3FA"/>
                    </a:solidFill>
                  </a:tcPr>
                </a:tc>
                <a:tc>
                  <a:txBody>
                    <a:bodyPr/>
                    <a:lstStyle/>
                    <a:p>
                      <a:pPr algn="ctr"/>
                      <a:r>
                        <a:rPr sz="1800" b="0">
                          <a:solidFill>
                            <a:srgbClr val="1F2A37"/>
                          </a:solidFill>
                          <a:latin typeface="Consolas"/>
                        </a:rPr>
                        <a:t>58</a:t>
                      </a:r>
                    </a:p>
                  </a:txBody>
                  <a:tcPr marL="54864" marR="54864" marT="18288" marB="18288" anchor="ctr">
                    <a:solidFill>
                      <a:srgbClr val="EEF3FA"/>
                    </a:solidFill>
                  </a:tcPr>
                </a:tc>
                <a:tc>
                  <a:txBody>
                    <a:bodyPr/>
                    <a:lstStyle/>
                    <a:p>
                      <a:pPr algn="ctr"/>
                      <a:r>
                        <a:rPr sz="1800" b="0">
                          <a:solidFill>
                            <a:srgbClr val="1F2A37"/>
                          </a:solidFill>
                          <a:latin typeface="Consolas"/>
                        </a:rPr>
                        <a:t>4</a:t>
                      </a:r>
                    </a:p>
                  </a:txBody>
                  <a:tcPr marL="54864" marR="54864" marT="18288" marB="18288" anchor="ctr">
                    <a:solidFill>
                      <a:srgbClr val="EEF3FA"/>
                    </a:solidFill>
                  </a:tcPr>
                </a:tc>
              </a:tr>
              <a:tr h="434339">
                <a:tc>
                  <a:txBody>
                    <a:bodyPr/>
                    <a:lstStyle/>
                    <a:p>
                      <a:pPr algn="ctr"/>
                      <a:r>
                        <a:rPr sz="1800" b="1">
                          <a:solidFill>
                            <a:srgbClr val="C00000"/>
                          </a:solidFill>
                          <a:latin typeface="Consolas"/>
                        </a:rPr>
                        <a:t>Lauf 2</a:t>
                      </a:r>
                    </a:p>
                  </a:txBody>
                  <a:tcPr marL="54864" marR="54864" marT="18288" marB="18288" anchor="ctr">
                    <a:solidFill>
                      <a:srgbClr val="FFFFFF"/>
                    </a:solidFill>
                  </a:tcPr>
                </a:tc>
                <a:tc>
                  <a:txBody>
                    <a:bodyPr/>
                    <a:lstStyle/>
                    <a:p>
                      <a:pPr algn="ctr"/>
                      <a:r>
                        <a:rPr sz="1800" b="1">
                          <a:solidFill>
                            <a:srgbClr val="C00000"/>
                          </a:solidFill>
                          <a:latin typeface="Consolas"/>
                        </a:rPr>
                        <a:t>17</a:t>
                      </a:r>
                    </a:p>
                  </a:txBody>
                  <a:tcPr marL="54864" marR="54864" marT="18288" marB="18288" anchor="ctr">
                    <a:solidFill>
                      <a:srgbClr val="FFFFFF"/>
                    </a:solidFill>
                  </a:tcPr>
                </a:tc>
                <a:tc>
                  <a:txBody>
                    <a:bodyPr/>
                    <a:lstStyle/>
                    <a:p>
                      <a:pPr algn="ctr"/>
                      <a:r>
                        <a:rPr sz="1800" b="1">
                          <a:solidFill>
                            <a:srgbClr val="C00000"/>
                          </a:solidFill>
                          <a:latin typeface="Consolas"/>
                        </a:rPr>
                        <a:t>31</a:t>
                      </a:r>
                    </a:p>
                  </a:txBody>
                  <a:tcPr marL="54864" marR="54864" marT="18288" marB="18288" anchor="ctr">
                    <a:solidFill>
                      <a:srgbClr val="FFFFFF"/>
                    </a:solidFill>
                  </a:tcPr>
                </a:tc>
                <a:tc>
                  <a:txBody>
                    <a:bodyPr/>
                    <a:lstStyle/>
                    <a:p>
                      <a:pPr algn="ctr"/>
                      <a:r>
                        <a:rPr sz="1800" b="1">
                          <a:solidFill>
                            <a:srgbClr val="C00000"/>
                          </a:solidFill>
                          <a:latin typeface="Consolas"/>
                        </a:rPr>
                        <a:t>46</a:t>
                      </a:r>
                    </a:p>
                  </a:txBody>
                  <a:tcPr marL="54864" marR="54864" marT="18288" marB="18288" anchor="ctr">
                    <a:solidFill>
                      <a:srgbClr val="FFFFFF"/>
                    </a:solidFill>
                  </a:tcPr>
                </a:tc>
                <a:tc>
                  <a:txBody>
                    <a:bodyPr/>
                    <a:lstStyle/>
                    <a:p>
                      <a:pPr algn="ctr"/>
                      <a:r>
                        <a:rPr sz="1800" b="1">
                          <a:solidFill>
                            <a:srgbClr val="C00000"/>
                          </a:solidFill>
                          <a:latin typeface="Consolas"/>
                        </a:rPr>
                        <a:t>52</a:t>
                      </a:r>
                    </a:p>
                  </a:txBody>
                  <a:tcPr marL="54864" marR="54864" marT="18288" marB="18288" anchor="ctr">
                    <a:solidFill>
                      <a:srgbClr val="FFFFFF"/>
                    </a:solidFill>
                  </a:tcPr>
                </a:tc>
                <a:tc>
                  <a:txBody>
                    <a:bodyPr/>
                    <a:lstStyle/>
                    <a:p>
                      <a:pPr algn="ctr"/>
                      <a:r>
                        <a:rPr sz="1800" b="1">
                          <a:solidFill>
                            <a:srgbClr val="C00000"/>
                          </a:solidFill>
                          <a:latin typeface="Consolas"/>
                        </a:rPr>
                        <a:t>58</a:t>
                      </a:r>
                    </a:p>
                  </a:txBody>
                  <a:tcPr marL="54864" marR="54864" marT="18288" marB="18288" anchor="ctr">
                    <a:solidFill>
                      <a:srgbClr val="FFFFFF"/>
                    </a:solidFill>
                  </a:tcPr>
                </a:tc>
                <a:tc>
                  <a:txBody>
                    <a:bodyPr/>
                    <a:lstStyle/>
                    <a:p>
                      <a:pPr algn="ctr"/>
                      <a:r>
                        <a:rPr sz="1800" b="1">
                          <a:solidFill>
                            <a:srgbClr val="C00000"/>
                          </a:solidFill>
                          <a:latin typeface="Consolas"/>
                        </a:rPr>
                        <a:t>7</a:t>
                      </a:r>
                    </a:p>
                  </a:txBody>
                  <a:tcPr marL="54864" marR="54864" marT="18288" marB="18288" anchor="ctr">
                    <a:solidFill>
                      <a:srgbClr val="FFFFFF"/>
                    </a:solidFill>
                  </a:tcPr>
                </a:tc>
              </a:tr>
            </a:tbl>
          </a:graphicData>
        </a:graphic>
      </p:graphicFrame>
      <p:sp>
        <p:nvSpPr>
          <p:cNvPr id="6" name="Rounded Rectangle 5"/>
          <p:cNvSpPr/>
          <p:nvPr/>
        </p:nvSpPr>
        <p:spPr>
          <a:xfrm>
            <a:off x="7498079" y="1325880"/>
            <a:ext cx="4144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7 Vergleiche</a:t>
            </a:r>
            <a:r>
              <a:rPr sz="2000" b="0" i="0">
                <a:solidFill>
                  <a:srgbClr val="1F2A37"/>
                </a:solidFill>
                <a:latin typeface="Calibri"/>
              </a:rPr>
              <a:t/>
            </a:r>
          </a:p>
          <a:p>
            <a:pPr>
              <a:spcAft>
                <a:spcPts val="600"/>
              </a:spcAft>
            </a:pPr>
            <a:r>
              <a:rPr sz="2000" b="0" i="0">
                <a:solidFill>
                  <a:srgbClr val="1F2A37"/>
                </a:solidFill>
                <a:latin typeface="Calibri"/>
              </a:rPr>
              <a:t>Lauf 1: 2 Vertauschungen</a:t>
            </a:r>
            <a:r>
              <a:rPr sz="2000" b="0" i="0">
                <a:solidFill>
                  <a:srgbClr val="1F2A37"/>
                </a:solidFill>
                <a:latin typeface="Calibri"/>
              </a:rPr>
              <a:t/>
            </a:r>
          </a:p>
          <a:p>
            <a:pPr>
              <a:spcAft>
                <a:spcPts val="600"/>
              </a:spcAft>
            </a:pPr>
            <a:r>
              <a:rPr sz="2000" b="0" i="0">
                <a:solidFill>
                  <a:srgbClr val="1F2A37"/>
                </a:solidFill>
                <a:latin typeface="Calibri"/>
              </a:rPr>
              <a:t>Lauf 2: kein Tausch → </a:t>
            </a:r>
            <a:r>
              <a:rPr sz="2000" b="1" i="0">
                <a:solidFill>
                  <a:srgbClr val="1F2A37"/>
                </a:solidFill>
                <a:latin typeface="Calibri"/>
              </a:rPr>
              <a:t>Abbruch</a:t>
            </a:r>
            <a:r>
              <a:rPr sz="2000" b="0" i="0">
                <a:solidFill>
                  <a:srgbClr val="1F2A37"/>
                </a:solidFill>
                <a:latin typeface="Calibri"/>
              </a:rPr>
              <a:t/>
            </a:r>
          </a:p>
          <a:p>
            <a:pPr>
              <a:spcAft>
                <a:spcPts val="600"/>
              </a:spcAft>
            </a:pPr>
            <a:r>
              <a:rPr sz="2000" b="0" i="0">
                <a:solidFill>
                  <a:srgbClr val="1F2A37"/>
                </a:solidFill>
                <a:latin typeface="Calibri"/>
              </a:rPr>
              <a:t>statt 10 im schlechtesten Fall</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Binäre Suche: halbieren statt durchsuchen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147560" cy="4520184"/>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964680" cy="4428744"/>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public static int binaer(int[] r, int x) {</a:t>
            </a:r>
          </a:p>
          <a:p>
            <a:pPr>
              <a:lnSpc>
                <a:spcPct val="100000"/>
              </a:lnSpc>
            </a:pPr>
            <a:r>
              <a:rPr sz="1600" b="0" i="0">
                <a:solidFill>
                  <a:srgbClr val="A0A7B1"/>
                </a:solidFill>
                <a:latin typeface="Consolas"/>
              </a:rPr>
              <a:t> 2  </a:t>
            </a:r>
            <a:r>
              <a:rPr sz="1600" b="0" i="0">
                <a:solidFill>
                  <a:srgbClr val="1F2A37"/>
                </a:solidFill>
                <a:latin typeface="Consolas"/>
              </a:rPr>
              <a:t>    int lo = 0;</a:t>
            </a:r>
          </a:p>
          <a:p>
            <a:pPr>
              <a:lnSpc>
                <a:spcPct val="100000"/>
              </a:lnSpc>
            </a:pPr>
            <a:r>
              <a:rPr sz="1600" b="0" i="0">
                <a:solidFill>
                  <a:srgbClr val="A0A7B1"/>
                </a:solidFill>
                <a:latin typeface="Consolas"/>
              </a:rPr>
              <a:t> 3  </a:t>
            </a:r>
            <a:r>
              <a:rPr sz="1600" b="0" i="0">
                <a:solidFill>
                  <a:srgbClr val="1F2A37"/>
                </a:solidFill>
                <a:latin typeface="Consolas"/>
              </a:rPr>
              <a:t>    int hi = r.length - 1;</a:t>
            </a:r>
          </a:p>
          <a:p>
            <a:pPr>
              <a:lnSpc>
                <a:spcPct val="100000"/>
              </a:lnSpc>
            </a:pPr>
            <a:r>
              <a:rPr sz="1600" b="0" i="0">
                <a:solidFill>
                  <a:srgbClr val="A0A7B1"/>
                </a:solidFill>
                <a:latin typeface="Consolas"/>
              </a:rPr>
              <a:t> 4  </a:t>
            </a:r>
            <a:r>
              <a:rPr sz="1600" b="0" i="0">
                <a:solidFill>
                  <a:srgbClr val="1F2A37"/>
                </a:solidFill>
                <a:latin typeface="Consolas"/>
              </a:rPr>
              <a:t>    while (lo &lt;= hi) {</a:t>
            </a:r>
          </a:p>
          <a:p>
            <a:pPr>
              <a:lnSpc>
                <a:spcPct val="100000"/>
              </a:lnSpc>
            </a:pPr>
            <a:r>
              <a:rPr sz="1600" b="0" i="0">
                <a:solidFill>
                  <a:srgbClr val="A0A7B1"/>
                </a:solidFill>
                <a:latin typeface="Consolas"/>
              </a:rPr>
              <a:t> 5  </a:t>
            </a:r>
            <a:r>
              <a:rPr sz="1600" b="0" i="0">
                <a:solidFill>
                  <a:srgbClr val="1F2A37"/>
                </a:solidFill>
                <a:latin typeface="Consolas"/>
              </a:rPr>
              <a:t>        int mid = (lo + hi) / 2; </a:t>
            </a:r>
            <a:r>
              <a:rPr sz="1600" b="0" i="0">
                <a:solidFill>
                  <a:srgbClr val="5F7F5F"/>
                </a:solidFill>
                <a:latin typeface="Consolas"/>
              </a:rPr>
              <a:t> // → Tabellenzeile</a:t>
            </a:r>
          </a:p>
          <a:p>
            <a:pPr>
              <a:lnSpc>
                <a:spcPct val="100000"/>
              </a:lnSpc>
            </a:pPr>
            <a:r>
              <a:rPr sz="1600" b="0" i="0">
                <a:solidFill>
                  <a:srgbClr val="A0A7B1"/>
                </a:solidFill>
                <a:latin typeface="Consolas"/>
              </a:rPr>
              <a:t> 6  </a:t>
            </a:r>
            <a:r>
              <a:rPr sz="1600" b="0" i="0">
                <a:solidFill>
                  <a:srgbClr val="1F2A37"/>
                </a:solidFill>
                <a:latin typeface="Consolas"/>
              </a:rPr>
              <a:t>        if (r[mid] == x) {</a:t>
            </a:r>
          </a:p>
          <a:p>
            <a:pPr>
              <a:lnSpc>
                <a:spcPct val="100000"/>
              </a:lnSpc>
            </a:pPr>
            <a:r>
              <a:rPr sz="1600" b="0" i="0">
                <a:solidFill>
                  <a:srgbClr val="A0A7B1"/>
                </a:solidFill>
                <a:latin typeface="Consolas"/>
              </a:rPr>
              <a:t> 7  </a:t>
            </a:r>
            <a:r>
              <a:rPr sz="1600" b="0" i="0">
                <a:solidFill>
                  <a:srgbClr val="1F2A37"/>
                </a:solidFill>
                <a:latin typeface="Consolas"/>
              </a:rPr>
              <a:t>            return mid;</a:t>
            </a:r>
          </a:p>
          <a:p>
            <a:pPr>
              <a:lnSpc>
                <a:spcPct val="100000"/>
              </a:lnSpc>
            </a:pPr>
            <a:r>
              <a:rPr sz="1600" b="0" i="0">
                <a:solidFill>
                  <a:srgbClr val="A0A7B1"/>
                </a:solidFill>
                <a:latin typeface="Consolas"/>
              </a:rPr>
              <a:t> 8  </a:t>
            </a:r>
            <a:r>
              <a:rPr sz="1600" b="0" i="0">
                <a:solidFill>
                  <a:srgbClr val="1F2A37"/>
                </a:solidFill>
                <a:latin typeface="Consolas"/>
              </a:rPr>
              <a:t>        }</a:t>
            </a:r>
          </a:p>
          <a:p>
            <a:pPr>
              <a:lnSpc>
                <a:spcPct val="100000"/>
              </a:lnSpc>
            </a:pPr>
            <a:r>
              <a:rPr sz="1600" b="0" i="0">
                <a:solidFill>
                  <a:srgbClr val="A0A7B1"/>
                </a:solidFill>
                <a:latin typeface="Consolas"/>
              </a:rPr>
              <a:t> 9  </a:t>
            </a:r>
            <a:r>
              <a:rPr sz="1600" b="0" i="0">
                <a:solidFill>
                  <a:srgbClr val="1F2A37"/>
                </a:solidFill>
                <a:latin typeface="Consolas"/>
              </a:rPr>
              <a:t>        if (r[mid] &lt; x) {</a:t>
            </a:r>
          </a:p>
          <a:p>
            <a:pPr>
              <a:lnSpc>
                <a:spcPct val="100000"/>
              </a:lnSpc>
            </a:pPr>
            <a:r>
              <a:rPr sz="1600" b="0" i="0">
                <a:solidFill>
                  <a:srgbClr val="A0A7B1"/>
                </a:solidFill>
                <a:latin typeface="Consolas"/>
              </a:rPr>
              <a:t>10  </a:t>
            </a:r>
            <a:r>
              <a:rPr sz="1600" b="0" i="0">
                <a:solidFill>
                  <a:srgbClr val="1F2A37"/>
                </a:solidFill>
                <a:latin typeface="Consolas"/>
              </a:rPr>
              <a:t>            lo = mid + 1;</a:t>
            </a:r>
          </a:p>
          <a:p>
            <a:pPr>
              <a:lnSpc>
                <a:spcPct val="100000"/>
              </a:lnSpc>
            </a:pPr>
            <a:r>
              <a:rPr sz="1600" b="0" i="0">
                <a:solidFill>
                  <a:srgbClr val="A0A7B1"/>
                </a:solidFill>
                <a:latin typeface="Consolas"/>
              </a:rPr>
              <a:t>11  </a:t>
            </a:r>
            <a:r>
              <a:rPr sz="1600" b="0" i="0">
                <a:solidFill>
                  <a:srgbClr val="1F2A37"/>
                </a:solidFill>
                <a:latin typeface="Consolas"/>
              </a:rPr>
              <a:t>        } else {</a:t>
            </a:r>
          </a:p>
          <a:p>
            <a:pPr>
              <a:lnSpc>
                <a:spcPct val="100000"/>
              </a:lnSpc>
            </a:pPr>
            <a:r>
              <a:rPr sz="1600" b="0" i="0">
                <a:solidFill>
                  <a:srgbClr val="A0A7B1"/>
                </a:solidFill>
                <a:latin typeface="Consolas"/>
              </a:rPr>
              <a:t>12  </a:t>
            </a:r>
            <a:r>
              <a:rPr sz="1600" b="0" i="0">
                <a:solidFill>
                  <a:srgbClr val="1F2A37"/>
                </a:solidFill>
                <a:latin typeface="Consolas"/>
              </a:rPr>
              <a:t>            hi = mid - 1;</a:t>
            </a:r>
          </a:p>
          <a:p>
            <a:pPr>
              <a:lnSpc>
                <a:spcPct val="100000"/>
              </a:lnSpc>
            </a:pPr>
            <a:r>
              <a:rPr sz="1600" b="0" i="0">
                <a:solidFill>
                  <a:srgbClr val="A0A7B1"/>
                </a:solidFill>
                <a:latin typeface="Consolas"/>
              </a:rPr>
              <a:t>13  </a:t>
            </a:r>
            <a:r>
              <a:rPr sz="1600" b="0" i="0">
                <a:solidFill>
                  <a:srgbClr val="1F2A37"/>
                </a:solidFill>
                <a:latin typeface="Consolas"/>
              </a:rPr>
              <a:t>        }</a:t>
            </a:r>
          </a:p>
          <a:p>
            <a:pPr>
              <a:lnSpc>
                <a:spcPct val="100000"/>
              </a:lnSpc>
            </a:pPr>
            <a:r>
              <a:rPr sz="1600" b="0" i="0">
                <a:solidFill>
                  <a:srgbClr val="A0A7B1"/>
                </a:solidFill>
                <a:latin typeface="Consolas"/>
              </a:rPr>
              <a:t>14  </a:t>
            </a:r>
            <a:r>
              <a:rPr sz="1600" b="0" i="0">
                <a:solidFill>
                  <a:srgbClr val="1F2A37"/>
                </a:solidFill>
                <a:latin typeface="Consolas"/>
              </a:rPr>
              <a:t>    }</a:t>
            </a:r>
          </a:p>
          <a:p>
            <a:pPr>
              <a:lnSpc>
                <a:spcPct val="100000"/>
              </a:lnSpc>
            </a:pPr>
            <a:r>
              <a:rPr sz="1600" b="0" i="0">
                <a:solidFill>
                  <a:srgbClr val="A0A7B1"/>
                </a:solidFill>
                <a:latin typeface="Consolas"/>
              </a:rPr>
              <a:t>15  </a:t>
            </a:r>
            <a:r>
              <a:rPr sz="1600" b="0" i="0">
                <a:solidFill>
                  <a:srgbClr val="1F2A37"/>
                </a:solidFill>
                <a:latin typeface="Consolas"/>
              </a:rPr>
              <a:t>    return -1;</a:t>
            </a:r>
          </a:p>
          <a:p>
            <a:pPr>
              <a:lnSpc>
                <a:spcPct val="100000"/>
              </a:lnSpc>
            </a:pPr>
            <a:r>
              <a:rPr sz="1600" b="0" i="0">
                <a:solidFill>
                  <a:srgbClr val="A0A7B1"/>
                </a:solidFill>
                <a:latin typeface="Consolas"/>
              </a:rPr>
              <a:t>16  </a:t>
            </a:r>
            <a:r>
              <a:rPr sz="1600" b="0" i="0">
                <a:solidFill>
                  <a:srgbClr val="1F2A37"/>
                </a:solidFill>
                <a:latin typeface="Consolas"/>
              </a:rPr>
              <a:t>}</a:t>
            </a:r>
          </a:p>
        </p:txBody>
      </p:sp>
      <p:sp>
        <p:nvSpPr>
          <p:cNvPr id="7" name="Rounded Rectangle 6"/>
          <p:cNvSpPr/>
          <p:nvPr/>
        </p:nvSpPr>
        <p:spPr>
          <a:xfrm>
            <a:off x="7970520" y="1325880"/>
            <a:ext cx="367253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3399" y="1463039"/>
            <a:ext cx="3306775" cy="2377439"/>
          </a:xfrm>
          <a:prstGeom prst="rect">
            <a:avLst/>
          </a:prstGeom>
          <a:noFill/>
        </p:spPr>
        <p:txBody>
          <a:bodyPr wrap="square" anchor="t" lIns="45720" rIns="45720">
            <a:spAutoFit/>
          </a:bodyPr>
          <a:lstStyle/>
          <a:p>
            <a:pPr>
              <a:spcAft>
                <a:spcPts val="800"/>
              </a:spcAft>
            </a:pPr>
            <a:r>
              <a:rPr sz="2000" b="1" i="0">
                <a:solidFill>
                  <a:srgbClr val="C00000"/>
                </a:solidFill>
                <a:latin typeface="Calibri"/>
              </a:rPr>
              <a:t>Voraussetzung</a:t>
            </a:r>
            <a:r>
              <a:rPr sz="1800" b="0" i="0">
                <a:solidFill>
                  <a:srgbClr val="1F2A37"/>
                </a:solidFill>
                <a:latin typeface="Calibri"/>
              </a:rPr>
              <a:t/>
            </a:r>
          </a:p>
          <a:p>
            <a:pPr>
              <a:spcAft>
                <a:spcPts val="600"/>
              </a:spcAft>
            </a:pPr>
            <a:r>
              <a:rPr sz="1800" b="0" i="0">
                <a:solidFill>
                  <a:srgbClr val="1F2A37"/>
                </a:solidFill>
                <a:latin typeface="Calibri"/>
              </a:rPr>
              <a:t>Die Reihung ist </a:t>
            </a:r>
            <a:r>
              <a:rPr sz="1800" b="1" i="0">
                <a:solidFill>
                  <a:srgbClr val="1F2A37"/>
                </a:solidFill>
                <a:latin typeface="Calibri"/>
              </a:rPr>
              <a:t>aufsteigend sortiert</a:t>
            </a:r>
            <a:r>
              <a:rPr sz="1800" b="0" i="0">
                <a:solidFill>
                  <a:srgbClr val="1F2A37"/>
                </a:solidFill>
                <a:latin typeface="Calibri"/>
              </a:rPr>
              <a:t>!</a:t>
            </a:r>
            <a:r>
              <a:rPr sz="1800" b="0" i="0">
                <a:solidFill>
                  <a:srgbClr val="1F2A37"/>
                </a:solidFill>
                <a:latin typeface="Calibri"/>
              </a:rPr>
              <a:t/>
            </a:r>
          </a:p>
          <a:p>
            <a:pPr>
              <a:spcAft>
                <a:spcPts val="600"/>
              </a:spcAft>
            </a:pPr>
            <a:r>
              <a:rPr sz="1700" b="0" i="0">
                <a:solidFill>
                  <a:srgbClr val="1F4E79"/>
                </a:solidFill>
                <a:latin typeface="Consolas"/>
              </a:rPr>
              <a:t>mid</a:t>
            </a:r>
            <a:r>
              <a:rPr sz="1800" b="0" i="0">
                <a:solidFill>
                  <a:srgbClr val="1F2A37"/>
                </a:solidFill>
                <a:latin typeface="Calibri"/>
              </a:rPr>
              <a:t> ganzzahlig: (lo + hi) / 2</a:t>
            </a:r>
            <a:r>
              <a:rPr sz="1800" b="0" i="0">
                <a:solidFill>
                  <a:srgbClr val="1F2A37"/>
                </a:solidFill>
                <a:latin typeface="Calibri"/>
              </a:rPr>
              <a:t/>
            </a:r>
          </a:p>
          <a:p>
            <a:pPr>
              <a:spcAft>
                <a:spcPts val="600"/>
              </a:spcAft>
            </a:pPr>
            <a:r>
              <a:rPr sz="1700" b="0" i="0">
                <a:solidFill>
                  <a:srgbClr val="1F4E79"/>
                </a:solidFill>
                <a:latin typeface="Consolas"/>
              </a:rPr>
              <a:t>r[mid] &lt; x</a:t>
            </a:r>
            <a:r>
              <a:rPr sz="1800" b="0" i="0">
                <a:solidFill>
                  <a:srgbClr val="1F2A37"/>
                </a:solidFill>
                <a:latin typeface="Calibri"/>
              </a:rPr>
              <a:t> → rechts weiter, sonst links</a:t>
            </a:r>
            <a:r>
              <a:rPr sz="1800" b="0" i="0">
                <a:solidFill>
                  <a:srgbClr val="1F2A37"/>
                </a:solidFill>
                <a:latin typeface="Calibri"/>
              </a:rPr>
              <a:t/>
            </a:r>
          </a:p>
          <a:p>
            <a:pPr>
              <a:spcAft>
                <a:spcPts val="600"/>
              </a:spcAft>
            </a:pPr>
            <a:r>
              <a:rPr sz="1800" b="0" i="0">
                <a:solidFill>
                  <a:srgbClr val="1F2A37"/>
                </a:solidFill>
                <a:latin typeface="Calibri"/>
              </a:rPr>
              <a:t>Treffer → </a:t>
            </a:r>
            <a:r>
              <a:rPr sz="1700" b="0" i="0">
                <a:solidFill>
                  <a:srgbClr val="1F4E79"/>
                </a:solidFill>
                <a:latin typeface="Consolas"/>
              </a:rPr>
              <a:t>mid</a:t>
            </a:r>
            <a:r>
              <a:rPr sz="1800" b="0" i="0">
                <a:solidFill>
                  <a:srgbClr val="1F2A37"/>
                </a:solidFill>
                <a:latin typeface="Calibri"/>
              </a:rPr>
              <a:t>; </a:t>
            </a:r>
            <a:r>
              <a:rPr sz="1700" b="0" i="0">
                <a:solidFill>
                  <a:srgbClr val="1F4E79"/>
                </a:solidFill>
                <a:latin typeface="Consolas"/>
              </a:rPr>
              <a:t>lo &gt; hi</a:t>
            </a:r>
            <a:r>
              <a:rPr sz="1800" b="0" i="0">
                <a:solidFill>
                  <a:srgbClr val="1F2A37"/>
                </a:solidFill>
                <a:latin typeface="Calibri"/>
              </a:rPr>
              <a:t> → −1</a:t>
            </a:r>
            <a:r>
              <a:rPr sz="18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Trace: binaer(r, 47)</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_suche.png"/>
          <p:cNvPicPr>
            <a:picLocks noChangeAspect="1"/>
          </p:cNvPicPr>
          <p:nvPr/>
        </p:nvPicPr>
        <p:blipFill>
          <a:blip r:embed="rId2"/>
          <a:stretch>
            <a:fillRect/>
          </a:stretch>
        </p:blipFill>
        <p:spPr>
          <a:xfrm>
            <a:off x="548640" y="1417320"/>
            <a:ext cx="7772400" cy="815038"/>
          </a:xfrm>
          <a:prstGeom prst="rect">
            <a:avLst/>
          </a:prstGeom>
        </p:spPr>
      </p:pic>
      <p:graphicFrame>
        <p:nvGraphicFramePr>
          <p:cNvPr id="6" name="Table 5"/>
          <p:cNvGraphicFramePr>
            <a:graphicFrameLocks noGrp="1"/>
          </p:cNvGraphicFramePr>
          <p:nvPr/>
        </p:nvGraphicFramePr>
        <p:xfrm>
          <a:off x="8595360" y="1325880"/>
          <a:ext cx="3047693" cy="1737356"/>
        </p:xfrm>
        <a:graphic>
          <a:graphicData uri="http://schemas.openxmlformats.org/drawingml/2006/table">
            <a:tbl>
              <a:tblPr firstRow="1" bandRow="1">
                <a:tableStyleId>{5C22544A-7EE6-4342-B048-85BDC9FD1C3A}</a:tableStyleId>
              </a:tblPr>
              <a:tblGrid>
                <a:gridCol w="1060067"/>
                <a:gridCol w="662542"/>
                <a:gridCol w="662542"/>
                <a:gridCol w="662542"/>
              </a:tblGrid>
              <a:tr h="434339">
                <a:tc>
                  <a:txBody>
                    <a:bodyPr/>
                    <a:lstStyle/>
                    <a:p>
                      <a:pPr algn="ctr"/>
                      <a:r>
                        <a:rPr sz="1800" b="1">
                          <a:solidFill>
                            <a:srgbClr val="FFFFFF"/>
                          </a:solidFill>
                          <a:latin typeface="Calibri"/>
                        </a:rPr>
                        <a:t>Durchlauf</a:t>
                      </a:r>
                    </a:p>
                  </a:txBody>
                  <a:tcPr marL="54864" marR="54864" marT="18288" marB="18288" anchor="ctr">
                    <a:solidFill>
                      <a:srgbClr val="1F4E79"/>
                    </a:solidFill>
                  </a:tcPr>
                </a:tc>
                <a:tc>
                  <a:txBody>
                    <a:bodyPr/>
                    <a:lstStyle/>
                    <a:p>
                      <a:pPr algn="ctr"/>
                      <a:r>
                        <a:rPr sz="1800" b="1">
                          <a:solidFill>
                            <a:srgbClr val="FFFFFF"/>
                          </a:solidFill>
                          <a:latin typeface="Calibri"/>
                        </a:rPr>
                        <a:t>lo</a:t>
                      </a:r>
                    </a:p>
                  </a:txBody>
                  <a:tcPr marL="54864" marR="54864" marT="18288" marB="18288" anchor="ctr">
                    <a:solidFill>
                      <a:srgbClr val="1F4E79"/>
                    </a:solidFill>
                  </a:tcPr>
                </a:tc>
                <a:tc>
                  <a:txBody>
                    <a:bodyPr/>
                    <a:lstStyle/>
                    <a:p>
                      <a:pPr algn="ctr"/>
                      <a:r>
                        <a:rPr sz="1800" b="1">
                          <a:solidFill>
                            <a:srgbClr val="FFFFFF"/>
                          </a:solidFill>
                          <a:latin typeface="Calibri"/>
                        </a:rPr>
                        <a:t>hi</a:t>
                      </a:r>
                    </a:p>
                  </a:txBody>
                  <a:tcPr marL="54864" marR="54864" marT="18288" marB="18288" anchor="ctr">
                    <a:solidFill>
                      <a:srgbClr val="1F4E79"/>
                    </a:solidFill>
                  </a:tcPr>
                </a:tc>
                <a:tc>
                  <a:txBody>
                    <a:bodyPr/>
                    <a:lstStyle/>
                    <a:p>
                      <a:pPr algn="ctr"/>
                      <a:r>
                        <a:rPr sz="1800" b="1">
                          <a:solidFill>
                            <a:srgbClr val="FFFFFF"/>
                          </a:solidFill>
                          <a:latin typeface="Calibri"/>
                        </a:rPr>
                        <a:t>mid</a:t>
                      </a:r>
                    </a:p>
                  </a:txBody>
                  <a:tcPr marL="54864" marR="54864" marT="18288" marB="18288" anchor="ctr">
                    <a:solidFill>
                      <a:srgbClr val="1F4E79"/>
                    </a:solidFill>
                  </a:tcPr>
                </a:tc>
              </a:tr>
              <a:tr h="434339">
                <a:tc>
                  <a:txBody>
                    <a:bodyPr/>
                    <a:lstStyle/>
                    <a:p>
                      <a:pPr algn="ctr"/>
                      <a:r>
                        <a:rPr sz="1800" b="0">
                          <a:solidFill>
                            <a:srgbClr val="1F2A37"/>
                          </a:solidFill>
                          <a:latin typeface="Consolas"/>
                        </a:rPr>
                        <a:t>1</a:t>
                      </a:r>
                    </a:p>
                  </a:txBody>
                  <a:tcPr marL="54864" marR="54864" marT="18288" marB="18288" anchor="ctr">
                    <a:solidFill>
                      <a:srgbClr val="FFFFFF"/>
                    </a:solidFill>
                  </a:tcPr>
                </a:tc>
                <a:tc>
                  <a:txBody>
                    <a:bodyPr/>
                    <a:lstStyle/>
                    <a:p>
                      <a:pPr algn="ctr"/>
                      <a:r>
                        <a:rPr sz="1800" b="0">
                          <a:solidFill>
                            <a:srgbClr val="1F2A37"/>
                          </a:solidFill>
                          <a:latin typeface="Consolas"/>
                        </a:rPr>
                        <a:t>0</a:t>
                      </a:r>
                    </a:p>
                  </a:txBody>
                  <a:tcPr marL="54864" marR="54864" marT="18288" marB="18288" anchor="ctr">
                    <a:solidFill>
                      <a:srgbClr val="FFFFFF"/>
                    </a:solidFill>
                  </a:tcPr>
                </a:tc>
                <a:tc>
                  <a:txBody>
                    <a:bodyPr/>
                    <a:lstStyle/>
                    <a:p>
                      <a:pPr algn="ctr"/>
                      <a:r>
                        <a:rPr sz="1800" b="0">
                          <a:solidFill>
                            <a:srgbClr val="1F2A37"/>
                          </a:solidFill>
                          <a:latin typeface="Consolas"/>
                        </a:rPr>
                        <a:t>12</a:t>
                      </a:r>
                    </a:p>
                  </a:txBody>
                  <a:tcPr marL="54864" marR="54864" marT="18288" marB="18288" anchor="ctr">
                    <a:solidFill>
                      <a:srgbClr val="FFFFFF"/>
                    </a:solidFill>
                  </a:tcPr>
                </a:tc>
                <a:tc>
                  <a:txBody>
                    <a:bodyPr/>
                    <a:lstStyle/>
                    <a:p>
                      <a:pPr algn="ctr"/>
                      <a:r>
                        <a:rPr sz="1800" b="0">
                          <a:solidFill>
                            <a:srgbClr val="1F2A37"/>
                          </a:solidFill>
                          <a:latin typeface="Consolas"/>
                        </a:rPr>
                        <a:t>6</a:t>
                      </a:r>
                    </a:p>
                  </a:txBody>
                  <a:tcPr marL="54864" marR="54864" marT="18288" marB="18288" anchor="ctr">
                    <a:solidFill>
                      <a:srgbClr val="FFFFFF"/>
                    </a:solidFill>
                  </a:tcPr>
                </a:tc>
              </a:tr>
              <a:tr h="434339">
                <a:tc>
                  <a:txBody>
                    <a:bodyPr/>
                    <a:lstStyle/>
                    <a:p>
                      <a:pPr algn="ctr"/>
                      <a:r>
                        <a:rPr sz="1800" b="0">
                          <a:solidFill>
                            <a:srgbClr val="1F2A37"/>
                          </a:solidFill>
                          <a:latin typeface="Consolas"/>
                        </a:rPr>
                        <a:t>2</a:t>
                      </a:r>
                    </a:p>
                  </a:txBody>
                  <a:tcPr marL="54864" marR="54864" marT="18288" marB="18288" anchor="ctr">
                    <a:solidFill>
                      <a:srgbClr val="EEF3FA"/>
                    </a:solidFill>
                  </a:tcPr>
                </a:tc>
                <a:tc>
                  <a:txBody>
                    <a:bodyPr/>
                    <a:lstStyle/>
                    <a:p>
                      <a:pPr algn="ctr"/>
                      <a:r>
                        <a:rPr sz="1800" b="0">
                          <a:solidFill>
                            <a:srgbClr val="1F2A37"/>
                          </a:solidFill>
                          <a:latin typeface="Consolas"/>
                        </a:rPr>
                        <a:t>7</a:t>
                      </a:r>
                    </a:p>
                  </a:txBody>
                  <a:tcPr marL="54864" marR="54864" marT="18288" marB="18288" anchor="ctr">
                    <a:solidFill>
                      <a:srgbClr val="EEF3FA"/>
                    </a:solidFill>
                  </a:tcPr>
                </a:tc>
                <a:tc>
                  <a:txBody>
                    <a:bodyPr/>
                    <a:lstStyle/>
                    <a:p>
                      <a:pPr algn="ctr"/>
                      <a:r>
                        <a:rPr sz="1800" b="0">
                          <a:solidFill>
                            <a:srgbClr val="1F2A37"/>
                          </a:solidFill>
                          <a:latin typeface="Consolas"/>
                        </a:rPr>
                        <a:t>12</a:t>
                      </a:r>
                    </a:p>
                  </a:txBody>
                  <a:tcPr marL="54864" marR="54864" marT="18288" marB="18288" anchor="ctr">
                    <a:solidFill>
                      <a:srgbClr val="EEF3FA"/>
                    </a:solidFill>
                  </a:tcPr>
                </a:tc>
                <a:tc>
                  <a:txBody>
                    <a:bodyPr/>
                    <a:lstStyle/>
                    <a:p>
                      <a:pPr algn="ctr"/>
                      <a:r>
                        <a:rPr sz="1800" b="0">
                          <a:solidFill>
                            <a:srgbClr val="1F2A37"/>
                          </a:solidFill>
                          <a:latin typeface="Consolas"/>
                        </a:rPr>
                        <a:t>9</a:t>
                      </a:r>
                    </a:p>
                  </a:txBody>
                  <a:tcPr marL="54864" marR="54864" marT="18288" marB="18288" anchor="ctr">
                    <a:solidFill>
                      <a:srgbClr val="EEF3FA"/>
                    </a:solidFill>
                  </a:tcPr>
                </a:tc>
              </a:tr>
              <a:tr h="434339">
                <a:tc>
                  <a:txBody>
                    <a:bodyPr/>
                    <a:lstStyle/>
                    <a:p>
                      <a:pPr algn="ctr"/>
                      <a:r>
                        <a:rPr sz="1800" b="0">
                          <a:solidFill>
                            <a:srgbClr val="1F2A37"/>
                          </a:solidFill>
                          <a:latin typeface="Consolas"/>
                        </a:rPr>
                        <a:t>3</a:t>
                      </a:r>
                    </a:p>
                  </a:txBody>
                  <a:tcPr marL="54864" marR="54864" marT="18288" marB="18288" anchor="ctr">
                    <a:solidFill>
                      <a:srgbClr val="FFFFFF"/>
                    </a:solidFill>
                  </a:tcPr>
                </a:tc>
                <a:tc>
                  <a:txBody>
                    <a:bodyPr/>
                    <a:lstStyle/>
                    <a:p>
                      <a:pPr algn="ctr"/>
                      <a:r>
                        <a:rPr sz="1800" b="0">
                          <a:solidFill>
                            <a:srgbClr val="1F2A37"/>
                          </a:solidFill>
                          <a:latin typeface="Consolas"/>
                        </a:rPr>
                        <a:t>7</a:t>
                      </a:r>
                    </a:p>
                  </a:txBody>
                  <a:tcPr marL="54864" marR="54864" marT="18288" marB="18288" anchor="ctr">
                    <a:solidFill>
                      <a:srgbClr val="FFFFFF"/>
                    </a:solidFill>
                  </a:tcPr>
                </a:tc>
                <a:tc>
                  <a:txBody>
                    <a:bodyPr/>
                    <a:lstStyle/>
                    <a:p>
                      <a:pPr algn="ctr"/>
                      <a:r>
                        <a:rPr sz="1800" b="0">
                          <a:solidFill>
                            <a:srgbClr val="1F2A37"/>
                          </a:solidFill>
                          <a:latin typeface="Consolas"/>
                        </a:rPr>
                        <a:t>8</a:t>
                      </a:r>
                    </a:p>
                  </a:txBody>
                  <a:tcPr marL="54864" marR="54864" marT="18288" marB="18288" anchor="ctr">
                    <a:solidFill>
                      <a:srgbClr val="FFFFFF"/>
                    </a:solidFill>
                  </a:tcPr>
                </a:tc>
                <a:tc>
                  <a:txBody>
                    <a:bodyPr/>
                    <a:lstStyle/>
                    <a:p>
                      <a:pPr algn="ctr"/>
                      <a:r>
                        <a:rPr sz="1800" b="0">
                          <a:solidFill>
                            <a:srgbClr val="1F2A37"/>
                          </a:solidFill>
                          <a:latin typeface="Consolas"/>
                        </a:rPr>
                        <a:t>7</a:t>
                      </a:r>
                    </a:p>
                  </a:txBody>
                  <a:tcPr marL="54864" marR="54864" marT="18288" marB="18288" anchor="ctr">
                    <a:solidFill>
                      <a:srgbClr val="FFFFFF"/>
                    </a:solidFill>
                  </a:tcPr>
                </a:tc>
              </a:tr>
            </a:tbl>
          </a:graphicData>
        </a:graphic>
      </p:graphicFrame>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7772400" cy="1161288"/>
          </a:xfrm>
          <a:prstGeom prst="rect">
            <a:avLst/>
          </a:prstGeom>
          <a:noFill/>
        </p:spPr>
        <p:txBody>
          <a:bodyPr wrap="square" anchor="t" lIns="45720" rIns="45720">
            <a:spAutoFit/>
          </a:bodyPr>
          <a:lstStyle/>
          <a:p>
            <a:r>
              <a:rPr sz="2400" b="0" i="0">
                <a:solidFill>
                  <a:srgbClr val="1F2A37"/>
                </a:solidFill>
                <a:latin typeface="Calibri"/>
              </a:rPr>
              <a:t>Führe die Tracetabelle für </a:t>
            </a:r>
            <a:r>
              <a:rPr sz="2300" b="0" i="0">
                <a:solidFill>
                  <a:srgbClr val="1F4E79"/>
                </a:solidFill>
                <a:latin typeface="Consolas"/>
              </a:rPr>
              <a:t>binaer(r, 20)</a:t>
            </a:r>
            <a:r>
              <a:rPr sz="2400" b="0" i="0">
                <a:solidFill>
                  <a:srgbClr val="1F2A37"/>
                </a:solidFill>
                <a:latin typeface="Calibri"/>
              </a:rPr>
              <a:t>: Spalten </a:t>
            </a:r>
            <a:r>
              <a:rPr sz="2400" b="1" i="0">
                <a:solidFill>
                  <a:srgbClr val="1F2A37"/>
                </a:solidFill>
                <a:latin typeface="Calibri"/>
              </a:rPr>
              <a:t>Durchlauf, lo, hi, mid</a:t>
            </a:r>
            <a:r>
              <a:rPr sz="2400" b="0" i="0">
                <a:solidFill>
                  <a:srgbClr val="1F2A37"/>
                </a:solidFill>
                <a:latin typeface="Calibri"/>
              </a:rPr>
              <a:t> – eine Zeile je Durchlauf. Wann endet die Schleife, was wird zurückgegeben?</a:t>
            </a:r>
          </a:p>
        </p:txBody>
      </p:sp>
      <p:sp>
        <p:nvSpPr>
          <p:cNvPr id="7" name="Rectangle 6"/>
          <p:cNvSpPr/>
          <p:nvPr/>
        </p:nvSpPr>
        <p:spPr>
          <a:xfrm>
            <a:off x="548640" y="3538728"/>
            <a:ext cx="7772400" cy="832104"/>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11880"/>
            <a:ext cx="7589520" cy="740664"/>
          </a:xfrm>
          <a:prstGeom prst="rect">
            <a:avLst/>
          </a:prstGeom>
          <a:noFill/>
        </p:spPr>
        <p:txBody>
          <a:bodyPr wrap="square" anchor="t" lIns="45720" rIns="45720">
            <a:spAutoFit/>
          </a:bodyPr>
          <a:lstStyle/>
          <a:p>
            <a:pPr>
              <a:lnSpc>
                <a:spcPct val="100000"/>
              </a:lnSpc>
            </a:pPr>
            <a:r>
              <a:rPr sz="1800" b="0" i="0">
                <a:solidFill>
                  <a:srgbClr val="1F2A37"/>
                </a:solidFill>
                <a:latin typeface="Consolas"/>
              </a:rPr>
              <a:t>r = {3, 8, 14, 19, 25, 32, 40, 47, 53, 61, 68, 76, 82}</a:t>
            </a:r>
          </a:p>
          <a:p>
            <a:pPr>
              <a:lnSpc>
                <a:spcPct val="100000"/>
              </a:lnSpc>
            </a:pPr>
            <a:r>
              <a:rPr sz="1800" b="0" i="0">
                <a:solidFill>
                  <a:srgbClr val="1F2A37"/>
                </a:solidFill>
                <a:latin typeface="Consolas"/>
              </a:rPr>
              <a:t>// Index 0 bis 12</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binaer(r, 20)</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5120638" cy="2413000"/>
        </p:xfrm>
        <a:graphic>
          <a:graphicData uri="http://schemas.openxmlformats.org/drawingml/2006/table">
            <a:tbl>
              <a:tblPr firstRow="1" bandRow="1">
                <a:tableStyleId>{5C22544A-7EE6-4342-B048-85BDC9FD1C3A}</a:tableStyleId>
              </a:tblPr>
              <a:tblGrid>
                <a:gridCol w="1781092"/>
                <a:gridCol w="1113182"/>
                <a:gridCol w="1113182"/>
                <a:gridCol w="1113182"/>
              </a:tblGrid>
              <a:tr h="482600">
                <a:tc>
                  <a:txBody>
                    <a:bodyPr/>
                    <a:lstStyle/>
                    <a:p>
                      <a:pPr algn="ctr"/>
                      <a:r>
                        <a:rPr sz="2000" b="1">
                          <a:solidFill>
                            <a:srgbClr val="FFFFFF"/>
                          </a:solidFill>
                          <a:latin typeface="Calibri"/>
                        </a:rPr>
                        <a:t>Durchlauf</a:t>
                      </a:r>
                    </a:p>
                  </a:txBody>
                  <a:tcPr marL="54864" marR="54864" marT="18288" marB="18288" anchor="ctr">
                    <a:solidFill>
                      <a:srgbClr val="1F4E79"/>
                    </a:solidFill>
                  </a:tcPr>
                </a:tc>
                <a:tc>
                  <a:txBody>
                    <a:bodyPr/>
                    <a:lstStyle/>
                    <a:p>
                      <a:pPr algn="ctr"/>
                      <a:r>
                        <a:rPr sz="2000" b="1">
                          <a:solidFill>
                            <a:srgbClr val="FFFFFF"/>
                          </a:solidFill>
                          <a:latin typeface="Calibri"/>
                        </a:rPr>
                        <a:t>lo</a:t>
                      </a:r>
                    </a:p>
                  </a:txBody>
                  <a:tcPr marL="54864" marR="54864" marT="18288" marB="18288" anchor="ctr">
                    <a:solidFill>
                      <a:srgbClr val="1F4E79"/>
                    </a:solidFill>
                  </a:tcPr>
                </a:tc>
                <a:tc>
                  <a:txBody>
                    <a:bodyPr/>
                    <a:lstStyle/>
                    <a:p>
                      <a:pPr algn="ctr"/>
                      <a:r>
                        <a:rPr sz="2000" b="1">
                          <a:solidFill>
                            <a:srgbClr val="FFFFFF"/>
                          </a:solidFill>
                          <a:latin typeface="Calibri"/>
                        </a:rPr>
                        <a:t>hi</a:t>
                      </a:r>
                    </a:p>
                  </a:txBody>
                  <a:tcPr marL="54864" marR="54864" marT="18288" marB="18288" anchor="ctr">
                    <a:solidFill>
                      <a:srgbClr val="1F4E79"/>
                    </a:solidFill>
                  </a:tcPr>
                </a:tc>
                <a:tc>
                  <a:txBody>
                    <a:bodyPr/>
                    <a:lstStyle/>
                    <a:p>
                      <a:pPr algn="ctr"/>
                      <a:r>
                        <a:rPr sz="2000" b="1">
                          <a:solidFill>
                            <a:srgbClr val="FFFFFF"/>
                          </a:solidFill>
                          <a:latin typeface="Calibri"/>
                        </a:rPr>
                        <a:t>mid</a:t>
                      </a:r>
                    </a:p>
                  </a:txBody>
                  <a:tcPr marL="54864" marR="54864" marT="18288" marB="18288" anchor="ctr">
                    <a:solidFill>
                      <a:srgbClr val="1F4E79"/>
                    </a:solidFill>
                  </a:tcPr>
                </a:tc>
              </a:tr>
              <a:tr h="482600">
                <a:tc>
                  <a:txBody>
                    <a:bodyPr/>
                    <a:lstStyle/>
                    <a:p>
                      <a:pPr algn="ctr"/>
                      <a:r>
                        <a:rPr sz="2000" b="0">
                          <a:solidFill>
                            <a:srgbClr val="1F2A37"/>
                          </a:solidFill>
                          <a:latin typeface="Consolas"/>
                        </a:rPr>
                        <a:t>1</a:t>
                      </a:r>
                    </a:p>
                  </a:txBody>
                  <a:tcPr marL="54864" marR="54864" marT="18288" marB="18288" anchor="ctr">
                    <a:solidFill>
                      <a:srgbClr val="FFFFFF"/>
                    </a:solidFill>
                  </a:tcPr>
                </a:tc>
                <a:tc>
                  <a:txBody>
                    <a:bodyPr/>
                    <a:lstStyle/>
                    <a:p>
                      <a:pPr algn="ctr"/>
                      <a:r>
                        <a:rPr sz="2000" b="0">
                          <a:solidFill>
                            <a:srgbClr val="1F2A37"/>
                          </a:solidFill>
                          <a:latin typeface="Consolas"/>
                        </a:rPr>
                        <a:t>0</a:t>
                      </a:r>
                    </a:p>
                  </a:txBody>
                  <a:tcPr marL="54864" marR="54864" marT="18288" marB="18288" anchor="ctr">
                    <a:solidFill>
                      <a:srgbClr val="FFFFFF"/>
                    </a:solidFill>
                  </a:tcPr>
                </a:tc>
                <a:tc>
                  <a:txBody>
                    <a:bodyPr/>
                    <a:lstStyle/>
                    <a:p>
                      <a:pPr algn="ctr"/>
                      <a:r>
                        <a:rPr sz="2000" b="0">
                          <a:solidFill>
                            <a:srgbClr val="1F2A37"/>
                          </a:solidFill>
                          <a:latin typeface="Consolas"/>
                        </a:rPr>
                        <a:t>12</a:t>
                      </a:r>
                    </a:p>
                  </a:txBody>
                  <a:tcPr marL="54864" marR="54864" marT="18288" marB="18288" anchor="ctr">
                    <a:solidFill>
                      <a:srgbClr val="FFFFFF"/>
                    </a:solidFill>
                  </a:tcPr>
                </a:tc>
                <a:tc>
                  <a:txBody>
                    <a:bodyPr/>
                    <a:lstStyle/>
                    <a:p>
                      <a:pPr algn="ctr"/>
                      <a:r>
                        <a:rPr sz="2000" b="0">
                          <a:solidFill>
                            <a:srgbClr val="1F2A37"/>
                          </a:solidFill>
                          <a:latin typeface="Consolas"/>
                        </a:rPr>
                        <a:t>6</a:t>
                      </a:r>
                    </a:p>
                  </a:txBody>
                  <a:tcPr marL="54864" marR="54864" marT="18288" marB="18288" anchor="ctr">
                    <a:solidFill>
                      <a:srgbClr val="FFFFFF"/>
                    </a:solidFill>
                  </a:tcPr>
                </a:tc>
              </a:tr>
              <a:tr h="482600">
                <a:tc>
                  <a:txBody>
                    <a:bodyPr/>
                    <a:lstStyle/>
                    <a:p>
                      <a:pPr algn="ctr"/>
                      <a:r>
                        <a:rPr sz="2000" b="0">
                          <a:solidFill>
                            <a:srgbClr val="1F2A37"/>
                          </a:solidFill>
                          <a:latin typeface="Consolas"/>
                        </a:rPr>
                        <a:t>2</a:t>
                      </a:r>
                    </a:p>
                  </a:txBody>
                  <a:tcPr marL="54864" marR="54864" marT="18288" marB="18288" anchor="ctr">
                    <a:solidFill>
                      <a:srgbClr val="EEF3FA"/>
                    </a:solidFill>
                  </a:tcPr>
                </a:tc>
                <a:tc>
                  <a:txBody>
                    <a:bodyPr/>
                    <a:lstStyle/>
                    <a:p>
                      <a:pPr algn="ctr"/>
                      <a:r>
                        <a:rPr sz="2000" b="0">
                          <a:solidFill>
                            <a:srgbClr val="1F2A37"/>
                          </a:solidFill>
                          <a:latin typeface="Consolas"/>
                        </a:rPr>
                        <a:t>0</a:t>
                      </a:r>
                    </a:p>
                  </a:txBody>
                  <a:tcPr marL="54864" marR="54864" marT="18288" marB="18288" anchor="ctr">
                    <a:solidFill>
                      <a:srgbClr val="EEF3FA"/>
                    </a:solidFill>
                  </a:tcPr>
                </a:tc>
                <a:tc>
                  <a:txBody>
                    <a:bodyPr/>
                    <a:lstStyle/>
                    <a:p>
                      <a:pPr algn="ctr"/>
                      <a:r>
                        <a:rPr sz="2000" b="0">
                          <a:solidFill>
                            <a:srgbClr val="1F2A37"/>
                          </a:solidFill>
                          <a:latin typeface="Consolas"/>
                        </a:rPr>
                        <a:t>5</a:t>
                      </a:r>
                    </a:p>
                  </a:txBody>
                  <a:tcPr marL="54864" marR="54864" marT="18288" marB="18288" anchor="ctr">
                    <a:solidFill>
                      <a:srgbClr val="EEF3FA"/>
                    </a:solidFill>
                  </a:tcPr>
                </a:tc>
                <a:tc>
                  <a:txBody>
                    <a:bodyPr/>
                    <a:lstStyle/>
                    <a:p>
                      <a:pPr algn="ctr"/>
                      <a:r>
                        <a:rPr sz="2000" b="0">
                          <a:solidFill>
                            <a:srgbClr val="1F2A37"/>
                          </a:solidFill>
                          <a:latin typeface="Consolas"/>
                        </a:rPr>
                        <a:t>2</a:t>
                      </a:r>
                    </a:p>
                  </a:txBody>
                  <a:tcPr marL="54864" marR="54864" marT="18288" marB="18288" anchor="ctr">
                    <a:solidFill>
                      <a:srgbClr val="EEF3FA"/>
                    </a:solidFill>
                  </a:tcPr>
                </a:tc>
              </a:tr>
              <a:tr h="482600">
                <a:tc>
                  <a:txBody>
                    <a:bodyPr/>
                    <a:lstStyle/>
                    <a:p>
                      <a:pPr algn="ctr"/>
                      <a:r>
                        <a:rPr sz="2000" b="0">
                          <a:solidFill>
                            <a:srgbClr val="1F2A37"/>
                          </a:solidFill>
                          <a:latin typeface="Consolas"/>
                        </a:rPr>
                        <a:t>3</a:t>
                      </a:r>
                    </a:p>
                  </a:txBody>
                  <a:tcPr marL="54864" marR="54864" marT="18288" marB="18288" anchor="ctr">
                    <a:solidFill>
                      <a:srgbClr val="FFFFFF"/>
                    </a:solidFill>
                  </a:tcPr>
                </a:tc>
                <a:tc>
                  <a:txBody>
                    <a:bodyPr/>
                    <a:lstStyle/>
                    <a:p>
                      <a:pPr algn="ctr"/>
                      <a:r>
                        <a:rPr sz="2000" b="0">
                          <a:solidFill>
                            <a:srgbClr val="1F2A37"/>
                          </a:solidFill>
                          <a:latin typeface="Consolas"/>
                        </a:rPr>
                        <a:t>3</a:t>
                      </a:r>
                    </a:p>
                  </a:txBody>
                  <a:tcPr marL="54864" marR="54864" marT="18288" marB="18288" anchor="ctr">
                    <a:solidFill>
                      <a:srgbClr val="FFFFFF"/>
                    </a:solidFill>
                  </a:tcPr>
                </a:tc>
                <a:tc>
                  <a:txBody>
                    <a:bodyPr/>
                    <a:lstStyle/>
                    <a:p>
                      <a:pPr algn="ctr"/>
                      <a:r>
                        <a:rPr sz="2000" b="0">
                          <a:solidFill>
                            <a:srgbClr val="1F2A37"/>
                          </a:solidFill>
                          <a:latin typeface="Consolas"/>
                        </a:rPr>
                        <a:t>5</a:t>
                      </a:r>
                    </a:p>
                  </a:txBody>
                  <a:tcPr marL="54864" marR="54864" marT="18288" marB="18288" anchor="ctr">
                    <a:solidFill>
                      <a:srgbClr val="FFFFFF"/>
                    </a:solidFill>
                  </a:tcPr>
                </a:tc>
                <a:tc>
                  <a:txBody>
                    <a:bodyPr/>
                    <a:lstStyle/>
                    <a:p>
                      <a:pPr algn="ctr"/>
                      <a:r>
                        <a:rPr sz="2000" b="0">
                          <a:solidFill>
                            <a:srgbClr val="1F2A37"/>
                          </a:solidFill>
                          <a:latin typeface="Consolas"/>
                        </a:rPr>
                        <a:t>4</a:t>
                      </a:r>
                    </a:p>
                  </a:txBody>
                  <a:tcPr marL="54864" marR="54864" marT="18288" marB="18288" anchor="ctr">
                    <a:solidFill>
                      <a:srgbClr val="FFFFFF"/>
                    </a:solidFill>
                  </a:tcPr>
                </a:tc>
              </a:tr>
              <a:tr h="482600">
                <a:tc>
                  <a:txBody>
                    <a:bodyPr/>
                    <a:lstStyle/>
                    <a:p>
                      <a:pPr algn="ctr"/>
                      <a:r>
                        <a:rPr sz="2000" b="0">
                          <a:solidFill>
                            <a:srgbClr val="1F2A37"/>
                          </a:solidFill>
                          <a:latin typeface="Consolas"/>
                        </a:rPr>
                        <a:t>4</a:t>
                      </a:r>
                    </a:p>
                  </a:txBody>
                  <a:tcPr marL="54864" marR="54864" marT="18288" marB="18288" anchor="ctr">
                    <a:solidFill>
                      <a:srgbClr val="EEF3FA"/>
                    </a:solidFill>
                  </a:tcPr>
                </a:tc>
                <a:tc>
                  <a:txBody>
                    <a:bodyPr/>
                    <a:lstStyle/>
                    <a:p>
                      <a:pPr algn="ctr"/>
                      <a:r>
                        <a:rPr sz="2000" b="0">
                          <a:solidFill>
                            <a:srgbClr val="1F2A37"/>
                          </a:solidFill>
                          <a:latin typeface="Consolas"/>
                        </a:rPr>
                        <a:t>3</a:t>
                      </a:r>
                    </a:p>
                  </a:txBody>
                  <a:tcPr marL="54864" marR="54864" marT="18288" marB="18288" anchor="ctr">
                    <a:solidFill>
                      <a:srgbClr val="EEF3FA"/>
                    </a:solidFill>
                  </a:tcPr>
                </a:tc>
                <a:tc>
                  <a:txBody>
                    <a:bodyPr/>
                    <a:lstStyle/>
                    <a:p>
                      <a:pPr algn="ctr"/>
                      <a:r>
                        <a:rPr sz="2000" b="0">
                          <a:solidFill>
                            <a:srgbClr val="1F2A37"/>
                          </a:solidFill>
                          <a:latin typeface="Consolas"/>
                        </a:rPr>
                        <a:t>3</a:t>
                      </a:r>
                    </a:p>
                  </a:txBody>
                  <a:tcPr marL="54864" marR="54864" marT="18288" marB="18288" anchor="ctr">
                    <a:solidFill>
                      <a:srgbClr val="EEF3FA"/>
                    </a:solidFill>
                  </a:tcPr>
                </a:tc>
                <a:tc>
                  <a:txBody>
                    <a:bodyPr/>
                    <a:lstStyle/>
                    <a:p>
                      <a:pPr algn="ctr"/>
                      <a:r>
                        <a:rPr sz="2000" b="0">
                          <a:solidFill>
                            <a:srgbClr val="1F2A37"/>
                          </a:solidFill>
                          <a:latin typeface="Consolas"/>
                        </a:rPr>
                        <a:t>3</a:t>
                      </a:r>
                    </a:p>
                  </a:txBody>
                  <a:tcPr marL="54864" marR="54864" marT="18288" marB="18288" anchor="ctr">
                    <a:solidFill>
                      <a:srgbClr val="EEF3FA"/>
                    </a:solidFill>
                  </a:tcPr>
                </a:tc>
              </a:tr>
            </a:tbl>
          </a:graphicData>
        </a:graphic>
      </p:graphicFrame>
      <p:sp>
        <p:nvSpPr>
          <p:cNvPr id="6" name="Rounded Rectangle 5"/>
          <p:cNvSpPr/>
          <p:nvPr/>
        </p:nvSpPr>
        <p:spPr>
          <a:xfrm>
            <a:off x="6400800" y="1325880"/>
            <a:ext cx="524225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463039"/>
            <a:ext cx="487649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Rückgabe: −1</a:t>
            </a:r>
            <a:r>
              <a:rPr sz="2000" b="0" i="0">
                <a:solidFill>
                  <a:srgbClr val="1F2A37"/>
                </a:solidFill>
                <a:latin typeface="Calibri"/>
              </a:rPr>
              <a:t/>
            </a:r>
          </a:p>
          <a:p>
            <a:pPr>
              <a:spcAft>
                <a:spcPts val="600"/>
              </a:spcAft>
            </a:pPr>
            <a:r>
              <a:rPr sz="2000" b="0" i="0">
                <a:solidFill>
                  <a:srgbClr val="1F2A37"/>
                </a:solidFill>
                <a:latin typeface="Calibri"/>
              </a:rPr>
              <a:t>r[3] = 19 &lt; 20 → lo = 4</a:t>
            </a:r>
            <a:r>
              <a:rPr sz="2000" b="0" i="0">
                <a:solidFill>
                  <a:srgbClr val="1F2A37"/>
                </a:solidFill>
                <a:latin typeface="Calibri"/>
              </a:rPr>
              <a:t/>
            </a:r>
          </a:p>
          <a:p>
            <a:pPr>
              <a:spcAft>
                <a:spcPts val="600"/>
              </a:spcAft>
            </a:pPr>
            <a:r>
              <a:rPr sz="2000" b="0" i="0">
                <a:solidFill>
                  <a:srgbClr val="1F2A37"/>
                </a:solidFill>
                <a:latin typeface="Calibri"/>
              </a:rPr>
              <a:t>lo = 4 &gt; hi = 3 → Schleife endet</a:t>
            </a:r>
            <a:r>
              <a:rPr sz="2000" b="0" i="0">
                <a:solidFill>
                  <a:srgbClr val="1F2A37"/>
                </a:solidFill>
                <a:latin typeface="Calibri"/>
              </a:rPr>
              <a:t/>
            </a:r>
          </a:p>
          <a:p>
            <a:pPr>
              <a:spcAft>
                <a:spcPts val="600"/>
              </a:spcAft>
            </a:pPr>
            <a:r>
              <a:rPr sz="2000" b="0" i="0">
                <a:solidFill>
                  <a:srgbClr val="1F2A37"/>
                </a:solidFill>
                <a:latin typeface="Calibri"/>
              </a:rPr>
              <a:t>4 Durchläufe = Maximum bei n = 13</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Linear oder binär?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76656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Linear: jedes Element prüfen – bis zu </a:t>
            </a:r>
            <a:r>
              <a:rPr sz="2400" b="1" i="0">
                <a:solidFill>
                  <a:srgbClr val="1F2A37"/>
                </a:solidFill>
                <a:latin typeface="Calibri"/>
              </a:rPr>
              <a:t>n</a:t>
            </a:r>
            <a:r>
              <a:rPr sz="2400" b="0" i="0">
                <a:solidFill>
                  <a:srgbClr val="1F2A37"/>
                </a:solidFill>
                <a:latin typeface="Calibri"/>
              </a:rPr>
              <a:t> Durchläufe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Binär: jeder Durchlauf </a:t>
            </a:r>
            <a:r>
              <a:rPr sz="2400" b="1" i="0">
                <a:solidFill>
                  <a:srgbClr val="1F2A37"/>
                </a:solidFill>
                <a:latin typeface="Calibri"/>
              </a:rPr>
              <a:t>halbiert</a:t>
            </a:r>
            <a:r>
              <a:rPr sz="2400" b="0" i="0">
                <a:solidFill>
                  <a:srgbClr val="1F2A37"/>
                </a:solidFill>
                <a:latin typeface="Calibri"/>
              </a:rPr>
              <a:t> den Bereich</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n verdoppeln → nur </a:t>
            </a:r>
            <a:r>
              <a:rPr sz="2400" b="1" i="0">
                <a:solidFill>
                  <a:srgbClr val="1F2A37"/>
                </a:solidFill>
                <a:latin typeface="Calibri"/>
              </a:rPr>
              <a:t>+ 1</a:t>
            </a:r>
            <a:r>
              <a:rPr sz="2400" b="0" i="0">
                <a:solidFill>
                  <a:srgbClr val="1F2A37"/>
                </a:solidFill>
                <a:latin typeface="Calibri"/>
              </a:rPr>
              <a:t> Durchlauf (n = 30: 5, n = 60: 6)</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Aber: binär </a:t>
            </a:r>
            <a:r>
              <a:rPr sz="2400" b="1" i="0">
                <a:solidFill>
                  <a:srgbClr val="1F2A37"/>
                </a:solidFill>
                <a:latin typeface="Calibri"/>
              </a:rPr>
              <a:t>nur auf sortierten</a:t>
            </a:r>
            <a:r>
              <a:rPr sz="2400" b="0" i="0">
                <a:solidFill>
                  <a:srgbClr val="1F2A37"/>
                </a:solidFill>
                <a:latin typeface="Calibri"/>
              </a:rPr>
              <a:t> Daten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Einmal suchen? Dafür lohnt sich Sortieren nicht.</a:t>
            </a:r>
            <a:r>
              <a:rPr sz="2400" b="0" i="0">
                <a:solidFill>
                  <a:srgbClr val="1F2A37"/>
                </a:solidFill>
                <a:latin typeface="Calibri"/>
              </a:rPr>
              <a:t/>
            </a:r>
          </a:p>
        </p:txBody>
      </p:sp>
      <p:graphicFrame>
        <p:nvGraphicFramePr>
          <p:cNvPr id="6" name="Table 5"/>
          <p:cNvGraphicFramePr>
            <a:graphicFrameLocks noGrp="1"/>
          </p:cNvGraphicFramePr>
          <p:nvPr/>
        </p:nvGraphicFramePr>
        <p:xfrm>
          <a:off x="7589520" y="1325880"/>
          <a:ext cx="4053533" cy="1544320"/>
        </p:xfrm>
        <a:graphic>
          <a:graphicData uri="http://schemas.openxmlformats.org/drawingml/2006/table">
            <a:tbl>
              <a:tblPr firstRow="1" bandRow="1">
                <a:tableStyleId>{5C22544A-7EE6-4342-B048-85BDC9FD1C3A}</a:tableStyleId>
              </a:tblPr>
              <a:tblGrid>
                <a:gridCol w="1493407"/>
                <a:gridCol w="1493407"/>
                <a:gridCol w="1066719"/>
              </a:tblGrid>
              <a:tr h="386080">
                <a:tc>
                  <a:txBody>
                    <a:bodyPr/>
                    <a:lstStyle/>
                    <a:p>
                      <a:pPr algn="ctr"/>
                      <a:r>
                        <a:rPr sz="1600" b="1">
                          <a:solidFill>
                            <a:srgbClr val="FFFFFF"/>
                          </a:solidFill>
                          <a:latin typeface="Calibri"/>
                        </a:rPr>
                        <a:t>n</a:t>
                      </a:r>
                    </a:p>
                  </a:txBody>
                  <a:tcPr marL="54864" marR="54864" marT="18288" marB="18288" anchor="ctr">
                    <a:solidFill>
                      <a:srgbClr val="1F4E79"/>
                    </a:solidFill>
                  </a:tcPr>
                </a:tc>
                <a:tc>
                  <a:txBody>
                    <a:bodyPr/>
                    <a:lstStyle/>
                    <a:p>
                      <a:pPr algn="ctr"/>
                      <a:r>
                        <a:rPr sz="1600" b="1">
                          <a:solidFill>
                            <a:srgbClr val="FFFFFF"/>
                          </a:solidFill>
                          <a:latin typeface="Calibri"/>
                        </a:rPr>
                        <a:t>linear</a:t>
                      </a:r>
                    </a:p>
                  </a:txBody>
                  <a:tcPr marL="54864" marR="54864" marT="18288" marB="18288" anchor="ctr">
                    <a:solidFill>
                      <a:srgbClr val="1F4E79"/>
                    </a:solidFill>
                  </a:tcPr>
                </a:tc>
                <a:tc>
                  <a:txBody>
                    <a:bodyPr/>
                    <a:lstStyle/>
                    <a:p>
                      <a:pPr algn="ctr"/>
                      <a:r>
                        <a:rPr sz="1600" b="1">
                          <a:solidFill>
                            <a:srgbClr val="FFFFFF"/>
                          </a:solidFill>
                          <a:latin typeface="Calibri"/>
                        </a:rPr>
                        <a:t>binär</a:t>
                      </a:r>
                    </a:p>
                  </a:txBody>
                  <a:tcPr marL="54864" marR="54864" marT="18288" marB="18288" anchor="ctr">
                    <a:solidFill>
                      <a:srgbClr val="1F4E79"/>
                    </a:solidFill>
                  </a:tcPr>
                </a:tc>
              </a:tr>
              <a:tr h="386080">
                <a:tc>
                  <a:txBody>
                    <a:bodyPr/>
                    <a:lstStyle/>
                    <a:p>
                      <a:pPr algn="ctr"/>
                      <a:r>
                        <a:rPr sz="1600" b="0">
                          <a:solidFill>
                            <a:srgbClr val="1F2A37"/>
                          </a:solidFill>
                          <a:latin typeface="Consolas"/>
                        </a:rPr>
                        <a:t>13</a:t>
                      </a:r>
                    </a:p>
                  </a:txBody>
                  <a:tcPr marL="54864" marR="54864" marT="18288" marB="18288" anchor="ctr">
                    <a:solidFill>
                      <a:srgbClr val="FFFFFF"/>
                    </a:solidFill>
                  </a:tcPr>
                </a:tc>
                <a:tc>
                  <a:txBody>
                    <a:bodyPr/>
                    <a:lstStyle/>
                    <a:p>
                      <a:pPr algn="ctr"/>
                      <a:r>
                        <a:rPr sz="1600" b="0">
                          <a:solidFill>
                            <a:srgbClr val="1F2A37"/>
                          </a:solidFill>
                          <a:latin typeface="Consolas"/>
                        </a:rPr>
                        <a:t>13</a:t>
                      </a:r>
                    </a:p>
                  </a:txBody>
                  <a:tcPr marL="54864" marR="54864" marT="18288" marB="18288" anchor="ctr">
                    <a:solidFill>
                      <a:srgbClr val="FFFFFF"/>
                    </a:solidFill>
                  </a:tcPr>
                </a:tc>
                <a:tc>
                  <a:txBody>
                    <a:bodyPr/>
                    <a:lstStyle/>
                    <a:p>
                      <a:pPr algn="ctr"/>
                      <a:r>
                        <a:rPr sz="1600" b="0">
                          <a:solidFill>
                            <a:srgbClr val="1F2A37"/>
                          </a:solidFill>
                          <a:latin typeface="Consolas"/>
                        </a:rPr>
                        <a:t>4</a:t>
                      </a:r>
                    </a:p>
                  </a:txBody>
                  <a:tcPr marL="54864" marR="54864" marT="18288" marB="18288" anchor="ctr">
                    <a:solidFill>
                      <a:srgbClr val="FFFFFF"/>
                    </a:solidFill>
                  </a:tcPr>
                </a:tc>
              </a:tr>
              <a:tr h="386080">
                <a:tc>
                  <a:txBody>
                    <a:bodyPr/>
                    <a:lstStyle/>
                    <a:p>
                      <a:pPr algn="ctr"/>
                      <a:r>
                        <a:rPr sz="1600" b="0">
                          <a:solidFill>
                            <a:srgbClr val="1F2A37"/>
                          </a:solidFill>
                          <a:latin typeface="Consolas"/>
                        </a:rPr>
                        <a:t>1 000</a:t>
                      </a:r>
                    </a:p>
                  </a:txBody>
                  <a:tcPr marL="54864" marR="54864" marT="18288" marB="18288" anchor="ctr">
                    <a:solidFill>
                      <a:srgbClr val="EEF3FA"/>
                    </a:solidFill>
                  </a:tcPr>
                </a:tc>
                <a:tc>
                  <a:txBody>
                    <a:bodyPr/>
                    <a:lstStyle/>
                    <a:p>
                      <a:pPr algn="ctr"/>
                      <a:r>
                        <a:rPr sz="1600" b="0">
                          <a:solidFill>
                            <a:srgbClr val="1F2A37"/>
                          </a:solidFill>
                          <a:latin typeface="Consolas"/>
                        </a:rPr>
                        <a:t>1 000</a:t>
                      </a:r>
                    </a:p>
                  </a:txBody>
                  <a:tcPr marL="54864" marR="54864" marT="18288" marB="18288" anchor="ctr">
                    <a:solidFill>
                      <a:srgbClr val="EEF3FA"/>
                    </a:solidFill>
                  </a:tcPr>
                </a:tc>
                <a:tc>
                  <a:txBody>
                    <a:bodyPr/>
                    <a:lstStyle/>
                    <a:p>
                      <a:pPr algn="ctr"/>
                      <a:r>
                        <a:rPr sz="1600" b="0">
                          <a:solidFill>
                            <a:srgbClr val="1F2A37"/>
                          </a:solidFill>
                          <a:latin typeface="Consolas"/>
                        </a:rPr>
                        <a:t>10</a:t>
                      </a:r>
                    </a:p>
                  </a:txBody>
                  <a:tcPr marL="54864" marR="54864" marT="18288" marB="18288" anchor="ctr">
                    <a:solidFill>
                      <a:srgbClr val="EEF3FA"/>
                    </a:solidFill>
                  </a:tcPr>
                </a:tc>
              </a:tr>
              <a:tr h="386080">
                <a:tc>
                  <a:txBody>
                    <a:bodyPr/>
                    <a:lstStyle/>
                    <a:p>
                      <a:pPr algn="ctr"/>
                      <a:r>
                        <a:rPr sz="1600" b="0">
                          <a:solidFill>
                            <a:srgbClr val="1F2A37"/>
                          </a:solidFill>
                          <a:latin typeface="Consolas"/>
                        </a:rPr>
                        <a:t>1 000 000</a:t>
                      </a:r>
                    </a:p>
                  </a:txBody>
                  <a:tcPr marL="54864" marR="54864" marT="18288" marB="18288" anchor="ctr">
                    <a:solidFill>
                      <a:srgbClr val="FFFFFF"/>
                    </a:solidFill>
                  </a:tcPr>
                </a:tc>
                <a:tc>
                  <a:txBody>
                    <a:bodyPr/>
                    <a:lstStyle/>
                    <a:p>
                      <a:pPr algn="ctr"/>
                      <a:r>
                        <a:rPr sz="1600" b="0">
                          <a:solidFill>
                            <a:srgbClr val="1F2A37"/>
                          </a:solidFill>
                          <a:latin typeface="Consolas"/>
                        </a:rPr>
                        <a:t>1 000 000</a:t>
                      </a:r>
                    </a:p>
                  </a:txBody>
                  <a:tcPr marL="54864" marR="54864" marT="18288" marB="18288" anchor="ctr">
                    <a:solidFill>
                      <a:srgbClr val="FFFFFF"/>
                    </a:solidFill>
                  </a:tcPr>
                </a:tc>
                <a:tc>
                  <a:txBody>
                    <a:bodyPr/>
                    <a:lstStyle/>
                    <a:p>
                      <a:pPr algn="ctr"/>
                      <a:r>
                        <a:rPr sz="1600" b="0">
                          <a:solidFill>
                            <a:srgbClr val="1F2A37"/>
                          </a:solidFill>
                          <a:latin typeface="Consolas"/>
                        </a:rPr>
                        <a:t>20</a:t>
                      </a:r>
                    </a:p>
                  </a:txBody>
                  <a:tcPr marL="54864" marR="54864" marT="18288" marB="18288" anchor="ctr">
                    <a:solidFill>
                      <a:srgbClr val="FFFFFF"/>
                    </a:solidFill>
                  </a:tcPr>
                </a:tc>
              </a:tr>
            </a:tbl>
          </a:graphicData>
        </a:graphic>
      </p:graphicFrame>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Typische Fehler – und wie du sie vermeidest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1" i="0">
                <a:solidFill>
                  <a:srgbClr val="1F2A37"/>
                </a:solidFill>
                <a:latin typeface="Calibri"/>
              </a:rPr>
              <a:t>P6</a:t>
            </a:r>
            <a:r>
              <a:rPr sz="2200" b="0" i="0">
                <a:solidFill>
                  <a:srgbClr val="1F2A37"/>
                </a:solidFill>
                <a:latin typeface="Calibri"/>
              </a:rPr>
              <a:t> Grenzen: </a:t>
            </a:r>
            <a:r>
              <a:rPr sz="2100" b="0" i="0">
                <a:solidFill>
                  <a:srgbClr val="1F4E79"/>
                </a:solidFill>
                <a:latin typeface="Consolas"/>
              </a:rPr>
              <a:t>j &lt; r.length - 1 - durchlauf</a:t>
            </a:r>
            <a:r>
              <a:rPr sz="2200" b="0" i="0">
                <a:solidFill>
                  <a:srgbClr val="1F2A37"/>
                </a:solidFill>
                <a:latin typeface="Calibri"/>
              </a:rPr>
              <a:t>, </a:t>
            </a:r>
            <a:r>
              <a:rPr sz="2100" b="0" i="0">
                <a:solidFill>
                  <a:srgbClr val="1F4E79"/>
                </a:solidFill>
                <a:latin typeface="Consolas"/>
              </a:rPr>
              <a:t>lo &lt;= hi</a:t>
            </a:r>
            <a:r>
              <a:rPr sz="2200" b="0" i="0">
                <a:solidFill>
                  <a:srgbClr val="1F2A37"/>
                </a:solidFill>
                <a:latin typeface="Calibri"/>
              </a:rPr>
              <a:t>, </a:t>
            </a:r>
            <a:r>
              <a:rPr sz="2100" b="0" i="0">
                <a:solidFill>
                  <a:srgbClr val="1F4E79"/>
                </a:solidFill>
                <a:latin typeface="Consolas"/>
              </a:rPr>
              <a:t>j &gt; 0</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P8</a:t>
            </a:r>
            <a:r>
              <a:rPr sz="2200" b="0" i="0">
                <a:solidFill>
                  <a:srgbClr val="1F2A37"/>
                </a:solidFill>
                <a:latin typeface="Calibri"/>
              </a:rPr>
              <a:t> Zustand zum falschen Zeitpunkt, Startzeile fehlt, Bedingungsspalte</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P4</a:t>
            </a:r>
            <a:r>
              <a:rPr sz="2200" b="0" i="0">
                <a:solidFill>
                  <a:srgbClr val="1F2A37"/>
                </a:solidFill>
                <a:latin typeface="Calibri"/>
              </a:rPr>
              <a:t> </a:t>
            </a:r>
            <a:r>
              <a:rPr sz="2100" b="0" i="0">
                <a:solidFill>
                  <a:srgbClr val="1F4E79"/>
                </a:solidFill>
                <a:latin typeface="Consolas"/>
              </a:rPr>
              <a:t>mid</a:t>
            </a:r>
            <a:r>
              <a:rPr sz="2200" b="0" i="0">
                <a:solidFill>
                  <a:srgbClr val="1F2A37"/>
                </a:solidFill>
                <a:latin typeface="Calibri"/>
              </a:rPr>
              <a:t> ist ganzzahlig: (3 + 5) / 2 = 4, (0 + 5) / 2 = </a:t>
            </a:r>
            <a:r>
              <a:rPr sz="2200" b="1" i="0">
                <a:solidFill>
                  <a:srgbClr val="1F2A37"/>
                </a:solidFill>
                <a:latin typeface="Calibri"/>
              </a:rPr>
              <a:t>2</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P10</a:t>
            </a:r>
            <a:r>
              <a:rPr sz="2200" b="0" i="0">
                <a:solidFill>
                  <a:srgbClr val="1F2A37"/>
                </a:solidFill>
                <a:latin typeface="Calibri"/>
              </a:rPr>
              <a:t> Schlechtester Fall ohne konkrete Eingabe, „beurteilen“ ohne Begründung</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Vertauschungen als Vergleiche mitgezählt</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Binäre Suche auf </a:t>
            </a:r>
            <a:r>
              <a:rPr sz="2200" b="1" i="0">
                <a:solidFill>
                  <a:srgbClr val="1F2A37"/>
                </a:solidFill>
                <a:latin typeface="Calibri"/>
              </a:rPr>
              <a:t>unsortierter</a:t>
            </a:r>
            <a:r>
              <a:rPr sz="2200" b="0" i="0">
                <a:solidFill>
                  <a:srgbClr val="1F2A37"/>
                </a:solidFill>
                <a:latin typeface="Calibri"/>
              </a:rPr>
              <a:t> Reihung</a:t>
            </a:r>
            <a:r>
              <a:rPr sz="22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Abi-Check</a:t>
            </a:r>
            <a:r>
              <a:rPr sz="2000" b="0" i="0">
                <a:solidFill>
                  <a:srgbClr val="1F2A37"/>
                </a:solidFill>
                <a:latin typeface="Calibri"/>
              </a:rPr>
              <a:t/>
            </a:r>
          </a:p>
          <a:p>
            <a:pPr>
              <a:spcAft>
                <a:spcPts val="600"/>
              </a:spcAft>
            </a:pPr>
            <a:r>
              <a:rPr sz="2000" b="0" i="0">
                <a:solidFill>
                  <a:srgbClr val="1F2A37"/>
                </a:solidFill>
                <a:latin typeface="Calibri"/>
              </a:rPr>
              <a:t>Was zählt als Vergleich?</a:t>
            </a:r>
            <a:r>
              <a:rPr sz="2000" b="0" i="0">
                <a:solidFill>
                  <a:srgbClr val="1F2A37"/>
                </a:solidFill>
                <a:latin typeface="Calibri"/>
              </a:rPr>
              <a:t/>
            </a:r>
          </a:p>
          <a:p>
            <a:pPr>
              <a:spcAft>
                <a:spcPts val="600"/>
              </a:spcAft>
            </a:pPr>
            <a:r>
              <a:rPr sz="2000" b="0" i="0">
                <a:solidFill>
                  <a:srgbClr val="1F2A37"/>
                </a:solidFill>
                <a:latin typeface="Calibri"/>
              </a:rPr>
              <a:t>Zustand nach jedem Durchlauf?</a:t>
            </a:r>
            <a:r>
              <a:rPr sz="2000" b="0" i="0">
                <a:solidFill>
                  <a:srgbClr val="1F2A37"/>
                </a:solidFill>
                <a:latin typeface="Calibri"/>
              </a:rPr>
              <a:t/>
            </a:r>
          </a:p>
          <a:p>
            <a:pPr>
              <a:spcAft>
                <a:spcPts val="600"/>
              </a:spcAft>
            </a:pPr>
            <a:r>
              <a:rPr sz="2000" b="0" i="0">
                <a:solidFill>
                  <a:srgbClr val="1F2A37"/>
                </a:solidFill>
                <a:latin typeface="Calibri"/>
              </a:rPr>
              <a:t>Worst-Case-Eingabe genannt?</a:t>
            </a:r>
            <a:r>
              <a:rPr sz="2000" b="0" i="0">
                <a:solidFill>
                  <a:srgbClr val="1F2A37"/>
                </a:solidFill>
                <a:latin typeface="Calibri"/>
              </a:rPr>
              <a:t/>
            </a:r>
          </a:p>
          <a:p>
            <a:pPr>
              <a:spcAft>
                <a:spcPts val="600"/>
              </a:spcAft>
            </a:pPr>
            <a:r>
              <a:rPr sz="2000" b="0" i="0">
                <a:solidFill>
                  <a:srgbClr val="1F2A37"/>
                </a:solidFill>
                <a:latin typeface="Calibri"/>
              </a:rPr>
              <a:t>Tabelle: nur Variablen?</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100" b="1" i="0">
                <a:solidFill>
                  <a:srgbClr val="B8860B"/>
                </a:solidFill>
                <a:latin typeface="Calibri"/>
              </a:rPr>
              <a:t>▸ </a:t>
            </a:r>
            <a:r>
              <a:rPr sz="2100" b="0" i="0">
                <a:solidFill>
                  <a:srgbClr val="1F2A37"/>
                </a:solidFill>
                <a:latin typeface="Calibri"/>
              </a:rPr>
              <a:t>Selection: Minimum nach vorn · Insertion: nach links wandern · Bubble: Nachbarn tauschen, Abbruch ohne Tausch</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Schlechtester Fall n(n − 1)/2 Vergleiche; Insertion und Bubble mit Abbruch im besten Fall n − 1</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n verdoppeln → etwa </a:t>
            </a:r>
            <a:r>
              <a:rPr sz="2100" b="1" i="0">
                <a:solidFill>
                  <a:srgbClr val="1F2A37"/>
                </a:solidFill>
                <a:latin typeface="Calibri"/>
              </a:rPr>
              <a:t>vierfache</a:t>
            </a:r>
            <a:r>
              <a:rPr sz="2100" b="0" i="0">
                <a:solidFill>
                  <a:srgbClr val="1F2A37"/>
                </a:solidFill>
                <a:latin typeface="Calibri"/>
              </a:rPr>
              <a:t> Vergleiche (quadratisch)</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Binäre Suche: nur sortiert; lo, hi, mid; n verdoppeln → </a:t>
            </a:r>
            <a:r>
              <a:rPr sz="2100" b="1" i="0">
                <a:solidFill>
                  <a:srgbClr val="1F2A37"/>
                </a:solidFill>
                <a:latin typeface="Calibri"/>
              </a:rPr>
              <a:t>+ 1</a:t>
            </a:r>
            <a:r>
              <a:rPr sz="2100" b="0" i="0">
                <a:solidFill>
                  <a:srgbClr val="1F2A37"/>
                </a:solidFill>
                <a:latin typeface="Calibri"/>
              </a:rPr>
              <a:t> Durchlauf</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Tracetabelle: nur Variablen, eine Zeile an jeder markierten Stelle</a:t>
            </a:r>
            <a:r>
              <a:rPr sz="21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1F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Lab: </a:t>
            </a:r>
            <a:r>
              <a:rPr sz="2200" b="0" i="0">
                <a:solidFill>
                  <a:srgbClr val="1F2A37"/>
                </a:solidFill>
                <a:latin typeface="Calibri"/>
              </a:rPr>
              <a:t>Level 2.2 „Ordnung im Ranking“, 2.3 „Das Sortier-Duell“ und 2.4 „Halbieren statt Durchsuchen“</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W2·2 „Sortieren“ und AB W2·3 „Effizienz und binäre Suche“</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algoquest.frankjuchim.de/themen</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Rekursion verstehen</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4: Sortieren und binäre Suche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Sortieren und binäre Suche</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