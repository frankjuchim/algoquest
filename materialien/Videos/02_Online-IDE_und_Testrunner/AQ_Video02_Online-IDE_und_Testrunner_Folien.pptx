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Titelfolie im Hintergrund.]</a:t>
            </a:r>
          </a:p>
          <a:p/>
          <a:p>
            <a:r>
              <a:t>Hallo und willkommen zur Algo Quest! In diesem Video zeige ich dir die Online-IDE, mit der wir die ganze Einheit über programmieren: wie ein Gerüst aufgebaut ist, wie du deinen Teil schreibst und wie dir der Testrunner sagt, ob dein Code stimmt. Am Ende kommen die Stolpersteine, die im Abitur Punkte kosten.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Online-IDE läuft im Browser, du musst nichts installieren. Für jede Welt gibt es einen Workspace mit Gerüst und fertigen Tests, die dir sofort sagen, was schon klappt. Aber denk daran: Im Abitur schreibst du ohne Compiler. Deshalb gilt oft: erst auf Papier, dann abtippen und testen.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In die IDE wechseln: Anmeldung und Workspace-Liste zeigen. IDE-Fenster so anordnen, dass unten rechts (Kamera) nichts Wichtiges liegt. Menüpfade vor der Aufnahme in der echten IDE prüfen.]</a:t>
            </a:r>
          </a:p>
          <a:p/>
          <a:p>
            <a:r>
              <a:t>Melde dich auf online-ide punkt de an. Meistens teilt deine Lehrkraft die Workspaces aus, dann stehen sie in deiner Liste. Eine Workspace-Datei importierst du im Workspace-Bereich. Und notfalls legst du selbst einen Workspace an und fügst den Text des Gerüsts in eine neue Datei ein.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Jedes Gerüst ist gleich aufgebaut. Oben der Kopfblock mit Anleitung und Spielregeln – lies ihn! Im Bereich GERÜST stehen Hilfsklassen, die du nicht veränderst. Dein Arbeitsplatz ist DEIN TEIL. Darunter die Tests, die du nie veränderst. Und ganz unten der Programmstart. Teile, die mit LEVEL-START auskommentiert sind, schaltest du erst frei, wenn dein Level dran 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In der IDE die Klasse Fackellager im Test-Workspace zeigen.]</a:t>
            </a:r>
          </a:p>
          <a:p/>
          <a:p>
            <a:r>
              <a:t>Ein eigenes Beispiel: Eine Fackel brennt drei Räume lang. Die Methode fackeln soll ausrechnen, wie viele Fackeln du brauchst. Über der Methode steht die Signatur in Abitur-Notation. Du ersetzt die TODO-Zeile und das vorläufige return null. Den Methodenkopf lässt du stehen – sonst findet ihn kein Test, und im Abitur wäre das Falle P3.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sieht ein Test aus, markiert mit at Test. assertEquals hat drei Teile: zuerst den erwarteten Wert, hier drei. Dann den tatsächlichen Wert, also das, was deine Methode liefert. Und eine Meldung, die du siehst, wenn der Test rot wird.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Live in der IDE: Reiter „Testrunner“ öffnen, FackellagerTest mit dem Dreieckspfeil starten. Mit dem Platzhalter return 0 ist nur keinRaum grün.]</a:t>
            </a:r>
          </a:p>
          <a:p/>
          <a:p>
            <a:r>
              <a:t>Öffne den Reiter Testrunner. Der grüne Dreieckspfeil neben der Testklasse startet alle Tests, der neben einem einzelnen Test nur diesen. Grün heißt bestanden, rot heißt: Meldung lesen! Mit dem vorläufigen return null ist ein Test übrigens schon grün – reiner Zufall.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In der IDE return raeume / 3 eintippen, Tests starten, die rote Meldung zeigen.]</a:t>
            </a:r>
          </a:p>
          <a:p/>
          <a:p>
            <a:r>
              <a:t>Ein erster Versuch: return raeume durch drei. Der Test angebrochen bleibt rot: sieben Räume, drei Fackeln – erwartet drei, tatsächlich zwei. Jetzt weißt du, wo du suchen musst: Sieben durch drei ist bei Ganzzahlen zwei, der Rest fällt weg. Falle P4.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Trick: Vor dem Teilen zwei addieren, dann wird aufgerundet. Tests noch einmal starten – jetzt sind alle grün.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du: Halte das Video an und schreib einen eigenen Test für zehn Räume. Und was hätte der erste Versuch geliefert?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Zehn Räume brauchen vier Fackeln. Der erste Versuch hätte drei geliefert, der Test wäre rot gewesen. Gute Tests prüfen genau solche Grenzfälle.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In der IDE das Programm mit dem Startknopf laufen lassen und die Ausgabe zeigen.]</a:t>
            </a:r>
          </a:p>
          <a:p/>
          <a:p>
            <a:r>
              <a:t>In der Online-IDE sind alle Anweisungen außerhalb von Klassen das Hauptprogramm, eine main-Methode brauchst du nicht. Ausgeben kannst du mit println, ohne System punkt out. Mit dem grünen Startknopf läuft das Programm. So probierst du deine Methoden auch ohne Tests aus.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Rechtsklick auf den Workspace → Einstellungen zeigen (Beschriftung des Häkchens vorher in der echten IDE prüfen).]</a:t>
            </a:r>
          </a:p>
          <a:p/>
          <a:p>
            <a:r>
              <a:t>Ab Welt vier brauchst du die Abitur-Klassen Stack, Queue, DynArray und BinTree. Dafür schaltest du die Bibliothek Niedersachsen ein: Rechtsklick auf den Workspace, Einstellungen, Häkchen setzen. In den Workspaces ab Welt vier ist sie schon an. Diese Klassen sind nicht generisch, sie speichern Object. Was du herausholst, musst du casten.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Live zeigen, dass die Online-IDE bei Zeile 3 true ausgibt (vor der Aufnahme prüfen).]</a:t>
            </a:r>
          </a:p>
          <a:p/>
          <a:p>
            <a:r>
              <a:t>Und der gemeinste Stolperstein: In der Online-IDE vergleicht das doppelte Gleichheitszeichen Zeichenketten nach ihrem Inhalt. Zeile drei gibt true aus, deine Tests bleiben grün. In echtem Java prüft es aber, ob es dasselbe Objekt ist – und dann kommt false heraus. Im Abitur zählt echtes Java: Vergleiche Zeichenketten immer mit equals. Falle P5.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typischen Fehler: P3, den Methodenkopf ändern. P4, den Cast vergessen. P5, Zeichenketten mit doppeltem Gleichheitszeichen vergleichen. Tests veränderst du nie. Und hängt der Testrunner, hast du wohl eine Endlosschleife: Programm anhalten, Schleifenbedingung prüfen.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 gesagt: Du schreibst nur in deinem Teil. Im Testrunner liest du bei Rot die Meldung: erwartet, tatsächlich. Ausgabe mit println, Hauptprogramm außerhalb von Klassen. Ab Welt vier Bibliothek einschalten und casten. Und Zeichenketten immer mit equals.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ab in die IDE: Starte mit Level null, der Diagnose – dazu passen die Aufgaben zwei und drei auf dem Arbeitsblatt Das Portal. Im nächsten Video geht es in die Heldenschmiede: Klassen, Objekte und Vererbung. Bis dann!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0"/>
            <a:ext cx="11094415" cy="457200"/>
          </a:xfrm>
          <a:prstGeom prst="rect">
            <a:avLst/>
          </a:prstGeom>
          <a:noFill/>
        </p:spPr>
        <p:txBody>
          <a:bodyPr wrap="square" anchor="t" lIns="45720" rIns="45720">
            <a:spAutoFit/>
          </a:bodyPr>
          <a:lstStyle/>
          <a:p>
            <a:r>
              <a:rPr sz="1800" b="1" i="0">
                <a:solidFill>
                  <a:srgbClr val="B8860B"/>
                </a:solidFill>
                <a:latin typeface="Calibri"/>
              </a:rPr>
              <a:t>ALGO QUEST · ERKLÄRVIDEO 2</a:t>
            </a:r>
          </a:p>
        </p:txBody>
      </p:sp>
      <p:sp>
        <p:nvSpPr>
          <p:cNvPr id="4" name="TextBox 3"/>
          <p:cNvSpPr txBox="1"/>
          <p:nvPr/>
        </p:nvSpPr>
        <p:spPr>
          <a:xfrm>
            <a:off x="548640" y="1645920"/>
            <a:ext cx="11094415" cy="1463040"/>
          </a:xfrm>
          <a:prstGeom prst="rect">
            <a:avLst/>
          </a:prstGeom>
          <a:noFill/>
        </p:spPr>
        <p:txBody>
          <a:bodyPr wrap="square" anchor="t" lIns="45720" rIns="45720">
            <a:spAutoFit/>
          </a:bodyPr>
          <a:lstStyle/>
          <a:p>
            <a:r>
              <a:rPr sz="4800" b="1" i="0">
                <a:solidFill>
                  <a:srgbClr val="1F4E79"/>
                </a:solidFill>
                <a:latin typeface="Calibri"/>
              </a:rPr>
              <a:t>Die Online-IDE: Gerüst, Testrunner und Bibliothek „Niedersachsen“</a:t>
            </a:r>
          </a:p>
        </p:txBody>
      </p:sp>
      <p:sp>
        <p:nvSpPr>
          <p:cNvPr id="5" name="TextBox 4"/>
          <p:cNvSpPr txBox="1"/>
          <p:nvPr/>
        </p:nvSpPr>
        <p:spPr>
          <a:xfrm>
            <a:off x="548640" y="3063240"/>
            <a:ext cx="8229600" cy="914400"/>
          </a:xfrm>
          <a:prstGeom prst="rect">
            <a:avLst/>
          </a:prstGeom>
          <a:noFill/>
        </p:spPr>
        <p:txBody>
          <a:bodyPr wrap="square" anchor="t" lIns="45720" rIns="45720">
            <a:spAutoFit/>
          </a:bodyPr>
          <a:lstStyle/>
          <a:p>
            <a:r>
              <a:rPr sz="2600" b="0" i="0">
                <a:solidFill>
                  <a:srgbClr val="1F2A37"/>
                </a:solidFill>
                <a:latin typeface="Calibri"/>
              </a:rPr>
              <a:t>So programmierst und testest du in der Algo Quest</a:t>
            </a:r>
          </a:p>
        </p:txBody>
      </p:sp>
      <p:sp>
        <p:nvSpPr>
          <p:cNvPr id="6" name="TextBox 5"/>
          <p:cNvSpPr txBox="1"/>
          <p:nvPr/>
        </p:nvSpPr>
        <p:spPr>
          <a:xfrm>
            <a:off x="548640" y="5120640"/>
            <a:ext cx="7772400" cy="822960"/>
          </a:xfrm>
          <a:prstGeom prst="rect">
            <a:avLst/>
          </a:prstGeom>
          <a:noFill/>
        </p:spPr>
        <p:txBody>
          <a:bodyPr wrap="square" anchor="t" lIns="45720" rIns="45720">
            <a:spAutoFit/>
          </a:bodyPr>
          <a:lstStyle/>
          <a:p>
            <a:r>
              <a:rPr sz="2000" b="1" i="0">
                <a:solidFill>
                  <a:srgbClr val="7F6000"/>
                </a:solidFill>
                <a:latin typeface="Calibri"/>
              </a:rPr>
              <a:t>Welt 0 · Die Akademie</a:t>
            </a:r>
          </a:p>
          <a:p>
            <a:r>
              <a:rPr sz="1600" b="0" i="0">
                <a:solidFill>
                  <a:srgbClr val="7F7F7F"/>
                </a:solidFill>
                <a:latin typeface="Calibri"/>
              </a:rPr>
              <a:t>Informatik LK · Abitur Niedersachsen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Warum die Online-IDE?</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Java direkt im Browser: </a:t>
            </a:r>
            <a:r>
              <a:rPr sz="2400" b="1" i="0">
                <a:solidFill>
                  <a:srgbClr val="1F2A37"/>
                </a:solidFill>
                <a:latin typeface="Calibri"/>
              </a:rPr>
              <a:t>online-ide.de</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Je Welt ein </a:t>
            </a:r>
            <a:r>
              <a:rPr sz="2400" b="1" i="0">
                <a:solidFill>
                  <a:srgbClr val="1F2A37"/>
                </a:solidFill>
                <a:latin typeface="Calibri"/>
              </a:rPr>
              <a:t>Workspace</a:t>
            </a:r>
            <a:r>
              <a:rPr sz="2400" b="0" i="0">
                <a:solidFill>
                  <a:srgbClr val="1F2A37"/>
                </a:solidFill>
                <a:latin typeface="Calibri"/>
              </a:rPr>
              <a:t> mit Gerüst und Tests</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Tests</a:t>
            </a:r>
            <a:r>
              <a:rPr sz="2400" b="0" i="0">
                <a:solidFill>
                  <a:srgbClr val="1F2A37"/>
                </a:solidFill>
                <a:latin typeface="Calibri"/>
              </a:rPr>
              <a:t> zeigen sofort, was schon klappt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Im Abitur gibt es </a:t>
            </a:r>
            <a:r>
              <a:rPr sz="2400" b="1" i="0">
                <a:solidFill>
                  <a:srgbClr val="1F2A37"/>
                </a:solidFill>
                <a:latin typeface="Calibri"/>
              </a:rPr>
              <a:t>keinen</a:t>
            </a:r>
            <a:r>
              <a:rPr sz="2400" b="0" i="0">
                <a:solidFill>
                  <a:srgbClr val="1F2A37"/>
                </a:solidFill>
                <a:latin typeface="Calibri"/>
              </a:rPr>
              <a:t> Compiler – erst Papier, dann IDE</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Heute</a:t>
            </a:r>
            <a:r>
              <a:rPr sz="2000" b="0" i="0">
                <a:solidFill>
                  <a:srgbClr val="1F2A37"/>
                </a:solidFill>
                <a:latin typeface="Calibri"/>
              </a:rPr>
              <a:t/>
            </a:r>
          </a:p>
          <a:p>
            <a:pPr>
              <a:spcAft>
                <a:spcPts val="600"/>
              </a:spcAft>
            </a:pPr>
            <a:r>
              <a:rPr sz="2000" b="0" i="0">
                <a:solidFill>
                  <a:srgbClr val="1F2A37"/>
                </a:solidFill>
                <a:latin typeface="Calibri"/>
              </a:rPr>
              <a:t>Workspace öffnen</a:t>
            </a:r>
            <a:r>
              <a:rPr sz="2000" b="0" i="0">
                <a:solidFill>
                  <a:srgbClr val="1F2A37"/>
                </a:solidFill>
                <a:latin typeface="Calibri"/>
              </a:rPr>
              <a:t/>
            </a:r>
          </a:p>
          <a:p>
            <a:pPr>
              <a:spcAft>
                <a:spcPts val="600"/>
              </a:spcAft>
            </a:pPr>
            <a:r>
              <a:rPr sz="2000" b="0" i="0">
                <a:solidFill>
                  <a:srgbClr val="1F2A37"/>
                </a:solidFill>
                <a:latin typeface="Calibri"/>
              </a:rPr>
              <a:t>Aufbau eines Gerüsts</a:t>
            </a:r>
            <a:r>
              <a:rPr sz="2000" b="0" i="0">
                <a:solidFill>
                  <a:srgbClr val="1F2A37"/>
                </a:solidFill>
                <a:latin typeface="Calibri"/>
              </a:rPr>
              <a:t/>
            </a:r>
          </a:p>
          <a:p>
            <a:pPr>
              <a:spcAft>
                <a:spcPts val="600"/>
              </a:spcAft>
            </a:pPr>
            <a:r>
              <a:rPr sz="2000" b="0" i="0">
                <a:solidFill>
                  <a:srgbClr val="1F2A37"/>
                </a:solidFill>
                <a:latin typeface="Calibri"/>
              </a:rPr>
              <a:t>Testrunner lesen</a:t>
            </a:r>
            <a:r>
              <a:rPr sz="2000" b="0" i="0">
                <a:solidFill>
                  <a:srgbClr val="1F2A37"/>
                </a:solidFill>
                <a:latin typeface="Calibri"/>
              </a:rPr>
              <a:t/>
            </a:r>
          </a:p>
          <a:p>
            <a:pPr>
              <a:spcAft>
                <a:spcPts val="600"/>
              </a:spcAft>
            </a:pPr>
            <a:r>
              <a:rPr sz="2000" b="0" i="0">
                <a:solidFill>
                  <a:srgbClr val="1F2A37"/>
                </a:solidFill>
                <a:latin typeface="Calibri"/>
              </a:rPr>
              <a:t>Hauptprogramm, println</a:t>
            </a:r>
            <a:r>
              <a:rPr sz="2000" b="0" i="0">
                <a:solidFill>
                  <a:srgbClr val="1F2A37"/>
                </a:solidFill>
                <a:latin typeface="Calibri"/>
              </a:rPr>
              <a:t/>
            </a:r>
          </a:p>
          <a:p>
            <a:pPr>
              <a:spcAft>
                <a:spcPts val="600"/>
              </a:spcAft>
            </a:pPr>
            <a:r>
              <a:rPr sz="2000" b="0" i="0">
                <a:solidFill>
                  <a:srgbClr val="1F2A37"/>
                </a:solidFill>
                <a:latin typeface="Calibri"/>
              </a:rPr>
              <a:t>Bibliothek, Stolpersteine</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Schritt 1: Den Workspace öffnen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Auf </a:t>
            </a:r>
            <a:r>
              <a:rPr sz="2400" b="1" i="0">
                <a:solidFill>
                  <a:srgbClr val="1F2A37"/>
                </a:solidFill>
                <a:latin typeface="Calibri"/>
              </a:rPr>
              <a:t>online-ide.de</a:t>
            </a:r>
            <a:r>
              <a:rPr sz="2400" b="0" i="0">
                <a:solidFill>
                  <a:srgbClr val="1F2A37"/>
                </a:solidFill>
                <a:latin typeface="Calibri"/>
              </a:rPr>
              <a:t> anmelden</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Ausgeteilt:</a:t>
            </a:r>
            <a:r>
              <a:rPr sz="2400" b="0" i="0">
                <a:solidFill>
                  <a:srgbClr val="1F2A37"/>
                </a:solidFill>
                <a:latin typeface="Calibri"/>
              </a:rPr>
              <a:t> Der Workspace steht in deiner Liste</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Importieren:</a:t>
            </a:r>
            <a:r>
              <a:rPr sz="2400" b="0" i="0">
                <a:solidFill>
                  <a:srgbClr val="1F2A37"/>
                </a:solidFill>
                <a:latin typeface="Calibri"/>
              </a:rPr>
              <a:t> Workspace-Bereich → „Workspace importieren“ → JSON-Datei</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Selbst anlegen:</a:t>
            </a:r>
            <a:r>
              <a:rPr sz="2400" b="0" i="0">
                <a:solidFill>
                  <a:srgbClr val="1F2A37"/>
                </a:solidFill>
                <a:latin typeface="Calibri"/>
              </a:rPr>
              <a:t> neuer Workspace, neue Datei, Gerüst-Text einfügen</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1F4E79"/>
                </a:solidFill>
                <a:latin typeface="Calibri"/>
              </a:rPr>
              <a:t>Gut zu wissen</a:t>
            </a:r>
            <a:r>
              <a:rPr sz="2000" b="0" i="0">
                <a:solidFill>
                  <a:srgbClr val="1F2A37"/>
                </a:solidFill>
                <a:latin typeface="Calibri"/>
              </a:rPr>
              <a:t/>
            </a:r>
          </a:p>
          <a:p>
            <a:pPr>
              <a:spcAft>
                <a:spcPts val="600"/>
              </a:spcAft>
            </a:pPr>
            <a:r>
              <a:rPr sz="2000" b="0" i="0">
                <a:solidFill>
                  <a:srgbClr val="1F2A37"/>
                </a:solidFill>
                <a:latin typeface="Calibri"/>
              </a:rPr>
              <a:t>Je Welt </a:t>
            </a:r>
            <a:r>
              <a:rPr sz="2000" b="1" i="0">
                <a:solidFill>
                  <a:srgbClr val="1F2A37"/>
                </a:solidFill>
                <a:latin typeface="Calibri"/>
              </a:rPr>
              <a:t>ein</a:t>
            </a:r>
            <a:r>
              <a:rPr sz="2000" b="0" i="0">
                <a:solidFill>
                  <a:srgbClr val="1F2A37"/>
                </a:solidFill>
                <a:latin typeface="Calibri"/>
              </a:rPr>
              <a:t> Workspace</a:t>
            </a:r>
            <a:r>
              <a:rPr sz="2000" b="0" i="0">
                <a:solidFill>
                  <a:srgbClr val="1F2A37"/>
                </a:solidFill>
                <a:latin typeface="Calibri"/>
              </a:rPr>
              <a:t/>
            </a:r>
          </a:p>
          <a:p>
            <a:pPr>
              <a:spcAft>
                <a:spcPts val="600"/>
              </a:spcAft>
            </a:pPr>
            <a:r>
              <a:rPr sz="2000" b="0" i="0">
                <a:solidFill>
                  <a:srgbClr val="1F2A37"/>
                </a:solidFill>
                <a:latin typeface="Calibri"/>
              </a:rPr>
              <a:t>Gerüst-Dateien: </a:t>
            </a:r>
            <a:r>
              <a:rPr sz="1900" b="0" i="0">
                <a:solidFill>
                  <a:srgbClr val="1F4E79"/>
                </a:solidFill>
                <a:latin typeface="Consolas"/>
              </a:rPr>
              <a:t>AQ_W0_…_Geruest.txt</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Der Aufbau eines Gerüsts</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5394960" cy="4050792"/>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5212080" cy="3959352"/>
          </a:xfrm>
          <a:prstGeom prst="rect">
            <a:avLst/>
          </a:prstGeom>
          <a:noFill/>
        </p:spPr>
        <p:txBody>
          <a:bodyPr wrap="square" anchor="t" lIns="45720" rIns="45720">
            <a:spAutoFit/>
          </a:bodyPr>
          <a:lstStyle/>
          <a:p>
            <a:pPr>
              <a:lnSpc>
                <a:spcPct val="100000"/>
              </a:lnSpc>
            </a:pPr>
            <a:r>
              <a:rPr sz="1900" b="0" i="0">
                <a:solidFill>
                  <a:srgbClr val="1F2A37"/>
                </a:solidFill>
                <a:latin typeface="Consolas"/>
              </a:rPr>
              <a:t>// ==============================</a:t>
            </a:r>
          </a:p>
          <a:p>
            <a:pPr>
              <a:lnSpc>
                <a:spcPct val="100000"/>
              </a:lnSpc>
            </a:pPr>
            <a:r>
              <a:rPr sz="1900" b="0" i="0">
                <a:solidFill>
                  <a:srgbClr val="1F2A37"/>
                </a:solidFill>
                <a:latin typeface="Consolas"/>
              </a:rPr>
              <a:t>//  WELT 0 – DIE AKADEMIE – GERÜST</a:t>
            </a:r>
          </a:p>
          <a:p>
            <a:pPr>
              <a:lnSpc>
                <a:spcPct val="100000"/>
              </a:lnSpc>
            </a:pPr>
            <a:r>
              <a:rPr sz="1900" b="0" i="0">
                <a:solidFill>
                  <a:srgbClr val="1F2A37"/>
                </a:solidFill>
                <a:latin typeface="Consolas"/>
              </a:rPr>
              <a:t>//  ANLEITUNG und SPIELREGELN</a:t>
            </a:r>
          </a:p>
          <a:p>
            <a:pPr>
              <a:lnSpc>
                <a:spcPct val="100000"/>
              </a:lnSpc>
            </a:pPr>
            <a:r>
              <a:rPr sz="1900" b="0" i="0">
                <a:solidFill>
                  <a:srgbClr val="1F2A37"/>
                </a:solidFill>
                <a:latin typeface="Consolas"/>
              </a:rPr>
              <a:t>// ==============================</a:t>
            </a:r>
          </a:p>
          <a:p>
            <a:pPr>
              <a:lnSpc>
                <a:spcPct val="100000"/>
              </a:lnSpc>
            </a:pPr>
            <a:r>
              <a:rPr sz="1900" b="0" i="0">
                <a:solidFill>
                  <a:srgbClr val="1F2A37"/>
                </a:solidFill>
                <a:latin typeface="Consolas"/>
              </a:rPr>
              <a:t>// GERÜST – hier nichts veraendern</a:t>
            </a:r>
          </a:p>
          <a:p>
            <a:pPr>
              <a:lnSpc>
                <a:spcPct val="100000"/>
              </a:lnSpc>
            </a:pPr>
            <a:r>
              <a:rPr sz="1900" b="0" i="0">
                <a:solidFill>
                  <a:srgbClr val="1F2A37"/>
                </a:solidFill>
                <a:latin typeface="Consolas"/>
              </a:rPr>
              <a:t>class Anzeige { … }</a:t>
            </a:r>
          </a:p>
          <a:p>
            <a:pPr>
              <a:lnSpc>
                <a:spcPct val="100000"/>
              </a:lnSpc>
            </a:pPr>
            <a:r>
              <a:rPr sz="1900" b="1" i="0">
                <a:solidFill>
                  <a:srgbClr val="C00000"/>
                </a:solidFill>
                <a:latin typeface="Consolas"/>
              </a:rPr>
              <a:t>// DEIN TEIL – hier arbeitest du!</a:t>
            </a:r>
          </a:p>
          <a:p>
            <a:pPr>
              <a:lnSpc>
                <a:spcPct val="100000"/>
              </a:lnSpc>
            </a:pPr>
            <a:r>
              <a:rPr sz="1900" b="1" i="0">
                <a:solidFill>
                  <a:srgbClr val="C00000"/>
                </a:solidFill>
                <a:latin typeface="Consolas"/>
              </a:rPr>
              <a:t>class Werkstatt { … }</a:t>
            </a:r>
          </a:p>
          <a:p>
            <a:pPr>
              <a:lnSpc>
                <a:spcPct val="100000"/>
              </a:lnSpc>
            </a:pPr>
            <a:r>
              <a:rPr sz="1900" b="0" i="0">
                <a:solidFill>
                  <a:srgbClr val="1F2A37"/>
                </a:solidFill>
                <a:latin typeface="Consolas"/>
              </a:rPr>
              <a:t>// TESTS – hier nichts veraendern!</a:t>
            </a:r>
          </a:p>
          <a:p>
            <a:pPr>
              <a:lnSpc>
                <a:spcPct val="100000"/>
              </a:lnSpc>
            </a:pPr>
            <a:r>
              <a:rPr sz="1900" b="0" i="0">
                <a:solidFill>
                  <a:srgbClr val="1F2A37"/>
                </a:solidFill>
                <a:latin typeface="Consolas"/>
              </a:rPr>
              <a:t>class …Test { … }</a:t>
            </a:r>
          </a:p>
          <a:p>
            <a:pPr>
              <a:lnSpc>
                <a:spcPct val="100000"/>
              </a:lnSpc>
            </a:pPr>
            <a:r>
              <a:rPr sz="1900" b="0" i="0">
                <a:solidFill>
                  <a:srgbClr val="1F2A37"/>
                </a:solidFill>
                <a:latin typeface="Consolas"/>
              </a:rPr>
              <a:t>// Programmstart</a:t>
            </a:r>
          </a:p>
          <a:p>
            <a:pPr>
              <a:lnSpc>
                <a:spcPct val="100000"/>
              </a:lnSpc>
            </a:pPr>
            <a:r>
              <a:rPr sz="1900" b="0" i="0">
                <a:solidFill>
                  <a:srgbClr val="1F2A37"/>
                </a:solidFill>
                <a:latin typeface="Consolas"/>
              </a:rPr>
              <a:t>println(…);</a:t>
            </a:r>
          </a:p>
        </p:txBody>
      </p:sp>
      <p:sp>
        <p:nvSpPr>
          <p:cNvPr id="7" name="Rounded Rectangle 6"/>
          <p:cNvSpPr/>
          <p:nvPr/>
        </p:nvSpPr>
        <p:spPr>
          <a:xfrm>
            <a:off x="6217920" y="1325880"/>
            <a:ext cx="542513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463039"/>
            <a:ext cx="5059375" cy="2377439"/>
          </a:xfrm>
          <a:prstGeom prst="rect">
            <a:avLst/>
          </a:prstGeom>
          <a:noFill/>
        </p:spPr>
        <p:txBody>
          <a:bodyPr wrap="square" anchor="t" lIns="45720" rIns="45720">
            <a:spAutoFit/>
          </a:bodyPr>
          <a:lstStyle/>
          <a:p>
            <a:pPr>
              <a:spcAft>
                <a:spcPts val="800"/>
              </a:spcAft>
            </a:pPr>
            <a:r>
              <a:rPr sz="2200" b="1" i="0">
                <a:solidFill>
                  <a:srgbClr val="1F4E79"/>
                </a:solidFill>
                <a:latin typeface="Calibri"/>
              </a:rPr>
              <a:t>Fünf Bereiche</a:t>
            </a:r>
            <a:r>
              <a:rPr sz="2000" b="0" i="0">
                <a:solidFill>
                  <a:srgbClr val="1F2A37"/>
                </a:solidFill>
                <a:latin typeface="Calibri"/>
              </a:rPr>
              <a:t/>
            </a:r>
          </a:p>
          <a:p>
            <a:pPr>
              <a:spcAft>
                <a:spcPts val="600"/>
              </a:spcAft>
            </a:pPr>
            <a:r>
              <a:rPr sz="2000" b="1" i="0">
                <a:solidFill>
                  <a:srgbClr val="1F2A37"/>
                </a:solidFill>
                <a:latin typeface="Calibri"/>
              </a:rPr>
              <a:t>Kopfblock</a:t>
            </a:r>
            <a:r>
              <a:rPr sz="2000" b="0" i="0">
                <a:solidFill>
                  <a:srgbClr val="1F2A37"/>
                </a:solidFill>
                <a:latin typeface="Calibri"/>
              </a:rPr>
              <a:t>: Anleitung lesen!</a:t>
            </a:r>
            <a:r>
              <a:rPr sz="2000" b="0" i="0">
                <a:solidFill>
                  <a:srgbClr val="1F2A37"/>
                </a:solidFill>
                <a:latin typeface="Calibri"/>
              </a:rPr>
              <a:t/>
            </a:r>
          </a:p>
          <a:p>
            <a:pPr>
              <a:spcAft>
                <a:spcPts val="600"/>
              </a:spcAft>
            </a:pPr>
            <a:r>
              <a:rPr sz="2000" b="1" i="0">
                <a:solidFill>
                  <a:srgbClr val="1F2A37"/>
                </a:solidFill>
                <a:latin typeface="Calibri"/>
              </a:rPr>
              <a:t>GERÜST</a:t>
            </a:r>
            <a:r>
              <a:rPr sz="2000" b="0" i="0">
                <a:solidFill>
                  <a:srgbClr val="1F2A37"/>
                </a:solidFill>
                <a:latin typeface="Calibri"/>
              </a:rPr>
              <a:t>: Hilfsklassen</a:t>
            </a:r>
            <a:r>
              <a:rPr sz="2000" b="0" i="0">
                <a:solidFill>
                  <a:srgbClr val="1F2A37"/>
                </a:solidFill>
                <a:latin typeface="Calibri"/>
              </a:rPr>
              <a:t/>
            </a:r>
          </a:p>
          <a:p>
            <a:pPr>
              <a:spcAft>
                <a:spcPts val="600"/>
              </a:spcAft>
            </a:pPr>
            <a:r>
              <a:rPr sz="2000" b="1" i="0">
                <a:solidFill>
                  <a:srgbClr val="1F2A37"/>
                </a:solidFill>
                <a:latin typeface="Calibri"/>
              </a:rPr>
              <a:t>DEIN TEIL</a:t>
            </a:r>
            <a:r>
              <a:rPr sz="2000" b="0" i="0">
                <a:solidFill>
                  <a:srgbClr val="1F2A37"/>
                </a:solidFill>
                <a:latin typeface="Calibri"/>
              </a:rPr>
              <a:t>: nur hier schreiben</a:t>
            </a:r>
            <a:r>
              <a:rPr sz="2000" b="0" i="0">
                <a:solidFill>
                  <a:srgbClr val="1F2A37"/>
                </a:solidFill>
                <a:latin typeface="Calibri"/>
              </a:rPr>
              <a:t/>
            </a:r>
          </a:p>
          <a:p>
            <a:pPr>
              <a:spcAft>
                <a:spcPts val="600"/>
              </a:spcAft>
            </a:pPr>
            <a:r>
              <a:rPr sz="2000" b="1" i="0">
                <a:solidFill>
                  <a:srgbClr val="1F2A37"/>
                </a:solidFill>
                <a:latin typeface="Calibri"/>
              </a:rPr>
              <a:t>TESTS</a:t>
            </a:r>
            <a:r>
              <a:rPr sz="2000" b="0" i="0">
                <a:solidFill>
                  <a:srgbClr val="1F2A37"/>
                </a:solidFill>
                <a:latin typeface="Calibri"/>
              </a:rPr>
              <a:t>: nie verändern</a:t>
            </a:r>
            <a:r>
              <a:rPr sz="2000" b="0" i="0">
                <a:solidFill>
                  <a:srgbClr val="1F2A37"/>
                </a:solidFill>
                <a:latin typeface="Calibri"/>
              </a:rPr>
              <a:t/>
            </a:r>
          </a:p>
          <a:p>
            <a:pPr>
              <a:spcAft>
                <a:spcPts val="600"/>
              </a:spcAft>
            </a:pPr>
            <a:r>
              <a:rPr sz="2000" b="1" i="0">
                <a:solidFill>
                  <a:srgbClr val="1F2A37"/>
                </a:solidFill>
                <a:latin typeface="Calibri"/>
              </a:rPr>
              <a:t>Programmstart</a:t>
            </a:r>
            <a:r>
              <a:rPr sz="2000" b="0" i="0">
                <a:solidFill>
                  <a:srgbClr val="1F2A37"/>
                </a:solidFill>
                <a:latin typeface="Calibri"/>
              </a:rPr>
              <a:t>: Hauptprogramm</a:t>
            </a:r>
            <a:r>
              <a:rPr sz="20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Dein Teil: eine Methode schreiben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772400" cy="3396996"/>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7589520" cy="3305556"/>
          </a:xfrm>
          <a:prstGeom prst="rect">
            <a:avLst/>
          </a:prstGeom>
          <a:noFill/>
        </p:spPr>
        <p:txBody>
          <a:bodyPr wrap="square" anchor="t" lIns="45720" rIns="45720">
            <a:spAutoFit/>
          </a:bodyPr>
          <a:lstStyle/>
          <a:p>
            <a:pPr>
              <a:lnSpc>
                <a:spcPct val="100000"/>
              </a:lnSpc>
            </a:pPr>
            <a:r>
              <a:rPr sz="2100" b="0" i="0">
                <a:solidFill>
                  <a:srgbClr val="A0A7B1"/>
                </a:solidFill>
                <a:latin typeface="Consolas"/>
              </a:rPr>
              <a:t>1  </a:t>
            </a:r>
            <a:r>
              <a:rPr sz="2100" b="0" i="0">
                <a:solidFill>
                  <a:srgbClr val="1F2A37"/>
                </a:solidFill>
                <a:latin typeface="Consolas"/>
              </a:rPr>
              <a:t>class Fackellager {</a:t>
            </a:r>
          </a:p>
          <a:p>
            <a:pPr>
              <a:lnSpc>
                <a:spcPct val="100000"/>
              </a:lnSpc>
            </a:pPr>
            <a:r>
              <a:rPr sz="2100" b="0" i="0">
                <a:solidFill>
                  <a:srgbClr val="A0A7B1"/>
                </a:solidFill>
                <a:latin typeface="Consolas"/>
              </a:rPr>
              <a:t>2  </a:t>
            </a:r>
            <a:r>
              <a:rPr sz="2100" b="0" i="0">
                <a:solidFill>
                  <a:srgbClr val="1F2A37"/>
                </a:solidFill>
                <a:latin typeface="Consolas"/>
              </a:rPr>
              <a:t/>
            </a:r>
          </a:p>
          <a:p>
            <a:pPr>
              <a:lnSpc>
                <a:spcPct val="100000"/>
              </a:lnSpc>
            </a:pPr>
            <a:r>
              <a:rPr sz="2100" b="0" i="0">
                <a:solidFill>
                  <a:srgbClr val="A0A7B1"/>
                </a:solidFill>
                <a:latin typeface="Consolas"/>
              </a:rPr>
              <a:t>3  </a:t>
            </a:r>
            <a:r>
              <a:rPr sz="2100" b="0" i="0">
                <a:solidFill>
                  <a:srgbClr val="1F2A37"/>
                </a:solidFill>
                <a:latin typeface="Consolas"/>
              </a:rPr>
              <a:t>   </a:t>
            </a:r>
            <a:r>
              <a:rPr sz="2100" b="0" i="0">
                <a:solidFill>
                  <a:srgbClr val="5F7F5F"/>
                </a:solidFill>
                <a:latin typeface="Consolas"/>
              </a:rPr>
              <a:t> // fackeln(raeume: Ganzzahl): Ganzzahl</a:t>
            </a:r>
          </a:p>
          <a:p>
            <a:pPr>
              <a:lnSpc>
                <a:spcPct val="100000"/>
              </a:lnSpc>
            </a:pPr>
            <a:r>
              <a:rPr sz="2100" b="0" i="0">
                <a:solidFill>
                  <a:srgbClr val="A0A7B1"/>
                </a:solidFill>
                <a:latin typeface="Consolas"/>
              </a:rPr>
              <a:t>4  </a:t>
            </a:r>
            <a:r>
              <a:rPr sz="2100" b="0" i="0">
                <a:solidFill>
                  <a:srgbClr val="1F2A37"/>
                </a:solidFill>
                <a:latin typeface="Consolas"/>
              </a:rPr>
              <a:t>   </a:t>
            </a:r>
            <a:r>
              <a:rPr sz="2100" b="0" i="0">
                <a:solidFill>
                  <a:srgbClr val="5F7F5F"/>
                </a:solidFill>
                <a:latin typeface="Consolas"/>
              </a:rPr>
              <a:t> // Eine Fackel brennt 3 Raeume lang.</a:t>
            </a:r>
          </a:p>
          <a:p>
            <a:pPr>
              <a:lnSpc>
                <a:spcPct val="100000"/>
              </a:lnSpc>
            </a:pPr>
            <a:r>
              <a:rPr sz="2100" b="0" i="0">
                <a:solidFill>
                  <a:srgbClr val="A0A7B1"/>
                </a:solidFill>
                <a:latin typeface="Consolas"/>
              </a:rPr>
              <a:t>5  </a:t>
            </a:r>
            <a:r>
              <a:rPr sz="2100" b="0" i="0">
                <a:solidFill>
                  <a:srgbClr val="1F2A37"/>
                </a:solidFill>
                <a:latin typeface="Consolas"/>
              </a:rPr>
              <a:t>    public static int fackeln(int raeume) {</a:t>
            </a:r>
          </a:p>
          <a:p>
            <a:pPr>
              <a:lnSpc>
                <a:spcPct val="100000"/>
              </a:lnSpc>
            </a:pPr>
            <a:r>
              <a:rPr sz="2100" b="0" i="0">
                <a:solidFill>
                  <a:srgbClr val="A0A7B1"/>
                </a:solidFill>
                <a:latin typeface="Consolas"/>
              </a:rPr>
              <a:t>6  </a:t>
            </a:r>
            <a:r>
              <a:rPr sz="2100" b="1" i="0">
                <a:solidFill>
                  <a:srgbClr val="C00000"/>
                </a:solidFill>
                <a:latin typeface="Consolas"/>
              </a:rPr>
              <a:t>       </a:t>
            </a:r>
            <a:r>
              <a:rPr sz="2100" b="0" i="0">
                <a:solidFill>
                  <a:srgbClr val="5F7F5F"/>
                </a:solidFill>
                <a:latin typeface="Consolas"/>
              </a:rPr>
              <a:t> // TODO</a:t>
            </a:r>
          </a:p>
          <a:p>
            <a:pPr>
              <a:lnSpc>
                <a:spcPct val="100000"/>
              </a:lnSpc>
            </a:pPr>
            <a:r>
              <a:rPr sz="2100" b="0" i="0">
                <a:solidFill>
                  <a:srgbClr val="A0A7B1"/>
                </a:solidFill>
                <a:latin typeface="Consolas"/>
              </a:rPr>
              <a:t>7  </a:t>
            </a:r>
            <a:r>
              <a:rPr sz="2100" b="1" i="0">
                <a:solidFill>
                  <a:srgbClr val="C00000"/>
                </a:solidFill>
                <a:latin typeface="Consolas"/>
              </a:rPr>
              <a:t>        return 0;</a:t>
            </a:r>
          </a:p>
          <a:p>
            <a:pPr>
              <a:lnSpc>
                <a:spcPct val="100000"/>
              </a:lnSpc>
            </a:pPr>
            <a:r>
              <a:rPr sz="2100" b="0" i="0">
                <a:solidFill>
                  <a:srgbClr val="A0A7B1"/>
                </a:solidFill>
                <a:latin typeface="Consolas"/>
              </a:rPr>
              <a:t>8  </a:t>
            </a:r>
            <a:r>
              <a:rPr sz="2100" b="0" i="0">
                <a:solidFill>
                  <a:srgbClr val="1F2A37"/>
                </a:solidFill>
                <a:latin typeface="Consolas"/>
              </a:rPr>
              <a:t>    }</a:t>
            </a:r>
          </a:p>
          <a:p>
            <a:pPr>
              <a:lnSpc>
                <a:spcPct val="100000"/>
              </a:lnSpc>
            </a:pPr>
            <a:r>
              <a:rPr sz="2100" b="0" i="0">
                <a:solidFill>
                  <a:srgbClr val="A0A7B1"/>
                </a:solidFill>
                <a:latin typeface="Consolas"/>
              </a:rPr>
              <a:t>9  </a:t>
            </a:r>
            <a:r>
              <a:rPr sz="2100" b="0" i="0">
                <a:solidFill>
                  <a:srgbClr val="1F2A37"/>
                </a:solidFill>
                <a:latin typeface="Consolas"/>
              </a:rPr>
              <a:t>}</a:t>
            </a:r>
          </a:p>
        </p:txBody>
      </p:sp>
      <p:sp>
        <p:nvSpPr>
          <p:cNvPr id="7" name="TextBox 6"/>
          <p:cNvSpPr txBox="1"/>
          <p:nvPr/>
        </p:nvSpPr>
        <p:spPr>
          <a:xfrm>
            <a:off x="548640" y="4951476"/>
            <a:ext cx="7772400" cy="1403603"/>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Signatur in Abi-Notation steht </a:t>
            </a:r>
            <a:r>
              <a:rPr sz="2200" b="1" i="0">
                <a:solidFill>
                  <a:srgbClr val="1F2A37"/>
                </a:solidFill>
                <a:latin typeface="Calibri"/>
              </a:rPr>
              <a:t>darüber</a:t>
            </a:r>
            <a:r>
              <a:rPr sz="2200" b="0" i="0">
                <a:solidFill>
                  <a:srgbClr val="1F2A37"/>
                </a:solidFill>
                <a:latin typeface="Calibri"/>
              </a:rPr>
              <a:t/>
            </a:r>
          </a:p>
          <a:p>
            <a:pPr>
              <a:spcAft>
                <a:spcPts val="1000"/>
              </a:spcAft>
            </a:pPr>
            <a:r>
              <a:rPr sz="2200" b="1" i="0">
                <a:solidFill>
                  <a:srgbClr val="B8860B"/>
                </a:solidFill>
                <a:latin typeface="Calibri"/>
              </a:rPr>
              <a:t>▸ </a:t>
            </a:r>
            <a:r>
              <a:rPr sz="2100" b="0" i="0">
                <a:solidFill>
                  <a:srgbClr val="1F4E79"/>
                </a:solidFill>
                <a:latin typeface="Consolas"/>
              </a:rPr>
              <a:t>// TODO</a:t>
            </a:r>
            <a:r>
              <a:rPr sz="2200" b="0" i="0">
                <a:solidFill>
                  <a:srgbClr val="1F2A37"/>
                </a:solidFill>
                <a:latin typeface="Calibri"/>
              </a:rPr>
              <a:t> und vorläufiges </a:t>
            </a:r>
            <a:r>
              <a:rPr sz="2100" b="0" i="0">
                <a:solidFill>
                  <a:srgbClr val="1F4E79"/>
                </a:solidFill>
                <a:latin typeface="Consolas"/>
              </a:rPr>
              <a:t>return</a:t>
            </a:r>
            <a:r>
              <a:rPr sz="2200" b="0" i="0">
                <a:solidFill>
                  <a:srgbClr val="1F2A37"/>
                </a:solidFill>
                <a:latin typeface="Calibri"/>
              </a:rPr>
              <a:t> </a:t>
            </a:r>
            <a:r>
              <a:rPr sz="2200" b="1" i="0">
                <a:solidFill>
                  <a:srgbClr val="1F2A37"/>
                </a:solidFill>
                <a:latin typeface="Calibri"/>
              </a:rPr>
              <a:t>ersetzen</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Methodenkopf </a:t>
            </a:r>
            <a:r>
              <a:rPr sz="2200" b="1" i="0">
                <a:solidFill>
                  <a:srgbClr val="1F2A37"/>
                </a:solidFill>
                <a:latin typeface="Calibri"/>
              </a:rPr>
              <a:t>nicht</a:t>
            </a:r>
            <a:r>
              <a:rPr sz="2200" b="0" i="0">
                <a:solidFill>
                  <a:srgbClr val="1F2A37"/>
                </a:solidFill>
                <a:latin typeface="Calibri"/>
              </a:rPr>
              <a:t> ändern (</a:t>
            </a:r>
            <a:r>
              <a:rPr sz="2200" b="1" i="0">
                <a:solidFill>
                  <a:srgbClr val="1F2A37"/>
                </a:solidFill>
                <a:latin typeface="Calibri"/>
              </a:rPr>
              <a:t>P3</a:t>
            </a:r>
            <a:r>
              <a:rPr sz="2200" b="0" i="0">
                <a:solidFill>
                  <a:srgbClr val="1F2A37"/>
                </a:solidFill>
                <a:latin typeface="Calibri"/>
              </a:rPr>
              <a:t>)</a:t>
            </a:r>
            <a:r>
              <a:rPr sz="22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Ein Test von innen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772400" cy="1988819"/>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7589520" cy="1897379"/>
          </a:xfrm>
          <a:prstGeom prst="rect">
            <a:avLst/>
          </a:prstGeom>
          <a:noFill/>
        </p:spPr>
        <p:txBody>
          <a:bodyPr wrap="square" anchor="t" lIns="45720" rIns="45720">
            <a:spAutoFit/>
          </a:bodyPr>
          <a:lstStyle/>
          <a:p>
            <a:pPr>
              <a:lnSpc>
                <a:spcPct val="100000"/>
              </a:lnSpc>
            </a:pPr>
            <a:r>
              <a:rPr sz="2100" b="0" i="0">
                <a:solidFill>
                  <a:srgbClr val="A0A7B1"/>
                </a:solidFill>
                <a:latin typeface="Consolas"/>
              </a:rPr>
              <a:t>1  </a:t>
            </a:r>
            <a:r>
              <a:rPr sz="2100" b="0" i="0">
                <a:solidFill>
                  <a:srgbClr val="1F2A37"/>
                </a:solidFill>
                <a:latin typeface="Consolas"/>
              </a:rPr>
              <a:t>@Test</a:t>
            </a:r>
          </a:p>
          <a:p>
            <a:pPr>
              <a:lnSpc>
                <a:spcPct val="100000"/>
              </a:lnSpc>
            </a:pPr>
            <a:r>
              <a:rPr sz="2100" b="0" i="0">
                <a:solidFill>
                  <a:srgbClr val="A0A7B1"/>
                </a:solidFill>
                <a:latin typeface="Consolas"/>
              </a:rPr>
              <a:t>2  </a:t>
            </a:r>
            <a:r>
              <a:rPr sz="2100" b="0" i="0">
                <a:solidFill>
                  <a:srgbClr val="1F2A37"/>
                </a:solidFill>
                <a:latin typeface="Consolas"/>
              </a:rPr>
              <a:t>public void angebrochen() {</a:t>
            </a:r>
          </a:p>
          <a:p>
            <a:pPr>
              <a:lnSpc>
                <a:spcPct val="100000"/>
              </a:lnSpc>
            </a:pPr>
            <a:r>
              <a:rPr sz="2100" b="0" i="0">
                <a:solidFill>
                  <a:srgbClr val="A0A7B1"/>
                </a:solidFill>
                <a:latin typeface="Consolas"/>
              </a:rPr>
              <a:t>3  </a:t>
            </a:r>
            <a:r>
              <a:rPr sz="2100" b="1" i="0">
                <a:solidFill>
                  <a:srgbClr val="C00000"/>
                </a:solidFill>
                <a:latin typeface="Consolas"/>
              </a:rPr>
              <a:t>    assertEquals(3, Fackellager.fackeln(7),</a:t>
            </a:r>
          </a:p>
          <a:p>
            <a:pPr>
              <a:lnSpc>
                <a:spcPct val="100000"/>
              </a:lnSpc>
            </a:pPr>
            <a:r>
              <a:rPr sz="2100" b="0" i="0">
                <a:solidFill>
                  <a:srgbClr val="A0A7B1"/>
                </a:solidFill>
                <a:latin typeface="Consolas"/>
              </a:rPr>
              <a:t>4  </a:t>
            </a:r>
            <a:r>
              <a:rPr sz="2100" b="1" i="0">
                <a:solidFill>
                  <a:srgbClr val="C00000"/>
                </a:solidFill>
                <a:latin typeface="Consolas"/>
              </a:rPr>
              <a:t>                 "7 Raeume: 3 Fackeln");</a:t>
            </a:r>
          </a:p>
          <a:p>
            <a:pPr>
              <a:lnSpc>
                <a:spcPct val="100000"/>
              </a:lnSpc>
            </a:pPr>
            <a:r>
              <a:rPr sz="2100" b="0" i="0">
                <a:solidFill>
                  <a:srgbClr val="A0A7B1"/>
                </a:solidFill>
                <a:latin typeface="Consolas"/>
              </a:rPr>
              <a:t>5  </a:t>
            </a:r>
            <a:r>
              <a:rPr sz="2100" b="0" i="0">
                <a:solidFill>
                  <a:srgbClr val="1F2A37"/>
                </a:solidFill>
                <a:latin typeface="Consolas"/>
              </a:rPr>
              <a:t>}</a:t>
            </a:r>
          </a:p>
        </p:txBody>
      </p:sp>
      <p:sp>
        <p:nvSpPr>
          <p:cNvPr id="7" name="TextBox 6"/>
          <p:cNvSpPr txBox="1"/>
          <p:nvPr/>
        </p:nvSpPr>
        <p:spPr>
          <a:xfrm>
            <a:off x="548640" y="3543300"/>
            <a:ext cx="7772400" cy="281178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100" b="0" i="0">
                <a:solidFill>
                  <a:srgbClr val="1F4E79"/>
                </a:solidFill>
                <a:latin typeface="Consolas"/>
              </a:rPr>
              <a:t>assertEquals(</a:t>
            </a:r>
            <a:r>
              <a:rPr sz="2200" b="0" i="0">
                <a:solidFill>
                  <a:srgbClr val="1F2A37"/>
                </a:solidFill>
                <a:latin typeface="Calibri"/>
              </a:rPr>
              <a:t> </a:t>
            </a:r>
            <a:r>
              <a:rPr sz="2200" b="1" i="0">
                <a:solidFill>
                  <a:srgbClr val="1F2A37"/>
                </a:solidFill>
                <a:latin typeface="Calibri"/>
              </a:rPr>
              <a:t>erwartet</a:t>
            </a:r>
            <a:r>
              <a:rPr sz="2200" b="0" i="0">
                <a:solidFill>
                  <a:srgbClr val="1F2A37"/>
                </a:solidFill>
                <a:latin typeface="Calibri"/>
              </a:rPr>
              <a:t>, </a:t>
            </a:r>
            <a:r>
              <a:rPr sz="2200" b="1" i="0">
                <a:solidFill>
                  <a:srgbClr val="1F2A37"/>
                </a:solidFill>
                <a:latin typeface="Calibri"/>
              </a:rPr>
              <a:t>tatsächlich</a:t>
            </a:r>
            <a:r>
              <a:rPr sz="2200" b="0" i="0">
                <a:solidFill>
                  <a:srgbClr val="1F2A37"/>
                </a:solidFill>
                <a:latin typeface="Calibri"/>
              </a:rPr>
              <a:t>, </a:t>
            </a:r>
            <a:r>
              <a:rPr sz="2200" b="1" i="0">
                <a:solidFill>
                  <a:srgbClr val="1F2A37"/>
                </a:solidFill>
                <a:latin typeface="Calibri"/>
              </a:rPr>
              <a:t>Meldung</a:t>
            </a:r>
            <a:r>
              <a:rPr sz="2200" b="0" i="0">
                <a:solidFill>
                  <a:srgbClr val="1F2A37"/>
                </a:solidFill>
                <a:latin typeface="Calibri"/>
              </a:rPr>
              <a:t> </a:t>
            </a:r>
            <a:r>
              <a:rPr sz="2100" b="0" i="0">
                <a:solidFill>
                  <a:srgbClr val="1F4E79"/>
                </a:solidFill>
                <a:latin typeface="Consolas"/>
              </a:rPr>
              <a:t>)</a:t>
            </a:r>
            <a:r>
              <a:rPr sz="2200" b="0" i="0">
                <a:solidFill>
                  <a:srgbClr val="1F2A37"/>
                </a:solidFill>
                <a:latin typeface="Calibri"/>
              </a:rPr>
              <a:t/>
            </a:r>
          </a:p>
          <a:p>
            <a:pPr>
              <a:spcAft>
                <a:spcPts val="1000"/>
              </a:spcAft>
            </a:pPr>
            <a:r>
              <a:rPr sz="2200" b="1" i="0">
                <a:solidFill>
                  <a:srgbClr val="B8860B"/>
                </a:solidFill>
                <a:latin typeface="Calibri"/>
              </a:rPr>
              <a:t>▸ </a:t>
            </a:r>
            <a:r>
              <a:rPr sz="2100" b="0" i="0">
                <a:solidFill>
                  <a:srgbClr val="1F4E79"/>
                </a:solidFill>
                <a:latin typeface="Consolas"/>
              </a:rPr>
              <a:t>@Test</a:t>
            </a:r>
            <a:r>
              <a:rPr sz="2200" b="0" i="0">
                <a:solidFill>
                  <a:srgbClr val="1F2A37"/>
                </a:solidFill>
                <a:latin typeface="Calibri"/>
              </a:rPr>
              <a:t> macht die Methode zum Test – Klasse </a:t>
            </a:r>
            <a:r>
              <a:rPr sz="2100" b="0" i="0">
                <a:solidFill>
                  <a:srgbClr val="1F4E79"/>
                </a:solidFill>
                <a:latin typeface="Consolas"/>
              </a:rPr>
              <a:t>FackellagerTest</a:t>
            </a:r>
            <a:r>
              <a:rPr sz="22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Den Testrunner starten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Reiter </a:t>
            </a:r>
            <a:r>
              <a:rPr sz="2400" b="1" i="0">
                <a:solidFill>
                  <a:srgbClr val="1F2A37"/>
                </a:solidFill>
                <a:latin typeface="Calibri"/>
              </a:rPr>
              <a:t>„Testrunner“</a:t>
            </a:r>
            <a:r>
              <a:rPr sz="2400" b="0" i="0">
                <a:solidFill>
                  <a:srgbClr val="1F2A37"/>
                </a:solidFill>
                <a:latin typeface="Calibri"/>
              </a:rPr>
              <a:t> öffnen</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Grüner </a:t>
            </a:r>
            <a:r>
              <a:rPr sz="2400" b="1" i="0">
                <a:solidFill>
                  <a:srgbClr val="1F2A37"/>
                </a:solidFill>
                <a:latin typeface="Calibri"/>
              </a:rPr>
              <a:t>Dreieckspfeil</a:t>
            </a:r>
            <a:r>
              <a:rPr sz="2400" b="0" i="0">
                <a:solidFill>
                  <a:srgbClr val="1F2A37"/>
                </a:solidFill>
                <a:latin typeface="Calibri"/>
              </a:rPr>
              <a:t> neben der Testklasse → alle Tests</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 oder neben einem einzelnen Test</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Grün</a:t>
            </a:r>
            <a:r>
              <a:rPr sz="2400" b="0" i="0">
                <a:solidFill>
                  <a:srgbClr val="1F2A37"/>
                </a:solidFill>
                <a:latin typeface="Calibri"/>
              </a:rPr>
              <a:t> = bestanden, </a:t>
            </a:r>
            <a:r>
              <a:rPr sz="2400" b="1" i="0">
                <a:solidFill>
                  <a:srgbClr val="1F2A37"/>
                </a:solidFill>
                <a:latin typeface="Calibri"/>
              </a:rPr>
              <a:t>rot</a:t>
            </a:r>
            <a:r>
              <a:rPr sz="2400" b="0" i="0">
                <a:solidFill>
                  <a:srgbClr val="1F2A37"/>
                </a:solidFill>
                <a:latin typeface="Calibri"/>
              </a:rPr>
              <a:t> = Meldung lesen!</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Schon grün?</a:t>
            </a:r>
            <a:r>
              <a:rPr sz="2000" b="0" i="0">
                <a:solidFill>
                  <a:srgbClr val="1F2A37"/>
                </a:solidFill>
                <a:latin typeface="Calibri"/>
              </a:rPr>
              <a:t/>
            </a:r>
          </a:p>
          <a:p>
            <a:pPr>
              <a:spcAft>
                <a:spcPts val="600"/>
              </a:spcAft>
            </a:pPr>
            <a:r>
              <a:rPr sz="2000" b="0" i="0">
                <a:solidFill>
                  <a:srgbClr val="1F2A37"/>
                </a:solidFill>
                <a:latin typeface="Calibri"/>
              </a:rPr>
              <a:t>Mit </a:t>
            </a:r>
            <a:r>
              <a:rPr sz="1900" b="0" i="0">
                <a:solidFill>
                  <a:srgbClr val="1F4E79"/>
                </a:solidFill>
                <a:latin typeface="Consolas"/>
              </a:rPr>
              <a:t>return 0;</a:t>
            </a:r>
            <a:r>
              <a:rPr sz="2000" b="0" i="0">
                <a:solidFill>
                  <a:srgbClr val="1F2A37"/>
                </a:solidFill>
                <a:latin typeface="Calibri"/>
              </a:rPr>
              <a:t> ist </a:t>
            </a:r>
            <a:r>
              <a:rPr sz="2000" b="1" i="0">
                <a:solidFill>
                  <a:srgbClr val="1F2A37"/>
                </a:solidFill>
                <a:latin typeface="Calibri"/>
              </a:rPr>
              <a:t>keinRaum</a:t>
            </a:r>
            <a:r>
              <a:rPr sz="2000" b="0" i="0">
                <a:solidFill>
                  <a:srgbClr val="1F2A37"/>
                </a:solidFill>
                <a:latin typeface="Calibri"/>
              </a:rPr>
              <a:t> schon grün – reiner Zufall, das zählt noch nicht.</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Meldungen lesen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7772400" cy="388619"/>
          </a:xfrm>
          <a:prstGeom prst="rect">
            <a:avLst/>
          </a:prstGeom>
          <a:noFill/>
        </p:spPr>
        <p:txBody>
          <a:bodyPr wrap="square" anchor="t" lIns="45720" rIns="45720">
            <a:spAutoFit/>
          </a:bodyPr>
          <a:lstStyle/>
          <a:p>
            <a:r>
              <a:rPr sz="2000" b="0" i="0">
                <a:solidFill>
                  <a:srgbClr val="1F2A37"/>
                </a:solidFill>
                <a:latin typeface="Calibri"/>
              </a:rPr>
              <a:t>Erster Versuch: </a:t>
            </a:r>
            <a:r>
              <a:rPr sz="1900" b="0" i="0">
                <a:solidFill>
                  <a:srgbClr val="1F4E79"/>
                </a:solidFill>
                <a:latin typeface="Consolas"/>
              </a:rPr>
              <a:t>return raeume / 3;</a:t>
            </a:r>
          </a:p>
        </p:txBody>
      </p:sp>
      <p:graphicFrame>
        <p:nvGraphicFramePr>
          <p:cNvPr id="6" name="Table 5"/>
          <p:cNvGraphicFramePr>
            <a:graphicFrameLocks noGrp="1"/>
          </p:cNvGraphicFramePr>
          <p:nvPr/>
        </p:nvGraphicFramePr>
        <p:xfrm>
          <a:off x="548640" y="1897380"/>
          <a:ext cx="5852158" cy="1737356"/>
        </p:xfrm>
        <a:graphic>
          <a:graphicData uri="http://schemas.openxmlformats.org/drawingml/2006/table">
            <a:tbl>
              <a:tblPr firstRow="1" bandRow="1">
                <a:tableStyleId>{5C22544A-7EE6-4342-B048-85BDC9FD1C3A}</a:tableStyleId>
              </a:tblPr>
              <a:tblGrid>
                <a:gridCol w="2110615"/>
                <a:gridCol w="1247181"/>
                <a:gridCol w="1534992"/>
                <a:gridCol w="959370"/>
              </a:tblGrid>
              <a:tr h="434339">
                <a:tc>
                  <a:txBody>
                    <a:bodyPr/>
                    <a:lstStyle/>
                    <a:p>
                      <a:pPr algn="ctr"/>
                      <a:r>
                        <a:rPr sz="1800" b="1">
                          <a:solidFill>
                            <a:srgbClr val="FFFFFF"/>
                          </a:solidFill>
                          <a:latin typeface="Calibri"/>
                        </a:rPr>
                        <a:t>Test</a:t>
                      </a:r>
                    </a:p>
                  </a:txBody>
                  <a:tcPr marL="54864" marR="54864" marT="18288" marB="18288" anchor="ctr">
                    <a:solidFill>
                      <a:srgbClr val="1F4E79"/>
                    </a:solidFill>
                  </a:tcPr>
                </a:tc>
                <a:tc>
                  <a:txBody>
                    <a:bodyPr/>
                    <a:lstStyle/>
                    <a:p>
                      <a:pPr algn="ctr"/>
                      <a:r>
                        <a:rPr sz="1800" b="1">
                          <a:solidFill>
                            <a:srgbClr val="FFFFFF"/>
                          </a:solidFill>
                          <a:latin typeface="Calibri"/>
                        </a:rPr>
                        <a:t>erwartet</a:t>
                      </a:r>
                    </a:p>
                  </a:txBody>
                  <a:tcPr marL="54864" marR="54864" marT="18288" marB="18288" anchor="ctr">
                    <a:solidFill>
                      <a:srgbClr val="1F4E79"/>
                    </a:solidFill>
                  </a:tcPr>
                </a:tc>
                <a:tc>
                  <a:txBody>
                    <a:bodyPr/>
                    <a:lstStyle/>
                    <a:p>
                      <a:pPr algn="ctr"/>
                      <a:r>
                        <a:rPr sz="1800" b="1">
                          <a:solidFill>
                            <a:srgbClr val="FFFFFF"/>
                          </a:solidFill>
                          <a:latin typeface="Calibri"/>
                        </a:rPr>
                        <a:t>tatsächlich</a:t>
                      </a:r>
                    </a:p>
                  </a:txBody>
                  <a:tcPr marL="54864" marR="54864" marT="18288" marB="18288" anchor="ctr">
                    <a:solidFill>
                      <a:srgbClr val="1F4E79"/>
                    </a:solidFill>
                  </a:tcPr>
                </a:tc>
                <a:tc>
                  <a:txBody>
                    <a:bodyPr/>
                    <a:lstStyle/>
                    <a:p>
                      <a:pPr algn="ctr"/>
                      <a:r>
                        <a:rPr sz="1800" b="1">
                          <a:solidFill>
                            <a:srgbClr val="FFFFFF"/>
                          </a:solidFill>
                          <a:latin typeface="Calibri"/>
                        </a:rPr>
                        <a:t/>
                      </a:r>
                    </a:p>
                  </a:txBody>
                  <a:tcPr marL="54864" marR="54864" marT="18288" marB="18288" anchor="ctr">
                    <a:solidFill>
                      <a:srgbClr val="1F4E79"/>
                    </a:solidFill>
                  </a:tcPr>
                </a:tc>
              </a:tr>
              <a:tr h="434339">
                <a:tc>
                  <a:txBody>
                    <a:bodyPr/>
                    <a:lstStyle/>
                    <a:p>
                      <a:pPr algn="ctr"/>
                      <a:r>
                        <a:rPr sz="1800" b="0">
                          <a:solidFill>
                            <a:srgbClr val="1F2A37"/>
                          </a:solidFill>
                          <a:latin typeface="Consolas"/>
                        </a:rPr>
                        <a:t>genauDrei</a:t>
                      </a:r>
                    </a:p>
                  </a:txBody>
                  <a:tcPr marL="54864" marR="54864" marT="18288" marB="18288" anchor="ctr">
                    <a:solidFill>
                      <a:srgbClr val="FFFFFF"/>
                    </a:solidFill>
                  </a:tcPr>
                </a:tc>
                <a:tc>
                  <a:txBody>
                    <a:bodyPr/>
                    <a:lstStyle/>
                    <a:p>
                      <a:pPr algn="ctr"/>
                      <a:r>
                        <a:rPr sz="1800" b="0">
                          <a:solidFill>
                            <a:srgbClr val="1F2A37"/>
                          </a:solidFill>
                          <a:latin typeface="Consolas"/>
                        </a:rPr>
                        <a:t>1</a:t>
                      </a:r>
                    </a:p>
                  </a:txBody>
                  <a:tcPr marL="54864" marR="54864" marT="18288" marB="18288" anchor="ctr">
                    <a:solidFill>
                      <a:srgbClr val="FFFFFF"/>
                    </a:solidFill>
                  </a:tcPr>
                </a:tc>
                <a:tc>
                  <a:txBody>
                    <a:bodyPr/>
                    <a:lstStyle/>
                    <a:p>
                      <a:pPr algn="ctr"/>
                      <a:r>
                        <a:rPr sz="1800" b="0">
                          <a:solidFill>
                            <a:srgbClr val="1F2A37"/>
                          </a:solidFill>
                          <a:latin typeface="Consolas"/>
                        </a:rPr>
                        <a:t>1</a:t>
                      </a:r>
                    </a:p>
                  </a:txBody>
                  <a:tcPr marL="54864" marR="54864" marT="18288" marB="18288" anchor="ctr">
                    <a:solidFill>
                      <a:srgbClr val="FFFFFF"/>
                    </a:solidFill>
                  </a:tcPr>
                </a:tc>
                <a:tc>
                  <a:txBody>
                    <a:bodyPr/>
                    <a:lstStyle/>
                    <a:p>
                      <a:pPr algn="ctr"/>
                      <a:r>
                        <a:rPr sz="1800" b="0">
                          <a:solidFill>
                            <a:srgbClr val="1F2A37"/>
                          </a:solidFill>
                          <a:latin typeface="Consolas"/>
                        </a:rPr>
                        <a:t>grün</a:t>
                      </a:r>
                    </a:p>
                  </a:txBody>
                  <a:tcPr marL="54864" marR="54864" marT="18288" marB="18288" anchor="ctr">
                    <a:solidFill>
                      <a:srgbClr val="FFFFFF"/>
                    </a:solidFill>
                  </a:tcPr>
                </a:tc>
              </a:tr>
              <a:tr h="434339">
                <a:tc>
                  <a:txBody>
                    <a:bodyPr/>
                    <a:lstStyle/>
                    <a:p>
                      <a:pPr algn="ctr"/>
                      <a:r>
                        <a:rPr sz="1800" b="1">
                          <a:solidFill>
                            <a:srgbClr val="C00000"/>
                          </a:solidFill>
                          <a:latin typeface="Consolas"/>
                        </a:rPr>
                        <a:t>angebrochen</a:t>
                      </a:r>
                    </a:p>
                  </a:txBody>
                  <a:tcPr marL="54864" marR="54864" marT="18288" marB="18288" anchor="ctr">
                    <a:solidFill>
                      <a:srgbClr val="EEF3FA"/>
                    </a:solidFill>
                  </a:tcPr>
                </a:tc>
                <a:tc>
                  <a:txBody>
                    <a:bodyPr/>
                    <a:lstStyle/>
                    <a:p>
                      <a:pPr algn="ctr"/>
                      <a:r>
                        <a:rPr sz="1800" b="1">
                          <a:solidFill>
                            <a:srgbClr val="C00000"/>
                          </a:solidFill>
                          <a:latin typeface="Consolas"/>
                        </a:rPr>
                        <a:t>3</a:t>
                      </a:r>
                    </a:p>
                  </a:txBody>
                  <a:tcPr marL="54864" marR="54864" marT="18288" marB="18288" anchor="ctr">
                    <a:solidFill>
                      <a:srgbClr val="EEF3FA"/>
                    </a:solidFill>
                  </a:tcPr>
                </a:tc>
                <a:tc>
                  <a:txBody>
                    <a:bodyPr/>
                    <a:lstStyle/>
                    <a:p>
                      <a:pPr algn="ctr"/>
                      <a:r>
                        <a:rPr sz="1800" b="1">
                          <a:solidFill>
                            <a:srgbClr val="C00000"/>
                          </a:solidFill>
                          <a:latin typeface="Consolas"/>
                        </a:rPr>
                        <a:t>2</a:t>
                      </a:r>
                    </a:p>
                  </a:txBody>
                  <a:tcPr marL="54864" marR="54864" marT="18288" marB="18288" anchor="ctr">
                    <a:solidFill>
                      <a:srgbClr val="EEF3FA"/>
                    </a:solidFill>
                  </a:tcPr>
                </a:tc>
                <a:tc>
                  <a:txBody>
                    <a:bodyPr/>
                    <a:lstStyle/>
                    <a:p>
                      <a:pPr algn="ctr"/>
                      <a:r>
                        <a:rPr sz="1800" b="1">
                          <a:solidFill>
                            <a:srgbClr val="C00000"/>
                          </a:solidFill>
                          <a:latin typeface="Consolas"/>
                        </a:rPr>
                        <a:t>rot</a:t>
                      </a:r>
                    </a:p>
                  </a:txBody>
                  <a:tcPr marL="54864" marR="54864" marT="18288" marB="18288" anchor="ctr">
                    <a:solidFill>
                      <a:srgbClr val="EEF3FA"/>
                    </a:solidFill>
                  </a:tcPr>
                </a:tc>
              </a:tr>
              <a:tr h="434339">
                <a:tc>
                  <a:txBody>
                    <a:bodyPr/>
                    <a:lstStyle/>
                    <a:p>
                      <a:pPr algn="ctr"/>
                      <a:r>
                        <a:rPr sz="1800" b="0">
                          <a:solidFill>
                            <a:srgbClr val="1F2A37"/>
                          </a:solidFill>
                          <a:latin typeface="Consolas"/>
                        </a:rPr>
                        <a:t>keinRaum</a:t>
                      </a:r>
                    </a:p>
                  </a:txBody>
                  <a:tcPr marL="54864" marR="54864" marT="18288" marB="18288" anchor="ctr">
                    <a:solidFill>
                      <a:srgbClr val="FFFFFF"/>
                    </a:solidFill>
                  </a:tcPr>
                </a:tc>
                <a:tc>
                  <a:txBody>
                    <a:bodyPr/>
                    <a:lstStyle/>
                    <a:p>
                      <a:pPr algn="ctr"/>
                      <a:r>
                        <a:rPr sz="1800" b="0">
                          <a:solidFill>
                            <a:srgbClr val="1F2A37"/>
                          </a:solidFill>
                          <a:latin typeface="Consolas"/>
                        </a:rPr>
                        <a:t>0</a:t>
                      </a:r>
                    </a:p>
                  </a:txBody>
                  <a:tcPr marL="54864" marR="54864" marT="18288" marB="18288" anchor="ctr">
                    <a:solidFill>
                      <a:srgbClr val="FFFFFF"/>
                    </a:solidFill>
                  </a:tcPr>
                </a:tc>
                <a:tc>
                  <a:txBody>
                    <a:bodyPr/>
                    <a:lstStyle/>
                    <a:p>
                      <a:pPr algn="ctr"/>
                      <a:r>
                        <a:rPr sz="1800" b="0">
                          <a:solidFill>
                            <a:srgbClr val="1F2A37"/>
                          </a:solidFill>
                          <a:latin typeface="Consolas"/>
                        </a:rPr>
                        <a:t>0</a:t>
                      </a:r>
                    </a:p>
                  </a:txBody>
                  <a:tcPr marL="54864" marR="54864" marT="18288" marB="18288" anchor="ctr">
                    <a:solidFill>
                      <a:srgbClr val="FFFFFF"/>
                    </a:solidFill>
                  </a:tcPr>
                </a:tc>
                <a:tc>
                  <a:txBody>
                    <a:bodyPr/>
                    <a:lstStyle/>
                    <a:p>
                      <a:pPr algn="ctr"/>
                      <a:r>
                        <a:rPr sz="1800" b="0">
                          <a:solidFill>
                            <a:srgbClr val="1F2A37"/>
                          </a:solidFill>
                          <a:latin typeface="Consolas"/>
                        </a:rPr>
                        <a:t>grün</a:t>
                      </a:r>
                    </a:p>
                  </a:txBody>
                  <a:tcPr marL="54864" marR="54864" marT="18288" marB="18288" anchor="ctr">
                    <a:solidFill>
                      <a:srgbClr val="FFFFFF"/>
                    </a:solidFill>
                  </a:tcPr>
                </a:tc>
              </a:tr>
            </a:tbl>
          </a:graphicData>
        </a:graphic>
      </p:graphicFrame>
      <p:sp>
        <p:nvSpPr>
          <p:cNvPr id="7" name="Rounded Rectangle 6"/>
          <p:cNvSpPr/>
          <p:nvPr/>
        </p:nvSpPr>
        <p:spPr>
          <a:xfrm>
            <a:off x="6858000" y="1325880"/>
            <a:ext cx="478505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0" y="1463039"/>
            <a:ext cx="4419295" cy="2377439"/>
          </a:xfrm>
          <a:prstGeom prst="rect">
            <a:avLst/>
          </a:prstGeom>
          <a:noFill/>
        </p:spPr>
        <p:txBody>
          <a:bodyPr wrap="square" anchor="t" lIns="45720" rIns="45720">
            <a:spAutoFit/>
          </a:bodyPr>
          <a:lstStyle/>
          <a:p>
            <a:pPr>
              <a:spcAft>
                <a:spcPts val="800"/>
              </a:spcAft>
            </a:pPr>
            <a:r>
              <a:rPr sz="2200" b="1" i="0">
                <a:solidFill>
                  <a:srgbClr val="C00000"/>
                </a:solidFill>
                <a:latin typeface="Calibri"/>
              </a:rPr>
              <a:t>Rot: angebrochen</a:t>
            </a:r>
            <a:r>
              <a:rPr sz="2000" b="0" i="0">
                <a:solidFill>
                  <a:srgbClr val="1F2A37"/>
                </a:solidFill>
                <a:latin typeface="Calibri"/>
              </a:rPr>
              <a:t/>
            </a:r>
          </a:p>
          <a:p>
            <a:pPr>
              <a:spcAft>
                <a:spcPts val="600"/>
              </a:spcAft>
            </a:pPr>
            <a:r>
              <a:rPr sz="2000" b="0" i="0">
                <a:solidFill>
                  <a:srgbClr val="1F2A37"/>
                </a:solidFill>
                <a:latin typeface="Calibri"/>
              </a:rPr>
              <a:t>„7 Raeume: 3 Fackeln“</a:t>
            </a:r>
            <a:r>
              <a:rPr sz="2000" b="0" i="0">
                <a:solidFill>
                  <a:srgbClr val="1F2A37"/>
                </a:solidFill>
                <a:latin typeface="Calibri"/>
              </a:rPr>
              <a:t/>
            </a:r>
          </a:p>
          <a:p>
            <a:pPr>
              <a:spcAft>
                <a:spcPts val="600"/>
              </a:spcAft>
            </a:pPr>
            <a:r>
              <a:rPr sz="2000" b="0" i="0">
                <a:solidFill>
                  <a:srgbClr val="1F2A37"/>
                </a:solidFill>
                <a:latin typeface="Calibri"/>
              </a:rPr>
              <a:t>erwartet 3, tatsächlich 2</a:t>
            </a:r>
            <a:r>
              <a:rPr sz="2000" b="0" i="0">
                <a:solidFill>
                  <a:srgbClr val="1F2A37"/>
                </a:solidFill>
                <a:latin typeface="Calibri"/>
              </a:rPr>
              <a:t/>
            </a:r>
          </a:p>
          <a:p>
            <a:pPr>
              <a:spcAft>
                <a:spcPts val="600"/>
              </a:spcAft>
            </a:pPr>
            <a:r>
              <a:rPr sz="1900" b="0" i="0">
                <a:solidFill>
                  <a:srgbClr val="1F4E79"/>
                </a:solidFill>
                <a:latin typeface="Consolas"/>
              </a:rPr>
              <a:t>7 / 3</a:t>
            </a:r>
            <a:r>
              <a:rPr sz="2000" b="0" i="0">
                <a:solidFill>
                  <a:srgbClr val="1F2A37"/>
                </a:solidFill>
                <a:latin typeface="Calibri"/>
              </a:rPr>
              <a:t> ist ganzzahlig </a:t>
            </a:r>
            <a:r>
              <a:rPr sz="2000" b="1" i="0">
                <a:solidFill>
                  <a:srgbClr val="1F2A37"/>
                </a:solidFill>
                <a:latin typeface="Calibri"/>
              </a:rPr>
              <a:t>2</a:t>
            </a:r>
            <a:r>
              <a:rPr sz="2000" b="0" i="0">
                <a:solidFill>
                  <a:srgbClr val="1F2A37"/>
                </a:solidFill>
                <a:latin typeface="Calibri"/>
              </a:rPr>
              <a:t> (</a:t>
            </a:r>
            <a:r>
              <a:rPr sz="2000" b="1" i="0">
                <a:solidFill>
                  <a:srgbClr val="1F2A37"/>
                </a:solidFill>
                <a:latin typeface="Calibri"/>
              </a:rPr>
              <a:t>P4</a:t>
            </a:r>
            <a:r>
              <a:rPr sz="2000" b="0" i="0">
                <a:solidFill>
                  <a:srgbClr val="1F2A37"/>
                </a:solidFill>
                <a:latin typeface="Calibri"/>
              </a:rPr>
              <a:t>)</a:t>
            </a:r>
            <a:r>
              <a:rPr sz="20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Korrigiert: alle Tests grün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772400" cy="1385316"/>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7589520" cy="1293875"/>
          </a:xfrm>
          <a:prstGeom prst="rect">
            <a:avLst/>
          </a:prstGeom>
          <a:noFill/>
        </p:spPr>
        <p:txBody>
          <a:bodyPr wrap="square" anchor="t" lIns="45720" rIns="45720">
            <a:spAutoFit/>
          </a:bodyPr>
          <a:lstStyle/>
          <a:p>
            <a:pPr>
              <a:lnSpc>
                <a:spcPct val="100000"/>
              </a:lnSpc>
            </a:pPr>
            <a:r>
              <a:rPr sz="2300" b="0" i="0">
                <a:solidFill>
                  <a:srgbClr val="A0A7B1"/>
                </a:solidFill>
                <a:latin typeface="Consolas"/>
              </a:rPr>
              <a:t>1  </a:t>
            </a:r>
            <a:r>
              <a:rPr sz="2300" b="0" i="0">
                <a:solidFill>
                  <a:srgbClr val="1F2A37"/>
                </a:solidFill>
                <a:latin typeface="Consolas"/>
              </a:rPr>
              <a:t>public static int fackeln(int raeume) {</a:t>
            </a:r>
          </a:p>
          <a:p>
            <a:pPr>
              <a:lnSpc>
                <a:spcPct val="100000"/>
              </a:lnSpc>
            </a:pPr>
            <a:r>
              <a:rPr sz="2300" b="0" i="0">
                <a:solidFill>
                  <a:srgbClr val="A0A7B1"/>
                </a:solidFill>
                <a:latin typeface="Consolas"/>
              </a:rPr>
              <a:t>2  </a:t>
            </a:r>
            <a:r>
              <a:rPr sz="2300" b="1" i="0">
                <a:solidFill>
                  <a:srgbClr val="C00000"/>
                </a:solidFill>
                <a:latin typeface="Consolas"/>
              </a:rPr>
              <a:t>    return (raeume + 2) / 3;</a:t>
            </a:r>
          </a:p>
          <a:p>
            <a:pPr>
              <a:lnSpc>
                <a:spcPct val="100000"/>
              </a:lnSpc>
            </a:pPr>
            <a:r>
              <a:rPr sz="2300" b="0" i="0">
                <a:solidFill>
                  <a:srgbClr val="A0A7B1"/>
                </a:solidFill>
                <a:latin typeface="Consolas"/>
              </a:rPr>
              <a:t>3  </a:t>
            </a:r>
            <a:r>
              <a:rPr sz="2300" b="0" i="0">
                <a:solidFill>
                  <a:srgbClr val="1F2A37"/>
                </a:solidFill>
                <a:latin typeface="Consolas"/>
              </a:rPr>
              <a:t>}</a:t>
            </a:r>
          </a:p>
        </p:txBody>
      </p:sp>
      <p:sp>
        <p:nvSpPr>
          <p:cNvPr id="7" name="TextBox 6"/>
          <p:cNvSpPr txBox="1"/>
          <p:nvPr/>
        </p:nvSpPr>
        <p:spPr>
          <a:xfrm>
            <a:off x="548640" y="2939796"/>
            <a:ext cx="7772400" cy="3415284"/>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+ 2 vor dem Teilen rundet </a:t>
            </a:r>
            <a:r>
              <a:rPr sz="2200" b="1" i="0">
                <a:solidFill>
                  <a:srgbClr val="1F2A37"/>
                </a:solidFill>
                <a:latin typeface="Calibri"/>
              </a:rPr>
              <a:t>auf</a:t>
            </a:r>
            <a:r>
              <a:rPr sz="2200" b="0" i="0">
                <a:solidFill>
                  <a:srgbClr val="1F2A37"/>
                </a:solidFill>
                <a:latin typeface="Calibri"/>
              </a:rPr>
              <a:t/>
            </a:r>
          </a:p>
          <a:p>
            <a:pPr>
              <a:spcAft>
                <a:spcPts val="1000"/>
              </a:spcAft>
            </a:pPr>
            <a:r>
              <a:rPr sz="2200" b="1" i="0">
                <a:solidFill>
                  <a:srgbClr val="B8860B"/>
                </a:solidFill>
                <a:latin typeface="Calibri"/>
              </a:rPr>
              <a:t>▸ </a:t>
            </a:r>
            <a:r>
              <a:rPr sz="2100" b="0" i="0">
                <a:solidFill>
                  <a:srgbClr val="1F4E79"/>
                </a:solidFill>
                <a:latin typeface="Consolas"/>
              </a:rPr>
              <a:t>(7 + 2) / 3</a:t>
            </a:r>
            <a:r>
              <a:rPr sz="2200" b="0" i="0">
                <a:solidFill>
                  <a:srgbClr val="1F2A37"/>
                </a:solidFill>
                <a:latin typeface="Calibri"/>
              </a:rPr>
              <a:t> = 3 · </a:t>
            </a:r>
            <a:r>
              <a:rPr sz="2100" b="0" i="0">
                <a:solidFill>
                  <a:srgbClr val="1F4E79"/>
                </a:solidFill>
                <a:latin typeface="Consolas"/>
              </a:rPr>
              <a:t>(3 + 2) / 3</a:t>
            </a:r>
            <a:r>
              <a:rPr sz="2200" b="0" i="0">
                <a:solidFill>
                  <a:srgbClr val="1F2A37"/>
                </a:solidFill>
                <a:latin typeface="Calibri"/>
              </a:rPr>
              <a:t> = 1 · </a:t>
            </a:r>
            <a:r>
              <a:rPr sz="2100" b="0" i="0">
                <a:solidFill>
                  <a:srgbClr val="1F4E79"/>
                </a:solidFill>
                <a:latin typeface="Consolas"/>
              </a:rPr>
              <a:t>(0 + 2) / 3</a:t>
            </a:r>
            <a:r>
              <a:rPr sz="2200" b="0" i="0">
                <a:solidFill>
                  <a:srgbClr val="1F2A37"/>
                </a:solidFill>
                <a:latin typeface="Calibri"/>
              </a:rPr>
              <a:t> = 0</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Alle Tests neu starten: </a:t>
            </a:r>
            <a:r>
              <a:rPr sz="2200" b="1" i="0">
                <a:solidFill>
                  <a:srgbClr val="1F2A37"/>
                </a:solidFill>
                <a:latin typeface="Calibri"/>
              </a:rPr>
              <a:t>3 von 3 grün</a:t>
            </a:r>
            <a:r>
              <a:rPr sz="22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Kurz pausieren: Jetzt du!</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39"/>
            <a:ext cx="3017520" cy="548640"/>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FFFFFF"/>
                </a:solidFill>
                <a:latin typeface="Calibri"/>
              </a:rPr>
              <a:t>⏸  Video anhalten</a:t>
            </a:r>
          </a:p>
        </p:txBody>
      </p:sp>
      <p:sp>
        <p:nvSpPr>
          <p:cNvPr id="6" name="TextBox 5"/>
          <p:cNvSpPr txBox="1"/>
          <p:nvPr/>
        </p:nvSpPr>
        <p:spPr>
          <a:xfrm>
            <a:off x="548640" y="2240280"/>
            <a:ext cx="6675120" cy="1517904"/>
          </a:xfrm>
          <a:prstGeom prst="rect">
            <a:avLst/>
          </a:prstGeom>
          <a:noFill/>
        </p:spPr>
        <p:txBody>
          <a:bodyPr wrap="square" anchor="t" lIns="45720" rIns="45720">
            <a:spAutoFit/>
          </a:bodyPr>
          <a:lstStyle/>
          <a:p>
            <a:r>
              <a:rPr sz="2400" b="0" i="0">
                <a:solidFill>
                  <a:srgbClr val="1F2A37"/>
                </a:solidFill>
                <a:latin typeface="Calibri"/>
              </a:rPr>
              <a:t>Schreib einen </a:t>
            </a:r>
            <a:r>
              <a:rPr sz="2400" b="1" i="0">
                <a:solidFill>
                  <a:srgbClr val="1F2A37"/>
                </a:solidFill>
                <a:latin typeface="Calibri"/>
              </a:rPr>
              <a:t>eigenen Test</a:t>
            </a:r>
            <a:r>
              <a:rPr sz="2400" b="0" i="0">
                <a:solidFill>
                  <a:srgbClr val="1F2A37"/>
                </a:solidFill>
                <a:latin typeface="Calibri"/>
              </a:rPr>
              <a:t> </a:t>
            </a:r>
            <a:r>
              <a:rPr sz="2300" b="0" i="0">
                <a:solidFill>
                  <a:srgbClr val="1F4E79"/>
                </a:solidFill>
                <a:latin typeface="Consolas"/>
              </a:rPr>
              <a:t>zehnRaeume</a:t>
            </a:r>
            <a:r>
              <a:rPr sz="2400" b="0" i="0">
                <a:solidFill>
                  <a:srgbClr val="1F2A37"/>
                </a:solidFill>
                <a:latin typeface="Calibri"/>
              </a:rPr>
              <a:t> für 10 Räume. Wie lautet die Zeile mit </a:t>
            </a:r>
            <a:r>
              <a:rPr sz="2300" b="0" i="0">
                <a:solidFill>
                  <a:srgbClr val="1F4E79"/>
                </a:solidFill>
                <a:latin typeface="Consolas"/>
              </a:rPr>
              <a:t>assertEquals</a:t>
            </a:r>
            <a:r>
              <a:rPr sz="2400" b="0" i="0">
                <a:solidFill>
                  <a:srgbClr val="1F2A37"/>
                </a:solidFill>
                <a:latin typeface="Calibri"/>
              </a:rPr>
              <a:t>? Was hätte der erste Versuch </a:t>
            </a:r>
            <a:r>
              <a:rPr sz="2300" b="0" i="0">
                <a:solidFill>
                  <a:srgbClr val="1F4E79"/>
                </a:solidFill>
                <a:latin typeface="Consolas"/>
              </a:rPr>
              <a:t>raeume / 3</a:t>
            </a:r>
            <a:r>
              <a:rPr sz="2400" b="0" i="0">
                <a:solidFill>
                  <a:srgbClr val="1F2A37"/>
                </a:solidFill>
                <a:latin typeface="Calibri"/>
              </a:rPr>
              <a:t> geliefert?</a:t>
            </a:r>
          </a:p>
        </p:txBody>
      </p:sp>
      <p:sp>
        <p:nvSpPr>
          <p:cNvPr id="7" name="Rounded Rectangle 6"/>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Tipp</a:t>
            </a:r>
            <a:r>
              <a:rPr sz="2000" b="0" i="0">
                <a:solidFill>
                  <a:srgbClr val="1F2A37"/>
                </a:solidFill>
                <a:latin typeface="Calibri"/>
              </a:rPr>
              <a:t/>
            </a:r>
          </a:p>
          <a:p>
            <a:pPr>
              <a:spcAft>
                <a:spcPts val="600"/>
              </a:spcAft>
            </a:pPr>
            <a:r>
              <a:rPr sz="2000" b="0" i="0">
                <a:solidFill>
                  <a:srgbClr val="1F2A37"/>
                </a:solidFill>
                <a:latin typeface="Calibri"/>
              </a:rPr>
              <a:t>Reihenfolge: erwartet, tatsächlich, Meldung</a:t>
            </a:r>
            <a:r>
              <a:rPr sz="20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Auflösung: der Test zehnRaeume</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772400" cy="1904999"/>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7589520" cy="1813559"/>
          </a:xfrm>
          <a:prstGeom prst="rect">
            <a:avLst/>
          </a:prstGeom>
          <a:noFill/>
        </p:spPr>
        <p:txBody>
          <a:bodyPr wrap="square" anchor="t" lIns="45720" rIns="45720">
            <a:spAutoFit/>
          </a:bodyPr>
          <a:lstStyle/>
          <a:p>
            <a:pPr>
              <a:lnSpc>
                <a:spcPct val="100000"/>
              </a:lnSpc>
            </a:pPr>
            <a:r>
              <a:rPr sz="2000" b="0" i="0">
                <a:solidFill>
                  <a:srgbClr val="A0A7B1"/>
                </a:solidFill>
                <a:latin typeface="Consolas"/>
              </a:rPr>
              <a:t>1  </a:t>
            </a:r>
            <a:r>
              <a:rPr sz="2000" b="0" i="0">
                <a:solidFill>
                  <a:srgbClr val="1F2A37"/>
                </a:solidFill>
                <a:latin typeface="Consolas"/>
              </a:rPr>
              <a:t>@Test</a:t>
            </a:r>
          </a:p>
          <a:p>
            <a:pPr>
              <a:lnSpc>
                <a:spcPct val="100000"/>
              </a:lnSpc>
            </a:pPr>
            <a:r>
              <a:rPr sz="2000" b="0" i="0">
                <a:solidFill>
                  <a:srgbClr val="A0A7B1"/>
                </a:solidFill>
                <a:latin typeface="Consolas"/>
              </a:rPr>
              <a:t>2  </a:t>
            </a:r>
            <a:r>
              <a:rPr sz="2000" b="0" i="0">
                <a:solidFill>
                  <a:srgbClr val="1F2A37"/>
                </a:solidFill>
                <a:latin typeface="Consolas"/>
              </a:rPr>
              <a:t>public void zehnRaeume() {</a:t>
            </a:r>
          </a:p>
          <a:p>
            <a:pPr>
              <a:lnSpc>
                <a:spcPct val="100000"/>
              </a:lnSpc>
            </a:pPr>
            <a:r>
              <a:rPr sz="2000" b="0" i="0">
                <a:solidFill>
                  <a:srgbClr val="A0A7B1"/>
                </a:solidFill>
                <a:latin typeface="Consolas"/>
              </a:rPr>
              <a:t>3  </a:t>
            </a:r>
            <a:r>
              <a:rPr sz="2000" b="0" i="0">
                <a:solidFill>
                  <a:srgbClr val="1F2A37"/>
                </a:solidFill>
                <a:latin typeface="Consolas"/>
              </a:rPr>
              <a:t>    assertEquals(4, Fackellager.fackeln(10),</a:t>
            </a:r>
          </a:p>
          <a:p>
            <a:pPr>
              <a:lnSpc>
                <a:spcPct val="100000"/>
              </a:lnSpc>
            </a:pPr>
            <a:r>
              <a:rPr sz="2000" b="0" i="0">
                <a:solidFill>
                  <a:srgbClr val="A0A7B1"/>
                </a:solidFill>
                <a:latin typeface="Consolas"/>
              </a:rPr>
              <a:t>4  </a:t>
            </a:r>
            <a:r>
              <a:rPr sz="2000" b="0" i="0">
                <a:solidFill>
                  <a:srgbClr val="1F2A37"/>
                </a:solidFill>
                <a:latin typeface="Consolas"/>
              </a:rPr>
              <a:t>                 "10 Raeume: 4 Fackeln");</a:t>
            </a:r>
          </a:p>
          <a:p>
            <a:pPr>
              <a:lnSpc>
                <a:spcPct val="100000"/>
              </a:lnSpc>
            </a:pPr>
            <a:r>
              <a:rPr sz="2000" b="0" i="0">
                <a:solidFill>
                  <a:srgbClr val="A0A7B1"/>
                </a:solidFill>
                <a:latin typeface="Consolas"/>
              </a:rPr>
              <a:t>5  </a:t>
            </a:r>
            <a:r>
              <a:rPr sz="2000" b="0" i="0">
                <a:solidFill>
                  <a:srgbClr val="1F2A37"/>
                </a:solidFill>
                <a:latin typeface="Consolas"/>
              </a:rPr>
              <a:t>}</a:t>
            </a:r>
          </a:p>
        </p:txBody>
      </p:sp>
      <p:sp>
        <p:nvSpPr>
          <p:cNvPr id="7" name="TextBox 6"/>
          <p:cNvSpPr txBox="1"/>
          <p:nvPr/>
        </p:nvSpPr>
        <p:spPr>
          <a:xfrm>
            <a:off x="548640" y="3459480"/>
            <a:ext cx="7772400" cy="289560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Erster Versuch: </a:t>
            </a:r>
            <a:r>
              <a:rPr sz="2100" b="0" i="0">
                <a:solidFill>
                  <a:srgbClr val="1F4E79"/>
                </a:solidFill>
                <a:latin typeface="Consolas"/>
              </a:rPr>
              <a:t>10 / 3</a:t>
            </a:r>
            <a:r>
              <a:rPr sz="2200" b="0" i="0">
                <a:solidFill>
                  <a:srgbClr val="1F2A37"/>
                </a:solidFill>
                <a:latin typeface="Calibri"/>
              </a:rPr>
              <a:t> = </a:t>
            </a:r>
            <a:r>
              <a:rPr sz="2200" b="1" i="0">
                <a:solidFill>
                  <a:srgbClr val="1F2A37"/>
                </a:solidFill>
                <a:latin typeface="Calibri"/>
              </a:rPr>
              <a:t>3</a:t>
            </a:r>
            <a:r>
              <a:rPr sz="2200" b="0" i="0">
                <a:solidFill>
                  <a:srgbClr val="1F2A37"/>
                </a:solidFill>
                <a:latin typeface="Calibri"/>
              </a:rPr>
              <a:t> → Test rot</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Korrigiert: </a:t>
            </a:r>
            <a:r>
              <a:rPr sz="2100" b="0" i="0">
                <a:solidFill>
                  <a:srgbClr val="1F4E79"/>
                </a:solidFill>
                <a:latin typeface="Consolas"/>
              </a:rPr>
              <a:t>(10 + 2) / 3</a:t>
            </a:r>
            <a:r>
              <a:rPr sz="2200" b="0" i="0">
                <a:solidFill>
                  <a:srgbClr val="1F2A37"/>
                </a:solidFill>
                <a:latin typeface="Calibri"/>
              </a:rPr>
              <a:t> = </a:t>
            </a:r>
            <a:r>
              <a:rPr sz="2200" b="1" i="0">
                <a:solidFill>
                  <a:srgbClr val="1F2A37"/>
                </a:solidFill>
                <a:latin typeface="Calibri"/>
              </a:rPr>
              <a:t>4</a:t>
            </a:r>
            <a:r>
              <a:rPr sz="2200" b="0" i="0">
                <a:solidFill>
                  <a:srgbClr val="1F2A37"/>
                </a:solidFill>
                <a:latin typeface="Calibri"/>
              </a:rPr>
              <a:t> → Test grün</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Gute Tests prüfen </a:t>
            </a:r>
            <a:r>
              <a:rPr sz="2200" b="1" i="0">
                <a:solidFill>
                  <a:srgbClr val="1F2A37"/>
                </a:solidFill>
                <a:latin typeface="Calibri"/>
              </a:rPr>
              <a:t>Grenzfälle</a:t>
            </a:r>
            <a:r>
              <a:rPr sz="2200" b="0" i="0">
                <a:solidFill>
                  <a:srgbClr val="1F2A37"/>
                </a:solidFill>
                <a:latin typeface="Calibri"/>
              </a:rPr>
              <a:t>: 0, genau voll, angebrochen</a:t>
            </a:r>
            <a:r>
              <a:rPr sz="22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Hauptprogramm und println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772400" cy="1636776"/>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7589520" cy="1545336"/>
          </a:xfrm>
          <a:prstGeom prst="rect">
            <a:avLst/>
          </a:prstGeom>
          <a:noFill/>
        </p:spPr>
        <p:txBody>
          <a:bodyPr wrap="square" anchor="t" lIns="45720" rIns="45720">
            <a:spAutoFit/>
          </a:bodyPr>
          <a:lstStyle/>
          <a:p>
            <a:pPr>
              <a:lnSpc>
                <a:spcPct val="100000"/>
              </a:lnSpc>
            </a:pPr>
            <a:r>
              <a:rPr sz="2100" b="0" i="0">
                <a:solidFill>
                  <a:srgbClr val="A0A7B1"/>
                </a:solidFill>
                <a:latin typeface="Consolas"/>
              </a:rPr>
              <a:t>1  </a:t>
            </a:r>
            <a:r>
              <a:rPr sz="2100" b="0" i="0">
                <a:solidFill>
                  <a:srgbClr val="1F2A37"/>
                </a:solidFill>
                <a:latin typeface="Consolas"/>
              </a:rPr>
              <a:t>// ausserhalb aller Klassen: Hauptprogramm</a:t>
            </a:r>
          </a:p>
          <a:p>
            <a:pPr>
              <a:lnSpc>
                <a:spcPct val="100000"/>
              </a:lnSpc>
            </a:pPr>
            <a:r>
              <a:rPr sz="2100" b="0" i="0">
                <a:solidFill>
                  <a:srgbClr val="A0A7B1"/>
                </a:solidFill>
                <a:latin typeface="Consolas"/>
              </a:rPr>
              <a:t>2  </a:t>
            </a:r>
            <a:r>
              <a:rPr sz="2100" b="0" i="0">
                <a:solidFill>
                  <a:srgbClr val="1F2A37"/>
                </a:solidFill>
                <a:latin typeface="Consolas"/>
              </a:rPr>
              <a:t>int r = 7;</a:t>
            </a:r>
          </a:p>
          <a:p>
            <a:pPr>
              <a:lnSpc>
                <a:spcPct val="100000"/>
              </a:lnSpc>
            </a:pPr>
            <a:r>
              <a:rPr sz="2100" b="0" i="0">
                <a:solidFill>
                  <a:srgbClr val="A0A7B1"/>
                </a:solidFill>
                <a:latin typeface="Consolas"/>
              </a:rPr>
              <a:t>3  </a:t>
            </a:r>
            <a:r>
              <a:rPr sz="2100" b="0" i="0">
                <a:solidFill>
                  <a:srgbClr val="1F2A37"/>
                </a:solidFill>
                <a:latin typeface="Consolas"/>
              </a:rPr>
              <a:t>println("Fackeln fuer " + r + " Raeume: "</a:t>
            </a:r>
          </a:p>
          <a:p>
            <a:pPr>
              <a:lnSpc>
                <a:spcPct val="100000"/>
              </a:lnSpc>
            </a:pPr>
            <a:r>
              <a:rPr sz="2100" b="0" i="0">
                <a:solidFill>
                  <a:srgbClr val="A0A7B1"/>
                </a:solidFill>
                <a:latin typeface="Consolas"/>
              </a:rPr>
              <a:t>4  </a:t>
            </a:r>
            <a:r>
              <a:rPr sz="2100" b="0" i="0">
                <a:solidFill>
                  <a:srgbClr val="1F2A37"/>
                </a:solidFill>
                <a:latin typeface="Consolas"/>
              </a:rPr>
              <a:t>        + Fackellager.fackeln(r));</a:t>
            </a:r>
          </a:p>
        </p:txBody>
      </p:sp>
      <p:sp>
        <p:nvSpPr>
          <p:cNvPr id="7" name="TextBox 6"/>
          <p:cNvSpPr txBox="1"/>
          <p:nvPr/>
        </p:nvSpPr>
        <p:spPr>
          <a:xfrm>
            <a:off x="548640" y="3191256"/>
            <a:ext cx="7772400" cy="3163824"/>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Ausgabe: </a:t>
            </a:r>
            <a:r>
              <a:rPr sz="2100" b="0" i="0">
                <a:solidFill>
                  <a:srgbClr val="1F4E79"/>
                </a:solidFill>
                <a:latin typeface="Consolas"/>
              </a:rPr>
              <a:t>Fackeln fuer 7 Raeume: 3</a:t>
            </a:r>
            <a:r>
              <a:rPr sz="2200" b="0" i="0">
                <a:solidFill>
                  <a:srgbClr val="1F2A37"/>
                </a:solidFill>
                <a:latin typeface="Calibri"/>
              </a:rPr>
              <a:t/>
            </a:r>
          </a:p>
          <a:p>
            <a:pPr>
              <a:spcAft>
                <a:spcPts val="1000"/>
              </a:spcAft>
            </a:pPr>
            <a:r>
              <a:rPr sz="2200" b="1" i="0">
                <a:solidFill>
                  <a:srgbClr val="B8860B"/>
                </a:solidFill>
                <a:latin typeface="Calibri"/>
              </a:rPr>
              <a:t>▸ </a:t>
            </a:r>
            <a:r>
              <a:rPr sz="2100" b="0" i="0">
                <a:solidFill>
                  <a:srgbClr val="1F4E79"/>
                </a:solidFill>
                <a:latin typeface="Consolas"/>
              </a:rPr>
              <a:t>println(…)</a:t>
            </a:r>
            <a:r>
              <a:rPr sz="2200" b="0" i="0">
                <a:solidFill>
                  <a:srgbClr val="1F2A37"/>
                </a:solidFill>
                <a:latin typeface="Calibri"/>
              </a:rPr>
              <a:t> </a:t>
            </a:r>
            <a:r>
              <a:rPr sz="2200" b="1" i="0">
                <a:solidFill>
                  <a:srgbClr val="1F2A37"/>
                </a:solidFill>
                <a:latin typeface="Calibri"/>
              </a:rPr>
              <a:t>ohne</a:t>
            </a:r>
            <a:r>
              <a:rPr sz="2200" b="0" i="0">
                <a:solidFill>
                  <a:srgbClr val="1F2A37"/>
                </a:solidFill>
                <a:latin typeface="Calibri"/>
              </a:rPr>
              <a:t> </a:t>
            </a:r>
            <a:r>
              <a:rPr sz="2100" b="0" i="0">
                <a:solidFill>
                  <a:srgbClr val="1F4E79"/>
                </a:solidFill>
                <a:latin typeface="Consolas"/>
              </a:rPr>
              <a:t>System.out</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Anweisungen </a:t>
            </a:r>
            <a:r>
              <a:rPr sz="2200" b="1" i="0">
                <a:solidFill>
                  <a:srgbClr val="1F2A37"/>
                </a:solidFill>
                <a:latin typeface="Calibri"/>
              </a:rPr>
              <a:t>außerhalb</a:t>
            </a:r>
            <a:r>
              <a:rPr sz="2200" b="0" i="0">
                <a:solidFill>
                  <a:srgbClr val="1F2A37"/>
                </a:solidFill>
                <a:latin typeface="Calibri"/>
              </a:rPr>
              <a:t> von Klassen = Hauptprogramm</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Start mit dem grünen </a:t>
            </a:r>
            <a:r>
              <a:rPr sz="2200" b="1" i="0">
                <a:solidFill>
                  <a:srgbClr val="1F2A37"/>
                </a:solidFill>
                <a:latin typeface="Calibri"/>
              </a:rPr>
              <a:t>Startknopf</a:t>
            </a:r>
            <a:r>
              <a:rPr sz="22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Ab Welt 4: Bibliothek „Niedersachsen“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772400" cy="2072640"/>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7589520" cy="1981200"/>
          </a:xfrm>
          <a:prstGeom prst="rect">
            <a:avLst/>
          </a:prstGeom>
          <a:noFill/>
        </p:spPr>
        <p:txBody>
          <a:bodyPr wrap="square" anchor="t" lIns="45720" rIns="45720">
            <a:spAutoFit/>
          </a:bodyPr>
          <a:lstStyle/>
          <a:p>
            <a:pPr>
              <a:lnSpc>
                <a:spcPct val="100000"/>
              </a:lnSpc>
            </a:pPr>
            <a:r>
              <a:rPr sz="2200" b="0" i="0">
                <a:solidFill>
                  <a:srgbClr val="A0A7B1"/>
                </a:solidFill>
                <a:latin typeface="Consolas"/>
              </a:rPr>
              <a:t>1  </a:t>
            </a:r>
            <a:r>
              <a:rPr sz="2200" b="0" i="0">
                <a:solidFill>
                  <a:srgbClr val="1F2A37"/>
                </a:solidFill>
                <a:latin typeface="Consolas"/>
              </a:rPr>
              <a:t>Stack kisten = new Stack();</a:t>
            </a:r>
          </a:p>
          <a:p>
            <a:pPr>
              <a:lnSpc>
                <a:spcPct val="100000"/>
              </a:lnSpc>
            </a:pPr>
            <a:r>
              <a:rPr sz="2200" b="0" i="0">
                <a:solidFill>
                  <a:srgbClr val="A0A7B1"/>
                </a:solidFill>
                <a:latin typeface="Consolas"/>
              </a:rPr>
              <a:t>2  </a:t>
            </a:r>
            <a:r>
              <a:rPr sz="2200" b="0" i="0">
                <a:solidFill>
                  <a:srgbClr val="1F2A37"/>
                </a:solidFill>
                <a:latin typeface="Consolas"/>
              </a:rPr>
              <a:t>kisten.push(5);</a:t>
            </a:r>
          </a:p>
          <a:p>
            <a:pPr>
              <a:lnSpc>
                <a:spcPct val="100000"/>
              </a:lnSpc>
            </a:pPr>
            <a:r>
              <a:rPr sz="2200" b="0" i="0">
                <a:solidFill>
                  <a:srgbClr val="A0A7B1"/>
                </a:solidFill>
                <a:latin typeface="Consolas"/>
              </a:rPr>
              <a:t>3  </a:t>
            </a:r>
            <a:r>
              <a:rPr sz="2200" b="0" i="0">
                <a:solidFill>
                  <a:srgbClr val="1F2A37"/>
                </a:solidFill>
                <a:latin typeface="Consolas"/>
              </a:rPr>
              <a:t>kisten.push(8);</a:t>
            </a:r>
          </a:p>
          <a:p>
            <a:pPr>
              <a:lnSpc>
                <a:spcPct val="100000"/>
              </a:lnSpc>
            </a:pPr>
            <a:r>
              <a:rPr sz="2200" b="0" i="0">
                <a:solidFill>
                  <a:srgbClr val="A0A7B1"/>
                </a:solidFill>
                <a:latin typeface="Consolas"/>
              </a:rPr>
              <a:t>4  </a:t>
            </a:r>
            <a:r>
              <a:rPr sz="2200" b="1" i="0">
                <a:solidFill>
                  <a:srgbClr val="C00000"/>
                </a:solidFill>
                <a:latin typeface="Consolas"/>
              </a:rPr>
              <a:t>int oben = (Integer) kisten.pop();</a:t>
            </a:r>
          </a:p>
          <a:p>
            <a:pPr>
              <a:lnSpc>
                <a:spcPct val="100000"/>
              </a:lnSpc>
            </a:pPr>
            <a:r>
              <a:rPr sz="2200" b="0" i="0">
                <a:solidFill>
                  <a:srgbClr val="A0A7B1"/>
                </a:solidFill>
                <a:latin typeface="Consolas"/>
              </a:rPr>
              <a:t>5  </a:t>
            </a:r>
            <a:r>
              <a:rPr sz="2200" b="0" i="0">
                <a:solidFill>
                  <a:srgbClr val="1F2A37"/>
                </a:solidFill>
                <a:latin typeface="Consolas"/>
              </a:rPr>
              <a:t>println(oben);  </a:t>
            </a:r>
            <a:r>
              <a:rPr sz="2200" b="0" i="0">
                <a:solidFill>
                  <a:srgbClr val="5F7F5F"/>
                </a:solidFill>
                <a:latin typeface="Consolas"/>
              </a:rPr>
              <a:t> // 8</a:t>
            </a:r>
          </a:p>
        </p:txBody>
      </p:sp>
      <p:sp>
        <p:nvSpPr>
          <p:cNvPr id="7" name="TextBox 6"/>
          <p:cNvSpPr txBox="1"/>
          <p:nvPr/>
        </p:nvSpPr>
        <p:spPr>
          <a:xfrm>
            <a:off x="548640" y="3627120"/>
            <a:ext cx="7772400" cy="2727959"/>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Einschalten: Rechtsklick auf den Workspace → „Einstellungen“ → Häkchen </a:t>
            </a:r>
            <a:r>
              <a:rPr sz="2200" b="1" i="0">
                <a:solidFill>
                  <a:srgbClr val="1F2A37"/>
                </a:solidFill>
                <a:latin typeface="Calibri"/>
              </a:rPr>
              <a:t>„Niedersachsen“</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Dann gibt es </a:t>
            </a:r>
            <a:r>
              <a:rPr sz="2100" b="0" i="0">
                <a:solidFill>
                  <a:srgbClr val="1F4E79"/>
                </a:solidFill>
                <a:latin typeface="Consolas"/>
              </a:rPr>
              <a:t>Stack</a:t>
            </a:r>
            <a:r>
              <a:rPr sz="2200" b="0" i="0">
                <a:solidFill>
                  <a:srgbClr val="1F2A37"/>
                </a:solidFill>
                <a:latin typeface="Calibri"/>
              </a:rPr>
              <a:t>, </a:t>
            </a:r>
            <a:r>
              <a:rPr sz="2100" b="0" i="0">
                <a:solidFill>
                  <a:srgbClr val="1F4E79"/>
                </a:solidFill>
                <a:latin typeface="Consolas"/>
              </a:rPr>
              <a:t>Queue</a:t>
            </a:r>
            <a:r>
              <a:rPr sz="2200" b="0" i="0">
                <a:solidFill>
                  <a:srgbClr val="1F2A37"/>
                </a:solidFill>
                <a:latin typeface="Calibri"/>
              </a:rPr>
              <a:t>, </a:t>
            </a:r>
            <a:r>
              <a:rPr sz="2100" b="0" i="0">
                <a:solidFill>
                  <a:srgbClr val="1F4E79"/>
                </a:solidFill>
                <a:latin typeface="Consolas"/>
              </a:rPr>
              <a:t>DynArray</a:t>
            </a:r>
            <a:r>
              <a:rPr sz="2200" b="0" i="0">
                <a:solidFill>
                  <a:srgbClr val="1F2A37"/>
                </a:solidFill>
                <a:latin typeface="Calibri"/>
              </a:rPr>
              <a:t>, </a:t>
            </a:r>
            <a:r>
              <a:rPr sz="2100" b="0" i="0">
                <a:solidFill>
                  <a:srgbClr val="1F4E79"/>
                </a:solidFill>
                <a:latin typeface="Consolas"/>
              </a:rPr>
              <a:t>BinTree</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Nicht generisch: Inhalt ist </a:t>
            </a:r>
            <a:r>
              <a:rPr sz="2100" b="0" i="0">
                <a:solidFill>
                  <a:srgbClr val="1F4E79"/>
                </a:solidFill>
                <a:latin typeface="Consolas"/>
              </a:rPr>
              <a:t>Object</a:t>
            </a:r>
            <a:r>
              <a:rPr sz="2200" b="0" i="0">
                <a:solidFill>
                  <a:srgbClr val="1F2A37"/>
                </a:solidFill>
                <a:latin typeface="Calibri"/>
              </a:rPr>
              <a:t> → </a:t>
            </a:r>
            <a:r>
              <a:rPr sz="2200" b="1" i="0">
                <a:solidFill>
                  <a:srgbClr val="1F2A37"/>
                </a:solidFill>
                <a:latin typeface="Calibri"/>
              </a:rPr>
              <a:t>Cast</a:t>
            </a:r>
            <a:r>
              <a:rPr sz="2200" b="0" i="0">
                <a:solidFill>
                  <a:srgbClr val="1F2A37"/>
                </a:solidFill>
                <a:latin typeface="Calibri"/>
              </a:rPr>
              <a:t> nötig (</a:t>
            </a:r>
            <a:r>
              <a:rPr sz="2200" b="1" i="0">
                <a:solidFill>
                  <a:srgbClr val="1F2A37"/>
                </a:solidFill>
                <a:latin typeface="Calibri"/>
              </a:rPr>
              <a:t>P4</a:t>
            </a:r>
            <a:r>
              <a:rPr sz="2200" b="0" i="0">
                <a:solidFill>
                  <a:srgbClr val="1F2A37"/>
                </a:solidFill>
                <a:latin typeface="Calibri"/>
              </a:rPr>
              <a:t>)</a:t>
            </a:r>
            <a:r>
              <a:rPr sz="22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Stolperstein: == bei Zeichenketten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772400" cy="1703832"/>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7589520" cy="1612392"/>
          </a:xfrm>
          <a:prstGeom prst="rect">
            <a:avLst/>
          </a:prstGeom>
          <a:noFill/>
        </p:spPr>
        <p:txBody>
          <a:bodyPr wrap="square" anchor="t" lIns="45720" rIns="45720">
            <a:spAutoFit/>
          </a:bodyPr>
          <a:lstStyle/>
          <a:p>
            <a:pPr>
              <a:lnSpc>
                <a:spcPct val="100000"/>
              </a:lnSpc>
            </a:pPr>
            <a:r>
              <a:rPr sz="2200" b="0" i="0">
                <a:solidFill>
                  <a:srgbClr val="A0A7B1"/>
                </a:solidFill>
                <a:latin typeface="Consolas"/>
              </a:rPr>
              <a:t>1  </a:t>
            </a:r>
            <a:r>
              <a:rPr sz="2200" b="0" i="0">
                <a:solidFill>
                  <a:srgbClr val="1F2A37"/>
                </a:solidFill>
                <a:latin typeface="Consolas"/>
              </a:rPr>
              <a:t>String teil = "Dra";</a:t>
            </a:r>
          </a:p>
          <a:p>
            <a:pPr>
              <a:lnSpc>
                <a:spcPct val="100000"/>
              </a:lnSpc>
            </a:pPr>
            <a:r>
              <a:rPr sz="2200" b="0" i="0">
                <a:solidFill>
                  <a:srgbClr val="A0A7B1"/>
                </a:solidFill>
                <a:latin typeface="Consolas"/>
              </a:rPr>
              <a:t>2  </a:t>
            </a:r>
            <a:r>
              <a:rPr sz="2200" b="0" i="0">
                <a:solidFill>
                  <a:srgbClr val="1F2A37"/>
                </a:solidFill>
                <a:latin typeface="Consolas"/>
              </a:rPr>
              <a:t>String rune = teil + "che";</a:t>
            </a:r>
          </a:p>
          <a:p>
            <a:pPr>
              <a:lnSpc>
                <a:spcPct val="100000"/>
              </a:lnSpc>
            </a:pPr>
            <a:r>
              <a:rPr sz="2200" b="0" i="0">
                <a:solidFill>
                  <a:srgbClr val="A0A7B1"/>
                </a:solidFill>
                <a:latin typeface="Consolas"/>
              </a:rPr>
              <a:t>3  </a:t>
            </a:r>
            <a:r>
              <a:rPr sz="2200" b="1" i="0">
                <a:solidFill>
                  <a:srgbClr val="C00000"/>
                </a:solidFill>
                <a:latin typeface="Consolas"/>
              </a:rPr>
              <a:t>println(rune == "Drache");</a:t>
            </a:r>
          </a:p>
          <a:p>
            <a:pPr>
              <a:lnSpc>
                <a:spcPct val="100000"/>
              </a:lnSpc>
            </a:pPr>
            <a:r>
              <a:rPr sz="2200" b="0" i="0">
                <a:solidFill>
                  <a:srgbClr val="A0A7B1"/>
                </a:solidFill>
                <a:latin typeface="Consolas"/>
              </a:rPr>
              <a:t>4  </a:t>
            </a:r>
            <a:r>
              <a:rPr sz="2200" b="0" i="0">
                <a:solidFill>
                  <a:srgbClr val="1F2A37"/>
                </a:solidFill>
                <a:latin typeface="Consolas"/>
              </a:rPr>
              <a:t>println(rune.equals("Drache"));</a:t>
            </a:r>
          </a:p>
        </p:txBody>
      </p:sp>
      <p:sp>
        <p:nvSpPr>
          <p:cNvPr id="7" name="TextBox 6"/>
          <p:cNvSpPr txBox="1"/>
          <p:nvPr/>
        </p:nvSpPr>
        <p:spPr>
          <a:xfrm>
            <a:off x="548640" y="3258312"/>
            <a:ext cx="7772400" cy="3096768"/>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Zeile 3: Online-IDE </a:t>
            </a:r>
            <a:r>
              <a:rPr sz="2200" b="1" i="0">
                <a:solidFill>
                  <a:srgbClr val="1F2A37"/>
                </a:solidFill>
                <a:latin typeface="Calibri"/>
              </a:rPr>
              <a:t>true</a:t>
            </a:r>
            <a:r>
              <a:rPr sz="2200" b="0" i="0">
                <a:solidFill>
                  <a:srgbClr val="1F2A37"/>
                </a:solidFill>
                <a:latin typeface="Calibri"/>
              </a:rPr>
              <a:t> – echtes Java </a:t>
            </a:r>
            <a:r>
              <a:rPr sz="2200" b="1" i="0">
                <a:solidFill>
                  <a:srgbClr val="1F2A37"/>
                </a:solidFill>
                <a:latin typeface="Calibri"/>
              </a:rPr>
              <a:t>false</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Zeile 4: überall </a:t>
            </a:r>
            <a:r>
              <a:rPr sz="2200" b="1" i="0">
                <a:solidFill>
                  <a:srgbClr val="1F2A37"/>
                </a:solidFill>
                <a:latin typeface="Calibri"/>
              </a:rPr>
              <a:t>true</a:t>
            </a:r>
            <a:r>
              <a:rPr sz="2200" b="0" i="0">
                <a:solidFill>
                  <a:srgbClr val="1F2A37"/>
                </a:solidFill>
                <a:latin typeface="Calibri"/>
              </a:rPr>
              <a:t/>
            </a:r>
          </a:p>
          <a:p>
            <a:pPr>
              <a:spcAft>
                <a:spcPts val="1000"/>
              </a:spcAft>
            </a:pPr>
            <a:r>
              <a:rPr sz="2200" b="1" i="0">
                <a:solidFill>
                  <a:srgbClr val="B8860B"/>
                </a:solidFill>
                <a:latin typeface="Calibri"/>
              </a:rPr>
              <a:t>▸ </a:t>
            </a:r>
            <a:r>
              <a:rPr sz="2200" b="1" i="0">
                <a:solidFill>
                  <a:srgbClr val="1F2A37"/>
                </a:solidFill>
                <a:latin typeface="Calibri"/>
              </a:rPr>
              <a:t>P5</a:t>
            </a:r>
            <a:r>
              <a:rPr sz="2200" b="0" i="0">
                <a:solidFill>
                  <a:srgbClr val="1F2A37"/>
                </a:solidFill>
                <a:latin typeface="Calibri"/>
              </a:rPr>
              <a:t>: Die Tests bleiben grün – im Abitur gilt Java: </a:t>
            </a:r>
            <a:r>
              <a:rPr sz="2200" b="1" i="0">
                <a:solidFill>
                  <a:srgbClr val="1F2A37"/>
                </a:solidFill>
                <a:latin typeface="Calibri"/>
              </a:rPr>
              <a:t>immer</a:t>
            </a:r>
            <a:r>
              <a:rPr sz="2200" b="0" i="0">
                <a:solidFill>
                  <a:srgbClr val="1F2A37"/>
                </a:solidFill>
                <a:latin typeface="Calibri"/>
              </a:rPr>
              <a:t> </a:t>
            </a:r>
            <a:r>
              <a:rPr sz="2100" b="0" i="0">
                <a:solidFill>
                  <a:srgbClr val="1F4E79"/>
                </a:solidFill>
                <a:latin typeface="Consolas"/>
              </a:rPr>
              <a:t>equals</a:t>
            </a:r>
            <a:r>
              <a:rPr sz="2200" b="0" i="0">
                <a:solidFill>
                  <a:srgbClr val="1F2A37"/>
                </a:solidFill>
                <a:latin typeface="Calibri"/>
              </a:rPr>
              <a:t>!</a:t>
            </a:r>
            <a:r>
              <a:rPr sz="22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Typische Fehler – und wie du sie vermeidest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1" i="0">
                <a:solidFill>
                  <a:srgbClr val="1F2A37"/>
                </a:solidFill>
                <a:latin typeface="Calibri"/>
              </a:rPr>
              <a:t>P3</a:t>
            </a:r>
            <a:r>
              <a:rPr sz="2400" b="0" i="0">
                <a:solidFill>
                  <a:srgbClr val="1F2A37"/>
                </a:solidFill>
                <a:latin typeface="Calibri"/>
              </a:rPr>
              <a:t> Methodenkopf geändert – Tests finden ihn nicht</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P4</a:t>
            </a:r>
            <a:r>
              <a:rPr sz="2400" b="0" i="0">
                <a:solidFill>
                  <a:srgbClr val="1F2A37"/>
                </a:solidFill>
                <a:latin typeface="Calibri"/>
              </a:rPr>
              <a:t> Cast vergessen: </a:t>
            </a:r>
            <a:r>
              <a:rPr sz="2300" b="0" i="0">
                <a:solidFill>
                  <a:srgbClr val="1F4E79"/>
                </a:solidFill>
                <a:latin typeface="Consolas"/>
              </a:rPr>
              <a:t>(Integer) s.pop()</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P5</a:t>
            </a:r>
            <a:r>
              <a:rPr sz="2400" b="0" i="0">
                <a:solidFill>
                  <a:srgbClr val="1F2A37"/>
                </a:solidFill>
                <a:latin typeface="Calibri"/>
              </a:rPr>
              <a:t> </a:t>
            </a:r>
            <a:r>
              <a:rPr sz="2300" b="0" i="0">
                <a:solidFill>
                  <a:srgbClr val="1F4E79"/>
                </a:solidFill>
                <a:latin typeface="Consolas"/>
              </a:rPr>
              <a:t>==</a:t>
            </a:r>
            <a:r>
              <a:rPr sz="2400" b="0" i="0">
                <a:solidFill>
                  <a:srgbClr val="1F2A37"/>
                </a:solidFill>
                <a:latin typeface="Calibri"/>
              </a:rPr>
              <a:t> statt </a:t>
            </a:r>
            <a:r>
              <a:rPr sz="2300" b="0" i="0">
                <a:solidFill>
                  <a:srgbClr val="1F4E79"/>
                </a:solidFill>
                <a:latin typeface="Consolas"/>
              </a:rPr>
              <a:t>equals</a:t>
            </a:r>
            <a:r>
              <a:rPr sz="2400" b="0" i="0">
                <a:solidFill>
                  <a:srgbClr val="1F2A37"/>
                </a:solidFill>
                <a:latin typeface="Calibri"/>
              </a:rPr>
              <a:t> – in der IDE unsichtbar</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Tests verändert, damit sie grün werden – zählt nicht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Testrunner hängt? </a:t>
            </a:r>
            <a:r>
              <a:rPr sz="2400" b="1" i="0">
                <a:solidFill>
                  <a:srgbClr val="1F2A37"/>
                </a:solidFill>
                <a:latin typeface="Calibri"/>
              </a:rPr>
              <a:t>Endlosschleife</a:t>
            </a:r>
            <a:r>
              <a:rPr sz="2400" b="0" i="0">
                <a:solidFill>
                  <a:srgbClr val="1F2A37"/>
                </a:solidFill>
                <a:latin typeface="Calibri"/>
              </a:rPr>
              <a:t> – Programm anhalten</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C00000"/>
                </a:solidFill>
                <a:latin typeface="Calibri"/>
              </a:rPr>
              <a:t>Merksatz</a:t>
            </a:r>
            <a:r>
              <a:rPr sz="2000" b="0" i="0">
                <a:solidFill>
                  <a:srgbClr val="1F2A37"/>
                </a:solidFill>
                <a:latin typeface="Calibri"/>
              </a:rPr>
              <a:t/>
            </a:r>
          </a:p>
          <a:p>
            <a:pPr>
              <a:spcAft>
                <a:spcPts val="600"/>
              </a:spcAft>
            </a:pPr>
            <a:r>
              <a:rPr sz="2000" b="0" i="0">
                <a:solidFill>
                  <a:srgbClr val="1F2A37"/>
                </a:solidFill>
                <a:latin typeface="Calibri"/>
              </a:rPr>
              <a:t>Grün heißt: Die Tests sind zufrieden.</a:t>
            </a:r>
            <a:r>
              <a:rPr sz="2000" b="0" i="0">
                <a:solidFill>
                  <a:srgbClr val="1F2A37"/>
                </a:solidFill>
                <a:latin typeface="Calibri"/>
              </a:rPr>
              <a:t/>
            </a:r>
          </a:p>
          <a:p>
            <a:pPr>
              <a:spcAft>
                <a:spcPts val="600"/>
              </a:spcAft>
            </a:pPr>
            <a:r>
              <a:rPr sz="2000" b="0" i="0">
                <a:solidFill>
                  <a:srgbClr val="1F2A37"/>
                </a:solidFill>
                <a:latin typeface="Calibri"/>
              </a:rPr>
              <a:t>Im Abi zählt, was </a:t>
            </a:r>
            <a:r>
              <a:rPr sz="2000" b="1" i="0">
                <a:solidFill>
                  <a:srgbClr val="1F2A37"/>
                </a:solidFill>
                <a:latin typeface="Calibri"/>
              </a:rPr>
              <a:t>auf dem Papier</a:t>
            </a:r>
            <a:r>
              <a:rPr sz="2000" b="0" i="0">
                <a:solidFill>
                  <a:srgbClr val="1F2A37"/>
                </a:solidFill>
                <a:latin typeface="Calibri"/>
              </a:rPr>
              <a:t> steht.</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Das nimmst du mit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17320"/>
            <a:ext cx="7772400" cy="4800600"/>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7315200" cy="443484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Nur in </a:t>
            </a:r>
            <a:r>
              <a:rPr sz="2200" b="1" i="0">
                <a:solidFill>
                  <a:srgbClr val="1F2A37"/>
                </a:solidFill>
                <a:latin typeface="Calibri"/>
              </a:rPr>
              <a:t>DEIN TEIL</a:t>
            </a:r>
            <a:r>
              <a:rPr sz="2200" b="0" i="0">
                <a:solidFill>
                  <a:srgbClr val="1F2A37"/>
                </a:solidFill>
                <a:latin typeface="Calibri"/>
              </a:rPr>
              <a:t> schreiben – Methodenkopf und Tests bleiben unverändert</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Testrunner: grüner Pfeil, rote Meldung lesen – </a:t>
            </a:r>
            <a:r>
              <a:rPr sz="2100" b="0" i="0">
                <a:solidFill>
                  <a:srgbClr val="1F4E79"/>
                </a:solidFill>
                <a:latin typeface="Consolas"/>
              </a:rPr>
              <a:t>assertEquals(erwartet, tatsächlich, Meldung)</a:t>
            </a:r>
            <a:r>
              <a:rPr sz="2200" b="0" i="0">
                <a:solidFill>
                  <a:srgbClr val="1F2A37"/>
                </a:solidFill>
                <a:latin typeface="Calibri"/>
              </a:rPr>
              <a:t/>
            </a:r>
          </a:p>
          <a:p>
            <a:pPr>
              <a:spcAft>
                <a:spcPts val="1000"/>
              </a:spcAft>
            </a:pPr>
            <a:r>
              <a:rPr sz="2200" b="1" i="0">
                <a:solidFill>
                  <a:srgbClr val="B8860B"/>
                </a:solidFill>
                <a:latin typeface="Calibri"/>
              </a:rPr>
              <a:t>▸ </a:t>
            </a:r>
            <a:r>
              <a:rPr sz="2100" b="0" i="0">
                <a:solidFill>
                  <a:srgbClr val="1F4E79"/>
                </a:solidFill>
                <a:latin typeface="Consolas"/>
              </a:rPr>
              <a:t>println</a:t>
            </a:r>
            <a:r>
              <a:rPr sz="2200" b="0" i="0">
                <a:solidFill>
                  <a:srgbClr val="1F2A37"/>
                </a:solidFill>
                <a:latin typeface="Calibri"/>
              </a:rPr>
              <a:t> ohne </a:t>
            </a:r>
            <a:r>
              <a:rPr sz="2100" b="0" i="0">
                <a:solidFill>
                  <a:srgbClr val="1F4E79"/>
                </a:solidFill>
                <a:latin typeface="Consolas"/>
              </a:rPr>
              <a:t>System.out</a:t>
            </a:r>
            <a:r>
              <a:rPr sz="2200" b="0" i="0">
                <a:solidFill>
                  <a:srgbClr val="1F2A37"/>
                </a:solidFill>
                <a:latin typeface="Calibri"/>
              </a:rPr>
              <a:t>, Hauptprogramm außerhalb von Klassen</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Ab Welt 4 Bibliothek „Niedersachsen“: nicht generisch → Cast; Zeichenketten </a:t>
            </a:r>
            <a:r>
              <a:rPr sz="2200" b="1" i="0">
                <a:solidFill>
                  <a:srgbClr val="1F2A37"/>
                </a:solidFill>
                <a:latin typeface="Calibri"/>
              </a:rPr>
              <a:t>immer</a:t>
            </a:r>
            <a:r>
              <a:rPr sz="2200" b="0" i="0">
                <a:solidFill>
                  <a:srgbClr val="1F2A37"/>
                </a:solidFill>
                <a:latin typeface="Calibri"/>
              </a:rPr>
              <a:t> mit </a:t>
            </a:r>
            <a:r>
              <a:rPr sz="2100" b="0" i="0">
                <a:solidFill>
                  <a:srgbClr val="1F4E79"/>
                </a:solidFill>
                <a:latin typeface="Consolas"/>
              </a:rPr>
              <a:t>equals</a:t>
            </a:r>
            <a:r>
              <a:rPr sz="2200" b="0" i="0">
                <a:solidFill>
                  <a:srgbClr val="1F2A37"/>
                </a:solidFill>
                <a:latin typeface="Calibri"/>
              </a:rPr>
              <a:t/>
            </a:r>
          </a:p>
        </p:txBody>
      </p:sp>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Weiter geht’s im Algo Quest Lab</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7772400" cy="3200400"/>
          </a:xfrm>
          <a:prstGeom prst="rect">
            <a:avLst/>
          </a:prstGeom>
          <a:noFill/>
        </p:spPr>
        <p:txBody>
          <a:bodyPr wrap="square" anchor="t" lIns="45720" rIns="45720">
            <a:spAutoFit/>
          </a:bodyPr>
          <a:lstStyle/>
          <a:p>
            <a:pPr>
              <a:spcAft>
                <a:spcPts val="1200"/>
              </a:spcAft>
            </a:pPr>
            <a:r>
              <a:rPr sz="2200" b="1" i="0">
                <a:solidFill>
                  <a:srgbClr val="1F4E79"/>
                </a:solidFill>
                <a:latin typeface="Calibri"/>
              </a:rPr>
              <a:t>Online-IDE: </a:t>
            </a:r>
            <a:r>
              <a:rPr sz="2200" b="0" i="0">
                <a:solidFill>
                  <a:srgbClr val="1F2A37"/>
                </a:solidFill>
                <a:latin typeface="Calibri"/>
              </a:rPr>
              <a:t>Level 0 „Diagnose“ (Workspace „W0 Diagnose – Das Portal“)</a:t>
            </a:r>
            <a:r>
              <a:rPr sz="2200" b="0" i="0">
                <a:solidFill>
                  <a:srgbClr val="1F2A37"/>
                </a:solidFill>
                <a:latin typeface="Calibri"/>
              </a:rPr>
              <a:t/>
            </a:r>
          </a:p>
          <a:p>
            <a:pPr>
              <a:spcAft>
                <a:spcPts val="1200"/>
              </a:spcAft>
            </a:pPr>
            <a:r>
              <a:rPr sz="2200" b="1" i="0">
                <a:solidFill>
                  <a:srgbClr val="1F4E79"/>
                </a:solidFill>
                <a:latin typeface="Calibri"/>
              </a:rPr>
              <a:t>Arbeitsblatt: </a:t>
            </a:r>
            <a:r>
              <a:rPr sz="2200" b="0" i="0">
                <a:solidFill>
                  <a:srgbClr val="1F2A37"/>
                </a:solidFill>
                <a:latin typeface="Calibri"/>
              </a:rPr>
              <a:t>AB W0·1 „Das Portal“ – Aufgaben 2 und 3</a:t>
            </a:r>
            <a:r>
              <a:rPr sz="2200" b="0" i="0">
                <a:solidFill>
                  <a:srgbClr val="1F2A37"/>
                </a:solidFill>
                <a:latin typeface="Calibri"/>
              </a:rPr>
              <a:t/>
            </a:r>
          </a:p>
          <a:p>
            <a:pPr>
              <a:spcAft>
                <a:spcPts val="1200"/>
              </a:spcAft>
            </a:pPr>
            <a:r>
              <a:rPr sz="2200" b="1" i="0">
                <a:solidFill>
                  <a:srgbClr val="1F4E79"/>
                </a:solidFill>
                <a:latin typeface="Calibri"/>
              </a:rPr>
              <a:t>Lab: </a:t>
            </a:r>
            <a:r>
              <a:rPr sz="2200" b="0" i="0">
                <a:solidFill>
                  <a:srgbClr val="1F2A37"/>
                </a:solidFill>
                <a:latin typeface="Calibri"/>
              </a:rPr>
              <a:t>Level 0.1 „Das Portal“ – Karte „Programmieren in der Online-IDE“</a:t>
            </a:r>
            <a:r>
              <a:rPr sz="2200" b="0" i="0">
                <a:solidFill>
                  <a:srgbClr val="1F2A37"/>
                </a:solidFill>
                <a:latin typeface="Calibri"/>
              </a:rPr>
              <a:t/>
            </a:r>
          </a:p>
          <a:p>
            <a:pPr>
              <a:spcAft>
                <a:spcPts val="1200"/>
              </a:spcAft>
            </a:pPr>
            <a:r>
              <a:rPr sz="2200" b="1" i="0">
                <a:solidFill>
                  <a:srgbClr val="1F4E79"/>
                </a:solidFill>
                <a:latin typeface="Calibri"/>
              </a:rPr>
              <a:t>Online: </a:t>
            </a:r>
            <a:r>
              <a:rPr sz="2200" b="0" i="0">
                <a:solidFill>
                  <a:srgbClr val="1F2A37"/>
                </a:solidFill>
                <a:latin typeface="Calibri"/>
              </a:rPr>
              <a:t>algoquest.frankjuchim.de/themen</a:t>
            </a:r>
            <a:r>
              <a:rPr sz="2200" b="0" i="0">
                <a:solidFill>
                  <a:srgbClr val="1F2A37"/>
                </a:solidFill>
                <a:latin typeface="Calibri"/>
              </a:rPr>
              <a:t/>
            </a:r>
          </a:p>
        </p:txBody>
      </p:sp>
      <p:sp>
        <p:nvSpPr>
          <p:cNvPr id="6" name="Rounded Rectangle 5"/>
          <p:cNvSpPr/>
          <p:nvPr/>
        </p:nvSpPr>
        <p:spPr>
          <a:xfrm>
            <a:off x="548640" y="4846320"/>
            <a:ext cx="7772400" cy="1188720"/>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37760"/>
            <a:ext cx="7406640" cy="1005840"/>
          </a:xfrm>
          <a:prstGeom prst="rect">
            <a:avLst/>
          </a:prstGeom>
          <a:noFill/>
        </p:spPr>
        <p:txBody>
          <a:bodyPr wrap="square" anchor="ctr" lIns="45720" rIns="45720">
            <a:spAutoFit/>
          </a:bodyPr>
          <a:lstStyle/>
          <a:p>
            <a:r>
              <a:rPr sz="2000" b="1" i="0">
                <a:solidFill>
                  <a:srgbClr val="B8860B"/>
                </a:solidFill>
                <a:latin typeface="Calibri"/>
              </a:rPr>
              <a:t>Nächstes Video: </a:t>
            </a:r>
            <a:r>
              <a:rPr sz="2000" b="0" i="0">
                <a:solidFill>
                  <a:srgbClr val="1F2A37"/>
                </a:solidFill>
                <a:latin typeface="Calibri"/>
              </a:rPr>
              <a:t>Klassen, Objekte, Vererbung</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2: Die Online-IDE: Gerüst, Testrunner und Bibliothek „Niedersachsen“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Die Online-IDE: Gerüst, Testrunner und Bibliothek „Niedersachsen“</dc:title>
  <dc:subject/>
  <dc:creator>Algo Quest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