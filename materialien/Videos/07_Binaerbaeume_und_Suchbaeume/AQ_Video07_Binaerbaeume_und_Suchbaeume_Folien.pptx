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Hallo und willkommen zur Algo Quest! Heute geht es in den Wald – zu den Binärbäumen. Bäume stecken in Dateisystemen, in Entscheidungen und in schnellen Datenbanken. Im Abitur kommen sie fast jedes Jahr vor. Am Ende dieses Videos kannst du einen Baum beschreiben, durchlaufen, rekursiv auswerten – und im Suchbaum blitzschnell suchen.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Typische Aufträge lauten etwa: Geben Sie die Ausgabe der Inorder-Traversierung an. Implementieren Sie die Methode rekursiv. Oder: Fügen Sie die Werte in den Suchbaum ein und stellen Sie ihn dar. Programmiert wird mit der Klasse BinTree aus den Ergänzenden Hinweisen, Paragraf vier. Rechts siehst du unseren Weg durch dieses Video.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Begriffe am Bild zeigen; bei der Höhe die vier Ebenen von oben nach unten abzählen.]</a:t>
            </a:r>
          </a:p>
          <a:p/>
          <a:p>
            <a:r>
              <a:t>Hier ist unser Beispielbaum. Ganz oben steht die Wurzel, die Elf. Knoten ohne Kinder heißen Blätter – das sind die Zwei, die Fünf und die Acht. Alle anderen sind innere Knoten. Jedes Kind bildet mit allem, was darunter hängt, einen Teilbaum: Die Sechs ist zum Beispiel die Wurzel des linken Teilbaums. Die Ebene gibt den Abstand zur Wurzel an: Die Wurzel liegt auf Ebene null, die Sechs und die Drei auf Ebene eins, die Fünf auf Ebene drei. Die Höhe zählt die Ebenen: Unser Baum hat die Höhe vier. Merke dir die Konvention, die wir in der ganzen Algo Quest verwenden: Der leere Baum hat die Höhe null, ein einzelnes Blatt die Höhe eins. Sonst ist die Höhe eins plus die größere der beiden Teilbaum-Höhen. Achtung, Verwechslungsgefahr: Ebenen zählen ab null, die Höhe zählt die Ebenen.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Schnittstelle ist klein. Der eine Konstruktor erzeugt einen leeren Baum, der andere ein Blatt mit einem Inhalt. isEmpty fragt, ob der Baum leer ist, isLeaf, ob beide Teilbäume leer sind. Mit getItem liest du den Inhalt der Wurzel, mit getLeft und getRight die Teilbäume, mit setLeft und setRight hängst du Teilbäume an. Wichtig: Diese Methoden lösen bei einem leeren Baum einen Laufzeitfehler aus – das sind die rot markierten Zeilen. Ein nicht leerer Baum hat übrigens immer zwei Teilbäume. Die können leer sein, aber sie sind nie null. Und: BinTree ist nicht generisch. Der Inhalt ist ein Object, also musst du casten, zum Beispiel int x gleich Klammer Integer b punkt getItem.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entsteht unser Baum im Code. Zuerst die Wurzel elf, dann links die Sechs und rechts die Drei. Mit getLeft punkt setLeft hängst du eine Ebene tiefer an. Spannend ist Zeile sieben: Der rechte Teilbaum der Drei ist leer – er existiert aber. setItem macht ihn direkt zum Blatt mit der Acht. In Zeile acht lesen wir die Sechs wieder aus – mit Cast auf Integer.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Bei preorder den Weg im Bild nachfahren: 11, links hinab bis 2, dann 9, 5, zurück zur 3, dann 8.]</a:t>
            </a:r>
          </a:p>
          <a:p/>
          <a:p>
            <a:r>
              <a:t>Wie gibt man alle Knoten aus? Es gibt drei Reihenfolgen. Bei preorder kommt zuerst die Wurzel, dann der linke, dann der rechte Teilbaum. Und das gilt in jedem Teilbaum erneut. Also: elf, dann der linke Teilbaum mit der Sechs: sechs, zwei, neun, fünf. Dann rechts: drei, acht. Bei inorder steht die Wurzel in der Mitte: erst alles links, dann die Elf, dann rechts. Bei postorder kommt die Wurzel zum Schluss – die Elf steht also ganz hinten. Ein Tipp für die Prüfung: Kontrolliere am Ende, ob jede Folge alle sieben Werte genau einmal enthält.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du! Halte das Video an und gib für diesen Baum alle drei Traversierungen an. Tipp: Jede Folge muss alle fünf Werte genau einmal enthalten.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Preorder: Wurzel sieben, dann der linke Teilbaum – die Eins und ihr rechtes Kind, die Vier –, dann rechts neun und drei. Inorder: Wir gehen von der Sieben nach links. Die Eins hat links nichts, also kommt zuerst die Eins, dann die Vier, dann die Sieben, dann drei, neun. Postorder: vier, eins, drei, neun – und die Sieben ganz zum Schluss. Hattest du überall fünf Werte? Prima.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 jede Baummethode folgt demselben Muster. Unser Beispiel: summeBlaetter addiert die Werte aller Blätter. Schritt eins: Ist der Baum leer? Dann ist das Ergebnis null – der Basisfall. Erst danach darfst du auf getItem und die Teilbäume zugreifen. Hier gibt es noch einen Sonderfall: Ein Blatt liefert seinen eigenen Wert. Schritt zwei: Die Methode ruft sich für den linken und den rechten Teilbaum auf. Schritt drei: Die beiden Ergebnisse werden verwendet und kombiniert – hier addiert.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läuft das für unseren Baum. Die Methode steigt zuerst ganz nach links hinab. Das Blatt zwei liefert seinen Wert. Dann geht es zur Neun: Ihr linkes Kind, das Blatt fünf, liefert fünf, ihr rechter Teilbaum ist leer und liefert null – also gibt die Neun fünf zurück. Die Sechs bekommt zwei und fünf, macht sieben. Rechts liefert die Drei null und acht, also acht. Und die Wurzel addiert sieben und acht: fünfzehn. Die Rückgaben entstehen also von unten nach oben – in Postorder.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der binäre Suchbaum, die wichtigste Baumart im Abitur. Hier gilt für jeden Knoten: Alles im linken Teilbaum ist kleiner, alles im rechten Teilbaum größer. Und zwar nicht nur bei den direkten Kindern, sondern bis ganz unten: Auch die Siebzehn ist kleiner als die Siebenundzwanzig, weil sie im linken Teilbaum der Wurzel liegt. Diesen Baum haben wir durch Einfügen der Werte in genau dieser Reihenfolge gebaut. Eine andere Reihenfolge ergibt einen anderen Baum. Und schau dir die Inorder an: Sie ist sortiert. Warum, klären wir gleich.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Suchwege im Bild mit der Maus nachfahren.]</a:t>
            </a:r>
          </a:p>
          <a:p/>
          <a:p>
            <a:r>
              <a:t>Diese Ordnung macht das Suchen schnell. Wieder zuerst: Ist der Baum leer, ist der Wert nicht da. Sonst vergleichen wir mit der Wurzel. Gleich? Gefunden. Kleiner? Dann kann der Wert nur links liegen – rechts müssen wir gar nicht suchen. Suchen wir die Siebzehn: siebenundzwanzig, nach links zur Vierzehn, nach rechts zur Einundzwanzig, nach links – gefunden. Die Fünfunddreißig: siebenundzwanzig, neununddreißig, dreiunddreißig, dann rechts ein leerer Baum – falsch. Höchstens so viele Vergleiche, wie der Baum hoch ist. Bei einem ausgeglichenen Baum mit tausend Werten sind das nur etwa zehn Vergleiche.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Einfügen heißt: so tun, als ob man sucht – bis ein leerer Teilbaum kommt. Dort wird der neue Wert als Blatt angehängt – und zwar automatisch an der richtigen Stelle. Fügen wir sechsunddreißig ein: größer als siebenundzwanzig, kleiner als neununddreißig, größer als dreiunddreißig – und rechts von der Dreiunddreißig ist es leer. Ist der Wert schon da, passiert nichts. Beachte: Der neue Wert wird immer als Blatt angehängt – bestehende Knoten verschieben sich nie. Deshalb hängt die Form des Baums von der Einfügereihenfolge ab.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du! Nimm den Suchbaum ohne die Sechsunddreißig. Füge nacheinander zweiundvierzig, zwölf und dreißig ein, zeichne den Baum und gib die Inorder an. Halte das Video 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Zweiundvierzig wandert nach rechts, rechts, und landet links an der Fünfundvierzig. Die Zwölf geht links, links und landet rechts an der Neun. Die Dreißig landet links an der Dreiunddreißig. Und die Inorder ist wieder sortiert. Warum? Inorder gibt erst den linken Teilbaum aus, dann die Wurzel, dann den rechten. Links ist alles kleiner, rechts alles größer – und das gilt in jedem Teilbaum.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Schluss die Fallen. In dieser Version stecken zwei. Falle P1: getItem steht vor der Abfrage isEmpty. Beim ersten leeren Teilbaum gibt es einen Laufzeitfehler – die Abfrage kommt zu spät. Falle P7: Die rekursiven Aufrufe werden zwar gemacht, aber ihre Ergebnisse landen nirgends. Die Methode liefert null statt fünfzehn. Und denk an P4: ohne Cast auf Integer meckert der Compiler. Im Suchbaum gilt außerdem: nur in einen Teilbaum absteigen, sonst verschenkst du den Vorteil. Mein Tipp für die Prüfung: Schreib bei jeder Baummethode als Erstes die Zeile if b punkt isEmpty hin – dann bist du auf der sicheren Seite.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Fassen wir zusammen. Die Wurzel liegt auf Ebene null, der leere Baum hat Höhe null, ein Blatt Höhe eins. BinTree ist nicht generisch, also immer casten. Die drei Traversierungen unterscheiden sich nur darin, wann die Wurzel drankommt: vorher, in der Mitte oder danach. Rekursive Baummethoden prüfen zuerst isEmpty, rufen sich für links und rechts auf und verwenden die Ergebnisse. Und im Suchbaum gehst du immer nur in einen Teilbaum – deshalb ist er so schnell.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ab in den Wald! Im Algo Quest Lab warten Level fünf eins, fünf zwei und fünf vier auf dich – mit sofortiger Rückmeldung. Auf den Arbeitsblättern Binärbäume und Suchbäume kannst du alles nachlesen. Im nächsten Video machen wir den Abi-Check: die zehn Fallen, die im Abitur am meisten Punkte kosten. Bis dahin!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0"/>
            <a:ext cx="11094415" cy="457200"/>
          </a:xfrm>
          <a:prstGeom prst="rect">
            <a:avLst/>
          </a:prstGeom>
          <a:noFill/>
        </p:spPr>
        <p:txBody>
          <a:bodyPr wrap="square" anchor="t" lIns="45720" rIns="45720">
            <a:spAutoFit/>
          </a:bodyPr>
          <a:lstStyle/>
          <a:p>
            <a:r>
              <a:rPr sz="1800" b="1" i="0">
                <a:solidFill>
                  <a:srgbClr val="B8860B"/>
                </a:solidFill>
                <a:latin typeface="Calibri"/>
              </a:rPr>
              <a:t>ALGO QUEST · ERKLÄRVIDEO 7</a:t>
            </a:r>
          </a:p>
        </p:txBody>
      </p:sp>
      <p:sp>
        <p:nvSpPr>
          <p:cNvPr id="4" name="TextBox 3"/>
          <p:cNvSpPr txBox="1"/>
          <p:nvPr/>
        </p:nvSpPr>
        <p:spPr>
          <a:xfrm>
            <a:off x="548640" y="1645920"/>
            <a:ext cx="11094415" cy="1463040"/>
          </a:xfrm>
          <a:prstGeom prst="rect">
            <a:avLst/>
          </a:prstGeom>
          <a:noFill/>
        </p:spPr>
        <p:txBody>
          <a:bodyPr wrap="square" anchor="t" lIns="45720" rIns="45720">
            <a:spAutoFit/>
          </a:bodyPr>
          <a:lstStyle/>
          <a:p>
            <a:r>
              <a:rPr sz="4800" b="1" i="0">
                <a:solidFill>
                  <a:srgbClr val="1F4E79"/>
                </a:solidFill>
                <a:latin typeface="Calibri"/>
              </a:rPr>
              <a:t>Binärbäume und Suchbäume</a:t>
            </a:r>
          </a:p>
        </p:txBody>
      </p:sp>
      <p:sp>
        <p:nvSpPr>
          <p:cNvPr id="5" name="TextBox 4"/>
          <p:cNvSpPr txBox="1"/>
          <p:nvPr/>
        </p:nvSpPr>
        <p:spPr>
          <a:xfrm>
            <a:off x="548640" y="3063240"/>
            <a:ext cx="8229600" cy="914400"/>
          </a:xfrm>
          <a:prstGeom prst="rect">
            <a:avLst/>
          </a:prstGeom>
          <a:noFill/>
        </p:spPr>
        <p:txBody>
          <a:bodyPr wrap="square" anchor="t" lIns="45720" rIns="45720">
            <a:spAutoFit/>
          </a:bodyPr>
          <a:lstStyle/>
          <a:p>
            <a:r>
              <a:rPr sz="2600" b="0" i="0">
                <a:solidFill>
                  <a:srgbClr val="1F2A37"/>
                </a:solidFill>
                <a:latin typeface="Calibri"/>
              </a:rPr>
              <a:t>Begriffe, BinTree, Traversierungen und der binäre Suchbaum</a:t>
            </a:r>
          </a:p>
        </p:txBody>
      </p:sp>
      <p:sp>
        <p:nvSpPr>
          <p:cNvPr id="6" name="TextBox 5"/>
          <p:cNvSpPr txBox="1"/>
          <p:nvPr/>
        </p:nvSpPr>
        <p:spPr>
          <a:xfrm>
            <a:off x="548640" y="5120640"/>
            <a:ext cx="7772400" cy="822960"/>
          </a:xfrm>
          <a:prstGeom prst="rect">
            <a:avLst/>
          </a:prstGeom>
          <a:noFill/>
        </p:spPr>
        <p:txBody>
          <a:bodyPr wrap="square" anchor="t" lIns="45720" rIns="45720">
            <a:spAutoFit/>
          </a:bodyPr>
          <a:lstStyle/>
          <a:p>
            <a:r>
              <a:rPr sz="2000" b="1" i="0">
                <a:solidFill>
                  <a:srgbClr val="3B7A3B"/>
                </a:solidFill>
                <a:latin typeface="Calibri"/>
              </a:rPr>
              <a:t>Welt 5 · Der Wald</a:t>
            </a:r>
          </a:p>
          <a:p>
            <a:r>
              <a:rPr sz="1600" b="0" i="0">
                <a:solidFill>
                  <a:srgbClr val="7F7F7F"/>
                </a:solidFill>
                <a:latin typeface="Calibri"/>
              </a:rPr>
              <a:t>Informatik LK · Abitur Niedersachsen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Bäume im Abitur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Geben Sie</a:t>
            </a:r>
            <a:r>
              <a:rPr sz="2400" b="0" i="0">
                <a:solidFill>
                  <a:srgbClr val="1F2A37"/>
                </a:solidFill>
                <a:latin typeface="Calibri"/>
              </a:rPr>
              <a:t> die Ausgabe der Inorder-Traversierung </a:t>
            </a:r>
            <a:r>
              <a:rPr sz="2400" b="1" i="0">
                <a:solidFill>
                  <a:srgbClr val="1F2A37"/>
                </a:solidFill>
                <a:latin typeface="Calibri"/>
              </a:rPr>
              <a:t>an</a:t>
            </a:r>
            <a:r>
              <a:rPr sz="2400" b="0" i="0">
                <a:solidFill>
                  <a:srgbClr val="1F2A37"/>
                </a:solidFill>
                <a:latin typeface="Calibri"/>
              </a:rPr>
              <a: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Implementieren Sie</a:t>
            </a:r>
            <a:r>
              <a:rPr sz="2400" b="0" i="0">
                <a:solidFill>
                  <a:srgbClr val="1F2A37"/>
                </a:solidFill>
                <a:latin typeface="Calibri"/>
              </a:rPr>
              <a:t> die Methode … rekursiv.“</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Fügen Sie</a:t>
            </a:r>
            <a:r>
              <a:rPr sz="2400" b="0" i="0">
                <a:solidFill>
                  <a:srgbClr val="1F2A37"/>
                </a:solidFill>
                <a:latin typeface="Calibri"/>
              </a:rPr>
              <a:t> … in den Suchbaum </a:t>
            </a:r>
            <a:r>
              <a:rPr sz="2400" b="1" i="0">
                <a:solidFill>
                  <a:srgbClr val="1F2A37"/>
                </a:solidFill>
                <a:latin typeface="Calibri"/>
              </a:rPr>
              <a:t>ein</a:t>
            </a:r>
            <a:r>
              <a:rPr sz="2400" b="0" i="0">
                <a:solidFill>
                  <a:srgbClr val="1F2A37"/>
                </a:solidFill>
                <a:latin typeface="Calibri"/>
              </a:rPr>
              <a:t> und stellen Sie ihn dar.“</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Schnittstelle </a:t>
            </a:r>
            <a:r>
              <a:rPr sz="2400" b="1" i="0">
                <a:solidFill>
                  <a:srgbClr val="1F2A37"/>
                </a:solidFill>
                <a:latin typeface="Calibri"/>
              </a:rPr>
              <a:t>BinTree</a:t>
            </a:r>
            <a:r>
              <a:rPr sz="2400" b="0" i="0">
                <a:solidFill>
                  <a:srgbClr val="1F2A37"/>
                </a:solidFill>
                <a:latin typeface="Calibri"/>
              </a:rPr>
              <a:t> nach </a:t>
            </a:r>
            <a:r>
              <a:rPr sz="2400" b="1" i="0">
                <a:solidFill>
                  <a:srgbClr val="1F2A37"/>
                </a:solidFill>
                <a:latin typeface="Calibri"/>
              </a:rPr>
              <a:t>EH §4</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1800" b="1" i="0">
                <a:solidFill>
                  <a:srgbClr val="B8860B"/>
                </a:solidFill>
                <a:latin typeface="Calibri"/>
              </a:rPr>
              <a:t>Heute</a:t>
            </a:r>
            <a:r>
              <a:rPr sz="1600" b="0" i="0">
                <a:solidFill>
                  <a:srgbClr val="1F2A37"/>
                </a:solidFill>
                <a:latin typeface="Calibri"/>
              </a:rPr>
              <a:t/>
            </a:r>
          </a:p>
          <a:p>
            <a:pPr>
              <a:spcAft>
                <a:spcPts val="600"/>
              </a:spcAft>
            </a:pPr>
            <a:r>
              <a:rPr sz="1600" b="0" i="0">
                <a:solidFill>
                  <a:srgbClr val="1F2A37"/>
                </a:solidFill>
                <a:latin typeface="Calibri"/>
              </a:rPr>
              <a:t>Begriffe und Höhe</a:t>
            </a:r>
            <a:r>
              <a:rPr sz="1600" b="0" i="0">
                <a:solidFill>
                  <a:srgbClr val="1F2A37"/>
                </a:solidFill>
                <a:latin typeface="Calibri"/>
              </a:rPr>
              <a:t/>
            </a:r>
          </a:p>
          <a:p>
            <a:pPr>
              <a:spcAft>
                <a:spcPts val="600"/>
              </a:spcAft>
            </a:pPr>
            <a:r>
              <a:rPr sz="1600" b="0" i="0">
                <a:solidFill>
                  <a:srgbClr val="1F2A37"/>
                </a:solidFill>
                <a:latin typeface="Calibri"/>
              </a:rPr>
              <a:t>BinTree</a:t>
            </a:r>
            <a:r>
              <a:rPr sz="1600" b="0" i="0">
                <a:solidFill>
                  <a:srgbClr val="1F2A37"/>
                </a:solidFill>
                <a:latin typeface="Calibri"/>
              </a:rPr>
              <a:t/>
            </a:r>
          </a:p>
          <a:p>
            <a:pPr>
              <a:spcAft>
                <a:spcPts val="600"/>
              </a:spcAft>
            </a:pPr>
            <a:r>
              <a:rPr sz="1600" b="0" i="0">
                <a:solidFill>
                  <a:srgbClr val="1F2A37"/>
                </a:solidFill>
                <a:latin typeface="Calibri"/>
              </a:rPr>
              <a:t>Traversierungen</a:t>
            </a:r>
            <a:r>
              <a:rPr sz="1600" b="0" i="0">
                <a:solidFill>
                  <a:srgbClr val="1F2A37"/>
                </a:solidFill>
                <a:latin typeface="Calibri"/>
              </a:rPr>
              <a:t/>
            </a:r>
          </a:p>
          <a:p>
            <a:pPr>
              <a:spcAft>
                <a:spcPts val="600"/>
              </a:spcAft>
            </a:pPr>
            <a:r>
              <a:rPr sz="1600" b="0" i="0">
                <a:solidFill>
                  <a:srgbClr val="1F2A37"/>
                </a:solidFill>
                <a:latin typeface="Calibri"/>
              </a:rPr>
              <a:t>Rekursives Muster</a:t>
            </a:r>
            <a:r>
              <a:rPr sz="1600" b="0" i="0">
                <a:solidFill>
                  <a:srgbClr val="1F2A37"/>
                </a:solidFill>
                <a:latin typeface="Calibri"/>
              </a:rPr>
              <a:t/>
            </a:r>
          </a:p>
          <a:p>
            <a:pPr>
              <a:spcAft>
                <a:spcPts val="600"/>
              </a:spcAft>
            </a:pPr>
            <a:r>
              <a:rPr sz="1600" b="0" i="0">
                <a:solidFill>
                  <a:srgbClr val="1F2A37"/>
                </a:solidFill>
                <a:latin typeface="Calibri"/>
              </a:rPr>
              <a:t>Suchbaum</a:t>
            </a:r>
            <a:r>
              <a:rPr sz="1600" b="0" i="0">
                <a:solidFill>
                  <a:srgbClr val="1F2A37"/>
                </a:solidFill>
                <a:latin typeface="Calibri"/>
              </a:rPr>
              <a:t/>
            </a:r>
          </a:p>
          <a:p>
            <a:pPr>
              <a:spcAft>
                <a:spcPts val="600"/>
              </a:spcAft>
            </a:pPr>
            <a:r>
              <a:rPr sz="1600" b="0" i="0">
                <a:solidFill>
                  <a:srgbClr val="1F2A37"/>
                </a:solidFill>
                <a:latin typeface="Calibri"/>
              </a:rPr>
              <a:t>Typische Fehler</a:t>
            </a:r>
            <a:r>
              <a:rPr sz="16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Begriffe, Ebene und Höhe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492240" cy="489204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1" i="0">
                <a:solidFill>
                  <a:srgbClr val="1F2A37"/>
                </a:solidFill>
                <a:latin typeface="Calibri"/>
              </a:rPr>
              <a:t>Wurzel:</a:t>
            </a:r>
            <a:r>
              <a:rPr sz="2200" b="0" i="0">
                <a:solidFill>
                  <a:srgbClr val="1F2A37"/>
                </a:solidFill>
                <a:latin typeface="Calibri"/>
              </a:rPr>
              <a:t> 11 · </a:t>
            </a:r>
            <a:r>
              <a:rPr sz="2200" b="1" i="0">
                <a:solidFill>
                  <a:srgbClr val="1F2A37"/>
                </a:solidFill>
                <a:latin typeface="Calibri"/>
              </a:rPr>
              <a:t>Blätter:</a:t>
            </a:r>
            <a:r>
              <a:rPr sz="2200" b="0" i="0">
                <a:solidFill>
                  <a:srgbClr val="1F2A37"/>
                </a:solidFill>
                <a:latin typeface="Calibri"/>
              </a:rPr>
              <a:t> 2, 5, 8</a:t>
            </a:r>
            <a:r>
              <a:rPr sz="2200" b="0" i="0">
                <a:solidFill>
                  <a:srgbClr val="1F2A37"/>
                </a:solidFill>
                <a:latin typeface="Calibri"/>
              </a:rPr>
              <a:t/>
            </a:r>
          </a:p>
          <a:p>
            <a:pPr>
              <a:spcAft>
                <a:spcPts val="1000"/>
              </a:spcAft>
            </a:pPr>
            <a:r>
              <a:rPr sz="2200" b="1" i="0">
                <a:solidFill>
                  <a:srgbClr val="B8860B"/>
                </a:solidFill>
                <a:latin typeface="Calibri"/>
              </a:rPr>
              <a:t>▸ </a:t>
            </a:r>
            <a:r>
              <a:rPr sz="2200" b="1" i="0">
                <a:solidFill>
                  <a:srgbClr val="1F2A37"/>
                </a:solidFill>
                <a:latin typeface="Calibri"/>
              </a:rPr>
              <a:t>innere Knoten:</a:t>
            </a:r>
            <a:r>
              <a:rPr sz="2200" b="0" i="0">
                <a:solidFill>
                  <a:srgbClr val="1F2A37"/>
                </a:solidFill>
                <a:latin typeface="Calibri"/>
              </a:rPr>
              <a:t> 11, 6, 9, 3</a:t>
            </a:r>
            <a:r>
              <a:rPr sz="2200" b="0" i="0">
                <a:solidFill>
                  <a:srgbClr val="1F2A37"/>
                </a:solidFill>
                <a:latin typeface="Calibri"/>
              </a:rPr>
              <a:t/>
            </a:r>
          </a:p>
          <a:p>
            <a:pPr>
              <a:spcAft>
                <a:spcPts val="1000"/>
              </a:spcAft>
            </a:pPr>
            <a:r>
              <a:rPr sz="2200" b="1" i="0">
                <a:solidFill>
                  <a:srgbClr val="B8860B"/>
                </a:solidFill>
                <a:latin typeface="Calibri"/>
              </a:rPr>
              <a:t>▸ </a:t>
            </a:r>
            <a:r>
              <a:rPr sz="2200" b="1" i="0">
                <a:solidFill>
                  <a:srgbClr val="1F2A37"/>
                </a:solidFill>
                <a:latin typeface="Calibri"/>
              </a:rPr>
              <a:t>Teilbaum:</a:t>
            </a:r>
            <a:r>
              <a:rPr sz="2200" b="0" i="0">
                <a:solidFill>
                  <a:srgbClr val="1F2A37"/>
                </a:solidFill>
                <a:latin typeface="Calibri"/>
              </a:rPr>
              <a:t> ein Kind mit allem darunter</a:t>
            </a:r>
            <a:r>
              <a:rPr sz="2200" b="0" i="0">
                <a:solidFill>
                  <a:srgbClr val="1F2A37"/>
                </a:solidFill>
                <a:latin typeface="Calibri"/>
              </a:rPr>
              <a:t/>
            </a:r>
          </a:p>
          <a:p>
            <a:pPr>
              <a:spcAft>
                <a:spcPts val="1000"/>
              </a:spcAft>
            </a:pPr>
            <a:r>
              <a:rPr sz="2200" b="1" i="0">
                <a:solidFill>
                  <a:srgbClr val="B8860B"/>
                </a:solidFill>
                <a:latin typeface="Calibri"/>
              </a:rPr>
              <a:t>▸ </a:t>
            </a:r>
            <a:r>
              <a:rPr sz="2200" b="1" i="0">
                <a:solidFill>
                  <a:srgbClr val="1F2A37"/>
                </a:solidFill>
                <a:latin typeface="Calibri"/>
              </a:rPr>
              <a:t>Ebene:</a:t>
            </a:r>
            <a:r>
              <a:rPr sz="2200" b="0" i="0">
                <a:solidFill>
                  <a:srgbClr val="1F2A37"/>
                </a:solidFill>
                <a:latin typeface="Calibri"/>
              </a:rPr>
              <a:t> Abstand zur Wurzel (Wurzel = 0)</a:t>
            </a:r>
            <a:r>
              <a:rPr sz="2200" b="0" i="0">
                <a:solidFill>
                  <a:srgbClr val="1F2A37"/>
                </a:solidFill>
                <a:latin typeface="Calibri"/>
              </a:rPr>
              <a:t/>
            </a:r>
          </a:p>
          <a:p>
            <a:pPr>
              <a:spcAft>
                <a:spcPts val="1000"/>
              </a:spcAft>
            </a:pPr>
            <a:r>
              <a:rPr sz="2200" b="1" i="0">
                <a:solidFill>
                  <a:srgbClr val="7F7F7F"/>
                </a:solidFill>
                <a:latin typeface="Calibri"/>
              </a:rPr>
              <a:t>      – </a:t>
            </a:r>
            <a:r>
              <a:rPr sz="1900" b="0" i="0">
                <a:solidFill>
                  <a:srgbClr val="1F2A37"/>
                </a:solidFill>
                <a:latin typeface="Calibri"/>
              </a:rPr>
              <a:t>Knoten 5 liegt auf Ebene 3</a:t>
            </a:r>
            <a:r>
              <a:rPr sz="2200" b="0" i="0">
                <a:solidFill>
                  <a:srgbClr val="1F2A37"/>
                </a:solidFill>
                <a:latin typeface="Calibri"/>
              </a:rPr>
              <a:t/>
            </a:r>
          </a:p>
          <a:p>
            <a:pPr>
              <a:spcAft>
                <a:spcPts val="1000"/>
              </a:spcAft>
            </a:pPr>
            <a:r>
              <a:rPr sz="2200" b="1" i="0">
                <a:solidFill>
                  <a:srgbClr val="B8860B"/>
                </a:solidFill>
                <a:latin typeface="Calibri"/>
              </a:rPr>
              <a:t>▸ </a:t>
            </a:r>
            <a:r>
              <a:rPr sz="2200" b="1" i="0">
                <a:solidFill>
                  <a:srgbClr val="1F2A37"/>
                </a:solidFill>
                <a:latin typeface="Calibri"/>
              </a:rPr>
              <a:t>Höhe</a:t>
            </a:r>
            <a:r>
              <a:rPr sz="2200" b="0" i="0">
                <a:solidFill>
                  <a:srgbClr val="1F2A37"/>
                </a:solidFill>
                <a:latin typeface="Calibri"/>
              </a:rPr>
              <a:t> = Anzahl der Ebenen, hier </a:t>
            </a:r>
            <a:r>
              <a:rPr sz="2200" b="1" i="0">
                <a:solidFill>
                  <a:srgbClr val="1F2A37"/>
                </a:solidFill>
                <a:latin typeface="Calibri"/>
              </a:rPr>
              <a:t>4</a:t>
            </a:r>
            <a:r>
              <a:rPr sz="2200" b="0" i="0">
                <a:solidFill>
                  <a:srgbClr val="1F2A37"/>
                </a:solidFill>
                <a:latin typeface="Calibri"/>
              </a:rPr>
              <a:t/>
            </a:r>
          </a:p>
          <a:p>
            <a:pPr>
              <a:spcAft>
                <a:spcPts val="1000"/>
              </a:spcAft>
            </a:pPr>
            <a:r>
              <a:rPr sz="2200" b="1" i="0">
                <a:solidFill>
                  <a:srgbClr val="7F7F7F"/>
                </a:solidFill>
                <a:latin typeface="Calibri"/>
              </a:rPr>
              <a:t>      – </a:t>
            </a:r>
            <a:r>
              <a:rPr sz="1900" b="0" i="0">
                <a:solidFill>
                  <a:srgbClr val="1F2A37"/>
                </a:solidFill>
                <a:latin typeface="Calibri"/>
              </a:rPr>
              <a:t>leerer Baum </a:t>
            </a:r>
            <a:r>
              <a:rPr sz="1900" b="1" i="0">
                <a:solidFill>
                  <a:srgbClr val="1F2A37"/>
                </a:solidFill>
                <a:latin typeface="Calibri"/>
              </a:rPr>
              <a:t>0</a:t>
            </a:r>
            <a:r>
              <a:rPr sz="1900" b="0" i="0">
                <a:solidFill>
                  <a:srgbClr val="1F2A37"/>
                </a:solidFill>
                <a:latin typeface="Calibri"/>
              </a:rPr>
              <a:t> · Blatt </a:t>
            </a:r>
            <a:r>
              <a:rPr sz="1900" b="1" i="0">
                <a:solidFill>
                  <a:srgbClr val="1F2A37"/>
                </a:solidFill>
                <a:latin typeface="Calibri"/>
              </a:rPr>
              <a:t>1</a:t>
            </a:r>
            <a:r>
              <a:rPr sz="2200" b="0" i="0">
                <a:solidFill>
                  <a:srgbClr val="1F2A37"/>
                </a:solidFill>
                <a:latin typeface="Calibri"/>
              </a:rPr>
              <a:t/>
            </a:r>
          </a:p>
          <a:p>
            <a:pPr>
              <a:spcAft>
                <a:spcPts val="1000"/>
              </a:spcAft>
            </a:pPr>
            <a:r>
              <a:rPr sz="2200" b="1" i="0">
                <a:solidFill>
                  <a:srgbClr val="7F7F7F"/>
                </a:solidFill>
                <a:latin typeface="Calibri"/>
              </a:rPr>
              <a:t>      – </a:t>
            </a:r>
            <a:r>
              <a:rPr sz="1900" b="0" i="0">
                <a:solidFill>
                  <a:srgbClr val="1F2A37"/>
                </a:solidFill>
                <a:latin typeface="Calibri"/>
              </a:rPr>
              <a:t>sonst 1 + max(Höhe links, Höhe rechts)</a:t>
            </a:r>
            <a:r>
              <a:rPr sz="2200" b="0" i="0">
                <a:solidFill>
                  <a:srgbClr val="1F2A37"/>
                </a:solidFill>
                <a:latin typeface="Calibri"/>
              </a:rPr>
              <a:t/>
            </a:r>
          </a:p>
        </p:txBody>
      </p:sp>
      <p:pic>
        <p:nvPicPr>
          <p:cNvPr id="6" name="Picture 5" descr="baum_weg.png"/>
          <p:cNvPicPr>
            <a:picLocks noChangeAspect="1"/>
          </p:cNvPicPr>
          <p:nvPr/>
        </p:nvPicPr>
        <p:blipFill>
          <a:blip r:embed="rId2"/>
          <a:stretch>
            <a:fillRect/>
          </a:stretch>
        </p:blipFill>
        <p:spPr>
          <a:xfrm>
            <a:off x="7315200" y="1325880"/>
            <a:ext cx="3867446" cy="2651759"/>
          </a:xfrm>
          <a:prstGeom prst="rect">
            <a:avLst/>
          </a:prstGeom>
        </p:spPr>
      </p:pic>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Die Schnittstelle BinTree nach EH §4</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7772400" cy="685799"/>
          </a:xfrm>
          <a:prstGeom prst="rect">
            <a:avLst/>
          </a:prstGeom>
          <a:noFill/>
        </p:spPr>
        <p:txBody>
          <a:bodyPr wrap="square" anchor="t" lIns="45720" rIns="45720">
            <a:spAutoFit/>
          </a:bodyPr>
          <a:lstStyle/>
          <a:p>
            <a:r>
              <a:rPr sz="2000" b="0" i="0">
                <a:solidFill>
                  <a:srgbClr val="1F2A37"/>
                </a:solidFill>
                <a:latin typeface="Calibri"/>
              </a:rPr>
              <a:t>Nicht generisch: </a:t>
            </a:r>
            <a:r>
              <a:rPr sz="1900" b="0" i="0">
                <a:solidFill>
                  <a:srgbClr val="1F4E79"/>
                </a:solidFill>
                <a:latin typeface="Consolas"/>
              </a:rPr>
              <a:t>int x = (Integer) b.getItem();</a:t>
            </a:r>
            <a:r>
              <a:rPr sz="2000" b="0" i="0">
                <a:solidFill>
                  <a:srgbClr val="1F2A37"/>
                </a:solidFill>
                <a:latin typeface="Calibri"/>
              </a:rPr>
              <a:t> · Teilbäume sind nie </a:t>
            </a:r>
            <a:r>
              <a:rPr sz="1900" b="0" i="0">
                <a:solidFill>
                  <a:srgbClr val="1F4E79"/>
                </a:solidFill>
                <a:latin typeface="Consolas"/>
              </a:rPr>
              <a:t>null</a:t>
            </a:r>
            <a:r>
              <a:rPr sz="2000" b="0" i="0">
                <a:solidFill>
                  <a:srgbClr val="1F2A37"/>
                </a:solidFill>
                <a:latin typeface="Calibri"/>
              </a:rPr>
              <a:t>, höchstens leer.</a:t>
            </a:r>
          </a:p>
        </p:txBody>
      </p:sp>
      <p:graphicFrame>
        <p:nvGraphicFramePr>
          <p:cNvPr id="6" name="Table 5"/>
          <p:cNvGraphicFramePr>
            <a:graphicFrameLocks noGrp="1"/>
          </p:cNvGraphicFramePr>
          <p:nvPr/>
        </p:nvGraphicFramePr>
        <p:xfrm>
          <a:off x="548640" y="2194560"/>
          <a:ext cx="7772400" cy="3474720"/>
        </p:xfrm>
        <a:graphic>
          <a:graphicData uri="http://schemas.openxmlformats.org/drawingml/2006/table">
            <a:tbl>
              <a:tblPr firstRow="1" bandRow="1">
                <a:tableStyleId>{5C22544A-7EE6-4342-B048-85BDC9FD1C3A}</a:tableStyleId>
              </a:tblPr>
              <a:tblGrid>
                <a:gridCol w="3291840"/>
                <a:gridCol w="3566160"/>
                <a:gridCol w="914400"/>
              </a:tblGrid>
              <a:tr h="386080">
                <a:tc>
                  <a:txBody>
                    <a:bodyPr/>
                    <a:lstStyle/>
                    <a:p>
                      <a:pPr algn="ctr"/>
                      <a:r>
                        <a:rPr sz="1600" b="1">
                          <a:solidFill>
                            <a:srgbClr val="FFFFFF"/>
                          </a:solidFill>
                          <a:latin typeface="Calibri"/>
                        </a:rPr>
                        <a:t>Methode</a:t>
                      </a:r>
                    </a:p>
                  </a:txBody>
                  <a:tcPr marL="54864" marR="54864" marT="18288" marB="18288" anchor="ctr">
                    <a:solidFill>
                      <a:srgbClr val="1F4E79"/>
                    </a:solidFill>
                  </a:tcPr>
                </a:tc>
                <a:tc>
                  <a:txBody>
                    <a:bodyPr/>
                    <a:lstStyle/>
                    <a:p>
                      <a:pPr algn="ctr"/>
                      <a:r>
                        <a:rPr sz="1600" b="1">
                          <a:solidFill>
                            <a:srgbClr val="FFFFFF"/>
                          </a:solidFill>
                          <a:latin typeface="Calibri"/>
                        </a:rPr>
                        <a:t>Wirkung</a:t>
                      </a:r>
                    </a:p>
                  </a:txBody>
                  <a:tcPr marL="54864" marR="54864" marT="18288" marB="18288" anchor="ctr">
                    <a:solidFill>
                      <a:srgbClr val="1F4E79"/>
                    </a:solidFill>
                  </a:tcPr>
                </a:tc>
                <a:tc>
                  <a:txBody>
                    <a:bodyPr/>
                    <a:lstStyle/>
                    <a:p>
                      <a:pPr algn="ctr"/>
                      <a:r>
                        <a:rPr sz="1600" b="1">
                          <a:solidFill>
                            <a:srgbClr val="FFFFFF"/>
                          </a:solidFill>
                          <a:latin typeface="Calibri"/>
                        </a:rPr>
                        <a:t>leer?</a:t>
                      </a:r>
                    </a:p>
                  </a:txBody>
                  <a:tcPr marL="54864" marR="54864" marT="18288" marB="18288" anchor="ctr">
                    <a:solidFill>
                      <a:srgbClr val="1F4E79"/>
                    </a:solidFill>
                  </a:tcPr>
                </a:tc>
              </a:tr>
              <a:tr h="386080">
                <a:tc>
                  <a:txBody>
                    <a:bodyPr/>
                    <a:lstStyle/>
                    <a:p>
                      <a:pPr algn="ctr"/>
                      <a:r>
                        <a:rPr sz="1600" b="0">
                          <a:solidFill>
                            <a:srgbClr val="1F2A37"/>
                          </a:solidFill>
                          <a:latin typeface="Consolas"/>
                        </a:rPr>
                        <a:t>BinTree() / BinTree(o)</a:t>
                      </a:r>
                    </a:p>
                  </a:txBody>
                  <a:tcPr marL="54864" marR="54864" marT="18288" marB="18288" anchor="ctr">
                    <a:solidFill>
                      <a:srgbClr val="FFFFFF"/>
                    </a:solidFill>
                  </a:tcPr>
                </a:tc>
                <a:tc>
                  <a:txBody>
                    <a:bodyPr/>
                    <a:lstStyle/>
                    <a:p>
                      <a:pPr algn="ctr"/>
                      <a:r>
                        <a:rPr sz="1600" b="0">
                          <a:solidFill>
                            <a:srgbClr val="1F2A37"/>
                          </a:solidFill>
                          <a:latin typeface="Consolas"/>
                        </a:rPr>
                        <a:t>leer / Blatt mit Inhalt o</a:t>
                      </a:r>
                    </a:p>
                  </a:txBody>
                  <a:tcPr marL="54864" marR="54864" marT="18288" marB="18288" anchor="ctr">
                    <a:solidFill>
                      <a:srgbClr val="FFFFFF"/>
                    </a:solidFill>
                  </a:tcPr>
                </a:tc>
                <a:tc>
                  <a:txBody>
                    <a:bodyPr/>
                    <a:lstStyle/>
                    <a:p>
                      <a:pPr algn="ctr"/>
                      <a:r>
                        <a:rPr sz="1600" b="0">
                          <a:solidFill>
                            <a:srgbClr val="1F2A37"/>
                          </a:solidFill>
                          <a:latin typeface="Consolas"/>
                        </a:rPr>
                        <a:t/>
                      </a:r>
                    </a:p>
                  </a:txBody>
                  <a:tcPr marL="54864" marR="54864" marT="18288" marB="18288" anchor="ctr">
                    <a:solidFill>
                      <a:srgbClr val="FFFFFF"/>
                    </a:solidFill>
                  </a:tcPr>
                </a:tc>
              </a:tr>
              <a:tr h="386080">
                <a:tc>
                  <a:txBody>
                    <a:bodyPr/>
                    <a:lstStyle/>
                    <a:p>
                      <a:pPr algn="ctr"/>
                      <a:r>
                        <a:rPr sz="1600" b="0">
                          <a:solidFill>
                            <a:srgbClr val="1F2A37"/>
                          </a:solidFill>
                          <a:latin typeface="Consolas"/>
                        </a:rPr>
                        <a:t>isEmpty()</a:t>
                      </a:r>
                    </a:p>
                  </a:txBody>
                  <a:tcPr marL="54864" marR="54864" marT="18288" marB="18288" anchor="ctr">
                    <a:solidFill>
                      <a:srgbClr val="EEF3FA"/>
                    </a:solidFill>
                  </a:tcPr>
                </a:tc>
                <a:tc>
                  <a:txBody>
                    <a:bodyPr/>
                    <a:lstStyle/>
                    <a:p>
                      <a:pPr algn="ctr"/>
                      <a:r>
                        <a:rPr sz="1600" b="0">
                          <a:solidFill>
                            <a:srgbClr val="1F2A37"/>
                          </a:solidFill>
                          <a:latin typeface="Consolas"/>
                        </a:rPr>
                        <a:t>Baum leer?</a:t>
                      </a:r>
                    </a:p>
                  </a:txBody>
                  <a:tcPr marL="54864" marR="54864" marT="18288" marB="18288" anchor="ctr">
                    <a:solidFill>
                      <a:srgbClr val="EEF3FA"/>
                    </a:solidFill>
                  </a:tcPr>
                </a:tc>
                <a:tc>
                  <a:txBody>
                    <a:bodyPr/>
                    <a:lstStyle/>
                    <a:p>
                      <a:pPr algn="ctr"/>
                      <a:r>
                        <a:rPr sz="1600" b="0">
                          <a:solidFill>
                            <a:srgbClr val="1F2A37"/>
                          </a:solidFill>
                          <a:latin typeface="Consolas"/>
                        </a:rPr>
                        <a:t/>
                      </a:r>
                    </a:p>
                  </a:txBody>
                  <a:tcPr marL="54864" marR="54864" marT="18288" marB="18288" anchor="ctr">
                    <a:solidFill>
                      <a:srgbClr val="EEF3FA"/>
                    </a:solidFill>
                  </a:tcPr>
                </a:tc>
              </a:tr>
              <a:tr h="386080">
                <a:tc>
                  <a:txBody>
                    <a:bodyPr/>
                    <a:lstStyle/>
                    <a:p>
                      <a:pPr algn="ctr"/>
                      <a:r>
                        <a:rPr sz="1600" b="0">
                          <a:solidFill>
                            <a:srgbClr val="1F2A37"/>
                          </a:solidFill>
                          <a:latin typeface="Consolas"/>
                        </a:rPr>
                        <a:t>isLeaf()</a:t>
                      </a:r>
                    </a:p>
                  </a:txBody>
                  <a:tcPr marL="54864" marR="54864" marT="18288" marB="18288" anchor="ctr">
                    <a:solidFill>
                      <a:srgbClr val="FFFFFF"/>
                    </a:solidFill>
                  </a:tcPr>
                </a:tc>
                <a:tc>
                  <a:txBody>
                    <a:bodyPr/>
                    <a:lstStyle/>
                    <a:p>
                      <a:pPr algn="ctr"/>
                      <a:r>
                        <a:rPr sz="1600" b="0">
                          <a:solidFill>
                            <a:srgbClr val="1F2A37"/>
                          </a:solidFill>
                          <a:latin typeface="Consolas"/>
                        </a:rPr>
                        <a:t>beide Teilbäume leer?</a:t>
                      </a:r>
                    </a:p>
                  </a:txBody>
                  <a:tcPr marL="54864" marR="54864" marT="18288" marB="18288" anchor="ctr">
                    <a:solidFill>
                      <a:srgbClr val="FFFFFF"/>
                    </a:solidFill>
                  </a:tcPr>
                </a:tc>
                <a:tc>
                  <a:txBody>
                    <a:bodyPr/>
                    <a:lstStyle/>
                    <a:p>
                      <a:pPr algn="ctr"/>
                      <a:r>
                        <a:rPr sz="1600" b="0">
                          <a:solidFill>
                            <a:srgbClr val="1F2A37"/>
                          </a:solidFill>
                          <a:latin typeface="Consolas"/>
                        </a:rPr>
                        <a:t/>
                      </a:r>
                    </a:p>
                  </a:txBody>
                  <a:tcPr marL="54864" marR="54864" marT="18288" marB="18288" anchor="ctr">
                    <a:solidFill>
                      <a:srgbClr val="FFFFFF"/>
                    </a:solidFill>
                  </a:tcPr>
                </a:tc>
              </a:tr>
              <a:tr h="386080">
                <a:tc>
                  <a:txBody>
                    <a:bodyPr/>
                    <a:lstStyle/>
                    <a:p>
                      <a:pPr algn="ctr"/>
                      <a:r>
                        <a:rPr sz="1600" b="1">
                          <a:solidFill>
                            <a:srgbClr val="C00000"/>
                          </a:solidFill>
                          <a:latin typeface="Consolas"/>
                        </a:rPr>
                        <a:t>getItem()</a:t>
                      </a:r>
                    </a:p>
                  </a:txBody>
                  <a:tcPr marL="54864" marR="54864" marT="18288" marB="18288" anchor="ctr">
                    <a:solidFill>
                      <a:srgbClr val="EEF3FA"/>
                    </a:solidFill>
                  </a:tcPr>
                </a:tc>
                <a:tc>
                  <a:txBody>
                    <a:bodyPr/>
                    <a:lstStyle/>
                    <a:p>
                      <a:pPr algn="ctr"/>
                      <a:r>
                        <a:rPr sz="1600" b="1">
                          <a:solidFill>
                            <a:srgbClr val="C00000"/>
                          </a:solidFill>
                          <a:latin typeface="Consolas"/>
                        </a:rPr>
                        <a:t>Inhalt der Wurzel</a:t>
                      </a:r>
                    </a:p>
                  </a:txBody>
                  <a:tcPr marL="54864" marR="54864" marT="18288" marB="18288" anchor="ctr">
                    <a:solidFill>
                      <a:srgbClr val="EEF3FA"/>
                    </a:solidFill>
                  </a:tcPr>
                </a:tc>
                <a:tc>
                  <a:txBody>
                    <a:bodyPr/>
                    <a:lstStyle/>
                    <a:p>
                      <a:pPr algn="ctr"/>
                      <a:r>
                        <a:rPr sz="1600" b="1">
                          <a:solidFill>
                            <a:srgbClr val="C00000"/>
                          </a:solidFill>
                          <a:latin typeface="Consolas"/>
                        </a:rPr>
                        <a:t>Fehler</a:t>
                      </a:r>
                    </a:p>
                  </a:txBody>
                  <a:tcPr marL="54864" marR="54864" marT="18288" marB="18288" anchor="ctr">
                    <a:solidFill>
                      <a:srgbClr val="EEF3FA"/>
                    </a:solidFill>
                  </a:tcPr>
                </a:tc>
              </a:tr>
              <a:tr h="386080">
                <a:tc>
                  <a:txBody>
                    <a:bodyPr/>
                    <a:lstStyle/>
                    <a:p>
                      <a:pPr algn="ctr"/>
                      <a:r>
                        <a:rPr sz="1600" b="0">
                          <a:solidFill>
                            <a:srgbClr val="1F2A37"/>
                          </a:solidFill>
                          <a:latin typeface="Consolas"/>
                        </a:rPr>
                        <a:t>setItem(o)</a:t>
                      </a:r>
                    </a:p>
                  </a:txBody>
                  <a:tcPr marL="54864" marR="54864" marT="18288" marB="18288" anchor="ctr">
                    <a:solidFill>
                      <a:srgbClr val="FFFFFF"/>
                    </a:solidFill>
                  </a:tcPr>
                </a:tc>
                <a:tc>
                  <a:txBody>
                    <a:bodyPr/>
                    <a:lstStyle/>
                    <a:p>
                      <a:pPr algn="ctr"/>
                      <a:r>
                        <a:rPr sz="1600" b="0">
                          <a:solidFill>
                            <a:srgbClr val="1F2A37"/>
                          </a:solidFill>
                          <a:latin typeface="Consolas"/>
                        </a:rPr>
                        <a:t>Inhalt setzen (leer → Blatt)</a:t>
                      </a:r>
                    </a:p>
                  </a:txBody>
                  <a:tcPr marL="54864" marR="54864" marT="18288" marB="18288" anchor="ctr">
                    <a:solidFill>
                      <a:srgbClr val="FFFFFF"/>
                    </a:solidFill>
                  </a:tcPr>
                </a:tc>
                <a:tc>
                  <a:txBody>
                    <a:bodyPr/>
                    <a:lstStyle/>
                    <a:p>
                      <a:pPr algn="ctr"/>
                      <a:r>
                        <a:rPr sz="1600" b="0">
                          <a:solidFill>
                            <a:srgbClr val="1F2A37"/>
                          </a:solidFill>
                          <a:latin typeface="Consolas"/>
                        </a:rPr>
                        <a:t/>
                      </a:r>
                    </a:p>
                  </a:txBody>
                  <a:tcPr marL="54864" marR="54864" marT="18288" marB="18288" anchor="ctr">
                    <a:solidFill>
                      <a:srgbClr val="FFFFFF"/>
                    </a:solidFill>
                  </a:tcPr>
                </a:tc>
              </a:tr>
              <a:tr h="386080">
                <a:tc>
                  <a:txBody>
                    <a:bodyPr/>
                    <a:lstStyle/>
                    <a:p>
                      <a:pPr algn="ctr"/>
                      <a:r>
                        <a:rPr sz="1600" b="1">
                          <a:solidFill>
                            <a:srgbClr val="C00000"/>
                          </a:solidFill>
                          <a:latin typeface="Consolas"/>
                        </a:rPr>
                        <a:t>getLeft() / getRight()</a:t>
                      </a:r>
                    </a:p>
                  </a:txBody>
                  <a:tcPr marL="54864" marR="54864" marT="18288" marB="18288" anchor="ctr">
                    <a:solidFill>
                      <a:srgbClr val="EEF3FA"/>
                    </a:solidFill>
                  </a:tcPr>
                </a:tc>
                <a:tc>
                  <a:txBody>
                    <a:bodyPr/>
                    <a:lstStyle/>
                    <a:p>
                      <a:pPr algn="ctr"/>
                      <a:r>
                        <a:rPr sz="1600" b="1">
                          <a:solidFill>
                            <a:srgbClr val="C00000"/>
                          </a:solidFill>
                          <a:latin typeface="Consolas"/>
                        </a:rPr>
                        <a:t>linker / rechter Teilbaum</a:t>
                      </a:r>
                    </a:p>
                  </a:txBody>
                  <a:tcPr marL="54864" marR="54864" marT="18288" marB="18288" anchor="ctr">
                    <a:solidFill>
                      <a:srgbClr val="EEF3FA"/>
                    </a:solidFill>
                  </a:tcPr>
                </a:tc>
                <a:tc>
                  <a:txBody>
                    <a:bodyPr/>
                    <a:lstStyle/>
                    <a:p>
                      <a:pPr algn="ctr"/>
                      <a:r>
                        <a:rPr sz="1600" b="1">
                          <a:solidFill>
                            <a:srgbClr val="C00000"/>
                          </a:solidFill>
                          <a:latin typeface="Consolas"/>
                        </a:rPr>
                        <a:t>Fehler</a:t>
                      </a:r>
                    </a:p>
                  </a:txBody>
                  <a:tcPr marL="54864" marR="54864" marT="18288" marB="18288" anchor="ctr">
                    <a:solidFill>
                      <a:srgbClr val="EEF3FA"/>
                    </a:solidFill>
                  </a:tcPr>
                </a:tc>
              </a:tr>
              <a:tr h="386080">
                <a:tc>
                  <a:txBody>
                    <a:bodyPr/>
                    <a:lstStyle/>
                    <a:p>
                      <a:pPr algn="ctr"/>
                      <a:r>
                        <a:rPr sz="1600" b="1">
                          <a:solidFill>
                            <a:srgbClr val="C00000"/>
                          </a:solidFill>
                          <a:latin typeface="Consolas"/>
                        </a:rPr>
                        <a:t>setLeft(b) / setRight(b)</a:t>
                      </a:r>
                    </a:p>
                  </a:txBody>
                  <a:tcPr marL="54864" marR="54864" marT="18288" marB="18288" anchor="ctr">
                    <a:solidFill>
                      <a:srgbClr val="FFFFFF"/>
                    </a:solidFill>
                  </a:tcPr>
                </a:tc>
                <a:tc>
                  <a:txBody>
                    <a:bodyPr/>
                    <a:lstStyle/>
                    <a:p>
                      <a:pPr algn="ctr"/>
                      <a:r>
                        <a:rPr sz="1600" b="1">
                          <a:solidFill>
                            <a:srgbClr val="C00000"/>
                          </a:solidFill>
                          <a:latin typeface="Consolas"/>
                        </a:rPr>
                        <a:t>Teilbaum anhängen</a:t>
                      </a:r>
                    </a:p>
                  </a:txBody>
                  <a:tcPr marL="54864" marR="54864" marT="18288" marB="18288" anchor="ctr">
                    <a:solidFill>
                      <a:srgbClr val="FFFFFF"/>
                    </a:solidFill>
                  </a:tcPr>
                </a:tc>
                <a:tc>
                  <a:txBody>
                    <a:bodyPr/>
                    <a:lstStyle/>
                    <a:p>
                      <a:pPr algn="ctr"/>
                      <a:r>
                        <a:rPr sz="1600" b="1">
                          <a:solidFill>
                            <a:srgbClr val="C00000"/>
                          </a:solidFill>
                          <a:latin typeface="Consolas"/>
                        </a:rPr>
                        <a:t>Fehler</a:t>
                      </a:r>
                    </a:p>
                  </a:txBody>
                  <a:tcPr marL="54864" marR="54864" marT="18288" marB="18288" anchor="ctr">
                    <a:solidFill>
                      <a:srgbClr val="FFFFFF"/>
                    </a:solidFill>
                  </a:tcPr>
                </a:tc>
              </a:tr>
              <a:tr h="386080">
                <a:tc>
                  <a:txBody>
                    <a:bodyPr/>
                    <a:lstStyle/>
                    <a:p>
                      <a:pPr algn="ctr"/>
                      <a:r>
                        <a:rPr sz="1600" b="0">
                          <a:solidFill>
                            <a:srgbClr val="1F2A37"/>
                          </a:solidFill>
                          <a:latin typeface="Consolas"/>
                        </a:rPr>
                        <a:t>setEmpty()</a:t>
                      </a:r>
                    </a:p>
                  </a:txBody>
                  <a:tcPr marL="54864" marR="54864" marT="18288" marB="18288" anchor="ctr">
                    <a:solidFill>
                      <a:srgbClr val="EEF3FA"/>
                    </a:solidFill>
                  </a:tcPr>
                </a:tc>
                <a:tc>
                  <a:txBody>
                    <a:bodyPr/>
                    <a:lstStyle/>
                    <a:p>
                      <a:pPr algn="ctr"/>
                      <a:r>
                        <a:rPr sz="1600" b="0">
                          <a:solidFill>
                            <a:srgbClr val="1F2A37"/>
                          </a:solidFill>
                          <a:latin typeface="Consolas"/>
                        </a:rPr>
                        <a:t>Baum leeren</a:t>
                      </a:r>
                    </a:p>
                  </a:txBody>
                  <a:tcPr marL="54864" marR="54864" marT="18288" marB="18288" anchor="ctr">
                    <a:solidFill>
                      <a:srgbClr val="EEF3FA"/>
                    </a:solidFill>
                  </a:tcPr>
                </a:tc>
                <a:tc>
                  <a:txBody>
                    <a:bodyPr/>
                    <a:lstStyle/>
                    <a:p>
                      <a:pPr algn="ctr"/>
                      <a:r>
                        <a:rPr sz="1600" b="0">
                          <a:solidFill>
                            <a:srgbClr val="1F2A37"/>
                          </a:solidFill>
                          <a:latin typeface="Consolas"/>
                        </a:rPr>
                        <a:t/>
                      </a:r>
                    </a:p>
                  </a:txBody>
                  <a:tcPr marL="54864" marR="54864" marT="18288" marB="18288" anchor="ctr">
                    <a:solidFill>
                      <a:srgbClr val="EEF3FA"/>
                    </a:solidFill>
                  </a:tcPr>
                </a:tc>
              </a:tr>
            </a:tbl>
          </a:graphicData>
        </a:graphic>
      </p:graphicFrame>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Einen Baum aufbauen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416040" cy="2374392"/>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233160" cy="2282952"/>
          </a:xfrm>
          <a:prstGeom prst="rect">
            <a:avLst/>
          </a:prstGeom>
          <a:noFill/>
        </p:spPr>
        <p:txBody>
          <a:bodyPr wrap="square" anchor="t" lIns="45720" rIns="45720">
            <a:spAutoFit/>
          </a:bodyPr>
          <a:lstStyle/>
          <a:p>
            <a:pPr>
              <a:lnSpc>
                <a:spcPct val="100000"/>
              </a:lnSpc>
            </a:pPr>
            <a:r>
              <a:rPr sz="1600" b="0" i="0">
                <a:solidFill>
                  <a:srgbClr val="A0A7B1"/>
                </a:solidFill>
                <a:latin typeface="Consolas"/>
              </a:rPr>
              <a:t>1  </a:t>
            </a:r>
            <a:r>
              <a:rPr sz="1600" b="0" i="0">
                <a:solidFill>
                  <a:srgbClr val="1F2A37"/>
                </a:solidFill>
                <a:latin typeface="Consolas"/>
              </a:rPr>
              <a:t>BinTree b = new BinTree(11);</a:t>
            </a:r>
          </a:p>
          <a:p>
            <a:pPr>
              <a:lnSpc>
                <a:spcPct val="100000"/>
              </a:lnSpc>
            </a:pPr>
            <a:r>
              <a:rPr sz="1600" b="0" i="0">
                <a:solidFill>
                  <a:srgbClr val="A0A7B1"/>
                </a:solidFill>
                <a:latin typeface="Consolas"/>
              </a:rPr>
              <a:t>2  </a:t>
            </a:r>
            <a:r>
              <a:rPr sz="1600" b="0" i="0">
                <a:solidFill>
                  <a:srgbClr val="1F2A37"/>
                </a:solidFill>
                <a:latin typeface="Consolas"/>
              </a:rPr>
              <a:t>b.setLeft(new BinTree(6));</a:t>
            </a:r>
          </a:p>
          <a:p>
            <a:pPr>
              <a:lnSpc>
                <a:spcPct val="100000"/>
              </a:lnSpc>
            </a:pPr>
            <a:r>
              <a:rPr sz="1600" b="0" i="0">
                <a:solidFill>
                  <a:srgbClr val="A0A7B1"/>
                </a:solidFill>
                <a:latin typeface="Consolas"/>
              </a:rPr>
              <a:t>3  </a:t>
            </a:r>
            <a:r>
              <a:rPr sz="1600" b="0" i="0">
                <a:solidFill>
                  <a:srgbClr val="1F2A37"/>
                </a:solidFill>
                <a:latin typeface="Consolas"/>
              </a:rPr>
              <a:t>b.setRight(new BinTree(3));</a:t>
            </a:r>
          </a:p>
          <a:p>
            <a:pPr>
              <a:lnSpc>
                <a:spcPct val="100000"/>
              </a:lnSpc>
            </a:pPr>
            <a:r>
              <a:rPr sz="1600" b="0" i="0">
                <a:solidFill>
                  <a:srgbClr val="A0A7B1"/>
                </a:solidFill>
                <a:latin typeface="Consolas"/>
              </a:rPr>
              <a:t>4  </a:t>
            </a:r>
            <a:r>
              <a:rPr sz="1600" b="0" i="0">
                <a:solidFill>
                  <a:srgbClr val="1F2A37"/>
                </a:solidFill>
                <a:latin typeface="Consolas"/>
              </a:rPr>
              <a:t>b.getLeft().setLeft(new BinTree(2));</a:t>
            </a:r>
          </a:p>
          <a:p>
            <a:pPr>
              <a:lnSpc>
                <a:spcPct val="100000"/>
              </a:lnSpc>
            </a:pPr>
            <a:r>
              <a:rPr sz="1600" b="0" i="0">
                <a:solidFill>
                  <a:srgbClr val="A0A7B1"/>
                </a:solidFill>
                <a:latin typeface="Consolas"/>
              </a:rPr>
              <a:t>5  </a:t>
            </a:r>
            <a:r>
              <a:rPr sz="1600" b="0" i="0">
                <a:solidFill>
                  <a:srgbClr val="1F2A37"/>
                </a:solidFill>
                <a:latin typeface="Consolas"/>
              </a:rPr>
              <a:t>b.getLeft().setRight(new BinTree(9));</a:t>
            </a:r>
          </a:p>
          <a:p>
            <a:pPr>
              <a:lnSpc>
                <a:spcPct val="100000"/>
              </a:lnSpc>
            </a:pPr>
            <a:r>
              <a:rPr sz="1600" b="0" i="0">
                <a:solidFill>
                  <a:srgbClr val="A0A7B1"/>
                </a:solidFill>
                <a:latin typeface="Consolas"/>
              </a:rPr>
              <a:t>6  </a:t>
            </a:r>
            <a:r>
              <a:rPr sz="1600" b="0" i="0">
                <a:solidFill>
                  <a:srgbClr val="1F2A37"/>
                </a:solidFill>
                <a:latin typeface="Consolas"/>
              </a:rPr>
              <a:t>b.getLeft().getRight().setLeft(new BinTree(5));</a:t>
            </a:r>
          </a:p>
          <a:p>
            <a:pPr>
              <a:lnSpc>
                <a:spcPct val="100000"/>
              </a:lnSpc>
            </a:pPr>
            <a:r>
              <a:rPr sz="1600" b="0" i="0">
                <a:solidFill>
                  <a:srgbClr val="A0A7B1"/>
                </a:solidFill>
                <a:latin typeface="Consolas"/>
              </a:rPr>
              <a:t>7  </a:t>
            </a:r>
            <a:r>
              <a:rPr sz="1600" b="0" i="0">
                <a:solidFill>
                  <a:srgbClr val="1F2A37"/>
                </a:solidFill>
                <a:latin typeface="Consolas"/>
              </a:rPr>
              <a:t>b.getRight().getRight().setItem(8);</a:t>
            </a:r>
          </a:p>
          <a:p>
            <a:pPr>
              <a:lnSpc>
                <a:spcPct val="100000"/>
              </a:lnSpc>
            </a:pPr>
            <a:r>
              <a:rPr sz="1600" b="0" i="0">
                <a:solidFill>
                  <a:srgbClr val="A0A7B1"/>
                </a:solidFill>
                <a:latin typeface="Consolas"/>
              </a:rPr>
              <a:t>8  </a:t>
            </a:r>
            <a:r>
              <a:rPr sz="1600" b="0" i="0">
                <a:solidFill>
                  <a:srgbClr val="1F2A37"/>
                </a:solidFill>
                <a:latin typeface="Consolas"/>
              </a:rPr>
              <a:t>int x = (Integer) b.getLeft().getItem();</a:t>
            </a:r>
          </a:p>
        </p:txBody>
      </p:sp>
      <p:sp>
        <p:nvSpPr>
          <p:cNvPr id="7" name="TextBox 6"/>
          <p:cNvSpPr txBox="1"/>
          <p:nvPr/>
        </p:nvSpPr>
        <p:spPr>
          <a:xfrm>
            <a:off x="548640" y="3928872"/>
            <a:ext cx="6416040" cy="2426208"/>
          </a:xfrm>
          <a:prstGeom prst="rect">
            <a:avLst/>
          </a:prstGeom>
          <a:noFill/>
        </p:spPr>
        <p:txBody>
          <a:bodyPr wrap="square" anchor="t" lIns="45720" rIns="45720">
            <a:spAutoFit/>
          </a:bodyPr>
          <a:lstStyle/>
          <a:p>
            <a:pPr>
              <a:spcAft>
                <a:spcPts val="1000"/>
              </a:spcAft>
            </a:pPr>
            <a:r>
              <a:rPr sz="2000" b="1" i="0">
                <a:solidFill>
                  <a:srgbClr val="B8860B"/>
                </a:solidFill>
                <a:latin typeface="Calibri"/>
              </a:rPr>
              <a:t>▸ </a:t>
            </a:r>
            <a:r>
              <a:rPr sz="2000" b="0" i="0">
                <a:solidFill>
                  <a:srgbClr val="1F2A37"/>
                </a:solidFill>
                <a:latin typeface="Calibri"/>
              </a:rPr>
              <a:t>Zeile 7: </a:t>
            </a:r>
            <a:r>
              <a:rPr sz="1900" b="0" i="0">
                <a:solidFill>
                  <a:srgbClr val="1F4E79"/>
                </a:solidFill>
                <a:latin typeface="Consolas"/>
              </a:rPr>
              <a:t>setItem</a:t>
            </a:r>
            <a:r>
              <a:rPr sz="2000" b="0" i="0">
                <a:solidFill>
                  <a:srgbClr val="1F2A37"/>
                </a:solidFill>
                <a:latin typeface="Calibri"/>
              </a:rPr>
              <a:t> macht den leeren Teilbaum zum Blatt</a:t>
            </a:r>
            <a:r>
              <a:rPr sz="2000" b="0" i="0">
                <a:solidFill>
                  <a:srgbClr val="1F2A37"/>
                </a:solidFill>
                <a:latin typeface="Calibri"/>
              </a:rPr>
              <a:t/>
            </a:r>
          </a:p>
          <a:p>
            <a:pPr>
              <a:spcAft>
                <a:spcPts val="1000"/>
              </a:spcAft>
            </a:pPr>
            <a:r>
              <a:rPr sz="2000" b="1" i="0">
                <a:solidFill>
                  <a:srgbClr val="B8860B"/>
                </a:solidFill>
                <a:latin typeface="Calibri"/>
              </a:rPr>
              <a:t>▸ </a:t>
            </a:r>
            <a:r>
              <a:rPr sz="2000" b="0" i="0">
                <a:solidFill>
                  <a:srgbClr val="1F2A37"/>
                </a:solidFill>
                <a:latin typeface="Calibri"/>
              </a:rPr>
              <a:t>Zeile 8: </a:t>
            </a:r>
            <a:r>
              <a:rPr sz="1900" b="0" i="0">
                <a:solidFill>
                  <a:srgbClr val="1F4E79"/>
                </a:solidFill>
                <a:latin typeface="Consolas"/>
              </a:rPr>
              <a:t>x</a:t>
            </a:r>
            <a:r>
              <a:rPr sz="2000" b="0" i="0">
                <a:solidFill>
                  <a:srgbClr val="1F2A37"/>
                </a:solidFill>
                <a:latin typeface="Calibri"/>
              </a:rPr>
              <a:t> ist </a:t>
            </a:r>
            <a:r>
              <a:rPr sz="2000" b="1" i="0">
                <a:solidFill>
                  <a:srgbClr val="1F2A37"/>
                </a:solidFill>
                <a:latin typeface="Calibri"/>
              </a:rPr>
              <a:t>6</a:t>
            </a:r>
            <a:r>
              <a:rPr sz="2000" b="0" i="0">
                <a:solidFill>
                  <a:srgbClr val="1F2A37"/>
                </a:solidFill>
                <a:latin typeface="Calibri"/>
              </a:rPr>
              <a:t/>
            </a:r>
          </a:p>
        </p:txBody>
      </p:sp>
      <p:pic>
        <p:nvPicPr>
          <p:cNvPr id="8" name="Picture 7" descr="baum_weg.png"/>
          <p:cNvPicPr>
            <a:picLocks noChangeAspect="1"/>
          </p:cNvPicPr>
          <p:nvPr/>
        </p:nvPicPr>
        <p:blipFill>
          <a:blip r:embed="rId2"/>
          <a:stretch>
            <a:fillRect/>
          </a:stretch>
        </p:blipFill>
        <p:spPr>
          <a:xfrm>
            <a:off x="7238999" y="1325880"/>
            <a:ext cx="3867446" cy="2651759"/>
          </a:xfrm>
          <a:prstGeom prst="rect">
            <a:avLst/>
          </a:prstGeom>
        </p:spPr>
      </p:pic>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Drei Wege durch den Baum</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7772400" cy="388619"/>
          </a:xfrm>
          <a:prstGeom prst="rect">
            <a:avLst/>
          </a:prstGeom>
          <a:noFill/>
        </p:spPr>
        <p:txBody>
          <a:bodyPr wrap="square" anchor="t" lIns="45720" rIns="45720">
            <a:spAutoFit/>
          </a:bodyPr>
          <a:lstStyle/>
          <a:p>
            <a:r>
              <a:rPr sz="2000" b="0" i="0">
                <a:solidFill>
                  <a:srgbClr val="1F2A37"/>
                </a:solidFill>
                <a:latin typeface="Calibri"/>
              </a:rPr>
              <a:t>Jede Regel gilt in </a:t>
            </a:r>
            <a:r>
              <a:rPr sz="2000" b="1" i="0">
                <a:solidFill>
                  <a:srgbClr val="1F2A37"/>
                </a:solidFill>
                <a:latin typeface="Calibri"/>
              </a:rPr>
              <a:t>jedem</a:t>
            </a:r>
            <a:r>
              <a:rPr sz="2000" b="0" i="0">
                <a:solidFill>
                  <a:srgbClr val="1F2A37"/>
                </a:solidFill>
                <a:latin typeface="Calibri"/>
              </a:rPr>
              <a:t> Teilbaum erneut – rekursiv.</a:t>
            </a:r>
          </a:p>
        </p:txBody>
      </p:sp>
      <p:graphicFrame>
        <p:nvGraphicFramePr>
          <p:cNvPr id="6" name="Table 5"/>
          <p:cNvGraphicFramePr>
            <a:graphicFrameLocks noGrp="1"/>
          </p:cNvGraphicFramePr>
          <p:nvPr/>
        </p:nvGraphicFramePr>
        <p:xfrm>
          <a:off x="548640" y="1897380"/>
          <a:ext cx="7498080" cy="1640836"/>
        </p:xfrm>
        <a:graphic>
          <a:graphicData uri="http://schemas.openxmlformats.org/drawingml/2006/table">
            <a:tbl>
              <a:tblPr firstRow="1" bandRow="1">
                <a:tableStyleId>{5C22544A-7EE6-4342-B048-85BDC9FD1C3A}</a:tableStyleId>
              </a:tblPr>
              <a:tblGrid>
                <a:gridCol w="1737360"/>
                <a:gridCol w="3291840"/>
                <a:gridCol w="2468880"/>
              </a:tblGrid>
              <a:tr h="410209">
                <a:tc>
                  <a:txBody>
                    <a:bodyPr/>
                    <a:lstStyle/>
                    <a:p>
                      <a:pPr algn="ctr"/>
                      <a:r>
                        <a:rPr sz="1700" b="1">
                          <a:solidFill>
                            <a:srgbClr val="FFFFFF"/>
                          </a:solidFill>
                          <a:latin typeface="Calibri"/>
                        </a:rPr>
                        <a:t>Traversierung</a:t>
                      </a:r>
                    </a:p>
                  </a:txBody>
                  <a:tcPr marL="54864" marR="54864" marT="18288" marB="18288" anchor="ctr">
                    <a:solidFill>
                      <a:srgbClr val="1F4E79"/>
                    </a:solidFill>
                  </a:tcPr>
                </a:tc>
                <a:tc>
                  <a:txBody>
                    <a:bodyPr/>
                    <a:lstStyle/>
                    <a:p>
                      <a:pPr algn="ctr"/>
                      <a:r>
                        <a:rPr sz="1700" b="1">
                          <a:solidFill>
                            <a:srgbClr val="FFFFFF"/>
                          </a:solidFill>
                          <a:latin typeface="Calibri"/>
                        </a:rPr>
                        <a:t>Reihenfolge</a:t>
                      </a:r>
                    </a:p>
                  </a:txBody>
                  <a:tcPr marL="54864" marR="54864" marT="18288" marB="18288" anchor="ctr">
                    <a:solidFill>
                      <a:srgbClr val="1F4E79"/>
                    </a:solidFill>
                  </a:tcPr>
                </a:tc>
                <a:tc>
                  <a:txBody>
                    <a:bodyPr/>
                    <a:lstStyle/>
                    <a:p>
                      <a:pPr algn="ctr"/>
                      <a:r>
                        <a:rPr sz="1700" b="1">
                          <a:solidFill>
                            <a:srgbClr val="FFFFFF"/>
                          </a:solidFill>
                          <a:latin typeface="Calibri"/>
                        </a:rPr>
                        <a:t>Ausgabe</a:t>
                      </a:r>
                    </a:p>
                  </a:txBody>
                  <a:tcPr marL="54864" marR="54864" marT="18288" marB="18288" anchor="ctr">
                    <a:solidFill>
                      <a:srgbClr val="1F4E79"/>
                    </a:solidFill>
                  </a:tcPr>
                </a:tc>
              </a:tr>
              <a:tr h="410209">
                <a:tc>
                  <a:txBody>
                    <a:bodyPr/>
                    <a:lstStyle/>
                    <a:p>
                      <a:pPr algn="ctr"/>
                      <a:r>
                        <a:rPr sz="1700" b="0">
                          <a:solidFill>
                            <a:srgbClr val="1F2A37"/>
                          </a:solidFill>
                          <a:latin typeface="Consolas"/>
                        </a:rPr>
                        <a:t>preorder</a:t>
                      </a:r>
                    </a:p>
                  </a:txBody>
                  <a:tcPr marL="54864" marR="54864" marT="18288" marB="18288" anchor="ctr">
                    <a:solidFill>
                      <a:srgbClr val="FFFFFF"/>
                    </a:solidFill>
                  </a:tcPr>
                </a:tc>
                <a:tc>
                  <a:txBody>
                    <a:bodyPr/>
                    <a:lstStyle/>
                    <a:p>
                      <a:pPr algn="ctr"/>
                      <a:r>
                        <a:rPr sz="1700" b="0">
                          <a:solidFill>
                            <a:srgbClr val="1F2A37"/>
                          </a:solidFill>
                          <a:latin typeface="Consolas"/>
                        </a:rPr>
                        <a:t>Wurzel · links · rechts</a:t>
                      </a:r>
                    </a:p>
                  </a:txBody>
                  <a:tcPr marL="54864" marR="54864" marT="18288" marB="18288" anchor="ctr">
                    <a:solidFill>
                      <a:srgbClr val="FFFFFF"/>
                    </a:solidFill>
                  </a:tcPr>
                </a:tc>
                <a:tc>
                  <a:txBody>
                    <a:bodyPr/>
                    <a:lstStyle/>
                    <a:p>
                      <a:pPr algn="ctr"/>
                      <a:r>
                        <a:rPr sz="1700" b="0">
                          <a:solidFill>
                            <a:srgbClr val="1F2A37"/>
                          </a:solidFill>
                          <a:latin typeface="Consolas"/>
                        </a:rPr>
                        <a:t>11 6 2 9 5 3 8</a:t>
                      </a:r>
                    </a:p>
                  </a:txBody>
                  <a:tcPr marL="54864" marR="54864" marT="18288" marB="18288" anchor="ctr">
                    <a:solidFill>
                      <a:srgbClr val="FFFFFF"/>
                    </a:solidFill>
                  </a:tcPr>
                </a:tc>
              </a:tr>
              <a:tr h="410209">
                <a:tc>
                  <a:txBody>
                    <a:bodyPr/>
                    <a:lstStyle/>
                    <a:p>
                      <a:pPr algn="ctr"/>
                      <a:r>
                        <a:rPr sz="1700" b="0">
                          <a:solidFill>
                            <a:srgbClr val="1F2A37"/>
                          </a:solidFill>
                          <a:latin typeface="Consolas"/>
                        </a:rPr>
                        <a:t>inorder</a:t>
                      </a:r>
                    </a:p>
                  </a:txBody>
                  <a:tcPr marL="54864" marR="54864" marT="18288" marB="18288" anchor="ctr">
                    <a:solidFill>
                      <a:srgbClr val="EEF3FA"/>
                    </a:solidFill>
                  </a:tcPr>
                </a:tc>
                <a:tc>
                  <a:txBody>
                    <a:bodyPr/>
                    <a:lstStyle/>
                    <a:p>
                      <a:pPr algn="ctr"/>
                      <a:r>
                        <a:rPr sz="1700" b="0">
                          <a:solidFill>
                            <a:srgbClr val="1F2A37"/>
                          </a:solidFill>
                          <a:latin typeface="Consolas"/>
                        </a:rPr>
                        <a:t>links · Wurzel · rechts</a:t>
                      </a:r>
                    </a:p>
                  </a:txBody>
                  <a:tcPr marL="54864" marR="54864" marT="18288" marB="18288" anchor="ctr">
                    <a:solidFill>
                      <a:srgbClr val="EEF3FA"/>
                    </a:solidFill>
                  </a:tcPr>
                </a:tc>
                <a:tc>
                  <a:txBody>
                    <a:bodyPr/>
                    <a:lstStyle/>
                    <a:p>
                      <a:pPr algn="ctr"/>
                      <a:r>
                        <a:rPr sz="1700" b="0">
                          <a:solidFill>
                            <a:srgbClr val="1F2A37"/>
                          </a:solidFill>
                          <a:latin typeface="Consolas"/>
                        </a:rPr>
                        <a:t>2 6 5 9 11 3 8</a:t>
                      </a:r>
                    </a:p>
                  </a:txBody>
                  <a:tcPr marL="54864" marR="54864" marT="18288" marB="18288" anchor="ctr">
                    <a:solidFill>
                      <a:srgbClr val="EEF3FA"/>
                    </a:solidFill>
                  </a:tcPr>
                </a:tc>
              </a:tr>
              <a:tr h="410209">
                <a:tc>
                  <a:txBody>
                    <a:bodyPr/>
                    <a:lstStyle/>
                    <a:p>
                      <a:pPr algn="ctr"/>
                      <a:r>
                        <a:rPr sz="1700" b="0">
                          <a:solidFill>
                            <a:srgbClr val="1F2A37"/>
                          </a:solidFill>
                          <a:latin typeface="Consolas"/>
                        </a:rPr>
                        <a:t>postorder</a:t>
                      </a:r>
                    </a:p>
                  </a:txBody>
                  <a:tcPr marL="54864" marR="54864" marT="18288" marB="18288" anchor="ctr">
                    <a:solidFill>
                      <a:srgbClr val="FFFFFF"/>
                    </a:solidFill>
                  </a:tcPr>
                </a:tc>
                <a:tc>
                  <a:txBody>
                    <a:bodyPr/>
                    <a:lstStyle/>
                    <a:p>
                      <a:pPr algn="ctr"/>
                      <a:r>
                        <a:rPr sz="1700" b="0">
                          <a:solidFill>
                            <a:srgbClr val="1F2A37"/>
                          </a:solidFill>
                          <a:latin typeface="Consolas"/>
                        </a:rPr>
                        <a:t>links · rechts · Wurzel</a:t>
                      </a:r>
                    </a:p>
                  </a:txBody>
                  <a:tcPr marL="54864" marR="54864" marT="18288" marB="18288" anchor="ctr">
                    <a:solidFill>
                      <a:srgbClr val="FFFFFF"/>
                    </a:solidFill>
                  </a:tcPr>
                </a:tc>
                <a:tc>
                  <a:txBody>
                    <a:bodyPr/>
                    <a:lstStyle/>
                    <a:p>
                      <a:pPr algn="ctr"/>
                      <a:r>
                        <a:rPr sz="1700" b="0">
                          <a:solidFill>
                            <a:srgbClr val="1F2A37"/>
                          </a:solidFill>
                          <a:latin typeface="Consolas"/>
                        </a:rPr>
                        <a:t>2 5 9 6 8 3 11</a:t>
                      </a:r>
                    </a:p>
                  </a:txBody>
                  <a:tcPr marL="54864" marR="54864" marT="18288" marB="18288" anchor="ctr">
                    <a:solidFill>
                      <a:srgbClr val="FFFFFF"/>
                    </a:solidFill>
                  </a:tcPr>
                </a:tc>
              </a:tr>
            </a:tbl>
          </a:graphicData>
        </a:graphic>
      </p:graphicFrame>
      <p:pic>
        <p:nvPicPr>
          <p:cNvPr id="7" name="Picture 6" descr="baum_weg.png"/>
          <p:cNvPicPr>
            <a:picLocks noChangeAspect="1"/>
          </p:cNvPicPr>
          <p:nvPr/>
        </p:nvPicPr>
        <p:blipFill>
          <a:blip r:embed="rId2"/>
          <a:stretch>
            <a:fillRect/>
          </a:stretch>
        </p:blipFill>
        <p:spPr>
          <a:xfrm>
            <a:off x="8229600" y="1325880"/>
            <a:ext cx="3413455" cy="2340475"/>
          </a:xfrm>
          <a:prstGeom prst="rect">
            <a:avLst/>
          </a:prstGeom>
        </p:spPr>
      </p:pic>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Kurz pausieren: Jetzt du!</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39"/>
            <a:ext cx="3017520" cy="54864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FFFFFF"/>
                </a:solidFill>
                <a:latin typeface="Calibri"/>
              </a:rPr>
              <a:t>⏸  Video anhalten</a:t>
            </a:r>
          </a:p>
        </p:txBody>
      </p:sp>
      <p:sp>
        <p:nvSpPr>
          <p:cNvPr id="6" name="TextBox 5"/>
          <p:cNvSpPr txBox="1"/>
          <p:nvPr/>
        </p:nvSpPr>
        <p:spPr>
          <a:xfrm>
            <a:off x="548640" y="2240280"/>
            <a:ext cx="5577840" cy="804671"/>
          </a:xfrm>
          <a:prstGeom prst="rect">
            <a:avLst/>
          </a:prstGeom>
          <a:noFill/>
        </p:spPr>
        <p:txBody>
          <a:bodyPr wrap="square" anchor="t" lIns="45720" rIns="45720">
            <a:spAutoFit/>
          </a:bodyPr>
          <a:lstStyle/>
          <a:p>
            <a:r>
              <a:rPr sz="2400" b="0" i="0">
                <a:solidFill>
                  <a:srgbClr val="1F2A37"/>
                </a:solidFill>
                <a:latin typeface="Calibri"/>
              </a:rPr>
              <a:t>Gib für diesen Baum die </a:t>
            </a:r>
            <a:r>
              <a:rPr sz="2400" b="1" i="0">
                <a:solidFill>
                  <a:srgbClr val="1F2A37"/>
                </a:solidFill>
                <a:latin typeface="Calibri"/>
              </a:rPr>
              <a:t>preorder</a:t>
            </a:r>
            <a:r>
              <a:rPr sz="2400" b="0" i="0">
                <a:solidFill>
                  <a:srgbClr val="1F2A37"/>
                </a:solidFill>
                <a:latin typeface="Calibri"/>
              </a:rPr>
              <a:t>, die </a:t>
            </a:r>
            <a:r>
              <a:rPr sz="2400" b="1" i="0">
                <a:solidFill>
                  <a:srgbClr val="1F2A37"/>
                </a:solidFill>
                <a:latin typeface="Calibri"/>
              </a:rPr>
              <a:t>inorder</a:t>
            </a:r>
            <a:r>
              <a:rPr sz="2400" b="0" i="0">
                <a:solidFill>
                  <a:srgbClr val="1F2A37"/>
                </a:solidFill>
                <a:latin typeface="Calibri"/>
              </a:rPr>
              <a:t> und die </a:t>
            </a:r>
            <a:r>
              <a:rPr sz="2400" b="1" i="0">
                <a:solidFill>
                  <a:srgbClr val="1F2A37"/>
                </a:solidFill>
                <a:latin typeface="Calibri"/>
              </a:rPr>
              <a:t>postorder</a:t>
            </a:r>
            <a:r>
              <a:rPr sz="2400" b="0" i="0">
                <a:solidFill>
                  <a:srgbClr val="1F2A37"/>
                </a:solidFill>
                <a:latin typeface="Calibri"/>
              </a:rPr>
              <a:t> an.</a:t>
            </a:r>
          </a:p>
        </p:txBody>
      </p:sp>
      <p:pic>
        <p:nvPicPr>
          <p:cNvPr id="7" name="Picture 6" descr="baum_pause.png"/>
          <p:cNvPicPr>
            <a:picLocks noChangeAspect="1"/>
          </p:cNvPicPr>
          <p:nvPr/>
        </p:nvPicPr>
        <p:blipFill>
          <a:blip r:embed="rId2"/>
          <a:stretch>
            <a:fillRect/>
          </a:stretch>
        </p:blipFill>
        <p:spPr>
          <a:xfrm>
            <a:off x="6400800" y="1325880"/>
            <a:ext cx="3755047" cy="2651759"/>
          </a:xfrm>
          <a:prstGeom prst="rect">
            <a:avLst/>
          </a:prstGeom>
        </p:spPr>
      </p:pic>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Auflösung: Traversierungen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5120639" cy="1930400"/>
        </p:xfrm>
        <a:graphic>
          <a:graphicData uri="http://schemas.openxmlformats.org/drawingml/2006/table">
            <a:tbl>
              <a:tblPr firstRow="1" bandRow="1">
                <a:tableStyleId>{5C22544A-7EE6-4342-B048-85BDC9FD1C3A}</a:tableStyleId>
              </a:tblPr>
              <a:tblGrid>
                <a:gridCol w="2449001"/>
                <a:gridCol w="2671638"/>
              </a:tblGrid>
              <a:tr h="482600">
                <a:tc>
                  <a:txBody>
                    <a:bodyPr/>
                    <a:lstStyle/>
                    <a:p>
                      <a:pPr algn="ctr"/>
                      <a:r>
                        <a:rPr sz="2000" b="1">
                          <a:solidFill>
                            <a:srgbClr val="FFFFFF"/>
                          </a:solidFill>
                          <a:latin typeface="Calibri"/>
                        </a:rPr>
                        <a:t>Traversierung</a:t>
                      </a:r>
                    </a:p>
                  </a:txBody>
                  <a:tcPr marL="54864" marR="54864" marT="18288" marB="18288" anchor="ctr">
                    <a:solidFill>
                      <a:srgbClr val="1F4E79"/>
                    </a:solidFill>
                  </a:tcPr>
                </a:tc>
                <a:tc>
                  <a:txBody>
                    <a:bodyPr/>
                    <a:lstStyle/>
                    <a:p>
                      <a:pPr algn="ctr"/>
                      <a:r>
                        <a:rPr sz="2000" b="1">
                          <a:solidFill>
                            <a:srgbClr val="FFFFFF"/>
                          </a:solidFill>
                          <a:latin typeface="Calibri"/>
                        </a:rPr>
                        <a:t>Ausgabe</a:t>
                      </a:r>
                    </a:p>
                  </a:txBody>
                  <a:tcPr marL="54864" marR="54864" marT="18288" marB="18288" anchor="ctr">
                    <a:solidFill>
                      <a:srgbClr val="1F4E79"/>
                    </a:solidFill>
                  </a:tcPr>
                </a:tc>
              </a:tr>
              <a:tr h="482600">
                <a:tc>
                  <a:txBody>
                    <a:bodyPr/>
                    <a:lstStyle/>
                    <a:p>
                      <a:pPr algn="ctr"/>
                      <a:r>
                        <a:rPr sz="2000" b="0">
                          <a:solidFill>
                            <a:srgbClr val="1F2A37"/>
                          </a:solidFill>
                          <a:latin typeface="Consolas"/>
                        </a:rPr>
                        <a:t>preorder</a:t>
                      </a:r>
                    </a:p>
                  </a:txBody>
                  <a:tcPr marL="54864" marR="54864" marT="18288" marB="18288" anchor="ctr">
                    <a:solidFill>
                      <a:srgbClr val="FFFFFF"/>
                    </a:solidFill>
                  </a:tcPr>
                </a:tc>
                <a:tc>
                  <a:txBody>
                    <a:bodyPr/>
                    <a:lstStyle/>
                    <a:p>
                      <a:pPr algn="ctr"/>
                      <a:r>
                        <a:rPr sz="2000" b="0">
                          <a:solidFill>
                            <a:srgbClr val="1F2A37"/>
                          </a:solidFill>
                          <a:latin typeface="Consolas"/>
                        </a:rPr>
                        <a:t>7 1 4 9 3</a:t>
                      </a:r>
                    </a:p>
                  </a:txBody>
                  <a:tcPr marL="54864" marR="54864" marT="18288" marB="18288" anchor="ctr">
                    <a:solidFill>
                      <a:srgbClr val="FFFFFF"/>
                    </a:solidFill>
                  </a:tcPr>
                </a:tc>
              </a:tr>
              <a:tr h="482600">
                <a:tc>
                  <a:txBody>
                    <a:bodyPr/>
                    <a:lstStyle/>
                    <a:p>
                      <a:pPr algn="ctr"/>
                      <a:r>
                        <a:rPr sz="2000" b="0">
                          <a:solidFill>
                            <a:srgbClr val="1F2A37"/>
                          </a:solidFill>
                          <a:latin typeface="Consolas"/>
                        </a:rPr>
                        <a:t>inorder</a:t>
                      </a:r>
                    </a:p>
                  </a:txBody>
                  <a:tcPr marL="54864" marR="54864" marT="18288" marB="18288" anchor="ctr">
                    <a:solidFill>
                      <a:srgbClr val="EEF3FA"/>
                    </a:solidFill>
                  </a:tcPr>
                </a:tc>
                <a:tc>
                  <a:txBody>
                    <a:bodyPr/>
                    <a:lstStyle/>
                    <a:p>
                      <a:pPr algn="ctr"/>
                      <a:r>
                        <a:rPr sz="2000" b="0">
                          <a:solidFill>
                            <a:srgbClr val="1F2A37"/>
                          </a:solidFill>
                          <a:latin typeface="Consolas"/>
                        </a:rPr>
                        <a:t>1 4 7 3 9</a:t>
                      </a:r>
                    </a:p>
                  </a:txBody>
                  <a:tcPr marL="54864" marR="54864" marT="18288" marB="18288" anchor="ctr">
                    <a:solidFill>
                      <a:srgbClr val="EEF3FA"/>
                    </a:solidFill>
                  </a:tcPr>
                </a:tc>
              </a:tr>
              <a:tr h="482600">
                <a:tc>
                  <a:txBody>
                    <a:bodyPr/>
                    <a:lstStyle/>
                    <a:p>
                      <a:pPr algn="ctr"/>
                      <a:r>
                        <a:rPr sz="2000" b="0">
                          <a:solidFill>
                            <a:srgbClr val="1F2A37"/>
                          </a:solidFill>
                          <a:latin typeface="Consolas"/>
                        </a:rPr>
                        <a:t>postorder</a:t>
                      </a:r>
                    </a:p>
                  </a:txBody>
                  <a:tcPr marL="54864" marR="54864" marT="18288" marB="18288" anchor="ctr">
                    <a:solidFill>
                      <a:srgbClr val="FFFFFF"/>
                    </a:solidFill>
                  </a:tcPr>
                </a:tc>
                <a:tc>
                  <a:txBody>
                    <a:bodyPr/>
                    <a:lstStyle/>
                    <a:p>
                      <a:pPr algn="ctr"/>
                      <a:r>
                        <a:rPr sz="2000" b="0">
                          <a:solidFill>
                            <a:srgbClr val="1F2A37"/>
                          </a:solidFill>
                          <a:latin typeface="Consolas"/>
                        </a:rPr>
                        <a:t>4 1 3 9 7</a:t>
                      </a:r>
                    </a:p>
                  </a:txBody>
                  <a:tcPr marL="54864" marR="54864" marT="18288" marB="18288" anchor="ctr">
                    <a:solidFill>
                      <a:srgbClr val="FFFFFF"/>
                    </a:solidFill>
                  </a:tcPr>
                </a:tc>
              </a:tr>
            </a:tbl>
          </a:graphicData>
        </a:graphic>
      </p:graphicFrame>
      <p:pic>
        <p:nvPicPr>
          <p:cNvPr id="6" name="Picture 5" descr="baum_pause.png"/>
          <p:cNvPicPr>
            <a:picLocks noChangeAspect="1"/>
          </p:cNvPicPr>
          <p:nvPr/>
        </p:nvPicPr>
        <p:blipFill>
          <a:blip r:embed="rId2"/>
          <a:stretch>
            <a:fillRect/>
          </a:stretch>
        </p:blipFill>
        <p:spPr>
          <a:xfrm>
            <a:off x="6400800" y="1325880"/>
            <a:ext cx="3755047" cy="2651759"/>
          </a:xfrm>
          <a:prstGeom prst="rect">
            <a:avLst/>
          </a:prstGeom>
        </p:spPr>
      </p:pic>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Das Muster: erst isEmpty, dann links und rechts</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416040" cy="3179064"/>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233160" cy="3087624"/>
          </a:xfrm>
          <a:prstGeom prst="rect">
            <a:avLst/>
          </a:prstGeom>
          <a:noFill/>
        </p:spPr>
        <p:txBody>
          <a:bodyPr wrap="square" anchor="t" lIns="45720" rIns="45720">
            <a:spAutoFit/>
          </a:bodyPr>
          <a:lstStyle/>
          <a:p>
            <a:pPr>
              <a:lnSpc>
                <a:spcPct val="100000"/>
              </a:lnSpc>
            </a:pPr>
            <a:r>
              <a:rPr sz="1600" b="0" i="0">
                <a:solidFill>
                  <a:srgbClr val="A0A7B1"/>
                </a:solidFill>
                <a:latin typeface="Consolas"/>
              </a:rPr>
              <a:t> 1  </a:t>
            </a:r>
            <a:r>
              <a:rPr sz="1600" b="0" i="0">
                <a:solidFill>
                  <a:srgbClr val="1F2A37"/>
                </a:solidFill>
                <a:latin typeface="Consolas"/>
              </a:rPr>
              <a:t>public static int summeBlaetter(BinTree b) {</a:t>
            </a:r>
          </a:p>
          <a:p>
            <a:pPr>
              <a:lnSpc>
                <a:spcPct val="100000"/>
              </a:lnSpc>
            </a:pPr>
            <a:r>
              <a:rPr sz="1600" b="0" i="0">
                <a:solidFill>
                  <a:srgbClr val="A0A7B1"/>
                </a:solidFill>
                <a:latin typeface="Consolas"/>
              </a:rPr>
              <a:t> 2  </a:t>
            </a:r>
            <a:r>
              <a:rPr sz="1600" b="0" i="0">
                <a:solidFill>
                  <a:srgbClr val="1F2A37"/>
                </a:solidFill>
                <a:latin typeface="Consolas"/>
              </a:rPr>
              <a:t>    if (b.isEmpty()) {</a:t>
            </a:r>
          </a:p>
          <a:p>
            <a:pPr>
              <a:lnSpc>
                <a:spcPct val="100000"/>
              </a:lnSpc>
            </a:pPr>
            <a:r>
              <a:rPr sz="1600" b="0" i="0">
                <a:solidFill>
                  <a:srgbClr val="A0A7B1"/>
                </a:solidFill>
                <a:latin typeface="Consolas"/>
              </a:rPr>
              <a:t> 3  </a:t>
            </a:r>
            <a:r>
              <a:rPr sz="1600" b="0" i="0">
                <a:solidFill>
                  <a:srgbClr val="1F2A37"/>
                </a:solidFill>
                <a:latin typeface="Consolas"/>
              </a:rPr>
              <a:t>        return 0;                </a:t>
            </a:r>
            <a:r>
              <a:rPr sz="1600" b="0" i="0">
                <a:solidFill>
                  <a:srgbClr val="5F7F5F"/>
                </a:solidFill>
                <a:latin typeface="Consolas"/>
              </a:rPr>
              <a:t> // Basisfall</a:t>
            </a:r>
          </a:p>
          <a:p>
            <a:pPr>
              <a:lnSpc>
                <a:spcPct val="100000"/>
              </a:lnSpc>
            </a:pPr>
            <a:r>
              <a:rPr sz="1600" b="0" i="0">
                <a:solidFill>
                  <a:srgbClr val="A0A7B1"/>
                </a:solidFill>
                <a:latin typeface="Consolas"/>
              </a:rPr>
              <a:t> 4  </a:t>
            </a:r>
            <a:r>
              <a:rPr sz="1600" b="0" i="0">
                <a:solidFill>
                  <a:srgbClr val="1F2A37"/>
                </a:solidFill>
                <a:latin typeface="Consolas"/>
              </a:rPr>
              <a:t>    }</a:t>
            </a:r>
          </a:p>
          <a:p>
            <a:pPr>
              <a:lnSpc>
                <a:spcPct val="100000"/>
              </a:lnSpc>
            </a:pPr>
            <a:r>
              <a:rPr sz="1600" b="0" i="0">
                <a:solidFill>
                  <a:srgbClr val="A0A7B1"/>
                </a:solidFill>
                <a:latin typeface="Consolas"/>
              </a:rPr>
              <a:t> 5  </a:t>
            </a:r>
            <a:r>
              <a:rPr sz="1600" b="0" i="0">
                <a:solidFill>
                  <a:srgbClr val="1F2A37"/>
                </a:solidFill>
                <a:latin typeface="Consolas"/>
              </a:rPr>
              <a:t>    if (b.isLeaf()) {</a:t>
            </a:r>
          </a:p>
          <a:p>
            <a:pPr>
              <a:lnSpc>
                <a:spcPct val="100000"/>
              </a:lnSpc>
            </a:pPr>
            <a:r>
              <a:rPr sz="1600" b="0" i="0">
                <a:solidFill>
                  <a:srgbClr val="A0A7B1"/>
                </a:solidFill>
                <a:latin typeface="Consolas"/>
              </a:rPr>
              <a:t> 6  </a:t>
            </a:r>
            <a:r>
              <a:rPr sz="1600" b="0" i="0">
                <a:solidFill>
                  <a:srgbClr val="1F2A37"/>
                </a:solidFill>
                <a:latin typeface="Consolas"/>
              </a:rPr>
              <a:t>        return (Integer) b.getItem();</a:t>
            </a:r>
          </a:p>
          <a:p>
            <a:pPr>
              <a:lnSpc>
                <a:spcPct val="100000"/>
              </a:lnSpc>
            </a:pPr>
            <a:r>
              <a:rPr sz="1600" b="0" i="0">
                <a:solidFill>
                  <a:srgbClr val="A0A7B1"/>
                </a:solidFill>
                <a:latin typeface="Consolas"/>
              </a:rPr>
              <a:t> 7  </a:t>
            </a:r>
            <a:r>
              <a:rPr sz="1600" b="0" i="0">
                <a:solidFill>
                  <a:srgbClr val="1F2A37"/>
                </a:solidFill>
                <a:latin typeface="Consolas"/>
              </a:rPr>
              <a:t>    }</a:t>
            </a:r>
          </a:p>
          <a:p>
            <a:pPr>
              <a:lnSpc>
                <a:spcPct val="100000"/>
              </a:lnSpc>
            </a:pPr>
            <a:r>
              <a:rPr sz="1600" b="0" i="0">
                <a:solidFill>
                  <a:srgbClr val="A0A7B1"/>
                </a:solidFill>
                <a:latin typeface="Consolas"/>
              </a:rPr>
              <a:t> 8  </a:t>
            </a:r>
            <a:r>
              <a:rPr sz="1600" b="0" i="0">
                <a:solidFill>
                  <a:srgbClr val="1F2A37"/>
                </a:solidFill>
                <a:latin typeface="Consolas"/>
              </a:rPr>
              <a:t>    int links = summeBlaetter(b.getLeft());</a:t>
            </a:r>
          </a:p>
          <a:p>
            <a:pPr>
              <a:lnSpc>
                <a:spcPct val="100000"/>
              </a:lnSpc>
            </a:pPr>
            <a:r>
              <a:rPr sz="1600" b="0" i="0">
                <a:solidFill>
                  <a:srgbClr val="A0A7B1"/>
                </a:solidFill>
                <a:latin typeface="Consolas"/>
              </a:rPr>
              <a:t> 9  </a:t>
            </a:r>
            <a:r>
              <a:rPr sz="1600" b="0" i="0">
                <a:solidFill>
                  <a:srgbClr val="1F2A37"/>
                </a:solidFill>
                <a:latin typeface="Consolas"/>
              </a:rPr>
              <a:t>    int rechts = summeBlaetter(b.getRight());</a:t>
            </a:r>
          </a:p>
          <a:p>
            <a:pPr>
              <a:lnSpc>
                <a:spcPct val="100000"/>
              </a:lnSpc>
            </a:pPr>
            <a:r>
              <a:rPr sz="1600" b="0" i="0">
                <a:solidFill>
                  <a:srgbClr val="A0A7B1"/>
                </a:solidFill>
                <a:latin typeface="Consolas"/>
              </a:rPr>
              <a:t>10  </a:t>
            </a:r>
            <a:r>
              <a:rPr sz="1600" b="0" i="0">
                <a:solidFill>
                  <a:srgbClr val="1F2A37"/>
                </a:solidFill>
                <a:latin typeface="Consolas"/>
              </a:rPr>
              <a:t>    return links + rechts;</a:t>
            </a:r>
          </a:p>
          <a:p>
            <a:pPr>
              <a:lnSpc>
                <a:spcPct val="100000"/>
              </a:lnSpc>
            </a:pPr>
            <a:r>
              <a:rPr sz="1600" b="0" i="0">
                <a:solidFill>
                  <a:srgbClr val="A0A7B1"/>
                </a:solidFill>
                <a:latin typeface="Consolas"/>
              </a:rPr>
              <a:t>11  </a:t>
            </a:r>
            <a:r>
              <a:rPr sz="1600" b="0" i="0">
                <a:solidFill>
                  <a:srgbClr val="1F2A37"/>
                </a:solidFill>
                <a:latin typeface="Consolas"/>
              </a:rPr>
              <a:t>}</a:t>
            </a:r>
          </a:p>
        </p:txBody>
      </p:sp>
      <p:sp>
        <p:nvSpPr>
          <p:cNvPr id="7" name="Rounded Rectangle 6"/>
          <p:cNvSpPr/>
          <p:nvPr/>
        </p:nvSpPr>
        <p:spPr>
          <a:xfrm>
            <a:off x="7238999" y="1325880"/>
            <a:ext cx="440405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21879" y="1463039"/>
            <a:ext cx="403829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Das Muster</a:t>
            </a:r>
            <a:r>
              <a:rPr sz="2000" b="0" i="0">
                <a:solidFill>
                  <a:srgbClr val="1F2A37"/>
                </a:solidFill>
                <a:latin typeface="Calibri"/>
              </a:rPr>
              <a:t/>
            </a:r>
          </a:p>
          <a:p>
            <a:pPr>
              <a:spcAft>
                <a:spcPts val="600"/>
              </a:spcAft>
            </a:pPr>
            <a:r>
              <a:rPr sz="2000" b="0" i="0">
                <a:solidFill>
                  <a:srgbClr val="1F2A37"/>
                </a:solidFill>
                <a:latin typeface="Calibri"/>
              </a:rPr>
              <a:t>1. </a:t>
            </a:r>
            <a:r>
              <a:rPr sz="2000" b="1" i="0">
                <a:solidFill>
                  <a:srgbClr val="1F2A37"/>
                </a:solidFill>
                <a:latin typeface="Calibri"/>
              </a:rPr>
              <a:t>leer?</a:t>
            </a:r>
            <a:r>
              <a:rPr sz="2000" b="0" i="0">
                <a:solidFill>
                  <a:srgbClr val="1F2A37"/>
                </a:solidFill>
                <a:latin typeface="Calibri"/>
              </a:rPr>
              <a:t> → Basisfall</a:t>
            </a:r>
            <a:r>
              <a:rPr sz="2000" b="0" i="0">
                <a:solidFill>
                  <a:srgbClr val="1F2A37"/>
                </a:solidFill>
                <a:latin typeface="Calibri"/>
              </a:rPr>
              <a:t/>
            </a:r>
          </a:p>
          <a:p>
            <a:pPr>
              <a:spcAft>
                <a:spcPts val="600"/>
              </a:spcAft>
            </a:pPr>
            <a:r>
              <a:rPr sz="2000" b="0" i="0">
                <a:solidFill>
                  <a:srgbClr val="1F2A37"/>
                </a:solidFill>
                <a:latin typeface="Calibri"/>
              </a:rPr>
              <a:t>2. Teilbäume </a:t>
            </a:r>
            <a:r>
              <a:rPr sz="2000" b="1" i="0">
                <a:solidFill>
                  <a:srgbClr val="1F2A37"/>
                </a:solidFill>
                <a:latin typeface="Calibri"/>
              </a:rPr>
              <a:t>rekursiv</a:t>
            </a:r>
            <a:r>
              <a:rPr sz="2000" b="0" i="0">
                <a:solidFill>
                  <a:srgbClr val="1F2A37"/>
                </a:solidFill>
                <a:latin typeface="Calibri"/>
              </a:rPr>
              <a:t/>
            </a:r>
          </a:p>
          <a:p>
            <a:pPr>
              <a:spcAft>
                <a:spcPts val="600"/>
              </a:spcAft>
            </a:pPr>
            <a:r>
              <a:rPr sz="2000" b="0" i="0">
                <a:solidFill>
                  <a:srgbClr val="1F2A37"/>
                </a:solidFill>
                <a:latin typeface="Calibri"/>
              </a:rPr>
              <a:t>3. Ergebnisse </a:t>
            </a:r>
            <a:r>
              <a:rPr sz="2000" b="1" i="0">
                <a:solidFill>
                  <a:srgbClr val="1F2A37"/>
                </a:solidFill>
                <a:latin typeface="Calibri"/>
              </a:rPr>
              <a:t>verwenden</a:t>
            </a:r>
            <a:r>
              <a:rPr sz="2000" b="0" i="0">
                <a:solidFill>
                  <a:srgbClr val="1F2A37"/>
                </a:solidFill>
                <a:latin typeface="Calibri"/>
              </a:rPr>
              <a:t> und kombinieren</a:t>
            </a:r>
            <a:r>
              <a:rPr sz="20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So rechnet summeBlaetter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7772400" cy="388619"/>
          </a:xfrm>
          <a:prstGeom prst="rect">
            <a:avLst/>
          </a:prstGeom>
          <a:noFill/>
        </p:spPr>
        <p:txBody>
          <a:bodyPr wrap="square" anchor="t" lIns="45720" rIns="45720">
            <a:spAutoFit/>
          </a:bodyPr>
          <a:lstStyle/>
          <a:p>
            <a:r>
              <a:rPr sz="2000" b="0" i="0">
                <a:solidFill>
                  <a:srgbClr val="1F2A37"/>
                </a:solidFill>
                <a:latin typeface="Calibri"/>
              </a:rPr>
              <a:t>Rückgaben in der Reihenfolge, in der sie entstehen:</a:t>
            </a:r>
          </a:p>
        </p:txBody>
      </p:sp>
      <p:graphicFrame>
        <p:nvGraphicFramePr>
          <p:cNvPr id="6" name="Table 5"/>
          <p:cNvGraphicFramePr>
            <a:graphicFrameLocks noGrp="1"/>
          </p:cNvGraphicFramePr>
          <p:nvPr/>
        </p:nvGraphicFramePr>
        <p:xfrm>
          <a:off x="548640" y="1897380"/>
          <a:ext cx="5943599" cy="3281672"/>
        </p:xfrm>
        <a:graphic>
          <a:graphicData uri="http://schemas.openxmlformats.org/drawingml/2006/table">
            <a:tbl>
              <a:tblPr firstRow="1" bandRow="1">
                <a:tableStyleId>{5C22544A-7EE6-4342-B048-85BDC9FD1C3A}</a:tableStyleId>
              </a:tblPr>
              <a:tblGrid>
                <a:gridCol w="2377440"/>
                <a:gridCol w="1005840"/>
                <a:gridCol w="1005840"/>
                <a:gridCol w="1554479"/>
              </a:tblGrid>
              <a:tr h="410209">
                <a:tc>
                  <a:txBody>
                    <a:bodyPr/>
                    <a:lstStyle/>
                    <a:p>
                      <a:pPr algn="ctr"/>
                      <a:r>
                        <a:rPr sz="1700" b="1">
                          <a:solidFill>
                            <a:srgbClr val="FFFFFF"/>
                          </a:solidFill>
                          <a:latin typeface="Calibri"/>
                        </a:rPr>
                        <a:t>Knoten</a:t>
                      </a:r>
                    </a:p>
                  </a:txBody>
                  <a:tcPr marL="54864" marR="54864" marT="18288" marB="18288" anchor="ctr">
                    <a:solidFill>
                      <a:srgbClr val="1F4E79"/>
                    </a:solidFill>
                  </a:tcPr>
                </a:tc>
                <a:tc>
                  <a:txBody>
                    <a:bodyPr/>
                    <a:lstStyle/>
                    <a:p>
                      <a:pPr algn="ctr"/>
                      <a:r>
                        <a:rPr sz="1700" b="1">
                          <a:solidFill>
                            <a:srgbClr val="FFFFFF"/>
                          </a:solidFill>
                          <a:latin typeface="Calibri"/>
                        </a:rPr>
                        <a:t>links</a:t>
                      </a:r>
                    </a:p>
                  </a:txBody>
                  <a:tcPr marL="54864" marR="54864" marT="18288" marB="18288" anchor="ctr">
                    <a:solidFill>
                      <a:srgbClr val="1F4E79"/>
                    </a:solidFill>
                  </a:tcPr>
                </a:tc>
                <a:tc>
                  <a:txBody>
                    <a:bodyPr/>
                    <a:lstStyle/>
                    <a:p>
                      <a:pPr algn="ctr"/>
                      <a:r>
                        <a:rPr sz="1700" b="1">
                          <a:solidFill>
                            <a:srgbClr val="FFFFFF"/>
                          </a:solidFill>
                          <a:latin typeface="Calibri"/>
                        </a:rPr>
                        <a:t>rechts</a:t>
                      </a:r>
                    </a:p>
                  </a:txBody>
                  <a:tcPr marL="54864" marR="54864" marT="18288" marB="18288" anchor="ctr">
                    <a:solidFill>
                      <a:srgbClr val="1F4E79"/>
                    </a:solidFill>
                  </a:tcPr>
                </a:tc>
                <a:tc>
                  <a:txBody>
                    <a:bodyPr/>
                    <a:lstStyle/>
                    <a:p>
                      <a:pPr algn="ctr"/>
                      <a:r>
                        <a:rPr sz="1700" b="1">
                          <a:solidFill>
                            <a:srgbClr val="FFFFFF"/>
                          </a:solidFill>
                          <a:latin typeface="Calibri"/>
                        </a:rPr>
                        <a:t>Rückgabe</a:t>
                      </a:r>
                    </a:p>
                  </a:txBody>
                  <a:tcPr marL="54864" marR="54864" marT="18288" marB="18288" anchor="ctr">
                    <a:solidFill>
                      <a:srgbClr val="1F4E79"/>
                    </a:solidFill>
                  </a:tcPr>
                </a:tc>
              </a:tr>
              <a:tr h="410209">
                <a:tc>
                  <a:txBody>
                    <a:bodyPr/>
                    <a:lstStyle/>
                    <a:p>
                      <a:pPr algn="ctr"/>
                      <a:r>
                        <a:rPr sz="1700" b="0">
                          <a:solidFill>
                            <a:srgbClr val="1F2A37"/>
                          </a:solidFill>
                          <a:latin typeface="Consolas"/>
                        </a:rPr>
                        <a:t>2 (Blatt)</a:t>
                      </a:r>
                    </a:p>
                  </a:txBody>
                  <a:tcPr marL="54864" marR="54864" marT="18288" marB="18288" anchor="ctr">
                    <a:solidFill>
                      <a:srgbClr val="FFFFFF"/>
                    </a:solidFill>
                  </a:tcPr>
                </a:tc>
                <a:tc>
                  <a:txBody>
                    <a:bodyPr/>
                    <a:lstStyle/>
                    <a:p>
                      <a:pPr algn="ctr"/>
                      <a:r>
                        <a:rPr sz="1700" b="0">
                          <a:solidFill>
                            <a:srgbClr val="1F2A37"/>
                          </a:solidFill>
                          <a:latin typeface="Consolas"/>
                        </a:rPr>
                        <a:t>–</a:t>
                      </a:r>
                    </a:p>
                  </a:txBody>
                  <a:tcPr marL="54864" marR="54864" marT="18288" marB="18288" anchor="ctr">
                    <a:solidFill>
                      <a:srgbClr val="FFFFFF"/>
                    </a:solidFill>
                  </a:tcPr>
                </a:tc>
                <a:tc>
                  <a:txBody>
                    <a:bodyPr/>
                    <a:lstStyle/>
                    <a:p>
                      <a:pPr algn="ctr"/>
                      <a:r>
                        <a:rPr sz="1700" b="0">
                          <a:solidFill>
                            <a:srgbClr val="1F2A37"/>
                          </a:solidFill>
                          <a:latin typeface="Consolas"/>
                        </a:rPr>
                        <a:t>–</a:t>
                      </a:r>
                    </a:p>
                  </a:txBody>
                  <a:tcPr marL="54864" marR="54864" marT="18288" marB="18288" anchor="ctr">
                    <a:solidFill>
                      <a:srgbClr val="FFFFFF"/>
                    </a:solidFill>
                  </a:tcPr>
                </a:tc>
                <a:tc>
                  <a:txBody>
                    <a:bodyPr/>
                    <a:lstStyle/>
                    <a:p>
                      <a:pPr algn="ctr"/>
                      <a:r>
                        <a:rPr sz="1700" b="0">
                          <a:solidFill>
                            <a:srgbClr val="1F2A37"/>
                          </a:solidFill>
                          <a:latin typeface="Consolas"/>
                        </a:rPr>
                        <a:t>2</a:t>
                      </a:r>
                    </a:p>
                  </a:txBody>
                  <a:tcPr marL="54864" marR="54864" marT="18288" marB="18288" anchor="ctr">
                    <a:solidFill>
                      <a:srgbClr val="FFFFFF"/>
                    </a:solidFill>
                  </a:tcPr>
                </a:tc>
              </a:tr>
              <a:tr h="410209">
                <a:tc>
                  <a:txBody>
                    <a:bodyPr/>
                    <a:lstStyle/>
                    <a:p>
                      <a:pPr algn="ctr"/>
                      <a:r>
                        <a:rPr sz="1700" b="0">
                          <a:solidFill>
                            <a:srgbClr val="1F2A37"/>
                          </a:solidFill>
                          <a:latin typeface="Consolas"/>
                        </a:rPr>
                        <a:t>5 (Blatt)</a:t>
                      </a:r>
                    </a:p>
                  </a:txBody>
                  <a:tcPr marL="54864" marR="54864" marT="18288" marB="18288" anchor="ctr">
                    <a:solidFill>
                      <a:srgbClr val="EEF3FA"/>
                    </a:solidFill>
                  </a:tcPr>
                </a:tc>
                <a:tc>
                  <a:txBody>
                    <a:bodyPr/>
                    <a:lstStyle/>
                    <a:p>
                      <a:pPr algn="ctr"/>
                      <a:r>
                        <a:rPr sz="1700" b="0">
                          <a:solidFill>
                            <a:srgbClr val="1F2A37"/>
                          </a:solidFill>
                          <a:latin typeface="Consolas"/>
                        </a:rPr>
                        <a:t>–</a:t>
                      </a:r>
                    </a:p>
                  </a:txBody>
                  <a:tcPr marL="54864" marR="54864" marT="18288" marB="18288" anchor="ctr">
                    <a:solidFill>
                      <a:srgbClr val="EEF3FA"/>
                    </a:solidFill>
                  </a:tcPr>
                </a:tc>
                <a:tc>
                  <a:txBody>
                    <a:bodyPr/>
                    <a:lstStyle/>
                    <a:p>
                      <a:pPr algn="ctr"/>
                      <a:r>
                        <a:rPr sz="1700" b="0">
                          <a:solidFill>
                            <a:srgbClr val="1F2A37"/>
                          </a:solidFill>
                          <a:latin typeface="Consolas"/>
                        </a:rPr>
                        <a:t>–</a:t>
                      </a:r>
                    </a:p>
                  </a:txBody>
                  <a:tcPr marL="54864" marR="54864" marT="18288" marB="18288" anchor="ctr">
                    <a:solidFill>
                      <a:srgbClr val="EEF3FA"/>
                    </a:solidFill>
                  </a:tcPr>
                </a:tc>
                <a:tc>
                  <a:txBody>
                    <a:bodyPr/>
                    <a:lstStyle/>
                    <a:p>
                      <a:pPr algn="ctr"/>
                      <a:r>
                        <a:rPr sz="1700" b="0">
                          <a:solidFill>
                            <a:srgbClr val="1F2A37"/>
                          </a:solidFill>
                          <a:latin typeface="Consolas"/>
                        </a:rPr>
                        <a:t>5</a:t>
                      </a:r>
                    </a:p>
                  </a:txBody>
                  <a:tcPr marL="54864" marR="54864" marT="18288" marB="18288" anchor="ctr">
                    <a:solidFill>
                      <a:srgbClr val="EEF3FA"/>
                    </a:solidFill>
                  </a:tcPr>
                </a:tc>
              </a:tr>
              <a:tr h="410209">
                <a:tc>
                  <a:txBody>
                    <a:bodyPr/>
                    <a:lstStyle/>
                    <a:p>
                      <a:pPr algn="ctr"/>
                      <a:r>
                        <a:rPr sz="1700" b="0">
                          <a:solidFill>
                            <a:srgbClr val="1F2A37"/>
                          </a:solidFill>
                          <a:latin typeface="Consolas"/>
                        </a:rPr>
                        <a:t>9</a:t>
                      </a:r>
                    </a:p>
                  </a:txBody>
                  <a:tcPr marL="54864" marR="54864" marT="18288" marB="18288" anchor="ctr">
                    <a:solidFill>
                      <a:srgbClr val="FFFFFF"/>
                    </a:solidFill>
                  </a:tcPr>
                </a:tc>
                <a:tc>
                  <a:txBody>
                    <a:bodyPr/>
                    <a:lstStyle/>
                    <a:p>
                      <a:pPr algn="ctr"/>
                      <a:r>
                        <a:rPr sz="1700" b="0">
                          <a:solidFill>
                            <a:srgbClr val="1F2A37"/>
                          </a:solidFill>
                          <a:latin typeface="Consolas"/>
                        </a:rPr>
                        <a:t>5</a:t>
                      </a:r>
                    </a:p>
                  </a:txBody>
                  <a:tcPr marL="54864" marR="54864" marT="18288" marB="18288" anchor="ctr">
                    <a:solidFill>
                      <a:srgbClr val="FFFFFF"/>
                    </a:solidFill>
                  </a:tcPr>
                </a:tc>
                <a:tc>
                  <a:txBody>
                    <a:bodyPr/>
                    <a:lstStyle/>
                    <a:p>
                      <a:pPr algn="ctr"/>
                      <a:r>
                        <a:rPr sz="1700" b="0">
                          <a:solidFill>
                            <a:srgbClr val="1F2A37"/>
                          </a:solidFill>
                          <a:latin typeface="Consolas"/>
                        </a:rPr>
                        <a:t>0</a:t>
                      </a:r>
                    </a:p>
                  </a:txBody>
                  <a:tcPr marL="54864" marR="54864" marT="18288" marB="18288" anchor="ctr">
                    <a:solidFill>
                      <a:srgbClr val="FFFFFF"/>
                    </a:solidFill>
                  </a:tcPr>
                </a:tc>
                <a:tc>
                  <a:txBody>
                    <a:bodyPr/>
                    <a:lstStyle/>
                    <a:p>
                      <a:pPr algn="ctr"/>
                      <a:r>
                        <a:rPr sz="1700" b="0">
                          <a:solidFill>
                            <a:srgbClr val="1F2A37"/>
                          </a:solidFill>
                          <a:latin typeface="Consolas"/>
                        </a:rPr>
                        <a:t>5</a:t>
                      </a:r>
                    </a:p>
                  </a:txBody>
                  <a:tcPr marL="54864" marR="54864" marT="18288" marB="18288" anchor="ctr">
                    <a:solidFill>
                      <a:srgbClr val="FFFFFF"/>
                    </a:solidFill>
                  </a:tcPr>
                </a:tc>
              </a:tr>
              <a:tr h="410209">
                <a:tc>
                  <a:txBody>
                    <a:bodyPr/>
                    <a:lstStyle/>
                    <a:p>
                      <a:pPr algn="ctr"/>
                      <a:r>
                        <a:rPr sz="1700" b="0">
                          <a:solidFill>
                            <a:srgbClr val="1F2A37"/>
                          </a:solidFill>
                          <a:latin typeface="Consolas"/>
                        </a:rPr>
                        <a:t>6</a:t>
                      </a:r>
                    </a:p>
                  </a:txBody>
                  <a:tcPr marL="54864" marR="54864" marT="18288" marB="18288" anchor="ctr">
                    <a:solidFill>
                      <a:srgbClr val="EEF3FA"/>
                    </a:solidFill>
                  </a:tcPr>
                </a:tc>
                <a:tc>
                  <a:txBody>
                    <a:bodyPr/>
                    <a:lstStyle/>
                    <a:p>
                      <a:pPr algn="ctr"/>
                      <a:r>
                        <a:rPr sz="1700" b="0">
                          <a:solidFill>
                            <a:srgbClr val="1F2A37"/>
                          </a:solidFill>
                          <a:latin typeface="Consolas"/>
                        </a:rPr>
                        <a:t>2</a:t>
                      </a:r>
                    </a:p>
                  </a:txBody>
                  <a:tcPr marL="54864" marR="54864" marT="18288" marB="18288" anchor="ctr">
                    <a:solidFill>
                      <a:srgbClr val="EEF3FA"/>
                    </a:solidFill>
                  </a:tcPr>
                </a:tc>
                <a:tc>
                  <a:txBody>
                    <a:bodyPr/>
                    <a:lstStyle/>
                    <a:p>
                      <a:pPr algn="ctr"/>
                      <a:r>
                        <a:rPr sz="1700" b="0">
                          <a:solidFill>
                            <a:srgbClr val="1F2A37"/>
                          </a:solidFill>
                          <a:latin typeface="Consolas"/>
                        </a:rPr>
                        <a:t>5</a:t>
                      </a:r>
                    </a:p>
                  </a:txBody>
                  <a:tcPr marL="54864" marR="54864" marT="18288" marB="18288" anchor="ctr">
                    <a:solidFill>
                      <a:srgbClr val="EEF3FA"/>
                    </a:solidFill>
                  </a:tcPr>
                </a:tc>
                <a:tc>
                  <a:txBody>
                    <a:bodyPr/>
                    <a:lstStyle/>
                    <a:p>
                      <a:pPr algn="ctr"/>
                      <a:r>
                        <a:rPr sz="1700" b="0">
                          <a:solidFill>
                            <a:srgbClr val="1F2A37"/>
                          </a:solidFill>
                          <a:latin typeface="Consolas"/>
                        </a:rPr>
                        <a:t>7</a:t>
                      </a:r>
                    </a:p>
                  </a:txBody>
                  <a:tcPr marL="54864" marR="54864" marT="18288" marB="18288" anchor="ctr">
                    <a:solidFill>
                      <a:srgbClr val="EEF3FA"/>
                    </a:solidFill>
                  </a:tcPr>
                </a:tc>
              </a:tr>
              <a:tr h="410209">
                <a:tc>
                  <a:txBody>
                    <a:bodyPr/>
                    <a:lstStyle/>
                    <a:p>
                      <a:pPr algn="ctr"/>
                      <a:r>
                        <a:rPr sz="1700" b="0">
                          <a:solidFill>
                            <a:srgbClr val="1F2A37"/>
                          </a:solidFill>
                          <a:latin typeface="Consolas"/>
                        </a:rPr>
                        <a:t>8 (Blatt)</a:t>
                      </a:r>
                    </a:p>
                  </a:txBody>
                  <a:tcPr marL="54864" marR="54864" marT="18288" marB="18288" anchor="ctr">
                    <a:solidFill>
                      <a:srgbClr val="FFFFFF"/>
                    </a:solidFill>
                  </a:tcPr>
                </a:tc>
                <a:tc>
                  <a:txBody>
                    <a:bodyPr/>
                    <a:lstStyle/>
                    <a:p>
                      <a:pPr algn="ctr"/>
                      <a:r>
                        <a:rPr sz="1700" b="0">
                          <a:solidFill>
                            <a:srgbClr val="1F2A37"/>
                          </a:solidFill>
                          <a:latin typeface="Consolas"/>
                        </a:rPr>
                        <a:t>–</a:t>
                      </a:r>
                    </a:p>
                  </a:txBody>
                  <a:tcPr marL="54864" marR="54864" marT="18288" marB="18288" anchor="ctr">
                    <a:solidFill>
                      <a:srgbClr val="FFFFFF"/>
                    </a:solidFill>
                  </a:tcPr>
                </a:tc>
                <a:tc>
                  <a:txBody>
                    <a:bodyPr/>
                    <a:lstStyle/>
                    <a:p>
                      <a:pPr algn="ctr"/>
                      <a:r>
                        <a:rPr sz="1700" b="0">
                          <a:solidFill>
                            <a:srgbClr val="1F2A37"/>
                          </a:solidFill>
                          <a:latin typeface="Consolas"/>
                        </a:rPr>
                        <a:t>–</a:t>
                      </a:r>
                    </a:p>
                  </a:txBody>
                  <a:tcPr marL="54864" marR="54864" marT="18288" marB="18288" anchor="ctr">
                    <a:solidFill>
                      <a:srgbClr val="FFFFFF"/>
                    </a:solidFill>
                  </a:tcPr>
                </a:tc>
                <a:tc>
                  <a:txBody>
                    <a:bodyPr/>
                    <a:lstStyle/>
                    <a:p>
                      <a:pPr algn="ctr"/>
                      <a:r>
                        <a:rPr sz="1700" b="0">
                          <a:solidFill>
                            <a:srgbClr val="1F2A37"/>
                          </a:solidFill>
                          <a:latin typeface="Consolas"/>
                        </a:rPr>
                        <a:t>8</a:t>
                      </a:r>
                    </a:p>
                  </a:txBody>
                  <a:tcPr marL="54864" marR="54864" marT="18288" marB="18288" anchor="ctr">
                    <a:solidFill>
                      <a:srgbClr val="FFFFFF"/>
                    </a:solidFill>
                  </a:tcPr>
                </a:tc>
              </a:tr>
              <a:tr h="410209">
                <a:tc>
                  <a:txBody>
                    <a:bodyPr/>
                    <a:lstStyle/>
                    <a:p>
                      <a:pPr algn="ctr"/>
                      <a:r>
                        <a:rPr sz="1700" b="0">
                          <a:solidFill>
                            <a:srgbClr val="1F2A37"/>
                          </a:solidFill>
                          <a:latin typeface="Consolas"/>
                        </a:rPr>
                        <a:t>3</a:t>
                      </a:r>
                    </a:p>
                  </a:txBody>
                  <a:tcPr marL="54864" marR="54864" marT="18288" marB="18288" anchor="ctr">
                    <a:solidFill>
                      <a:srgbClr val="EEF3FA"/>
                    </a:solidFill>
                  </a:tcPr>
                </a:tc>
                <a:tc>
                  <a:txBody>
                    <a:bodyPr/>
                    <a:lstStyle/>
                    <a:p>
                      <a:pPr algn="ctr"/>
                      <a:r>
                        <a:rPr sz="1700" b="0">
                          <a:solidFill>
                            <a:srgbClr val="1F2A37"/>
                          </a:solidFill>
                          <a:latin typeface="Consolas"/>
                        </a:rPr>
                        <a:t>0</a:t>
                      </a:r>
                    </a:p>
                  </a:txBody>
                  <a:tcPr marL="54864" marR="54864" marT="18288" marB="18288" anchor="ctr">
                    <a:solidFill>
                      <a:srgbClr val="EEF3FA"/>
                    </a:solidFill>
                  </a:tcPr>
                </a:tc>
                <a:tc>
                  <a:txBody>
                    <a:bodyPr/>
                    <a:lstStyle/>
                    <a:p>
                      <a:pPr algn="ctr"/>
                      <a:r>
                        <a:rPr sz="1700" b="0">
                          <a:solidFill>
                            <a:srgbClr val="1F2A37"/>
                          </a:solidFill>
                          <a:latin typeface="Consolas"/>
                        </a:rPr>
                        <a:t>8</a:t>
                      </a:r>
                    </a:p>
                  </a:txBody>
                  <a:tcPr marL="54864" marR="54864" marT="18288" marB="18288" anchor="ctr">
                    <a:solidFill>
                      <a:srgbClr val="EEF3FA"/>
                    </a:solidFill>
                  </a:tcPr>
                </a:tc>
                <a:tc>
                  <a:txBody>
                    <a:bodyPr/>
                    <a:lstStyle/>
                    <a:p>
                      <a:pPr algn="ctr"/>
                      <a:r>
                        <a:rPr sz="1700" b="0">
                          <a:solidFill>
                            <a:srgbClr val="1F2A37"/>
                          </a:solidFill>
                          <a:latin typeface="Consolas"/>
                        </a:rPr>
                        <a:t>8</a:t>
                      </a:r>
                    </a:p>
                  </a:txBody>
                  <a:tcPr marL="54864" marR="54864" marT="18288" marB="18288" anchor="ctr">
                    <a:solidFill>
                      <a:srgbClr val="EEF3FA"/>
                    </a:solidFill>
                  </a:tcPr>
                </a:tc>
              </a:tr>
              <a:tr h="410209">
                <a:tc>
                  <a:txBody>
                    <a:bodyPr/>
                    <a:lstStyle/>
                    <a:p>
                      <a:pPr algn="ctr"/>
                      <a:r>
                        <a:rPr sz="1700" b="1">
                          <a:solidFill>
                            <a:srgbClr val="C00000"/>
                          </a:solidFill>
                          <a:latin typeface="Consolas"/>
                        </a:rPr>
                        <a:t>11</a:t>
                      </a:r>
                    </a:p>
                  </a:txBody>
                  <a:tcPr marL="54864" marR="54864" marT="18288" marB="18288" anchor="ctr">
                    <a:solidFill>
                      <a:srgbClr val="FFFFFF"/>
                    </a:solidFill>
                  </a:tcPr>
                </a:tc>
                <a:tc>
                  <a:txBody>
                    <a:bodyPr/>
                    <a:lstStyle/>
                    <a:p>
                      <a:pPr algn="ctr"/>
                      <a:r>
                        <a:rPr sz="1700" b="1">
                          <a:solidFill>
                            <a:srgbClr val="C00000"/>
                          </a:solidFill>
                          <a:latin typeface="Consolas"/>
                        </a:rPr>
                        <a:t>7</a:t>
                      </a:r>
                    </a:p>
                  </a:txBody>
                  <a:tcPr marL="54864" marR="54864" marT="18288" marB="18288" anchor="ctr">
                    <a:solidFill>
                      <a:srgbClr val="FFFFFF"/>
                    </a:solidFill>
                  </a:tcPr>
                </a:tc>
                <a:tc>
                  <a:txBody>
                    <a:bodyPr/>
                    <a:lstStyle/>
                    <a:p>
                      <a:pPr algn="ctr"/>
                      <a:r>
                        <a:rPr sz="1700" b="1">
                          <a:solidFill>
                            <a:srgbClr val="C00000"/>
                          </a:solidFill>
                          <a:latin typeface="Consolas"/>
                        </a:rPr>
                        <a:t>8</a:t>
                      </a:r>
                    </a:p>
                  </a:txBody>
                  <a:tcPr marL="54864" marR="54864" marT="18288" marB="18288" anchor="ctr">
                    <a:solidFill>
                      <a:srgbClr val="FFFFFF"/>
                    </a:solidFill>
                  </a:tcPr>
                </a:tc>
                <a:tc>
                  <a:txBody>
                    <a:bodyPr/>
                    <a:lstStyle/>
                    <a:p>
                      <a:pPr algn="ctr"/>
                      <a:r>
                        <a:rPr sz="1700" b="1">
                          <a:solidFill>
                            <a:srgbClr val="C00000"/>
                          </a:solidFill>
                          <a:latin typeface="Consolas"/>
                        </a:rPr>
                        <a:t>15</a:t>
                      </a:r>
                    </a:p>
                  </a:txBody>
                  <a:tcPr marL="54864" marR="54864" marT="18288" marB="18288" anchor="ctr">
                    <a:solidFill>
                      <a:srgbClr val="FFFFFF"/>
                    </a:solidFill>
                  </a:tcPr>
                </a:tc>
              </a:tr>
            </a:tbl>
          </a:graphicData>
        </a:graphic>
      </p:graphicFrame>
      <p:pic>
        <p:nvPicPr>
          <p:cNvPr id="7" name="Picture 6" descr="baum_weg.png"/>
          <p:cNvPicPr>
            <a:picLocks noChangeAspect="1"/>
          </p:cNvPicPr>
          <p:nvPr/>
        </p:nvPicPr>
        <p:blipFill>
          <a:blip r:embed="rId2"/>
          <a:stretch>
            <a:fillRect/>
          </a:stretch>
        </p:blipFill>
        <p:spPr>
          <a:xfrm>
            <a:off x="6949440" y="1325880"/>
            <a:ext cx="3867446" cy="2651759"/>
          </a:xfrm>
          <a:prstGeom prst="rect">
            <a:avLst/>
          </a:prstGeom>
        </p:spPr>
      </p:pic>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Der binäre Suchbaum</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492240" cy="489204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Für </a:t>
            </a:r>
            <a:r>
              <a:rPr sz="2200" b="1" i="0">
                <a:solidFill>
                  <a:srgbClr val="1F2A37"/>
                </a:solidFill>
                <a:latin typeface="Calibri"/>
              </a:rPr>
              <a:t>jeden</a:t>
            </a:r>
            <a:r>
              <a:rPr sz="2200" b="0" i="0">
                <a:solidFill>
                  <a:srgbClr val="1F2A37"/>
                </a:solidFill>
                <a:latin typeface="Calibri"/>
              </a:rPr>
              <a:t> Knoten gilt:</a:t>
            </a:r>
            <a:r>
              <a:rPr sz="2200" b="0" i="0">
                <a:solidFill>
                  <a:srgbClr val="1F2A37"/>
                </a:solidFill>
                <a:latin typeface="Calibri"/>
              </a:rPr>
              <a:t/>
            </a:r>
          </a:p>
          <a:p>
            <a:pPr>
              <a:spcAft>
                <a:spcPts val="1000"/>
              </a:spcAft>
            </a:pPr>
            <a:r>
              <a:rPr sz="2200" b="1" i="0">
                <a:solidFill>
                  <a:srgbClr val="7F7F7F"/>
                </a:solidFill>
                <a:latin typeface="Calibri"/>
              </a:rPr>
              <a:t>      – </a:t>
            </a:r>
            <a:r>
              <a:rPr sz="1900" b="0" i="0">
                <a:solidFill>
                  <a:srgbClr val="1F2A37"/>
                </a:solidFill>
                <a:latin typeface="Calibri"/>
              </a:rPr>
              <a:t>alle Werte im </a:t>
            </a:r>
            <a:r>
              <a:rPr sz="1900" b="1" i="0">
                <a:solidFill>
                  <a:srgbClr val="1F2A37"/>
                </a:solidFill>
                <a:latin typeface="Calibri"/>
              </a:rPr>
              <a:t>linken</a:t>
            </a:r>
            <a:r>
              <a:rPr sz="1900" b="0" i="0">
                <a:solidFill>
                  <a:srgbClr val="1F2A37"/>
                </a:solidFill>
                <a:latin typeface="Calibri"/>
              </a:rPr>
              <a:t> Teilbaum sind </a:t>
            </a:r>
            <a:r>
              <a:rPr sz="1900" b="1" i="0">
                <a:solidFill>
                  <a:srgbClr val="1F2A37"/>
                </a:solidFill>
                <a:latin typeface="Calibri"/>
              </a:rPr>
              <a:t>kleiner</a:t>
            </a:r>
            <a:r>
              <a:rPr sz="2200" b="0" i="0">
                <a:solidFill>
                  <a:srgbClr val="1F2A37"/>
                </a:solidFill>
                <a:latin typeface="Calibri"/>
              </a:rPr>
              <a:t/>
            </a:r>
          </a:p>
          <a:p>
            <a:pPr>
              <a:spcAft>
                <a:spcPts val="1000"/>
              </a:spcAft>
            </a:pPr>
            <a:r>
              <a:rPr sz="2200" b="1" i="0">
                <a:solidFill>
                  <a:srgbClr val="7F7F7F"/>
                </a:solidFill>
                <a:latin typeface="Calibri"/>
              </a:rPr>
              <a:t>      – </a:t>
            </a:r>
            <a:r>
              <a:rPr sz="1900" b="0" i="0">
                <a:solidFill>
                  <a:srgbClr val="1F2A37"/>
                </a:solidFill>
                <a:latin typeface="Calibri"/>
              </a:rPr>
              <a:t>alle Werte im </a:t>
            </a:r>
            <a:r>
              <a:rPr sz="1900" b="1" i="0">
                <a:solidFill>
                  <a:srgbClr val="1F2A37"/>
                </a:solidFill>
                <a:latin typeface="Calibri"/>
              </a:rPr>
              <a:t>rechten</a:t>
            </a:r>
            <a:r>
              <a:rPr sz="1900" b="0" i="0">
                <a:solidFill>
                  <a:srgbClr val="1F2A37"/>
                </a:solidFill>
                <a:latin typeface="Calibri"/>
              </a:rPr>
              <a:t> Teilbaum sind </a:t>
            </a:r>
            <a:r>
              <a:rPr sz="1900" b="1" i="0">
                <a:solidFill>
                  <a:srgbClr val="1F2A37"/>
                </a:solidFill>
                <a:latin typeface="Calibri"/>
              </a:rPr>
              <a:t>größer</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Entstanden durch Einfügen von 27, 14, 39, 9, 21, 33, 45, 17</a:t>
            </a:r>
            <a:r>
              <a:rPr sz="2200" b="0" i="0">
                <a:solidFill>
                  <a:srgbClr val="1F2A37"/>
                </a:solidFill>
                <a:latin typeface="Calibri"/>
              </a:rPr>
              <a:t/>
            </a:r>
          </a:p>
          <a:p>
            <a:pPr>
              <a:spcAft>
                <a:spcPts val="1000"/>
              </a:spcAft>
            </a:pPr>
            <a:r>
              <a:rPr sz="2200" b="1" i="0">
                <a:solidFill>
                  <a:srgbClr val="B8860B"/>
                </a:solidFill>
                <a:latin typeface="Calibri"/>
              </a:rPr>
              <a:t>▸ </a:t>
            </a:r>
            <a:r>
              <a:rPr sz="2200" b="1" i="0">
                <a:solidFill>
                  <a:srgbClr val="1F2A37"/>
                </a:solidFill>
                <a:latin typeface="Calibri"/>
              </a:rPr>
              <a:t>inorder</a:t>
            </a:r>
            <a:r>
              <a:rPr sz="2200" b="0" i="0">
                <a:solidFill>
                  <a:srgbClr val="1F2A37"/>
                </a:solidFill>
                <a:latin typeface="Calibri"/>
              </a:rPr>
              <a:t> liefert sortiert: 9 14 17 21 27 33 39 45</a:t>
            </a:r>
            <a:r>
              <a:rPr sz="2200" b="0" i="0">
                <a:solidFill>
                  <a:srgbClr val="1F2A37"/>
                </a:solidFill>
                <a:latin typeface="Calibri"/>
              </a:rPr>
              <a:t/>
            </a:r>
          </a:p>
        </p:txBody>
      </p:sp>
      <p:pic>
        <p:nvPicPr>
          <p:cNvPr id="6" name="Picture 5" descr="baum_bst.png"/>
          <p:cNvPicPr>
            <a:picLocks noChangeAspect="1"/>
          </p:cNvPicPr>
          <p:nvPr/>
        </p:nvPicPr>
        <p:blipFill>
          <a:blip r:embed="rId2"/>
          <a:stretch>
            <a:fillRect/>
          </a:stretch>
        </p:blipFill>
        <p:spPr>
          <a:xfrm>
            <a:off x="7315200" y="1325880"/>
            <a:ext cx="4327855" cy="2595321"/>
          </a:xfrm>
          <a:prstGeom prst="rect">
            <a:avLst/>
          </a:prstGeom>
        </p:spPr>
      </p:pic>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Suchen: immer nur ein Teilbaum</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594360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Baum </a:t>
            </a:r>
            <a:r>
              <a:rPr sz="2400" b="1" i="0">
                <a:solidFill>
                  <a:srgbClr val="1F2A37"/>
                </a:solidFill>
                <a:latin typeface="Calibri"/>
              </a:rPr>
              <a:t>leer</a:t>
            </a:r>
            <a:r>
              <a:rPr sz="2400" b="0" i="0">
                <a:solidFill>
                  <a:srgbClr val="1F2A37"/>
                </a:solidFill>
                <a:latin typeface="Calibri"/>
              </a:rPr>
              <a:t>? → Wert nicht da</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Wert </a:t>
            </a:r>
            <a:r>
              <a:rPr sz="2400" b="1" i="0">
                <a:solidFill>
                  <a:srgbClr val="1F2A37"/>
                </a:solidFill>
                <a:latin typeface="Calibri"/>
              </a:rPr>
              <a:t>gleich</a:t>
            </a:r>
            <a:r>
              <a:rPr sz="2400" b="0" i="0">
                <a:solidFill>
                  <a:srgbClr val="1F2A37"/>
                </a:solidFill>
                <a:latin typeface="Calibri"/>
              </a:rPr>
              <a:t> der Wurzel? → gefunden</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Wert </a:t>
            </a:r>
            <a:r>
              <a:rPr sz="2400" b="1" i="0">
                <a:solidFill>
                  <a:srgbClr val="1F2A37"/>
                </a:solidFill>
                <a:latin typeface="Calibri"/>
              </a:rPr>
              <a:t>kleiner</a:t>
            </a:r>
            <a:r>
              <a:rPr sz="2400" b="0" i="0">
                <a:solidFill>
                  <a:srgbClr val="1F2A37"/>
                </a:solidFill>
                <a:latin typeface="Calibri"/>
              </a:rPr>
              <a:t>? → nur links weitersuchen</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Wert </a:t>
            </a:r>
            <a:r>
              <a:rPr sz="2400" b="1" i="0">
                <a:solidFill>
                  <a:srgbClr val="1F2A37"/>
                </a:solidFill>
                <a:latin typeface="Calibri"/>
              </a:rPr>
              <a:t>größer</a:t>
            </a:r>
            <a:r>
              <a:rPr sz="2400" b="0" i="0">
                <a:solidFill>
                  <a:srgbClr val="1F2A37"/>
                </a:solidFill>
                <a:latin typeface="Calibri"/>
              </a:rPr>
              <a:t>? → nur rechts weitersuchen</a:t>
            </a:r>
            <a:r>
              <a:rPr sz="2400" b="0" i="0">
                <a:solidFill>
                  <a:srgbClr val="1F2A37"/>
                </a:solidFill>
                <a:latin typeface="Calibri"/>
              </a:rPr>
              <a:t/>
            </a:r>
          </a:p>
          <a:p>
            <a:pPr>
              <a:spcAft>
                <a:spcPts val="1000"/>
              </a:spcAft>
            </a:pPr>
            <a:r>
              <a:rPr sz="2400" b="1" i="0">
                <a:solidFill>
                  <a:srgbClr val="B8860B"/>
                </a:solidFill>
                <a:latin typeface="Calibri"/>
              </a:rPr>
              <a:t>▸ </a:t>
            </a:r>
            <a:r>
              <a:rPr sz="2300" b="0" i="0">
                <a:solidFill>
                  <a:srgbClr val="1F4E79"/>
                </a:solidFill>
                <a:latin typeface="Consolas"/>
              </a:rPr>
              <a:t>17</a:t>
            </a:r>
            <a:r>
              <a:rPr sz="2400" b="0" i="0">
                <a:solidFill>
                  <a:srgbClr val="1F2A37"/>
                </a:solidFill>
                <a:latin typeface="Calibri"/>
              </a:rPr>
              <a:t>: 27 → 14 → 21 → 17 → </a:t>
            </a:r>
            <a:r>
              <a:rPr sz="2400" b="1" i="0">
                <a:solidFill>
                  <a:srgbClr val="1F2A37"/>
                </a:solidFill>
                <a:latin typeface="Calibri"/>
              </a:rPr>
              <a:t>gefunden</a:t>
            </a:r>
            <a:r>
              <a:rPr sz="2400" b="0" i="0">
                <a:solidFill>
                  <a:srgbClr val="1F2A37"/>
                </a:solidFill>
                <a:latin typeface="Calibri"/>
              </a:rPr>
              <a:t/>
            </a:r>
          </a:p>
          <a:p>
            <a:pPr>
              <a:spcAft>
                <a:spcPts val="1000"/>
              </a:spcAft>
            </a:pPr>
            <a:r>
              <a:rPr sz="2400" b="1" i="0">
                <a:solidFill>
                  <a:srgbClr val="B8860B"/>
                </a:solidFill>
                <a:latin typeface="Calibri"/>
              </a:rPr>
              <a:t>▸ </a:t>
            </a:r>
            <a:r>
              <a:rPr sz="2300" b="0" i="0">
                <a:solidFill>
                  <a:srgbClr val="1F4E79"/>
                </a:solidFill>
                <a:latin typeface="Consolas"/>
              </a:rPr>
              <a:t>35</a:t>
            </a:r>
            <a:r>
              <a:rPr sz="2400" b="0" i="0">
                <a:solidFill>
                  <a:srgbClr val="1F2A37"/>
                </a:solidFill>
                <a:latin typeface="Calibri"/>
              </a:rPr>
              <a:t>: 27 → 39 → 33 → leer → </a:t>
            </a:r>
            <a:r>
              <a:rPr sz="2400" b="1" i="0">
                <a:solidFill>
                  <a:srgbClr val="1F2A37"/>
                </a:solidFill>
                <a:latin typeface="Calibri"/>
              </a:rPr>
              <a:t>nicht da</a:t>
            </a:r>
            <a:r>
              <a:rPr sz="2400" b="0" i="0">
                <a:solidFill>
                  <a:srgbClr val="1F2A37"/>
                </a:solidFill>
                <a:latin typeface="Calibri"/>
              </a:rPr>
              <a:t/>
            </a:r>
          </a:p>
        </p:txBody>
      </p:sp>
      <p:pic>
        <p:nvPicPr>
          <p:cNvPr id="6" name="Picture 5" descr="baum_bst.png"/>
          <p:cNvPicPr>
            <a:picLocks noChangeAspect="1"/>
          </p:cNvPicPr>
          <p:nvPr/>
        </p:nvPicPr>
        <p:blipFill>
          <a:blip r:embed="rId2"/>
          <a:stretch>
            <a:fillRect/>
          </a:stretch>
        </p:blipFill>
        <p:spPr>
          <a:xfrm>
            <a:off x="6766560" y="1325880"/>
            <a:ext cx="4421969" cy="2651759"/>
          </a:xfrm>
          <a:prstGeom prst="rect">
            <a:avLst/>
          </a:prstGeom>
        </p:spPr>
      </p:pic>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Einfügen: suchen, bis es leer wird</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594360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Suchen wie eben – bis ein </a:t>
            </a:r>
            <a:r>
              <a:rPr sz="2400" b="1" i="0">
                <a:solidFill>
                  <a:srgbClr val="1F2A37"/>
                </a:solidFill>
                <a:latin typeface="Calibri"/>
              </a:rPr>
              <a:t>leerer Teilbaum</a:t>
            </a:r>
            <a:r>
              <a:rPr sz="2400" b="0" i="0">
                <a:solidFill>
                  <a:srgbClr val="1F2A37"/>
                </a:solidFill>
                <a:latin typeface="Calibri"/>
              </a:rPr>
              <a:t> kommt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Dort wird der neue Wert als </a:t>
            </a:r>
            <a:r>
              <a:rPr sz="2400" b="1" i="0">
                <a:solidFill>
                  <a:srgbClr val="1F2A37"/>
                </a:solidFill>
                <a:latin typeface="Calibri"/>
              </a:rPr>
              <a:t>Blatt</a:t>
            </a:r>
            <a:r>
              <a:rPr sz="2400" b="0" i="0">
                <a:solidFill>
                  <a:srgbClr val="1F2A37"/>
                </a:solidFill>
                <a:latin typeface="Calibri"/>
              </a:rPr>
              <a:t> angehängt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Wert schon vorhanden → </a:t>
            </a:r>
            <a:r>
              <a:rPr sz="2400" b="1" i="0">
                <a:solidFill>
                  <a:srgbClr val="1F2A37"/>
                </a:solidFill>
                <a:latin typeface="Calibri"/>
              </a:rPr>
              <a:t>nichts tun</a:t>
            </a:r>
            <a:r>
              <a:rPr sz="2400" b="0" i="0">
                <a:solidFill>
                  <a:srgbClr val="1F2A37"/>
                </a:solidFill>
                <a:latin typeface="Calibri"/>
              </a:rPr>
              <a:t/>
            </a:r>
          </a:p>
          <a:p>
            <a:pPr>
              <a:spcAft>
                <a:spcPts val="1000"/>
              </a:spcAft>
            </a:pPr>
            <a:r>
              <a:rPr sz="2400" b="1" i="0">
                <a:solidFill>
                  <a:srgbClr val="B8860B"/>
                </a:solidFill>
                <a:latin typeface="Calibri"/>
              </a:rPr>
              <a:t>▸ </a:t>
            </a:r>
            <a:r>
              <a:rPr sz="2300" b="0" i="0">
                <a:solidFill>
                  <a:srgbClr val="1F4E79"/>
                </a:solidFill>
                <a:latin typeface="Consolas"/>
              </a:rPr>
              <a:t>36</a:t>
            </a:r>
            <a:r>
              <a:rPr sz="2400" b="0" i="0">
                <a:solidFill>
                  <a:srgbClr val="1F2A37"/>
                </a:solidFill>
                <a:latin typeface="Calibri"/>
              </a:rPr>
              <a:t>: 27 → 39 → 33 → rechts leer → hier einfügen</a:t>
            </a:r>
            <a:r>
              <a:rPr sz="2400" b="0" i="0">
                <a:solidFill>
                  <a:srgbClr val="1F2A37"/>
                </a:solidFill>
                <a:latin typeface="Calibri"/>
              </a:rPr>
              <a:t/>
            </a:r>
          </a:p>
        </p:txBody>
      </p:sp>
      <p:pic>
        <p:nvPicPr>
          <p:cNvPr id="6" name="Picture 5" descr="baum_bst36.png"/>
          <p:cNvPicPr>
            <a:picLocks noChangeAspect="1"/>
          </p:cNvPicPr>
          <p:nvPr/>
        </p:nvPicPr>
        <p:blipFill>
          <a:blip r:embed="rId2"/>
          <a:stretch>
            <a:fillRect/>
          </a:stretch>
        </p:blipFill>
        <p:spPr>
          <a:xfrm>
            <a:off x="6766560" y="1325880"/>
            <a:ext cx="4876495" cy="2598475"/>
          </a:xfrm>
          <a:prstGeom prst="rect">
            <a:avLst/>
          </a:prstGeom>
        </p:spPr>
      </p:pic>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Kurz pausieren: Jetzt du!</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39"/>
            <a:ext cx="3017520" cy="54864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FFFFFF"/>
                </a:solidFill>
                <a:latin typeface="Calibri"/>
              </a:rPr>
              <a:t>⏸  Video anhalten</a:t>
            </a:r>
          </a:p>
        </p:txBody>
      </p:sp>
      <p:sp>
        <p:nvSpPr>
          <p:cNvPr id="6" name="TextBox 5"/>
          <p:cNvSpPr txBox="1"/>
          <p:nvPr/>
        </p:nvSpPr>
        <p:spPr>
          <a:xfrm>
            <a:off x="548640" y="2240280"/>
            <a:ext cx="6126480" cy="1161288"/>
          </a:xfrm>
          <a:prstGeom prst="rect">
            <a:avLst/>
          </a:prstGeom>
          <a:noFill/>
        </p:spPr>
        <p:txBody>
          <a:bodyPr wrap="square" anchor="t" lIns="45720" rIns="45720">
            <a:spAutoFit/>
          </a:bodyPr>
          <a:lstStyle/>
          <a:p>
            <a:r>
              <a:rPr sz="2400" b="0" i="0">
                <a:solidFill>
                  <a:srgbClr val="1F2A37"/>
                </a:solidFill>
                <a:latin typeface="Calibri"/>
              </a:rPr>
              <a:t>Füge nacheinander </a:t>
            </a:r>
            <a:r>
              <a:rPr sz="2400" b="1" i="0">
                <a:solidFill>
                  <a:srgbClr val="1F2A37"/>
                </a:solidFill>
                <a:latin typeface="Calibri"/>
              </a:rPr>
              <a:t>42</a:t>
            </a:r>
            <a:r>
              <a:rPr sz="2400" b="0" i="0">
                <a:solidFill>
                  <a:srgbClr val="1F2A37"/>
                </a:solidFill>
                <a:latin typeface="Calibri"/>
              </a:rPr>
              <a:t>, </a:t>
            </a:r>
            <a:r>
              <a:rPr sz="2400" b="1" i="0">
                <a:solidFill>
                  <a:srgbClr val="1F2A37"/>
                </a:solidFill>
                <a:latin typeface="Calibri"/>
              </a:rPr>
              <a:t>12</a:t>
            </a:r>
            <a:r>
              <a:rPr sz="2400" b="0" i="0">
                <a:solidFill>
                  <a:srgbClr val="1F2A37"/>
                </a:solidFill>
                <a:latin typeface="Calibri"/>
              </a:rPr>
              <a:t> und </a:t>
            </a:r>
            <a:r>
              <a:rPr sz="2400" b="1" i="0">
                <a:solidFill>
                  <a:srgbClr val="1F2A37"/>
                </a:solidFill>
                <a:latin typeface="Calibri"/>
              </a:rPr>
              <a:t>30</a:t>
            </a:r>
            <a:r>
              <a:rPr sz="2400" b="0" i="0">
                <a:solidFill>
                  <a:srgbClr val="1F2A37"/>
                </a:solidFill>
                <a:latin typeface="Calibri"/>
              </a:rPr>
              <a:t> in diesen Suchbaum ein. Zeichne den Baum und gib die </a:t>
            </a:r>
            <a:r>
              <a:rPr sz="2400" b="1" i="0">
                <a:solidFill>
                  <a:srgbClr val="1F2A37"/>
                </a:solidFill>
                <a:latin typeface="Calibri"/>
              </a:rPr>
              <a:t>inorder</a:t>
            </a:r>
            <a:r>
              <a:rPr sz="2400" b="0" i="0">
                <a:solidFill>
                  <a:srgbClr val="1F2A37"/>
                </a:solidFill>
                <a:latin typeface="Calibri"/>
              </a:rPr>
              <a:t> an.</a:t>
            </a:r>
          </a:p>
        </p:txBody>
      </p:sp>
      <p:pic>
        <p:nvPicPr>
          <p:cNvPr id="7" name="Picture 6" descr="baum_bst.png"/>
          <p:cNvPicPr>
            <a:picLocks noChangeAspect="1"/>
          </p:cNvPicPr>
          <p:nvPr/>
        </p:nvPicPr>
        <p:blipFill>
          <a:blip r:embed="rId2"/>
          <a:stretch>
            <a:fillRect/>
          </a:stretch>
        </p:blipFill>
        <p:spPr>
          <a:xfrm>
            <a:off x="6949440" y="1325880"/>
            <a:ext cx="4421969" cy="2651759"/>
          </a:xfrm>
          <a:prstGeom prst="rect">
            <a:avLst/>
          </a:prstGeom>
        </p:spPr>
      </p:pic>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Auflösung: 42, 12 und 30 eingefügt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aum_bst_loesung.png"/>
          <p:cNvPicPr>
            <a:picLocks noChangeAspect="1"/>
          </p:cNvPicPr>
          <p:nvPr/>
        </p:nvPicPr>
        <p:blipFill>
          <a:blip r:embed="rId2"/>
          <a:stretch>
            <a:fillRect/>
          </a:stretch>
        </p:blipFill>
        <p:spPr>
          <a:xfrm>
            <a:off x="548640" y="1417320"/>
            <a:ext cx="6766560" cy="2948512"/>
          </a:xfrm>
          <a:prstGeom prst="rect">
            <a:avLst/>
          </a:prstGeom>
        </p:spPr>
      </p:pic>
      <p:sp>
        <p:nvSpPr>
          <p:cNvPr id="6" name="Rounded Rectangle 5"/>
          <p:cNvSpPr/>
          <p:nvPr/>
        </p:nvSpPr>
        <p:spPr>
          <a:xfrm>
            <a:off x="7589520" y="1325880"/>
            <a:ext cx="405353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1463039"/>
            <a:ext cx="368777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Suchwege</a:t>
            </a:r>
            <a:r>
              <a:rPr sz="2000" b="0" i="0">
                <a:solidFill>
                  <a:srgbClr val="1F2A37"/>
                </a:solidFill>
                <a:latin typeface="Calibri"/>
              </a:rPr>
              <a:t/>
            </a:r>
          </a:p>
          <a:p>
            <a:pPr>
              <a:spcAft>
                <a:spcPts val="600"/>
              </a:spcAft>
            </a:pPr>
            <a:r>
              <a:rPr sz="2000" b="0" i="0">
                <a:solidFill>
                  <a:srgbClr val="1F2A37"/>
                </a:solidFill>
                <a:latin typeface="Calibri"/>
              </a:rPr>
              <a:t>42: 27 → 39 → 45 → links</a:t>
            </a:r>
            <a:r>
              <a:rPr sz="2000" b="0" i="0">
                <a:solidFill>
                  <a:srgbClr val="1F2A37"/>
                </a:solidFill>
                <a:latin typeface="Calibri"/>
              </a:rPr>
              <a:t/>
            </a:r>
          </a:p>
          <a:p>
            <a:pPr>
              <a:spcAft>
                <a:spcPts val="600"/>
              </a:spcAft>
            </a:pPr>
            <a:r>
              <a:rPr sz="2000" b="0" i="0">
                <a:solidFill>
                  <a:srgbClr val="1F2A37"/>
                </a:solidFill>
                <a:latin typeface="Calibri"/>
              </a:rPr>
              <a:t>12: 27 → 14 → 9 → rechts</a:t>
            </a:r>
            <a:r>
              <a:rPr sz="2000" b="0" i="0">
                <a:solidFill>
                  <a:srgbClr val="1F2A37"/>
                </a:solidFill>
                <a:latin typeface="Calibri"/>
              </a:rPr>
              <a:t/>
            </a:r>
          </a:p>
          <a:p>
            <a:pPr>
              <a:spcAft>
                <a:spcPts val="600"/>
              </a:spcAft>
            </a:pPr>
            <a:r>
              <a:rPr sz="2000" b="0" i="0">
                <a:solidFill>
                  <a:srgbClr val="1F2A37"/>
                </a:solidFill>
                <a:latin typeface="Calibri"/>
              </a:rPr>
              <a:t>30: 27 → 39 → 33 → links</a:t>
            </a:r>
            <a:r>
              <a:rPr sz="2000" b="0" i="0">
                <a:solidFill>
                  <a:srgbClr val="1F2A37"/>
                </a:solidFill>
                <a:latin typeface="Calibri"/>
              </a:rPr>
              <a:t/>
            </a:r>
          </a:p>
          <a:p>
            <a:pPr>
              <a:spcAft>
                <a:spcPts val="600"/>
              </a:spcAft>
            </a:pPr>
            <a:r>
              <a:rPr sz="2000" b="0" i="0">
                <a:solidFill>
                  <a:srgbClr val="1F2A37"/>
                </a:solidFill>
                <a:latin typeface="Calibri"/>
              </a:rPr>
              <a:t>inorder: 9 12 14 17 21 27 30 33 39 42 45 – sortiert ✓</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Typische Fehler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172199" cy="3447288"/>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5989319" cy="3355848"/>
          </a:xfrm>
          <a:prstGeom prst="rect">
            <a:avLst/>
          </a:prstGeom>
          <a:noFill/>
        </p:spPr>
        <p:txBody>
          <a:bodyPr wrap="square" anchor="t" lIns="45720" rIns="45720">
            <a:spAutoFit/>
          </a:bodyPr>
          <a:lstStyle/>
          <a:p>
            <a:pPr>
              <a:lnSpc>
                <a:spcPct val="100000"/>
              </a:lnSpc>
            </a:pPr>
            <a:r>
              <a:rPr sz="1600" b="0" i="0">
                <a:solidFill>
                  <a:srgbClr val="A0A7B1"/>
                </a:solidFill>
                <a:latin typeface="Consolas"/>
              </a:rPr>
              <a:t> 1  </a:t>
            </a:r>
            <a:r>
              <a:rPr sz="1600" b="0" i="0">
                <a:solidFill>
                  <a:srgbClr val="1F2A37"/>
                </a:solidFill>
                <a:latin typeface="Consolas"/>
              </a:rPr>
              <a:t>public static int summeBlaetter(BinTree b) {</a:t>
            </a:r>
          </a:p>
          <a:p>
            <a:pPr>
              <a:lnSpc>
                <a:spcPct val="100000"/>
              </a:lnSpc>
            </a:pPr>
            <a:r>
              <a:rPr sz="1600" b="0" i="0">
                <a:solidFill>
                  <a:srgbClr val="A0A7B1"/>
                </a:solidFill>
                <a:latin typeface="Consolas"/>
              </a:rPr>
              <a:t> 2  </a:t>
            </a:r>
            <a:r>
              <a:rPr sz="1600" b="1" i="0">
                <a:solidFill>
                  <a:srgbClr val="C00000"/>
                </a:solidFill>
                <a:latin typeface="Consolas"/>
              </a:rPr>
              <a:t>    int wert = (Integer) b.getItem();</a:t>
            </a:r>
          </a:p>
          <a:p>
            <a:pPr>
              <a:lnSpc>
                <a:spcPct val="100000"/>
              </a:lnSpc>
            </a:pPr>
            <a:r>
              <a:rPr sz="1600" b="0" i="0">
                <a:solidFill>
                  <a:srgbClr val="A0A7B1"/>
                </a:solidFill>
                <a:latin typeface="Consolas"/>
              </a:rPr>
              <a:t> 3  </a:t>
            </a:r>
            <a:r>
              <a:rPr sz="1600" b="0" i="0">
                <a:solidFill>
                  <a:srgbClr val="1F2A37"/>
                </a:solidFill>
                <a:latin typeface="Consolas"/>
              </a:rPr>
              <a:t>    if (b.isEmpty()) {</a:t>
            </a:r>
          </a:p>
          <a:p>
            <a:pPr>
              <a:lnSpc>
                <a:spcPct val="100000"/>
              </a:lnSpc>
            </a:pPr>
            <a:r>
              <a:rPr sz="1600" b="0" i="0">
                <a:solidFill>
                  <a:srgbClr val="A0A7B1"/>
                </a:solidFill>
                <a:latin typeface="Consolas"/>
              </a:rPr>
              <a:t> 4  </a:t>
            </a:r>
            <a:r>
              <a:rPr sz="1600" b="0" i="0">
                <a:solidFill>
                  <a:srgbClr val="1F2A37"/>
                </a:solidFill>
                <a:latin typeface="Consolas"/>
              </a:rPr>
              <a:t>        return 0;</a:t>
            </a:r>
          </a:p>
          <a:p>
            <a:pPr>
              <a:lnSpc>
                <a:spcPct val="100000"/>
              </a:lnSpc>
            </a:pPr>
            <a:r>
              <a:rPr sz="1600" b="0" i="0">
                <a:solidFill>
                  <a:srgbClr val="A0A7B1"/>
                </a:solidFill>
                <a:latin typeface="Consolas"/>
              </a:rPr>
              <a:t> 5  </a:t>
            </a:r>
            <a:r>
              <a:rPr sz="1600" b="0" i="0">
                <a:solidFill>
                  <a:srgbClr val="1F2A37"/>
                </a:solidFill>
                <a:latin typeface="Consolas"/>
              </a:rPr>
              <a:t>    }</a:t>
            </a:r>
          </a:p>
          <a:p>
            <a:pPr>
              <a:lnSpc>
                <a:spcPct val="100000"/>
              </a:lnSpc>
            </a:pPr>
            <a:r>
              <a:rPr sz="1600" b="0" i="0">
                <a:solidFill>
                  <a:srgbClr val="A0A7B1"/>
                </a:solidFill>
                <a:latin typeface="Consolas"/>
              </a:rPr>
              <a:t> 6  </a:t>
            </a:r>
            <a:r>
              <a:rPr sz="1600" b="0" i="0">
                <a:solidFill>
                  <a:srgbClr val="1F2A37"/>
                </a:solidFill>
                <a:latin typeface="Consolas"/>
              </a:rPr>
              <a:t>    if (b.isLeaf()) {</a:t>
            </a:r>
          </a:p>
          <a:p>
            <a:pPr>
              <a:lnSpc>
                <a:spcPct val="100000"/>
              </a:lnSpc>
            </a:pPr>
            <a:r>
              <a:rPr sz="1600" b="0" i="0">
                <a:solidFill>
                  <a:srgbClr val="A0A7B1"/>
                </a:solidFill>
                <a:latin typeface="Consolas"/>
              </a:rPr>
              <a:t> 7  </a:t>
            </a:r>
            <a:r>
              <a:rPr sz="1600" b="0" i="0">
                <a:solidFill>
                  <a:srgbClr val="1F2A37"/>
                </a:solidFill>
                <a:latin typeface="Consolas"/>
              </a:rPr>
              <a:t>        return wert;</a:t>
            </a:r>
          </a:p>
          <a:p>
            <a:pPr>
              <a:lnSpc>
                <a:spcPct val="100000"/>
              </a:lnSpc>
            </a:pPr>
            <a:r>
              <a:rPr sz="1600" b="0" i="0">
                <a:solidFill>
                  <a:srgbClr val="A0A7B1"/>
                </a:solidFill>
                <a:latin typeface="Consolas"/>
              </a:rPr>
              <a:t> 8  </a:t>
            </a:r>
            <a:r>
              <a:rPr sz="1600" b="0" i="0">
                <a:solidFill>
                  <a:srgbClr val="1F2A37"/>
                </a:solidFill>
                <a:latin typeface="Consolas"/>
              </a:rPr>
              <a:t>    }</a:t>
            </a:r>
          </a:p>
          <a:p>
            <a:pPr>
              <a:lnSpc>
                <a:spcPct val="100000"/>
              </a:lnSpc>
            </a:pPr>
            <a:r>
              <a:rPr sz="1600" b="0" i="0">
                <a:solidFill>
                  <a:srgbClr val="A0A7B1"/>
                </a:solidFill>
                <a:latin typeface="Consolas"/>
              </a:rPr>
              <a:t> 9  </a:t>
            </a:r>
            <a:r>
              <a:rPr sz="1600" b="1" i="0">
                <a:solidFill>
                  <a:srgbClr val="C00000"/>
                </a:solidFill>
                <a:latin typeface="Consolas"/>
              </a:rPr>
              <a:t>    summeBlaetter(b.getLeft());</a:t>
            </a:r>
          </a:p>
          <a:p>
            <a:pPr>
              <a:lnSpc>
                <a:spcPct val="100000"/>
              </a:lnSpc>
            </a:pPr>
            <a:r>
              <a:rPr sz="1600" b="0" i="0">
                <a:solidFill>
                  <a:srgbClr val="A0A7B1"/>
                </a:solidFill>
                <a:latin typeface="Consolas"/>
              </a:rPr>
              <a:t>10  </a:t>
            </a:r>
            <a:r>
              <a:rPr sz="1600" b="1" i="0">
                <a:solidFill>
                  <a:srgbClr val="C00000"/>
                </a:solidFill>
                <a:latin typeface="Consolas"/>
              </a:rPr>
              <a:t>    summeBlaetter(b.getRight());</a:t>
            </a:r>
          </a:p>
          <a:p>
            <a:pPr>
              <a:lnSpc>
                <a:spcPct val="100000"/>
              </a:lnSpc>
            </a:pPr>
            <a:r>
              <a:rPr sz="1600" b="0" i="0">
                <a:solidFill>
                  <a:srgbClr val="A0A7B1"/>
                </a:solidFill>
                <a:latin typeface="Consolas"/>
              </a:rPr>
              <a:t>11  </a:t>
            </a:r>
            <a:r>
              <a:rPr sz="1600" b="1" i="0">
                <a:solidFill>
                  <a:srgbClr val="C00000"/>
                </a:solidFill>
                <a:latin typeface="Consolas"/>
              </a:rPr>
              <a:t>    return 0;</a:t>
            </a:r>
          </a:p>
          <a:p>
            <a:pPr>
              <a:lnSpc>
                <a:spcPct val="100000"/>
              </a:lnSpc>
            </a:pPr>
            <a:r>
              <a:rPr sz="1600" b="0" i="0">
                <a:solidFill>
                  <a:srgbClr val="A0A7B1"/>
                </a:solidFill>
                <a:latin typeface="Consolas"/>
              </a:rPr>
              <a:t>12  </a:t>
            </a:r>
            <a:r>
              <a:rPr sz="1600" b="0" i="0">
                <a:solidFill>
                  <a:srgbClr val="1F2A37"/>
                </a:solidFill>
                <a:latin typeface="Consolas"/>
              </a:rPr>
              <a:t>}</a:t>
            </a:r>
          </a:p>
        </p:txBody>
      </p:sp>
      <p:sp>
        <p:nvSpPr>
          <p:cNvPr id="7" name="Rounded Rectangle 6"/>
          <p:cNvSpPr/>
          <p:nvPr/>
        </p:nvSpPr>
        <p:spPr>
          <a:xfrm>
            <a:off x="6995159" y="1325880"/>
            <a:ext cx="464789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78039" y="1463039"/>
            <a:ext cx="4282135" cy="2377439"/>
          </a:xfrm>
          <a:prstGeom prst="rect">
            <a:avLst/>
          </a:prstGeom>
          <a:noFill/>
        </p:spPr>
        <p:txBody>
          <a:bodyPr wrap="square" anchor="t" lIns="45720" rIns="45720">
            <a:spAutoFit/>
          </a:bodyPr>
          <a:lstStyle/>
          <a:p>
            <a:pPr>
              <a:spcAft>
                <a:spcPts val="800"/>
              </a:spcAft>
            </a:pPr>
            <a:r>
              <a:rPr sz="2000" b="1" i="0">
                <a:solidFill>
                  <a:srgbClr val="C00000"/>
                </a:solidFill>
                <a:latin typeface="Calibri"/>
              </a:rPr>
              <a:t>Abi-Check</a:t>
            </a:r>
            <a:r>
              <a:rPr sz="1800" b="0" i="0">
                <a:solidFill>
                  <a:srgbClr val="1F2A37"/>
                </a:solidFill>
                <a:latin typeface="Calibri"/>
              </a:rPr>
              <a:t/>
            </a:r>
          </a:p>
          <a:p>
            <a:pPr>
              <a:spcAft>
                <a:spcPts val="600"/>
              </a:spcAft>
            </a:pPr>
            <a:r>
              <a:rPr sz="1800" b="1" i="0">
                <a:solidFill>
                  <a:srgbClr val="1F2A37"/>
                </a:solidFill>
                <a:latin typeface="Calibri"/>
              </a:rPr>
              <a:t>P1</a:t>
            </a:r>
            <a:r>
              <a:rPr sz="1800" b="0" i="0">
                <a:solidFill>
                  <a:srgbClr val="1F2A37"/>
                </a:solidFill>
                <a:latin typeface="Calibri"/>
              </a:rPr>
              <a:t> </a:t>
            </a:r>
            <a:r>
              <a:rPr sz="1700" b="0" i="0">
                <a:solidFill>
                  <a:srgbClr val="1F4E79"/>
                </a:solidFill>
                <a:latin typeface="Consolas"/>
              </a:rPr>
              <a:t>getItem()</a:t>
            </a:r>
            <a:r>
              <a:rPr sz="1800" b="0" i="0">
                <a:solidFill>
                  <a:srgbClr val="1F2A37"/>
                </a:solidFill>
                <a:latin typeface="Calibri"/>
              </a:rPr>
              <a:t> vor </a:t>
            </a:r>
            <a:r>
              <a:rPr sz="1700" b="0" i="0">
                <a:solidFill>
                  <a:srgbClr val="1F4E79"/>
                </a:solidFill>
                <a:latin typeface="Consolas"/>
              </a:rPr>
              <a:t>isEmpty()</a:t>
            </a:r>
            <a:r>
              <a:rPr sz="1800" b="0" i="0">
                <a:solidFill>
                  <a:srgbClr val="1F2A37"/>
                </a:solidFill>
                <a:latin typeface="Calibri"/>
              </a:rPr>
              <a:t> → Laufzeitfehler beim ersten leeren Teilbaum</a:t>
            </a:r>
            <a:r>
              <a:rPr sz="1800" b="0" i="0">
                <a:solidFill>
                  <a:srgbClr val="1F2A37"/>
                </a:solidFill>
                <a:latin typeface="Calibri"/>
              </a:rPr>
              <a:t/>
            </a:r>
          </a:p>
          <a:p>
            <a:pPr>
              <a:spcAft>
                <a:spcPts val="600"/>
              </a:spcAft>
            </a:pPr>
            <a:r>
              <a:rPr sz="1800" b="1" i="0">
                <a:solidFill>
                  <a:srgbClr val="1F2A37"/>
                </a:solidFill>
                <a:latin typeface="Calibri"/>
              </a:rPr>
              <a:t>P7</a:t>
            </a:r>
            <a:r>
              <a:rPr sz="1800" b="0" i="0">
                <a:solidFill>
                  <a:srgbClr val="1F2A37"/>
                </a:solidFill>
                <a:latin typeface="Calibri"/>
              </a:rPr>
              <a:t> Ergebnisse der Aufrufe nicht verwendet → 0 statt 15</a:t>
            </a:r>
            <a:r>
              <a:rPr sz="1800" b="0" i="0">
                <a:solidFill>
                  <a:srgbClr val="1F2A37"/>
                </a:solidFill>
                <a:latin typeface="Calibri"/>
              </a:rPr>
              <a:t/>
            </a:r>
          </a:p>
          <a:p>
            <a:pPr>
              <a:spcAft>
                <a:spcPts val="600"/>
              </a:spcAft>
            </a:pPr>
            <a:r>
              <a:rPr sz="1800" b="1" i="0">
                <a:solidFill>
                  <a:srgbClr val="1F2A37"/>
                </a:solidFill>
                <a:latin typeface="Calibri"/>
              </a:rPr>
              <a:t>P4</a:t>
            </a:r>
            <a:r>
              <a:rPr sz="1800" b="0" i="0">
                <a:solidFill>
                  <a:srgbClr val="1F2A37"/>
                </a:solidFill>
                <a:latin typeface="Calibri"/>
              </a:rPr>
              <a:t> Cast </a:t>
            </a:r>
            <a:r>
              <a:rPr sz="1700" b="0" i="0">
                <a:solidFill>
                  <a:srgbClr val="1F4E79"/>
                </a:solidFill>
                <a:latin typeface="Consolas"/>
              </a:rPr>
              <a:t>(Integer)</a:t>
            </a:r>
            <a:r>
              <a:rPr sz="1800" b="0" i="0">
                <a:solidFill>
                  <a:srgbClr val="1F2A37"/>
                </a:solidFill>
                <a:latin typeface="Calibri"/>
              </a:rPr>
              <a:t> nicht vergessen</a:t>
            </a:r>
            <a:r>
              <a:rPr sz="1800" b="0" i="0">
                <a:solidFill>
                  <a:srgbClr val="1F2A37"/>
                </a:solidFill>
                <a:latin typeface="Calibri"/>
              </a:rPr>
              <a:t/>
            </a:r>
          </a:p>
          <a:p>
            <a:pPr>
              <a:spcAft>
                <a:spcPts val="600"/>
              </a:spcAft>
            </a:pPr>
            <a:r>
              <a:rPr sz="1800" b="0" i="0">
                <a:solidFill>
                  <a:srgbClr val="1F2A37"/>
                </a:solidFill>
                <a:latin typeface="Calibri"/>
              </a:rPr>
              <a:t>Suchbaum: nur </a:t>
            </a:r>
            <a:r>
              <a:rPr sz="1800" b="1" i="0">
                <a:solidFill>
                  <a:srgbClr val="1F2A37"/>
                </a:solidFill>
                <a:latin typeface="Calibri"/>
              </a:rPr>
              <a:t>einen</a:t>
            </a:r>
            <a:r>
              <a:rPr sz="1800" b="0" i="0">
                <a:solidFill>
                  <a:srgbClr val="1F2A37"/>
                </a:solidFill>
                <a:latin typeface="Calibri"/>
              </a:rPr>
              <a:t> Teilbaum durchsuchen</a:t>
            </a:r>
            <a:r>
              <a:rPr sz="18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Das nimmst du mit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17320"/>
            <a:ext cx="7772400" cy="4800600"/>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7315200" cy="443484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Ebene: Wurzel = 0 · Höhe: leerer Baum 0, Blatt 1</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BinTree ist nicht generisch: </a:t>
            </a:r>
            <a:r>
              <a:rPr sz="2100" b="0" i="0">
                <a:solidFill>
                  <a:srgbClr val="1F4E79"/>
                </a:solidFill>
                <a:latin typeface="Consolas"/>
              </a:rPr>
              <a:t>(Integer) b.getItem()</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preorder W-L-R · inorder L-W-R · postorder L-R-W</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Rekursion: erst </a:t>
            </a:r>
            <a:r>
              <a:rPr sz="2100" b="0" i="0">
                <a:solidFill>
                  <a:srgbClr val="1F4E79"/>
                </a:solidFill>
                <a:latin typeface="Consolas"/>
              </a:rPr>
              <a:t>isEmpty()</a:t>
            </a:r>
            <a:r>
              <a:rPr sz="2200" b="0" i="0">
                <a:solidFill>
                  <a:srgbClr val="1F2A37"/>
                </a:solidFill>
                <a:latin typeface="Calibri"/>
              </a:rPr>
              <a:t>, dann links und rechts – Ergebnisse verwenden</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Suchbaum: links kleiner, rechts größer; nur ein Teilbaum; inorder sortiert</a:t>
            </a:r>
            <a:r>
              <a:rPr sz="2200" b="0" i="0">
                <a:solidFill>
                  <a:srgbClr val="1F2A37"/>
                </a:solidFill>
                <a:latin typeface="Calibri"/>
              </a:rPr>
              <a:t/>
            </a:r>
          </a:p>
        </p:txBody>
      </p:sp>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Weiter geht’s im Algo Quest Lab</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7772400" cy="3200400"/>
          </a:xfrm>
          <a:prstGeom prst="rect">
            <a:avLst/>
          </a:prstGeom>
          <a:noFill/>
        </p:spPr>
        <p:txBody>
          <a:bodyPr wrap="square" anchor="t" lIns="45720" rIns="45720">
            <a:spAutoFit/>
          </a:bodyPr>
          <a:lstStyle/>
          <a:p>
            <a:pPr>
              <a:spcAft>
                <a:spcPts val="1200"/>
              </a:spcAft>
            </a:pPr>
            <a:r>
              <a:rPr sz="2200" b="1" i="0">
                <a:solidFill>
                  <a:srgbClr val="1F4E79"/>
                </a:solidFill>
                <a:latin typeface="Calibri"/>
              </a:rPr>
              <a:t>Lab: </a:t>
            </a:r>
            <a:r>
              <a:rPr sz="2200" b="0" i="0">
                <a:solidFill>
                  <a:srgbClr val="1F2A37"/>
                </a:solidFill>
                <a:latin typeface="Calibri"/>
              </a:rPr>
              <a:t>Level 5.1 „Wegweiser im Wald“, 5.2 „Rekursion im Geäst“ und 5.4 „Die Item-Datenbank“</a:t>
            </a:r>
            <a:r>
              <a:rPr sz="2200" b="0" i="0">
                <a:solidFill>
                  <a:srgbClr val="1F2A37"/>
                </a:solidFill>
                <a:latin typeface="Calibri"/>
              </a:rPr>
              <a:t/>
            </a:r>
          </a:p>
          <a:p>
            <a:pPr>
              <a:spcAft>
                <a:spcPts val="1200"/>
              </a:spcAft>
            </a:pPr>
            <a:r>
              <a:rPr sz="2200" b="1" i="0">
                <a:solidFill>
                  <a:srgbClr val="1F4E79"/>
                </a:solidFill>
                <a:latin typeface="Calibri"/>
              </a:rPr>
              <a:t>Arbeitsblatt: </a:t>
            </a:r>
            <a:r>
              <a:rPr sz="2200" b="0" i="0">
                <a:solidFill>
                  <a:srgbClr val="1F2A37"/>
                </a:solidFill>
                <a:latin typeface="Calibri"/>
              </a:rPr>
              <a:t>AB W5·1 „Binärbäume“ und AB W5·2 „Suchbäume“</a:t>
            </a:r>
            <a:r>
              <a:rPr sz="2200" b="0" i="0">
                <a:solidFill>
                  <a:srgbClr val="1F2A37"/>
                </a:solidFill>
                <a:latin typeface="Calibri"/>
              </a:rPr>
              <a:t/>
            </a:r>
          </a:p>
          <a:p>
            <a:pPr>
              <a:spcAft>
                <a:spcPts val="1200"/>
              </a:spcAft>
            </a:pPr>
            <a:r>
              <a:rPr sz="2200" b="1" i="0">
                <a:solidFill>
                  <a:srgbClr val="1F4E79"/>
                </a:solidFill>
                <a:latin typeface="Calibri"/>
              </a:rPr>
              <a:t>Online: </a:t>
            </a:r>
            <a:r>
              <a:rPr sz="2200" b="0" i="0">
                <a:solidFill>
                  <a:srgbClr val="1F2A37"/>
                </a:solidFill>
                <a:latin typeface="Calibri"/>
              </a:rPr>
              <a:t>algoquest.frankjuchim.de/themen</a:t>
            </a:r>
            <a:r>
              <a:rPr sz="2200" b="0" i="0">
                <a:solidFill>
                  <a:srgbClr val="1F2A37"/>
                </a:solidFill>
                <a:latin typeface="Calibri"/>
              </a:rPr>
              <a:t/>
            </a:r>
          </a:p>
        </p:txBody>
      </p:sp>
      <p:sp>
        <p:nvSpPr>
          <p:cNvPr id="6" name="Rounded Rectangle 5"/>
          <p:cNvSpPr/>
          <p:nvPr/>
        </p:nvSpPr>
        <p:spPr>
          <a:xfrm>
            <a:off x="548640" y="4846320"/>
            <a:ext cx="7772400" cy="1188720"/>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37760"/>
            <a:ext cx="7406640" cy="1005840"/>
          </a:xfrm>
          <a:prstGeom prst="rect">
            <a:avLst/>
          </a:prstGeom>
          <a:noFill/>
        </p:spPr>
        <p:txBody>
          <a:bodyPr wrap="square" anchor="ctr" lIns="45720" rIns="45720">
            <a:spAutoFit/>
          </a:bodyPr>
          <a:lstStyle/>
          <a:p>
            <a:r>
              <a:rPr sz="2000" b="1" i="0">
                <a:solidFill>
                  <a:srgbClr val="B8860B"/>
                </a:solidFill>
                <a:latin typeface="Calibri"/>
              </a:rPr>
              <a:t>Nächstes Video: </a:t>
            </a:r>
            <a:r>
              <a:rPr sz="2000" b="0" i="0">
                <a:solidFill>
                  <a:srgbClr val="1F2A37"/>
                </a:solidFill>
                <a:latin typeface="Calibri"/>
              </a:rPr>
              <a:t>Abi-Check: die 10 Fallen P1–P10</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7: Binärbäume und Suchbäume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Binärbäume und Suchbäume</dc:title>
  <dc:subject/>
  <dc:creator>Algo Quest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